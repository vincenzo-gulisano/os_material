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 id="2147483750" r:id="rId2"/>
  </p:sldMasterIdLst>
  <p:notesMasterIdLst>
    <p:notesMasterId r:id="rId66"/>
  </p:notesMasterIdLst>
  <p:handoutMasterIdLst>
    <p:handoutMasterId r:id="rId67"/>
  </p:handoutMasterIdLst>
  <p:sldIdLst>
    <p:sldId id="319" r:id="rId3"/>
    <p:sldId id="353" r:id="rId4"/>
    <p:sldId id="258" r:id="rId5"/>
    <p:sldId id="320" r:id="rId6"/>
    <p:sldId id="321" r:id="rId7"/>
    <p:sldId id="388" r:id="rId8"/>
    <p:sldId id="259" r:id="rId9"/>
    <p:sldId id="261" r:id="rId10"/>
    <p:sldId id="267" r:id="rId11"/>
    <p:sldId id="263" r:id="rId12"/>
    <p:sldId id="262" r:id="rId13"/>
    <p:sldId id="323" r:id="rId14"/>
    <p:sldId id="324" r:id="rId15"/>
    <p:sldId id="389" r:id="rId16"/>
    <p:sldId id="268" r:id="rId17"/>
    <p:sldId id="363" r:id="rId18"/>
    <p:sldId id="332" r:id="rId19"/>
    <p:sldId id="333" r:id="rId20"/>
    <p:sldId id="390" r:id="rId21"/>
    <p:sldId id="378" r:id="rId22"/>
    <p:sldId id="327" r:id="rId23"/>
    <p:sldId id="328" r:id="rId24"/>
    <p:sldId id="329" r:id="rId25"/>
    <p:sldId id="379" r:id="rId26"/>
    <p:sldId id="380" r:id="rId27"/>
    <p:sldId id="381" r:id="rId28"/>
    <p:sldId id="383" r:id="rId29"/>
    <p:sldId id="382" r:id="rId30"/>
    <p:sldId id="391" r:id="rId31"/>
    <p:sldId id="275" r:id="rId32"/>
    <p:sldId id="277" r:id="rId33"/>
    <p:sldId id="278" r:id="rId34"/>
    <p:sldId id="279" r:id="rId35"/>
    <p:sldId id="335" r:id="rId36"/>
    <p:sldId id="282" r:id="rId37"/>
    <p:sldId id="373" r:id="rId38"/>
    <p:sldId id="392" r:id="rId39"/>
    <p:sldId id="339" r:id="rId40"/>
    <p:sldId id="352" r:id="rId41"/>
    <p:sldId id="341" r:id="rId42"/>
    <p:sldId id="393" r:id="rId43"/>
    <p:sldId id="342" r:id="rId44"/>
    <p:sldId id="343" r:id="rId45"/>
    <p:sldId id="344" r:id="rId46"/>
    <p:sldId id="345" r:id="rId47"/>
    <p:sldId id="394" r:id="rId48"/>
    <p:sldId id="347" r:id="rId49"/>
    <p:sldId id="375" r:id="rId50"/>
    <p:sldId id="395" r:id="rId51"/>
    <p:sldId id="294" r:id="rId52"/>
    <p:sldId id="295" r:id="rId53"/>
    <p:sldId id="297" r:id="rId54"/>
    <p:sldId id="298" r:id="rId55"/>
    <p:sldId id="384" r:id="rId56"/>
    <p:sldId id="265" r:id="rId57"/>
    <p:sldId id="266" r:id="rId58"/>
    <p:sldId id="376" r:id="rId59"/>
    <p:sldId id="377" r:id="rId60"/>
    <p:sldId id="269" r:id="rId61"/>
    <p:sldId id="270" r:id="rId62"/>
    <p:sldId id="385" r:id="rId63"/>
    <p:sldId id="386" r:id="rId64"/>
    <p:sldId id="387" r:id="rId65"/>
  </p:sldIdLst>
  <p:sldSz cx="9144000" cy="6858000" type="screen4x3"/>
  <p:notesSz cx="6997700" cy="92837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88">
          <p15:clr>
            <a:srgbClr val="A4A3A4"/>
          </p15:clr>
        </p15:guide>
        <p15:guide id="2" pos="5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78B4E3-EF3E-2B48-8162-9893AB32770A}" v="17" dt="2025-10-02T05:56:55.2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06"/>
    <p:restoredTop sz="71129"/>
  </p:normalViewPr>
  <p:slideViewPr>
    <p:cSldViewPr snapToGrid="0">
      <p:cViewPr varScale="1">
        <p:scale>
          <a:sx n="155" d="100"/>
          <a:sy n="155" d="100"/>
        </p:scale>
        <p:origin x="4784" y="200"/>
      </p:cViewPr>
      <p:guideLst>
        <p:guide orient="horz" pos="788"/>
        <p:guide pos="503"/>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custSel addSld modSld">
      <pc:chgData name="Vincenzo Massimiliano Gulisano" userId="887d7398-9e41-4331-abd4-9c23f064ea90" providerId="ADAL" clId="{8EA10870-6395-588A-9409-E8E4CA631CF7}" dt="2025-10-02T05:57:09.255" v="1376" actId="20577"/>
      <pc:docMkLst>
        <pc:docMk/>
      </pc:docMkLst>
      <pc:sldChg chg="modNotesTx">
        <pc:chgData name="Vincenzo Massimiliano Gulisano" userId="887d7398-9e41-4331-abd4-9c23f064ea90" providerId="ADAL" clId="{8EA10870-6395-588A-9409-E8E4CA631CF7}" dt="2025-10-02T05:57:09.255" v="1376" actId="20577"/>
        <pc:sldMkLst>
          <pc:docMk/>
          <pc:sldMk cId="0" sldId="259"/>
        </pc:sldMkLst>
      </pc:sldChg>
      <pc:sldChg chg="modSp add mod modNotesTx">
        <pc:chgData name="Vincenzo Massimiliano Gulisano" userId="887d7398-9e41-4331-abd4-9c23f064ea90" providerId="ADAL" clId="{8EA10870-6395-588A-9409-E8E4CA631CF7}" dt="2025-09-26T07:38:33.643" v="4" actId="20577"/>
        <pc:sldMkLst>
          <pc:docMk/>
          <pc:sldMk cId="549538568" sldId="265"/>
        </pc:sldMkLst>
        <pc:spChg chg="mod">
          <ac:chgData name="Vincenzo Massimiliano Gulisano" userId="887d7398-9e41-4331-abd4-9c23f064ea90" providerId="ADAL" clId="{8EA10870-6395-588A-9409-E8E4CA631CF7}" dt="2025-09-26T07:38:33.643" v="4" actId="20577"/>
          <ac:spMkLst>
            <pc:docMk/>
            <pc:sldMk cId="549538568" sldId="265"/>
            <ac:spMk id="3" creationId="{54A1E2FB-05F5-4470-76D7-892058CD1A97}"/>
          </ac:spMkLst>
        </pc:spChg>
      </pc:sldChg>
      <pc:sldChg chg="modSp add mod modNotesTx">
        <pc:chgData name="Vincenzo Massimiliano Gulisano" userId="887d7398-9e41-4331-abd4-9c23f064ea90" providerId="ADAL" clId="{8EA10870-6395-588A-9409-E8E4CA631CF7}" dt="2025-09-26T07:38:45.520" v="8" actId="20577"/>
        <pc:sldMkLst>
          <pc:docMk/>
          <pc:sldMk cId="2856659632" sldId="266"/>
        </pc:sldMkLst>
        <pc:spChg chg="mod">
          <ac:chgData name="Vincenzo Massimiliano Gulisano" userId="887d7398-9e41-4331-abd4-9c23f064ea90" providerId="ADAL" clId="{8EA10870-6395-588A-9409-E8E4CA631CF7}" dt="2025-09-26T07:38:44.176" v="7" actId="20577"/>
          <ac:spMkLst>
            <pc:docMk/>
            <pc:sldMk cId="2856659632" sldId="266"/>
            <ac:spMk id="3" creationId="{2CB75B28-E666-DEDF-214F-50C81A65E852}"/>
          </ac:spMkLst>
        </pc:spChg>
      </pc:sldChg>
      <pc:sldChg chg="modSp add mod modNotesTx">
        <pc:chgData name="Vincenzo Massimiliano Gulisano" userId="887d7398-9e41-4331-abd4-9c23f064ea90" providerId="ADAL" clId="{8EA10870-6395-588A-9409-E8E4CA631CF7}" dt="2025-09-26T07:39:30.437" v="21" actId="20577"/>
        <pc:sldMkLst>
          <pc:docMk/>
          <pc:sldMk cId="306250959" sldId="269"/>
        </pc:sldMkLst>
        <pc:spChg chg="mod">
          <ac:chgData name="Vincenzo Massimiliano Gulisano" userId="887d7398-9e41-4331-abd4-9c23f064ea90" providerId="ADAL" clId="{8EA10870-6395-588A-9409-E8E4CA631CF7}" dt="2025-09-26T07:39:30.437" v="21" actId="20577"/>
          <ac:spMkLst>
            <pc:docMk/>
            <pc:sldMk cId="306250959" sldId="269"/>
            <ac:spMk id="3" creationId="{DCB607D1-7081-B741-69AF-21E23FFC8212}"/>
          </ac:spMkLst>
        </pc:spChg>
      </pc:sldChg>
      <pc:sldChg chg="modSp add mod modNotesTx">
        <pc:chgData name="Vincenzo Massimiliano Gulisano" userId="887d7398-9e41-4331-abd4-9c23f064ea90" providerId="ADAL" clId="{8EA10870-6395-588A-9409-E8E4CA631CF7}" dt="2025-09-26T07:39:41.539" v="25" actId="20577"/>
        <pc:sldMkLst>
          <pc:docMk/>
          <pc:sldMk cId="175550149" sldId="270"/>
        </pc:sldMkLst>
        <pc:spChg chg="mod">
          <ac:chgData name="Vincenzo Massimiliano Gulisano" userId="887d7398-9e41-4331-abd4-9c23f064ea90" providerId="ADAL" clId="{8EA10870-6395-588A-9409-E8E4CA631CF7}" dt="2025-09-26T07:39:39.973" v="24" actId="20577"/>
          <ac:spMkLst>
            <pc:docMk/>
            <pc:sldMk cId="175550149" sldId="270"/>
            <ac:spMk id="3" creationId="{AFEFA584-4745-E7DA-4108-DF92B41F7C03}"/>
          </ac:spMkLst>
        </pc:spChg>
      </pc:sldChg>
      <pc:sldChg chg="modSp mod">
        <pc:chgData name="Vincenzo Massimiliano Gulisano" userId="887d7398-9e41-4331-abd4-9c23f064ea90" providerId="ADAL" clId="{8EA10870-6395-588A-9409-E8E4CA631CF7}" dt="2025-10-01T05:44:04.731" v="160" actId="1038"/>
        <pc:sldMkLst>
          <pc:docMk/>
          <pc:sldMk cId="687374152" sldId="321"/>
        </pc:sldMkLst>
        <pc:spChg chg="mod">
          <ac:chgData name="Vincenzo Massimiliano Gulisano" userId="887d7398-9e41-4331-abd4-9c23f064ea90" providerId="ADAL" clId="{8EA10870-6395-588A-9409-E8E4CA631CF7}" dt="2025-10-01T05:43:30.375" v="115" actId="27636"/>
          <ac:spMkLst>
            <pc:docMk/>
            <pc:sldMk cId="687374152" sldId="321"/>
            <ac:spMk id="3" creationId="{00000000-0000-0000-0000-000000000000}"/>
          </ac:spMkLst>
        </pc:spChg>
        <pc:grpChg chg="mod">
          <ac:chgData name="Vincenzo Massimiliano Gulisano" userId="887d7398-9e41-4331-abd4-9c23f064ea90" providerId="ADAL" clId="{8EA10870-6395-588A-9409-E8E4CA631CF7}" dt="2025-10-01T05:44:04.731" v="160" actId="1038"/>
          <ac:grpSpMkLst>
            <pc:docMk/>
            <pc:sldMk cId="687374152" sldId="321"/>
            <ac:grpSpMk id="14" creationId="{00000000-0000-0000-0000-000000000000}"/>
          </ac:grpSpMkLst>
        </pc:grpChg>
        <pc:grpChg chg="mod">
          <ac:chgData name="Vincenzo Massimiliano Gulisano" userId="887d7398-9e41-4331-abd4-9c23f064ea90" providerId="ADAL" clId="{8EA10870-6395-588A-9409-E8E4CA631CF7}" dt="2025-10-01T05:43:46.159" v="139" actId="1038"/>
          <ac:grpSpMkLst>
            <pc:docMk/>
            <pc:sldMk cId="687374152" sldId="321"/>
            <ac:grpSpMk id="23" creationId="{00000000-0000-0000-0000-000000000000}"/>
          </ac:grpSpMkLst>
        </pc:grpChg>
        <pc:grpChg chg="mod">
          <ac:chgData name="Vincenzo Massimiliano Gulisano" userId="887d7398-9e41-4331-abd4-9c23f064ea90" providerId="ADAL" clId="{8EA10870-6395-588A-9409-E8E4CA631CF7}" dt="2025-10-01T05:43:56.134" v="151" actId="1035"/>
          <ac:grpSpMkLst>
            <pc:docMk/>
            <pc:sldMk cId="687374152" sldId="321"/>
            <ac:grpSpMk id="26" creationId="{00000000-0000-0000-0000-000000000000}"/>
          </ac:grpSpMkLst>
        </pc:grpChg>
      </pc:sldChg>
      <pc:sldChg chg="modSp mod">
        <pc:chgData name="Vincenzo Massimiliano Gulisano" userId="887d7398-9e41-4331-abd4-9c23f064ea90" providerId="ADAL" clId="{8EA10870-6395-588A-9409-E8E4CA631CF7}" dt="2025-10-01T05:45:25.134" v="288" actId="20577"/>
        <pc:sldMkLst>
          <pc:docMk/>
          <pc:sldMk cId="3416762753" sldId="327"/>
        </pc:sldMkLst>
        <pc:spChg chg="mod">
          <ac:chgData name="Vincenzo Massimiliano Gulisano" userId="887d7398-9e41-4331-abd4-9c23f064ea90" providerId="ADAL" clId="{8EA10870-6395-588A-9409-E8E4CA631CF7}" dt="2025-10-01T05:45:25.134" v="288" actId="20577"/>
          <ac:spMkLst>
            <pc:docMk/>
            <pc:sldMk cId="3416762753" sldId="327"/>
            <ac:spMk id="2" creationId="{00000000-0000-0000-0000-000000000000}"/>
          </ac:spMkLst>
        </pc:spChg>
      </pc:sldChg>
      <pc:sldChg chg="modSp">
        <pc:chgData name="Vincenzo Massimiliano Gulisano" userId="887d7398-9e41-4331-abd4-9c23f064ea90" providerId="ADAL" clId="{8EA10870-6395-588A-9409-E8E4CA631CF7}" dt="2025-10-01T05:45:30.843" v="289"/>
        <pc:sldMkLst>
          <pc:docMk/>
          <pc:sldMk cId="3370649023" sldId="328"/>
        </pc:sldMkLst>
        <pc:spChg chg="mod">
          <ac:chgData name="Vincenzo Massimiliano Gulisano" userId="887d7398-9e41-4331-abd4-9c23f064ea90" providerId="ADAL" clId="{8EA10870-6395-588A-9409-E8E4CA631CF7}" dt="2025-10-01T05:45:30.843" v="289"/>
          <ac:spMkLst>
            <pc:docMk/>
            <pc:sldMk cId="3370649023" sldId="328"/>
            <ac:spMk id="2" creationId="{00000000-0000-0000-0000-000000000000}"/>
          </ac:spMkLst>
        </pc:spChg>
      </pc:sldChg>
      <pc:sldChg chg="modSp">
        <pc:chgData name="Vincenzo Massimiliano Gulisano" userId="887d7398-9e41-4331-abd4-9c23f064ea90" providerId="ADAL" clId="{8EA10870-6395-588A-9409-E8E4CA631CF7}" dt="2025-10-01T05:45:34.550" v="290"/>
        <pc:sldMkLst>
          <pc:docMk/>
          <pc:sldMk cId="3584296897" sldId="329"/>
        </pc:sldMkLst>
        <pc:spChg chg="mod">
          <ac:chgData name="Vincenzo Massimiliano Gulisano" userId="887d7398-9e41-4331-abd4-9c23f064ea90" providerId="ADAL" clId="{8EA10870-6395-588A-9409-E8E4CA631CF7}" dt="2025-10-01T05:45:34.550" v="290"/>
          <ac:spMkLst>
            <pc:docMk/>
            <pc:sldMk cId="3584296897" sldId="329"/>
            <ac:spMk id="2" creationId="{00000000-0000-0000-0000-000000000000}"/>
          </ac:spMkLst>
        </pc:spChg>
      </pc:sldChg>
      <pc:sldChg chg="modSp">
        <pc:chgData name="Vincenzo Massimiliano Gulisano" userId="887d7398-9e41-4331-abd4-9c23f064ea90" providerId="ADAL" clId="{8EA10870-6395-588A-9409-E8E4CA631CF7}" dt="2025-10-01T05:45:37.756" v="291"/>
        <pc:sldMkLst>
          <pc:docMk/>
          <pc:sldMk cId="1800828271" sldId="330"/>
        </pc:sldMkLst>
        <pc:spChg chg="mod">
          <ac:chgData name="Vincenzo Massimiliano Gulisano" userId="887d7398-9e41-4331-abd4-9c23f064ea90" providerId="ADAL" clId="{8EA10870-6395-588A-9409-E8E4CA631CF7}" dt="2025-10-01T05:45:37.756" v="291"/>
          <ac:spMkLst>
            <pc:docMk/>
            <pc:sldMk cId="1800828271" sldId="330"/>
            <ac:spMk id="2" creationId="{00000000-0000-0000-0000-000000000000}"/>
          </ac:spMkLst>
        </pc:spChg>
      </pc:sldChg>
      <pc:sldChg chg="modSp">
        <pc:chgData name="Vincenzo Massimiliano Gulisano" userId="887d7398-9e41-4331-abd4-9c23f064ea90" providerId="ADAL" clId="{8EA10870-6395-588A-9409-E8E4CA631CF7}" dt="2025-10-01T05:45:40.982" v="292"/>
        <pc:sldMkLst>
          <pc:docMk/>
          <pc:sldMk cId="3028322644" sldId="331"/>
        </pc:sldMkLst>
        <pc:spChg chg="mod">
          <ac:chgData name="Vincenzo Massimiliano Gulisano" userId="887d7398-9e41-4331-abd4-9c23f064ea90" providerId="ADAL" clId="{8EA10870-6395-588A-9409-E8E4CA631CF7}" dt="2025-10-01T05:45:40.982" v="292"/>
          <ac:spMkLst>
            <pc:docMk/>
            <pc:sldMk cId="3028322644" sldId="331"/>
            <ac:spMk id="2" creationId="{00000000-0000-0000-0000-000000000000}"/>
          </ac:spMkLst>
        </pc:spChg>
      </pc:sldChg>
      <pc:sldChg chg="modSp mod">
        <pc:chgData name="Vincenzo Massimiliano Gulisano" userId="887d7398-9e41-4331-abd4-9c23f064ea90" providerId="ADAL" clId="{8EA10870-6395-588A-9409-E8E4CA631CF7}" dt="2025-10-01T05:39:10.534" v="109" actId="20577"/>
        <pc:sldMkLst>
          <pc:docMk/>
          <pc:sldMk cId="2556154540" sldId="353"/>
        </pc:sldMkLst>
        <pc:spChg chg="mod">
          <ac:chgData name="Vincenzo Massimiliano Gulisano" userId="887d7398-9e41-4331-abd4-9c23f064ea90" providerId="ADAL" clId="{8EA10870-6395-588A-9409-E8E4CA631CF7}" dt="2025-10-01T05:39:10.534" v="109" actId="20577"/>
          <ac:spMkLst>
            <pc:docMk/>
            <pc:sldMk cId="2556154540" sldId="353"/>
            <ac:spMk id="3" creationId="{00000000-0000-0000-0000-000000000000}"/>
          </ac:spMkLst>
        </pc:spChg>
      </pc:sldChg>
      <pc:sldChg chg="modSp add mod modNotesTx">
        <pc:chgData name="Vincenzo Massimiliano Gulisano" userId="887d7398-9e41-4331-abd4-9c23f064ea90" providerId="ADAL" clId="{8EA10870-6395-588A-9409-E8E4CA631CF7}" dt="2025-09-26T07:38:58.929" v="12" actId="12"/>
        <pc:sldMkLst>
          <pc:docMk/>
          <pc:sldMk cId="639921881" sldId="376"/>
        </pc:sldMkLst>
        <pc:spChg chg="mod">
          <ac:chgData name="Vincenzo Massimiliano Gulisano" userId="887d7398-9e41-4331-abd4-9c23f064ea90" providerId="ADAL" clId="{8EA10870-6395-588A-9409-E8E4CA631CF7}" dt="2025-09-26T07:38:58.929" v="12" actId="12"/>
          <ac:spMkLst>
            <pc:docMk/>
            <pc:sldMk cId="639921881" sldId="376"/>
            <ac:spMk id="3" creationId="{F12CF526-50E0-9D82-C777-E53A97E5D2DD}"/>
          </ac:spMkLst>
        </pc:spChg>
      </pc:sldChg>
      <pc:sldChg chg="modSp add mod modNotesTx">
        <pc:chgData name="Vincenzo Massimiliano Gulisano" userId="887d7398-9e41-4331-abd4-9c23f064ea90" providerId="ADAL" clId="{8EA10870-6395-588A-9409-E8E4CA631CF7}" dt="2025-09-26T07:39:22.280" v="17" actId="20577"/>
        <pc:sldMkLst>
          <pc:docMk/>
          <pc:sldMk cId="3916629974" sldId="377"/>
        </pc:sldMkLst>
        <pc:spChg chg="mod">
          <ac:chgData name="Vincenzo Massimiliano Gulisano" userId="887d7398-9e41-4331-abd4-9c23f064ea90" providerId="ADAL" clId="{8EA10870-6395-588A-9409-E8E4CA631CF7}" dt="2025-09-26T07:39:21.497" v="16" actId="20577"/>
          <ac:spMkLst>
            <pc:docMk/>
            <pc:sldMk cId="3916629974" sldId="377"/>
            <ac:spMk id="3" creationId="{E49E17F6-4F93-5389-7B03-9F9D21ADE4B3}"/>
          </ac:spMkLst>
        </pc:spChg>
      </pc:sldChg>
      <pc:sldChg chg="modSp new mod">
        <pc:chgData name="Vincenzo Massimiliano Gulisano" userId="887d7398-9e41-4331-abd4-9c23f064ea90" providerId="ADAL" clId="{8EA10870-6395-588A-9409-E8E4CA631CF7}" dt="2025-10-01T05:45:14.236" v="268" actId="20577"/>
        <pc:sldMkLst>
          <pc:docMk/>
          <pc:sldMk cId="133574550" sldId="378"/>
        </pc:sldMkLst>
        <pc:spChg chg="mod">
          <ac:chgData name="Vincenzo Massimiliano Gulisano" userId="887d7398-9e41-4331-abd4-9c23f064ea90" providerId="ADAL" clId="{8EA10870-6395-588A-9409-E8E4CA631CF7}" dt="2025-10-01T05:44:53.758" v="189" actId="20577"/>
          <ac:spMkLst>
            <pc:docMk/>
            <pc:sldMk cId="133574550" sldId="378"/>
            <ac:spMk id="2" creationId="{26F8CAF0-74AD-BAD3-0A76-1DE73A35CC30}"/>
          </ac:spMkLst>
        </pc:spChg>
        <pc:spChg chg="mod">
          <ac:chgData name="Vincenzo Massimiliano Gulisano" userId="887d7398-9e41-4331-abd4-9c23f064ea90" providerId="ADAL" clId="{8EA10870-6395-588A-9409-E8E4CA631CF7}" dt="2025-10-01T05:45:14.236" v="268" actId="20577"/>
          <ac:spMkLst>
            <pc:docMk/>
            <pc:sldMk cId="133574550" sldId="378"/>
            <ac:spMk id="3" creationId="{7CFA44F3-BF71-3074-76D8-8F188B640534}"/>
          </ac:spMkLst>
        </pc:spChg>
      </pc:sldChg>
      <pc:sldChg chg="modSp new mod">
        <pc:chgData name="Vincenzo Massimiliano Gulisano" userId="887d7398-9e41-4331-abd4-9c23f064ea90" providerId="ADAL" clId="{8EA10870-6395-588A-9409-E8E4CA631CF7}" dt="2025-10-01T05:54:27.891" v="817" actId="20577"/>
        <pc:sldMkLst>
          <pc:docMk/>
          <pc:sldMk cId="1875832141" sldId="379"/>
        </pc:sldMkLst>
        <pc:spChg chg="mod">
          <ac:chgData name="Vincenzo Massimiliano Gulisano" userId="887d7398-9e41-4331-abd4-9c23f064ea90" providerId="ADAL" clId="{8EA10870-6395-588A-9409-E8E4CA631CF7}" dt="2025-10-01T05:46:05.423" v="315" actId="20577"/>
          <ac:spMkLst>
            <pc:docMk/>
            <pc:sldMk cId="1875832141" sldId="379"/>
            <ac:spMk id="2" creationId="{6B5F4306-6B91-75F1-C00C-FE100C8C5D69}"/>
          </ac:spMkLst>
        </pc:spChg>
        <pc:spChg chg="mod">
          <ac:chgData name="Vincenzo Massimiliano Gulisano" userId="887d7398-9e41-4331-abd4-9c23f064ea90" providerId="ADAL" clId="{8EA10870-6395-588A-9409-E8E4CA631CF7}" dt="2025-10-01T05:54:27.891" v="817" actId="20577"/>
          <ac:spMkLst>
            <pc:docMk/>
            <pc:sldMk cId="1875832141" sldId="379"/>
            <ac:spMk id="3" creationId="{14EEC81E-9EC4-6F57-1538-BB275E6AF5A6}"/>
          </ac:spMkLst>
        </pc:spChg>
      </pc:sldChg>
      <pc:sldChg chg="addSp delSp modSp new mod">
        <pc:chgData name="Vincenzo Massimiliano Gulisano" userId="887d7398-9e41-4331-abd4-9c23f064ea90" providerId="ADAL" clId="{8EA10870-6395-588A-9409-E8E4CA631CF7}" dt="2025-10-01T05:56:44.334" v="952" actId="1582"/>
        <pc:sldMkLst>
          <pc:docMk/>
          <pc:sldMk cId="2523769717" sldId="380"/>
        </pc:sldMkLst>
        <pc:spChg chg="mod">
          <ac:chgData name="Vincenzo Massimiliano Gulisano" userId="887d7398-9e41-4331-abd4-9c23f064ea90" providerId="ADAL" clId="{8EA10870-6395-588A-9409-E8E4CA631CF7}" dt="2025-10-01T05:55:03.524" v="868" actId="20577"/>
          <ac:spMkLst>
            <pc:docMk/>
            <pc:sldMk cId="2523769717" sldId="380"/>
            <ac:spMk id="2" creationId="{8B5749F8-5B2D-1A9D-8626-0DF5E822CCD1}"/>
          </ac:spMkLst>
        </pc:spChg>
        <pc:spChg chg="del">
          <ac:chgData name="Vincenzo Massimiliano Gulisano" userId="887d7398-9e41-4331-abd4-9c23f064ea90" providerId="ADAL" clId="{8EA10870-6395-588A-9409-E8E4CA631CF7}" dt="2025-10-01T05:55:32.811" v="870" actId="478"/>
          <ac:spMkLst>
            <pc:docMk/>
            <pc:sldMk cId="2523769717" sldId="380"/>
            <ac:spMk id="3" creationId="{D3CCD936-2D8E-D8BF-211A-413FFDC73250}"/>
          </ac:spMkLst>
        </pc:spChg>
        <pc:spChg chg="add mod">
          <ac:chgData name="Vincenzo Massimiliano Gulisano" userId="887d7398-9e41-4331-abd4-9c23f064ea90" providerId="ADAL" clId="{8EA10870-6395-588A-9409-E8E4CA631CF7}" dt="2025-10-01T05:56:30.912" v="949" actId="1076"/>
          <ac:spMkLst>
            <pc:docMk/>
            <pc:sldMk cId="2523769717" sldId="380"/>
            <ac:spMk id="8" creationId="{B8F594F3-8797-9F7D-0560-F810A7D3AAB8}"/>
          </ac:spMkLst>
        </pc:spChg>
        <pc:picChg chg="add mod">
          <ac:chgData name="Vincenzo Massimiliano Gulisano" userId="887d7398-9e41-4331-abd4-9c23f064ea90" providerId="ADAL" clId="{8EA10870-6395-588A-9409-E8E4CA631CF7}" dt="2025-10-01T05:55:28.017" v="869"/>
          <ac:picMkLst>
            <pc:docMk/>
            <pc:sldMk cId="2523769717" sldId="380"/>
            <ac:picMk id="7" creationId="{FC022386-F45A-2FA3-264C-1FF0D52C0E9F}"/>
          </ac:picMkLst>
        </pc:picChg>
        <pc:cxnChg chg="add mod">
          <ac:chgData name="Vincenzo Massimiliano Gulisano" userId="887d7398-9e41-4331-abd4-9c23f064ea90" providerId="ADAL" clId="{8EA10870-6395-588A-9409-E8E4CA631CF7}" dt="2025-10-01T05:56:44.334" v="952" actId="1582"/>
          <ac:cxnSpMkLst>
            <pc:docMk/>
            <pc:sldMk cId="2523769717" sldId="380"/>
            <ac:cxnSpMk id="10" creationId="{092BECA2-ECD1-285D-010C-2E6F7920DE23}"/>
          </ac:cxnSpMkLst>
        </pc:cxnChg>
      </pc:sldChg>
      <pc:sldChg chg="modSp add mod">
        <pc:chgData name="Vincenzo Massimiliano Gulisano" userId="887d7398-9e41-4331-abd4-9c23f064ea90" providerId="ADAL" clId="{8EA10870-6395-588A-9409-E8E4CA631CF7}" dt="2025-10-01T05:57:49.909" v="1012" actId="1076"/>
        <pc:sldMkLst>
          <pc:docMk/>
          <pc:sldMk cId="4221043808" sldId="381"/>
        </pc:sldMkLst>
        <pc:spChg chg="mod">
          <ac:chgData name="Vincenzo Massimiliano Gulisano" userId="887d7398-9e41-4331-abd4-9c23f064ea90" providerId="ADAL" clId="{8EA10870-6395-588A-9409-E8E4CA631CF7}" dt="2025-10-01T05:57:49.909" v="1012" actId="1076"/>
          <ac:spMkLst>
            <pc:docMk/>
            <pc:sldMk cId="4221043808" sldId="381"/>
            <ac:spMk id="8" creationId="{71108096-F6EE-BD56-2898-C85EAA86FDD4}"/>
          </ac:spMkLst>
        </pc:spChg>
        <pc:cxnChg chg="mod">
          <ac:chgData name="Vincenzo Massimiliano Gulisano" userId="887d7398-9e41-4331-abd4-9c23f064ea90" providerId="ADAL" clId="{8EA10870-6395-588A-9409-E8E4CA631CF7}" dt="2025-10-01T05:57:47.725" v="1011" actId="1038"/>
          <ac:cxnSpMkLst>
            <pc:docMk/>
            <pc:sldMk cId="4221043808" sldId="381"/>
            <ac:cxnSpMk id="10" creationId="{C7D777FD-B08D-7FD9-1E0A-34B38479F2D2}"/>
          </ac:cxnSpMkLst>
        </pc:cxnChg>
      </pc:sldChg>
      <pc:sldChg chg="modSp new mod">
        <pc:chgData name="Vincenzo Massimiliano Gulisano" userId="887d7398-9e41-4331-abd4-9c23f064ea90" providerId="ADAL" clId="{8EA10870-6395-588A-9409-E8E4CA631CF7}" dt="2025-10-01T06:12:26.209" v="1327" actId="20577"/>
        <pc:sldMkLst>
          <pc:docMk/>
          <pc:sldMk cId="2195199527" sldId="382"/>
        </pc:sldMkLst>
        <pc:spChg chg="mod">
          <ac:chgData name="Vincenzo Massimiliano Gulisano" userId="887d7398-9e41-4331-abd4-9c23f064ea90" providerId="ADAL" clId="{8EA10870-6395-588A-9409-E8E4CA631CF7}" dt="2025-10-01T06:04:05.019" v="1014"/>
          <ac:spMkLst>
            <pc:docMk/>
            <pc:sldMk cId="2195199527" sldId="382"/>
            <ac:spMk id="2" creationId="{D034E5CE-E31E-98F8-26A3-E1F1A948E57B}"/>
          </ac:spMkLst>
        </pc:spChg>
        <pc:spChg chg="mod">
          <ac:chgData name="Vincenzo Massimiliano Gulisano" userId="887d7398-9e41-4331-abd4-9c23f064ea90" providerId="ADAL" clId="{8EA10870-6395-588A-9409-E8E4CA631CF7}" dt="2025-10-01T06:12:26.209" v="1327" actId="20577"/>
          <ac:spMkLst>
            <pc:docMk/>
            <pc:sldMk cId="2195199527" sldId="382"/>
            <ac:spMk id="3" creationId="{9A5EA9DE-E6C6-F792-C250-7DE1E28FB50D}"/>
          </ac:spMkLst>
        </pc:spChg>
      </pc:sldChg>
      <pc:sldChg chg="modSp add mod">
        <pc:chgData name="Vincenzo Massimiliano Gulisano" userId="887d7398-9e41-4331-abd4-9c23f064ea90" providerId="ADAL" clId="{8EA10870-6395-588A-9409-E8E4CA631CF7}" dt="2025-10-01T06:06:03.792" v="1297" actId="1076"/>
        <pc:sldMkLst>
          <pc:docMk/>
          <pc:sldMk cId="113069858" sldId="383"/>
        </pc:sldMkLst>
        <pc:spChg chg="mod">
          <ac:chgData name="Vincenzo Massimiliano Gulisano" userId="887d7398-9e41-4331-abd4-9c23f064ea90" providerId="ADAL" clId="{8EA10870-6395-588A-9409-E8E4CA631CF7}" dt="2025-10-01T06:06:03.792" v="1297" actId="1076"/>
          <ac:spMkLst>
            <pc:docMk/>
            <pc:sldMk cId="113069858" sldId="383"/>
            <ac:spMk id="8" creationId="{3EB95219-D641-BD68-717A-CF5352A5FA7C}"/>
          </ac:spMkLst>
        </pc:spChg>
        <pc:cxnChg chg="mod">
          <ac:chgData name="Vincenzo Massimiliano Gulisano" userId="887d7398-9e41-4331-abd4-9c23f064ea90" providerId="ADAL" clId="{8EA10870-6395-588A-9409-E8E4CA631CF7}" dt="2025-10-01T06:06:03.792" v="1297" actId="1076"/>
          <ac:cxnSpMkLst>
            <pc:docMk/>
            <pc:sldMk cId="113069858" sldId="383"/>
            <ac:cxnSpMk id="10" creationId="{E9495F8A-56BD-C8BD-E4CF-A75736CFA57B}"/>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defTabSz="923925" eaLnBrk="1" hangingPunct="1">
              <a:defRPr sz="1200">
                <a:latin typeface="Times New Roman" panose="02020603050405020304" pitchFamily="18" charset="0"/>
              </a:defRPr>
            </a:lvl1pPr>
          </a:lstStyle>
          <a:p>
            <a:endParaRPr lang="en-US" altLang="en-US"/>
          </a:p>
        </p:txBody>
      </p:sp>
      <p:sp>
        <p:nvSpPr>
          <p:cNvPr id="179203" name="Rectangle 3"/>
          <p:cNvSpPr>
            <a:spLocks noGrp="1" noChangeArrowheads="1"/>
          </p:cNvSpPr>
          <p:nvPr>
            <p:ph type="dt" sz="quarter" idx="1"/>
          </p:nvPr>
        </p:nvSpPr>
        <p:spPr bwMode="auto">
          <a:xfrm>
            <a:off x="396240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defTabSz="923925" eaLnBrk="1" hangingPunct="1">
              <a:defRPr sz="1200">
                <a:latin typeface="Times New Roman" panose="02020603050405020304" pitchFamily="18" charset="0"/>
              </a:defRPr>
            </a:lvl1pPr>
          </a:lstStyle>
          <a:p>
            <a:endParaRPr lang="en-US" altLang="en-US"/>
          </a:p>
        </p:txBody>
      </p:sp>
      <p:sp>
        <p:nvSpPr>
          <p:cNvPr id="179204" name="Rectangle 4"/>
          <p:cNvSpPr>
            <a:spLocks noGrp="1" noChangeArrowheads="1"/>
          </p:cNvSpPr>
          <p:nvPr>
            <p:ph type="ftr" sz="quarter" idx="2"/>
          </p:nvPr>
        </p:nvSpPr>
        <p:spPr bwMode="auto">
          <a:xfrm>
            <a:off x="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defTabSz="923925" eaLnBrk="1" hangingPunct="1">
              <a:defRPr sz="1200">
                <a:latin typeface="Times New Roman" panose="02020603050405020304" pitchFamily="18" charset="0"/>
              </a:defRPr>
            </a:lvl1pPr>
          </a:lstStyle>
          <a:p>
            <a:endParaRPr lang="en-US" altLang="en-US"/>
          </a:p>
        </p:txBody>
      </p:sp>
      <p:sp>
        <p:nvSpPr>
          <p:cNvPr id="179205" name="Rectangle 5"/>
          <p:cNvSpPr>
            <a:spLocks noGrp="1" noChangeArrowheads="1"/>
          </p:cNvSpPr>
          <p:nvPr>
            <p:ph type="sldNum" sz="quarter" idx="3"/>
          </p:nvPr>
        </p:nvSpPr>
        <p:spPr bwMode="auto">
          <a:xfrm>
            <a:off x="396240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defTabSz="923925" eaLnBrk="1" hangingPunct="1">
              <a:defRPr sz="1200">
                <a:latin typeface="Times New Roman" panose="02020603050405020304" pitchFamily="18" charset="0"/>
              </a:defRPr>
            </a:lvl1pPr>
          </a:lstStyle>
          <a:p>
            <a:fld id="{D12805BB-E6CA-4199-87A6-F35DB6614D61}" type="slidenum">
              <a:rPr lang="en-US" altLang="en-US"/>
              <a:pPr/>
              <a:t>‹#›</a:t>
            </a:fld>
            <a:endParaRPr lang="en-US" altLang="en-US"/>
          </a:p>
        </p:txBody>
      </p:sp>
    </p:spTree>
    <p:extLst>
      <p:ext uri="{BB962C8B-B14F-4D97-AF65-F5344CB8AC3E}">
        <p14:creationId xmlns:p14="http://schemas.microsoft.com/office/powerpoint/2010/main" val="3126269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defTabSz="923925" eaLnBrk="1" hangingPunct="1">
              <a:defRPr sz="1200">
                <a:latin typeface="Times New Roman" panose="02020603050405020304" pitchFamily="18" charset="0"/>
              </a:defRPr>
            </a:lvl1pPr>
          </a:lstStyle>
          <a:p>
            <a:endParaRPr lang="en-US" altLang="en-US"/>
          </a:p>
        </p:txBody>
      </p:sp>
      <p:sp>
        <p:nvSpPr>
          <p:cNvPr id="135171" name="Rectangle 3"/>
          <p:cNvSpPr>
            <a:spLocks noGrp="1" noChangeArrowheads="1"/>
          </p:cNvSpPr>
          <p:nvPr>
            <p:ph type="dt" idx="1"/>
          </p:nvPr>
        </p:nvSpPr>
        <p:spPr bwMode="auto">
          <a:xfrm>
            <a:off x="3962400" y="0"/>
            <a:ext cx="30337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defTabSz="923925" eaLnBrk="1" hangingPunct="1">
              <a:defRPr sz="1200">
                <a:latin typeface="Times New Roman" panose="02020603050405020304" pitchFamily="18" charset="0"/>
              </a:defRPr>
            </a:lvl1pPr>
          </a:lstStyle>
          <a:p>
            <a:endParaRPr lang="en-US" altLang="en-US"/>
          </a:p>
        </p:txBody>
      </p:sp>
      <p:sp>
        <p:nvSpPr>
          <p:cNvPr id="47108" name="Rectangle 4"/>
          <p:cNvSpPr>
            <a:spLocks noGrp="1" noRot="1" noChangeAspect="1" noChangeArrowheads="1" noTextEdit="1"/>
          </p:cNvSpPr>
          <p:nvPr>
            <p:ph type="sldImg" idx="2"/>
          </p:nvPr>
        </p:nvSpPr>
        <p:spPr bwMode="auto">
          <a:xfrm>
            <a:off x="1177925"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3" name="Rectangle 5"/>
          <p:cNvSpPr>
            <a:spLocks noGrp="1" noChangeArrowheads="1"/>
          </p:cNvSpPr>
          <p:nvPr>
            <p:ph type="body" sz="quarter" idx="3"/>
          </p:nvPr>
        </p:nvSpPr>
        <p:spPr bwMode="auto">
          <a:xfrm>
            <a:off x="700088" y="4410075"/>
            <a:ext cx="5599112" cy="4178300"/>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5174" name="Rectangle 6"/>
          <p:cNvSpPr>
            <a:spLocks noGrp="1" noChangeArrowheads="1"/>
          </p:cNvSpPr>
          <p:nvPr>
            <p:ph type="ftr" sz="quarter" idx="4"/>
          </p:nvPr>
        </p:nvSpPr>
        <p:spPr bwMode="auto">
          <a:xfrm>
            <a:off x="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defTabSz="923925" eaLnBrk="1" hangingPunct="1">
              <a:defRPr sz="1200">
                <a:latin typeface="Times New Roman" panose="02020603050405020304" pitchFamily="18" charset="0"/>
              </a:defRPr>
            </a:lvl1pPr>
          </a:lstStyle>
          <a:p>
            <a:endParaRPr lang="en-US" altLang="en-US"/>
          </a:p>
        </p:txBody>
      </p:sp>
      <p:sp>
        <p:nvSpPr>
          <p:cNvPr id="135175" name="Rectangle 7"/>
          <p:cNvSpPr>
            <a:spLocks noGrp="1" noChangeArrowheads="1"/>
          </p:cNvSpPr>
          <p:nvPr>
            <p:ph type="sldNum" sz="quarter" idx="5"/>
          </p:nvPr>
        </p:nvSpPr>
        <p:spPr bwMode="auto">
          <a:xfrm>
            <a:off x="3962400" y="8816975"/>
            <a:ext cx="30337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defTabSz="923925" eaLnBrk="1" hangingPunct="1">
              <a:defRPr sz="1200">
                <a:latin typeface="Times New Roman" panose="02020603050405020304" pitchFamily="18" charset="0"/>
              </a:defRPr>
            </a:lvl1pPr>
          </a:lstStyle>
          <a:p>
            <a:fld id="{CAE0ABF5-7690-4623-B971-046A51D617CD}" type="slidenum">
              <a:rPr lang="en-US" altLang="en-US"/>
              <a:pPr/>
              <a:t>‹#›</a:t>
            </a:fld>
            <a:endParaRPr lang="en-US" altLang="en-US"/>
          </a:p>
        </p:txBody>
      </p:sp>
    </p:spTree>
    <p:extLst>
      <p:ext uri="{BB962C8B-B14F-4D97-AF65-F5344CB8AC3E}">
        <p14:creationId xmlns:p14="http://schemas.microsoft.com/office/powerpoint/2010/main" val="23210056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a:latin typeface="Helvetica"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45204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2</a:t>
            </a:fld>
            <a:endParaRPr lang="en-US" altLang="en-US"/>
          </a:p>
        </p:txBody>
      </p:sp>
    </p:spTree>
    <p:extLst>
      <p:ext uri="{BB962C8B-B14F-4D97-AF65-F5344CB8AC3E}">
        <p14:creationId xmlns:p14="http://schemas.microsoft.com/office/powerpoint/2010/main" val="673518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634DB69-2DAB-4848-B66D-931351AE32DF}"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254272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8200C3-F588-4B46-AB57-9BFB2B000FA3}"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999285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5</a:t>
            </a:fld>
            <a:endParaRPr lang="en-US" altLang="en-US"/>
          </a:p>
        </p:txBody>
      </p:sp>
    </p:spTree>
    <p:extLst>
      <p:ext uri="{BB962C8B-B14F-4D97-AF65-F5344CB8AC3E}">
        <p14:creationId xmlns:p14="http://schemas.microsoft.com/office/powerpoint/2010/main" val="3112164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D0B4-70CF-C3B4-B265-119ED9C23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B9B9D-0950-8D15-45EA-A35E1B07D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9763F1-25A4-13AB-7F0C-550875BC14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6F2AE1-F592-5CCB-C0DD-FD1BB5D4ED69}"/>
              </a:ext>
            </a:extLst>
          </p:cNvPr>
          <p:cNvSpPr>
            <a:spLocks noGrp="1"/>
          </p:cNvSpPr>
          <p:nvPr>
            <p:ph type="sldNum" sz="quarter" idx="10"/>
          </p:nvPr>
        </p:nvSpPr>
        <p:spPr/>
        <p:txBody>
          <a:bodyPr/>
          <a:lstStyle/>
          <a:p>
            <a:fld id="{CAE0ABF5-7690-4623-B971-046A51D617CD}" type="slidenum">
              <a:rPr lang="en-US" altLang="en-US" smtClean="0"/>
              <a:pPr/>
              <a:t>6</a:t>
            </a:fld>
            <a:endParaRPr lang="en-US" altLang="en-US"/>
          </a:p>
        </p:txBody>
      </p:sp>
    </p:spTree>
    <p:extLst>
      <p:ext uri="{BB962C8B-B14F-4D97-AF65-F5344CB8AC3E}">
        <p14:creationId xmlns:p14="http://schemas.microsoft.com/office/powerpoint/2010/main" val="3681633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4F28C0-3DD9-45A9-9FFE-CA7C0CDDC3AD}"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You should feel there are parallels with processes and memory</a:t>
            </a:r>
          </a:p>
          <a:p>
            <a:pPr eaLnBrk="1" hangingPunct="1"/>
            <a:endParaRPr lang="en-US" altLang="en-US" dirty="0"/>
          </a:p>
          <a:p>
            <a:pPr eaLnBrk="1" hangingPunct="1"/>
            <a:r>
              <a:rPr lang="en-US" altLang="en-US" dirty="0"/>
              <a:t>And interdependencies (think about page size)</a:t>
            </a:r>
          </a:p>
          <a:p>
            <a:pPr eaLnBrk="1" hangingPunct="1"/>
            <a:endParaRPr lang="en-US" altLang="en-US" dirty="0"/>
          </a:p>
          <a:p>
            <a:r>
              <a:rPr lang="en-US" dirty="0"/>
              <a:t>E.g., common Linux config:</a:t>
            </a:r>
          </a:p>
          <a:p>
            <a:r>
              <a:rPr lang="en-US" dirty="0"/>
              <a:t>Page size = 4096 bytes</a:t>
            </a:r>
          </a:p>
          <a:p>
            <a:r>
              <a:rPr lang="en-US" dirty="0"/>
              <a:t>Disk sector = Many devices expose 512-byte logical sectors, while modern drives commonly use 4 KiB physical sectors.</a:t>
            </a:r>
          </a:p>
          <a:p>
            <a:r>
              <a:rPr lang="en-US" dirty="0"/>
              <a:t>Filesystem block = 4096 bytes</a:t>
            </a:r>
            <a:br>
              <a:rPr lang="en-US" dirty="0"/>
            </a:br>
            <a:r>
              <a:rPr lang="en-US" dirty="0"/>
              <a:t>→ Each page matches one FS block nicely.</a:t>
            </a:r>
          </a:p>
          <a:p>
            <a:pPr eaLnBrk="1" hangingPunct="1"/>
            <a:endParaRPr lang="en-US" altLang="en-US" dirty="0"/>
          </a:p>
        </p:txBody>
      </p:sp>
    </p:spTree>
    <p:extLst>
      <p:ext uri="{BB962C8B-B14F-4D97-AF65-F5344CB8AC3E}">
        <p14:creationId xmlns:p14="http://schemas.microsoft.com/office/powerpoint/2010/main" val="3188440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165D02-80D0-4527-ABB5-6556C9D11CC4}"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52240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AC40ED4-77D2-4BA3-BE95-31D6C5C4B73E}"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325381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59DA564-8714-4595-94F5-0F130C1F3674}"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962160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5E3B5E-5EF8-4A15-BA66-53755D55AAEF}"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4155810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65EA-A8BB-F1B3-48F9-54E2943EBD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7E9C6-648D-F97E-913F-4C5A5F87B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8C798-47F1-2C84-B100-72E6710CC2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47DCA0-B513-D4D6-2A8C-FC7C16243902}"/>
              </a:ext>
            </a:extLst>
          </p:cNvPr>
          <p:cNvSpPr>
            <a:spLocks noGrp="1"/>
          </p:cNvSpPr>
          <p:nvPr>
            <p:ph type="sldNum" sz="quarter" idx="10"/>
          </p:nvPr>
        </p:nvSpPr>
        <p:spPr/>
        <p:txBody>
          <a:bodyPr/>
          <a:lstStyle/>
          <a:p>
            <a:fld id="{CAE0ABF5-7690-4623-B971-046A51D617CD}" type="slidenum">
              <a:rPr lang="en-US" altLang="en-US" smtClean="0"/>
              <a:pPr/>
              <a:t>14</a:t>
            </a:fld>
            <a:endParaRPr lang="en-US" altLang="en-US"/>
          </a:p>
        </p:txBody>
      </p:sp>
    </p:spTree>
    <p:extLst>
      <p:ext uri="{BB962C8B-B14F-4D97-AF65-F5344CB8AC3E}">
        <p14:creationId xmlns:p14="http://schemas.microsoft.com/office/powerpoint/2010/main" val="1596276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883BA9-7D68-41BE-AA83-C5E1FF42CDD7}"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question</a:t>
            </a:r>
          </a:p>
        </p:txBody>
      </p:sp>
    </p:spTree>
    <p:extLst>
      <p:ext uri="{BB962C8B-B14F-4D97-AF65-F5344CB8AC3E}">
        <p14:creationId xmlns:p14="http://schemas.microsoft.com/office/powerpoint/2010/main" val="1098131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17</a:t>
            </a:fld>
            <a:endParaRPr lang="en-US" altLang="en-US"/>
          </a:p>
        </p:txBody>
      </p:sp>
    </p:spTree>
    <p:extLst>
      <p:ext uri="{BB962C8B-B14F-4D97-AF65-F5344CB8AC3E}">
        <p14:creationId xmlns:p14="http://schemas.microsoft.com/office/powerpoint/2010/main" val="4195439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give hints, there’s a question later on</a:t>
            </a:r>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18</a:t>
            </a:fld>
            <a:endParaRPr lang="en-US" altLang="en-US"/>
          </a:p>
        </p:txBody>
      </p:sp>
    </p:spTree>
    <p:extLst>
      <p:ext uri="{BB962C8B-B14F-4D97-AF65-F5344CB8AC3E}">
        <p14:creationId xmlns:p14="http://schemas.microsoft.com/office/powerpoint/2010/main" val="598919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95CF-620D-F4F9-12C7-89510D0C6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E47C4-78EC-5D9A-9D22-2F6FB9367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D3686-7029-BC7D-1FD1-A6FB4B5CC3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FAC597-924B-4491-4408-3FA417B0C38D}"/>
              </a:ext>
            </a:extLst>
          </p:cNvPr>
          <p:cNvSpPr>
            <a:spLocks noGrp="1"/>
          </p:cNvSpPr>
          <p:nvPr>
            <p:ph type="sldNum" sz="quarter" idx="10"/>
          </p:nvPr>
        </p:nvSpPr>
        <p:spPr/>
        <p:txBody>
          <a:bodyPr/>
          <a:lstStyle/>
          <a:p>
            <a:fld id="{CAE0ABF5-7690-4623-B971-046A51D617CD}" type="slidenum">
              <a:rPr lang="en-US" altLang="en-US" smtClean="0"/>
              <a:pPr/>
              <a:t>19</a:t>
            </a:fld>
            <a:endParaRPr lang="en-US" altLang="en-US"/>
          </a:p>
        </p:txBody>
      </p:sp>
    </p:spTree>
    <p:extLst>
      <p:ext uri="{BB962C8B-B14F-4D97-AF65-F5344CB8AC3E}">
        <p14:creationId xmlns:p14="http://schemas.microsoft.com/office/powerpoint/2010/main" val="12986939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disk layouts with one or more file systems, we will look at two boot and partitioning layouts: the Master Boot Record (MBR), an old legacy layout not much used today, and UEFI together with GPT, the GUID Partition Table, where GUID stands for Globally Unique Identifier.</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20</a:t>
            </a:fld>
            <a:endParaRPr lang="en-US" altLang="en-US"/>
          </a:p>
        </p:txBody>
      </p:sp>
    </p:spTree>
    <p:extLst>
      <p:ext uri="{BB962C8B-B14F-4D97-AF65-F5344CB8AC3E}">
        <p14:creationId xmlns:p14="http://schemas.microsoft.com/office/powerpoint/2010/main" val="3331246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MBR layout, a disk can have different partitions, each containing an independent file system. Each partition begins with a boot block, which contains executable code that, once loaded into memory, can start the operating system associated with that partition, if the partition contains one OS. The blocks after the boot block depend on the specific file system in that partition.</a:t>
            </a:r>
          </a:p>
          <a:p>
            <a:endParaRPr lang="en-US" dirty="0"/>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21</a:t>
            </a:fld>
            <a:endParaRPr lang="en-US" altLang="en-US"/>
          </a:p>
        </p:txBody>
      </p:sp>
    </p:spTree>
    <p:extLst>
      <p:ext uri="{BB962C8B-B14F-4D97-AF65-F5344CB8AC3E}">
        <p14:creationId xmlns:p14="http://schemas.microsoft.com/office/powerpoint/2010/main" val="3569829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beginning of the disk, we have the Master Boot Record. The MBR is the first sector and contains both boot code and the partition table. When the machine starts, it loads the executable in the MBR, which reads the partition table and chooses which partition to use to load the OS, possibly asking the user.</a:t>
            </a:r>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22</a:t>
            </a:fld>
            <a:endParaRPr lang="en-US" altLang="en-US"/>
          </a:p>
        </p:txBody>
      </p:sp>
    </p:spTree>
    <p:extLst>
      <p:ext uri="{BB962C8B-B14F-4D97-AF65-F5344CB8AC3E}">
        <p14:creationId xmlns:p14="http://schemas.microsoft.com/office/powerpoint/2010/main" val="569530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partition table contains the addresses of the partitions. If one partition is marked as active, it is selected to load the operating system by reading that partition’s boot block.</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23</a:t>
            </a:fld>
            <a:endParaRPr lang="en-US" altLang="en-US"/>
          </a:p>
        </p:txBody>
      </p:sp>
    </p:spTree>
    <p:extLst>
      <p:ext uri="{BB962C8B-B14F-4D97-AF65-F5344CB8AC3E}">
        <p14:creationId xmlns:p14="http://schemas.microsoft.com/office/powerpoint/2010/main" val="1393644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MBR layout has been used for decades, especially when rotating disks were common in computers and laptops. It has several limitations. The MBR is limited to 512 bytes, including the partition table, so it often cannot contain all the code needed to boot and must load more code from another disk section. It also supports only up to four primary partitions. With legacy BIOS booting, execution starts in 16-bit real mode, using 16-bit registers and instructions, without paging, which is no longer how modern hardware normally works. Finally, given the bits used for the partition start address and size, and the assumed sector size, MBR can only handle partitions up to about 2 TB.</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24</a:t>
            </a:fld>
            <a:endParaRPr lang="en-US" altLang="en-US"/>
          </a:p>
        </p:txBody>
      </p:sp>
    </p:spTree>
    <p:extLst>
      <p:ext uri="{BB962C8B-B14F-4D97-AF65-F5344CB8AC3E}">
        <p14:creationId xmlns:p14="http://schemas.microsoft.com/office/powerpoint/2010/main" val="2807034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now to the Unified Extensible Firmware Interface (UEFI), which is the common layout today, and which is more complex but offers richer features. The first block is still reserved for an MBR in case legacy tools expect it. This is called the protective MBR. It tells legacy MBR tools that the disk is occupied, so they do not treat the GPT disk as empty.</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25</a:t>
            </a:fld>
            <a:endParaRPr lang="en-US" altLang="en-US"/>
          </a:p>
        </p:txBody>
      </p:sp>
    </p:spTree>
    <p:extLst>
      <p:ext uri="{BB962C8B-B14F-4D97-AF65-F5344CB8AC3E}">
        <p14:creationId xmlns:p14="http://schemas.microsoft.com/office/powerpoint/2010/main" val="6454083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that, block 1 contains the GPT header, followed by the GPT partition-entry array. The actual partitions follow after that.</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26</a:t>
            </a:fld>
            <a:endParaRPr lang="en-US" altLang="en-US"/>
          </a:p>
        </p:txBody>
      </p:sp>
    </p:spTree>
    <p:extLst>
      <p:ext uri="{BB962C8B-B14F-4D97-AF65-F5344CB8AC3E}">
        <p14:creationId xmlns:p14="http://schemas.microsoft.com/office/powerpoint/2010/main" val="2560155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disk, there is a backup copy of the GPT. This backup contains a backup header and partition entries, so the partition table can be recovered if the primary GPT is damaged.</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27</a:t>
            </a:fld>
            <a:endParaRPr lang="en-US" altLang="en-US"/>
          </a:p>
        </p:txBody>
      </p:sp>
    </p:spTree>
    <p:extLst>
      <p:ext uri="{BB962C8B-B14F-4D97-AF65-F5344CB8AC3E}">
        <p14:creationId xmlns:p14="http://schemas.microsoft.com/office/powerpoint/2010/main" val="2187331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difference with MBR is that we are not only loading a small program that decides which operating system to load. Instead, there is a specific partition called the EFI System Partition, which contains a proper file system and executables. More concretely, UEFI loads </a:t>
            </a:r>
            <a:r>
              <a:rPr lang="en-US" sz="1200" kern="1200" dirty="0">
                <a:solidFill>
                  <a:schemeClr val="tx1"/>
                </a:solidFill>
                <a:latin typeface="Times New Roman" pitchFamily="18" charset="0"/>
                <a:ea typeface="MS PGothic" pitchFamily="34" charset="-128"/>
                <a:cs typeface="ＭＳ Ｐゴシック" charset="0"/>
              </a:rPr>
              <a:t>.</a:t>
            </a:r>
            <a:r>
              <a:rPr lang="en-US" sz="1200" kern="1200" dirty="0" err="1">
                <a:solidFill>
                  <a:schemeClr val="tx1"/>
                </a:solidFill>
                <a:latin typeface="Times New Roman" pitchFamily="18" charset="0"/>
                <a:ea typeface="MS PGothic" pitchFamily="34" charset="-128"/>
                <a:cs typeface="ＭＳ Ｐゴシック" charset="0"/>
              </a:rPr>
              <a:t>efi</a:t>
            </a:r>
            <a:r>
              <a:rPr lang="en-US" dirty="0"/>
              <a:t> boot programs from the EFI System Partition.</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28</a:t>
            </a:fld>
            <a:endParaRPr lang="en-US" altLang="en-US"/>
          </a:p>
        </p:txBody>
      </p:sp>
    </p:spTree>
    <p:extLst>
      <p:ext uri="{BB962C8B-B14F-4D97-AF65-F5344CB8AC3E}">
        <p14:creationId xmlns:p14="http://schemas.microsoft.com/office/powerpoint/2010/main" val="1129618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7D910-617F-1993-B3CE-731FC7A18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C42C0-5688-AC17-B0C7-0D4157287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A75F9-8CAE-B44F-C3C8-7D37DE7CAE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CCA4E1-6F63-6883-4D87-ED55F5ECA5AE}"/>
              </a:ext>
            </a:extLst>
          </p:cNvPr>
          <p:cNvSpPr>
            <a:spLocks noGrp="1"/>
          </p:cNvSpPr>
          <p:nvPr>
            <p:ph type="sldNum" sz="quarter" idx="10"/>
          </p:nvPr>
        </p:nvSpPr>
        <p:spPr/>
        <p:txBody>
          <a:bodyPr/>
          <a:lstStyle/>
          <a:p>
            <a:fld id="{CAE0ABF5-7690-4623-B971-046A51D617CD}" type="slidenum">
              <a:rPr lang="en-US" altLang="en-US" smtClean="0"/>
              <a:pPr/>
              <a:t>29</a:t>
            </a:fld>
            <a:endParaRPr lang="en-US" altLang="en-US"/>
          </a:p>
        </p:txBody>
      </p:sp>
    </p:spTree>
    <p:extLst>
      <p:ext uri="{BB962C8B-B14F-4D97-AF65-F5344CB8AC3E}">
        <p14:creationId xmlns:p14="http://schemas.microsoft.com/office/powerpoint/2010/main" val="4516495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753A3D-1B93-4C61-AD40-6D3DDE54932A}"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4175646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ECA4A7-BC25-4844-A19F-534D35A6113C}"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93913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7A13DDA-9CA8-4AE6-948C-F2D6D91DD053}"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13879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8E2A61-7116-4526-90DA-8DA2FD642289}"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400426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BFE31E4-C513-4D0A-AA76-C1514DD89C25}"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24837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BFE31E4-C513-4D0A-AA76-C1514DD89C25}"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arenR"/>
            </a:pPr>
            <a:r>
              <a:rPr lang="en-US" altLang="en-US" baseline="0" dirty="0"/>
              <a:t>1 – yes… well depends, maybe w/list was created before or by another user</a:t>
            </a:r>
          </a:p>
          <a:p>
            <a:pPr marL="228600" indent="-228600" eaLnBrk="1" hangingPunct="1">
              <a:buAutoNum type="arabicParenR"/>
            </a:pPr>
            <a:r>
              <a:rPr lang="en-US" altLang="en-US" baseline="0" dirty="0"/>
              <a:t>1 – no… well depends, maybe it was created by this user</a:t>
            </a:r>
          </a:p>
          <a:p>
            <a:pPr marL="228600" indent="-228600" eaLnBrk="1" hangingPunct="1">
              <a:buAutoNum type="arabicParenR"/>
            </a:pPr>
            <a:r>
              <a:rPr lang="en-US" altLang="en-US" baseline="0" dirty="0"/>
              <a:t>2 – yes… but then the other folder might not notice at all</a:t>
            </a:r>
          </a:p>
          <a:p>
            <a:pPr marL="228600" indent="-228600" eaLnBrk="1" hangingPunct="1">
              <a:buAutoNum type="arabicParenR"/>
            </a:pPr>
            <a:r>
              <a:rPr lang="en-US" altLang="en-US" baseline="0" dirty="0"/>
              <a:t>2 – no… other folders will notice, we will save time, but users will get an error</a:t>
            </a:r>
          </a:p>
          <a:p>
            <a:pPr marL="228600" indent="-228600" eaLnBrk="1" hangingPunct="1">
              <a:buAutoNum type="arabicParenR"/>
            </a:pPr>
            <a:r>
              <a:rPr lang="en-US" altLang="en-US" baseline="0" dirty="0"/>
              <a:t>3 – we can keep track of them… extra info to maintain</a:t>
            </a:r>
          </a:p>
          <a:p>
            <a:pPr marL="228600" indent="-228600" eaLnBrk="1" hangingPunct="1">
              <a:buAutoNum type="arabicParenR"/>
            </a:pPr>
            <a:r>
              <a:rPr lang="en-US" altLang="en-US" baseline="0" dirty="0"/>
              <a:t>3 – we can look for them… might take forever…</a:t>
            </a:r>
            <a:endParaRPr lang="en-US" altLang="en-US" dirty="0"/>
          </a:p>
        </p:txBody>
      </p:sp>
    </p:spTree>
    <p:extLst>
      <p:ext uri="{BB962C8B-B14F-4D97-AF65-F5344CB8AC3E}">
        <p14:creationId xmlns:p14="http://schemas.microsoft.com/office/powerpoint/2010/main" val="171875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F6F88-2A16-6737-C0CB-6FA98AC56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4B101-91A9-C168-056F-480A6D152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B80A4F-A38D-BB73-4139-41E0BACBDD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A85592-1E70-D8A0-60DA-BC6C13F7D184}"/>
              </a:ext>
            </a:extLst>
          </p:cNvPr>
          <p:cNvSpPr>
            <a:spLocks noGrp="1"/>
          </p:cNvSpPr>
          <p:nvPr>
            <p:ph type="sldNum" sz="quarter" idx="10"/>
          </p:nvPr>
        </p:nvSpPr>
        <p:spPr/>
        <p:txBody>
          <a:bodyPr/>
          <a:lstStyle/>
          <a:p>
            <a:fld id="{CAE0ABF5-7690-4623-B971-046A51D617CD}" type="slidenum">
              <a:rPr lang="en-US" altLang="en-US" smtClean="0"/>
              <a:pPr/>
              <a:t>37</a:t>
            </a:fld>
            <a:endParaRPr lang="en-US" altLang="en-US"/>
          </a:p>
        </p:txBody>
      </p:sp>
    </p:spTree>
    <p:extLst>
      <p:ext uri="{BB962C8B-B14F-4D97-AF65-F5344CB8AC3E}">
        <p14:creationId xmlns:p14="http://schemas.microsoft.com/office/powerpoint/2010/main" val="42388571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62E0F78-D4D3-433B-8D40-C98934B24EFF}"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008781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39</a:t>
            </a:fld>
            <a:endParaRPr lang="en-US" altLang="en-US"/>
          </a:p>
        </p:txBody>
      </p:sp>
    </p:spTree>
    <p:extLst>
      <p:ext uri="{BB962C8B-B14F-4D97-AF65-F5344CB8AC3E}">
        <p14:creationId xmlns:p14="http://schemas.microsoft.com/office/powerpoint/2010/main" val="20593332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17D88-8CCF-5B97-5466-B04B88E2D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1E7A1-C8D1-0C3F-89BC-217113B2C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4EA37B-DD15-17CD-3DFF-2A2FF6285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014199-CD56-EB30-5DFD-746F8FE88664}"/>
              </a:ext>
            </a:extLst>
          </p:cNvPr>
          <p:cNvSpPr>
            <a:spLocks noGrp="1"/>
          </p:cNvSpPr>
          <p:nvPr>
            <p:ph type="sldNum" sz="quarter" idx="10"/>
          </p:nvPr>
        </p:nvSpPr>
        <p:spPr/>
        <p:txBody>
          <a:bodyPr/>
          <a:lstStyle/>
          <a:p>
            <a:fld id="{CAE0ABF5-7690-4623-B971-046A51D617CD}" type="slidenum">
              <a:rPr lang="en-US" altLang="en-US" smtClean="0"/>
              <a:pPr/>
              <a:t>41</a:t>
            </a:fld>
            <a:endParaRPr lang="en-US" altLang="en-US"/>
          </a:p>
        </p:txBody>
      </p:sp>
    </p:spTree>
    <p:extLst>
      <p:ext uri="{BB962C8B-B14F-4D97-AF65-F5344CB8AC3E}">
        <p14:creationId xmlns:p14="http://schemas.microsoft.com/office/powerpoint/2010/main" val="12150995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agree with me that the size we cannot use in the block depends on how many blocks in total we have? This depends on</a:t>
            </a:r>
            <a:r>
              <a:rPr lang="en-US" baseline="0" dirty="0"/>
              <a:t> the size of the disk and the block size...</a:t>
            </a:r>
          </a:p>
          <a:p>
            <a:endParaRPr lang="en-US" baseline="0" dirty="0"/>
          </a:p>
          <a:p>
            <a:r>
              <a:rPr lang="en-US" baseline="0" dirty="0"/>
              <a:t>NOTE: you usually keep a second point (the end) to speed up </a:t>
            </a:r>
            <a:r>
              <a:rPr lang="en-US" baseline="0" dirty="0" err="1"/>
              <a:t>apppends</a:t>
            </a:r>
            <a:endParaRPr lang="en-US" dirty="0"/>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43</a:t>
            </a:fld>
            <a:endParaRPr lang="en-US" altLang="en-US"/>
          </a:p>
        </p:txBody>
      </p:sp>
    </p:spTree>
    <p:extLst>
      <p:ext uri="{BB962C8B-B14F-4D97-AF65-F5344CB8AC3E}">
        <p14:creationId xmlns:p14="http://schemas.microsoft.com/office/powerpoint/2010/main" val="15936876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71A6-B684-07A5-42B9-65F5DFADF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5DF1C-F326-E2FB-05E9-8112EC96E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567FA-CF63-FC5C-1781-60BE43EC9D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E1C775-2231-6EA7-3906-5E8C1645C04F}"/>
              </a:ext>
            </a:extLst>
          </p:cNvPr>
          <p:cNvSpPr>
            <a:spLocks noGrp="1"/>
          </p:cNvSpPr>
          <p:nvPr>
            <p:ph type="sldNum" sz="quarter" idx="10"/>
          </p:nvPr>
        </p:nvSpPr>
        <p:spPr/>
        <p:txBody>
          <a:bodyPr/>
          <a:lstStyle/>
          <a:p>
            <a:fld id="{CAE0ABF5-7690-4623-B971-046A51D617CD}" type="slidenum">
              <a:rPr lang="en-US" altLang="en-US" smtClean="0"/>
              <a:pPr/>
              <a:t>46</a:t>
            </a:fld>
            <a:endParaRPr lang="en-US" altLang="en-US"/>
          </a:p>
        </p:txBody>
      </p:sp>
    </p:spTree>
    <p:extLst>
      <p:ext uri="{BB962C8B-B14F-4D97-AF65-F5344CB8AC3E}">
        <p14:creationId xmlns:p14="http://schemas.microsoft.com/office/powerpoint/2010/main" val="70869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B321-74FE-9E72-D51E-5358A3934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25B51-75B8-2647-45E9-940702565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A2DCF-5847-56E6-95ED-433E0FA2F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B16CC-D103-7938-581D-808CF59C9943}"/>
              </a:ext>
            </a:extLst>
          </p:cNvPr>
          <p:cNvSpPr>
            <a:spLocks noGrp="1"/>
          </p:cNvSpPr>
          <p:nvPr>
            <p:ph type="sldNum" sz="quarter" idx="10"/>
          </p:nvPr>
        </p:nvSpPr>
        <p:spPr/>
        <p:txBody>
          <a:bodyPr/>
          <a:lstStyle/>
          <a:p>
            <a:fld id="{CAE0ABF5-7690-4623-B971-046A51D617CD}" type="slidenum">
              <a:rPr lang="en-US" altLang="en-US" smtClean="0"/>
              <a:pPr/>
              <a:t>49</a:t>
            </a:fld>
            <a:endParaRPr lang="en-US" altLang="en-US"/>
          </a:p>
        </p:txBody>
      </p:sp>
    </p:spTree>
    <p:extLst>
      <p:ext uri="{BB962C8B-B14F-4D97-AF65-F5344CB8AC3E}">
        <p14:creationId xmlns:p14="http://schemas.microsoft.com/office/powerpoint/2010/main" val="23685762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B1D134-850A-4179-8AB5-27314B993335}"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007098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E940149-BF14-45B4-82CA-B38D8EAF2464}"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660951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DB1EE-CC89-4FB6-A722-3BDC79779409}"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0734037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F1B1A2-C3C1-4054-A7B9-667F21ADB782}"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221919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55</a:t>
            </a:fld>
            <a:endParaRPr lang="en-US" altLang="en-US"/>
          </a:p>
        </p:txBody>
      </p:sp>
    </p:spTree>
    <p:extLst>
      <p:ext uri="{BB962C8B-B14F-4D97-AF65-F5344CB8AC3E}">
        <p14:creationId xmlns:p14="http://schemas.microsoft.com/office/powerpoint/2010/main" val="15639201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56</a:t>
            </a:fld>
            <a:endParaRPr lang="en-US" altLang="en-US"/>
          </a:p>
        </p:txBody>
      </p:sp>
    </p:spTree>
    <p:extLst>
      <p:ext uri="{BB962C8B-B14F-4D97-AF65-F5344CB8AC3E}">
        <p14:creationId xmlns:p14="http://schemas.microsoft.com/office/powerpoint/2010/main" val="205678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3 4</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57</a:t>
            </a:fld>
            <a:endParaRPr lang="en-US" altLang="en-US"/>
          </a:p>
        </p:txBody>
      </p:sp>
    </p:spTree>
    <p:extLst>
      <p:ext uri="{BB962C8B-B14F-4D97-AF65-F5344CB8AC3E}">
        <p14:creationId xmlns:p14="http://schemas.microsoft.com/office/powerpoint/2010/main" val="38148150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58</a:t>
            </a:fld>
            <a:endParaRPr lang="en-US" altLang="en-US"/>
          </a:p>
        </p:txBody>
      </p:sp>
    </p:spTree>
    <p:extLst>
      <p:ext uri="{BB962C8B-B14F-4D97-AF65-F5344CB8AC3E}">
        <p14:creationId xmlns:p14="http://schemas.microsoft.com/office/powerpoint/2010/main" val="10582364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59</a:t>
            </a:fld>
            <a:endParaRPr lang="en-US" altLang="en-US"/>
          </a:p>
        </p:txBody>
      </p:sp>
    </p:spTree>
    <p:extLst>
      <p:ext uri="{BB962C8B-B14F-4D97-AF65-F5344CB8AC3E}">
        <p14:creationId xmlns:p14="http://schemas.microsoft.com/office/powerpoint/2010/main" val="12267317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60</a:t>
            </a:fld>
            <a:endParaRPr lang="en-US" altLang="en-US"/>
          </a:p>
        </p:txBody>
      </p:sp>
    </p:spTree>
    <p:extLst>
      <p:ext uri="{BB962C8B-B14F-4D97-AF65-F5344CB8AC3E}">
        <p14:creationId xmlns:p14="http://schemas.microsoft.com/office/powerpoint/2010/main" val="13233191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(12 * 8 /KB/) + (2048 * 8 /KB) + (2048 * 2048 * 8 /KB/) </a:t>
            </a:r>
            <a:br>
              <a:rPr lang="en-US" sz="1200" dirty="0"/>
            </a:br>
            <a:r>
              <a:rPr lang="en-US" sz="1200" dirty="0"/>
              <a:t>+ (2048 * 2048 * 2048 * 8 /KB) = 64 terabytes</a:t>
            </a:r>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61</a:t>
            </a:fld>
            <a:endParaRPr lang="en-US" altLang="en-US"/>
          </a:p>
        </p:txBody>
      </p:sp>
    </p:spTree>
    <p:extLst>
      <p:ext uri="{BB962C8B-B14F-4D97-AF65-F5344CB8AC3E}">
        <p14:creationId xmlns:p14="http://schemas.microsoft.com/office/powerpoint/2010/main" val="27059304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The advantage is that while accessing a block that is stored at the middle of a file, its location can be determined by chasing the pointers stored in the FAT as opposed to accessing all of the individual blocks of the file in a sequential manner to find the pointer to the target block. Typically, most of the FAT can be cached in memory and therefore the pointers can be determined with just memory accesses instead of having to access the disk blocks.</a:t>
            </a:r>
          </a:p>
          <a:p>
            <a:endParaRPr lang="en-US" dirty="0"/>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62</a:t>
            </a:fld>
            <a:endParaRPr lang="en-US" altLang="en-US"/>
          </a:p>
        </p:txBody>
      </p:sp>
    </p:spTree>
    <p:extLst>
      <p:ext uri="{BB962C8B-B14F-4D97-AF65-F5344CB8AC3E}">
        <p14:creationId xmlns:p14="http://schemas.microsoft.com/office/powerpoint/2010/main" val="40046187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In order to reconstruct the free list, it would be necessary to perform “garbage collection.” This would entail searching the entire directory structure to determine which pages are already allocated to jobs. Those remaining unallocated pages could be relinked as the free-space list.</a:t>
            </a:r>
          </a:p>
          <a:p>
            <a:endParaRPr lang="en-US" dirty="0"/>
          </a:p>
        </p:txBody>
      </p:sp>
      <p:sp>
        <p:nvSpPr>
          <p:cNvPr id="4" name="Slide Number Placeholder 3"/>
          <p:cNvSpPr>
            <a:spLocks noGrp="1"/>
          </p:cNvSpPr>
          <p:nvPr>
            <p:ph type="sldNum" sz="quarter" idx="5"/>
          </p:nvPr>
        </p:nvSpPr>
        <p:spPr/>
        <p:txBody>
          <a:bodyPr/>
          <a:lstStyle/>
          <a:p>
            <a:fld id="{CAE0ABF5-7690-4623-B971-046A51D617CD}" type="slidenum">
              <a:rPr lang="en-US" altLang="en-US" smtClean="0"/>
              <a:pPr/>
              <a:t>63</a:t>
            </a:fld>
            <a:endParaRPr lang="en-US" altLang="en-US"/>
          </a:p>
        </p:txBody>
      </p:sp>
    </p:spTree>
    <p:extLst>
      <p:ext uri="{BB962C8B-B14F-4D97-AF65-F5344CB8AC3E}">
        <p14:creationId xmlns:p14="http://schemas.microsoft.com/office/powerpoint/2010/main" val="3738724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File Systems</a:t>
            </a:r>
          </a:p>
        </p:txBody>
      </p:sp>
      <p:sp>
        <p:nvSpPr>
          <p:cNvPr id="6" name="Slide Number Placeholder 5"/>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1459346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File Systems</a:t>
            </a:r>
          </a:p>
        </p:txBody>
      </p:sp>
      <p:sp>
        <p:nvSpPr>
          <p:cNvPr id="6" name="Slide Number Placeholder 5"/>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3890003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File Systems</a:t>
            </a:r>
          </a:p>
        </p:txBody>
      </p:sp>
      <p:sp>
        <p:nvSpPr>
          <p:cNvPr id="6" name="Slide Number Placeholder 5"/>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297529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7" name="Slide Number Placeholder 6"/>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381978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File Systems</a:t>
            </a:r>
          </a:p>
        </p:txBody>
      </p:sp>
      <p:sp>
        <p:nvSpPr>
          <p:cNvPr id="9" name="Slide Number Placeholder 8"/>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322347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File Systems</a:t>
            </a:r>
          </a:p>
        </p:txBody>
      </p:sp>
      <p:sp>
        <p:nvSpPr>
          <p:cNvPr id="5" name="Slide Number Placeholder 4"/>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3293711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File Systems</a:t>
            </a:r>
          </a:p>
        </p:txBody>
      </p:sp>
      <p:sp>
        <p:nvSpPr>
          <p:cNvPr id="4" name="Slide Number Placeholder 3"/>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474308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7" name="Slide Number Placeholder 6"/>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3379745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7" name="Slide Number Placeholder 6"/>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238971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File Systems</a:t>
            </a:r>
          </a:p>
        </p:txBody>
      </p:sp>
      <p:sp>
        <p:nvSpPr>
          <p:cNvPr id="6" name="Slide Number Placeholder 5"/>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2845968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File Systems</a:t>
            </a:r>
          </a:p>
        </p:txBody>
      </p:sp>
      <p:sp>
        <p:nvSpPr>
          <p:cNvPr id="6" name="Slide Number Placeholder 5"/>
          <p:cNvSpPr>
            <a:spLocks noGrp="1"/>
          </p:cNvSpPr>
          <p:nvPr>
            <p:ph type="sldNum" sz="quarter" idx="12"/>
          </p:nvPr>
        </p:nvSpPr>
        <p:spPr/>
        <p:txBody>
          <a:bodyPr/>
          <a:lstStyle/>
          <a:p>
            <a:fld id="{BE0AC437-A1D8-4781-B86C-407FA400F126}" type="slidenum">
              <a:rPr lang="en-US" smtClean="0"/>
              <a:t>‹#›</a:t>
            </a:fld>
            <a:endParaRPr lang="en-US"/>
          </a:p>
        </p:txBody>
      </p:sp>
    </p:spTree>
    <p:extLst>
      <p:ext uri="{BB962C8B-B14F-4D97-AF65-F5344CB8AC3E}">
        <p14:creationId xmlns:p14="http://schemas.microsoft.com/office/powerpoint/2010/main" val="3574694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685800" y="685800"/>
            <a:ext cx="77724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3176080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79812-7922-F572-FBF4-DD8EA42A7C22}"/>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SE"/>
          </a:p>
        </p:txBody>
      </p:sp>
      <p:sp>
        <p:nvSpPr>
          <p:cNvPr id="3" name="Subtitle 2">
            <a:extLst>
              <a:ext uri="{FF2B5EF4-FFF2-40B4-BE49-F238E27FC236}">
                <a16:creationId xmlns:a16="http://schemas.microsoft.com/office/drawing/2014/main" id="{ABBDCA14-D8CD-7EC4-4379-8F747B15425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88DE1525-4B3B-62BB-AEC4-3717A8D728AB}"/>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8905C6B-C68A-2246-B76C-47CEEB7190AB}"/>
              </a:ext>
            </a:extLst>
          </p:cNvPr>
          <p:cNvSpPr>
            <a:spLocks noGrp="1"/>
          </p:cNvSpPr>
          <p:nvPr>
            <p:ph type="ftr" sz="quarter" idx="11"/>
          </p:nvPr>
        </p:nvSpPr>
        <p:spPr/>
        <p:txBody>
          <a:bodyPr/>
          <a:lstStyle/>
          <a:p>
            <a:r>
              <a:rPr lang="en-SE"/>
              <a:t>Operating Systems - File Systems</a:t>
            </a:r>
          </a:p>
        </p:txBody>
      </p:sp>
      <p:sp>
        <p:nvSpPr>
          <p:cNvPr id="6" name="Slide Number Placeholder 5">
            <a:extLst>
              <a:ext uri="{FF2B5EF4-FFF2-40B4-BE49-F238E27FC236}">
                <a16:creationId xmlns:a16="http://schemas.microsoft.com/office/drawing/2014/main" id="{AB40407D-879E-F928-BEB7-EF9231411805}"/>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982563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FBF7-5873-10B0-9757-E649F2C5B57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FF74E676-6F6B-F88F-8188-716C994980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01173FE5-95F9-28B1-736D-8595BFD5D1B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B47F0D8-4BC6-B5DD-8742-1139CAC18732}"/>
              </a:ext>
            </a:extLst>
          </p:cNvPr>
          <p:cNvSpPr>
            <a:spLocks noGrp="1"/>
          </p:cNvSpPr>
          <p:nvPr>
            <p:ph type="ftr" sz="quarter" idx="11"/>
          </p:nvPr>
        </p:nvSpPr>
        <p:spPr/>
        <p:txBody>
          <a:bodyPr/>
          <a:lstStyle/>
          <a:p>
            <a:r>
              <a:rPr lang="en-SE"/>
              <a:t>Operating Systems - File Systems</a:t>
            </a:r>
          </a:p>
        </p:txBody>
      </p:sp>
      <p:sp>
        <p:nvSpPr>
          <p:cNvPr id="6" name="Slide Number Placeholder 5">
            <a:extLst>
              <a:ext uri="{FF2B5EF4-FFF2-40B4-BE49-F238E27FC236}">
                <a16:creationId xmlns:a16="http://schemas.microsoft.com/office/drawing/2014/main" id="{7568186D-B6F3-BA3E-B41B-3ED6067019DB}"/>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4259159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CCB8A-3B4C-FD93-4189-DBE9A57D1079}"/>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A878525E-4244-E2FB-46D6-5C464D83814E}"/>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FC5DD53-BEAA-0F2B-D537-033D2CF9FFFF}"/>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A9FB11E0-3D79-7837-9C0C-1DA40974D9AF}"/>
              </a:ext>
            </a:extLst>
          </p:cNvPr>
          <p:cNvSpPr>
            <a:spLocks noGrp="1"/>
          </p:cNvSpPr>
          <p:nvPr>
            <p:ph type="ftr" sz="quarter" idx="11"/>
          </p:nvPr>
        </p:nvSpPr>
        <p:spPr/>
        <p:txBody>
          <a:bodyPr/>
          <a:lstStyle/>
          <a:p>
            <a:r>
              <a:rPr lang="en-SE"/>
              <a:t>Operating Systems - File Systems</a:t>
            </a:r>
          </a:p>
        </p:txBody>
      </p:sp>
      <p:sp>
        <p:nvSpPr>
          <p:cNvPr id="6" name="Slide Number Placeholder 5">
            <a:extLst>
              <a:ext uri="{FF2B5EF4-FFF2-40B4-BE49-F238E27FC236}">
                <a16:creationId xmlns:a16="http://schemas.microsoft.com/office/drawing/2014/main" id="{18C00861-D42C-A73A-D630-B6B7BFB29385}"/>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701379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CA19E-845B-1661-6821-DF218196A3CB}"/>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448D2967-9105-9FE1-17C9-9F2A19E4EA99}"/>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4265FB82-CD83-312A-4471-42A432503F51}"/>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11FF9E22-737E-2E7C-E3DA-8CA18013813F}"/>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2E6404B9-175B-6B12-2F8E-A61C886B9F89}"/>
              </a:ext>
            </a:extLst>
          </p:cNvPr>
          <p:cNvSpPr>
            <a:spLocks noGrp="1"/>
          </p:cNvSpPr>
          <p:nvPr>
            <p:ph type="ftr" sz="quarter" idx="11"/>
          </p:nvPr>
        </p:nvSpPr>
        <p:spPr/>
        <p:txBody>
          <a:bodyPr/>
          <a:lstStyle/>
          <a:p>
            <a:r>
              <a:rPr lang="en-SE"/>
              <a:t>Operating Systems - File Systems</a:t>
            </a:r>
          </a:p>
        </p:txBody>
      </p:sp>
      <p:sp>
        <p:nvSpPr>
          <p:cNvPr id="7" name="Slide Number Placeholder 6">
            <a:extLst>
              <a:ext uri="{FF2B5EF4-FFF2-40B4-BE49-F238E27FC236}">
                <a16:creationId xmlns:a16="http://schemas.microsoft.com/office/drawing/2014/main" id="{5FA6A131-949B-8DCD-F714-920633044F3D}"/>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570919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652-8B98-9526-560D-70865BE445E2}"/>
              </a:ext>
            </a:extLst>
          </p:cNvPr>
          <p:cNvSpPr>
            <a:spLocks noGrp="1"/>
          </p:cNvSpPr>
          <p:nvPr>
            <p:ph type="title"/>
          </p:nvPr>
        </p:nvSpPr>
        <p:spPr>
          <a:xfrm>
            <a:off x="629841" y="365126"/>
            <a:ext cx="78867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1D288DE9-A5B0-990E-BB8B-A31D61E40EF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A2B54AB7-F18E-95A9-03A1-98F4030C8D9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0B6ED570-D069-9521-D4CF-AEBD9630DD2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D2292C33-3C07-678D-88B9-1615C87180C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91727F4A-7354-3CB0-5B9B-1FFD762ACB05}"/>
              </a:ext>
            </a:extLst>
          </p:cNvPr>
          <p:cNvSpPr>
            <a:spLocks noGrp="1"/>
          </p:cNvSpPr>
          <p:nvPr>
            <p:ph type="dt" sz="half" idx="10"/>
          </p:nvPr>
        </p:nvSpPr>
        <p:spPr/>
        <p:txBody>
          <a:bodyPr/>
          <a:lstStyle/>
          <a:p>
            <a:r>
              <a:rPr lang="en-US"/>
              <a:t>Vincenzo Gulisano</a:t>
            </a:r>
            <a:endParaRPr lang="en-SE"/>
          </a:p>
        </p:txBody>
      </p:sp>
      <p:sp>
        <p:nvSpPr>
          <p:cNvPr id="8" name="Footer Placeholder 7">
            <a:extLst>
              <a:ext uri="{FF2B5EF4-FFF2-40B4-BE49-F238E27FC236}">
                <a16:creationId xmlns:a16="http://schemas.microsoft.com/office/drawing/2014/main" id="{FDC7CABA-3CE2-733D-2E38-1A95A389E1AB}"/>
              </a:ext>
            </a:extLst>
          </p:cNvPr>
          <p:cNvSpPr>
            <a:spLocks noGrp="1"/>
          </p:cNvSpPr>
          <p:nvPr>
            <p:ph type="ftr" sz="quarter" idx="11"/>
          </p:nvPr>
        </p:nvSpPr>
        <p:spPr/>
        <p:txBody>
          <a:bodyPr/>
          <a:lstStyle/>
          <a:p>
            <a:r>
              <a:rPr lang="en-SE"/>
              <a:t>Operating Systems - File Systems</a:t>
            </a:r>
          </a:p>
        </p:txBody>
      </p:sp>
      <p:sp>
        <p:nvSpPr>
          <p:cNvPr id="9" name="Slide Number Placeholder 8">
            <a:extLst>
              <a:ext uri="{FF2B5EF4-FFF2-40B4-BE49-F238E27FC236}">
                <a16:creationId xmlns:a16="http://schemas.microsoft.com/office/drawing/2014/main" id="{209D0B67-9A9C-FD36-D4AF-5606F241491B}"/>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26168775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FD02-C951-2E5A-76C7-5AD87510E998}"/>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A8EEE3E6-1578-7FFA-392B-40975533A022}"/>
              </a:ext>
            </a:extLst>
          </p:cNvPr>
          <p:cNvSpPr>
            <a:spLocks noGrp="1"/>
          </p:cNvSpPr>
          <p:nvPr>
            <p:ph type="dt" sz="half" idx="10"/>
          </p:nvPr>
        </p:nvSpPr>
        <p:spPr/>
        <p:txBody>
          <a:bodyPr/>
          <a:lstStyle/>
          <a:p>
            <a:r>
              <a:rPr lang="en-US"/>
              <a:t>Vincenzo Gulisano</a:t>
            </a:r>
            <a:endParaRPr lang="en-SE"/>
          </a:p>
        </p:txBody>
      </p:sp>
      <p:sp>
        <p:nvSpPr>
          <p:cNvPr id="4" name="Footer Placeholder 3">
            <a:extLst>
              <a:ext uri="{FF2B5EF4-FFF2-40B4-BE49-F238E27FC236}">
                <a16:creationId xmlns:a16="http://schemas.microsoft.com/office/drawing/2014/main" id="{B484A12A-450B-ED62-D0EB-D539A22A7F22}"/>
              </a:ext>
            </a:extLst>
          </p:cNvPr>
          <p:cNvSpPr>
            <a:spLocks noGrp="1"/>
          </p:cNvSpPr>
          <p:nvPr>
            <p:ph type="ftr" sz="quarter" idx="11"/>
          </p:nvPr>
        </p:nvSpPr>
        <p:spPr/>
        <p:txBody>
          <a:bodyPr/>
          <a:lstStyle/>
          <a:p>
            <a:r>
              <a:rPr lang="en-SE"/>
              <a:t>Operating Systems - File Systems</a:t>
            </a:r>
          </a:p>
        </p:txBody>
      </p:sp>
      <p:sp>
        <p:nvSpPr>
          <p:cNvPr id="5" name="Slide Number Placeholder 4">
            <a:extLst>
              <a:ext uri="{FF2B5EF4-FFF2-40B4-BE49-F238E27FC236}">
                <a16:creationId xmlns:a16="http://schemas.microsoft.com/office/drawing/2014/main" id="{980D9527-1330-18FB-012C-9A2B1E0B375A}"/>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23100241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18DAA-258A-EB1C-D3D6-394B92572B91}"/>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3BEB1676-85F6-2216-F0C7-7AE6D31D1727}"/>
              </a:ext>
            </a:extLst>
          </p:cNvPr>
          <p:cNvSpPr>
            <a:spLocks noGrp="1"/>
          </p:cNvSpPr>
          <p:nvPr>
            <p:ph type="ftr" sz="quarter" idx="11"/>
          </p:nvPr>
        </p:nvSpPr>
        <p:spPr/>
        <p:txBody>
          <a:bodyPr/>
          <a:lstStyle/>
          <a:p>
            <a:r>
              <a:rPr lang="en-SE"/>
              <a:t>Operating Systems - File Systems</a:t>
            </a:r>
          </a:p>
        </p:txBody>
      </p:sp>
      <p:sp>
        <p:nvSpPr>
          <p:cNvPr id="4" name="Slide Number Placeholder 3">
            <a:extLst>
              <a:ext uri="{FF2B5EF4-FFF2-40B4-BE49-F238E27FC236}">
                <a16:creationId xmlns:a16="http://schemas.microsoft.com/office/drawing/2014/main" id="{8A980289-5B94-C267-05E1-354B788DAA5D}"/>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9562239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8B85-D958-749C-9116-203D9B65BC0A}"/>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52C1DD2-68AE-7E77-D7EA-B111BEF944C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09D4BBE9-7271-908B-0204-B2B47ADD562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C67395D6-4FCE-3CE4-23C7-CAB7BDB10FF2}"/>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6B928C22-87DC-2299-6204-65D186D78028}"/>
              </a:ext>
            </a:extLst>
          </p:cNvPr>
          <p:cNvSpPr>
            <a:spLocks noGrp="1"/>
          </p:cNvSpPr>
          <p:nvPr>
            <p:ph type="ftr" sz="quarter" idx="11"/>
          </p:nvPr>
        </p:nvSpPr>
        <p:spPr/>
        <p:txBody>
          <a:bodyPr/>
          <a:lstStyle/>
          <a:p>
            <a:r>
              <a:rPr lang="en-SE"/>
              <a:t>Operating Systems - File Systems</a:t>
            </a:r>
          </a:p>
        </p:txBody>
      </p:sp>
      <p:sp>
        <p:nvSpPr>
          <p:cNvPr id="7" name="Slide Number Placeholder 6">
            <a:extLst>
              <a:ext uri="{FF2B5EF4-FFF2-40B4-BE49-F238E27FC236}">
                <a16:creationId xmlns:a16="http://schemas.microsoft.com/office/drawing/2014/main" id="{D118E40D-4572-3D5A-9C0E-67B04AC114E1}"/>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253987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F4D2-E977-38C0-C4D6-7D8B4E06624D}"/>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7F48638-1DF6-AB77-87DB-AA1DE982A9A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E"/>
          </a:p>
        </p:txBody>
      </p:sp>
      <p:sp>
        <p:nvSpPr>
          <p:cNvPr id="4" name="Text Placeholder 3">
            <a:extLst>
              <a:ext uri="{FF2B5EF4-FFF2-40B4-BE49-F238E27FC236}">
                <a16:creationId xmlns:a16="http://schemas.microsoft.com/office/drawing/2014/main" id="{9618019C-1380-F34C-35D3-58CBA0B81B2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743CFD3B-3CF6-314F-F0BB-DE9D4B76239C}"/>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578F8E86-733B-9A0D-B37F-6CB5147F64E8}"/>
              </a:ext>
            </a:extLst>
          </p:cNvPr>
          <p:cNvSpPr>
            <a:spLocks noGrp="1"/>
          </p:cNvSpPr>
          <p:nvPr>
            <p:ph type="ftr" sz="quarter" idx="11"/>
          </p:nvPr>
        </p:nvSpPr>
        <p:spPr/>
        <p:txBody>
          <a:bodyPr/>
          <a:lstStyle/>
          <a:p>
            <a:r>
              <a:rPr lang="en-SE"/>
              <a:t>Operating Systems - File Systems</a:t>
            </a:r>
          </a:p>
        </p:txBody>
      </p:sp>
      <p:sp>
        <p:nvSpPr>
          <p:cNvPr id="7" name="Slide Number Placeholder 6">
            <a:extLst>
              <a:ext uri="{FF2B5EF4-FFF2-40B4-BE49-F238E27FC236}">
                <a16:creationId xmlns:a16="http://schemas.microsoft.com/office/drawing/2014/main" id="{119532F0-C700-8BE6-7D00-C7F1B76770E6}"/>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1824886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7387-51E0-FC74-B175-161E2B8BF9A1}"/>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01A668C1-69AC-4367-6A8A-9EE60604C4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B369F18E-27A7-F9B0-28F8-17C0D4782E2D}"/>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BA4AF4E-3016-B845-88C5-561A60CCD496}"/>
              </a:ext>
            </a:extLst>
          </p:cNvPr>
          <p:cNvSpPr>
            <a:spLocks noGrp="1"/>
          </p:cNvSpPr>
          <p:nvPr>
            <p:ph type="ftr" sz="quarter" idx="11"/>
          </p:nvPr>
        </p:nvSpPr>
        <p:spPr/>
        <p:txBody>
          <a:bodyPr/>
          <a:lstStyle/>
          <a:p>
            <a:r>
              <a:rPr lang="en-SE"/>
              <a:t>Operating Systems - File Systems</a:t>
            </a:r>
          </a:p>
        </p:txBody>
      </p:sp>
      <p:sp>
        <p:nvSpPr>
          <p:cNvPr id="6" name="Slide Number Placeholder 5">
            <a:extLst>
              <a:ext uri="{FF2B5EF4-FFF2-40B4-BE49-F238E27FC236}">
                <a16:creationId xmlns:a16="http://schemas.microsoft.com/office/drawing/2014/main" id="{B553DC10-0C07-A92A-B10C-3391C19EE97F}"/>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3392767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003F2-C044-A65C-BBEB-8E25B16A7F98}"/>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4F1C09FE-D623-7D09-AB88-15D3DF8793CD}"/>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744E6A8B-0060-B490-615E-03E460A384F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1FAB895-5930-D4D2-7DF5-C2143383ADF6}"/>
              </a:ext>
            </a:extLst>
          </p:cNvPr>
          <p:cNvSpPr>
            <a:spLocks noGrp="1"/>
          </p:cNvSpPr>
          <p:nvPr>
            <p:ph type="ftr" sz="quarter" idx="11"/>
          </p:nvPr>
        </p:nvSpPr>
        <p:spPr/>
        <p:txBody>
          <a:bodyPr/>
          <a:lstStyle/>
          <a:p>
            <a:r>
              <a:rPr lang="en-SE"/>
              <a:t>Operating Systems - File Systems</a:t>
            </a:r>
          </a:p>
        </p:txBody>
      </p:sp>
      <p:sp>
        <p:nvSpPr>
          <p:cNvPr id="6" name="Slide Number Placeholder 5">
            <a:extLst>
              <a:ext uri="{FF2B5EF4-FFF2-40B4-BE49-F238E27FC236}">
                <a16:creationId xmlns:a16="http://schemas.microsoft.com/office/drawing/2014/main" id="{F4D876F0-760A-D2BB-53A6-0C9BDAB6D94A}"/>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4814592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3225"/>
            </a:lvl1pPr>
          </a:lstStyle>
          <a:p>
            <a:r>
              <a:rPr lang="en-US" dirty="0"/>
              <a:t>Click to edit Master title style</a:t>
            </a:r>
          </a:p>
        </p:txBody>
      </p:sp>
    </p:spTree>
    <p:extLst>
      <p:ext uri="{BB962C8B-B14F-4D97-AF65-F5344CB8AC3E}">
        <p14:creationId xmlns:p14="http://schemas.microsoft.com/office/powerpoint/2010/main" val="2891970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File Systems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E0AC437-A1D8-4781-B86C-407FA400F126}" type="slidenum">
              <a:rPr lang="en-US" smtClean="0"/>
              <a:t>‹#›</a:t>
            </a:fld>
            <a:endParaRPr lang="en-US"/>
          </a:p>
        </p:txBody>
      </p:sp>
    </p:spTree>
    <p:extLst>
      <p:ext uri="{BB962C8B-B14F-4D97-AF65-F5344CB8AC3E}">
        <p14:creationId xmlns:p14="http://schemas.microsoft.com/office/powerpoint/2010/main" val="421938959"/>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08A73-CD14-71D4-6762-D4270425864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2C46A26D-F8DF-E1B7-C797-1B953F065B9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F5398A65-F014-0AA3-2291-081A9AE268E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endParaRPr lang="en-SE"/>
          </a:p>
        </p:txBody>
      </p:sp>
      <p:sp>
        <p:nvSpPr>
          <p:cNvPr id="5" name="Footer Placeholder 4">
            <a:extLst>
              <a:ext uri="{FF2B5EF4-FFF2-40B4-BE49-F238E27FC236}">
                <a16:creationId xmlns:a16="http://schemas.microsoft.com/office/drawing/2014/main" id="{532645CC-3E41-464B-DC9B-B736B5A40A4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SE"/>
              <a:t>Operating Systems - File Systems</a:t>
            </a:r>
          </a:p>
        </p:txBody>
      </p:sp>
      <p:sp>
        <p:nvSpPr>
          <p:cNvPr id="6" name="Slide Number Placeholder 5">
            <a:extLst>
              <a:ext uri="{FF2B5EF4-FFF2-40B4-BE49-F238E27FC236}">
                <a16:creationId xmlns:a16="http://schemas.microsoft.com/office/drawing/2014/main" id="{83EFE334-C90F-ECAC-73FF-C31C66E56C0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F79AA98-1CDB-B74D-913E-0EAC104F29A0}" type="slidenum">
              <a:rPr lang="en-SE" smtClean="0"/>
              <a:t>‹#›</a:t>
            </a:fld>
            <a:endParaRPr lang="en-SE"/>
          </a:p>
        </p:txBody>
      </p:sp>
    </p:spTree>
    <p:extLst>
      <p:ext uri="{BB962C8B-B14F-4D97-AF65-F5344CB8AC3E}">
        <p14:creationId xmlns:p14="http://schemas.microsoft.com/office/powerpoint/2010/main" val="413124331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S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tiff"/></Relationships>
</file>

<file path=ppt/slides/_rels/slide16.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tiff"/><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4.tif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1069975" y="1647826"/>
            <a:ext cx="6908800" cy="1890183"/>
          </a:xfrm>
          <a:prstGeom prst="rect">
            <a:avLst/>
          </a:prstGeom>
        </p:spPr>
        <p:txBody>
          <a:bodyPr lIns="81280" tIns="40640" rIns="81280" bIns="4064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fontAlgn="auto">
              <a:spcAft>
                <a:spcPts val="0"/>
              </a:spcAft>
              <a:defRPr/>
            </a:pPr>
            <a:r>
              <a:rPr lang="en-US" sz="3556" dirty="0"/>
              <a:t>File Systems</a:t>
            </a:r>
            <a:br>
              <a:rPr lang="en-US" altLang="en-US" sz="3556" dirty="0"/>
            </a:br>
            <a:r>
              <a:rPr lang="en-US" altLang="en-US" sz="3556" dirty="0"/>
              <a:t>Operating Systems – EDA093/DIT401</a:t>
            </a:r>
            <a:br>
              <a:rPr lang="en-US" altLang="en-US" sz="3822" dirty="0"/>
            </a:br>
            <a:br>
              <a:rPr lang="en-US" altLang="en-US" sz="3822" dirty="0"/>
            </a:br>
            <a:r>
              <a:rPr lang="en-US" altLang="en-US" sz="2845" dirty="0"/>
              <a:t>Vincenzo Gulisano</a:t>
            </a:r>
            <a:br>
              <a:rPr lang="en-US" altLang="en-US" sz="2845" dirty="0"/>
            </a:br>
            <a:r>
              <a:rPr lang="en-US" altLang="en-US" sz="1778" dirty="0"/>
              <a:t>vincenzo.gulisano@chalmers.se</a:t>
            </a:r>
            <a:endParaRPr lang="en-US" altLang="en-US" sz="2400" dirty="0"/>
          </a:p>
        </p:txBody>
      </p:sp>
      <p:grpSp>
        <p:nvGrpSpPr>
          <p:cNvPr id="5" name="Group 4">
            <a:extLst>
              <a:ext uri="{FF2B5EF4-FFF2-40B4-BE49-F238E27FC236}">
                <a16:creationId xmlns:a16="http://schemas.microsoft.com/office/drawing/2014/main" id="{F1A5E7A8-FB81-5CB4-59C2-669BF7B26918}"/>
              </a:ext>
            </a:extLst>
          </p:cNvPr>
          <p:cNvGrpSpPr/>
          <p:nvPr/>
        </p:nvGrpSpPr>
        <p:grpSpPr>
          <a:xfrm>
            <a:off x="1019614" y="4698887"/>
            <a:ext cx="7104771" cy="1547400"/>
            <a:chOff x="777241" y="4793437"/>
            <a:chExt cx="7104771" cy="1547400"/>
          </a:xfrm>
        </p:grpSpPr>
        <p:pic>
          <p:nvPicPr>
            <p:cNvPr id="6" name="Picture 5">
              <a:extLst>
                <a:ext uri="{FF2B5EF4-FFF2-40B4-BE49-F238E27FC236}">
                  <a16:creationId xmlns:a16="http://schemas.microsoft.com/office/drawing/2014/main" id="{37B988A8-45D0-14A4-373E-F9E841D71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D994E0B-6016-7D86-95D5-8E13ADFC5DF5}"/>
                </a:ext>
              </a:extLst>
            </p:cNvPr>
            <p:cNvPicPr>
              <a:picLocks noChangeAspect="1"/>
            </p:cNvPicPr>
            <p:nvPr/>
          </p:nvPicPr>
          <p:blipFill>
            <a:blip r:embed="rId4"/>
            <a:stretch>
              <a:fillRect/>
            </a:stretch>
          </p:blipFill>
          <p:spPr>
            <a:xfrm>
              <a:off x="777241" y="4973870"/>
              <a:ext cx="4724632" cy="1186535"/>
            </a:xfrm>
            <a:prstGeom prst="rect">
              <a:avLst/>
            </a:prstGeom>
          </p:spPr>
        </p:pic>
      </p:grpSp>
    </p:spTree>
    <p:extLst>
      <p:ext uri="{BB962C8B-B14F-4D97-AF65-F5344CB8AC3E}">
        <p14:creationId xmlns:p14="http://schemas.microsoft.com/office/powerpoint/2010/main" val="2067898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Reading instructions</a:t>
            </a:r>
          </a:p>
        </p:txBody>
      </p:sp>
      <p:sp>
        <p:nvSpPr>
          <p:cNvPr id="3" name="Content Placeholder 2"/>
          <p:cNvSpPr>
            <a:spLocks noGrp="1"/>
          </p:cNvSpPr>
          <p:nvPr>
            <p:ph idx="1"/>
          </p:nvPr>
        </p:nvSpPr>
        <p:spPr/>
        <p:txBody>
          <a:bodyPr rtlCol="0">
            <a:normAutofit/>
          </a:bodyPr>
          <a:lstStyle/>
          <a:p>
            <a:pPr>
              <a:defRPr/>
            </a:pPr>
            <a:r>
              <a:rPr lang="en-US" altLang="en-US" sz="2400" dirty="0"/>
              <a:t>Sections 4.1 to 4.4 </a:t>
            </a:r>
          </a:p>
          <a:p>
            <a:pPr lvl="1">
              <a:defRPr/>
            </a:pPr>
            <a:r>
              <a:rPr lang="en-US" sz="2100" dirty="0"/>
              <a:t>Note: UEFI only in 5</a:t>
            </a:r>
            <a:r>
              <a:rPr lang="en-US" sz="2100" baseline="30000" dirty="0"/>
              <a:t>th</a:t>
            </a:r>
            <a:r>
              <a:rPr lang="en-US" sz="2100" dirty="0"/>
              <a:t> edition (4.3.1) but slides are enough</a:t>
            </a:r>
            <a:br>
              <a:rPr lang="en-US" sz="2100" dirty="0"/>
            </a:br>
            <a:br>
              <a:rPr lang="en-US" sz="2100" dirty="0"/>
            </a:br>
            <a:r>
              <a:rPr lang="en-US" sz="2100" dirty="0"/>
              <a:t>(optional additional reading: 10.1-10.3.6,10.4-10.6,11.1-11.2,11.4-11.5 from Silberschatz Operating System Concepts)</a:t>
            </a:r>
            <a:endParaRPr lang="en-US" sz="1700" dirty="0"/>
          </a:p>
        </p:txBody>
      </p:sp>
      <p:sp>
        <p:nvSpPr>
          <p:cNvPr id="4" name="Date Placeholder 3"/>
          <p:cNvSpPr>
            <a:spLocks noGrp="1"/>
          </p:cNvSpPr>
          <p:nvPr>
            <p:ph type="dt" sz="quarter" idx="10"/>
          </p:nvPr>
        </p:nvSpPr>
        <p:spPr/>
        <p:txBody>
          <a:bodyPr/>
          <a:lstStyle/>
          <a:p>
            <a:pPr>
              <a:defRPr/>
            </a:pPr>
            <a:r>
              <a:rPr lang="en-US"/>
              <a:t>Vincenzo Gulisano</a:t>
            </a:r>
          </a:p>
        </p:txBody>
      </p:sp>
      <p:sp>
        <p:nvSpPr>
          <p:cNvPr id="5" name="Footer Placeholder 4"/>
          <p:cNvSpPr>
            <a:spLocks noGrp="1"/>
          </p:cNvSpPr>
          <p:nvPr>
            <p:ph type="ftr" sz="quarter" idx="11"/>
          </p:nvPr>
        </p:nvSpPr>
        <p:spPr/>
        <p:txBody>
          <a:bodyPr/>
          <a:lstStyle/>
          <a:p>
            <a:pPr>
              <a:defRPr/>
            </a:pPr>
            <a:r>
              <a:rPr lang="en-US"/>
              <a:t>Operating Systems - File Systems</a:t>
            </a:r>
            <a:endParaRPr lang="en-US" dirty="0"/>
          </a:p>
        </p:txBody>
      </p:sp>
      <p:sp>
        <p:nvSpPr>
          <p:cNvPr id="7" name="Slide Number Placeholder 6">
            <a:extLst>
              <a:ext uri="{FF2B5EF4-FFF2-40B4-BE49-F238E27FC236}">
                <a16:creationId xmlns:a16="http://schemas.microsoft.com/office/drawing/2014/main" id="{D5280C6C-52BB-18BD-CA77-6F7C3EEA5203}"/>
              </a:ext>
            </a:extLst>
          </p:cNvPr>
          <p:cNvSpPr>
            <a:spLocks noGrp="1"/>
          </p:cNvSpPr>
          <p:nvPr>
            <p:ph type="sldNum" sz="quarter" idx="12"/>
          </p:nvPr>
        </p:nvSpPr>
        <p:spPr/>
        <p:txBody>
          <a:bodyPr/>
          <a:lstStyle/>
          <a:p>
            <a:fld id="{BE0AC437-A1D8-4781-B86C-407FA400F126}" type="slidenum">
              <a:rPr lang="en-US" smtClean="0"/>
              <a:t>2</a:t>
            </a:fld>
            <a:endParaRPr lang="en-US"/>
          </a:p>
        </p:txBody>
      </p:sp>
    </p:spTree>
    <p:extLst>
      <p:ext uri="{BB962C8B-B14F-4D97-AF65-F5344CB8AC3E}">
        <p14:creationId xmlns:p14="http://schemas.microsoft.com/office/powerpoint/2010/main" val="255615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dirty="0"/>
              <a:t>What are the most visible aspects of a file system to users?</a:t>
            </a:r>
          </a:p>
        </p:txBody>
      </p:sp>
      <p:sp>
        <p:nvSpPr>
          <p:cNvPr id="2" name="Date Placeholder 1"/>
          <p:cNvSpPr>
            <a:spLocks noGrp="1"/>
          </p:cNvSpPr>
          <p:nvPr>
            <p:ph type="dt" sz="half" idx="10"/>
          </p:nvPr>
        </p:nvSpPr>
        <p:spPr/>
        <p:txBody>
          <a:bodyPr/>
          <a:lstStyle/>
          <a:p>
            <a:r>
              <a:rPr lang="en-US"/>
              <a:t>Vincenzo Gulisano</a:t>
            </a:r>
          </a:p>
        </p:txBody>
      </p:sp>
      <p:sp>
        <p:nvSpPr>
          <p:cNvPr id="6" name="TextBox 5"/>
          <p:cNvSpPr txBox="1"/>
          <p:nvPr/>
        </p:nvSpPr>
        <p:spPr>
          <a:xfrm>
            <a:off x="1874520" y="2162294"/>
            <a:ext cx="704039" cy="369332"/>
          </a:xfrm>
          <a:prstGeom prst="rect">
            <a:avLst/>
          </a:prstGeom>
          <a:noFill/>
        </p:spPr>
        <p:txBody>
          <a:bodyPr wrap="none" rtlCol="0">
            <a:spAutoFit/>
          </a:bodyPr>
          <a:lstStyle/>
          <a:p>
            <a:r>
              <a:rPr lang="en-US" dirty="0"/>
              <a:t>Files</a:t>
            </a:r>
          </a:p>
        </p:txBody>
      </p:sp>
      <p:sp>
        <p:nvSpPr>
          <p:cNvPr id="9" name="TextBox 8"/>
          <p:cNvSpPr txBox="1"/>
          <p:nvPr/>
        </p:nvSpPr>
        <p:spPr>
          <a:xfrm>
            <a:off x="5273040" y="2162294"/>
            <a:ext cx="1433406" cy="369332"/>
          </a:xfrm>
          <a:prstGeom prst="rect">
            <a:avLst/>
          </a:prstGeom>
          <a:noFill/>
        </p:spPr>
        <p:txBody>
          <a:bodyPr wrap="none" rtlCol="0">
            <a:spAutoFit/>
          </a:bodyPr>
          <a:lstStyle/>
          <a:p>
            <a:r>
              <a:rPr lang="en-US" dirty="0"/>
              <a:t>Directories</a:t>
            </a:r>
          </a:p>
        </p:txBody>
      </p:sp>
      <p:grpSp>
        <p:nvGrpSpPr>
          <p:cNvPr id="7" name="Group 6"/>
          <p:cNvGrpSpPr/>
          <p:nvPr/>
        </p:nvGrpSpPr>
        <p:grpSpPr>
          <a:xfrm>
            <a:off x="628650" y="2701967"/>
            <a:ext cx="7845424" cy="3484043"/>
            <a:chOff x="628650" y="2701967"/>
            <a:chExt cx="7845424" cy="3484043"/>
          </a:xfrm>
        </p:grpSpPr>
        <p:pic>
          <p:nvPicPr>
            <p:cNvPr id="5125" name="Picture 5" descr="http://www.conifersystems.com/images/cf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650" y="2765225"/>
              <a:ext cx="3039110" cy="2278316"/>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descr="http://i.stack.imgur.com/01rd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3146756"/>
              <a:ext cx="4237354" cy="3039254"/>
            </a:xfrm>
            <a:prstGeom prst="rect">
              <a:avLst/>
            </a:prstGeom>
            <a:noFill/>
            <a:extLst>
              <a:ext uri="{909E8E84-426E-40DD-AFC4-6F175D3DCCD1}">
                <a14:hiddenFill xmlns:a14="http://schemas.microsoft.com/office/drawing/2010/main">
                  <a:solidFill>
                    <a:srgbClr val="FFFFFF"/>
                  </a:solidFill>
                </a14:hiddenFill>
              </a:ext>
            </a:extLst>
          </p:spPr>
        </p:pic>
        <p:pic>
          <p:nvPicPr>
            <p:cNvPr id="5129" name="Picture 9" descr="http://deliveryimages.acm.org/10.1145/1240000/1230003/9449f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3937" y="2701967"/>
              <a:ext cx="3960137" cy="2714415"/>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11" descr="http://upload.wikimedia.org/wikipedia/commons/0/08/Filesystem_Hierarchy_Standard.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30759" y="3904383"/>
              <a:ext cx="2840990" cy="2129792"/>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Footer Placeholder 9"/>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BFF0F3F7-A0C2-C681-2B9A-6F08A4A3CA1C}"/>
              </a:ext>
            </a:extLst>
          </p:cNvPr>
          <p:cNvSpPr>
            <a:spLocks noGrp="1"/>
          </p:cNvSpPr>
          <p:nvPr>
            <p:ph type="sldNum" sz="quarter" idx="12"/>
          </p:nvPr>
        </p:nvSpPr>
        <p:spPr/>
        <p:txBody>
          <a:bodyPr/>
          <a:lstStyle/>
          <a:p>
            <a:fld id="{BE0AC437-A1D8-4781-B86C-407FA400F126}" type="slidenum">
              <a:rPr lang="en-US" smtClean="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a:t>Objectives</a:t>
            </a:r>
          </a:p>
        </p:txBody>
      </p:sp>
      <p:sp>
        <p:nvSpPr>
          <p:cNvPr id="5123" name="Rectangle 3"/>
          <p:cNvSpPr>
            <a:spLocks noGrp="1" noChangeArrowheads="1"/>
          </p:cNvSpPr>
          <p:nvPr>
            <p:ph type="body" idx="1"/>
          </p:nvPr>
        </p:nvSpPr>
        <p:spPr/>
        <p:txBody>
          <a:bodyPr/>
          <a:lstStyle/>
          <a:p>
            <a:r>
              <a:rPr lang="en-US" altLang="en-US" dirty="0"/>
              <a:t>To explain the function of file systems</a:t>
            </a:r>
          </a:p>
          <a:p>
            <a:endParaRPr lang="en-US" altLang="en-US" dirty="0"/>
          </a:p>
          <a:p>
            <a:r>
              <a:rPr lang="en-US" altLang="en-US" dirty="0"/>
              <a:t>To describe the interfaces to file systems</a:t>
            </a:r>
          </a:p>
          <a:p>
            <a:endParaRPr lang="en-US" altLang="en-US" dirty="0"/>
          </a:p>
          <a:p>
            <a:r>
              <a:rPr lang="en-US" altLang="en-US" dirty="0"/>
              <a:t>To discuss file system design tradeoffs, including access methods, file sharing, file locking, and directory structures</a:t>
            </a:r>
          </a:p>
          <a:p>
            <a:endParaRPr lang="en-US" altLang="en-US" dirty="0"/>
          </a:p>
          <a:p>
            <a:r>
              <a:rPr lang="en-US" altLang="en-US" dirty="0"/>
              <a:t>To explore file system protection</a:t>
            </a:r>
          </a:p>
          <a:p>
            <a:endParaRPr lang="en-US" altLang="en-US" dirty="0"/>
          </a:p>
          <a:p>
            <a:r>
              <a:rPr lang="en-US" altLang="en-US" dirty="0"/>
              <a:t>To discuss block allocation and free-block algorithms and trade-offs</a:t>
            </a:r>
          </a:p>
          <a:p>
            <a:pPr marL="0" indent="0">
              <a:buNone/>
            </a:pPr>
            <a:endParaRPr lang="en-US" altLang="en-US" dirty="0"/>
          </a:p>
          <a:p>
            <a:endParaRPr lang="en-US" altLang="en-US" dirty="0"/>
          </a:p>
        </p:txBody>
      </p:sp>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0ABBFE3E-83D1-58F9-378D-5E922BE509BD}"/>
              </a:ext>
            </a:extLst>
          </p:cNvPr>
          <p:cNvSpPr>
            <a:spLocks noGrp="1"/>
          </p:cNvSpPr>
          <p:nvPr>
            <p:ph type="sldNum" sz="quarter" idx="12"/>
          </p:nvPr>
        </p:nvSpPr>
        <p:spPr/>
        <p:txBody>
          <a:bodyPr/>
          <a:lstStyle/>
          <a:p>
            <a:fld id="{BE0AC437-A1D8-4781-B86C-407FA400F126}" type="slidenum">
              <a:rPr lang="en-US" smtClean="0"/>
              <a:t>4</a:t>
            </a:fld>
            <a:endParaRPr lang="en-US"/>
          </a:p>
        </p:txBody>
      </p:sp>
    </p:spTree>
    <p:extLst>
      <p:ext uri="{BB962C8B-B14F-4D97-AF65-F5344CB8AC3E}">
        <p14:creationId xmlns:p14="http://schemas.microsoft.com/office/powerpoint/2010/main" val="773913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628650" y="1386683"/>
            <a:ext cx="7886700" cy="4790280"/>
          </a:xfrm>
        </p:spPr>
        <p:txBody>
          <a:bodyPr>
            <a:normAutofit/>
          </a:bodyPr>
          <a:lstStyle/>
          <a:p>
            <a:r>
              <a:rPr lang="en-US" dirty="0"/>
              <a:t>File concept</a:t>
            </a:r>
          </a:p>
          <a:p>
            <a:r>
              <a:rPr lang="en-US" dirty="0"/>
              <a:t>Access methods</a:t>
            </a:r>
          </a:p>
          <a:p>
            <a:r>
              <a:rPr lang="en-US" dirty="0"/>
              <a:t>Disk structure</a:t>
            </a:r>
          </a:p>
          <a:p>
            <a:r>
              <a:rPr lang="en-US" dirty="0"/>
              <a:t>Directory structure [Self-study]</a:t>
            </a:r>
          </a:p>
          <a:p>
            <a:r>
              <a:rPr lang="en-US" dirty="0"/>
              <a:t>File system structure</a:t>
            </a:r>
          </a:p>
          <a:p>
            <a:r>
              <a:rPr lang="en-US" dirty="0"/>
              <a:t>Allocation methods</a:t>
            </a:r>
          </a:p>
          <a:p>
            <a:r>
              <a:rPr lang="en-US" dirty="0"/>
              <a:t>Free-space management</a:t>
            </a:r>
          </a:p>
          <a:p>
            <a:r>
              <a:rPr lang="en-US" dirty="0"/>
              <a:t>File sharing and protection</a:t>
            </a:r>
          </a:p>
        </p:txBody>
      </p:sp>
      <p:sp>
        <p:nvSpPr>
          <p:cNvPr id="4" name="Date Placeholder 3"/>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681B9347-4D77-6C99-37BB-F352F0D8E9A9}"/>
              </a:ext>
            </a:extLst>
          </p:cNvPr>
          <p:cNvSpPr>
            <a:spLocks noGrp="1"/>
          </p:cNvSpPr>
          <p:nvPr>
            <p:ph type="sldNum" sz="quarter" idx="12"/>
          </p:nvPr>
        </p:nvSpPr>
        <p:spPr/>
        <p:txBody>
          <a:bodyPr/>
          <a:lstStyle/>
          <a:p>
            <a:fld id="{BE0AC437-A1D8-4781-B86C-407FA400F126}" type="slidenum">
              <a:rPr lang="en-US" smtClean="0"/>
              <a:t>5</a:t>
            </a:fld>
            <a:endParaRPr lang="en-US"/>
          </a:p>
        </p:txBody>
      </p:sp>
    </p:spTree>
    <p:extLst>
      <p:ext uri="{BB962C8B-B14F-4D97-AF65-F5344CB8AC3E}">
        <p14:creationId xmlns:p14="http://schemas.microsoft.com/office/powerpoint/2010/main" val="68737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BFC60-8958-DBF3-2B7A-09953EEE0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0FED7-2336-E4D3-3BB1-AA3E8BE7DF0F}"/>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B0B153-2A98-0CF5-9C15-07DEC266D22A}"/>
              </a:ext>
            </a:extLst>
          </p:cNvPr>
          <p:cNvSpPr>
            <a:spLocks noGrp="1"/>
          </p:cNvSpPr>
          <p:nvPr>
            <p:ph idx="1"/>
          </p:nvPr>
        </p:nvSpPr>
        <p:spPr>
          <a:xfrm>
            <a:off x="628650" y="1386683"/>
            <a:ext cx="7886700" cy="4790280"/>
          </a:xfrm>
        </p:spPr>
        <p:txBody>
          <a:bodyPr>
            <a:normAutofit/>
          </a:bodyPr>
          <a:lstStyle/>
          <a:p>
            <a:r>
              <a:rPr lang="en-US" dirty="0"/>
              <a:t>File concept</a:t>
            </a:r>
          </a:p>
          <a:p>
            <a:r>
              <a:rPr lang="en-US" dirty="0">
                <a:solidFill>
                  <a:schemeClr val="bg2">
                    <a:lumMod val="90000"/>
                  </a:schemeClr>
                </a:solidFill>
              </a:rPr>
              <a:t>Access methods</a:t>
            </a:r>
          </a:p>
          <a:p>
            <a:r>
              <a:rPr lang="en-US" dirty="0">
                <a:solidFill>
                  <a:schemeClr val="bg2">
                    <a:lumMod val="90000"/>
                  </a:schemeClr>
                </a:solidFill>
              </a:rPr>
              <a:t>Disk structure</a:t>
            </a:r>
          </a:p>
          <a:p>
            <a:r>
              <a:rPr lang="en-US" dirty="0">
                <a:solidFill>
                  <a:schemeClr val="bg2">
                    <a:lumMod val="90000"/>
                  </a:schemeClr>
                </a:solidFill>
              </a:rPr>
              <a:t>Directory structure [Self-study]</a:t>
            </a:r>
          </a:p>
          <a:p>
            <a:r>
              <a:rPr lang="en-US" dirty="0">
                <a:solidFill>
                  <a:schemeClr val="bg2">
                    <a:lumMod val="90000"/>
                  </a:schemeClr>
                </a:solidFill>
              </a:rPr>
              <a:t>File system structure</a:t>
            </a:r>
          </a:p>
          <a:p>
            <a:r>
              <a:rPr lang="en-US" dirty="0">
                <a:solidFill>
                  <a:schemeClr val="bg2">
                    <a:lumMod val="90000"/>
                  </a:schemeClr>
                </a:solidFill>
              </a:rPr>
              <a:t>Allocation methods</a:t>
            </a:r>
          </a:p>
          <a:p>
            <a:r>
              <a:rPr lang="en-US" dirty="0">
                <a:solidFill>
                  <a:schemeClr val="bg2">
                    <a:lumMod val="90000"/>
                  </a:schemeClr>
                </a:solidFill>
              </a:rPr>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1DC8C6EE-119D-9C11-168F-59302AD0D66E}"/>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04855DA7-5B85-8398-8EEB-140331BA8B17}"/>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4A0CBA75-CE67-12C0-CBB3-335800467C5A}"/>
              </a:ext>
            </a:extLst>
          </p:cNvPr>
          <p:cNvSpPr>
            <a:spLocks noGrp="1"/>
          </p:cNvSpPr>
          <p:nvPr>
            <p:ph type="sldNum" sz="quarter" idx="12"/>
          </p:nvPr>
        </p:nvSpPr>
        <p:spPr/>
        <p:txBody>
          <a:bodyPr/>
          <a:lstStyle/>
          <a:p>
            <a:fld id="{BE0AC437-A1D8-4781-B86C-407FA400F126}" type="slidenum">
              <a:rPr lang="en-US" smtClean="0"/>
              <a:t>6</a:t>
            </a:fld>
            <a:endParaRPr lang="en-US"/>
          </a:p>
        </p:txBody>
      </p:sp>
    </p:spTree>
    <p:extLst>
      <p:ext uri="{BB962C8B-B14F-4D97-AF65-F5344CB8AC3E}">
        <p14:creationId xmlns:p14="http://schemas.microsoft.com/office/powerpoint/2010/main" val="190550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a:t>File Concept</a:t>
            </a:r>
          </a:p>
        </p:txBody>
      </p:sp>
      <p:sp>
        <p:nvSpPr>
          <p:cNvPr id="6147" name="Rectangle 3"/>
          <p:cNvSpPr>
            <a:spLocks noGrp="1" noChangeArrowheads="1"/>
          </p:cNvSpPr>
          <p:nvPr>
            <p:ph idx="1"/>
          </p:nvPr>
        </p:nvSpPr>
        <p:spPr>
          <a:xfrm>
            <a:off x="628650" y="2374789"/>
            <a:ext cx="7886700" cy="3802173"/>
          </a:xfrm>
        </p:spPr>
        <p:txBody>
          <a:bodyPr>
            <a:normAutofit/>
          </a:bodyPr>
          <a:lstStyle/>
          <a:p>
            <a:endParaRPr lang="en-US" altLang="en-US" dirty="0"/>
          </a:p>
          <a:p>
            <a:r>
              <a:rPr lang="en-US" altLang="en-US" dirty="0"/>
              <a:t>A file is a named unit of persistent data presented by the operating system</a:t>
            </a:r>
          </a:p>
          <a:p>
            <a:r>
              <a:rPr lang="en-US" altLang="en-US" dirty="0"/>
              <a:t>File system abstracts how they are mapped into secondary storage</a:t>
            </a:r>
          </a:p>
          <a:p>
            <a:r>
              <a:rPr lang="en-US" altLang="en-US" dirty="0"/>
              <a:t>Similarly to processes, files have contiguous logical address space (but not physical)</a:t>
            </a:r>
          </a:p>
          <a:p>
            <a:r>
              <a:rPr lang="en-US" altLang="en-US" dirty="0"/>
              <a:t>Different types: Data files (numeric, character, binary) and Program files</a:t>
            </a:r>
          </a:p>
          <a:p>
            <a:r>
              <a:rPr lang="en-US" altLang="en-US" dirty="0"/>
              <a:t>Contents defined by file’s creator! (Consider </a:t>
            </a:r>
            <a:r>
              <a:rPr lang="en-US" altLang="en-US" b="1" dirty="0">
                <a:solidFill>
                  <a:srgbClr val="3366FF"/>
                </a:solidFill>
              </a:rPr>
              <a:t>text file, source file, executable file)</a:t>
            </a:r>
          </a:p>
        </p:txBody>
      </p:sp>
      <p:sp>
        <p:nvSpPr>
          <p:cNvPr id="2" name="Date Placeholder 1"/>
          <p:cNvSpPr>
            <a:spLocks noGrp="1"/>
          </p:cNvSpPr>
          <p:nvPr>
            <p:ph type="dt" sz="half" idx="10"/>
          </p:nvPr>
        </p:nvSpPr>
        <p:spPr/>
        <p:txBody>
          <a:bodyPr/>
          <a:lstStyle/>
          <a:p>
            <a:r>
              <a:rPr lang="en-US"/>
              <a:t>Vincenzo Gulisano</a:t>
            </a:r>
          </a:p>
        </p:txBody>
      </p:sp>
      <p:grpSp>
        <p:nvGrpSpPr>
          <p:cNvPr id="5" name="Group 4"/>
          <p:cNvGrpSpPr/>
          <p:nvPr/>
        </p:nvGrpSpPr>
        <p:grpSpPr>
          <a:xfrm>
            <a:off x="4541498" y="250466"/>
            <a:ext cx="4491508" cy="2620678"/>
            <a:chOff x="1828800" y="3505200"/>
            <a:chExt cx="5817882" cy="3394583"/>
          </a:xfrm>
        </p:grpSpPr>
        <p:pic>
          <p:nvPicPr>
            <p:cNvPr id="7" name="Picture 4" descr="C:\Program Files (x86)\Microsoft Office\MEDIA\CAGCAT10\j019538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828800" y="4038600"/>
              <a:ext cx="1795882" cy="1833372"/>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3726180" y="3505200"/>
              <a:ext cx="3920502" cy="3394583"/>
              <a:chOff x="3726180" y="3505200"/>
              <a:chExt cx="3920502" cy="3394583"/>
            </a:xfrm>
          </p:grpSpPr>
          <p:pic>
            <p:nvPicPr>
              <p:cNvPr id="9" name="Picture 2" descr="C:\Users\vinmas\AppData\Local\Microsoft\Windows\Temporary Internet Files\Content.IE5\XYI7055M\MC900389764[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3505200"/>
                <a:ext cx="1461582" cy="14181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vinmas\AppData\Local\Microsoft\Windows\Temporary Internet Files\Content.IE5\XYI7055M\MC900389764[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flipH="1">
                <a:off x="6343940" y="5597041"/>
                <a:ext cx="1322375" cy="128310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5357245" y="4405332"/>
                <a:ext cx="1752882" cy="1554795"/>
              </a:xfrm>
              <a:prstGeom prst="rect">
                <a:avLst/>
              </a:prstGeom>
              <a:noFill/>
            </p:spPr>
            <p:txBody>
              <a:bodyPr wrap="none" rtlCol="0">
                <a:spAutoFit/>
              </a:bodyPr>
              <a:lstStyle/>
              <a:p>
                <a:r>
                  <a:rPr lang="en-US" sz="1200" dirty="0"/>
                  <a:t>How are files:</a:t>
                </a:r>
              </a:p>
              <a:p>
                <a:pPr marL="342900" indent="-342900">
                  <a:buFont typeface="Arial" panose="020B0604020202020204" pitchFamily="34" charset="0"/>
                  <a:buChar char="•"/>
                </a:pPr>
                <a:r>
                  <a:rPr lang="en-US" sz="1200" dirty="0"/>
                  <a:t>Named</a:t>
                </a:r>
              </a:p>
              <a:p>
                <a:pPr marL="342900" indent="-342900">
                  <a:buFont typeface="Arial" panose="020B0604020202020204" pitchFamily="34" charset="0"/>
                  <a:buChar char="•"/>
                </a:pPr>
                <a:r>
                  <a:rPr lang="en-US" sz="1200" dirty="0"/>
                  <a:t>Structured</a:t>
                </a:r>
              </a:p>
              <a:p>
                <a:pPr marL="342900" indent="-342900">
                  <a:buFont typeface="Arial" panose="020B0604020202020204" pitchFamily="34" charset="0"/>
                  <a:buChar char="•"/>
                </a:pPr>
                <a:r>
                  <a:rPr lang="en-US" sz="1200" dirty="0"/>
                  <a:t>Protected</a:t>
                </a:r>
              </a:p>
              <a:p>
                <a:pPr marL="342900" indent="-342900">
                  <a:buFont typeface="Arial" panose="020B0604020202020204" pitchFamily="34" charset="0"/>
                  <a:buChar char="•"/>
                </a:pPr>
                <a:r>
                  <a:rPr lang="en-US" sz="1200" dirty="0"/>
                  <a:t>Accessed</a:t>
                </a:r>
              </a:p>
              <a:p>
                <a:pPr marL="342900" indent="-342900">
                  <a:buFont typeface="Arial" panose="020B0604020202020204" pitchFamily="34" charset="0"/>
                  <a:buChar char="•"/>
                </a:pPr>
                <a:r>
                  <a:rPr lang="en-US" sz="1200" dirty="0"/>
                  <a:t>…</a:t>
                </a:r>
              </a:p>
            </p:txBody>
          </p:sp>
          <p:cxnSp>
            <p:nvCxnSpPr>
              <p:cNvPr id="12" name="Straight Connector 11"/>
              <p:cNvCxnSpPr/>
              <p:nvPr/>
            </p:nvCxnSpPr>
            <p:spPr>
              <a:xfrm flipV="1">
                <a:off x="3733800" y="3810000"/>
                <a:ext cx="609600" cy="40429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726180" y="4923384"/>
                <a:ext cx="1226820" cy="948588"/>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grpSp>
      <p:sp>
        <p:nvSpPr>
          <p:cNvPr id="14" name="Footer Placeholder 13"/>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E2D692CE-79BF-63BB-52B0-F72F76ECE8FA}"/>
              </a:ext>
            </a:extLst>
          </p:cNvPr>
          <p:cNvSpPr>
            <a:spLocks noGrp="1"/>
          </p:cNvSpPr>
          <p:nvPr>
            <p:ph type="sldNum" sz="quarter" idx="12"/>
          </p:nvPr>
        </p:nvSpPr>
        <p:spPr/>
        <p:txBody>
          <a:bodyPr/>
          <a:lstStyle/>
          <a:p>
            <a:fld id="{BE0AC437-A1D8-4781-B86C-407FA400F126}" type="slidenum">
              <a:rPr lang="en-US" smtClean="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dirty="0"/>
              <a:t>File Attributes</a:t>
            </a:r>
          </a:p>
        </p:txBody>
      </p:sp>
      <p:sp>
        <p:nvSpPr>
          <p:cNvPr id="7171" name="Rectangle 3"/>
          <p:cNvSpPr>
            <a:spLocks noGrp="1" noChangeArrowheads="1"/>
          </p:cNvSpPr>
          <p:nvPr>
            <p:ph idx="1"/>
          </p:nvPr>
        </p:nvSpPr>
        <p:spPr>
          <a:xfrm>
            <a:off x="628650" y="1597025"/>
            <a:ext cx="4606290" cy="4351338"/>
          </a:xfrm>
        </p:spPr>
        <p:txBody>
          <a:bodyPr>
            <a:normAutofit fontScale="92500"/>
          </a:bodyPr>
          <a:lstStyle/>
          <a:p>
            <a:r>
              <a:rPr lang="en-US" altLang="en-US" b="1" dirty="0"/>
              <a:t>Name</a:t>
            </a:r>
            <a:r>
              <a:rPr lang="en-US" altLang="en-US" dirty="0"/>
              <a:t> – only information kept in human-readable form</a:t>
            </a:r>
          </a:p>
          <a:p>
            <a:r>
              <a:rPr lang="en-US" altLang="en-US" b="1" dirty="0"/>
              <a:t>Identifier</a:t>
            </a:r>
            <a:r>
              <a:rPr lang="en-US" altLang="en-US" dirty="0"/>
              <a:t> – unique tag (number) identifies file within file system</a:t>
            </a:r>
          </a:p>
          <a:p>
            <a:r>
              <a:rPr lang="en-US" altLang="en-US" b="1" dirty="0"/>
              <a:t>Type</a:t>
            </a:r>
            <a:r>
              <a:rPr lang="en-US" altLang="en-US" dirty="0"/>
              <a:t> – needed for systems that support different types</a:t>
            </a:r>
          </a:p>
          <a:p>
            <a:r>
              <a:rPr lang="en-US" altLang="en-US" b="1" dirty="0"/>
              <a:t>Location</a:t>
            </a:r>
            <a:r>
              <a:rPr lang="en-US" altLang="en-US" dirty="0"/>
              <a:t> – metadata that lets the file system locate the file’s data blocks</a:t>
            </a:r>
          </a:p>
          <a:p>
            <a:r>
              <a:rPr lang="en-US" altLang="en-US" b="1" dirty="0"/>
              <a:t>Size</a:t>
            </a:r>
            <a:r>
              <a:rPr lang="en-US" altLang="en-US" dirty="0"/>
              <a:t> – current file size</a:t>
            </a:r>
          </a:p>
          <a:p>
            <a:r>
              <a:rPr lang="en-US" altLang="en-US" b="1" dirty="0"/>
              <a:t>Protection</a:t>
            </a:r>
            <a:r>
              <a:rPr lang="en-US" altLang="en-US" dirty="0"/>
              <a:t> – who may read, write, execute, or otherwise operate on the file</a:t>
            </a:r>
          </a:p>
          <a:p>
            <a:r>
              <a:rPr lang="en-US" altLang="en-US" b="1" dirty="0"/>
              <a:t>Time, date, and user identification</a:t>
            </a:r>
            <a:r>
              <a:rPr lang="en-US" altLang="en-US" dirty="0"/>
              <a:t> – data for protection, security, and usage monitoring</a:t>
            </a:r>
          </a:p>
        </p:txBody>
      </p:sp>
      <p:sp>
        <p:nvSpPr>
          <p:cNvPr id="2" name="Date Placeholder 1"/>
          <p:cNvSpPr>
            <a:spLocks noGrp="1"/>
          </p:cNvSpPr>
          <p:nvPr>
            <p:ph type="dt" sz="half" idx="10"/>
          </p:nvPr>
        </p:nvSpPr>
        <p:spPr/>
        <p:txBody>
          <a:bodyPr/>
          <a:lstStyle/>
          <a:p>
            <a:r>
              <a:rPr lang="en-US"/>
              <a:t>Vincenzo Gulisano</a:t>
            </a:r>
          </a:p>
        </p:txBody>
      </p:sp>
      <p:pic>
        <p:nvPicPr>
          <p:cNvPr id="7" name="Picture 4" descr="11_0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06180" y="883920"/>
            <a:ext cx="1936680" cy="520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4873CE7C-6710-A817-8C2E-C3D65CE8DD94}"/>
              </a:ext>
            </a:extLst>
          </p:cNvPr>
          <p:cNvSpPr>
            <a:spLocks noGrp="1"/>
          </p:cNvSpPr>
          <p:nvPr>
            <p:ph type="sldNum" sz="quarter" idx="12"/>
          </p:nvPr>
        </p:nvSpPr>
        <p:spPr/>
        <p:txBody>
          <a:bodyPr/>
          <a:lstStyle/>
          <a:p>
            <a:fld id="{BE0AC437-A1D8-4781-B86C-407FA400F126}" type="slidenum">
              <a:rPr lang="en-US" smtClean="0"/>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68363" y="277813"/>
            <a:ext cx="7818437" cy="576262"/>
          </a:xfrm>
        </p:spPr>
        <p:txBody>
          <a:bodyPr/>
          <a:lstStyle/>
          <a:p>
            <a:pPr eaLnBrk="1" hangingPunct="1"/>
            <a:r>
              <a:rPr lang="en-US" altLang="en-US"/>
              <a:t>File Types – Name, Extension</a:t>
            </a:r>
          </a:p>
        </p:txBody>
      </p:sp>
      <p:pic>
        <p:nvPicPr>
          <p:cNvPr id="14339" name="Picture 4"/>
          <p:cNvPicPr>
            <a:picLocks noChangeAspect="1" noChangeArrowheads="1"/>
          </p:cNvPicPr>
          <p:nvPr/>
        </p:nvPicPr>
        <p:blipFill>
          <a:blip r:embed="rId3">
            <a:extLst>
              <a:ext uri="{28A0092B-C50C-407E-A947-70E740481C1C}">
                <a14:useLocalDpi xmlns:a14="http://schemas.microsoft.com/office/drawing/2010/main" val="0"/>
              </a:ext>
            </a:extLst>
          </a:blip>
          <a:srcRect l="15715" t="1186" r="15715" b="1186"/>
          <a:stretch>
            <a:fillRect/>
          </a:stretch>
        </p:blipFill>
        <p:spPr bwMode="auto">
          <a:xfrm>
            <a:off x="4394981" y="1466056"/>
            <a:ext cx="4291819" cy="4583113"/>
          </a:xfrm>
          <a:prstGeom prst="rect">
            <a:avLst/>
          </a:prstGeom>
          <a:noFill/>
          <a:ln w="381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r>
              <a:rPr lang="en-US"/>
              <a:t>Vincenzo Gulisano</a:t>
            </a:r>
          </a:p>
        </p:txBody>
      </p:sp>
      <p:sp>
        <p:nvSpPr>
          <p:cNvPr id="7" name="TextBox 6"/>
          <p:cNvSpPr txBox="1"/>
          <p:nvPr/>
        </p:nvSpPr>
        <p:spPr>
          <a:xfrm>
            <a:off x="81165" y="1726287"/>
            <a:ext cx="3830435" cy="2677656"/>
          </a:xfrm>
          <a:prstGeom prst="rect">
            <a:avLst/>
          </a:prstGeom>
          <a:noFill/>
          <a:ln>
            <a:noFill/>
          </a:ln>
        </p:spPr>
        <p:txBody>
          <a:bodyPr wrap="square" rtlCol="0">
            <a:spAutoFit/>
          </a:bodyPr>
          <a:lstStyle/>
          <a:p>
            <a:pPr marL="285750" indent="-285750">
              <a:buFont typeface="Arial" panose="020B0604020202020204" pitchFamily="34" charset="0"/>
              <a:buChar char="•"/>
            </a:pPr>
            <a:r>
              <a:rPr lang="en-US" sz="2100" dirty="0">
                <a:latin typeface="Garamond" panose="02020404030301010803" pitchFamily="18" charset="0"/>
              </a:rPr>
              <a:t>Whether an extension matters depends on the operating system, applications, and user conventions</a:t>
            </a:r>
          </a:p>
          <a:p>
            <a:pPr marL="285750" indent="-285750">
              <a:buFont typeface="Arial" panose="020B0604020202020204" pitchFamily="34" charset="0"/>
              <a:buChar char="•"/>
            </a:pPr>
            <a:r>
              <a:rPr lang="en-US" sz="2100" dirty="0">
                <a:latin typeface="Garamond" panose="02020404030301010803" pitchFamily="18" charset="0"/>
              </a:rPr>
              <a:t>Extensions are naming conventions that applications and user-space tools often use as hints about file type</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A9F22B13-EB58-80AA-D6CB-5BAB8459B824}"/>
              </a:ext>
            </a:extLst>
          </p:cNvPr>
          <p:cNvSpPr>
            <a:spLocks noGrp="1"/>
          </p:cNvSpPr>
          <p:nvPr>
            <p:ph type="sldNum" sz="quarter" idx="12"/>
          </p:nvPr>
        </p:nvSpPr>
        <p:spPr/>
        <p:txBody>
          <a:bodyPr/>
          <a:lstStyle/>
          <a:p>
            <a:fld id="{BE0AC437-A1D8-4781-B86C-407FA400F126}"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dirty="0"/>
              <a:t>Open Files</a:t>
            </a:r>
          </a:p>
        </p:txBody>
      </p:sp>
      <p:sp>
        <p:nvSpPr>
          <p:cNvPr id="10243" name="Rectangle 3"/>
          <p:cNvSpPr>
            <a:spLocks noGrp="1" noChangeArrowheads="1"/>
          </p:cNvSpPr>
          <p:nvPr>
            <p:ph idx="1"/>
          </p:nvPr>
        </p:nvSpPr>
        <p:spPr>
          <a:xfrm>
            <a:off x="806450" y="1233488"/>
            <a:ext cx="7727950" cy="4530725"/>
          </a:xfrm>
        </p:spPr>
        <p:txBody>
          <a:bodyPr/>
          <a:lstStyle/>
          <a:p>
            <a:r>
              <a:rPr lang="en-US" altLang="en-US" dirty="0"/>
              <a:t>Providing a File System implies that the OS needs to maintain information. For instance, information about the open files:</a:t>
            </a:r>
          </a:p>
          <a:p>
            <a:endParaRPr lang="en-US" altLang="en-US" dirty="0"/>
          </a:p>
          <a:p>
            <a:pPr lvl="1"/>
            <a:r>
              <a:rPr lang="en-US" altLang="en-US" b="1" dirty="0">
                <a:solidFill>
                  <a:srgbClr val="3366FF"/>
                </a:solidFill>
              </a:rPr>
              <a:t>Open-file table</a:t>
            </a:r>
            <a:r>
              <a:rPr lang="en-US" altLang="en-US" dirty="0"/>
              <a:t>: tracks open files</a:t>
            </a:r>
          </a:p>
          <a:p>
            <a:pPr lvl="1"/>
            <a:r>
              <a:rPr lang="en-US" altLang="en-US" dirty="0"/>
              <a:t>Current file offset: the position used for the next read or write</a:t>
            </a:r>
          </a:p>
          <a:p>
            <a:pPr lvl="1"/>
            <a:r>
              <a:rPr lang="en-US" altLang="en-US" b="1" dirty="0">
                <a:solidFill>
                  <a:srgbClr val="3366FF"/>
                </a:solidFill>
              </a:rPr>
              <a:t>File-open count</a:t>
            </a:r>
            <a:r>
              <a:rPr lang="en-US" altLang="en-US" dirty="0"/>
              <a:t>: counter of number of times a file is open – to allow removal of data from open-file table when last process closes it</a:t>
            </a:r>
          </a:p>
          <a:p>
            <a:pPr lvl="1"/>
            <a:r>
              <a:rPr lang="en-US" altLang="en-US" dirty="0"/>
              <a:t>Disk location of the file: cache of data access information</a:t>
            </a:r>
          </a:p>
          <a:p>
            <a:pPr lvl="1"/>
            <a:r>
              <a:rPr lang="en-US" altLang="en-US" dirty="0"/>
              <a:t>Access rights: per-process access mode information</a:t>
            </a:r>
          </a:p>
        </p:txBody>
      </p:sp>
      <p:sp>
        <p:nvSpPr>
          <p:cNvPr id="2" name="Date Placeholder 1"/>
          <p:cNvSpPr>
            <a:spLocks noGrp="1"/>
          </p:cNvSpPr>
          <p:nvPr>
            <p:ph type="dt" sz="half" idx="10"/>
          </p:nvPr>
        </p:nvSpPr>
        <p:spPr/>
        <p:txBody>
          <a:bodyPr/>
          <a:lstStyle/>
          <a:p>
            <a:r>
              <a:rPr lang="en-US"/>
              <a:t>Vincenzo Gulisano</a:t>
            </a:r>
          </a:p>
        </p:txBody>
      </p:sp>
      <p:sp>
        <p:nvSpPr>
          <p:cNvPr id="7" name="TextBox 6"/>
          <p:cNvSpPr txBox="1"/>
          <p:nvPr/>
        </p:nvSpPr>
        <p:spPr>
          <a:xfrm>
            <a:off x="2024265" y="4675287"/>
            <a:ext cx="2344649" cy="923330"/>
          </a:xfrm>
          <a:prstGeom prst="rect">
            <a:avLst/>
          </a:prstGeom>
          <a:noFill/>
          <a:ln>
            <a:solidFill>
              <a:schemeClr val="tx1"/>
            </a:solidFill>
          </a:ln>
        </p:spPr>
        <p:txBody>
          <a:bodyPr wrap="square" rtlCol="0">
            <a:spAutoFit/>
          </a:bodyPr>
          <a:lstStyle/>
          <a:p>
            <a:pPr algn="ctr"/>
            <a:r>
              <a:rPr lang="en-US" dirty="0"/>
              <a:t>Some information is specific to a process</a:t>
            </a:r>
          </a:p>
        </p:txBody>
      </p:sp>
      <p:sp>
        <p:nvSpPr>
          <p:cNvPr id="8" name="TextBox 7"/>
          <p:cNvSpPr txBox="1"/>
          <p:nvPr/>
        </p:nvSpPr>
        <p:spPr>
          <a:xfrm>
            <a:off x="5285625" y="4675287"/>
            <a:ext cx="2344649" cy="923330"/>
          </a:xfrm>
          <a:prstGeom prst="rect">
            <a:avLst/>
          </a:prstGeom>
          <a:noFill/>
          <a:ln>
            <a:solidFill>
              <a:schemeClr val="tx1"/>
            </a:solidFill>
          </a:ln>
        </p:spPr>
        <p:txBody>
          <a:bodyPr wrap="square" rtlCol="0">
            <a:spAutoFit/>
          </a:bodyPr>
          <a:lstStyle/>
          <a:p>
            <a:pPr algn="ctr"/>
            <a:r>
              <a:rPr lang="en-US" dirty="0"/>
              <a:t>Some information is global, </a:t>
            </a:r>
            <a:br>
              <a:rPr lang="en-US" dirty="0"/>
            </a:br>
            <a:r>
              <a:rPr lang="en-US" dirty="0"/>
              <a:t>system-wide</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9B01897E-9AC3-4092-EACE-44487A630378}"/>
              </a:ext>
            </a:extLst>
          </p:cNvPr>
          <p:cNvSpPr>
            <a:spLocks noGrp="1"/>
          </p:cNvSpPr>
          <p:nvPr>
            <p:ph type="sldNum" sz="quarter" idx="12"/>
          </p:nvPr>
        </p:nvSpPr>
        <p:spPr/>
        <p:txBody>
          <a:bodyPr/>
          <a:lstStyle/>
          <a:p>
            <a:fld id="{BE0AC437-A1D8-4781-B86C-407FA400F126}" type="slidenum">
              <a:rPr lang="en-US" smtClean="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a:t>File Operations</a:t>
            </a:r>
          </a:p>
        </p:txBody>
      </p:sp>
      <p:sp>
        <p:nvSpPr>
          <p:cNvPr id="9219" name="Rectangle 3"/>
          <p:cNvSpPr>
            <a:spLocks noGrp="1" noChangeArrowheads="1"/>
          </p:cNvSpPr>
          <p:nvPr>
            <p:ph idx="1"/>
          </p:nvPr>
        </p:nvSpPr>
        <p:spPr>
          <a:xfrm>
            <a:off x="806450" y="1233488"/>
            <a:ext cx="7727950" cy="4530725"/>
          </a:xfrm>
        </p:spPr>
        <p:txBody>
          <a:bodyPr/>
          <a:lstStyle/>
          <a:p>
            <a:r>
              <a:rPr lang="en-US" altLang="en-US" dirty="0"/>
              <a:t>File is an </a:t>
            </a:r>
            <a:r>
              <a:rPr lang="en-US" altLang="en-US" b="1" dirty="0"/>
              <a:t>abstract data type</a:t>
            </a:r>
            <a:r>
              <a:rPr lang="en-US" altLang="en-US" dirty="0"/>
              <a:t>, we need ways to operate on them:</a:t>
            </a:r>
          </a:p>
          <a:p>
            <a:pPr lvl="1"/>
            <a:r>
              <a:rPr lang="en-US" altLang="en-US" b="1" dirty="0"/>
              <a:t>Create</a:t>
            </a:r>
          </a:p>
          <a:p>
            <a:pPr lvl="1"/>
            <a:r>
              <a:rPr lang="en-US" altLang="en-US" b="1" dirty="0"/>
              <a:t>Write – </a:t>
            </a:r>
            <a:r>
              <a:rPr lang="en-US" altLang="en-US" dirty="0"/>
              <a:t>at</a:t>
            </a:r>
            <a:r>
              <a:rPr lang="en-US" altLang="en-US" b="1" dirty="0"/>
              <a:t> </a:t>
            </a:r>
            <a:r>
              <a:rPr lang="en-US" altLang="en-US" b="1" dirty="0">
                <a:solidFill>
                  <a:srgbClr val="3366FF"/>
                </a:solidFill>
              </a:rPr>
              <a:t>write pointer </a:t>
            </a:r>
            <a:r>
              <a:rPr lang="en-US" altLang="en-US" dirty="0"/>
              <a:t>location</a:t>
            </a:r>
          </a:p>
          <a:p>
            <a:pPr lvl="1"/>
            <a:r>
              <a:rPr lang="en-US" altLang="en-US" b="1" dirty="0"/>
              <a:t>Read – </a:t>
            </a:r>
            <a:r>
              <a:rPr lang="en-US" altLang="en-US" dirty="0"/>
              <a:t>at</a:t>
            </a:r>
            <a:r>
              <a:rPr lang="en-US" altLang="en-US" b="1" dirty="0"/>
              <a:t> </a:t>
            </a:r>
            <a:r>
              <a:rPr lang="en-US" altLang="en-US" b="1" dirty="0">
                <a:solidFill>
                  <a:srgbClr val="3366FF"/>
                </a:solidFill>
              </a:rPr>
              <a:t>read pointer </a:t>
            </a:r>
            <a:r>
              <a:rPr lang="en-US" altLang="en-US" dirty="0"/>
              <a:t>location</a:t>
            </a:r>
          </a:p>
          <a:p>
            <a:pPr lvl="1"/>
            <a:r>
              <a:rPr lang="en-US" altLang="en-US" b="1" dirty="0"/>
              <a:t>Reposition within file - </a:t>
            </a:r>
            <a:r>
              <a:rPr lang="en-US" altLang="en-US" b="1" dirty="0">
                <a:solidFill>
                  <a:srgbClr val="3366FF"/>
                </a:solidFill>
              </a:rPr>
              <a:t>seek</a:t>
            </a:r>
          </a:p>
          <a:p>
            <a:pPr lvl="1"/>
            <a:r>
              <a:rPr lang="en-US" altLang="en-US" b="1" dirty="0"/>
              <a:t>Delete</a:t>
            </a:r>
          </a:p>
          <a:p>
            <a:pPr lvl="1"/>
            <a:r>
              <a:rPr lang="en-US" altLang="en-US" b="1" dirty="0"/>
              <a:t>Truncate</a:t>
            </a:r>
          </a:p>
          <a:p>
            <a:r>
              <a:rPr lang="en-US" altLang="en-US" dirty="0"/>
              <a:t>We can combine these basic operations into complex operations</a:t>
            </a:r>
          </a:p>
          <a:p>
            <a:r>
              <a:rPr lang="en-US" altLang="en-US" dirty="0"/>
              <a:t>Example:</a:t>
            </a:r>
          </a:p>
          <a:p>
            <a:pPr lvl="1"/>
            <a:r>
              <a:rPr lang="en-US" altLang="en-US" b="1" i="1" dirty="0"/>
              <a:t>Open(F</a:t>
            </a:r>
            <a:r>
              <a:rPr lang="en-US" altLang="en-US" b="1" i="1" baseline="-25000" dirty="0"/>
              <a:t>i</a:t>
            </a:r>
            <a:r>
              <a:rPr lang="en-US" altLang="en-US" b="1" i="1" dirty="0"/>
              <a:t>)</a:t>
            </a:r>
            <a:r>
              <a:rPr lang="en-US" altLang="en-US" b="1" dirty="0"/>
              <a:t> </a:t>
            </a:r>
            <a:r>
              <a:rPr lang="en-US" altLang="en-US" dirty="0"/>
              <a:t>– search the directory structure on disk for entry </a:t>
            </a:r>
            <a:r>
              <a:rPr lang="en-US" altLang="en-US" b="1" i="1" dirty="0"/>
              <a:t>F</a:t>
            </a:r>
            <a:r>
              <a:rPr lang="en-US" altLang="en-US" b="1" i="1" baseline="-25000" dirty="0"/>
              <a:t>i</a:t>
            </a:r>
            <a:r>
              <a:rPr lang="en-US" altLang="en-US" dirty="0"/>
              <a:t>, and move the content of entry to memory</a:t>
            </a:r>
          </a:p>
          <a:p>
            <a:pPr lvl="1"/>
            <a:r>
              <a:rPr lang="en-US" altLang="en-US" b="1" i="1" dirty="0"/>
              <a:t>Close (F</a:t>
            </a:r>
            <a:r>
              <a:rPr lang="en-US" altLang="en-US" b="1" i="1" baseline="-25000" dirty="0"/>
              <a:t>i</a:t>
            </a:r>
            <a:r>
              <a:rPr lang="en-US" altLang="en-US" b="1" i="1" dirty="0"/>
              <a:t>)</a:t>
            </a:r>
            <a:r>
              <a:rPr lang="en-US" altLang="en-US" b="1" dirty="0"/>
              <a:t> </a:t>
            </a:r>
            <a:r>
              <a:rPr lang="en-US" altLang="en-US" dirty="0"/>
              <a:t>– move the content of entry</a:t>
            </a:r>
            <a:r>
              <a:rPr lang="en-US" altLang="en-US" b="1" dirty="0"/>
              <a:t> </a:t>
            </a:r>
            <a:r>
              <a:rPr lang="en-US" altLang="en-US" b="1" i="1" dirty="0"/>
              <a:t>F</a:t>
            </a:r>
            <a:r>
              <a:rPr lang="en-US" altLang="en-US" b="1" i="1" baseline="-25000" dirty="0"/>
              <a:t>i</a:t>
            </a:r>
            <a:r>
              <a:rPr lang="en-US" altLang="en-US" b="1" dirty="0"/>
              <a:t> </a:t>
            </a:r>
            <a:r>
              <a:rPr lang="en-US" altLang="en-US" dirty="0"/>
              <a:t>in memory to directory structure on disk</a:t>
            </a:r>
          </a:p>
        </p:txBody>
      </p:sp>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DEE4B6F4-EEEA-D54C-1024-3FFC2A4931EE}"/>
              </a:ext>
            </a:extLst>
          </p:cNvPr>
          <p:cNvSpPr>
            <a:spLocks noGrp="1"/>
          </p:cNvSpPr>
          <p:nvPr>
            <p:ph type="sldNum" sz="quarter" idx="12"/>
          </p:nvPr>
        </p:nvSpPr>
        <p:spPr/>
        <p:txBody>
          <a:bodyPr/>
          <a:lstStyle/>
          <a:p>
            <a:fld id="{BE0AC437-A1D8-4781-B86C-407FA400F126}" type="slidenum">
              <a:rPr lang="en-US" smtClean="0"/>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19">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219">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219">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2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calls - Example program – 1/2 </a:t>
            </a:r>
          </a:p>
        </p:txBody>
      </p:sp>
      <p:pic>
        <p:nvPicPr>
          <p:cNvPr id="4" name="Picture 102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828800"/>
            <a:ext cx="6003925" cy="416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685800" y="6047601"/>
            <a:ext cx="3124200" cy="230832"/>
          </a:xfrm>
          <a:prstGeom prst="rect">
            <a:avLst/>
          </a:prstGeom>
          <a:solidFill>
            <a:schemeClr val="bg1"/>
          </a:solidFill>
        </p:spPr>
        <p:txBody>
          <a:bodyPr wrap="square" rtlCol="0">
            <a:spAutoFit/>
          </a:bodyPr>
          <a:lstStyle/>
          <a:p>
            <a:r>
              <a:rPr lang="en-US" sz="900" dirty="0"/>
              <a:t>Fig. Tanenbaum, Modern Operating Systems</a:t>
            </a:r>
          </a:p>
        </p:txBody>
      </p:sp>
      <p:sp>
        <p:nvSpPr>
          <p:cNvPr id="3" name="Date Placeholder 2"/>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File Systems</a:t>
            </a:r>
          </a:p>
        </p:txBody>
      </p:sp>
      <p:sp>
        <p:nvSpPr>
          <p:cNvPr id="6" name="Slide Number Placeholder 5">
            <a:extLst>
              <a:ext uri="{FF2B5EF4-FFF2-40B4-BE49-F238E27FC236}">
                <a16:creationId xmlns:a16="http://schemas.microsoft.com/office/drawing/2014/main" id="{BA4F6FAE-C19B-FD34-6B5A-733B6DDE21B6}"/>
              </a:ext>
            </a:extLst>
          </p:cNvPr>
          <p:cNvSpPr>
            <a:spLocks noGrp="1"/>
          </p:cNvSpPr>
          <p:nvPr>
            <p:ph type="sldNum" sz="quarter" idx="12"/>
          </p:nvPr>
        </p:nvSpPr>
        <p:spPr/>
        <p:txBody>
          <a:bodyPr/>
          <a:lstStyle/>
          <a:p>
            <a:fld id="{BE0AC437-A1D8-4781-B86C-407FA400F126}" type="slidenum">
              <a:rPr lang="en-US" smtClean="0"/>
              <a:t>12</a:t>
            </a:fld>
            <a:endParaRPr lang="en-US"/>
          </a:p>
        </p:txBody>
      </p:sp>
    </p:spTree>
    <p:extLst>
      <p:ext uri="{BB962C8B-B14F-4D97-AF65-F5344CB8AC3E}">
        <p14:creationId xmlns:p14="http://schemas.microsoft.com/office/powerpoint/2010/main" val="2350670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calls - Example program – 2/2 </a:t>
            </a:r>
          </a:p>
        </p:txBody>
      </p:sp>
      <p:grpSp>
        <p:nvGrpSpPr>
          <p:cNvPr id="12" name="Group 11"/>
          <p:cNvGrpSpPr/>
          <p:nvPr/>
        </p:nvGrpSpPr>
        <p:grpSpPr>
          <a:xfrm>
            <a:off x="685800" y="2133600"/>
            <a:ext cx="6705600" cy="4015740"/>
            <a:chOff x="685800" y="2133600"/>
            <a:chExt cx="6705600" cy="4015740"/>
          </a:xfrm>
        </p:grpSpPr>
        <p:sp>
          <p:nvSpPr>
            <p:cNvPr id="5" name="Rectangle 4"/>
            <p:cNvSpPr/>
            <p:nvPr/>
          </p:nvSpPr>
          <p:spPr>
            <a:xfrm>
              <a:off x="4038600" y="2133600"/>
              <a:ext cx="2895600" cy="2895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191000" y="2286000"/>
              <a:ext cx="2895600" cy="2743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91000" y="5234940"/>
              <a:ext cx="28956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495800" y="5029200"/>
              <a:ext cx="28956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p:cNvGraphicFramePr>
              <a:graphicFrameLocks noChangeAspect="1"/>
            </p:cNvGraphicFramePr>
            <p:nvPr/>
          </p:nvGraphicFramePr>
          <p:xfrm>
            <a:off x="685800" y="2133600"/>
            <a:ext cx="6572250" cy="2988327"/>
          </p:xfrm>
          <a:graphic>
            <a:graphicData uri="http://schemas.openxmlformats.org/presentationml/2006/ole">
              <mc:AlternateContent xmlns:mc="http://schemas.openxmlformats.org/markup-compatibility/2006">
                <mc:Choice xmlns:v="urn:schemas-microsoft-com:vml" Requires="v">
                  <p:oleObj name="Image" r:id="rId2" imgW="19959995" imgH="9072920" progId="Photoshop.Image.9">
                    <p:embed/>
                  </p:oleObj>
                </mc:Choice>
                <mc:Fallback>
                  <p:oleObj name="Image" r:id="rId2" imgW="19959995" imgH="9072920" progId="Photoshop.Image.9">
                    <p:embed/>
                    <p:pic>
                      <p:nvPicPr>
                        <p:cNvPr id="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133600"/>
                          <a:ext cx="6572250" cy="2988327"/>
                        </a:xfrm>
                        <a:prstGeom prst="rect">
                          <a:avLst/>
                        </a:prstGeom>
                        <a:noFill/>
                        <a:ln>
                          <a:noFill/>
                        </a:ln>
                        <a:effectLst/>
                      </p:spPr>
                    </p:pic>
                  </p:oleObj>
                </mc:Fallback>
              </mc:AlternateContent>
            </a:graphicData>
          </a:graphic>
        </p:graphicFrame>
      </p:grpSp>
      <p:sp>
        <p:nvSpPr>
          <p:cNvPr id="13" name="TextBox 12"/>
          <p:cNvSpPr txBox="1"/>
          <p:nvPr/>
        </p:nvSpPr>
        <p:spPr>
          <a:xfrm>
            <a:off x="685800" y="5181600"/>
            <a:ext cx="3124200" cy="230832"/>
          </a:xfrm>
          <a:prstGeom prst="rect">
            <a:avLst/>
          </a:prstGeom>
          <a:solidFill>
            <a:schemeClr val="bg1"/>
          </a:solidFill>
        </p:spPr>
        <p:txBody>
          <a:bodyPr wrap="square" rtlCol="0">
            <a:spAutoFit/>
          </a:bodyPr>
          <a:lstStyle/>
          <a:p>
            <a:r>
              <a:rPr lang="en-US" sz="900" dirty="0"/>
              <a:t>Fig. Tanenbaum, Modern Operating Systems</a:t>
            </a:r>
          </a:p>
        </p:txBody>
      </p:sp>
      <p:sp>
        <p:nvSpPr>
          <p:cNvPr id="4" name="Date Placeholder 3"/>
          <p:cNvSpPr>
            <a:spLocks noGrp="1"/>
          </p:cNvSpPr>
          <p:nvPr>
            <p:ph type="dt" sz="half" idx="10"/>
          </p:nvPr>
        </p:nvSpPr>
        <p:spPr/>
        <p:txBody>
          <a:bodyPr/>
          <a:lstStyle/>
          <a:p>
            <a:r>
              <a:rPr lang="en-US"/>
              <a:t>Vincenzo Gulisano</a:t>
            </a:r>
          </a:p>
        </p:txBody>
      </p:sp>
      <p:sp>
        <p:nvSpPr>
          <p:cNvPr id="14" name="Footer Placeholder 13"/>
          <p:cNvSpPr>
            <a:spLocks noGrp="1"/>
          </p:cNvSpPr>
          <p:nvPr>
            <p:ph type="ftr" sz="quarter" idx="11"/>
          </p:nvPr>
        </p:nvSpPr>
        <p:spPr/>
        <p:txBody>
          <a:bodyPr/>
          <a:lstStyle/>
          <a:p>
            <a:r>
              <a:rPr lang="en-US"/>
              <a:t>Operating Systems - File Systems</a:t>
            </a:r>
          </a:p>
        </p:txBody>
      </p:sp>
      <p:sp>
        <p:nvSpPr>
          <p:cNvPr id="10" name="Slide Number Placeholder 9">
            <a:extLst>
              <a:ext uri="{FF2B5EF4-FFF2-40B4-BE49-F238E27FC236}">
                <a16:creationId xmlns:a16="http://schemas.microsoft.com/office/drawing/2014/main" id="{42A7BF10-DC0B-3F9F-C542-151162D77CF4}"/>
              </a:ext>
            </a:extLst>
          </p:cNvPr>
          <p:cNvSpPr>
            <a:spLocks noGrp="1"/>
          </p:cNvSpPr>
          <p:nvPr>
            <p:ph type="sldNum" sz="quarter" idx="12"/>
          </p:nvPr>
        </p:nvSpPr>
        <p:spPr/>
        <p:txBody>
          <a:bodyPr/>
          <a:lstStyle/>
          <a:p>
            <a:fld id="{BE0AC437-A1D8-4781-B86C-407FA400F126}" type="slidenum">
              <a:rPr lang="en-US" smtClean="0"/>
              <a:t>13</a:t>
            </a:fld>
            <a:endParaRPr lang="en-US"/>
          </a:p>
        </p:txBody>
      </p:sp>
    </p:spTree>
    <p:extLst>
      <p:ext uri="{BB962C8B-B14F-4D97-AF65-F5344CB8AC3E}">
        <p14:creationId xmlns:p14="http://schemas.microsoft.com/office/powerpoint/2010/main" val="988854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3F601-6696-BF1E-B8F6-41B9C784E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0AE48-8CF2-080D-5554-147D6C704924}"/>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A6231A5-19C6-EEF4-100F-EB268995F041}"/>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t>Access methods</a:t>
            </a:r>
          </a:p>
          <a:p>
            <a:r>
              <a:rPr lang="en-US" dirty="0">
                <a:solidFill>
                  <a:schemeClr val="bg2">
                    <a:lumMod val="90000"/>
                  </a:schemeClr>
                </a:solidFill>
              </a:rPr>
              <a:t>Disk structure</a:t>
            </a:r>
          </a:p>
          <a:p>
            <a:r>
              <a:rPr lang="en-US" dirty="0">
                <a:solidFill>
                  <a:schemeClr val="bg2">
                    <a:lumMod val="90000"/>
                  </a:schemeClr>
                </a:solidFill>
              </a:rPr>
              <a:t>Directory structure [Self-study]</a:t>
            </a:r>
          </a:p>
          <a:p>
            <a:r>
              <a:rPr lang="en-US" dirty="0">
                <a:solidFill>
                  <a:schemeClr val="bg2">
                    <a:lumMod val="90000"/>
                  </a:schemeClr>
                </a:solidFill>
              </a:rPr>
              <a:t>File system structure</a:t>
            </a:r>
          </a:p>
          <a:p>
            <a:r>
              <a:rPr lang="en-US" dirty="0">
                <a:solidFill>
                  <a:schemeClr val="bg2">
                    <a:lumMod val="90000"/>
                  </a:schemeClr>
                </a:solidFill>
              </a:rPr>
              <a:t>Allocation methods</a:t>
            </a:r>
          </a:p>
          <a:p>
            <a:r>
              <a:rPr lang="en-US" dirty="0">
                <a:solidFill>
                  <a:schemeClr val="bg2">
                    <a:lumMod val="90000"/>
                  </a:schemeClr>
                </a:solidFill>
              </a:rPr>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0640BD1B-0A3A-24A7-5515-DDA44CEBCAF6}"/>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0FA172D9-F889-AAE6-0462-30ED67859884}"/>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23F61F77-93DC-7931-1DD4-CEC2C79D52FF}"/>
              </a:ext>
            </a:extLst>
          </p:cNvPr>
          <p:cNvSpPr>
            <a:spLocks noGrp="1"/>
          </p:cNvSpPr>
          <p:nvPr>
            <p:ph type="sldNum" sz="quarter" idx="12"/>
          </p:nvPr>
        </p:nvSpPr>
        <p:spPr/>
        <p:txBody>
          <a:bodyPr/>
          <a:lstStyle/>
          <a:p>
            <a:fld id="{BE0AC437-A1D8-4781-B86C-407FA400F126}" type="slidenum">
              <a:rPr lang="en-US" smtClean="0"/>
              <a:t>14</a:t>
            </a:fld>
            <a:endParaRPr lang="en-US"/>
          </a:p>
        </p:txBody>
      </p:sp>
    </p:spTree>
    <p:extLst>
      <p:ext uri="{BB962C8B-B14F-4D97-AF65-F5344CB8AC3E}">
        <p14:creationId xmlns:p14="http://schemas.microsoft.com/office/powerpoint/2010/main" val="194910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Access Methods</a:t>
            </a:r>
          </a:p>
        </p:txBody>
      </p:sp>
      <p:sp>
        <p:nvSpPr>
          <p:cNvPr id="17411" name="Rectangle 3"/>
          <p:cNvSpPr>
            <a:spLocks noGrp="1" noChangeArrowheads="1"/>
          </p:cNvSpPr>
          <p:nvPr>
            <p:ph idx="1"/>
          </p:nvPr>
        </p:nvSpPr>
        <p:spPr>
          <a:xfrm>
            <a:off x="955675" y="1365250"/>
            <a:ext cx="7370763" cy="4768850"/>
          </a:xfrm>
        </p:spPr>
        <p:txBody>
          <a:bodyPr>
            <a:normAutofit/>
          </a:bodyPr>
          <a:lstStyle/>
          <a:p>
            <a:pPr>
              <a:lnSpc>
                <a:spcPct val="90000"/>
              </a:lnSpc>
              <a:tabLst>
                <a:tab pos="3203575" algn="l"/>
                <a:tab pos="4056063" algn="l"/>
              </a:tabLst>
            </a:pPr>
            <a:r>
              <a:rPr lang="en-US" altLang="en-US" sz="1600" b="1" dirty="0"/>
              <a:t>Sequential Access</a:t>
            </a:r>
          </a:p>
          <a:p>
            <a:pPr>
              <a:lnSpc>
                <a:spcPct val="90000"/>
              </a:lnSpc>
              <a:spcBef>
                <a:spcPct val="10000"/>
              </a:spcBef>
              <a:buFont typeface="Monotype Sorts" pitchFamily="-84" charset="2"/>
              <a:buNone/>
              <a:tabLst>
                <a:tab pos="3203575" algn="l"/>
                <a:tab pos="4056063" algn="l"/>
              </a:tabLst>
            </a:pPr>
            <a:r>
              <a:rPr lang="en-US" altLang="en-US" sz="1600" dirty="0">
                <a:solidFill>
                  <a:srgbClr val="000000"/>
                </a:solidFill>
              </a:rPr>
              <a:t>	</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read next</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write next </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reset</a:t>
            </a:r>
          </a:p>
          <a:p>
            <a:pPr>
              <a:lnSpc>
                <a:spcPct val="90000"/>
              </a:lnSpc>
              <a:spcBef>
                <a:spcPct val="10000"/>
              </a:spcBef>
              <a:buFont typeface="Monotype Sorts" pitchFamily="-84" charset="2"/>
              <a:buNone/>
              <a:tabLst>
                <a:tab pos="3203575" algn="l"/>
                <a:tab pos="4056063" algn="l"/>
              </a:tabLst>
            </a:pPr>
            <a:r>
              <a:rPr lang="en-US" altLang="en-US" sz="1600" dirty="0">
                <a:solidFill>
                  <a:srgbClr val="000000"/>
                </a:solidFill>
              </a:rPr>
              <a:t>		</a:t>
            </a:r>
          </a:p>
          <a:p>
            <a:pPr>
              <a:tabLst>
                <a:tab pos="3203575" algn="l"/>
                <a:tab pos="4056063" algn="l"/>
              </a:tabLst>
            </a:pPr>
            <a:r>
              <a:rPr lang="en-US" altLang="en-US" sz="1600" b="1" dirty="0">
                <a:solidFill>
                  <a:srgbClr val="000000"/>
                </a:solidFill>
              </a:rPr>
              <a:t>Direct Access – </a:t>
            </a:r>
            <a:r>
              <a:rPr lang="en-US" altLang="en-US" sz="1600" dirty="0">
                <a:solidFill>
                  <a:srgbClr val="000000"/>
                </a:solidFill>
              </a:rPr>
              <a:t>allows reading or writing at an arbitrary byte/block offset without first traversing the preceding data</a:t>
            </a:r>
            <a:endParaRPr lang="en-US" altLang="en-US" sz="1600" dirty="0">
              <a:solidFill>
                <a:srgbClr val="0033CC"/>
              </a:solidFill>
            </a:endParaRPr>
          </a:p>
          <a:p>
            <a:pPr>
              <a:lnSpc>
                <a:spcPct val="90000"/>
              </a:lnSpc>
              <a:spcBef>
                <a:spcPct val="10000"/>
              </a:spcBef>
              <a:buFont typeface="Monotype Sorts" pitchFamily="-84" charset="2"/>
              <a:buNone/>
              <a:tabLst>
                <a:tab pos="3203575" algn="l"/>
                <a:tab pos="4056063" algn="l"/>
              </a:tabLst>
            </a:pPr>
            <a:r>
              <a:rPr lang="en-US" altLang="en-US" sz="1600" dirty="0">
                <a:solidFill>
                  <a:srgbClr val="000000"/>
                </a:solidFill>
              </a:rPr>
              <a:t>		</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read </a:t>
            </a:r>
            <a:r>
              <a:rPr lang="en-US" altLang="en-US" sz="1600" b="1" i="1" dirty="0">
                <a:solidFill>
                  <a:srgbClr val="000000"/>
                </a:solidFill>
                <a:latin typeface="Courier New" panose="02070309020205020404" pitchFamily="49" charset="0"/>
                <a:cs typeface="Courier New" panose="02070309020205020404" pitchFamily="49" charset="0"/>
              </a:rPr>
              <a:t>n</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write </a:t>
            </a:r>
            <a:r>
              <a:rPr lang="en-US" altLang="en-US" sz="1600" b="1" i="1" dirty="0">
                <a:solidFill>
                  <a:srgbClr val="000000"/>
                </a:solidFill>
                <a:latin typeface="Courier New" panose="02070309020205020404" pitchFamily="49" charset="0"/>
                <a:cs typeface="Courier New" panose="02070309020205020404" pitchFamily="49" charset="0"/>
              </a:rPr>
              <a:t>n</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position to </a:t>
            </a:r>
            <a:r>
              <a:rPr lang="en-US" altLang="en-US" sz="1600" b="1" i="1" dirty="0">
                <a:solidFill>
                  <a:srgbClr val="000000"/>
                </a:solidFill>
                <a:latin typeface="Courier New" panose="02070309020205020404" pitchFamily="49" charset="0"/>
                <a:cs typeface="Courier New" panose="02070309020205020404" pitchFamily="49" charset="0"/>
              </a:rPr>
              <a:t>n</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read next</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write next </a:t>
            </a:r>
          </a:p>
          <a:p>
            <a:pPr>
              <a:lnSpc>
                <a:spcPct val="90000"/>
              </a:lnSpc>
              <a:spcBef>
                <a:spcPct val="10000"/>
              </a:spcBef>
              <a:buFont typeface="Monotype Sorts" pitchFamily="-84" charset="2"/>
              <a:buNone/>
              <a:tabLst>
                <a:tab pos="3203575" algn="l"/>
                <a:tab pos="4056063" algn="l"/>
              </a:tabLst>
            </a:pPr>
            <a:r>
              <a:rPr lang="en-US" altLang="en-US" sz="1600" b="1" dirty="0">
                <a:solidFill>
                  <a:srgbClr val="000000"/>
                </a:solidFill>
                <a:latin typeface="Courier New" panose="02070309020205020404" pitchFamily="49" charset="0"/>
                <a:cs typeface="Courier New" panose="02070309020205020404" pitchFamily="49" charset="0"/>
              </a:rPr>
              <a:t>	rewrite </a:t>
            </a:r>
            <a:r>
              <a:rPr lang="en-US" altLang="en-US" sz="1600" b="1" i="1" dirty="0">
                <a:solidFill>
                  <a:srgbClr val="000000"/>
                </a:solidFill>
                <a:latin typeface="Courier New" panose="02070309020205020404" pitchFamily="49" charset="0"/>
                <a:cs typeface="Courier New" panose="02070309020205020404" pitchFamily="49" charset="0"/>
              </a:rPr>
              <a:t>n</a:t>
            </a:r>
          </a:p>
          <a:p>
            <a:pPr>
              <a:lnSpc>
                <a:spcPct val="90000"/>
              </a:lnSpc>
              <a:buFont typeface="Monotype Sorts" pitchFamily="-84" charset="2"/>
              <a:buNone/>
              <a:tabLst>
                <a:tab pos="3203575" algn="l"/>
                <a:tab pos="4056063" algn="l"/>
              </a:tabLst>
            </a:pPr>
            <a:r>
              <a:rPr lang="en-US" altLang="en-US" sz="1600" dirty="0"/>
              <a:t>	</a:t>
            </a:r>
          </a:p>
          <a:p>
            <a:pPr>
              <a:lnSpc>
                <a:spcPct val="90000"/>
              </a:lnSpc>
              <a:buFont typeface="Monotype Sorts" pitchFamily="-84" charset="2"/>
              <a:buNone/>
              <a:tabLst>
                <a:tab pos="3203575" algn="l"/>
                <a:tab pos="4056063" algn="l"/>
              </a:tabLst>
            </a:pPr>
            <a:r>
              <a:rPr lang="en-US" altLang="en-US" sz="2000" i="1" dirty="0"/>
              <a:t>n</a:t>
            </a:r>
            <a:r>
              <a:rPr lang="en-US" altLang="en-US" sz="2000" dirty="0"/>
              <a:t> = </a:t>
            </a:r>
            <a:r>
              <a:rPr lang="en-US" altLang="en-US" sz="2000" dirty="0">
                <a:solidFill>
                  <a:srgbClr val="0033CC"/>
                </a:solidFill>
              </a:rPr>
              <a:t>relative block number</a:t>
            </a:r>
            <a:br>
              <a:rPr lang="en-US" altLang="en-US" sz="2000" dirty="0">
                <a:solidFill>
                  <a:srgbClr val="0033CC"/>
                </a:solidFill>
              </a:rPr>
            </a:br>
            <a:r>
              <a:rPr lang="en-US" altLang="en-US" sz="2000" dirty="0"/>
              <a:t>(0 being the beginning of the file)</a:t>
            </a:r>
          </a:p>
        </p:txBody>
      </p:sp>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341" y="1365250"/>
            <a:ext cx="4038097" cy="129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p:cNvGrpSpPr/>
          <p:nvPr/>
        </p:nvGrpSpPr>
        <p:grpSpPr>
          <a:xfrm>
            <a:off x="4754165" y="4572000"/>
            <a:ext cx="4389835" cy="1021557"/>
            <a:chOff x="4754165" y="5334000"/>
            <a:chExt cx="4389835" cy="1021557"/>
          </a:xfrm>
        </p:grpSpPr>
        <p:pic>
          <p:nvPicPr>
            <p:cNvPr id="9" name="Picture 8"/>
            <p:cNvPicPr>
              <a:picLocks noChangeAspect="1"/>
            </p:cNvPicPr>
            <p:nvPr/>
          </p:nvPicPr>
          <p:blipFill>
            <a:blip r:embed="rId4"/>
            <a:stretch>
              <a:fillRect/>
            </a:stretch>
          </p:blipFill>
          <p:spPr>
            <a:xfrm>
              <a:off x="4754165" y="5334000"/>
              <a:ext cx="1021557" cy="1021557"/>
            </a:xfrm>
            <a:prstGeom prst="rect">
              <a:avLst/>
            </a:prstGeom>
          </p:spPr>
        </p:pic>
        <p:sp>
          <p:nvSpPr>
            <p:cNvPr id="10" name="TextBox 9"/>
            <p:cNvSpPr txBox="1"/>
            <p:nvPr/>
          </p:nvSpPr>
          <p:spPr>
            <a:xfrm>
              <a:off x="5537199" y="5593677"/>
              <a:ext cx="3606801" cy="646331"/>
            </a:xfrm>
            <a:prstGeom prst="rect">
              <a:avLst/>
            </a:prstGeom>
            <a:noFill/>
          </p:spPr>
          <p:txBody>
            <a:bodyPr wrap="square" rtlCol="0">
              <a:spAutoFit/>
            </a:bodyPr>
            <a:lstStyle/>
            <a:p>
              <a:r>
                <a:rPr lang="en-US" i="1" dirty="0"/>
                <a:t>Why do we read blocks and not just bytes?</a:t>
              </a:r>
            </a:p>
          </p:txBody>
        </p:sp>
      </p:grpSp>
      <p:sp>
        <p:nvSpPr>
          <p:cNvPr id="3" name="Slide Number Placeholder 2">
            <a:extLst>
              <a:ext uri="{FF2B5EF4-FFF2-40B4-BE49-F238E27FC236}">
                <a16:creationId xmlns:a16="http://schemas.microsoft.com/office/drawing/2014/main" id="{2BB3A1EF-172B-E87B-636A-CF581255ACCE}"/>
              </a:ext>
            </a:extLst>
          </p:cNvPr>
          <p:cNvSpPr>
            <a:spLocks noGrp="1"/>
          </p:cNvSpPr>
          <p:nvPr>
            <p:ph type="sldNum" sz="quarter" idx="12"/>
          </p:nvPr>
        </p:nvSpPr>
        <p:spPr/>
        <p:txBody>
          <a:bodyPr/>
          <a:lstStyle/>
          <a:p>
            <a:fld id="{BE0AC437-A1D8-4781-B86C-407FA400F126}" type="slidenum">
              <a:rPr lang="en-US" smtClean="0"/>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1">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11">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411">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411">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411">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411">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 Writing blocks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File Systems</a:t>
            </a:r>
          </a:p>
        </p:txBody>
      </p:sp>
      <p:pic>
        <p:nvPicPr>
          <p:cNvPr id="7" name="Picture 3" descr="C:\Users\as668\Desktop\1_0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4112" y="1690689"/>
            <a:ext cx="3094119" cy="25755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3" name="Group 12"/>
          <p:cNvGrpSpPr/>
          <p:nvPr/>
        </p:nvGrpSpPr>
        <p:grpSpPr>
          <a:xfrm>
            <a:off x="3440498" y="1690690"/>
            <a:ext cx="4856835" cy="2949044"/>
            <a:chOff x="3440498" y="1690690"/>
            <a:chExt cx="4856835" cy="2949044"/>
          </a:xfrm>
        </p:grpSpPr>
        <p:pic>
          <p:nvPicPr>
            <p:cNvPr id="8" name="Picture 7"/>
            <p:cNvPicPr>
              <a:picLocks noChangeAspect="1"/>
            </p:cNvPicPr>
            <p:nvPr/>
          </p:nvPicPr>
          <p:blipFill>
            <a:blip r:embed="rId3"/>
            <a:stretch>
              <a:fillRect/>
            </a:stretch>
          </p:blipFill>
          <p:spPr>
            <a:xfrm flipH="1">
              <a:off x="3440498" y="2978444"/>
              <a:ext cx="546100" cy="647700"/>
            </a:xfrm>
            <a:prstGeom prst="rect">
              <a:avLst/>
            </a:prstGeom>
          </p:spPr>
        </p:pic>
        <p:sp>
          <p:nvSpPr>
            <p:cNvPr id="9" name="Rounded Rectangular Callout 8"/>
            <p:cNvSpPr/>
            <p:nvPr/>
          </p:nvSpPr>
          <p:spPr>
            <a:xfrm>
              <a:off x="4724400" y="1690690"/>
              <a:ext cx="3572933" cy="2949044"/>
            </a:xfrm>
            <a:prstGeom prst="wedgeRoundRectCallout">
              <a:avLst>
                <a:gd name="adj1" fmla="val -70122"/>
                <a:gd name="adj2" fmla="val -535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r>
                <a:rPr lang="en-US" dirty="0"/>
                <a:t>I need the byte at position X from the disk!</a:t>
              </a:r>
            </a:p>
            <a:p>
              <a:endParaRPr lang="en-US" dirty="0"/>
            </a:p>
            <a:p>
              <a:r>
                <a:rPr lang="en-US" dirty="0"/>
                <a:t>System call…</a:t>
              </a:r>
            </a:p>
            <a:p>
              <a:r>
                <a:rPr lang="en-US" dirty="0"/>
                <a:t>Context switch…</a:t>
              </a:r>
            </a:p>
            <a:p>
              <a:r>
                <a:rPr lang="en-US" dirty="0"/>
                <a:t>Moving to waiting queue…</a:t>
              </a:r>
            </a:p>
            <a:p>
              <a:r>
                <a:rPr lang="en-US" dirty="0"/>
                <a:t>I/O disk…</a:t>
              </a:r>
            </a:p>
            <a:p>
              <a:r>
                <a:rPr lang="en-US" dirty="0"/>
                <a:t>Interrupts…</a:t>
              </a:r>
            </a:p>
            <a:p>
              <a:r>
                <a:rPr lang="en-US" dirty="0"/>
                <a:t>More context switch…</a:t>
              </a:r>
            </a:p>
            <a:p>
              <a:endParaRPr lang="en-US" dirty="0"/>
            </a:p>
          </p:txBody>
        </p:sp>
      </p:grpSp>
      <p:grpSp>
        <p:nvGrpSpPr>
          <p:cNvPr id="12" name="Group 11"/>
          <p:cNvGrpSpPr/>
          <p:nvPr/>
        </p:nvGrpSpPr>
        <p:grpSpPr>
          <a:xfrm>
            <a:off x="4246033" y="2457744"/>
            <a:ext cx="4897967" cy="3020264"/>
            <a:chOff x="4246033" y="2457744"/>
            <a:chExt cx="4897967" cy="3020264"/>
          </a:xfrm>
        </p:grpSpPr>
        <p:sp>
          <p:nvSpPr>
            <p:cNvPr id="10" name="Oval 9"/>
            <p:cNvSpPr/>
            <p:nvPr/>
          </p:nvSpPr>
          <p:spPr>
            <a:xfrm>
              <a:off x="4246033" y="2457744"/>
              <a:ext cx="3462410" cy="2336800"/>
            </a:xfrm>
            <a:prstGeom prst="ellipse">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537199" y="4831677"/>
              <a:ext cx="3606801" cy="646331"/>
            </a:xfrm>
            <a:prstGeom prst="rect">
              <a:avLst/>
            </a:prstGeom>
            <a:noFill/>
          </p:spPr>
          <p:txBody>
            <a:bodyPr wrap="square" rtlCol="0">
              <a:spAutoFit/>
            </a:bodyPr>
            <a:lstStyle/>
            <a:p>
              <a:r>
                <a:rPr lang="en-US" dirty="0">
                  <a:solidFill>
                    <a:srgbClr val="FF0000"/>
                  </a:solidFill>
                </a:rPr>
                <a:t>If we pay this price for each byte, it does not pay off…</a:t>
              </a:r>
            </a:p>
          </p:txBody>
        </p:sp>
      </p:grpSp>
      <p:sp>
        <p:nvSpPr>
          <p:cNvPr id="3" name="Slide Number Placeholder 2">
            <a:extLst>
              <a:ext uri="{FF2B5EF4-FFF2-40B4-BE49-F238E27FC236}">
                <a16:creationId xmlns:a16="http://schemas.microsoft.com/office/drawing/2014/main" id="{450CACE0-6A21-CB17-319E-4E246982C232}"/>
              </a:ext>
            </a:extLst>
          </p:cNvPr>
          <p:cNvSpPr>
            <a:spLocks noGrp="1"/>
          </p:cNvSpPr>
          <p:nvPr>
            <p:ph type="sldNum" sz="quarter" idx="12"/>
          </p:nvPr>
        </p:nvSpPr>
        <p:spPr/>
        <p:txBody>
          <a:bodyPr/>
          <a:lstStyle/>
          <a:p>
            <a:fld id="{BE0AC437-A1D8-4781-B86C-407FA400F126}" type="slidenum">
              <a:rPr lang="en-US" smtClean="0"/>
              <a:t>16</a:t>
            </a:fld>
            <a:endParaRPr lang="en-US"/>
          </a:p>
        </p:txBody>
      </p:sp>
    </p:spTree>
    <p:extLst>
      <p:ext uri="{BB962C8B-B14F-4D97-AF65-F5344CB8AC3E}">
        <p14:creationId xmlns:p14="http://schemas.microsoft.com/office/powerpoint/2010/main" val="127833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Size 1/2</a:t>
            </a:r>
          </a:p>
        </p:txBody>
      </p:sp>
      <p:sp>
        <p:nvSpPr>
          <p:cNvPr id="3" name="Content Placeholder 2"/>
          <p:cNvSpPr>
            <a:spLocks noGrp="1"/>
          </p:cNvSpPr>
          <p:nvPr>
            <p:ph idx="1"/>
          </p:nvPr>
        </p:nvSpPr>
        <p:spPr/>
        <p:txBody>
          <a:bodyPr/>
          <a:lstStyle/>
          <a:p>
            <a:r>
              <a:rPr lang="en-US" dirty="0"/>
              <a:t>Which is the appropriate size of a block?</a:t>
            </a:r>
          </a:p>
          <a:p>
            <a:r>
              <a:rPr lang="en-US" sz="2800" dirty="0"/>
              <a:t>Large block</a:t>
            </a:r>
          </a:p>
          <a:p>
            <a:pPr lvl="1">
              <a:buFont typeface="Arial" panose="020B0604020202020204" pitchFamily="34" charset="0"/>
              <a:buChar char="+"/>
            </a:pPr>
            <a:r>
              <a:rPr lang="en-US" sz="2400" dirty="0"/>
              <a:t>: fewer blocks to read (</a:t>
            </a:r>
            <a:r>
              <a:rPr lang="en-US" sz="2400" dirty="0">
                <a:sym typeface="Wingdings" panose="05000000000000000000" pitchFamily="2" charset="2"/>
              </a:rPr>
              <a:t>faster reading)</a:t>
            </a:r>
          </a:p>
          <a:p>
            <a:pPr lvl="1"/>
            <a:r>
              <a:rPr lang="en-US" sz="2400" dirty="0">
                <a:sym typeface="Wingdings" panose="05000000000000000000" pitchFamily="2" charset="2"/>
              </a:rPr>
              <a:t>: More wasted space if files are small</a:t>
            </a:r>
          </a:p>
          <a:p>
            <a:r>
              <a:rPr lang="en-US" sz="2800" dirty="0"/>
              <a:t>Small block</a:t>
            </a:r>
          </a:p>
          <a:p>
            <a:pPr lvl="1">
              <a:buFont typeface="Arial" panose="020B0604020202020204" pitchFamily="34" charset="0"/>
              <a:buChar char="+"/>
            </a:pPr>
            <a:r>
              <a:rPr lang="en-US" sz="2400" dirty="0"/>
              <a:t>: Less space wasted</a:t>
            </a:r>
            <a:endParaRPr lang="en-US" sz="2400" dirty="0">
              <a:sym typeface="Wingdings" panose="05000000000000000000" pitchFamily="2" charset="2"/>
            </a:endParaRPr>
          </a:p>
          <a:p>
            <a:pPr lvl="1"/>
            <a:r>
              <a:rPr lang="en-US" sz="2400" dirty="0">
                <a:sym typeface="Wingdings" panose="05000000000000000000" pitchFamily="2" charset="2"/>
              </a:rPr>
              <a:t>: More blocks to read (slower reading)</a:t>
            </a:r>
            <a:endParaRPr lang="en-US" sz="2400" dirty="0"/>
          </a:p>
          <a:p>
            <a:pPr marL="457200" lvl="1" indent="0">
              <a:buNone/>
            </a:pPr>
            <a:endParaRPr lang="en-US" dirty="0"/>
          </a:p>
        </p:txBody>
      </p:sp>
      <p:sp>
        <p:nvSpPr>
          <p:cNvPr id="7" name="Date Placeholder 6"/>
          <p:cNvSpPr>
            <a:spLocks noGrp="1"/>
          </p:cNvSpPr>
          <p:nvPr>
            <p:ph type="dt" sz="half" idx="10"/>
          </p:nvPr>
        </p:nvSpPr>
        <p:spPr/>
        <p:txBody>
          <a:bodyPr/>
          <a:lstStyle/>
          <a:p>
            <a:r>
              <a:rPr lang="en-US"/>
              <a:t>Vincenzo Gulisano</a:t>
            </a:r>
          </a:p>
        </p:txBody>
      </p:sp>
      <p:sp>
        <p:nvSpPr>
          <p:cNvPr id="10" name="Footer Placeholder 9"/>
          <p:cNvSpPr>
            <a:spLocks noGrp="1"/>
          </p:cNvSpPr>
          <p:nvPr>
            <p:ph type="ftr" sz="quarter" idx="11"/>
          </p:nvPr>
        </p:nvSpPr>
        <p:spPr/>
        <p:txBody>
          <a:bodyPr/>
          <a:lstStyle/>
          <a:p>
            <a:r>
              <a:rPr lang="en-US"/>
              <a:t>Operating Systems - File Systems</a:t>
            </a:r>
          </a:p>
        </p:txBody>
      </p:sp>
      <p:sp>
        <p:nvSpPr>
          <p:cNvPr id="4" name="Slide Number Placeholder 3">
            <a:extLst>
              <a:ext uri="{FF2B5EF4-FFF2-40B4-BE49-F238E27FC236}">
                <a16:creationId xmlns:a16="http://schemas.microsoft.com/office/drawing/2014/main" id="{9AECFA22-4E53-44D4-98A6-492FA897A010}"/>
              </a:ext>
            </a:extLst>
          </p:cNvPr>
          <p:cNvSpPr>
            <a:spLocks noGrp="1"/>
          </p:cNvSpPr>
          <p:nvPr>
            <p:ph type="sldNum" sz="quarter" idx="12"/>
          </p:nvPr>
        </p:nvSpPr>
        <p:spPr/>
        <p:txBody>
          <a:bodyPr/>
          <a:lstStyle/>
          <a:p>
            <a:fld id="{BE0AC437-A1D8-4781-B86C-407FA400F126}" type="slidenum">
              <a:rPr lang="en-US" smtClean="0"/>
              <a:t>17</a:t>
            </a:fld>
            <a:endParaRPr lang="en-US"/>
          </a:p>
        </p:txBody>
      </p:sp>
    </p:spTree>
    <p:extLst>
      <p:ext uri="{BB962C8B-B14F-4D97-AF65-F5344CB8AC3E}">
        <p14:creationId xmlns:p14="http://schemas.microsoft.com/office/powerpoint/2010/main" val="60280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Size 2/2</a:t>
            </a:r>
          </a:p>
        </p:txBody>
      </p:sp>
      <p:pic>
        <p:nvPicPr>
          <p:cNvPr id="7" name="Picture 6" descr="04-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3" y="1368425"/>
            <a:ext cx="7572375" cy="396557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2169583" y="2911094"/>
            <a:ext cx="1032933" cy="1383233"/>
            <a:chOff x="1295399" y="1828800"/>
            <a:chExt cx="3056187" cy="4092635"/>
          </a:xfrm>
        </p:grpSpPr>
        <p:pic>
          <p:nvPicPr>
            <p:cNvPr id="9" name="Picture 2" descr="http://4.bp.blogspot.com/-Kc_jYOMfj-g/UCakbvK3gyI/AAAAAAAAGTo/8Fa5sfZjQkI/s1600/coperta_corta.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a:solidFill>
                    <a:srgbClr val="FFFFFF"/>
                  </a:solidFill>
                </a14:hiddenFill>
              </a:ext>
            </a:extLst>
          </p:spPr>
        </p:pic>
        <p:sp>
          <p:nvSpPr>
            <p:cNvPr id="10" name="Up Arrow 9"/>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2" name="Up Arrow 11"/>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4" name="TextBox 13"/>
          <p:cNvSpPr txBox="1"/>
          <p:nvPr/>
        </p:nvSpPr>
        <p:spPr>
          <a:xfrm>
            <a:off x="1143000" y="5316678"/>
            <a:ext cx="3124200" cy="276999"/>
          </a:xfrm>
          <a:prstGeom prst="rect">
            <a:avLst/>
          </a:prstGeom>
          <a:solidFill>
            <a:schemeClr val="bg1"/>
          </a:solidFill>
        </p:spPr>
        <p:txBody>
          <a:bodyPr wrap="square" rtlCol="0">
            <a:spAutoFit/>
          </a:bodyPr>
          <a:lstStyle/>
          <a:p>
            <a:r>
              <a:rPr lang="en-US" sz="1200" dirty="0"/>
              <a:t>Fig. Tanenbaum, Modern Operating Systems</a:t>
            </a:r>
          </a:p>
        </p:txBody>
      </p:sp>
      <p:sp>
        <p:nvSpPr>
          <p:cNvPr id="3" name="Date Placeholder 2"/>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5" name="TextBox 4"/>
          <p:cNvSpPr txBox="1"/>
          <p:nvPr/>
        </p:nvSpPr>
        <p:spPr>
          <a:xfrm>
            <a:off x="4362680" y="2027104"/>
            <a:ext cx="1462260" cy="646331"/>
          </a:xfrm>
          <a:prstGeom prst="rect">
            <a:avLst/>
          </a:prstGeom>
          <a:noFill/>
        </p:spPr>
        <p:txBody>
          <a:bodyPr wrap="none" rtlCol="0">
            <a:spAutoFit/>
          </a:bodyPr>
          <a:lstStyle/>
          <a:p>
            <a:r>
              <a:rPr lang="en-US" dirty="0"/>
              <a:t>Disk Space</a:t>
            </a:r>
          </a:p>
          <a:p>
            <a:r>
              <a:rPr lang="en-US" dirty="0"/>
              <a:t>Data Rate</a:t>
            </a:r>
          </a:p>
        </p:txBody>
      </p:sp>
      <p:cxnSp>
        <p:nvCxnSpPr>
          <p:cNvPr id="16" name="Straight Connector 15"/>
          <p:cNvCxnSpPr/>
          <p:nvPr/>
        </p:nvCxnSpPr>
        <p:spPr>
          <a:xfrm>
            <a:off x="3756752" y="2214390"/>
            <a:ext cx="605928"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3756752" y="2487975"/>
            <a:ext cx="605928" cy="0"/>
          </a:xfrm>
          <a:prstGeom prst="line">
            <a:avLst/>
          </a:prstGeom>
          <a:ln w="38100">
            <a:prstDash val="sysDash"/>
          </a:ln>
        </p:spPr>
        <p:style>
          <a:lnRef idx="1">
            <a:schemeClr val="dk1"/>
          </a:lnRef>
          <a:fillRef idx="0">
            <a:schemeClr val="dk1"/>
          </a:fillRef>
          <a:effectRef idx="0">
            <a:schemeClr val="dk1"/>
          </a:effectRef>
          <a:fontRef idx="minor">
            <a:schemeClr val="tx1"/>
          </a:fontRef>
        </p:style>
      </p:cxnSp>
      <p:grpSp>
        <p:nvGrpSpPr>
          <p:cNvPr id="13" name="Group 12"/>
          <p:cNvGrpSpPr/>
          <p:nvPr/>
        </p:nvGrpSpPr>
        <p:grpSpPr>
          <a:xfrm>
            <a:off x="4754165" y="5334000"/>
            <a:ext cx="4389835" cy="1021557"/>
            <a:chOff x="4754165" y="5334000"/>
            <a:chExt cx="4389835" cy="1021557"/>
          </a:xfrm>
        </p:grpSpPr>
        <p:pic>
          <p:nvPicPr>
            <p:cNvPr id="15" name="Picture 14"/>
            <p:cNvPicPr>
              <a:picLocks noChangeAspect="1"/>
            </p:cNvPicPr>
            <p:nvPr/>
          </p:nvPicPr>
          <p:blipFill>
            <a:blip r:embed="rId5"/>
            <a:stretch>
              <a:fillRect/>
            </a:stretch>
          </p:blipFill>
          <p:spPr>
            <a:xfrm>
              <a:off x="4754165" y="5334000"/>
              <a:ext cx="1021557" cy="1021557"/>
            </a:xfrm>
            <a:prstGeom prst="rect">
              <a:avLst/>
            </a:prstGeom>
          </p:spPr>
        </p:pic>
        <p:sp>
          <p:nvSpPr>
            <p:cNvPr id="11" name="TextBox 10"/>
            <p:cNvSpPr txBox="1"/>
            <p:nvPr/>
          </p:nvSpPr>
          <p:spPr>
            <a:xfrm>
              <a:off x="5537199" y="5593677"/>
              <a:ext cx="3606801" cy="646331"/>
            </a:xfrm>
            <a:prstGeom prst="rect">
              <a:avLst/>
            </a:prstGeom>
            <a:noFill/>
          </p:spPr>
          <p:txBody>
            <a:bodyPr wrap="square" rtlCol="0">
              <a:spAutoFit/>
            </a:bodyPr>
            <a:lstStyle/>
            <a:p>
              <a:r>
                <a:rPr lang="en-US" i="1" dirty="0"/>
                <a:t>Why is it so challenging to choose the right block size?</a:t>
              </a:r>
            </a:p>
          </p:txBody>
        </p:sp>
      </p:grpSp>
      <p:sp>
        <p:nvSpPr>
          <p:cNvPr id="17" name="Slide Number Placeholder 16">
            <a:extLst>
              <a:ext uri="{FF2B5EF4-FFF2-40B4-BE49-F238E27FC236}">
                <a16:creationId xmlns:a16="http://schemas.microsoft.com/office/drawing/2014/main" id="{EB74DD83-DAE6-38C8-8BA8-F9F0B001428E}"/>
              </a:ext>
            </a:extLst>
          </p:cNvPr>
          <p:cNvSpPr>
            <a:spLocks noGrp="1"/>
          </p:cNvSpPr>
          <p:nvPr>
            <p:ph type="sldNum" sz="quarter" idx="12"/>
          </p:nvPr>
        </p:nvSpPr>
        <p:spPr/>
        <p:txBody>
          <a:bodyPr/>
          <a:lstStyle/>
          <a:p>
            <a:fld id="{BE0AC437-A1D8-4781-B86C-407FA400F126}" type="slidenum">
              <a:rPr lang="en-US" smtClean="0"/>
              <a:t>18</a:t>
            </a:fld>
            <a:endParaRPr lang="en-US"/>
          </a:p>
        </p:txBody>
      </p:sp>
    </p:spTree>
    <p:extLst>
      <p:ext uri="{BB962C8B-B14F-4D97-AF65-F5344CB8AC3E}">
        <p14:creationId xmlns:p14="http://schemas.microsoft.com/office/powerpoint/2010/main" val="94075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CB98-40AB-D5DE-52CD-19370CC0C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4D005-81E6-89DC-168E-85D063CCF2E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B697DF7-2311-281A-5089-9DDC983FA0F0}"/>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solidFill>
                  <a:schemeClr val="bg2">
                    <a:lumMod val="90000"/>
                  </a:schemeClr>
                </a:solidFill>
              </a:rPr>
              <a:t>Access methods</a:t>
            </a:r>
          </a:p>
          <a:p>
            <a:r>
              <a:rPr lang="en-US" dirty="0"/>
              <a:t>Disk structure</a:t>
            </a:r>
          </a:p>
          <a:p>
            <a:r>
              <a:rPr lang="en-US" dirty="0">
                <a:solidFill>
                  <a:schemeClr val="bg2">
                    <a:lumMod val="90000"/>
                  </a:schemeClr>
                </a:solidFill>
              </a:rPr>
              <a:t>Directory structure [Self-study]</a:t>
            </a:r>
          </a:p>
          <a:p>
            <a:r>
              <a:rPr lang="en-US" dirty="0">
                <a:solidFill>
                  <a:schemeClr val="bg2">
                    <a:lumMod val="90000"/>
                  </a:schemeClr>
                </a:solidFill>
              </a:rPr>
              <a:t>File system structure</a:t>
            </a:r>
          </a:p>
          <a:p>
            <a:r>
              <a:rPr lang="en-US" dirty="0">
                <a:solidFill>
                  <a:schemeClr val="bg2">
                    <a:lumMod val="90000"/>
                  </a:schemeClr>
                </a:solidFill>
              </a:rPr>
              <a:t>Allocation methods</a:t>
            </a:r>
          </a:p>
          <a:p>
            <a:r>
              <a:rPr lang="en-US" dirty="0">
                <a:solidFill>
                  <a:schemeClr val="bg2">
                    <a:lumMod val="90000"/>
                  </a:schemeClr>
                </a:solidFill>
              </a:rPr>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5C29F050-D0D0-D63A-B969-64424B047CE6}"/>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FE048630-C546-6089-B036-FC80FAE296BF}"/>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DD7401B4-D52D-5BBD-C543-6040E1047AF9}"/>
              </a:ext>
            </a:extLst>
          </p:cNvPr>
          <p:cNvSpPr>
            <a:spLocks noGrp="1"/>
          </p:cNvSpPr>
          <p:nvPr>
            <p:ph type="sldNum" sz="quarter" idx="12"/>
          </p:nvPr>
        </p:nvSpPr>
        <p:spPr/>
        <p:txBody>
          <a:bodyPr/>
          <a:lstStyle/>
          <a:p>
            <a:fld id="{BE0AC437-A1D8-4781-B86C-407FA400F126}" type="slidenum">
              <a:rPr lang="en-US" smtClean="0"/>
              <a:t>19</a:t>
            </a:fld>
            <a:endParaRPr lang="en-US"/>
          </a:p>
        </p:txBody>
      </p:sp>
    </p:spTree>
    <p:extLst>
      <p:ext uri="{BB962C8B-B14F-4D97-AF65-F5344CB8AC3E}">
        <p14:creationId xmlns:p14="http://schemas.microsoft.com/office/powerpoint/2010/main" val="303665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8CAF0-74AD-BAD3-0A76-1DE73A35CC30}"/>
              </a:ext>
            </a:extLst>
          </p:cNvPr>
          <p:cNvSpPr>
            <a:spLocks noGrp="1"/>
          </p:cNvSpPr>
          <p:nvPr>
            <p:ph type="title"/>
          </p:nvPr>
        </p:nvSpPr>
        <p:spPr/>
        <p:txBody>
          <a:bodyPr/>
          <a:lstStyle/>
          <a:p>
            <a:r>
              <a:rPr lang="en-US" dirty="0"/>
              <a:t>File System layout on disk</a:t>
            </a:r>
          </a:p>
        </p:txBody>
      </p:sp>
      <p:sp>
        <p:nvSpPr>
          <p:cNvPr id="3" name="Content Placeholder 2">
            <a:extLst>
              <a:ext uri="{FF2B5EF4-FFF2-40B4-BE49-F238E27FC236}">
                <a16:creationId xmlns:a16="http://schemas.microsoft.com/office/drawing/2014/main" id="{7CFA44F3-BF71-3074-76D8-8F188B640534}"/>
              </a:ext>
            </a:extLst>
          </p:cNvPr>
          <p:cNvSpPr>
            <a:spLocks noGrp="1"/>
          </p:cNvSpPr>
          <p:nvPr>
            <p:ph idx="1"/>
          </p:nvPr>
        </p:nvSpPr>
        <p:spPr/>
        <p:txBody>
          <a:bodyPr/>
          <a:lstStyle/>
          <a:p>
            <a:r>
              <a:rPr lang="en-US" dirty="0"/>
              <a:t>Master Boot Record (MBR) – Legacy</a:t>
            </a:r>
          </a:p>
          <a:p>
            <a:r>
              <a:rPr lang="en-US" dirty="0"/>
              <a:t>GUID Partition Table (GPT), typically used with UEFI</a:t>
            </a:r>
          </a:p>
        </p:txBody>
      </p:sp>
      <p:sp>
        <p:nvSpPr>
          <p:cNvPr id="4" name="Date Placeholder 3">
            <a:extLst>
              <a:ext uri="{FF2B5EF4-FFF2-40B4-BE49-F238E27FC236}">
                <a16:creationId xmlns:a16="http://schemas.microsoft.com/office/drawing/2014/main" id="{64C517B0-2E2B-AED6-7057-E7AD21C57455}"/>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FF611790-29C2-7FFD-FEFD-8BC66FF5E92C}"/>
              </a:ext>
            </a:extLst>
          </p:cNvPr>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2D3A13A8-DEFC-DB3C-E319-60C48312BB89}"/>
              </a:ext>
            </a:extLst>
          </p:cNvPr>
          <p:cNvSpPr>
            <a:spLocks noGrp="1"/>
          </p:cNvSpPr>
          <p:nvPr>
            <p:ph type="sldNum" sz="quarter" idx="12"/>
          </p:nvPr>
        </p:nvSpPr>
        <p:spPr/>
        <p:txBody>
          <a:bodyPr/>
          <a:lstStyle/>
          <a:p>
            <a:fld id="{BE0AC437-A1D8-4781-B86C-407FA400F126}" type="slidenum">
              <a:rPr lang="en-US" smtClean="0"/>
              <a:t>20</a:t>
            </a:fld>
            <a:endParaRPr lang="en-US"/>
          </a:p>
        </p:txBody>
      </p:sp>
    </p:spTree>
    <p:extLst>
      <p:ext uri="{BB962C8B-B14F-4D97-AF65-F5344CB8AC3E}">
        <p14:creationId xmlns:p14="http://schemas.microsoft.com/office/powerpoint/2010/main" val="133574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system layout – MBR/Legacy</a:t>
            </a:r>
          </a:p>
        </p:txBody>
      </p:sp>
      <p:grpSp>
        <p:nvGrpSpPr>
          <p:cNvPr id="6" name="Group 5"/>
          <p:cNvGrpSpPr/>
          <p:nvPr/>
        </p:nvGrpSpPr>
        <p:grpSpPr>
          <a:xfrm>
            <a:off x="1090613" y="1201049"/>
            <a:ext cx="6975475" cy="2635894"/>
            <a:chOff x="1090613" y="2090738"/>
            <a:chExt cx="6975475" cy="2635894"/>
          </a:xfrm>
        </p:grpSpPr>
        <p:pic>
          <p:nvPicPr>
            <p:cNvPr id="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613" y="2090738"/>
              <a:ext cx="6975475"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172200" y="4495800"/>
              <a:ext cx="2783134" cy="230832"/>
            </a:xfrm>
            <a:prstGeom prst="rect">
              <a:avLst/>
            </a:prstGeom>
            <a:noFill/>
          </p:spPr>
          <p:txBody>
            <a:bodyPr wrap="none" rtlCol="0">
              <a:spAutoFit/>
            </a:bodyPr>
            <a:lstStyle/>
            <a:p>
              <a:r>
                <a:rPr lang="en-US" sz="900" dirty="0"/>
                <a:t>Fig. Tanenbaum, Modern Operating Systems</a:t>
              </a:r>
            </a:p>
          </p:txBody>
        </p:sp>
      </p:grpSp>
      <p:grpSp>
        <p:nvGrpSpPr>
          <p:cNvPr id="3" name="Group 2"/>
          <p:cNvGrpSpPr/>
          <p:nvPr/>
        </p:nvGrpSpPr>
        <p:grpSpPr>
          <a:xfrm>
            <a:off x="2675767" y="1548711"/>
            <a:ext cx="4149560" cy="1708101"/>
            <a:chOff x="2675767" y="2438400"/>
            <a:chExt cx="4149560" cy="1708101"/>
          </a:xfrm>
        </p:grpSpPr>
        <p:sp>
          <p:nvSpPr>
            <p:cNvPr id="7" name="Oval 6"/>
            <p:cNvSpPr/>
            <p:nvPr/>
          </p:nvSpPr>
          <p:spPr>
            <a:xfrm>
              <a:off x="4419600" y="2438400"/>
              <a:ext cx="1295400" cy="429578"/>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extBox 7"/>
            <p:cNvSpPr txBox="1"/>
            <p:nvPr/>
          </p:nvSpPr>
          <p:spPr>
            <a:xfrm>
              <a:off x="2675767" y="3561726"/>
              <a:ext cx="4149560" cy="584775"/>
            </a:xfrm>
            <a:prstGeom prst="rect">
              <a:avLst/>
            </a:prstGeom>
            <a:noFill/>
          </p:spPr>
          <p:txBody>
            <a:bodyPr wrap="square" rtlCol="0">
              <a:spAutoFit/>
            </a:bodyPr>
            <a:lstStyle/>
            <a:p>
              <a:pPr algn="ctr"/>
              <a:r>
                <a:rPr lang="en-US" sz="1600" dirty="0"/>
                <a:t>Disk partitions: 1 (or more) independent file systems</a:t>
              </a:r>
            </a:p>
          </p:txBody>
        </p:sp>
      </p:grpSp>
      <p:sp>
        <p:nvSpPr>
          <p:cNvPr id="9" name="Date Placeholder 8"/>
          <p:cNvSpPr>
            <a:spLocks noGrp="1"/>
          </p:cNvSpPr>
          <p:nvPr>
            <p:ph type="dt" sz="half" idx="10"/>
          </p:nvPr>
        </p:nvSpPr>
        <p:spPr/>
        <p:txBody>
          <a:bodyPr/>
          <a:lstStyle/>
          <a:p>
            <a:r>
              <a:rPr lang="en-US"/>
              <a:t>Vincenzo Gulisano</a:t>
            </a:r>
          </a:p>
        </p:txBody>
      </p:sp>
      <p:sp>
        <p:nvSpPr>
          <p:cNvPr id="13" name="Footer Placeholder 12"/>
          <p:cNvSpPr>
            <a:spLocks noGrp="1"/>
          </p:cNvSpPr>
          <p:nvPr>
            <p:ph type="ftr" sz="quarter" idx="11"/>
          </p:nvPr>
        </p:nvSpPr>
        <p:spPr/>
        <p:txBody>
          <a:bodyPr/>
          <a:lstStyle/>
          <a:p>
            <a:r>
              <a:rPr lang="en-US"/>
              <a:t>Operating Systems - File Systems</a:t>
            </a:r>
          </a:p>
        </p:txBody>
      </p:sp>
      <p:sp>
        <p:nvSpPr>
          <p:cNvPr id="11" name="TextBox 10">
            <a:extLst>
              <a:ext uri="{FF2B5EF4-FFF2-40B4-BE49-F238E27FC236}">
                <a16:creationId xmlns:a16="http://schemas.microsoft.com/office/drawing/2014/main" id="{DFC9237F-9720-2835-761A-DDF4A5D61914}"/>
              </a:ext>
            </a:extLst>
          </p:cNvPr>
          <p:cNvSpPr txBox="1"/>
          <p:nvPr/>
        </p:nvSpPr>
        <p:spPr>
          <a:xfrm>
            <a:off x="2675767" y="4194237"/>
            <a:ext cx="6304254" cy="830997"/>
          </a:xfrm>
          <a:prstGeom prst="rect">
            <a:avLst/>
          </a:prstGeom>
          <a:noFill/>
        </p:spPr>
        <p:txBody>
          <a:bodyPr wrap="square" rtlCol="0">
            <a:spAutoFit/>
          </a:bodyPr>
          <a:lstStyle/>
          <a:p>
            <a:r>
              <a:rPr lang="en-US" sz="1600" dirty="0"/>
              <a:t>What there is after the boot block depends on the operating system. Superblock usually contains key information specific to each operating system.</a:t>
            </a:r>
          </a:p>
        </p:txBody>
      </p:sp>
      <p:sp>
        <p:nvSpPr>
          <p:cNvPr id="12" name="Left Brace 11">
            <a:extLst>
              <a:ext uri="{FF2B5EF4-FFF2-40B4-BE49-F238E27FC236}">
                <a16:creationId xmlns:a16="http://schemas.microsoft.com/office/drawing/2014/main" id="{3E810896-D3E2-85F2-4B84-CC2E1D445617}"/>
              </a:ext>
            </a:extLst>
          </p:cNvPr>
          <p:cNvSpPr/>
          <p:nvPr/>
        </p:nvSpPr>
        <p:spPr>
          <a:xfrm rot="16200000">
            <a:off x="4905280" y="1196190"/>
            <a:ext cx="247841" cy="5638801"/>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3DDFAAE2-343D-DA70-FAB7-0EB48F104101}"/>
              </a:ext>
            </a:extLst>
          </p:cNvPr>
          <p:cNvSpPr/>
          <p:nvPr/>
        </p:nvSpPr>
        <p:spPr>
          <a:xfrm>
            <a:off x="1156960" y="3187011"/>
            <a:ext cx="1233800" cy="429578"/>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0E52BD7C-D06D-AB23-5088-03B411E7E5A0}"/>
              </a:ext>
            </a:extLst>
          </p:cNvPr>
          <p:cNvSpPr txBox="1"/>
          <p:nvPr/>
        </p:nvSpPr>
        <p:spPr>
          <a:xfrm>
            <a:off x="163979" y="3891669"/>
            <a:ext cx="2057400" cy="1077218"/>
          </a:xfrm>
          <a:prstGeom prst="rect">
            <a:avLst/>
          </a:prstGeom>
          <a:noFill/>
        </p:spPr>
        <p:txBody>
          <a:bodyPr wrap="square" rtlCol="0">
            <a:spAutoFit/>
          </a:bodyPr>
          <a:lstStyle/>
          <a:p>
            <a:r>
              <a:rPr lang="en-US" sz="1600" dirty="0"/>
              <a:t>The boot block is used to load the operating system of the partition</a:t>
            </a:r>
          </a:p>
        </p:txBody>
      </p:sp>
      <p:sp>
        <p:nvSpPr>
          <p:cNvPr id="17" name="TextBox 16">
            <a:extLst>
              <a:ext uri="{FF2B5EF4-FFF2-40B4-BE49-F238E27FC236}">
                <a16:creationId xmlns:a16="http://schemas.microsoft.com/office/drawing/2014/main" id="{43BAF098-BA85-F99F-5094-50486EF93F42}"/>
              </a:ext>
            </a:extLst>
          </p:cNvPr>
          <p:cNvSpPr txBox="1"/>
          <p:nvPr/>
        </p:nvSpPr>
        <p:spPr>
          <a:xfrm>
            <a:off x="340710" y="5298695"/>
            <a:ext cx="8462579"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NOTE 1: A partition does not necessarily contain a file system; it may be swap space, raw storage, or another structure.</a:t>
            </a:r>
          </a:p>
          <a:p>
            <a:r>
              <a:rPr lang="en-US" dirty="0"/>
              <a:t>NOTE 2: Not every partition begins with executable boot code.</a:t>
            </a:r>
          </a:p>
        </p:txBody>
      </p:sp>
      <p:sp>
        <p:nvSpPr>
          <p:cNvPr id="18" name="Slide Number Placeholder 17">
            <a:extLst>
              <a:ext uri="{FF2B5EF4-FFF2-40B4-BE49-F238E27FC236}">
                <a16:creationId xmlns:a16="http://schemas.microsoft.com/office/drawing/2014/main" id="{68D5A1D9-B9B7-94D9-49BA-B6CA24531285}"/>
              </a:ext>
            </a:extLst>
          </p:cNvPr>
          <p:cNvSpPr>
            <a:spLocks noGrp="1"/>
          </p:cNvSpPr>
          <p:nvPr>
            <p:ph type="sldNum" sz="quarter" idx="12"/>
          </p:nvPr>
        </p:nvSpPr>
        <p:spPr/>
        <p:txBody>
          <a:bodyPr/>
          <a:lstStyle/>
          <a:p>
            <a:fld id="{BE0AC437-A1D8-4781-B86C-407FA400F126}" type="slidenum">
              <a:rPr lang="en-US" smtClean="0"/>
              <a:t>21</a:t>
            </a:fld>
            <a:endParaRPr lang="en-US"/>
          </a:p>
        </p:txBody>
      </p:sp>
    </p:spTree>
    <p:extLst>
      <p:ext uri="{BB962C8B-B14F-4D97-AF65-F5344CB8AC3E}">
        <p14:creationId xmlns:p14="http://schemas.microsoft.com/office/powerpoint/2010/main" val="341676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system layout – MBR/Legacy</a:t>
            </a:r>
          </a:p>
        </p:txBody>
      </p:sp>
      <p:grpSp>
        <p:nvGrpSpPr>
          <p:cNvPr id="6" name="Group 5"/>
          <p:cNvGrpSpPr/>
          <p:nvPr/>
        </p:nvGrpSpPr>
        <p:grpSpPr>
          <a:xfrm>
            <a:off x="1090613" y="2090738"/>
            <a:ext cx="6975475" cy="2635894"/>
            <a:chOff x="1090613" y="2090738"/>
            <a:chExt cx="6975475" cy="2635894"/>
          </a:xfrm>
        </p:grpSpPr>
        <p:pic>
          <p:nvPicPr>
            <p:cNvPr id="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613" y="2090738"/>
              <a:ext cx="6975475"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172200" y="4495800"/>
              <a:ext cx="2783134" cy="230832"/>
            </a:xfrm>
            <a:prstGeom prst="rect">
              <a:avLst/>
            </a:prstGeom>
            <a:noFill/>
          </p:spPr>
          <p:txBody>
            <a:bodyPr wrap="none" rtlCol="0">
              <a:spAutoFit/>
            </a:bodyPr>
            <a:lstStyle/>
            <a:p>
              <a:r>
                <a:rPr lang="en-US" sz="900" dirty="0"/>
                <a:t>Fig. Tanenbaum, Modern Operating Systems</a:t>
              </a:r>
            </a:p>
          </p:txBody>
        </p:sp>
      </p:grpSp>
      <p:sp>
        <p:nvSpPr>
          <p:cNvPr id="7" name="Oval 6"/>
          <p:cNvSpPr/>
          <p:nvPr/>
        </p:nvSpPr>
        <p:spPr>
          <a:xfrm>
            <a:off x="1409700" y="2916555"/>
            <a:ext cx="647700" cy="429578"/>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extBox 7"/>
          <p:cNvSpPr txBox="1"/>
          <p:nvPr/>
        </p:nvSpPr>
        <p:spPr>
          <a:xfrm>
            <a:off x="1056323" y="5160705"/>
            <a:ext cx="7305013" cy="584775"/>
          </a:xfrm>
          <a:prstGeom prst="rect">
            <a:avLst/>
          </a:prstGeom>
          <a:noFill/>
        </p:spPr>
        <p:txBody>
          <a:bodyPr wrap="none" rtlCol="0">
            <a:spAutoFit/>
          </a:bodyPr>
          <a:lstStyle/>
          <a:p>
            <a:r>
              <a:rPr lang="en-US" sz="1600" dirty="0"/>
              <a:t>MBR: Master Boot Record. Starts at sector 0 and is used to boot the </a:t>
            </a:r>
            <a:br>
              <a:rPr lang="en-US" sz="1600" dirty="0"/>
            </a:br>
            <a:r>
              <a:rPr lang="en-US" sz="1600" dirty="0"/>
              <a:t>computer. At the end, it contains the partition table.</a:t>
            </a:r>
          </a:p>
        </p:txBody>
      </p:sp>
      <p:sp>
        <p:nvSpPr>
          <p:cNvPr id="3" name="Date Placeholder 2"/>
          <p:cNvSpPr>
            <a:spLocks noGrp="1"/>
          </p:cNvSpPr>
          <p:nvPr>
            <p:ph type="dt" sz="half" idx="10"/>
          </p:nvPr>
        </p:nvSpPr>
        <p:spPr/>
        <p:txBody>
          <a:bodyPr/>
          <a:lstStyle/>
          <a:p>
            <a:r>
              <a:rPr lang="en-US"/>
              <a:t>Vincenzo Gulisano</a:t>
            </a:r>
          </a:p>
        </p:txBody>
      </p:sp>
      <p:sp>
        <p:nvSpPr>
          <p:cNvPr id="12" name="Footer Placeholder 11"/>
          <p:cNvSpPr>
            <a:spLocks noGrp="1"/>
          </p:cNvSpPr>
          <p:nvPr>
            <p:ph type="ftr" sz="quarter" idx="11"/>
          </p:nvPr>
        </p:nvSpPr>
        <p:spPr/>
        <p:txBody>
          <a:bodyPr/>
          <a:lstStyle/>
          <a:p>
            <a:r>
              <a:rPr lang="en-US"/>
              <a:t>Operating Systems - File Systems</a:t>
            </a:r>
          </a:p>
        </p:txBody>
      </p:sp>
      <p:sp>
        <p:nvSpPr>
          <p:cNvPr id="10" name="Slide Number Placeholder 9">
            <a:extLst>
              <a:ext uri="{FF2B5EF4-FFF2-40B4-BE49-F238E27FC236}">
                <a16:creationId xmlns:a16="http://schemas.microsoft.com/office/drawing/2014/main" id="{2E496D17-AE94-3C13-B3A5-7FCCBB8A6F6E}"/>
              </a:ext>
            </a:extLst>
          </p:cNvPr>
          <p:cNvSpPr>
            <a:spLocks noGrp="1"/>
          </p:cNvSpPr>
          <p:nvPr>
            <p:ph type="sldNum" sz="quarter" idx="12"/>
          </p:nvPr>
        </p:nvSpPr>
        <p:spPr/>
        <p:txBody>
          <a:bodyPr/>
          <a:lstStyle/>
          <a:p>
            <a:fld id="{BE0AC437-A1D8-4781-B86C-407FA400F126}" type="slidenum">
              <a:rPr lang="en-US" smtClean="0"/>
              <a:t>22</a:t>
            </a:fld>
            <a:endParaRPr lang="en-US"/>
          </a:p>
        </p:txBody>
      </p:sp>
    </p:spTree>
    <p:extLst>
      <p:ext uri="{BB962C8B-B14F-4D97-AF65-F5344CB8AC3E}">
        <p14:creationId xmlns:p14="http://schemas.microsoft.com/office/powerpoint/2010/main" val="3370649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system layout – MBR/Legacy</a:t>
            </a:r>
          </a:p>
        </p:txBody>
      </p:sp>
      <p:grpSp>
        <p:nvGrpSpPr>
          <p:cNvPr id="6" name="Group 5"/>
          <p:cNvGrpSpPr/>
          <p:nvPr/>
        </p:nvGrpSpPr>
        <p:grpSpPr>
          <a:xfrm>
            <a:off x="1090613" y="2090738"/>
            <a:ext cx="6975475" cy="2635894"/>
            <a:chOff x="1090613" y="2090738"/>
            <a:chExt cx="6975475" cy="2635894"/>
          </a:xfrm>
        </p:grpSpPr>
        <p:pic>
          <p:nvPicPr>
            <p:cNvPr id="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613" y="2090738"/>
              <a:ext cx="6975475"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172200" y="4495800"/>
              <a:ext cx="2783134" cy="230832"/>
            </a:xfrm>
            <a:prstGeom prst="rect">
              <a:avLst/>
            </a:prstGeom>
            <a:noFill/>
          </p:spPr>
          <p:txBody>
            <a:bodyPr wrap="none" rtlCol="0">
              <a:spAutoFit/>
            </a:bodyPr>
            <a:lstStyle/>
            <a:p>
              <a:r>
                <a:rPr lang="en-US" sz="900" dirty="0"/>
                <a:t>Fig. Tanenbaum, Modern Operating Systems</a:t>
              </a:r>
            </a:p>
          </p:txBody>
        </p:sp>
      </p:grpSp>
      <p:sp>
        <p:nvSpPr>
          <p:cNvPr id="7" name="Oval 6"/>
          <p:cNvSpPr/>
          <p:nvPr/>
        </p:nvSpPr>
        <p:spPr>
          <a:xfrm>
            <a:off x="1409700" y="2438400"/>
            <a:ext cx="1233800" cy="429578"/>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TextBox 7"/>
          <p:cNvSpPr txBox="1"/>
          <p:nvPr/>
        </p:nvSpPr>
        <p:spPr>
          <a:xfrm>
            <a:off x="1075373" y="5029200"/>
            <a:ext cx="6216189" cy="1323439"/>
          </a:xfrm>
          <a:prstGeom prst="rect">
            <a:avLst/>
          </a:prstGeom>
          <a:noFill/>
        </p:spPr>
        <p:txBody>
          <a:bodyPr wrap="none" rtlCol="0">
            <a:spAutoFit/>
          </a:bodyPr>
          <a:lstStyle/>
          <a:p>
            <a:r>
              <a:rPr lang="en-US" sz="1600" dirty="0"/>
              <a:t>Partition table: starting address and size of each partition.</a:t>
            </a:r>
          </a:p>
          <a:p>
            <a:r>
              <a:rPr lang="en-US" sz="1600" dirty="0"/>
              <a:t>One of the partitions is marked as active. Boot sequence: </a:t>
            </a:r>
          </a:p>
          <a:p>
            <a:pPr marL="914400" lvl="1" indent="-457200">
              <a:buFont typeface="+mj-lt"/>
              <a:buAutoNum type="arabicPeriod"/>
            </a:pPr>
            <a:r>
              <a:rPr lang="en-US" sz="1600" dirty="0"/>
              <a:t>Read the MBR</a:t>
            </a:r>
          </a:p>
          <a:p>
            <a:pPr marL="914400" lvl="1" indent="-457200">
              <a:buFont typeface="+mj-lt"/>
              <a:buAutoNum type="arabicPeriod"/>
            </a:pPr>
            <a:r>
              <a:rPr lang="en-US" sz="1600" dirty="0"/>
              <a:t>Locate the active partition </a:t>
            </a:r>
          </a:p>
          <a:p>
            <a:pPr marL="914400" lvl="1" indent="-457200">
              <a:buFont typeface="+mj-lt"/>
              <a:buAutoNum type="arabicPeriod"/>
            </a:pPr>
            <a:r>
              <a:rPr lang="en-US" sz="1600" dirty="0"/>
              <a:t>Read Boot block</a:t>
            </a:r>
          </a:p>
        </p:txBody>
      </p:sp>
      <p:sp>
        <p:nvSpPr>
          <p:cNvPr id="3" name="Date Placeholder 2"/>
          <p:cNvSpPr>
            <a:spLocks noGrp="1"/>
          </p:cNvSpPr>
          <p:nvPr>
            <p:ph type="dt" sz="half" idx="10"/>
          </p:nvPr>
        </p:nvSpPr>
        <p:spPr/>
        <p:txBody>
          <a:bodyPr/>
          <a:lstStyle/>
          <a:p>
            <a:r>
              <a:rPr lang="en-US"/>
              <a:t>Vincenzo Gulisano</a:t>
            </a:r>
          </a:p>
        </p:txBody>
      </p:sp>
      <p:sp>
        <p:nvSpPr>
          <p:cNvPr id="12" name="Footer Placeholder 11"/>
          <p:cNvSpPr>
            <a:spLocks noGrp="1"/>
          </p:cNvSpPr>
          <p:nvPr>
            <p:ph type="ftr" sz="quarter" idx="11"/>
          </p:nvPr>
        </p:nvSpPr>
        <p:spPr/>
        <p:txBody>
          <a:bodyPr/>
          <a:lstStyle/>
          <a:p>
            <a:r>
              <a:rPr lang="en-US"/>
              <a:t>Operating Systems - File Systems</a:t>
            </a:r>
          </a:p>
        </p:txBody>
      </p:sp>
      <p:sp>
        <p:nvSpPr>
          <p:cNvPr id="10" name="Slide Number Placeholder 9">
            <a:extLst>
              <a:ext uri="{FF2B5EF4-FFF2-40B4-BE49-F238E27FC236}">
                <a16:creationId xmlns:a16="http://schemas.microsoft.com/office/drawing/2014/main" id="{95CBB18D-D3D1-FA94-6AB8-86116299B3E5}"/>
              </a:ext>
            </a:extLst>
          </p:cNvPr>
          <p:cNvSpPr>
            <a:spLocks noGrp="1"/>
          </p:cNvSpPr>
          <p:nvPr>
            <p:ph type="sldNum" sz="quarter" idx="12"/>
          </p:nvPr>
        </p:nvSpPr>
        <p:spPr/>
        <p:txBody>
          <a:bodyPr/>
          <a:lstStyle/>
          <a:p>
            <a:fld id="{BE0AC437-A1D8-4781-B86C-407FA400F126}" type="slidenum">
              <a:rPr lang="en-US" smtClean="0"/>
              <a:t>23</a:t>
            </a:fld>
            <a:endParaRPr lang="en-US"/>
          </a:p>
        </p:txBody>
      </p:sp>
    </p:spTree>
    <p:extLst>
      <p:ext uri="{BB962C8B-B14F-4D97-AF65-F5344CB8AC3E}">
        <p14:creationId xmlns:p14="http://schemas.microsoft.com/office/powerpoint/2010/main" val="3584296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F4306-6B91-75F1-C00C-FE100C8C5D69}"/>
              </a:ext>
            </a:extLst>
          </p:cNvPr>
          <p:cNvSpPr>
            <a:spLocks noGrp="1"/>
          </p:cNvSpPr>
          <p:nvPr>
            <p:ph type="title"/>
          </p:nvPr>
        </p:nvSpPr>
        <p:spPr/>
        <p:txBody>
          <a:bodyPr/>
          <a:lstStyle/>
          <a:p>
            <a:r>
              <a:rPr lang="en-US" dirty="0"/>
              <a:t>Limitations of MBR</a:t>
            </a:r>
          </a:p>
        </p:txBody>
      </p:sp>
      <p:sp>
        <p:nvSpPr>
          <p:cNvPr id="3" name="Content Placeholder 2">
            <a:extLst>
              <a:ext uri="{FF2B5EF4-FFF2-40B4-BE49-F238E27FC236}">
                <a16:creationId xmlns:a16="http://schemas.microsoft.com/office/drawing/2014/main" id="{14EEC81E-9EC4-6F57-1538-BB275E6AF5A6}"/>
              </a:ext>
            </a:extLst>
          </p:cNvPr>
          <p:cNvSpPr>
            <a:spLocks noGrp="1"/>
          </p:cNvSpPr>
          <p:nvPr>
            <p:ph idx="1"/>
          </p:nvPr>
        </p:nvSpPr>
        <p:spPr/>
        <p:txBody>
          <a:bodyPr/>
          <a:lstStyle/>
          <a:p>
            <a:r>
              <a:rPr lang="en-US" dirty="0"/>
              <a:t>Limited</a:t>
            </a:r>
          </a:p>
          <a:p>
            <a:pPr lvl="1"/>
            <a:r>
              <a:rPr lang="en-US" dirty="0"/>
              <a:t>512 bytes must contain boot code and partition table, so booting often requires loading more code from disk</a:t>
            </a:r>
          </a:p>
          <a:p>
            <a:pPr lvl="1"/>
            <a:r>
              <a:rPr lang="en-US" dirty="0"/>
              <a:t>Only four primary partitions</a:t>
            </a:r>
          </a:p>
          <a:p>
            <a:r>
              <a:rPr lang="en-US" dirty="0"/>
              <a:t>Architecture dependent</a:t>
            </a:r>
          </a:p>
          <a:p>
            <a:pPr lvl="1"/>
            <a:r>
              <a:rPr lang="en-US" dirty="0"/>
              <a:t>Legacy BIOS starts in 16-bit real mode on start up</a:t>
            </a:r>
          </a:p>
          <a:p>
            <a:pPr lvl="2"/>
            <a:r>
              <a:rPr lang="en-US" dirty="0"/>
              <a:t>16-bit registers/instructions (Word size)</a:t>
            </a:r>
          </a:p>
          <a:p>
            <a:pPr lvl="2"/>
            <a:r>
              <a:rPr lang="en-US" dirty="0"/>
              <a:t>No paging</a:t>
            </a:r>
          </a:p>
          <a:p>
            <a:r>
              <a:rPr lang="en-US" dirty="0"/>
              <a:t>Max 2TB</a:t>
            </a:r>
          </a:p>
          <a:p>
            <a:pPr lvl="1"/>
            <a:r>
              <a:rPr lang="en-US" dirty="0"/>
              <a:t>32 bits for start address, 32 for size, sector of 512 bytes</a:t>
            </a:r>
          </a:p>
          <a:p>
            <a:pPr lvl="2"/>
            <a:r>
              <a:rPr lang="en-US" dirty="0"/>
              <a:t>2^32*512*10^-12=2.2 TB</a:t>
            </a:r>
          </a:p>
        </p:txBody>
      </p:sp>
      <p:sp>
        <p:nvSpPr>
          <p:cNvPr id="4" name="Date Placeholder 3">
            <a:extLst>
              <a:ext uri="{FF2B5EF4-FFF2-40B4-BE49-F238E27FC236}">
                <a16:creationId xmlns:a16="http://schemas.microsoft.com/office/drawing/2014/main" id="{6A4672D5-BC66-DC86-0A47-8AB3024AF0E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0980E99D-8D9B-5FF6-7872-5B9FF28081EE}"/>
              </a:ext>
            </a:extLst>
          </p:cNvPr>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435A0713-740A-BB66-7C40-4BA16499A63F}"/>
              </a:ext>
            </a:extLst>
          </p:cNvPr>
          <p:cNvSpPr>
            <a:spLocks noGrp="1"/>
          </p:cNvSpPr>
          <p:nvPr>
            <p:ph type="sldNum" sz="quarter" idx="12"/>
          </p:nvPr>
        </p:nvSpPr>
        <p:spPr/>
        <p:txBody>
          <a:bodyPr/>
          <a:lstStyle/>
          <a:p>
            <a:fld id="{BE0AC437-A1D8-4781-B86C-407FA400F126}" type="slidenum">
              <a:rPr lang="en-US" smtClean="0"/>
              <a:t>24</a:t>
            </a:fld>
            <a:endParaRPr lang="en-US"/>
          </a:p>
        </p:txBody>
      </p:sp>
    </p:spTree>
    <p:extLst>
      <p:ext uri="{BB962C8B-B14F-4D97-AF65-F5344CB8AC3E}">
        <p14:creationId xmlns:p14="http://schemas.microsoft.com/office/powerpoint/2010/main" val="1875832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749F8-5B2D-1A9D-8626-0DF5E822CCD1}"/>
              </a:ext>
            </a:extLst>
          </p:cNvPr>
          <p:cNvSpPr>
            <a:spLocks noGrp="1"/>
          </p:cNvSpPr>
          <p:nvPr>
            <p:ph type="title"/>
          </p:nvPr>
        </p:nvSpPr>
        <p:spPr/>
        <p:txBody>
          <a:bodyPr/>
          <a:lstStyle/>
          <a:p>
            <a:r>
              <a:rPr lang="en-US" dirty="0"/>
              <a:t>Unified Extensible Firmware Interface (UEFI)</a:t>
            </a:r>
          </a:p>
        </p:txBody>
      </p:sp>
      <p:sp>
        <p:nvSpPr>
          <p:cNvPr id="4" name="Date Placeholder 3">
            <a:extLst>
              <a:ext uri="{FF2B5EF4-FFF2-40B4-BE49-F238E27FC236}">
                <a16:creationId xmlns:a16="http://schemas.microsoft.com/office/drawing/2014/main" id="{F2DCAD5B-5F0B-1E63-212F-A698678C9FB3}"/>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FF20259-19B5-961C-4C99-5723B11290D0}"/>
              </a:ext>
            </a:extLst>
          </p:cNvPr>
          <p:cNvSpPr>
            <a:spLocks noGrp="1"/>
          </p:cNvSpPr>
          <p:nvPr>
            <p:ph type="ftr" sz="quarter" idx="11"/>
          </p:nvPr>
        </p:nvSpPr>
        <p:spPr/>
        <p:txBody>
          <a:bodyPr/>
          <a:lstStyle/>
          <a:p>
            <a:r>
              <a:rPr lang="en-US"/>
              <a:t>Operating Systems - File Systems</a:t>
            </a:r>
          </a:p>
        </p:txBody>
      </p:sp>
      <p:pic>
        <p:nvPicPr>
          <p:cNvPr id="7" name="Picture 6" descr="The figure illustrates Layout for UEFI with partition table.&#10;Long description is available in notes, Press F6.">
            <a:extLst>
              <a:ext uri="{FF2B5EF4-FFF2-40B4-BE49-F238E27FC236}">
                <a16:creationId xmlns:a16="http://schemas.microsoft.com/office/drawing/2014/main" id="{FC022386-F45A-2FA3-264C-1FF0D52C0E9F}"/>
              </a:ext>
            </a:extLst>
          </p:cNvPr>
          <p:cNvPicPr>
            <a:picLocks noChangeAspect="1"/>
          </p:cNvPicPr>
          <p:nvPr/>
        </p:nvPicPr>
        <p:blipFill>
          <a:blip r:embed="rId3"/>
          <a:stretch>
            <a:fillRect/>
          </a:stretch>
        </p:blipFill>
        <p:spPr>
          <a:xfrm>
            <a:off x="497913" y="2710837"/>
            <a:ext cx="8148174" cy="1436326"/>
          </a:xfrm>
          <a:prstGeom prst="rect">
            <a:avLst/>
          </a:prstGeom>
        </p:spPr>
      </p:pic>
      <p:sp>
        <p:nvSpPr>
          <p:cNvPr id="8" name="TextBox 7">
            <a:extLst>
              <a:ext uri="{FF2B5EF4-FFF2-40B4-BE49-F238E27FC236}">
                <a16:creationId xmlns:a16="http://schemas.microsoft.com/office/drawing/2014/main" id="{B8F594F3-8797-9F7D-0560-F810A7D3AAB8}"/>
              </a:ext>
            </a:extLst>
          </p:cNvPr>
          <p:cNvSpPr txBox="1"/>
          <p:nvPr/>
        </p:nvSpPr>
        <p:spPr>
          <a:xfrm>
            <a:off x="497913" y="4697759"/>
            <a:ext cx="3792577" cy="369332"/>
          </a:xfrm>
          <a:prstGeom prst="rect">
            <a:avLst/>
          </a:prstGeom>
          <a:noFill/>
        </p:spPr>
        <p:txBody>
          <a:bodyPr wrap="none" rtlCol="0">
            <a:spAutoFit/>
          </a:bodyPr>
          <a:lstStyle/>
          <a:p>
            <a:r>
              <a:rPr lang="en-US" dirty="0"/>
              <a:t>Protective MBR for legacy tools</a:t>
            </a:r>
          </a:p>
        </p:txBody>
      </p:sp>
      <p:cxnSp>
        <p:nvCxnSpPr>
          <p:cNvPr id="10" name="Straight Arrow Connector 9">
            <a:extLst>
              <a:ext uri="{FF2B5EF4-FFF2-40B4-BE49-F238E27FC236}">
                <a16:creationId xmlns:a16="http://schemas.microsoft.com/office/drawing/2014/main" id="{092BECA2-ECD1-285D-010C-2E6F7920DE23}"/>
              </a:ext>
            </a:extLst>
          </p:cNvPr>
          <p:cNvCxnSpPr/>
          <p:nvPr/>
        </p:nvCxnSpPr>
        <p:spPr>
          <a:xfrm flipV="1">
            <a:off x="846161" y="3848669"/>
            <a:ext cx="0" cy="84909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 name="Slide Number Placeholder 2">
            <a:extLst>
              <a:ext uri="{FF2B5EF4-FFF2-40B4-BE49-F238E27FC236}">
                <a16:creationId xmlns:a16="http://schemas.microsoft.com/office/drawing/2014/main" id="{F196700F-AC5D-B629-AF41-2977FBBCBDEE}"/>
              </a:ext>
            </a:extLst>
          </p:cNvPr>
          <p:cNvSpPr>
            <a:spLocks noGrp="1"/>
          </p:cNvSpPr>
          <p:nvPr>
            <p:ph type="sldNum" sz="quarter" idx="12"/>
          </p:nvPr>
        </p:nvSpPr>
        <p:spPr/>
        <p:txBody>
          <a:bodyPr/>
          <a:lstStyle/>
          <a:p>
            <a:fld id="{BE0AC437-A1D8-4781-B86C-407FA400F126}" type="slidenum">
              <a:rPr lang="en-US" smtClean="0"/>
              <a:t>25</a:t>
            </a:fld>
            <a:endParaRPr lang="en-US"/>
          </a:p>
        </p:txBody>
      </p:sp>
    </p:spTree>
    <p:extLst>
      <p:ext uri="{BB962C8B-B14F-4D97-AF65-F5344CB8AC3E}">
        <p14:creationId xmlns:p14="http://schemas.microsoft.com/office/powerpoint/2010/main" val="2523769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6045-FF06-D329-52E2-B12242C8F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FD684-7575-54B0-1764-B174C609114C}"/>
              </a:ext>
            </a:extLst>
          </p:cNvPr>
          <p:cNvSpPr>
            <a:spLocks noGrp="1"/>
          </p:cNvSpPr>
          <p:nvPr>
            <p:ph type="title"/>
          </p:nvPr>
        </p:nvSpPr>
        <p:spPr/>
        <p:txBody>
          <a:bodyPr/>
          <a:lstStyle/>
          <a:p>
            <a:r>
              <a:rPr lang="en-US" dirty="0"/>
              <a:t>Unified Extensible Firmware Interface (UEFI)</a:t>
            </a:r>
          </a:p>
        </p:txBody>
      </p:sp>
      <p:sp>
        <p:nvSpPr>
          <p:cNvPr id="4" name="Date Placeholder 3">
            <a:extLst>
              <a:ext uri="{FF2B5EF4-FFF2-40B4-BE49-F238E27FC236}">
                <a16:creationId xmlns:a16="http://schemas.microsoft.com/office/drawing/2014/main" id="{07E54D83-3F3B-53C6-F5D8-B496BA31184E}"/>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A69E6081-488D-E2F3-EDC9-AF1FB04A2BA2}"/>
              </a:ext>
            </a:extLst>
          </p:cNvPr>
          <p:cNvSpPr>
            <a:spLocks noGrp="1"/>
          </p:cNvSpPr>
          <p:nvPr>
            <p:ph type="ftr" sz="quarter" idx="11"/>
          </p:nvPr>
        </p:nvSpPr>
        <p:spPr/>
        <p:txBody>
          <a:bodyPr/>
          <a:lstStyle/>
          <a:p>
            <a:r>
              <a:rPr lang="en-US"/>
              <a:t>Operating Systems - File Systems</a:t>
            </a:r>
          </a:p>
        </p:txBody>
      </p:sp>
      <p:pic>
        <p:nvPicPr>
          <p:cNvPr id="7" name="Picture 6" descr="The figure illustrates Layout for UEFI with partition table.&#10;Long description is available in notes, Press F6.">
            <a:extLst>
              <a:ext uri="{FF2B5EF4-FFF2-40B4-BE49-F238E27FC236}">
                <a16:creationId xmlns:a16="http://schemas.microsoft.com/office/drawing/2014/main" id="{278BF50C-B999-00B9-7FEC-AADDB607CB8D}"/>
              </a:ext>
            </a:extLst>
          </p:cNvPr>
          <p:cNvPicPr>
            <a:picLocks noChangeAspect="1"/>
          </p:cNvPicPr>
          <p:nvPr/>
        </p:nvPicPr>
        <p:blipFill>
          <a:blip r:embed="rId3"/>
          <a:stretch>
            <a:fillRect/>
          </a:stretch>
        </p:blipFill>
        <p:spPr>
          <a:xfrm>
            <a:off x="497913" y="2710837"/>
            <a:ext cx="8148174" cy="1436326"/>
          </a:xfrm>
          <a:prstGeom prst="rect">
            <a:avLst/>
          </a:prstGeom>
        </p:spPr>
      </p:pic>
      <p:sp>
        <p:nvSpPr>
          <p:cNvPr id="8" name="TextBox 7">
            <a:extLst>
              <a:ext uri="{FF2B5EF4-FFF2-40B4-BE49-F238E27FC236}">
                <a16:creationId xmlns:a16="http://schemas.microsoft.com/office/drawing/2014/main" id="{71108096-F6EE-BD56-2898-C85EAA86FDD4}"/>
              </a:ext>
            </a:extLst>
          </p:cNvPr>
          <p:cNvSpPr txBox="1"/>
          <p:nvPr/>
        </p:nvSpPr>
        <p:spPr>
          <a:xfrm>
            <a:off x="1889362" y="5190835"/>
            <a:ext cx="5198859" cy="646331"/>
          </a:xfrm>
          <a:prstGeom prst="rect">
            <a:avLst/>
          </a:prstGeom>
          <a:noFill/>
        </p:spPr>
        <p:txBody>
          <a:bodyPr wrap="none" rtlCol="0">
            <a:spAutoFit/>
          </a:bodyPr>
          <a:lstStyle/>
          <a:p>
            <a:r>
              <a:rPr lang="en-US" dirty="0"/>
              <a:t>GUID Partition Table</a:t>
            </a:r>
          </a:p>
          <a:p>
            <a:r>
              <a:rPr lang="en-US" dirty="0"/>
              <a:t>GUID stands for Globally Unique Identifier</a:t>
            </a:r>
          </a:p>
        </p:txBody>
      </p:sp>
      <p:cxnSp>
        <p:nvCxnSpPr>
          <p:cNvPr id="10" name="Straight Arrow Connector 9">
            <a:extLst>
              <a:ext uri="{FF2B5EF4-FFF2-40B4-BE49-F238E27FC236}">
                <a16:creationId xmlns:a16="http://schemas.microsoft.com/office/drawing/2014/main" id="{C7D777FD-B08D-7FD9-1E0A-34B38479F2D2}"/>
              </a:ext>
            </a:extLst>
          </p:cNvPr>
          <p:cNvCxnSpPr/>
          <p:nvPr/>
        </p:nvCxnSpPr>
        <p:spPr>
          <a:xfrm flipV="1">
            <a:off x="2767936" y="4244454"/>
            <a:ext cx="0" cy="84909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 name="Slide Number Placeholder 2">
            <a:extLst>
              <a:ext uri="{FF2B5EF4-FFF2-40B4-BE49-F238E27FC236}">
                <a16:creationId xmlns:a16="http://schemas.microsoft.com/office/drawing/2014/main" id="{A49F80CF-C5F0-321C-64B6-EF5B06CB16F8}"/>
              </a:ext>
            </a:extLst>
          </p:cNvPr>
          <p:cNvSpPr>
            <a:spLocks noGrp="1"/>
          </p:cNvSpPr>
          <p:nvPr>
            <p:ph type="sldNum" sz="quarter" idx="12"/>
          </p:nvPr>
        </p:nvSpPr>
        <p:spPr/>
        <p:txBody>
          <a:bodyPr/>
          <a:lstStyle/>
          <a:p>
            <a:fld id="{BE0AC437-A1D8-4781-B86C-407FA400F126}" type="slidenum">
              <a:rPr lang="en-US" smtClean="0"/>
              <a:t>26</a:t>
            </a:fld>
            <a:endParaRPr lang="en-US"/>
          </a:p>
        </p:txBody>
      </p:sp>
    </p:spTree>
    <p:extLst>
      <p:ext uri="{BB962C8B-B14F-4D97-AF65-F5344CB8AC3E}">
        <p14:creationId xmlns:p14="http://schemas.microsoft.com/office/powerpoint/2010/main" val="4221043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C975-5850-3F87-B0E4-CD29BFFE1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4F274-6A4E-D66A-8867-9B487D2173A5}"/>
              </a:ext>
            </a:extLst>
          </p:cNvPr>
          <p:cNvSpPr>
            <a:spLocks noGrp="1"/>
          </p:cNvSpPr>
          <p:nvPr>
            <p:ph type="title"/>
          </p:nvPr>
        </p:nvSpPr>
        <p:spPr/>
        <p:txBody>
          <a:bodyPr/>
          <a:lstStyle/>
          <a:p>
            <a:r>
              <a:rPr lang="en-US" dirty="0"/>
              <a:t>Unified Extensible Firmware Interface (UEFI)</a:t>
            </a:r>
          </a:p>
        </p:txBody>
      </p:sp>
      <p:sp>
        <p:nvSpPr>
          <p:cNvPr id="4" name="Date Placeholder 3">
            <a:extLst>
              <a:ext uri="{FF2B5EF4-FFF2-40B4-BE49-F238E27FC236}">
                <a16:creationId xmlns:a16="http://schemas.microsoft.com/office/drawing/2014/main" id="{3FBBB45D-8267-260F-E176-FC7B6DD69E45}"/>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BA434E2A-DF0C-281C-A2D1-F0AAFC09A716}"/>
              </a:ext>
            </a:extLst>
          </p:cNvPr>
          <p:cNvSpPr>
            <a:spLocks noGrp="1"/>
          </p:cNvSpPr>
          <p:nvPr>
            <p:ph type="ftr" sz="quarter" idx="11"/>
          </p:nvPr>
        </p:nvSpPr>
        <p:spPr/>
        <p:txBody>
          <a:bodyPr/>
          <a:lstStyle/>
          <a:p>
            <a:r>
              <a:rPr lang="en-US"/>
              <a:t>Operating Systems - File Systems</a:t>
            </a:r>
          </a:p>
        </p:txBody>
      </p:sp>
      <p:pic>
        <p:nvPicPr>
          <p:cNvPr id="7" name="Picture 6" descr="The figure illustrates Layout for UEFI with partition table.&#10;Long description is available in notes, Press F6.">
            <a:extLst>
              <a:ext uri="{FF2B5EF4-FFF2-40B4-BE49-F238E27FC236}">
                <a16:creationId xmlns:a16="http://schemas.microsoft.com/office/drawing/2014/main" id="{AEA4785F-C228-4495-0164-46C712F0B909}"/>
              </a:ext>
            </a:extLst>
          </p:cNvPr>
          <p:cNvPicPr>
            <a:picLocks noChangeAspect="1"/>
          </p:cNvPicPr>
          <p:nvPr/>
        </p:nvPicPr>
        <p:blipFill>
          <a:blip r:embed="rId3"/>
          <a:stretch>
            <a:fillRect/>
          </a:stretch>
        </p:blipFill>
        <p:spPr>
          <a:xfrm>
            <a:off x="497913" y="2710837"/>
            <a:ext cx="8148174" cy="1436326"/>
          </a:xfrm>
          <a:prstGeom prst="rect">
            <a:avLst/>
          </a:prstGeom>
        </p:spPr>
      </p:pic>
      <p:cxnSp>
        <p:nvCxnSpPr>
          <p:cNvPr id="10" name="Straight Arrow Connector 9">
            <a:extLst>
              <a:ext uri="{FF2B5EF4-FFF2-40B4-BE49-F238E27FC236}">
                <a16:creationId xmlns:a16="http://schemas.microsoft.com/office/drawing/2014/main" id="{E9495F8A-56BD-C8BD-E4CF-A75736CFA57B}"/>
              </a:ext>
            </a:extLst>
          </p:cNvPr>
          <p:cNvCxnSpPr/>
          <p:nvPr/>
        </p:nvCxnSpPr>
        <p:spPr>
          <a:xfrm flipV="1">
            <a:off x="7558301" y="4220930"/>
            <a:ext cx="0" cy="84909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 name="Slide Number Placeholder 2">
            <a:extLst>
              <a:ext uri="{FF2B5EF4-FFF2-40B4-BE49-F238E27FC236}">
                <a16:creationId xmlns:a16="http://schemas.microsoft.com/office/drawing/2014/main" id="{534F36A8-1809-F2D1-4575-695D94B9EA92}"/>
              </a:ext>
            </a:extLst>
          </p:cNvPr>
          <p:cNvSpPr>
            <a:spLocks noGrp="1"/>
          </p:cNvSpPr>
          <p:nvPr>
            <p:ph type="sldNum" sz="quarter" idx="12"/>
          </p:nvPr>
        </p:nvSpPr>
        <p:spPr/>
        <p:txBody>
          <a:bodyPr/>
          <a:lstStyle/>
          <a:p>
            <a:fld id="{BE0AC437-A1D8-4781-B86C-407FA400F126}" type="slidenum">
              <a:rPr lang="en-US" smtClean="0"/>
              <a:t>27</a:t>
            </a:fld>
            <a:endParaRPr lang="en-US"/>
          </a:p>
        </p:txBody>
      </p:sp>
    </p:spTree>
    <p:extLst>
      <p:ext uri="{BB962C8B-B14F-4D97-AF65-F5344CB8AC3E}">
        <p14:creationId xmlns:p14="http://schemas.microsoft.com/office/powerpoint/2010/main" val="113069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5CE-E31E-98F8-26A3-E1F1A948E57B}"/>
              </a:ext>
            </a:extLst>
          </p:cNvPr>
          <p:cNvSpPr>
            <a:spLocks noGrp="1"/>
          </p:cNvSpPr>
          <p:nvPr>
            <p:ph type="title"/>
          </p:nvPr>
        </p:nvSpPr>
        <p:spPr/>
        <p:txBody>
          <a:bodyPr/>
          <a:lstStyle/>
          <a:p>
            <a:r>
              <a:rPr lang="en-US" dirty="0"/>
              <a:t>Unified Extensible Firmware Interface (UEFI)</a:t>
            </a:r>
          </a:p>
        </p:txBody>
      </p:sp>
      <p:sp>
        <p:nvSpPr>
          <p:cNvPr id="3" name="Content Placeholder 2">
            <a:extLst>
              <a:ext uri="{FF2B5EF4-FFF2-40B4-BE49-F238E27FC236}">
                <a16:creationId xmlns:a16="http://schemas.microsoft.com/office/drawing/2014/main" id="{9A5EA9DE-E6C6-F792-C250-7DE1E28FB50D}"/>
              </a:ext>
            </a:extLst>
          </p:cNvPr>
          <p:cNvSpPr>
            <a:spLocks noGrp="1"/>
          </p:cNvSpPr>
          <p:nvPr>
            <p:ph idx="1"/>
          </p:nvPr>
        </p:nvSpPr>
        <p:spPr/>
        <p:txBody>
          <a:bodyPr/>
          <a:lstStyle/>
          <a:p>
            <a:r>
              <a:rPr lang="en-US" dirty="0"/>
              <a:t>UEFI firmware is powerful enough to read a specific partition, called EFI System Partition (ESP)</a:t>
            </a:r>
          </a:p>
          <a:p>
            <a:pPr lvl="1"/>
            <a:r>
              <a:rPr lang="en-US" dirty="0"/>
              <a:t>It is one partition on the disk</a:t>
            </a:r>
          </a:p>
          <a:p>
            <a:r>
              <a:rPr lang="en-US" dirty="0"/>
              <a:t>This is a proper file system with programs, configuration files</a:t>
            </a:r>
          </a:p>
          <a:p>
            <a:r>
              <a:rPr lang="en-US" dirty="0"/>
              <a:t>Can load and execute programs in a specific format (PE/COFF executables, usually with the .</a:t>
            </a:r>
            <a:r>
              <a:rPr lang="en-US" dirty="0" err="1"/>
              <a:t>efi</a:t>
            </a:r>
            <a:r>
              <a:rPr lang="en-US" dirty="0"/>
              <a:t> extension).</a:t>
            </a:r>
          </a:p>
          <a:p>
            <a:endParaRPr lang="en-US" dirty="0"/>
          </a:p>
        </p:txBody>
      </p:sp>
      <p:sp>
        <p:nvSpPr>
          <p:cNvPr id="4" name="Date Placeholder 3">
            <a:extLst>
              <a:ext uri="{FF2B5EF4-FFF2-40B4-BE49-F238E27FC236}">
                <a16:creationId xmlns:a16="http://schemas.microsoft.com/office/drawing/2014/main" id="{0BCAD158-9AB3-8100-E9E5-FFD1404EC313}"/>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0B1520E9-3EA3-5671-2819-1E675ED421E3}"/>
              </a:ext>
            </a:extLst>
          </p:cNvPr>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4548AD0A-C5F1-BFA1-71C6-E9EBB4A4F59F}"/>
              </a:ext>
            </a:extLst>
          </p:cNvPr>
          <p:cNvSpPr>
            <a:spLocks noGrp="1"/>
          </p:cNvSpPr>
          <p:nvPr>
            <p:ph type="sldNum" sz="quarter" idx="12"/>
          </p:nvPr>
        </p:nvSpPr>
        <p:spPr/>
        <p:txBody>
          <a:bodyPr/>
          <a:lstStyle/>
          <a:p>
            <a:fld id="{BE0AC437-A1D8-4781-B86C-407FA400F126}" type="slidenum">
              <a:rPr lang="en-US" smtClean="0"/>
              <a:t>28</a:t>
            </a:fld>
            <a:endParaRPr lang="en-US"/>
          </a:p>
        </p:txBody>
      </p:sp>
    </p:spTree>
    <p:extLst>
      <p:ext uri="{BB962C8B-B14F-4D97-AF65-F5344CB8AC3E}">
        <p14:creationId xmlns:p14="http://schemas.microsoft.com/office/powerpoint/2010/main" val="2195199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742D3-A741-AF74-1BB4-18C963E46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BB100-2886-8CA0-76D6-899D20506F7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ECDB844D-FBA7-194B-29BD-5C88A93B3008}"/>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solidFill>
                  <a:schemeClr val="bg2">
                    <a:lumMod val="90000"/>
                  </a:schemeClr>
                </a:solidFill>
              </a:rPr>
              <a:t>Access methods</a:t>
            </a:r>
          </a:p>
          <a:p>
            <a:r>
              <a:rPr lang="en-US" dirty="0">
                <a:solidFill>
                  <a:schemeClr val="bg2">
                    <a:lumMod val="90000"/>
                  </a:schemeClr>
                </a:solidFill>
              </a:rPr>
              <a:t>Disk structure</a:t>
            </a:r>
          </a:p>
          <a:p>
            <a:r>
              <a:rPr lang="en-US" dirty="0"/>
              <a:t>Directory structure [Self-study]</a:t>
            </a:r>
          </a:p>
          <a:p>
            <a:r>
              <a:rPr lang="en-US" dirty="0">
                <a:solidFill>
                  <a:schemeClr val="bg2">
                    <a:lumMod val="90000"/>
                  </a:schemeClr>
                </a:solidFill>
              </a:rPr>
              <a:t>File system structure</a:t>
            </a:r>
          </a:p>
          <a:p>
            <a:r>
              <a:rPr lang="en-US" dirty="0">
                <a:solidFill>
                  <a:schemeClr val="bg2">
                    <a:lumMod val="90000"/>
                  </a:schemeClr>
                </a:solidFill>
              </a:rPr>
              <a:t>Allocation methods</a:t>
            </a:r>
          </a:p>
          <a:p>
            <a:r>
              <a:rPr lang="en-US" dirty="0">
                <a:solidFill>
                  <a:schemeClr val="bg2">
                    <a:lumMod val="90000"/>
                  </a:schemeClr>
                </a:solidFill>
              </a:rPr>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3F1D7F89-A1FC-3ED8-64FC-BFEC68B74F55}"/>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0E0A9C9E-4CF7-C42F-2767-C2293E3AC320}"/>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B7F89663-F5C8-9BD9-CD1D-5AC671DDEB7B}"/>
              </a:ext>
            </a:extLst>
          </p:cNvPr>
          <p:cNvSpPr>
            <a:spLocks noGrp="1"/>
          </p:cNvSpPr>
          <p:nvPr>
            <p:ph type="sldNum" sz="quarter" idx="12"/>
          </p:nvPr>
        </p:nvSpPr>
        <p:spPr/>
        <p:txBody>
          <a:bodyPr/>
          <a:lstStyle/>
          <a:p>
            <a:fld id="{BE0AC437-A1D8-4781-B86C-407FA400F126}" type="slidenum">
              <a:rPr lang="en-US" smtClean="0"/>
              <a:t>29</a:t>
            </a:fld>
            <a:endParaRPr lang="en-US"/>
          </a:p>
        </p:txBody>
      </p:sp>
    </p:spTree>
    <p:extLst>
      <p:ext uri="{BB962C8B-B14F-4D97-AF65-F5344CB8AC3E}">
        <p14:creationId xmlns:p14="http://schemas.microsoft.com/office/powerpoint/2010/main" val="335060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39428" y="365126"/>
            <a:ext cx="7375922" cy="1325563"/>
          </a:xfrm>
        </p:spPr>
        <p:txBody>
          <a:bodyPr/>
          <a:lstStyle/>
          <a:p>
            <a:r>
              <a:rPr lang="en-US" altLang="en-US" dirty="0"/>
              <a:t>What should directories allow us to do?</a:t>
            </a:r>
          </a:p>
        </p:txBody>
      </p:sp>
      <p:sp>
        <p:nvSpPr>
          <p:cNvPr id="25603" name="Rectangle 3"/>
          <p:cNvSpPr>
            <a:spLocks noGrp="1" noChangeArrowheads="1"/>
          </p:cNvSpPr>
          <p:nvPr>
            <p:ph idx="1"/>
          </p:nvPr>
        </p:nvSpPr>
        <p:spPr>
          <a:xfrm>
            <a:off x="628650" y="1690686"/>
            <a:ext cx="7886700" cy="3282333"/>
          </a:xfrm>
        </p:spPr>
        <p:txBody>
          <a:bodyPr>
            <a:normAutofit fontScale="70000" lnSpcReduction="20000"/>
          </a:bodyPr>
          <a:lstStyle/>
          <a:p>
            <a:r>
              <a:rPr lang="en-US" altLang="en-US" sz="3100" dirty="0"/>
              <a:t>Search for a file (</a:t>
            </a:r>
            <a:r>
              <a:rPr lang="en-US" altLang="en-US" sz="2300" dirty="0"/>
              <a:t>or search all the files with a given extension)</a:t>
            </a:r>
          </a:p>
          <a:p>
            <a:r>
              <a:rPr lang="en-US" altLang="en-US" sz="3100" dirty="0"/>
              <a:t>Create a file</a:t>
            </a:r>
          </a:p>
          <a:p>
            <a:r>
              <a:rPr lang="en-US" altLang="en-US" sz="3100" dirty="0"/>
              <a:t>Delete a file</a:t>
            </a:r>
          </a:p>
          <a:p>
            <a:r>
              <a:rPr lang="en-US" altLang="en-US" sz="3100" dirty="0"/>
              <a:t>List a directory</a:t>
            </a:r>
          </a:p>
          <a:p>
            <a:r>
              <a:rPr lang="en-US" altLang="en-US" sz="3100" dirty="0"/>
              <a:t>Rename a file</a:t>
            </a:r>
          </a:p>
          <a:p>
            <a:r>
              <a:rPr lang="en-US" altLang="en-US" sz="3100" dirty="0"/>
              <a:t>Traverse the file system</a:t>
            </a:r>
          </a:p>
          <a:p>
            <a:r>
              <a:rPr lang="en-US" altLang="en-US" sz="3100" dirty="0"/>
              <a:t>Locate a file quickly</a:t>
            </a:r>
          </a:p>
          <a:p>
            <a:r>
              <a:rPr lang="en-US" altLang="en-US" sz="3100" dirty="0"/>
              <a:t>Provide convenient naming (</a:t>
            </a:r>
            <a:r>
              <a:rPr lang="en-US" altLang="en-US" dirty="0"/>
              <a:t>Two users can have same name for different files)</a:t>
            </a:r>
          </a:p>
          <a:p>
            <a:r>
              <a:rPr lang="en-US" altLang="en-US" sz="3100" dirty="0"/>
              <a:t>logical grouping of files by properties, (e.g., all Java programs, all games, …)</a:t>
            </a:r>
          </a:p>
          <a:p>
            <a:pPr marL="0" indent="0">
              <a:buNone/>
            </a:pPr>
            <a:endParaRPr lang="en-US" altLang="en-US" sz="3100" dirty="0"/>
          </a:p>
          <a:p>
            <a:pPr lvl="1"/>
            <a:endParaRPr lang="en-US" altLang="en-US" dirty="0"/>
          </a:p>
          <a:p>
            <a:endParaRPr lang="en-US" altLang="en-US" sz="3100" dirty="0"/>
          </a:p>
        </p:txBody>
      </p:sp>
      <p:sp>
        <p:nvSpPr>
          <p:cNvPr id="2" name="Date Placeholder 1"/>
          <p:cNvSpPr>
            <a:spLocks noGrp="1"/>
          </p:cNvSpPr>
          <p:nvPr>
            <p:ph type="dt" sz="half" idx="10"/>
          </p:nvPr>
        </p:nvSpPr>
        <p:spPr/>
        <p:txBody>
          <a:bodyPr/>
          <a:lstStyle/>
          <a:p>
            <a:r>
              <a:rPr lang="en-US"/>
              <a:t>Vincenzo Gulisano</a:t>
            </a:r>
          </a:p>
        </p:txBody>
      </p:sp>
      <p:sp>
        <p:nvSpPr>
          <p:cNvPr id="11" name="Footer Placeholder 10"/>
          <p:cNvSpPr>
            <a:spLocks noGrp="1"/>
          </p:cNvSpPr>
          <p:nvPr>
            <p:ph type="ftr" sz="quarter" idx="11"/>
          </p:nvPr>
        </p:nvSpPr>
        <p:spPr/>
        <p:txBody>
          <a:bodyPr/>
          <a:lstStyle/>
          <a:p>
            <a:r>
              <a:rPr lang="en-US"/>
              <a:t>Operating Systems - File Systems</a:t>
            </a:r>
          </a:p>
        </p:txBody>
      </p:sp>
      <p:pic>
        <p:nvPicPr>
          <p:cNvPr id="7" name="Picture 6"/>
          <p:cNvPicPr>
            <a:picLocks noChangeAspect="1"/>
          </p:cNvPicPr>
          <p:nvPr/>
        </p:nvPicPr>
        <p:blipFill>
          <a:blip r:embed="rId3"/>
          <a:stretch>
            <a:fillRect/>
          </a:stretch>
        </p:blipFill>
        <p:spPr>
          <a:xfrm>
            <a:off x="117871" y="517128"/>
            <a:ext cx="1021557" cy="1021557"/>
          </a:xfrm>
          <a:prstGeom prst="rect">
            <a:avLst/>
          </a:prstGeom>
        </p:spPr>
      </p:pic>
      <p:grpSp>
        <p:nvGrpSpPr>
          <p:cNvPr id="5" name="Group 4"/>
          <p:cNvGrpSpPr/>
          <p:nvPr/>
        </p:nvGrpSpPr>
        <p:grpSpPr>
          <a:xfrm>
            <a:off x="2458163" y="4742787"/>
            <a:ext cx="5754503" cy="1406946"/>
            <a:chOff x="2458163" y="4742787"/>
            <a:chExt cx="5754503" cy="1406946"/>
          </a:xfrm>
        </p:grpSpPr>
        <p:grpSp>
          <p:nvGrpSpPr>
            <p:cNvPr id="8" name="Group 7"/>
            <p:cNvGrpSpPr/>
            <p:nvPr/>
          </p:nvGrpSpPr>
          <p:grpSpPr>
            <a:xfrm>
              <a:off x="2458163" y="4971540"/>
              <a:ext cx="879819" cy="1178193"/>
              <a:chOff x="1295399" y="1828800"/>
              <a:chExt cx="3056187" cy="4092635"/>
            </a:xfrm>
          </p:grpSpPr>
          <p:pic>
            <p:nvPicPr>
              <p:cNvPr id="9" name="Picture 8" descr="http://4.bp.blogspot.com/-Kc_jYOMfj-g/UCakbvK3gyI/AAAAAAAAGTo/8Fa5sfZjQkI/s1600/coperta_corta.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a:solidFill>
                      <a:srgbClr val="FFFFFF"/>
                    </a:solidFill>
                  </a14:hiddenFill>
                </a:ext>
              </a:extLst>
            </p:spPr>
          </p:pic>
          <p:sp>
            <p:nvSpPr>
              <p:cNvPr id="10" name="Up Arrow 9"/>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2" name="Up Arrow 11"/>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3" name="Rectangle 2"/>
            <p:cNvSpPr/>
            <p:nvPr/>
          </p:nvSpPr>
          <p:spPr>
            <a:xfrm>
              <a:off x="3640666" y="4742787"/>
              <a:ext cx="4572000" cy="1200329"/>
            </a:xfrm>
            <a:prstGeom prst="rect">
              <a:avLst/>
            </a:prstGeom>
          </p:spPr>
          <p:txBody>
            <a:bodyPr>
              <a:spAutoFit/>
            </a:bodyPr>
            <a:lstStyle/>
            <a:p>
              <a:endParaRPr lang="en-US" altLang="en-US" dirty="0"/>
            </a:p>
            <a:p>
              <a:pPr marL="0" indent="0">
                <a:buNone/>
              </a:pPr>
              <a:r>
                <a:rPr lang="en-US" altLang="en-US" dirty="0"/>
                <a:t>The following is a list of common schemes for the </a:t>
              </a:r>
              <a:r>
                <a:rPr lang="en-US" altLang="en-US" u="sng" dirty="0"/>
                <a:t>logical structure</a:t>
              </a:r>
              <a:r>
                <a:rPr lang="en-US" altLang="en-US" dirty="0"/>
                <a:t> of a directory</a:t>
              </a:r>
            </a:p>
          </p:txBody>
        </p:sp>
      </p:grpSp>
      <p:sp>
        <p:nvSpPr>
          <p:cNvPr id="6" name="Slide Number Placeholder 5">
            <a:extLst>
              <a:ext uri="{FF2B5EF4-FFF2-40B4-BE49-F238E27FC236}">
                <a16:creationId xmlns:a16="http://schemas.microsoft.com/office/drawing/2014/main" id="{2201AA09-0E63-6894-F9B9-D024553F8366}"/>
              </a:ext>
            </a:extLst>
          </p:cNvPr>
          <p:cNvSpPr>
            <a:spLocks noGrp="1"/>
          </p:cNvSpPr>
          <p:nvPr>
            <p:ph type="sldNum" sz="quarter" idx="12"/>
          </p:nvPr>
        </p:nvSpPr>
        <p:spPr/>
        <p:txBody>
          <a:bodyPr/>
          <a:lstStyle/>
          <a:p>
            <a:fld id="{BE0AC437-A1D8-4781-B86C-407FA400F126}" type="slidenum">
              <a:rPr lang="en-US" smtClean="0"/>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6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60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t>Single-Level Directory</a:t>
            </a:r>
            <a:endParaRPr lang="en-US" altLang="en-US" sz="2400"/>
          </a:p>
        </p:txBody>
      </p:sp>
      <p:sp>
        <p:nvSpPr>
          <p:cNvPr id="27651" name="Rectangle 3"/>
          <p:cNvSpPr>
            <a:spLocks noGrp="1" noChangeArrowheads="1"/>
          </p:cNvSpPr>
          <p:nvPr>
            <p:ph idx="1"/>
          </p:nvPr>
        </p:nvSpPr>
        <p:spPr>
          <a:xfrm>
            <a:off x="771525" y="1482725"/>
            <a:ext cx="7029450" cy="561975"/>
          </a:xfrm>
        </p:spPr>
        <p:txBody>
          <a:bodyPr/>
          <a:lstStyle/>
          <a:p>
            <a:r>
              <a:rPr lang="en-US" altLang="en-US"/>
              <a:t>A single directory for all users</a:t>
            </a:r>
          </a:p>
        </p:txBody>
      </p:sp>
      <p:pic>
        <p:nvPicPr>
          <p:cNvPr id="2765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100263"/>
            <a:ext cx="7077075"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10" name="Plus 9"/>
          <p:cNvSpPr/>
          <p:nvPr/>
        </p:nvSpPr>
        <p:spPr>
          <a:xfrm>
            <a:off x="2474179" y="4480909"/>
            <a:ext cx="722241" cy="722241"/>
          </a:xfrm>
          <a:prstGeom prst="mathPlus">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TextBox 10"/>
          <p:cNvSpPr txBox="1"/>
          <p:nvPr/>
        </p:nvSpPr>
        <p:spPr>
          <a:xfrm>
            <a:off x="3388579" y="4549642"/>
            <a:ext cx="4589562"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Simple (good for small devices)</a:t>
            </a:r>
          </a:p>
          <a:p>
            <a:pPr marL="285750" indent="-285750">
              <a:buFont typeface="Arial" panose="020B0604020202020204" pitchFamily="34" charset="0"/>
              <a:buChar char="•"/>
            </a:pPr>
            <a:r>
              <a:rPr lang="en-US" sz="1600" dirty="0"/>
              <a:t>Easy to locate files</a:t>
            </a:r>
          </a:p>
        </p:txBody>
      </p:sp>
      <p:sp>
        <p:nvSpPr>
          <p:cNvPr id="12" name="Minus 11"/>
          <p:cNvSpPr/>
          <p:nvPr/>
        </p:nvSpPr>
        <p:spPr>
          <a:xfrm>
            <a:off x="2474179" y="5404239"/>
            <a:ext cx="722241" cy="722241"/>
          </a:xfrm>
          <a:prstGeom prst="mathMinus">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TextBox 12"/>
          <p:cNvSpPr txBox="1"/>
          <p:nvPr/>
        </p:nvSpPr>
        <p:spPr>
          <a:xfrm>
            <a:off x="3388579" y="5596082"/>
            <a:ext cx="5755421"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t>Different users / same file name?</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34FBD7FB-21A4-613C-720A-CBDB9356200B}"/>
              </a:ext>
            </a:extLst>
          </p:cNvPr>
          <p:cNvSpPr>
            <a:spLocks noGrp="1"/>
          </p:cNvSpPr>
          <p:nvPr>
            <p:ph type="sldNum" sz="quarter" idx="12"/>
          </p:nvPr>
        </p:nvSpPr>
        <p:spPr/>
        <p:txBody>
          <a:bodyPr/>
          <a:lstStyle/>
          <a:p>
            <a:fld id="{BE0AC437-A1D8-4781-B86C-407FA400F126}" type="slidenum">
              <a:rPr lang="en-US" smtClean="0"/>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a:t>Two-Level Directory</a:t>
            </a:r>
            <a:endParaRPr lang="en-US" altLang="en-US" sz="2400"/>
          </a:p>
        </p:txBody>
      </p:sp>
      <p:sp>
        <p:nvSpPr>
          <p:cNvPr id="28675" name="Rectangle 3"/>
          <p:cNvSpPr>
            <a:spLocks noGrp="1" noChangeArrowheads="1"/>
          </p:cNvSpPr>
          <p:nvPr>
            <p:ph idx="1"/>
          </p:nvPr>
        </p:nvSpPr>
        <p:spPr>
          <a:xfrm>
            <a:off x="806450" y="1233488"/>
            <a:ext cx="7869238" cy="555625"/>
          </a:xfrm>
        </p:spPr>
        <p:txBody>
          <a:bodyPr/>
          <a:lstStyle/>
          <a:p>
            <a:r>
              <a:rPr lang="en-US" altLang="en-US"/>
              <a:t>Separate directory for each user</a:t>
            </a:r>
          </a:p>
        </p:txBody>
      </p:sp>
      <p:pic>
        <p:nvPicPr>
          <p:cNvPr id="2867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688" y="1887538"/>
            <a:ext cx="7102475" cy="242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9" name="Plus 8"/>
          <p:cNvSpPr/>
          <p:nvPr/>
        </p:nvSpPr>
        <p:spPr>
          <a:xfrm>
            <a:off x="2474179" y="4480909"/>
            <a:ext cx="722241" cy="722241"/>
          </a:xfrm>
          <a:prstGeom prst="mathPlus">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p:cNvSpPr txBox="1"/>
          <p:nvPr/>
        </p:nvSpPr>
        <p:spPr>
          <a:xfrm>
            <a:off x="3388579" y="4549642"/>
            <a:ext cx="4589562"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Same file for different users</a:t>
            </a:r>
          </a:p>
          <a:p>
            <a:pPr marL="285750" indent="-285750">
              <a:buFont typeface="Arial" panose="020B0604020202020204" pitchFamily="34" charset="0"/>
              <a:buChar char="•"/>
            </a:pPr>
            <a:r>
              <a:rPr lang="en-US" sz="1600" dirty="0"/>
              <a:t>Better searching </a:t>
            </a:r>
          </a:p>
        </p:txBody>
      </p:sp>
      <p:sp>
        <p:nvSpPr>
          <p:cNvPr id="11" name="Minus 10"/>
          <p:cNvSpPr/>
          <p:nvPr/>
        </p:nvSpPr>
        <p:spPr>
          <a:xfrm>
            <a:off x="2474179" y="5600530"/>
            <a:ext cx="722241" cy="722241"/>
          </a:xfrm>
          <a:prstGeom prst="mathMinus">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TextBox 11"/>
          <p:cNvSpPr txBox="1"/>
          <p:nvPr/>
        </p:nvSpPr>
        <p:spPr>
          <a:xfrm>
            <a:off x="3388579" y="5423041"/>
            <a:ext cx="5755421"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Will require a sort of login</a:t>
            </a:r>
          </a:p>
          <a:p>
            <a:pPr marL="285750" indent="-285750">
              <a:buFont typeface="Arial" panose="020B0604020202020204" pitchFamily="34" charset="0"/>
              <a:buChar char="•"/>
            </a:pPr>
            <a:r>
              <a:rPr lang="en-US" sz="1600" dirty="0"/>
              <a:t>Not convenient for large number of files</a:t>
            </a:r>
          </a:p>
          <a:p>
            <a:pPr marL="285750" indent="-285750">
              <a:buFont typeface="Arial" panose="020B0604020202020204" pitchFamily="34" charset="0"/>
              <a:buChar char="•"/>
            </a:pPr>
            <a:r>
              <a:rPr lang="en-US" sz="1600" dirty="0"/>
              <a:t>Will require a path name (the file name is not enough to access it)</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796E9337-2A50-CB82-926A-EA78552EB3C9}"/>
              </a:ext>
            </a:extLst>
          </p:cNvPr>
          <p:cNvSpPr>
            <a:spLocks noGrp="1"/>
          </p:cNvSpPr>
          <p:nvPr>
            <p:ph type="sldNum" sz="quarter" idx="12"/>
          </p:nvPr>
        </p:nvSpPr>
        <p:spPr/>
        <p:txBody>
          <a:bodyPr/>
          <a:lstStyle/>
          <a:p>
            <a:fld id="{BE0AC437-A1D8-4781-B86C-407FA400F126}" type="slidenum">
              <a:rPr lang="en-US" smtClean="0"/>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a:t>Tree-Structured Directories</a:t>
            </a:r>
          </a:p>
        </p:txBody>
      </p:sp>
      <p:pic>
        <p:nvPicPr>
          <p:cNvPr id="2969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7741" y="1401129"/>
            <a:ext cx="4826000" cy="307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7" name="Plus 6"/>
          <p:cNvSpPr/>
          <p:nvPr/>
        </p:nvSpPr>
        <p:spPr>
          <a:xfrm>
            <a:off x="1586448" y="4468148"/>
            <a:ext cx="722241" cy="722241"/>
          </a:xfrm>
          <a:prstGeom prst="mathPlus">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TextBox 7"/>
          <p:cNvSpPr txBox="1"/>
          <p:nvPr/>
        </p:nvSpPr>
        <p:spPr>
          <a:xfrm>
            <a:off x="2500848" y="4536881"/>
            <a:ext cx="4589562"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Users decide how to organize their data</a:t>
            </a:r>
          </a:p>
          <a:p>
            <a:pPr marL="285750" indent="-285750">
              <a:buFont typeface="Arial" panose="020B0604020202020204" pitchFamily="34" charset="0"/>
              <a:buChar char="•"/>
            </a:pPr>
            <a:r>
              <a:rPr lang="en-US" sz="1600" dirty="0"/>
              <a:t>Even better searching</a:t>
            </a:r>
          </a:p>
        </p:txBody>
      </p:sp>
      <p:sp>
        <p:nvSpPr>
          <p:cNvPr id="9" name="Minus 8"/>
          <p:cNvSpPr/>
          <p:nvPr/>
        </p:nvSpPr>
        <p:spPr>
          <a:xfrm>
            <a:off x="1586448" y="5456622"/>
            <a:ext cx="722241" cy="722241"/>
          </a:xfrm>
          <a:prstGeom prst="mathMinus">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TextBox 9"/>
          <p:cNvSpPr txBox="1"/>
          <p:nvPr/>
        </p:nvSpPr>
        <p:spPr>
          <a:xfrm>
            <a:off x="2500848" y="5279133"/>
            <a:ext cx="5755421"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Arbitrary numbers of directories 	(in practice, each directory becomes a file…)</a:t>
            </a:r>
          </a:p>
          <a:p>
            <a:pPr marL="285750" indent="-285750">
              <a:buFont typeface="Arial" panose="020B0604020202020204" pitchFamily="34" charset="0"/>
              <a:buChar char="•"/>
            </a:pPr>
            <a:r>
              <a:rPr lang="en-US" sz="1600" dirty="0"/>
              <a:t>Introduces </a:t>
            </a:r>
            <a:r>
              <a:rPr lang="en-US" sz="1600" b="1" dirty="0"/>
              <a:t>current directory</a:t>
            </a:r>
            <a:endParaRPr lang="en-US" sz="1600" dirty="0"/>
          </a:p>
          <a:p>
            <a:pPr marL="285750" indent="-285750">
              <a:buFont typeface="Arial" panose="020B0604020202020204" pitchFamily="34" charset="0"/>
              <a:buChar char="•"/>
            </a:pPr>
            <a:r>
              <a:rPr lang="en-US" sz="1600" dirty="0"/>
              <a:t>Introduces more operations on directories</a:t>
            </a:r>
            <a:endParaRPr lang="en-US" sz="1600" b="1" dirty="0"/>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D8CC791A-0455-451C-4C3C-B6A7AD30C8F8}"/>
              </a:ext>
            </a:extLst>
          </p:cNvPr>
          <p:cNvSpPr>
            <a:spLocks noGrp="1"/>
          </p:cNvSpPr>
          <p:nvPr>
            <p:ph type="sldNum" sz="quarter" idx="12"/>
          </p:nvPr>
        </p:nvSpPr>
        <p:spPr/>
        <p:txBody>
          <a:bodyPr/>
          <a:lstStyle/>
          <a:p>
            <a:fld id="{BE0AC437-A1D8-4781-B86C-407FA400F126}" type="slidenum">
              <a:rPr lang="en-US" smtClean="0"/>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 names</a:t>
            </a:r>
          </a:p>
        </p:txBody>
      </p:sp>
      <p:sp>
        <p:nvSpPr>
          <p:cNvPr id="3" name="Content Placeholder 2"/>
          <p:cNvSpPr>
            <a:spLocks noGrp="1"/>
          </p:cNvSpPr>
          <p:nvPr>
            <p:ph idx="1"/>
          </p:nvPr>
        </p:nvSpPr>
        <p:spPr/>
        <p:txBody>
          <a:bodyPr>
            <a:normAutofit/>
          </a:bodyPr>
          <a:lstStyle/>
          <a:p>
            <a:r>
              <a:rPr lang="en-US" sz="2400" dirty="0"/>
              <a:t>Absolute path name</a:t>
            </a:r>
          </a:p>
          <a:p>
            <a:r>
              <a:rPr lang="en-US" sz="2400" dirty="0"/>
              <a:t>Relative path name (given working directory)</a:t>
            </a:r>
          </a:p>
        </p:txBody>
      </p:sp>
      <p:sp>
        <p:nvSpPr>
          <p:cNvPr id="6" name="TextBox 5"/>
          <p:cNvSpPr txBox="1"/>
          <p:nvPr/>
        </p:nvSpPr>
        <p:spPr>
          <a:xfrm>
            <a:off x="4335780" y="2866072"/>
            <a:ext cx="3520066" cy="2585323"/>
          </a:xfrm>
          <a:prstGeom prst="rect">
            <a:avLst/>
          </a:prstGeom>
          <a:noFill/>
        </p:spPr>
        <p:txBody>
          <a:bodyPr wrap="none" rtlCol="0">
            <a:spAutoFit/>
          </a:bodyPr>
          <a:lstStyle/>
          <a:p>
            <a:r>
              <a:rPr lang="en-US" dirty="0"/>
              <a:t>cd /bin</a:t>
            </a:r>
          </a:p>
          <a:p>
            <a:endParaRPr lang="en-US" dirty="0"/>
          </a:p>
          <a:p>
            <a:r>
              <a:rPr lang="en-US" dirty="0" err="1"/>
              <a:t>ls</a:t>
            </a:r>
            <a:r>
              <a:rPr lang="en-US" dirty="0"/>
              <a:t> .</a:t>
            </a:r>
          </a:p>
          <a:p>
            <a:endParaRPr lang="en-US" dirty="0"/>
          </a:p>
          <a:p>
            <a:r>
              <a:rPr lang="en-US" dirty="0" err="1"/>
              <a:t>ls</a:t>
            </a:r>
            <a:r>
              <a:rPr lang="en-US" dirty="0"/>
              <a:t> ..</a:t>
            </a:r>
          </a:p>
          <a:p>
            <a:endParaRPr lang="en-US" dirty="0"/>
          </a:p>
          <a:p>
            <a:r>
              <a:rPr lang="en-US" dirty="0"/>
              <a:t>cd ../lib</a:t>
            </a:r>
          </a:p>
          <a:p>
            <a:endParaRPr lang="en-US" dirty="0"/>
          </a:p>
          <a:p>
            <a:r>
              <a:rPr lang="en-US" dirty="0" err="1"/>
              <a:t>cp</a:t>
            </a:r>
            <a:r>
              <a:rPr lang="en-US" dirty="0"/>
              <a:t> ../</a:t>
            </a:r>
            <a:r>
              <a:rPr lang="en-US" dirty="0" err="1"/>
              <a:t>usr</a:t>
            </a:r>
            <a:r>
              <a:rPr lang="en-US" dirty="0"/>
              <a:t>/lib/hello.txt /</a:t>
            </a:r>
            <a:r>
              <a:rPr lang="en-US" dirty="0" err="1"/>
              <a:t>tmp</a:t>
            </a:r>
            <a:r>
              <a:rPr lang="en-US" dirty="0"/>
              <a:t>/hello.txt</a:t>
            </a:r>
          </a:p>
        </p:txBody>
      </p:sp>
      <p:grpSp>
        <p:nvGrpSpPr>
          <p:cNvPr id="12" name="Group 11"/>
          <p:cNvGrpSpPr/>
          <p:nvPr/>
        </p:nvGrpSpPr>
        <p:grpSpPr>
          <a:xfrm>
            <a:off x="5715000" y="2819400"/>
            <a:ext cx="2611766" cy="523220"/>
            <a:chOff x="5715000" y="2819400"/>
            <a:chExt cx="2611766" cy="523220"/>
          </a:xfrm>
        </p:grpSpPr>
        <p:cxnSp>
          <p:nvCxnSpPr>
            <p:cNvPr id="8" name="Straight Arrow Connector 7"/>
            <p:cNvCxnSpPr>
              <a:stCxn id="9" idx="1"/>
            </p:cNvCxnSpPr>
            <p:nvPr/>
          </p:nvCxnSpPr>
          <p:spPr>
            <a:xfrm flipH="1">
              <a:off x="5715000" y="3081010"/>
              <a:ext cx="53869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253698" y="2819400"/>
              <a:ext cx="2073068" cy="523220"/>
            </a:xfrm>
            <a:prstGeom prst="rect">
              <a:avLst/>
            </a:prstGeom>
            <a:noFill/>
          </p:spPr>
          <p:txBody>
            <a:bodyPr wrap="none" rtlCol="0">
              <a:spAutoFit/>
            </a:bodyPr>
            <a:lstStyle/>
            <a:p>
              <a:r>
                <a:rPr lang="en-US" sz="1400" b="1" dirty="0">
                  <a:solidFill>
                    <a:srgbClr val="0070C0"/>
                  </a:solidFill>
                </a:rPr>
                <a:t>absolute path name</a:t>
              </a:r>
              <a:br>
                <a:rPr lang="en-US" sz="1400" b="1" dirty="0">
                  <a:solidFill>
                    <a:srgbClr val="0070C0"/>
                  </a:solidFill>
                </a:rPr>
              </a:br>
              <a:r>
                <a:rPr lang="en-US" sz="1400" b="1" dirty="0">
                  <a:solidFill>
                    <a:srgbClr val="0070C0"/>
                  </a:solidFill>
                </a:rPr>
                <a:t>change working directory</a:t>
              </a:r>
            </a:p>
          </p:txBody>
        </p:sp>
      </p:grpSp>
      <p:grpSp>
        <p:nvGrpSpPr>
          <p:cNvPr id="15" name="Group 14"/>
          <p:cNvGrpSpPr/>
          <p:nvPr/>
        </p:nvGrpSpPr>
        <p:grpSpPr>
          <a:xfrm>
            <a:off x="5257800" y="3426023"/>
            <a:ext cx="3079673" cy="307777"/>
            <a:chOff x="5257800" y="3426023"/>
            <a:chExt cx="3079673" cy="307777"/>
          </a:xfrm>
        </p:grpSpPr>
        <p:sp>
          <p:nvSpPr>
            <p:cNvPr id="10" name="TextBox 9"/>
            <p:cNvSpPr txBox="1"/>
            <p:nvPr/>
          </p:nvSpPr>
          <p:spPr>
            <a:xfrm>
              <a:off x="6389376" y="3426023"/>
              <a:ext cx="1948097" cy="307777"/>
            </a:xfrm>
            <a:prstGeom prst="rect">
              <a:avLst/>
            </a:prstGeom>
            <a:noFill/>
          </p:spPr>
          <p:txBody>
            <a:bodyPr wrap="none" rtlCol="0">
              <a:spAutoFit/>
            </a:bodyPr>
            <a:lstStyle/>
            <a:p>
              <a:r>
                <a:rPr lang="en-US" sz="1400" b="1" dirty="0">
                  <a:solidFill>
                    <a:srgbClr val="0070C0"/>
                  </a:solidFill>
                </a:rPr>
                <a:t>list files of this folder (.)</a:t>
              </a:r>
            </a:p>
          </p:txBody>
        </p:sp>
        <p:cxnSp>
          <p:nvCxnSpPr>
            <p:cNvPr id="16" name="Straight Arrow Connector 15"/>
            <p:cNvCxnSpPr>
              <a:stCxn id="10" idx="1"/>
            </p:cNvCxnSpPr>
            <p:nvPr/>
          </p:nvCxnSpPr>
          <p:spPr>
            <a:xfrm flipH="1" flipV="1">
              <a:off x="5257800" y="3579911"/>
              <a:ext cx="1131576"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5334000" y="3962400"/>
            <a:ext cx="3003857" cy="307777"/>
            <a:chOff x="5334000" y="3962400"/>
            <a:chExt cx="3003857" cy="307777"/>
          </a:xfrm>
        </p:grpSpPr>
        <p:sp>
          <p:nvSpPr>
            <p:cNvPr id="11" name="TextBox 10"/>
            <p:cNvSpPr txBox="1"/>
            <p:nvPr/>
          </p:nvSpPr>
          <p:spPr>
            <a:xfrm>
              <a:off x="6172200" y="3962400"/>
              <a:ext cx="2165657" cy="307777"/>
            </a:xfrm>
            <a:prstGeom prst="rect">
              <a:avLst/>
            </a:prstGeom>
            <a:noFill/>
          </p:spPr>
          <p:txBody>
            <a:bodyPr wrap="none" rtlCol="0">
              <a:spAutoFit/>
            </a:bodyPr>
            <a:lstStyle/>
            <a:p>
              <a:r>
                <a:rPr lang="en-US" sz="1400" b="1" dirty="0">
                  <a:solidFill>
                    <a:srgbClr val="0070C0"/>
                  </a:solidFill>
                </a:rPr>
                <a:t>list files of parent folder (.)</a:t>
              </a:r>
            </a:p>
          </p:txBody>
        </p:sp>
        <p:cxnSp>
          <p:nvCxnSpPr>
            <p:cNvPr id="19" name="Straight Arrow Connector 18"/>
            <p:cNvCxnSpPr>
              <a:stCxn id="11" idx="1"/>
            </p:cNvCxnSpPr>
            <p:nvPr/>
          </p:nvCxnSpPr>
          <p:spPr>
            <a:xfrm flipH="1" flipV="1">
              <a:off x="5334000" y="4116288"/>
              <a:ext cx="8382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5715000" y="4437447"/>
            <a:ext cx="2611766" cy="523220"/>
            <a:chOff x="5715000" y="4437447"/>
            <a:chExt cx="2611766" cy="523220"/>
          </a:xfrm>
        </p:grpSpPr>
        <p:sp>
          <p:nvSpPr>
            <p:cNvPr id="13" name="TextBox 12"/>
            <p:cNvSpPr txBox="1"/>
            <p:nvPr/>
          </p:nvSpPr>
          <p:spPr>
            <a:xfrm>
              <a:off x="6253698" y="4437447"/>
              <a:ext cx="2073068" cy="523220"/>
            </a:xfrm>
            <a:prstGeom prst="rect">
              <a:avLst/>
            </a:prstGeom>
            <a:noFill/>
          </p:spPr>
          <p:txBody>
            <a:bodyPr wrap="none" rtlCol="0">
              <a:spAutoFit/>
            </a:bodyPr>
            <a:lstStyle/>
            <a:p>
              <a:r>
                <a:rPr lang="en-US" sz="1400" b="1" dirty="0">
                  <a:solidFill>
                    <a:srgbClr val="0070C0"/>
                  </a:solidFill>
                </a:rPr>
                <a:t>relative path name</a:t>
              </a:r>
              <a:br>
                <a:rPr lang="en-US" sz="1400" b="1" dirty="0">
                  <a:solidFill>
                    <a:srgbClr val="0070C0"/>
                  </a:solidFill>
                </a:rPr>
              </a:br>
              <a:r>
                <a:rPr lang="en-US" sz="1400" b="1" dirty="0">
                  <a:solidFill>
                    <a:srgbClr val="0070C0"/>
                  </a:solidFill>
                </a:rPr>
                <a:t>change working directory</a:t>
              </a:r>
            </a:p>
          </p:txBody>
        </p:sp>
        <p:cxnSp>
          <p:nvCxnSpPr>
            <p:cNvPr id="22" name="Straight Arrow Connector 21"/>
            <p:cNvCxnSpPr>
              <a:stCxn id="13" idx="1"/>
            </p:cNvCxnSpPr>
            <p:nvPr/>
          </p:nvCxnSpPr>
          <p:spPr>
            <a:xfrm flipH="1">
              <a:off x="5715000" y="4699057"/>
              <a:ext cx="53869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172200" y="5638800"/>
            <a:ext cx="2143087" cy="523220"/>
            <a:chOff x="6172200" y="5638800"/>
            <a:chExt cx="2143087" cy="523220"/>
          </a:xfrm>
        </p:grpSpPr>
        <p:sp>
          <p:nvSpPr>
            <p:cNvPr id="14" name="TextBox 13"/>
            <p:cNvSpPr txBox="1"/>
            <p:nvPr/>
          </p:nvSpPr>
          <p:spPr>
            <a:xfrm>
              <a:off x="6646176" y="5638800"/>
              <a:ext cx="1669111" cy="523220"/>
            </a:xfrm>
            <a:prstGeom prst="rect">
              <a:avLst/>
            </a:prstGeom>
            <a:noFill/>
          </p:spPr>
          <p:txBody>
            <a:bodyPr wrap="none" rtlCol="0">
              <a:spAutoFit/>
            </a:bodyPr>
            <a:lstStyle/>
            <a:p>
              <a:r>
                <a:rPr lang="en-US" sz="1400" b="1" dirty="0">
                  <a:solidFill>
                    <a:srgbClr val="0070C0"/>
                  </a:solidFill>
                </a:rPr>
                <a:t>relative path name</a:t>
              </a:r>
              <a:br>
                <a:rPr lang="en-US" sz="1400" b="1" dirty="0">
                  <a:solidFill>
                    <a:srgbClr val="0070C0"/>
                  </a:solidFill>
                </a:rPr>
              </a:br>
              <a:r>
                <a:rPr lang="en-US" sz="1400" b="1" dirty="0">
                  <a:solidFill>
                    <a:srgbClr val="0070C0"/>
                  </a:solidFill>
                </a:rPr>
                <a:t>absolute path name</a:t>
              </a:r>
            </a:p>
          </p:txBody>
        </p:sp>
        <p:cxnSp>
          <p:nvCxnSpPr>
            <p:cNvPr id="25" name="Straight Arrow Connector 24"/>
            <p:cNvCxnSpPr>
              <a:stCxn id="14" idx="1"/>
            </p:cNvCxnSpPr>
            <p:nvPr/>
          </p:nvCxnSpPr>
          <p:spPr>
            <a:xfrm flipH="1" flipV="1">
              <a:off x="6172200" y="5638800"/>
              <a:ext cx="473976" cy="2616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856966" y="2842307"/>
            <a:ext cx="3227354" cy="3226433"/>
            <a:chOff x="533400" y="2590800"/>
            <a:chExt cx="4052615" cy="4051459"/>
          </a:xfrm>
        </p:grpSpPr>
        <p:pic>
          <p:nvPicPr>
            <p:cNvPr id="4" name="Picture 1030" descr="04-0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590800"/>
              <a:ext cx="3779837" cy="36932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33400" y="6352401"/>
              <a:ext cx="4052615" cy="289858"/>
            </a:xfrm>
            <a:prstGeom prst="rect">
              <a:avLst/>
            </a:prstGeom>
            <a:solidFill>
              <a:schemeClr val="bg1"/>
            </a:solidFill>
          </p:spPr>
          <p:txBody>
            <a:bodyPr wrap="square" rtlCol="0">
              <a:spAutoFit/>
            </a:bodyPr>
            <a:lstStyle/>
            <a:p>
              <a:r>
                <a:rPr lang="en-US" sz="900" dirty="0"/>
                <a:t>Fig. Tanenbaum, Modern Operating Systems</a:t>
              </a:r>
            </a:p>
          </p:txBody>
        </p:sp>
        <p:cxnSp>
          <p:nvCxnSpPr>
            <p:cNvPr id="31" name="Straight Arrow Connector 30"/>
            <p:cNvCxnSpPr/>
            <p:nvPr/>
          </p:nvCxnSpPr>
          <p:spPr>
            <a:xfrm>
              <a:off x="1556802" y="2667000"/>
              <a:ext cx="538698"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
        <p:nvSpPr>
          <p:cNvPr id="21" name="Date Placeholder 20"/>
          <p:cNvSpPr>
            <a:spLocks noGrp="1"/>
          </p:cNvSpPr>
          <p:nvPr>
            <p:ph type="dt" sz="half" idx="10"/>
          </p:nvPr>
        </p:nvSpPr>
        <p:spPr/>
        <p:txBody>
          <a:bodyPr/>
          <a:lstStyle/>
          <a:p>
            <a:r>
              <a:rPr lang="en-US"/>
              <a:t>Vincenzo Gulisano</a:t>
            </a:r>
          </a:p>
        </p:txBody>
      </p:sp>
      <p:sp>
        <p:nvSpPr>
          <p:cNvPr id="26" name="Footer Placeholder 25"/>
          <p:cNvSpPr>
            <a:spLocks noGrp="1"/>
          </p:cNvSpPr>
          <p:nvPr>
            <p:ph type="ftr" sz="quarter" idx="11"/>
          </p:nvPr>
        </p:nvSpPr>
        <p:spPr/>
        <p:txBody>
          <a:bodyPr/>
          <a:lstStyle/>
          <a:p>
            <a:r>
              <a:rPr lang="en-US"/>
              <a:t>Operating Systems - File Systems</a:t>
            </a:r>
          </a:p>
        </p:txBody>
      </p:sp>
      <p:sp>
        <p:nvSpPr>
          <p:cNvPr id="24" name="Slide Number Placeholder 23">
            <a:extLst>
              <a:ext uri="{FF2B5EF4-FFF2-40B4-BE49-F238E27FC236}">
                <a16:creationId xmlns:a16="http://schemas.microsoft.com/office/drawing/2014/main" id="{E276FC50-7BD1-624E-3FE3-3C10642A2EAB}"/>
              </a:ext>
            </a:extLst>
          </p:cNvPr>
          <p:cNvSpPr>
            <a:spLocks noGrp="1"/>
          </p:cNvSpPr>
          <p:nvPr>
            <p:ph type="sldNum" sz="quarter" idx="12"/>
          </p:nvPr>
        </p:nvSpPr>
        <p:spPr/>
        <p:txBody>
          <a:bodyPr/>
          <a:lstStyle/>
          <a:p>
            <a:fld id="{BE0AC437-A1D8-4781-B86C-407FA400F126}" type="slidenum">
              <a:rPr lang="en-US" smtClean="0"/>
              <a:t>34</a:t>
            </a:fld>
            <a:endParaRPr lang="en-US"/>
          </a:p>
        </p:txBody>
      </p:sp>
    </p:spTree>
    <p:extLst>
      <p:ext uri="{BB962C8B-B14F-4D97-AF65-F5344CB8AC3E}">
        <p14:creationId xmlns:p14="http://schemas.microsoft.com/office/powerpoint/2010/main" val="108050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a:t>Acyclic-Graph Directories</a:t>
            </a:r>
            <a:endParaRPr lang="en-US" altLang="en-US" sz="2400"/>
          </a:p>
        </p:txBody>
      </p:sp>
      <p:sp>
        <p:nvSpPr>
          <p:cNvPr id="32771" name="Rectangle 3"/>
          <p:cNvSpPr>
            <a:spLocks noGrp="1" noChangeArrowheads="1"/>
          </p:cNvSpPr>
          <p:nvPr>
            <p:ph idx="1"/>
          </p:nvPr>
        </p:nvSpPr>
        <p:spPr>
          <a:xfrm>
            <a:off x="768350" y="1262063"/>
            <a:ext cx="7029450" cy="522287"/>
          </a:xfrm>
        </p:spPr>
        <p:txBody>
          <a:bodyPr/>
          <a:lstStyle/>
          <a:p>
            <a:r>
              <a:rPr lang="en-US" altLang="en-US"/>
              <a:t>Have shared subdirectories and files</a:t>
            </a:r>
          </a:p>
        </p:txBody>
      </p:sp>
      <p:pic>
        <p:nvPicPr>
          <p:cNvPr id="32772" name="Picture 7" descr="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2168997"/>
            <a:ext cx="4474104" cy="361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8" name="Rectangle 7"/>
          <p:cNvSpPr/>
          <p:nvPr/>
        </p:nvSpPr>
        <p:spPr>
          <a:xfrm>
            <a:off x="5102754" y="1894655"/>
            <a:ext cx="3556001" cy="923330"/>
          </a:xfrm>
          <a:prstGeom prst="rect">
            <a:avLst/>
          </a:prstGeom>
        </p:spPr>
        <p:txBody>
          <a:bodyPr wrap="square">
            <a:spAutoFit/>
          </a:bodyPr>
          <a:lstStyle/>
          <a:p>
            <a:r>
              <a:rPr lang="en-US" altLang="en-US" dirty="0"/>
              <a:t>In this case, we have a new type of file, the </a:t>
            </a:r>
            <a:r>
              <a:rPr lang="en-US" altLang="en-US" b="1" u="sng"/>
              <a:t>link</a:t>
            </a:r>
            <a:r>
              <a:rPr lang="en-US" altLang="en-US"/>
              <a:t> </a:t>
            </a:r>
            <a:br>
              <a:rPr lang="en-US" altLang="en-US"/>
            </a:br>
            <a:r>
              <a:rPr lang="en-US" altLang="en-US"/>
              <a:t>(</a:t>
            </a:r>
            <a:r>
              <a:rPr lang="en-US" altLang="en-US" dirty="0"/>
              <a:t>a pointer to an existing file)</a:t>
            </a:r>
          </a:p>
        </p:txBody>
      </p:sp>
      <p:sp>
        <p:nvSpPr>
          <p:cNvPr id="3" name="Slide Number Placeholder 2">
            <a:extLst>
              <a:ext uri="{FF2B5EF4-FFF2-40B4-BE49-F238E27FC236}">
                <a16:creationId xmlns:a16="http://schemas.microsoft.com/office/drawing/2014/main" id="{B6BF583E-9770-DE87-2D7A-AA331A2F077E}"/>
              </a:ext>
            </a:extLst>
          </p:cNvPr>
          <p:cNvSpPr>
            <a:spLocks noGrp="1"/>
          </p:cNvSpPr>
          <p:nvPr>
            <p:ph type="sldNum" sz="quarter" idx="12"/>
          </p:nvPr>
        </p:nvSpPr>
        <p:spPr/>
        <p:txBody>
          <a:bodyPr/>
          <a:lstStyle/>
          <a:p>
            <a:fld id="{BE0AC437-A1D8-4781-B86C-407FA400F126}" type="slidenum">
              <a:rPr lang="en-US" smtClean="0"/>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dirty="0"/>
              <a:t>Acyclic-Graph Directories bring trade-offs…</a:t>
            </a:r>
            <a:endParaRPr lang="en-US" altLang="en-US" sz="2400" dirty="0"/>
          </a:p>
        </p:txBody>
      </p:sp>
      <p:pic>
        <p:nvPicPr>
          <p:cNvPr id="32772" name="Picture 7" descr="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998" y="1690689"/>
            <a:ext cx="4474104" cy="361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grpSp>
        <p:nvGrpSpPr>
          <p:cNvPr id="9" name="Group 8"/>
          <p:cNvGrpSpPr/>
          <p:nvPr/>
        </p:nvGrpSpPr>
        <p:grpSpPr>
          <a:xfrm>
            <a:off x="4923102" y="1690689"/>
            <a:ext cx="4220898" cy="1325563"/>
            <a:chOff x="3773492" y="4321838"/>
            <a:chExt cx="4220898" cy="1325563"/>
          </a:xfrm>
        </p:grpSpPr>
        <p:pic>
          <p:nvPicPr>
            <p:cNvPr id="10" name="Picture 9"/>
            <p:cNvPicPr>
              <a:picLocks noChangeAspect="1"/>
            </p:cNvPicPr>
            <p:nvPr/>
          </p:nvPicPr>
          <p:blipFill>
            <a:blip r:embed="rId4"/>
            <a:stretch>
              <a:fillRect/>
            </a:stretch>
          </p:blipFill>
          <p:spPr>
            <a:xfrm>
              <a:off x="3773492" y="4321838"/>
              <a:ext cx="1228725" cy="1228725"/>
            </a:xfrm>
            <a:prstGeom prst="rect">
              <a:avLst/>
            </a:prstGeom>
          </p:spPr>
        </p:pic>
        <p:sp>
          <p:nvSpPr>
            <p:cNvPr id="11" name="Content Placeholder 2"/>
            <p:cNvSpPr txBox="1">
              <a:spLocks/>
            </p:cNvSpPr>
            <p:nvPr/>
          </p:nvSpPr>
          <p:spPr>
            <a:xfrm>
              <a:off x="4747736" y="4397238"/>
              <a:ext cx="3246654" cy="125016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i="1" dirty="0"/>
                <a:t>Suppose we are in spell/words and we delete list. Should we delete it from </a:t>
              </a:r>
              <a:r>
                <a:rPr lang="en-US" sz="2000" i="1" dirty="0" err="1"/>
                <a:t>dict</a:t>
              </a:r>
              <a:r>
                <a:rPr lang="en-US" sz="2000" i="1" dirty="0"/>
                <a:t>/w too? </a:t>
              </a:r>
            </a:p>
          </p:txBody>
        </p:sp>
      </p:grpSp>
      <p:grpSp>
        <p:nvGrpSpPr>
          <p:cNvPr id="12" name="Group 11"/>
          <p:cNvGrpSpPr/>
          <p:nvPr/>
        </p:nvGrpSpPr>
        <p:grpSpPr>
          <a:xfrm>
            <a:off x="4923102" y="3091652"/>
            <a:ext cx="4220898" cy="1325563"/>
            <a:chOff x="3773492" y="4321838"/>
            <a:chExt cx="4220898" cy="1325563"/>
          </a:xfrm>
        </p:grpSpPr>
        <p:pic>
          <p:nvPicPr>
            <p:cNvPr id="13" name="Picture 12"/>
            <p:cNvPicPr>
              <a:picLocks noChangeAspect="1"/>
            </p:cNvPicPr>
            <p:nvPr/>
          </p:nvPicPr>
          <p:blipFill>
            <a:blip r:embed="rId4"/>
            <a:stretch>
              <a:fillRect/>
            </a:stretch>
          </p:blipFill>
          <p:spPr>
            <a:xfrm>
              <a:off x="3773492" y="4321838"/>
              <a:ext cx="1228725" cy="1228725"/>
            </a:xfrm>
            <a:prstGeom prst="rect">
              <a:avLst/>
            </a:prstGeom>
          </p:spPr>
        </p:pic>
        <p:sp>
          <p:nvSpPr>
            <p:cNvPr id="14" name="Content Placeholder 2"/>
            <p:cNvSpPr txBox="1">
              <a:spLocks/>
            </p:cNvSpPr>
            <p:nvPr/>
          </p:nvSpPr>
          <p:spPr>
            <a:xfrm>
              <a:off x="4747736" y="4397238"/>
              <a:ext cx="3246654" cy="125016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i="1" dirty="0"/>
                <a:t>Let’s say we remove it, should we update the links of other references or not?</a:t>
              </a:r>
            </a:p>
          </p:txBody>
        </p:sp>
      </p:grpSp>
      <p:grpSp>
        <p:nvGrpSpPr>
          <p:cNvPr id="15" name="Group 14"/>
          <p:cNvGrpSpPr/>
          <p:nvPr/>
        </p:nvGrpSpPr>
        <p:grpSpPr>
          <a:xfrm>
            <a:off x="4923102" y="4568015"/>
            <a:ext cx="4220898" cy="1325563"/>
            <a:chOff x="3773492" y="4321838"/>
            <a:chExt cx="4220898" cy="1325563"/>
          </a:xfrm>
        </p:grpSpPr>
        <p:pic>
          <p:nvPicPr>
            <p:cNvPr id="16" name="Picture 15"/>
            <p:cNvPicPr>
              <a:picLocks noChangeAspect="1"/>
            </p:cNvPicPr>
            <p:nvPr/>
          </p:nvPicPr>
          <p:blipFill>
            <a:blip r:embed="rId4"/>
            <a:stretch>
              <a:fillRect/>
            </a:stretch>
          </p:blipFill>
          <p:spPr>
            <a:xfrm>
              <a:off x="3773492" y="4321838"/>
              <a:ext cx="1228725" cy="1228725"/>
            </a:xfrm>
            <a:prstGeom prst="rect">
              <a:avLst/>
            </a:prstGeom>
          </p:spPr>
        </p:pic>
        <p:sp>
          <p:nvSpPr>
            <p:cNvPr id="17" name="Content Placeholder 2"/>
            <p:cNvSpPr txBox="1">
              <a:spLocks/>
            </p:cNvSpPr>
            <p:nvPr/>
          </p:nvSpPr>
          <p:spPr>
            <a:xfrm>
              <a:off x="4747736" y="4397238"/>
              <a:ext cx="3246654" cy="1250163"/>
            </a:xfrm>
            <a:prstGeom prst="rect">
              <a:avLst/>
            </a:prstGeom>
          </p:spPr>
          <p:txBody>
            <a:bodyPr vert="horz" lIns="91440" tIns="45720" rIns="91440" bIns="4572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i="1" dirty="0"/>
                <a:t>Let’s say we remove it and update the links of other references, how do we know how many references we have?</a:t>
              </a:r>
            </a:p>
          </p:txBody>
        </p:sp>
      </p:grpSp>
      <p:sp>
        <p:nvSpPr>
          <p:cNvPr id="3" name="Slide Number Placeholder 2">
            <a:extLst>
              <a:ext uri="{FF2B5EF4-FFF2-40B4-BE49-F238E27FC236}">
                <a16:creationId xmlns:a16="http://schemas.microsoft.com/office/drawing/2014/main" id="{ED5D780C-A6EF-175C-3E19-21975E0606B6}"/>
              </a:ext>
            </a:extLst>
          </p:cNvPr>
          <p:cNvSpPr>
            <a:spLocks noGrp="1"/>
          </p:cNvSpPr>
          <p:nvPr>
            <p:ph type="sldNum" sz="quarter" idx="12"/>
          </p:nvPr>
        </p:nvSpPr>
        <p:spPr/>
        <p:txBody>
          <a:bodyPr/>
          <a:lstStyle/>
          <a:p>
            <a:fld id="{BE0AC437-A1D8-4781-B86C-407FA400F126}" type="slidenum">
              <a:rPr lang="en-US" smtClean="0"/>
              <a:t>36</a:t>
            </a:fld>
            <a:endParaRPr lang="en-US"/>
          </a:p>
        </p:txBody>
      </p:sp>
    </p:spTree>
    <p:extLst>
      <p:ext uri="{BB962C8B-B14F-4D97-AF65-F5344CB8AC3E}">
        <p14:creationId xmlns:p14="http://schemas.microsoft.com/office/powerpoint/2010/main" val="61076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6956B-B468-87E2-8A08-4FE7414A6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03C0F-161D-5C5D-C911-6751C5B446E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A321A9FB-1AD4-B547-C317-27265D50826C}"/>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solidFill>
                  <a:schemeClr val="bg2">
                    <a:lumMod val="90000"/>
                  </a:schemeClr>
                </a:solidFill>
              </a:rPr>
              <a:t>Access methods</a:t>
            </a:r>
          </a:p>
          <a:p>
            <a:r>
              <a:rPr lang="en-US" dirty="0">
                <a:solidFill>
                  <a:schemeClr val="bg2">
                    <a:lumMod val="90000"/>
                  </a:schemeClr>
                </a:solidFill>
              </a:rPr>
              <a:t>Disk structure</a:t>
            </a:r>
          </a:p>
          <a:p>
            <a:r>
              <a:rPr lang="en-US" dirty="0">
                <a:solidFill>
                  <a:schemeClr val="bg2">
                    <a:lumMod val="90000"/>
                  </a:schemeClr>
                </a:solidFill>
              </a:rPr>
              <a:t>Directory structure [Self-study]</a:t>
            </a:r>
          </a:p>
          <a:p>
            <a:r>
              <a:rPr lang="en-US" dirty="0"/>
              <a:t>File system structure</a:t>
            </a:r>
          </a:p>
          <a:p>
            <a:r>
              <a:rPr lang="en-US" dirty="0">
                <a:solidFill>
                  <a:schemeClr val="bg2">
                    <a:lumMod val="90000"/>
                  </a:schemeClr>
                </a:solidFill>
              </a:rPr>
              <a:t>Allocation methods</a:t>
            </a:r>
          </a:p>
          <a:p>
            <a:r>
              <a:rPr lang="en-US" dirty="0">
                <a:solidFill>
                  <a:schemeClr val="bg2">
                    <a:lumMod val="90000"/>
                  </a:schemeClr>
                </a:solidFill>
              </a:rPr>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861BFE3F-7A8E-91B5-562E-66E507289E5F}"/>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8DB246BE-D015-8598-9CC1-FC0203883ADA}"/>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089EA304-A318-315E-1A21-406A1C452CC9}"/>
              </a:ext>
            </a:extLst>
          </p:cNvPr>
          <p:cNvSpPr>
            <a:spLocks noGrp="1"/>
          </p:cNvSpPr>
          <p:nvPr>
            <p:ph type="sldNum" sz="quarter" idx="12"/>
          </p:nvPr>
        </p:nvSpPr>
        <p:spPr/>
        <p:txBody>
          <a:bodyPr/>
          <a:lstStyle/>
          <a:p>
            <a:fld id="{BE0AC437-A1D8-4781-B86C-407FA400F126}" type="slidenum">
              <a:rPr lang="en-US" smtClean="0"/>
              <a:t>37</a:t>
            </a:fld>
            <a:endParaRPr lang="en-US"/>
          </a:p>
        </p:txBody>
      </p:sp>
    </p:spTree>
    <p:extLst>
      <p:ext uri="{BB962C8B-B14F-4D97-AF65-F5344CB8AC3E}">
        <p14:creationId xmlns:p14="http://schemas.microsoft.com/office/powerpoint/2010/main" val="191146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a:t>Layered File System</a:t>
            </a:r>
          </a:p>
        </p:txBody>
      </p:sp>
      <p:pic>
        <p:nvPicPr>
          <p:cNvPr id="717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690689"/>
            <a:ext cx="2476500" cy="406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15"/>
          <p:cNvGrpSpPr/>
          <p:nvPr/>
        </p:nvGrpSpPr>
        <p:grpSpPr>
          <a:xfrm>
            <a:off x="2659380" y="4607123"/>
            <a:ext cx="6370320" cy="615553"/>
            <a:chOff x="2659380" y="4607123"/>
            <a:chExt cx="6370320" cy="615553"/>
          </a:xfrm>
        </p:grpSpPr>
        <p:sp>
          <p:nvSpPr>
            <p:cNvPr id="2" name="Rectangle 1"/>
            <p:cNvSpPr/>
            <p:nvPr/>
          </p:nvSpPr>
          <p:spPr>
            <a:xfrm>
              <a:off x="2941320" y="4607123"/>
              <a:ext cx="6088380" cy="615553"/>
            </a:xfrm>
            <a:prstGeom prst="rect">
              <a:avLst/>
            </a:prstGeom>
          </p:spPr>
          <p:txBody>
            <a:bodyPr wrap="square">
              <a:spAutoFit/>
            </a:bodyPr>
            <a:lstStyle/>
            <a:p>
              <a:r>
                <a:rPr lang="en-US" altLang="en-US" dirty="0">
                  <a:latin typeface="Garamond" panose="02020404030301010803" pitchFamily="18" charset="0"/>
                </a:rPr>
                <a:t>manage I/O devices at the I/O control layer</a:t>
              </a:r>
              <a:br>
                <a:rPr lang="en-US" altLang="en-US" dirty="0">
                  <a:latin typeface="Garamond" panose="02020404030301010803" pitchFamily="18" charset="0"/>
                </a:rPr>
              </a:br>
              <a:r>
                <a:rPr lang="en-US" altLang="en-US" sz="1600" dirty="0">
                  <a:latin typeface="Garamond" panose="02020404030301010803" pitchFamily="18" charset="0"/>
                </a:rPr>
                <a:t>“read drive1, cylinder 72, track 2, sector 10, into memory location 1060”</a:t>
              </a:r>
            </a:p>
          </p:txBody>
        </p:sp>
        <p:cxnSp>
          <p:nvCxnSpPr>
            <p:cNvPr id="4" name="Straight Arrow Connector 3"/>
            <p:cNvCxnSpPr/>
            <p:nvPr/>
          </p:nvCxnSpPr>
          <p:spPr>
            <a:xfrm flipH="1">
              <a:off x="2659380" y="4914900"/>
              <a:ext cx="2819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2907030" y="3875603"/>
            <a:ext cx="3763086" cy="615553"/>
            <a:chOff x="2907030" y="3875603"/>
            <a:chExt cx="3763086" cy="615553"/>
          </a:xfrm>
        </p:grpSpPr>
        <p:sp>
          <p:nvSpPr>
            <p:cNvPr id="5" name="Rectangle 4"/>
            <p:cNvSpPr/>
            <p:nvPr/>
          </p:nvSpPr>
          <p:spPr>
            <a:xfrm>
              <a:off x="3188970" y="3875603"/>
              <a:ext cx="3481146" cy="615553"/>
            </a:xfrm>
            <a:prstGeom prst="rect">
              <a:avLst/>
            </a:prstGeom>
          </p:spPr>
          <p:txBody>
            <a:bodyPr wrap="square">
              <a:spAutoFit/>
            </a:bodyPr>
            <a:lstStyle/>
            <a:p>
              <a:r>
                <a:rPr lang="en-US" altLang="en-US" dirty="0">
                  <a:latin typeface="Garamond" panose="02020404030301010803" pitchFamily="18" charset="0"/>
                </a:rPr>
                <a:t>manages memory buffers and caches</a:t>
              </a:r>
              <a:br>
                <a:rPr lang="en-US" altLang="en-US" dirty="0">
                  <a:latin typeface="Garamond" panose="02020404030301010803" pitchFamily="18" charset="0"/>
                </a:rPr>
              </a:br>
              <a:r>
                <a:rPr lang="en-US" altLang="en-US" sz="1600" dirty="0">
                  <a:latin typeface="Garamond" panose="02020404030301010803" pitchFamily="18" charset="0"/>
                </a:rPr>
                <a:t>“retrieve block 123”</a:t>
              </a:r>
              <a:endParaRPr lang="en-US" dirty="0">
                <a:latin typeface="Garamond" panose="02020404030301010803" pitchFamily="18" charset="0"/>
              </a:endParaRPr>
            </a:p>
          </p:txBody>
        </p:sp>
        <p:cxnSp>
          <p:nvCxnSpPr>
            <p:cNvPr id="8" name="Straight Arrow Connector 7"/>
            <p:cNvCxnSpPr/>
            <p:nvPr/>
          </p:nvCxnSpPr>
          <p:spPr>
            <a:xfrm flipH="1">
              <a:off x="2907030" y="4183380"/>
              <a:ext cx="2819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3188970" y="3048179"/>
            <a:ext cx="5996940" cy="923330"/>
            <a:chOff x="3188970" y="3048179"/>
            <a:chExt cx="5996940" cy="923330"/>
          </a:xfrm>
        </p:grpSpPr>
        <p:sp>
          <p:nvSpPr>
            <p:cNvPr id="6" name="Rectangle 5"/>
            <p:cNvSpPr/>
            <p:nvPr/>
          </p:nvSpPr>
          <p:spPr>
            <a:xfrm>
              <a:off x="3188970" y="3048179"/>
              <a:ext cx="5996940" cy="923330"/>
            </a:xfrm>
            <a:prstGeom prst="rect">
              <a:avLst/>
            </a:prstGeom>
          </p:spPr>
          <p:txBody>
            <a:bodyPr wrap="square">
              <a:spAutoFit/>
            </a:bodyPr>
            <a:lstStyle/>
            <a:p>
              <a:pPr lvl="1"/>
              <a:r>
                <a:rPr lang="en-US" altLang="en-US" dirty="0">
                  <a:latin typeface="Garamond" panose="02020404030301010803" pitchFamily="18" charset="0"/>
                </a:rPr>
                <a:t>Understands files, logical address, and physical blocks</a:t>
              </a:r>
              <a:br>
                <a:rPr lang="en-US" altLang="en-US" dirty="0">
                  <a:latin typeface="Garamond" panose="02020404030301010803" pitchFamily="18" charset="0"/>
                </a:rPr>
              </a:br>
              <a:r>
                <a:rPr lang="en-US" altLang="en-US" dirty="0">
                  <a:latin typeface="Garamond" panose="02020404030301010803" pitchFamily="18" charset="0"/>
                </a:rPr>
                <a:t>Manages free space, disk allocation</a:t>
              </a:r>
            </a:p>
            <a:p>
              <a:pPr lvl="1"/>
              <a:r>
                <a:rPr lang="en-US" altLang="en-US" dirty="0">
                  <a:latin typeface="Garamond" panose="02020404030301010803" pitchFamily="18" charset="0"/>
                </a:rPr>
                <a:t>Translates logical block # to physical block #</a:t>
              </a:r>
            </a:p>
          </p:txBody>
        </p:sp>
        <p:cxnSp>
          <p:nvCxnSpPr>
            <p:cNvPr id="10" name="Straight Arrow Connector 9"/>
            <p:cNvCxnSpPr/>
            <p:nvPr/>
          </p:nvCxnSpPr>
          <p:spPr>
            <a:xfrm flipH="1">
              <a:off x="3345180" y="3451859"/>
              <a:ext cx="2819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2907030" y="1512868"/>
            <a:ext cx="6606540" cy="1477328"/>
            <a:chOff x="2907030" y="1512868"/>
            <a:chExt cx="6606540" cy="1477328"/>
          </a:xfrm>
        </p:grpSpPr>
        <p:sp>
          <p:nvSpPr>
            <p:cNvPr id="7" name="Rectangle 6"/>
            <p:cNvSpPr/>
            <p:nvPr/>
          </p:nvSpPr>
          <p:spPr>
            <a:xfrm>
              <a:off x="3486150" y="1512868"/>
              <a:ext cx="6027420" cy="1477328"/>
            </a:xfrm>
            <a:prstGeom prst="rect">
              <a:avLst/>
            </a:prstGeom>
          </p:spPr>
          <p:txBody>
            <a:bodyPr wrap="square">
              <a:spAutoFit/>
            </a:bodyPr>
            <a:lstStyle/>
            <a:p>
              <a:pPr marL="0" lvl="1">
                <a:buClr>
                  <a:srgbClr val="993300"/>
                </a:buClr>
                <a:buSzPct val="90000"/>
              </a:pPr>
              <a:r>
                <a:rPr lang="en-US" altLang="en-US" dirty="0">
                  <a:latin typeface="Garamond" panose="02020404030301010803" pitchFamily="18" charset="0"/>
                </a:rPr>
                <a:t>Manages metadata information</a:t>
              </a:r>
              <a:br>
                <a:rPr lang="en-US" altLang="en-US" dirty="0">
                  <a:latin typeface="Garamond" panose="02020404030301010803" pitchFamily="18" charset="0"/>
                </a:rPr>
              </a:br>
              <a:r>
                <a:rPr lang="en-US" altLang="en-US" dirty="0">
                  <a:latin typeface="Garamond" panose="02020404030301010803" pitchFamily="18" charset="0"/>
                </a:rPr>
                <a:t>Translates file name into file number, file handle, location by maintaining file control blocks (</a:t>
              </a:r>
              <a:r>
                <a:rPr lang="en-US" altLang="en-US" b="1" dirty="0" err="1">
                  <a:solidFill>
                    <a:srgbClr val="3366FF"/>
                  </a:solidFill>
                  <a:latin typeface="Garamond" panose="02020404030301010803" pitchFamily="18" charset="0"/>
                </a:rPr>
                <a:t>inodes</a:t>
              </a:r>
              <a:r>
                <a:rPr lang="en-US" altLang="en-US" dirty="0">
                  <a:latin typeface="Garamond" panose="02020404030301010803" pitchFamily="18" charset="0"/>
                </a:rPr>
                <a:t> in Unix)</a:t>
              </a:r>
              <a:br>
                <a:rPr lang="en-US" altLang="en-US" dirty="0">
                  <a:latin typeface="Garamond" panose="02020404030301010803" pitchFamily="18" charset="0"/>
                </a:rPr>
              </a:br>
              <a:r>
                <a:rPr lang="en-US" altLang="en-US" dirty="0">
                  <a:latin typeface="Garamond" panose="02020404030301010803" pitchFamily="18" charset="0"/>
                </a:rPr>
                <a:t>Directory management</a:t>
              </a:r>
              <a:br>
                <a:rPr lang="en-US" altLang="en-US" dirty="0">
                  <a:latin typeface="Garamond" panose="02020404030301010803" pitchFamily="18" charset="0"/>
                </a:rPr>
              </a:br>
              <a:r>
                <a:rPr lang="en-US" altLang="en-US" dirty="0">
                  <a:latin typeface="Garamond" panose="02020404030301010803" pitchFamily="18" charset="0"/>
                </a:rPr>
                <a:t>Protection</a:t>
              </a:r>
            </a:p>
          </p:txBody>
        </p:sp>
        <p:cxnSp>
          <p:nvCxnSpPr>
            <p:cNvPr id="12" name="Straight Arrow Connector 11"/>
            <p:cNvCxnSpPr/>
            <p:nvPr/>
          </p:nvCxnSpPr>
          <p:spPr>
            <a:xfrm flipH="1">
              <a:off x="2907030" y="2362200"/>
              <a:ext cx="521970" cy="373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 name="Date Placeholder 10"/>
          <p:cNvSpPr>
            <a:spLocks noGrp="1"/>
          </p:cNvSpPr>
          <p:nvPr>
            <p:ph type="dt" sz="half" idx="10"/>
          </p:nvPr>
        </p:nvSpPr>
        <p:spPr/>
        <p:txBody>
          <a:bodyPr/>
          <a:lstStyle/>
          <a:p>
            <a:r>
              <a:rPr lang="en-US"/>
              <a:t>Vincenzo Gulisano</a:t>
            </a:r>
            <a:endParaRPr lang="en-US" dirty="0"/>
          </a:p>
        </p:txBody>
      </p:sp>
      <p:sp>
        <p:nvSpPr>
          <p:cNvPr id="15" name="Footer Placeholder 14"/>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D6120A21-33B9-FBBF-79EF-5BB40A109322}"/>
              </a:ext>
            </a:extLst>
          </p:cNvPr>
          <p:cNvSpPr>
            <a:spLocks noGrp="1"/>
          </p:cNvSpPr>
          <p:nvPr>
            <p:ph type="sldNum" sz="quarter" idx="12"/>
          </p:nvPr>
        </p:nvSpPr>
        <p:spPr/>
        <p:txBody>
          <a:bodyPr/>
          <a:lstStyle/>
          <a:p>
            <a:fld id="{BE0AC437-A1D8-4781-B86C-407FA400F126}" type="slidenum">
              <a:rPr lang="en-US" smtClean="0"/>
              <a:t>38</a:t>
            </a:fld>
            <a:endParaRPr lang="en-US"/>
          </a:p>
        </p:txBody>
      </p:sp>
    </p:spTree>
    <p:extLst>
      <p:ext uri="{BB962C8B-B14F-4D97-AF65-F5344CB8AC3E}">
        <p14:creationId xmlns:p14="http://schemas.microsoft.com/office/powerpoint/2010/main" val="112846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File Systems</a:t>
            </a:r>
          </a:p>
        </p:txBody>
      </p:sp>
      <p:sp>
        <p:nvSpPr>
          <p:cNvPr id="3" name="Content Placeholder 2"/>
          <p:cNvSpPr>
            <a:spLocks noGrp="1"/>
          </p:cNvSpPr>
          <p:nvPr>
            <p:ph idx="1"/>
          </p:nvPr>
        </p:nvSpPr>
        <p:spPr>
          <a:xfrm>
            <a:off x="628650" y="1375719"/>
            <a:ext cx="7886700" cy="4801244"/>
          </a:xfrm>
        </p:spPr>
        <p:txBody>
          <a:bodyPr>
            <a:normAutofit/>
          </a:bodyPr>
          <a:lstStyle/>
          <a:p>
            <a:r>
              <a:rPr lang="en-US" sz="2400" dirty="0"/>
              <a:t>Suppose a system has multiple partitions with different file systems; how can you integrate all of them?</a:t>
            </a:r>
          </a:p>
          <a:p>
            <a:r>
              <a:rPr lang="en-US" sz="2400" dirty="0"/>
              <a:t>A virtual file system provides a uniform API and mounted namespace across different file-system implementations.</a:t>
            </a:r>
          </a:p>
        </p:txBody>
      </p:sp>
      <p:grpSp>
        <p:nvGrpSpPr>
          <p:cNvPr id="20" name="Group 19"/>
          <p:cNvGrpSpPr/>
          <p:nvPr/>
        </p:nvGrpSpPr>
        <p:grpSpPr>
          <a:xfrm>
            <a:off x="846438" y="3083010"/>
            <a:ext cx="7882066" cy="3002723"/>
            <a:chOff x="838200" y="2819400"/>
            <a:chExt cx="7882066" cy="3002723"/>
          </a:xfrm>
        </p:grpSpPr>
        <p:grpSp>
          <p:nvGrpSpPr>
            <p:cNvPr id="6" name="Group 5"/>
            <p:cNvGrpSpPr/>
            <p:nvPr/>
          </p:nvGrpSpPr>
          <p:grpSpPr>
            <a:xfrm>
              <a:off x="838200" y="2819400"/>
              <a:ext cx="5470525" cy="3002723"/>
              <a:chOff x="930275" y="2517789"/>
              <a:chExt cx="5470525" cy="3002723"/>
            </a:xfrm>
          </p:grpSpPr>
          <p:pic>
            <p:nvPicPr>
              <p:cNvPr id="4" name="Picture 6" descr="04-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275" y="2517789"/>
                <a:ext cx="5470525" cy="27257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276600" y="5243513"/>
                <a:ext cx="3124200" cy="276999"/>
              </a:xfrm>
              <a:prstGeom prst="rect">
                <a:avLst/>
              </a:prstGeom>
              <a:solidFill>
                <a:schemeClr val="bg1"/>
              </a:solidFill>
            </p:spPr>
            <p:txBody>
              <a:bodyPr wrap="square" rtlCol="0">
                <a:spAutoFit/>
              </a:bodyPr>
              <a:lstStyle/>
              <a:p>
                <a:r>
                  <a:rPr lang="en-US" sz="1200" dirty="0"/>
                  <a:t>Fig. Tanenbaum, Modern Operating Systems</a:t>
                </a:r>
              </a:p>
            </p:txBody>
          </p:sp>
        </p:grpSp>
        <p:cxnSp>
          <p:nvCxnSpPr>
            <p:cNvPr id="8" name="Straight Arrow Connector 7"/>
            <p:cNvCxnSpPr/>
            <p:nvPr/>
          </p:nvCxnSpPr>
          <p:spPr>
            <a:xfrm flipH="1">
              <a:off x="2514600" y="3429000"/>
              <a:ext cx="4343400" cy="152400"/>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6934200" y="3200400"/>
              <a:ext cx="1786066" cy="276999"/>
            </a:xfrm>
            <a:prstGeom prst="rect">
              <a:avLst/>
            </a:prstGeom>
            <a:noFill/>
          </p:spPr>
          <p:txBody>
            <a:bodyPr wrap="none" rtlCol="0">
              <a:spAutoFit/>
            </a:bodyPr>
            <a:lstStyle/>
            <a:p>
              <a:r>
                <a:rPr lang="en-US" sz="1200" dirty="0"/>
                <a:t>Interface to the user</a:t>
              </a:r>
            </a:p>
          </p:txBody>
        </p:sp>
        <p:sp>
          <p:nvSpPr>
            <p:cNvPr id="10" name="TextBox 9"/>
            <p:cNvSpPr txBox="1"/>
            <p:nvPr/>
          </p:nvSpPr>
          <p:spPr>
            <a:xfrm>
              <a:off x="6819900" y="4343400"/>
              <a:ext cx="1810111" cy="461665"/>
            </a:xfrm>
            <a:prstGeom prst="rect">
              <a:avLst/>
            </a:prstGeom>
            <a:noFill/>
          </p:spPr>
          <p:txBody>
            <a:bodyPr wrap="none" rtlCol="0">
              <a:spAutoFit/>
            </a:bodyPr>
            <a:lstStyle/>
            <a:p>
              <a:r>
                <a:rPr lang="en-US" sz="1200" dirty="0"/>
                <a:t>Interfaces to the</a:t>
              </a:r>
              <a:br>
                <a:rPr lang="en-US" sz="1200" dirty="0"/>
              </a:br>
              <a:r>
                <a:rPr lang="en-US" sz="1200" dirty="0"/>
                <a:t>different file systems</a:t>
              </a:r>
            </a:p>
          </p:txBody>
        </p:sp>
        <p:cxnSp>
          <p:nvCxnSpPr>
            <p:cNvPr id="11" name="Straight Arrow Connector 10"/>
            <p:cNvCxnSpPr>
              <a:stCxn id="10" idx="1"/>
            </p:cNvCxnSpPr>
            <p:nvPr/>
          </p:nvCxnSpPr>
          <p:spPr>
            <a:xfrm flipH="1" flipV="1">
              <a:off x="2667000" y="4267201"/>
              <a:ext cx="4152900" cy="307032"/>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10" idx="1"/>
            </p:cNvCxnSpPr>
            <p:nvPr/>
          </p:nvCxnSpPr>
          <p:spPr>
            <a:xfrm flipH="1" flipV="1">
              <a:off x="3657600" y="4267200"/>
              <a:ext cx="3162300" cy="307033"/>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10" idx="1"/>
            </p:cNvCxnSpPr>
            <p:nvPr/>
          </p:nvCxnSpPr>
          <p:spPr>
            <a:xfrm flipH="1" flipV="1">
              <a:off x="4572000" y="4267200"/>
              <a:ext cx="2247900" cy="307033"/>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grpSp>
      <p:sp>
        <p:nvSpPr>
          <p:cNvPr id="17" name="Date Placeholder 10"/>
          <p:cNvSpPr>
            <a:spLocks noGrp="1"/>
          </p:cNvSpPr>
          <p:nvPr>
            <p:ph type="dt" sz="half" idx="10"/>
          </p:nvPr>
        </p:nvSpPr>
        <p:spPr>
          <a:xfrm>
            <a:off x="628650" y="6356351"/>
            <a:ext cx="2057400" cy="365125"/>
          </a:xfrm>
        </p:spPr>
        <p:txBody>
          <a:bodyPr/>
          <a:lstStyle/>
          <a:p>
            <a:r>
              <a:rPr lang="en-US"/>
              <a:t>Vincenzo Gulisano</a:t>
            </a:r>
            <a:endParaRPr lang="en-US" dirty="0"/>
          </a:p>
        </p:txBody>
      </p:sp>
      <p:sp>
        <p:nvSpPr>
          <p:cNvPr id="21" name="Footer Placeholder 14"/>
          <p:cNvSpPr>
            <a:spLocks noGrp="1"/>
          </p:cNvSpPr>
          <p:nvPr>
            <p:ph type="ftr" sz="quarter" idx="11"/>
          </p:nvPr>
        </p:nvSpPr>
        <p:spPr>
          <a:xfrm>
            <a:off x="3028950" y="6356351"/>
            <a:ext cx="3086100" cy="365125"/>
          </a:xfrm>
        </p:spPr>
        <p:txBody>
          <a:bodyPr/>
          <a:lstStyle/>
          <a:p>
            <a:r>
              <a:rPr lang="en-US"/>
              <a:t>Operating Systems - File Systems</a:t>
            </a:r>
          </a:p>
        </p:txBody>
      </p:sp>
      <p:sp>
        <p:nvSpPr>
          <p:cNvPr id="7" name="Slide Number Placeholder 6">
            <a:extLst>
              <a:ext uri="{FF2B5EF4-FFF2-40B4-BE49-F238E27FC236}">
                <a16:creationId xmlns:a16="http://schemas.microsoft.com/office/drawing/2014/main" id="{1D0A3D23-41C7-A251-0770-8AB59EB78AF5}"/>
              </a:ext>
            </a:extLst>
          </p:cNvPr>
          <p:cNvSpPr>
            <a:spLocks noGrp="1"/>
          </p:cNvSpPr>
          <p:nvPr>
            <p:ph type="sldNum" sz="quarter" idx="12"/>
          </p:nvPr>
        </p:nvSpPr>
        <p:spPr/>
        <p:txBody>
          <a:bodyPr/>
          <a:lstStyle/>
          <a:p>
            <a:fld id="{BE0AC437-A1D8-4781-B86C-407FA400F126}" type="slidenum">
              <a:rPr lang="en-US" smtClean="0"/>
              <a:t>39</a:t>
            </a:fld>
            <a:endParaRPr lang="en-US"/>
          </a:p>
        </p:txBody>
      </p:sp>
    </p:spTree>
    <p:extLst>
      <p:ext uri="{BB962C8B-B14F-4D97-AF65-F5344CB8AC3E}">
        <p14:creationId xmlns:p14="http://schemas.microsoft.com/office/powerpoint/2010/main" val="339063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Files</a:t>
            </a:r>
          </a:p>
        </p:txBody>
      </p:sp>
      <p:grpSp>
        <p:nvGrpSpPr>
          <p:cNvPr id="3" name="Group 2"/>
          <p:cNvGrpSpPr/>
          <p:nvPr/>
        </p:nvGrpSpPr>
        <p:grpSpPr>
          <a:xfrm>
            <a:off x="914400" y="3669268"/>
            <a:ext cx="1300356" cy="1283732"/>
            <a:chOff x="914400" y="3669268"/>
            <a:chExt cx="1300356" cy="1283732"/>
          </a:xfrm>
        </p:grpSpPr>
        <p:sp>
          <p:nvSpPr>
            <p:cNvPr id="4" name="Rectangle 3"/>
            <p:cNvSpPr/>
            <p:nvPr/>
          </p:nvSpPr>
          <p:spPr>
            <a:xfrm>
              <a:off x="1107378" y="3669268"/>
              <a:ext cx="914400"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TextBox 4"/>
            <p:cNvSpPr txBox="1"/>
            <p:nvPr/>
          </p:nvSpPr>
          <p:spPr>
            <a:xfrm>
              <a:off x="914400" y="4583668"/>
              <a:ext cx="1300356" cy="369332"/>
            </a:xfrm>
            <a:prstGeom prst="rect">
              <a:avLst/>
            </a:prstGeom>
            <a:noFill/>
          </p:spPr>
          <p:txBody>
            <a:bodyPr wrap="none" rtlCol="0">
              <a:spAutoFit/>
            </a:bodyPr>
            <a:lstStyle/>
            <a:p>
              <a:r>
                <a:rPr lang="en-US" dirty="0"/>
                <a:t>Disk block n</a:t>
              </a:r>
            </a:p>
          </p:txBody>
        </p:sp>
      </p:grpSp>
      <p:sp>
        <p:nvSpPr>
          <p:cNvPr id="6" name="Cloud Callout 5"/>
          <p:cNvSpPr/>
          <p:nvPr/>
        </p:nvSpPr>
        <p:spPr>
          <a:xfrm>
            <a:off x="2402778" y="2061511"/>
            <a:ext cx="2133600" cy="1305741"/>
          </a:xfrm>
          <a:prstGeom prst="cloudCallout">
            <a:avLst>
              <a:gd name="adj1" fmla="val -76087"/>
              <a:gd name="adj2" fmla="val 87251"/>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t>Which file is this?</a:t>
            </a:r>
          </a:p>
        </p:txBody>
      </p:sp>
      <p:grpSp>
        <p:nvGrpSpPr>
          <p:cNvPr id="9" name="Group 8"/>
          <p:cNvGrpSpPr/>
          <p:nvPr/>
        </p:nvGrpSpPr>
        <p:grpSpPr>
          <a:xfrm>
            <a:off x="4724400" y="2061510"/>
            <a:ext cx="3461935" cy="1200330"/>
            <a:chOff x="4724400" y="2061510"/>
            <a:chExt cx="3461935" cy="1200330"/>
          </a:xfrm>
        </p:grpSpPr>
        <p:sp>
          <p:nvSpPr>
            <p:cNvPr id="7" name="TextBox 6"/>
            <p:cNvSpPr txBox="1"/>
            <p:nvPr/>
          </p:nvSpPr>
          <p:spPr>
            <a:xfrm>
              <a:off x="4800600" y="2061511"/>
              <a:ext cx="3385735" cy="1200329"/>
            </a:xfrm>
            <a:prstGeom prst="rect">
              <a:avLst/>
            </a:prstGeom>
            <a:noFill/>
          </p:spPr>
          <p:txBody>
            <a:bodyPr wrap="none" rtlCol="0">
              <a:spAutoFit/>
            </a:bodyPr>
            <a:lstStyle/>
            <a:p>
              <a:pPr marL="285750" indent="-285750">
                <a:buFont typeface="Arial" panose="020B0604020202020204" pitchFamily="34" charset="0"/>
                <a:buChar char="•"/>
              </a:pPr>
              <a:r>
                <a:rPr lang="en-US" dirty="0"/>
                <a:t>Contiguous allocation</a:t>
              </a:r>
            </a:p>
            <a:p>
              <a:pPr marL="285750" indent="-285750">
                <a:buFont typeface="Arial" panose="020B0604020202020204" pitchFamily="34" charset="0"/>
                <a:buChar char="•"/>
              </a:pPr>
              <a:r>
                <a:rPr lang="en-US" dirty="0"/>
                <a:t>Linked List allocation</a:t>
              </a:r>
            </a:p>
            <a:p>
              <a:pPr marL="742950" lvl="1" indent="-285750">
                <a:buFont typeface="Arial" panose="020B0604020202020204" pitchFamily="34" charset="0"/>
                <a:buChar char="•"/>
              </a:pPr>
              <a:r>
                <a:rPr lang="en-US" dirty="0"/>
                <a:t>FAT (File Allocation Table)</a:t>
              </a:r>
            </a:p>
            <a:p>
              <a:pPr marL="285750" indent="-285750">
                <a:buFont typeface="Arial" panose="020B0604020202020204" pitchFamily="34" charset="0"/>
                <a:buChar char="•"/>
              </a:pPr>
              <a:r>
                <a:rPr lang="en-US" dirty="0"/>
                <a:t>I-nodes (Index-nodes)</a:t>
              </a:r>
            </a:p>
          </p:txBody>
        </p:sp>
        <p:sp>
          <p:nvSpPr>
            <p:cNvPr id="8" name="Left Brace 7"/>
            <p:cNvSpPr/>
            <p:nvPr/>
          </p:nvSpPr>
          <p:spPr>
            <a:xfrm>
              <a:off x="4724400" y="2061510"/>
              <a:ext cx="228600" cy="1138889"/>
            </a:xfrm>
            <a:prstGeom prst="leftBrace">
              <a:avLst>
                <a:gd name="adj1" fmla="val 8333"/>
                <a:gd name="adj2" fmla="val 5245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0" name="Date Placeholder 9"/>
          <p:cNvSpPr>
            <a:spLocks noGrp="1"/>
          </p:cNvSpPr>
          <p:nvPr>
            <p:ph type="dt" sz="half" idx="10"/>
          </p:nvPr>
        </p:nvSpPr>
        <p:spPr/>
        <p:txBody>
          <a:bodyPr/>
          <a:lstStyle/>
          <a:p>
            <a:r>
              <a:rPr lang="en-US"/>
              <a:t>Vincenzo Gulisano</a:t>
            </a:r>
          </a:p>
        </p:txBody>
      </p:sp>
      <p:sp>
        <p:nvSpPr>
          <p:cNvPr id="13" name="Footer Placeholder 12"/>
          <p:cNvSpPr>
            <a:spLocks noGrp="1"/>
          </p:cNvSpPr>
          <p:nvPr>
            <p:ph type="ftr" sz="quarter" idx="11"/>
          </p:nvPr>
        </p:nvSpPr>
        <p:spPr/>
        <p:txBody>
          <a:bodyPr/>
          <a:lstStyle/>
          <a:p>
            <a:r>
              <a:rPr lang="en-US"/>
              <a:t>Operating Systems - File Systems</a:t>
            </a:r>
          </a:p>
        </p:txBody>
      </p:sp>
      <p:sp>
        <p:nvSpPr>
          <p:cNvPr id="12" name="Slide Number Placeholder 11">
            <a:extLst>
              <a:ext uri="{FF2B5EF4-FFF2-40B4-BE49-F238E27FC236}">
                <a16:creationId xmlns:a16="http://schemas.microsoft.com/office/drawing/2014/main" id="{ADB00946-2E0F-CA90-4398-93DDA7B54043}"/>
              </a:ext>
            </a:extLst>
          </p:cNvPr>
          <p:cNvSpPr>
            <a:spLocks noGrp="1"/>
          </p:cNvSpPr>
          <p:nvPr>
            <p:ph type="sldNum" sz="quarter" idx="12"/>
          </p:nvPr>
        </p:nvSpPr>
        <p:spPr/>
        <p:txBody>
          <a:bodyPr/>
          <a:lstStyle/>
          <a:p>
            <a:fld id="{BE0AC437-A1D8-4781-B86C-407FA400F126}" type="slidenum">
              <a:rPr lang="en-US" smtClean="0"/>
              <a:t>40</a:t>
            </a:fld>
            <a:endParaRPr lang="en-US"/>
          </a:p>
        </p:txBody>
      </p:sp>
    </p:spTree>
    <p:extLst>
      <p:ext uri="{BB962C8B-B14F-4D97-AF65-F5344CB8AC3E}">
        <p14:creationId xmlns:p14="http://schemas.microsoft.com/office/powerpoint/2010/main" val="213030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CA03F-132A-72EC-1516-18CAAC202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3E00C-1AEB-6D7C-B1E4-F784AC5CE45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DAA80F0B-7030-F72B-C894-ED3E16B5A7C9}"/>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solidFill>
                  <a:schemeClr val="bg2">
                    <a:lumMod val="90000"/>
                  </a:schemeClr>
                </a:solidFill>
              </a:rPr>
              <a:t>Access methods</a:t>
            </a:r>
          </a:p>
          <a:p>
            <a:r>
              <a:rPr lang="en-US" dirty="0">
                <a:solidFill>
                  <a:schemeClr val="bg2">
                    <a:lumMod val="90000"/>
                  </a:schemeClr>
                </a:solidFill>
              </a:rPr>
              <a:t>Disk structure</a:t>
            </a:r>
          </a:p>
          <a:p>
            <a:r>
              <a:rPr lang="en-US" dirty="0">
                <a:solidFill>
                  <a:schemeClr val="bg2">
                    <a:lumMod val="90000"/>
                  </a:schemeClr>
                </a:solidFill>
              </a:rPr>
              <a:t>Directory structure [Self-study]</a:t>
            </a:r>
          </a:p>
          <a:p>
            <a:r>
              <a:rPr lang="en-US" dirty="0">
                <a:solidFill>
                  <a:schemeClr val="bg2">
                    <a:lumMod val="90000"/>
                  </a:schemeClr>
                </a:solidFill>
              </a:rPr>
              <a:t>File system structure</a:t>
            </a:r>
          </a:p>
          <a:p>
            <a:r>
              <a:rPr lang="en-US" dirty="0"/>
              <a:t>Allocation methods</a:t>
            </a:r>
          </a:p>
          <a:p>
            <a:r>
              <a:rPr lang="en-US" dirty="0">
                <a:solidFill>
                  <a:schemeClr val="bg2">
                    <a:lumMod val="90000"/>
                  </a:schemeClr>
                </a:solidFill>
              </a:rPr>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270E2D9D-6640-284F-1C56-8F4CE06EF0F8}"/>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B4A58BB8-B748-2A5D-8F53-D177CEA2A27F}"/>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39386440-A1F3-1052-2F03-4CA16940AC35}"/>
              </a:ext>
            </a:extLst>
          </p:cNvPr>
          <p:cNvSpPr>
            <a:spLocks noGrp="1"/>
          </p:cNvSpPr>
          <p:nvPr>
            <p:ph type="sldNum" sz="quarter" idx="12"/>
          </p:nvPr>
        </p:nvSpPr>
        <p:spPr/>
        <p:txBody>
          <a:bodyPr/>
          <a:lstStyle/>
          <a:p>
            <a:fld id="{BE0AC437-A1D8-4781-B86C-407FA400F126}" type="slidenum">
              <a:rPr lang="en-US" smtClean="0"/>
              <a:t>41</a:t>
            </a:fld>
            <a:endParaRPr lang="en-US"/>
          </a:p>
        </p:txBody>
      </p:sp>
    </p:spTree>
    <p:extLst>
      <p:ext uri="{BB962C8B-B14F-4D97-AF65-F5344CB8AC3E}">
        <p14:creationId xmlns:p14="http://schemas.microsoft.com/office/powerpoint/2010/main" val="26650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a:t>
            </a:r>
          </a:p>
        </p:txBody>
      </p:sp>
      <p:grpSp>
        <p:nvGrpSpPr>
          <p:cNvPr id="6" name="Group 5"/>
          <p:cNvGrpSpPr/>
          <p:nvPr/>
        </p:nvGrpSpPr>
        <p:grpSpPr>
          <a:xfrm>
            <a:off x="1843318" y="1524000"/>
            <a:ext cx="5457365" cy="3089472"/>
            <a:chOff x="386668" y="1981200"/>
            <a:chExt cx="5457365" cy="3089472"/>
          </a:xfrm>
        </p:grpSpPr>
        <p:pic>
          <p:nvPicPr>
            <p:cNvPr id="4" name="Picture 6" descr="04-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668" y="1981200"/>
              <a:ext cx="5457365" cy="2819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86668" y="4793673"/>
              <a:ext cx="2942600" cy="276999"/>
            </a:xfrm>
            <a:prstGeom prst="rect">
              <a:avLst/>
            </a:prstGeom>
            <a:noFill/>
          </p:spPr>
          <p:txBody>
            <a:bodyPr wrap="none" rtlCol="0">
              <a:spAutoFit/>
            </a:bodyPr>
            <a:lstStyle/>
            <a:p>
              <a:r>
                <a:rPr lang="en-US" sz="1200" dirty="0"/>
                <a:t>Fig. Tanenbaum, Modern Operating Systems</a:t>
              </a:r>
            </a:p>
          </p:txBody>
        </p:sp>
      </p:grpSp>
      <p:grpSp>
        <p:nvGrpSpPr>
          <p:cNvPr id="12" name="Group 11"/>
          <p:cNvGrpSpPr/>
          <p:nvPr/>
        </p:nvGrpSpPr>
        <p:grpSpPr>
          <a:xfrm>
            <a:off x="350274" y="4885730"/>
            <a:ext cx="4662542" cy="914400"/>
            <a:chOff x="350274" y="4885730"/>
            <a:chExt cx="4662542" cy="914400"/>
          </a:xfrm>
        </p:grpSpPr>
        <p:sp>
          <p:nvSpPr>
            <p:cNvPr id="7" name="Plus 6"/>
            <p:cNvSpPr/>
            <p:nvPr/>
          </p:nvSpPr>
          <p:spPr>
            <a:xfrm>
              <a:off x="350274" y="4885730"/>
              <a:ext cx="914400" cy="914400"/>
            </a:xfrm>
            <a:prstGeom prst="mathPlus">
              <a:avLst/>
            </a:prstGeom>
            <a:solidFill>
              <a:srgbClr val="92D050"/>
            </a:solidFill>
            <a:ln>
              <a:solidFill>
                <a:srgbClr val="92D05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400"/>
            </a:p>
          </p:txBody>
        </p:sp>
        <p:sp>
          <p:nvSpPr>
            <p:cNvPr id="8" name="TextBox 7"/>
            <p:cNvSpPr txBox="1"/>
            <p:nvPr/>
          </p:nvSpPr>
          <p:spPr>
            <a:xfrm>
              <a:off x="1264674" y="4885730"/>
              <a:ext cx="3748142"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Need to maintain 2 numbers per file</a:t>
              </a:r>
              <a:br>
                <a:rPr lang="en-US" sz="1400" dirty="0"/>
              </a:br>
              <a:r>
                <a:rPr lang="en-US" sz="1400" dirty="0"/>
                <a:t>(first address, number of blocks).</a:t>
              </a:r>
            </a:p>
            <a:p>
              <a:pPr marL="285750" indent="-285750">
                <a:buFont typeface="Arial" panose="020B0604020202020204" pitchFamily="34" charset="0"/>
                <a:buChar char="•"/>
              </a:pPr>
              <a:r>
                <a:rPr lang="en-US" sz="1400" dirty="0"/>
                <a:t>Read performance (single scan).</a:t>
              </a:r>
            </a:p>
          </p:txBody>
        </p:sp>
      </p:grpSp>
      <p:grpSp>
        <p:nvGrpSpPr>
          <p:cNvPr id="15" name="Group 14"/>
          <p:cNvGrpSpPr/>
          <p:nvPr/>
        </p:nvGrpSpPr>
        <p:grpSpPr>
          <a:xfrm>
            <a:off x="5303274" y="4885730"/>
            <a:ext cx="3410430" cy="914400"/>
            <a:chOff x="5303274" y="4885730"/>
            <a:chExt cx="3410430" cy="914400"/>
          </a:xfrm>
        </p:grpSpPr>
        <p:sp>
          <p:nvSpPr>
            <p:cNvPr id="10" name="Minus 9"/>
            <p:cNvSpPr/>
            <p:nvPr/>
          </p:nvSpPr>
          <p:spPr>
            <a:xfrm>
              <a:off x="5303274" y="4885730"/>
              <a:ext cx="914400" cy="914400"/>
            </a:xfrm>
            <a:prstGeom prst="mathMinus">
              <a:avLst/>
            </a:prstGeom>
            <a:solidFill>
              <a:srgbClr val="FF0000"/>
            </a:solidFill>
            <a:ln>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a:p>
          </p:txBody>
        </p:sp>
        <p:sp>
          <p:nvSpPr>
            <p:cNvPr id="11" name="TextBox 10"/>
            <p:cNvSpPr txBox="1"/>
            <p:nvPr/>
          </p:nvSpPr>
          <p:spPr>
            <a:xfrm>
              <a:off x="6293874" y="4885730"/>
              <a:ext cx="2419830"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Fragmentation.</a:t>
              </a:r>
            </a:p>
            <a:p>
              <a:pPr marL="285750" indent="-285750">
                <a:buFont typeface="Arial" panose="020B0604020202020204" pitchFamily="34" charset="0"/>
                <a:buChar char="•"/>
              </a:pPr>
              <a:r>
                <a:rPr lang="en-US" sz="1400" dirty="0"/>
                <a:t>New file size required</a:t>
              </a:r>
              <a:br>
                <a:rPr lang="en-US" sz="1400" dirty="0"/>
              </a:br>
              <a:r>
                <a:rPr lang="en-US" sz="1400" dirty="0"/>
                <a:t>in advance.</a:t>
              </a:r>
            </a:p>
          </p:txBody>
        </p:sp>
      </p:grpSp>
      <p:sp>
        <p:nvSpPr>
          <p:cNvPr id="14" name="TextBox 13"/>
          <p:cNvSpPr txBox="1"/>
          <p:nvPr/>
        </p:nvSpPr>
        <p:spPr>
          <a:xfrm>
            <a:off x="756917" y="6093069"/>
            <a:ext cx="6630341" cy="307777"/>
          </a:xfrm>
          <a:prstGeom prst="rect">
            <a:avLst/>
          </a:prstGeom>
          <a:noFill/>
        </p:spPr>
        <p:txBody>
          <a:bodyPr wrap="none" rtlCol="0">
            <a:spAutoFit/>
          </a:bodyPr>
          <a:lstStyle/>
          <a:p>
            <a:r>
              <a:rPr lang="en-US" sz="1400" i="1" dirty="0"/>
              <a:t>In which physical support is contiguous allocation actually a good idea?</a:t>
            </a:r>
            <a:endParaRPr lang="en-US" sz="1400" b="1" dirty="0"/>
          </a:p>
        </p:txBody>
      </p:sp>
      <p:sp>
        <p:nvSpPr>
          <p:cNvPr id="3" name="Date Placeholder 2"/>
          <p:cNvSpPr>
            <a:spLocks noGrp="1"/>
          </p:cNvSpPr>
          <p:nvPr>
            <p:ph type="dt" sz="half" idx="10"/>
          </p:nvPr>
        </p:nvSpPr>
        <p:spPr/>
        <p:txBody>
          <a:bodyPr/>
          <a:lstStyle/>
          <a:p>
            <a:r>
              <a:rPr lang="en-US"/>
              <a:t>Vincenzo Gulisano</a:t>
            </a:r>
          </a:p>
        </p:txBody>
      </p:sp>
      <p:sp>
        <p:nvSpPr>
          <p:cNvPr id="17" name="Footer Placeholder 16"/>
          <p:cNvSpPr>
            <a:spLocks noGrp="1"/>
          </p:cNvSpPr>
          <p:nvPr>
            <p:ph type="ftr" sz="quarter" idx="11"/>
          </p:nvPr>
        </p:nvSpPr>
        <p:spPr/>
        <p:txBody>
          <a:bodyPr/>
          <a:lstStyle/>
          <a:p>
            <a:r>
              <a:rPr lang="en-US"/>
              <a:t>Operating Systems - File Systems</a:t>
            </a:r>
          </a:p>
        </p:txBody>
      </p:sp>
      <p:sp>
        <p:nvSpPr>
          <p:cNvPr id="13" name="Slide Number Placeholder 12">
            <a:extLst>
              <a:ext uri="{FF2B5EF4-FFF2-40B4-BE49-F238E27FC236}">
                <a16:creationId xmlns:a16="http://schemas.microsoft.com/office/drawing/2014/main" id="{C397892F-8AAC-C5A9-1240-970E8D410F79}"/>
              </a:ext>
            </a:extLst>
          </p:cNvPr>
          <p:cNvSpPr>
            <a:spLocks noGrp="1"/>
          </p:cNvSpPr>
          <p:nvPr>
            <p:ph type="sldNum" sz="quarter" idx="12"/>
          </p:nvPr>
        </p:nvSpPr>
        <p:spPr/>
        <p:txBody>
          <a:bodyPr/>
          <a:lstStyle/>
          <a:p>
            <a:fld id="{BE0AC437-A1D8-4781-B86C-407FA400F126}" type="slidenum">
              <a:rPr lang="en-US" smtClean="0"/>
              <a:t>42</a:t>
            </a:fld>
            <a:endParaRPr lang="en-US"/>
          </a:p>
        </p:txBody>
      </p:sp>
    </p:spTree>
    <p:extLst>
      <p:ext uri="{BB962C8B-B14F-4D97-AF65-F5344CB8AC3E}">
        <p14:creationId xmlns:p14="http://schemas.microsoft.com/office/powerpoint/2010/main" val="62212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List allocation</a:t>
            </a:r>
          </a:p>
        </p:txBody>
      </p:sp>
      <p:grpSp>
        <p:nvGrpSpPr>
          <p:cNvPr id="6" name="Group 5"/>
          <p:cNvGrpSpPr/>
          <p:nvPr/>
        </p:nvGrpSpPr>
        <p:grpSpPr>
          <a:xfrm>
            <a:off x="2186300" y="1371600"/>
            <a:ext cx="4771400" cy="3366471"/>
            <a:chOff x="1828800" y="1524000"/>
            <a:chExt cx="4771400" cy="3366471"/>
          </a:xfrm>
        </p:grpSpPr>
        <p:pic>
          <p:nvPicPr>
            <p:cNvPr id="4" name="Picture 6" descr="04-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524000"/>
              <a:ext cx="4419600" cy="31777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657600" y="4613472"/>
              <a:ext cx="2942600" cy="276999"/>
            </a:xfrm>
            <a:prstGeom prst="rect">
              <a:avLst/>
            </a:prstGeom>
            <a:noFill/>
          </p:spPr>
          <p:txBody>
            <a:bodyPr wrap="none" rtlCol="0">
              <a:spAutoFit/>
            </a:bodyPr>
            <a:lstStyle/>
            <a:p>
              <a:r>
                <a:rPr lang="en-US" sz="1200" dirty="0"/>
                <a:t>Fig. Tanenbaum, Modern Operating Systems</a:t>
              </a:r>
            </a:p>
          </p:txBody>
        </p:sp>
      </p:grpSp>
      <p:grpSp>
        <p:nvGrpSpPr>
          <p:cNvPr id="13" name="Group 12"/>
          <p:cNvGrpSpPr/>
          <p:nvPr/>
        </p:nvGrpSpPr>
        <p:grpSpPr>
          <a:xfrm>
            <a:off x="350274" y="5020270"/>
            <a:ext cx="4662542" cy="914400"/>
            <a:chOff x="350274" y="5020270"/>
            <a:chExt cx="4662542" cy="914400"/>
          </a:xfrm>
        </p:grpSpPr>
        <p:sp>
          <p:nvSpPr>
            <p:cNvPr id="8" name="Plus 7"/>
            <p:cNvSpPr/>
            <p:nvPr/>
          </p:nvSpPr>
          <p:spPr>
            <a:xfrm>
              <a:off x="350274" y="5020270"/>
              <a:ext cx="914400" cy="914400"/>
            </a:xfrm>
            <a:prstGeom prst="mathPlus">
              <a:avLst/>
            </a:prstGeom>
            <a:solidFill>
              <a:srgbClr val="92D050"/>
            </a:solidFill>
            <a:ln>
              <a:solidFill>
                <a:srgbClr val="92D05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400"/>
            </a:p>
          </p:txBody>
        </p:sp>
        <p:sp>
          <p:nvSpPr>
            <p:cNvPr id="9" name="TextBox 8"/>
            <p:cNvSpPr txBox="1"/>
            <p:nvPr/>
          </p:nvSpPr>
          <p:spPr>
            <a:xfrm>
              <a:off x="1264674" y="5020270"/>
              <a:ext cx="3748142" cy="523220"/>
            </a:xfrm>
            <a:prstGeom prst="rect">
              <a:avLst/>
            </a:prstGeom>
            <a:noFill/>
          </p:spPr>
          <p:txBody>
            <a:bodyPr wrap="none" rtlCol="0">
              <a:spAutoFit/>
            </a:bodyPr>
            <a:lstStyle/>
            <a:p>
              <a:pPr marL="285750" indent="-285750">
                <a:buFont typeface="Arial" panose="020B0604020202020204" pitchFamily="34" charset="0"/>
                <a:buChar char="•"/>
              </a:pPr>
              <a:r>
                <a:rPr lang="en-US" sz="1400" dirty="0"/>
                <a:t>Need to maintain 1 number per file</a:t>
              </a:r>
              <a:br>
                <a:rPr lang="en-US" sz="1400" dirty="0"/>
              </a:br>
              <a:r>
                <a:rPr lang="en-US" sz="1400" dirty="0"/>
                <a:t>(first address).</a:t>
              </a:r>
            </a:p>
          </p:txBody>
        </p:sp>
      </p:grpSp>
      <p:grpSp>
        <p:nvGrpSpPr>
          <p:cNvPr id="14" name="Group 13"/>
          <p:cNvGrpSpPr/>
          <p:nvPr/>
        </p:nvGrpSpPr>
        <p:grpSpPr>
          <a:xfrm>
            <a:off x="5303274" y="5020270"/>
            <a:ext cx="3348810" cy="914400"/>
            <a:chOff x="5303274" y="5020270"/>
            <a:chExt cx="3348810" cy="914400"/>
          </a:xfrm>
        </p:grpSpPr>
        <p:sp>
          <p:nvSpPr>
            <p:cNvPr id="11" name="Minus 10"/>
            <p:cNvSpPr/>
            <p:nvPr/>
          </p:nvSpPr>
          <p:spPr>
            <a:xfrm>
              <a:off x="5303274" y="5020270"/>
              <a:ext cx="914400" cy="914400"/>
            </a:xfrm>
            <a:prstGeom prst="mathMinus">
              <a:avLst/>
            </a:prstGeom>
            <a:solidFill>
              <a:srgbClr val="FF0000"/>
            </a:solidFill>
            <a:ln>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a:p>
          </p:txBody>
        </p:sp>
        <p:sp>
          <p:nvSpPr>
            <p:cNvPr id="12" name="TextBox 11"/>
            <p:cNvSpPr txBox="1"/>
            <p:nvPr/>
          </p:nvSpPr>
          <p:spPr>
            <a:xfrm>
              <a:off x="6293874" y="5020270"/>
              <a:ext cx="2358210"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Get block n?</a:t>
              </a:r>
            </a:p>
            <a:p>
              <a:pPr marL="285750" indent="-285750">
                <a:buFont typeface="Arial" panose="020B0604020202020204" pitchFamily="34" charset="0"/>
                <a:buChar char="•"/>
              </a:pPr>
              <a:r>
                <a:rPr lang="en-US" sz="1400" dirty="0"/>
                <a:t>Less space available </a:t>
              </a:r>
              <a:br>
                <a:rPr lang="en-US" sz="1400" dirty="0"/>
              </a:br>
              <a:r>
                <a:rPr lang="en-US" sz="1400" dirty="0"/>
                <a:t>per block.</a:t>
              </a:r>
            </a:p>
          </p:txBody>
        </p:sp>
      </p:grpSp>
      <p:sp>
        <p:nvSpPr>
          <p:cNvPr id="3" name="Date Placeholder 2"/>
          <p:cNvSpPr>
            <a:spLocks noGrp="1"/>
          </p:cNvSpPr>
          <p:nvPr>
            <p:ph type="dt" sz="half" idx="10"/>
          </p:nvPr>
        </p:nvSpPr>
        <p:spPr/>
        <p:txBody>
          <a:bodyPr/>
          <a:lstStyle/>
          <a:p>
            <a:r>
              <a:rPr lang="en-US"/>
              <a:t>Vincenzo Gulisano</a:t>
            </a:r>
          </a:p>
        </p:txBody>
      </p:sp>
      <p:sp>
        <p:nvSpPr>
          <p:cNvPr id="15" name="Footer Placeholder 14"/>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BDBA6728-04A2-27CD-80EE-98A0E796DB87}"/>
              </a:ext>
            </a:extLst>
          </p:cNvPr>
          <p:cNvSpPr>
            <a:spLocks noGrp="1"/>
          </p:cNvSpPr>
          <p:nvPr>
            <p:ph type="sldNum" sz="quarter" idx="12"/>
          </p:nvPr>
        </p:nvSpPr>
        <p:spPr/>
        <p:txBody>
          <a:bodyPr/>
          <a:lstStyle/>
          <a:p>
            <a:fld id="{BE0AC437-A1D8-4781-B86C-407FA400F126}" type="slidenum">
              <a:rPr lang="en-US" smtClean="0"/>
              <a:t>43</a:t>
            </a:fld>
            <a:endParaRPr lang="en-US"/>
          </a:p>
        </p:txBody>
      </p:sp>
    </p:spTree>
    <p:extLst>
      <p:ext uri="{BB962C8B-B14F-4D97-AF65-F5344CB8AC3E}">
        <p14:creationId xmlns:p14="http://schemas.microsoft.com/office/powerpoint/2010/main" val="309740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800600" y="1828800"/>
            <a:ext cx="3962400" cy="923330"/>
          </a:xfrm>
          <a:prstGeom prst="rect">
            <a:avLst/>
          </a:prstGeom>
          <a:noFill/>
        </p:spPr>
        <p:txBody>
          <a:bodyPr wrap="square" rtlCol="0">
            <a:spAutoFit/>
          </a:bodyPr>
          <a:lstStyle/>
          <a:p>
            <a:r>
              <a:rPr lang="en-US" dirty="0"/>
              <a:t>Disk: 40 GB</a:t>
            </a:r>
          </a:p>
          <a:p>
            <a:r>
              <a:rPr lang="en-US" dirty="0"/>
              <a:t>Block size: 1 KB</a:t>
            </a:r>
            <a:br>
              <a:rPr lang="en-US" dirty="0"/>
            </a:br>
            <a:r>
              <a:rPr lang="en-US" dirty="0"/>
              <a:t>Table entry: 3 B</a:t>
            </a:r>
          </a:p>
        </p:txBody>
      </p:sp>
      <p:grpSp>
        <p:nvGrpSpPr>
          <p:cNvPr id="6" name="Group 5"/>
          <p:cNvGrpSpPr/>
          <p:nvPr/>
        </p:nvGrpSpPr>
        <p:grpSpPr>
          <a:xfrm>
            <a:off x="1143000" y="1219200"/>
            <a:ext cx="3105150" cy="3778394"/>
            <a:chOff x="1143000" y="1219200"/>
            <a:chExt cx="3105150" cy="3778394"/>
          </a:xfrm>
        </p:grpSpPr>
        <p:pic>
          <p:nvPicPr>
            <p:cNvPr id="4" name="Picture 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1219200"/>
              <a:ext cx="2800350"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143000" y="4720595"/>
              <a:ext cx="2942600" cy="276999"/>
            </a:xfrm>
            <a:prstGeom prst="rect">
              <a:avLst/>
            </a:prstGeom>
            <a:noFill/>
          </p:spPr>
          <p:txBody>
            <a:bodyPr wrap="none" rtlCol="0">
              <a:spAutoFit/>
            </a:bodyPr>
            <a:lstStyle/>
            <a:p>
              <a:r>
                <a:rPr lang="en-US" sz="1200" dirty="0"/>
                <a:t>Fig. Tanenbaum, Modern Operating Systems</a:t>
              </a:r>
            </a:p>
          </p:txBody>
        </p:sp>
      </p:grpSp>
      <p:grpSp>
        <p:nvGrpSpPr>
          <p:cNvPr id="17" name="Group 16"/>
          <p:cNvGrpSpPr/>
          <p:nvPr/>
        </p:nvGrpSpPr>
        <p:grpSpPr>
          <a:xfrm>
            <a:off x="350274" y="5370514"/>
            <a:ext cx="4070392" cy="914400"/>
            <a:chOff x="350274" y="5370514"/>
            <a:chExt cx="4070392" cy="914400"/>
          </a:xfrm>
        </p:grpSpPr>
        <p:sp>
          <p:nvSpPr>
            <p:cNvPr id="8" name="Plus 7"/>
            <p:cNvSpPr/>
            <p:nvPr/>
          </p:nvSpPr>
          <p:spPr>
            <a:xfrm>
              <a:off x="350274" y="5370514"/>
              <a:ext cx="914400" cy="914400"/>
            </a:xfrm>
            <a:prstGeom prst="mathPlus">
              <a:avLst/>
            </a:prstGeom>
            <a:solidFill>
              <a:srgbClr val="92D050"/>
            </a:solidFill>
            <a:ln>
              <a:solidFill>
                <a:srgbClr val="92D05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400"/>
            </a:p>
          </p:txBody>
        </p:sp>
        <p:sp>
          <p:nvSpPr>
            <p:cNvPr id="9" name="TextBox 8"/>
            <p:cNvSpPr txBox="1"/>
            <p:nvPr/>
          </p:nvSpPr>
          <p:spPr>
            <a:xfrm>
              <a:off x="1264674" y="5370514"/>
              <a:ext cx="3155992"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When loaded in memory, disk</a:t>
              </a:r>
              <a:br>
                <a:rPr lang="en-US" sz="1400" dirty="0"/>
              </a:br>
              <a:r>
                <a:rPr lang="en-US" sz="1400" dirty="0"/>
                <a:t>blocks used only for data.</a:t>
              </a:r>
            </a:p>
            <a:p>
              <a:pPr marL="285750" indent="-285750">
                <a:buFont typeface="Arial" panose="020B0604020202020204" pitchFamily="34" charset="0"/>
                <a:buChar char="•"/>
              </a:pPr>
              <a:r>
                <a:rPr lang="en-US" sz="1400" dirty="0"/>
                <a:t>Faster random access.</a:t>
              </a:r>
            </a:p>
          </p:txBody>
        </p:sp>
      </p:grpSp>
      <p:grpSp>
        <p:nvGrpSpPr>
          <p:cNvPr id="18" name="Group 17"/>
          <p:cNvGrpSpPr/>
          <p:nvPr/>
        </p:nvGrpSpPr>
        <p:grpSpPr>
          <a:xfrm>
            <a:off x="5303274" y="5370514"/>
            <a:ext cx="3525140" cy="914400"/>
            <a:chOff x="5303274" y="5370514"/>
            <a:chExt cx="3525140" cy="914400"/>
          </a:xfrm>
        </p:grpSpPr>
        <p:sp>
          <p:nvSpPr>
            <p:cNvPr id="10" name="Minus 9"/>
            <p:cNvSpPr/>
            <p:nvPr/>
          </p:nvSpPr>
          <p:spPr>
            <a:xfrm>
              <a:off x="5303274" y="5370514"/>
              <a:ext cx="914400" cy="914400"/>
            </a:xfrm>
            <a:prstGeom prst="mathMinus">
              <a:avLst/>
            </a:prstGeom>
            <a:solidFill>
              <a:srgbClr val="FF0000"/>
            </a:solidFill>
            <a:ln>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a:p>
          </p:txBody>
        </p:sp>
        <p:sp>
          <p:nvSpPr>
            <p:cNvPr id="11" name="TextBox 10"/>
            <p:cNvSpPr txBox="1"/>
            <p:nvPr/>
          </p:nvSpPr>
          <p:spPr>
            <a:xfrm>
              <a:off x="6293874" y="5370514"/>
              <a:ext cx="2534540" cy="523220"/>
            </a:xfrm>
            <a:prstGeom prst="rect">
              <a:avLst/>
            </a:prstGeom>
            <a:noFill/>
          </p:spPr>
          <p:txBody>
            <a:bodyPr wrap="none" rtlCol="0">
              <a:spAutoFit/>
            </a:bodyPr>
            <a:lstStyle/>
            <a:p>
              <a:pPr marL="285750" indent="-285750">
                <a:buFont typeface="Arial" panose="020B0604020202020204" pitchFamily="34" charset="0"/>
                <a:buChar char="•"/>
              </a:pPr>
              <a:r>
                <a:rPr lang="en-US" sz="1400" dirty="0"/>
                <a:t>Need to keep the table</a:t>
              </a:r>
              <a:br>
                <a:rPr lang="en-US" sz="1400" dirty="0"/>
              </a:br>
              <a:r>
                <a:rPr lang="en-US" sz="1400" dirty="0"/>
                <a:t>in memory.</a:t>
              </a:r>
            </a:p>
          </p:txBody>
        </p:sp>
      </p:grpSp>
      <p:sp>
        <p:nvSpPr>
          <p:cNvPr id="2" name="Title 1"/>
          <p:cNvSpPr>
            <a:spLocks noGrp="1"/>
          </p:cNvSpPr>
          <p:nvPr>
            <p:ph type="title"/>
          </p:nvPr>
        </p:nvSpPr>
        <p:spPr/>
        <p:txBody>
          <a:bodyPr>
            <a:normAutofit/>
          </a:bodyPr>
          <a:lstStyle/>
          <a:p>
            <a:r>
              <a:rPr lang="en-US" dirty="0"/>
              <a:t>Linked List allocation using FAT</a:t>
            </a:r>
          </a:p>
        </p:txBody>
      </p:sp>
      <p:sp>
        <p:nvSpPr>
          <p:cNvPr id="13" name="Right Brace 12"/>
          <p:cNvSpPr/>
          <p:nvPr/>
        </p:nvSpPr>
        <p:spPr>
          <a:xfrm>
            <a:off x="7002051" y="1828800"/>
            <a:ext cx="155448"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244506" y="2101334"/>
            <a:ext cx="2133600" cy="369332"/>
          </a:xfrm>
          <a:prstGeom prst="rect">
            <a:avLst/>
          </a:prstGeom>
          <a:noFill/>
        </p:spPr>
        <p:txBody>
          <a:bodyPr wrap="square" rtlCol="0">
            <a:spAutoFit/>
          </a:bodyPr>
          <a:lstStyle/>
          <a:p>
            <a:r>
              <a:rPr lang="en-US" dirty="0"/>
              <a:t>How much memory?</a:t>
            </a:r>
          </a:p>
        </p:txBody>
      </p:sp>
      <p:sp>
        <p:nvSpPr>
          <p:cNvPr id="15" name="TextBox 14"/>
          <p:cNvSpPr txBox="1"/>
          <p:nvPr/>
        </p:nvSpPr>
        <p:spPr>
          <a:xfrm>
            <a:off x="4800600" y="3048000"/>
            <a:ext cx="3962400" cy="646331"/>
          </a:xfrm>
          <a:prstGeom prst="rect">
            <a:avLst/>
          </a:prstGeom>
          <a:noFill/>
        </p:spPr>
        <p:txBody>
          <a:bodyPr wrap="square" rtlCol="0">
            <a:spAutoFit/>
          </a:bodyPr>
          <a:lstStyle/>
          <a:p>
            <a:r>
              <a:rPr lang="en-US" dirty="0"/>
              <a:t>40 x 1024 x 1024 blocks * 3 bytes/block</a:t>
            </a:r>
          </a:p>
          <a:p>
            <a:r>
              <a:rPr lang="en-US" dirty="0"/>
              <a:t>120 MB</a:t>
            </a:r>
          </a:p>
        </p:txBody>
      </p:sp>
      <p:sp>
        <p:nvSpPr>
          <p:cNvPr id="3" name="Date Placeholder 2"/>
          <p:cNvSpPr>
            <a:spLocks noGrp="1"/>
          </p:cNvSpPr>
          <p:nvPr>
            <p:ph type="dt" sz="half" idx="10"/>
          </p:nvPr>
        </p:nvSpPr>
        <p:spPr/>
        <p:txBody>
          <a:bodyPr/>
          <a:lstStyle/>
          <a:p>
            <a:r>
              <a:rPr lang="en-US"/>
              <a:t>Vincenzo Gulisano</a:t>
            </a:r>
          </a:p>
        </p:txBody>
      </p:sp>
      <p:sp>
        <p:nvSpPr>
          <p:cNvPr id="20" name="Footer Placeholder 19"/>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0F846250-41D5-DD05-7B32-78E22B6D6E23}"/>
              </a:ext>
            </a:extLst>
          </p:cNvPr>
          <p:cNvSpPr>
            <a:spLocks noGrp="1"/>
          </p:cNvSpPr>
          <p:nvPr>
            <p:ph type="sldNum" sz="quarter" idx="12"/>
          </p:nvPr>
        </p:nvSpPr>
        <p:spPr/>
        <p:txBody>
          <a:bodyPr/>
          <a:lstStyle/>
          <a:p>
            <a:fld id="{BE0AC437-A1D8-4781-B86C-407FA400F126}" type="slidenum">
              <a:rPr lang="en-US" smtClean="0"/>
              <a:t>44</a:t>
            </a:fld>
            <a:endParaRPr lang="en-US"/>
          </a:p>
        </p:txBody>
      </p:sp>
    </p:spTree>
    <p:extLst>
      <p:ext uri="{BB962C8B-B14F-4D97-AF65-F5344CB8AC3E}">
        <p14:creationId xmlns:p14="http://schemas.microsoft.com/office/powerpoint/2010/main" val="153326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I-nodes</a:t>
            </a:r>
          </a:p>
        </p:txBody>
      </p:sp>
      <p:grpSp>
        <p:nvGrpSpPr>
          <p:cNvPr id="6" name="Group 5"/>
          <p:cNvGrpSpPr/>
          <p:nvPr/>
        </p:nvGrpSpPr>
        <p:grpSpPr>
          <a:xfrm>
            <a:off x="2684181" y="1295400"/>
            <a:ext cx="3775639" cy="3814447"/>
            <a:chOff x="2438400" y="1143000"/>
            <a:chExt cx="3775639" cy="3814447"/>
          </a:xfrm>
        </p:grpSpPr>
        <p:pic>
          <p:nvPicPr>
            <p:cNvPr id="4" name="Picture 6" descr="04-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1143000"/>
              <a:ext cx="3775639" cy="34972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854919" y="4680448"/>
              <a:ext cx="2942600" cy="276999"/>
            </a:xfrm>
            <a:prstGeom prst="rect">
              <a:avLst/>
            </a:prstGeom>
            <a:noFill/>
          </p:spPr>
          <p:txBody>
            <a:bodyPr wrap="none" rtlCol="0">
              <a:spAutoFit/>
            </a:bodyPr>
            <a:lstStyle/>
            <a:p>
              <a:r>
                <a:rPr lang="en-US" sz="1200" dirty="0"/>
                <a:t>Fig. Tanenbaum, Modern Operating Systems</a:t>
              </a:r>
            </a:p>
          </p:txBody>
        </p:sp>
      </p:grpSp>
      <p:grpSp>
        <p:nvGrpSpPr>
          <p:cNvPr id="13" name="Group 12"/>
          <p:cNvGrpSpPr/>
          <p:nvPr/>
        </p:nvGrpSpPr>
        <p:grpSpPr>
          <a:xfrm>
            <a:off x="350274" y="5370514"/>
            <a:ext cx="4768340" cy="954107"/>
            <a:chOff x="350274" y="5370514"/>
            <a:chExt cx="4768340" cy="954107"/>
          </a:xfrm>
        </p:grpSpPr>
        <p:sp>
          <p:nvSpPr>
            <p:cNvPr id="8" name="Plus 7"/>
            <p:cNvSpPr/>
            <p:nvPr/>
          </p:nvSpPr>
          <p:spPr>
            <a:xfrm>
              <a:off x="350274" y="5370514"/>
              <a:ext cx="914400" cy="914400"/>
            </a:xfrm>
            <a:prstGeom prst="mathPlus">
              <a:avLst/>
            </a:prstGeom>
            <a:solidFill>
              <a:srgbClr val="92D050"/>
            </a:solidFill>
            <a:ln>
              <a:solidFill>
                <a:srgbClr val="92D05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400"/>
            </a:p>
          </p:txBody>
        </p:sp>
        <p:sp>
          <p:nvSpPr>
            <p:cNvPr id="9" name="TextBox 8"/>
            <p:cNvSpPr txBox="1"/>
            <p:nvPr/>
          </p:nvSpPr>
          <p:spPr>
            <a:xfrm>
              <a:off x="1264674" y="5370514"/>
              <a:ext cx="3853940" cy="954107"/>
            </a:xfrm>
            <a:prstGeom prst="rect">
              <a:avLst/>
            </a:prstGeom>
            <a:noFill/>
          </p:spPr>
          <p:txBody>
            <a:bodyPr wrap="none" rtlCol="0">
              <a:spAutoFit/>
            </a:bodyPr>
            <a:lstStyle/>
            <a:p>
              <a:pPr marL="285750" indent="-285750">
                <a:buFont typeface="Arial" panose="020B0604020202020204" pitchFamily="34" charset="0"/>
                <a:buChar char="•"/>
              </a:pPr>
              <a:r>
                <a:rPr lang="en-US" sz="1400" dirty="0"/>
                <a:t>If loading I-nodes only for</a:t>
              </a:r>
              <a:br>
                <a:rPr lang="en-US" sz="1400" dirty="0"/>
              </a:br>
              <a:r>
                <a:rPr lang="en-US" sz="1400" dirty="0"/>
                <a:t>opened files </a:t>
              </a:r>
              <a:r>
                <a:rPr lang="en-US" sz="1400" dirty="0">
                  <a:sym typeface="Wingdings" panose="05000000000000000000" pitchFamily="2" charset="2"/>
                </a:rPr>
                <a:t> Less memory needed.</a:t>
              </a:r>
            </a:p>
            <a:p>
              <a:pPr marL="285750" indent="-285750">
                <a:buFont typeface="Arial" panose="020B0604020202020204" pitchFamily="34" charset="0"/>
                <a:buChar char="•"/>
              </a:pPr>
              <a:r>
                <a:rPr lang="en-US" sz="1400" dirty="0">
                  <a:sym typeface="Wingdings" panose="05000000000000000000" pitchFamily="2" charset="2"/>
                </a:rPr>
                <a:t>Memory needed proportional to the</a:t>
              </a:r>
              <a:br>
                <a:rPr lang="en-US" sz="1400" dirty="0">
                  <a:sym typeface="Wingdings" panose="05000000000000000000" pitchFamily="2" charset="2"/>
                </a:rPr>
              </a:br>
              <a:r>
                <a:rPr lang="en-US" sz="1400" dirty="0">
                  <a:sym typeface="Wingdings" panose="05000000000000000000" pitchFamily="2" charset="2"/>
                </a:rPr>
                <a:t>maximum number of open files.</a:t>
              </a:r>
            </a:p>
          </p:txBody>
        </p:sp>
      </p:grpSp>
      <p:grpSp>
        <p:nvGrpSpPr>
          <p:cNvPr id="14" name="Group 13"/>
          <p:cNvGrpSpPr/>
          <p:nvPr/>
        </p:nvGrpSpPr>
        <p:grpSpPr>
          <a:xfrm>
            <a:off x="5303274" y="5370514"/>
            <a:ext cx="3355350" cy="914400"/>
            <a:chOff x="5303274" y="5370514"/>
            <a:chExt cx="3355350" cy="914400"/>
          </a:xfrm>
        </p:grpSpPr>
        <p:sp>
          <p:nvSpPr>
            <p:cNvPr id="10" name="Minus 9"/>
            <p:cNvSpPr/>
            <p:nvPr/>
          </p:nvSpPr>
          <p:spPr>
            <a:xfrm>
              <a:off x="5303274" y="5370514"/>
              <a:ext cx="914400" cy="914400"/>
            </a:xfrm>
            <a:prstGeom prst="mathMinus">
              <a:avLst/>
            </a:prstGeom>
            <a:solidFill>
              <a:srgbClr val="FF0000"/>
            </a:solidFill>
            <a:ln>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a:p>
          </p:txBody>
        </p:sp>
        <p:sp>
          <p:nvSpPr>
            <p:cNvPr id="11" name="TextBox 10"/>
            <p:cNvSpPr txBox="1"/>
            <p:nvPr/>
          </p:nvSpPr>
          <p:spPr>
            <a:xfrm>
              <a:off x="6293874" y="5370514"/>
              <a:ext cx="2364750"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Complex if file grows</a:t>
              </a:r>
              <a:br>
                <a:rPr lang="en-US" sz="1400" dirty="0"/>
              </a:br>
              <a:r>
                <a:rPr lang="en-US" sz="1400" dirty="0"/>
                <a:t>beyond number</a:t>
              </a:r>
              <a:br>
                <a:rPr lang="en-US" sz="1400" dirty="0"/>
              </a:br>
              <a:r>
                <a:rPr lang="en-US" sz="1400" dirty="0"/>
                <a:t>of addresses.</a:t>
              </a:r>
            </a:p>
          </p:txBody>
        </p:sp>
      </p:grpSp>
      <p:sp>
        <p:nvSpPr>
          <p:cNvPr id="3" name="Date Placeholder 2"/>
          <p:cNvSpPr>
            <a:spLocks noGrp="1"/>
          </p:cNvSpPr>
          <p:nvPr>
            <p:ph type="dt" sz="half" idx="10"/>
          </p:nvPr>
        </p:nvSpPr>
        <p:spPr/>
        <p:txBody>
          <a:bodyPr/>
          <a:lstStyle/>
          <a:p>
            <a:r>
              <a:rPr lang="en-US"/>
              <a:t>Vincenzo Gulisano</a:t>
            </a:r>
          </a:p>
        </p:txBody>
      </p:sp>
      <p:sp>
        <p:nvSpPr>
          <p:cNvPr id="15" name="Footer Placeholder 14"/>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54B85FB3-36CD-DD7D-C13D-1ED756669D79}"/>
              </a:ext>
            </a:extLst>
          </p:cNvPr>
          <p:cNvSpPr>
            <a:spLocks noGrp="1"/>
          </p:cNvSpPr>
          <p:nvPr>
            <p:ph type="sldNum" sz="quarter" idx="12"/>
          </p:nvPr>
        </p:nvSpPr>
        <p:spPr/>
        <p:txBody>
          <a:bodyPr/>
          <a:lstStyle/>
          <a:p>
            <a:fld id="{BE0AC437-A1D8-4781-B86C-407FA400F126}" type="slidenum">
              <a:rPr lang="en-US" smtClean="0"/>
              <a:t>45</a:t>
            </a:fld>
            <a:endParaRPr lang="en-US"/>
          </a:p>
        </p:txBody>
      </p:sp>
    </p:spTree>
    <p:extLst>
      <p:ext uri="{BB962C8B-B14F-4D97-AF65-F5344CB8AC3E}">
        <p14:creationId xmlns:p14="http://schemas.microsoft.com/office/powerpoint/2010/main" val="273345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12837-A04C-496D-58AA-CE1620290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7CD4A-F1D3-F4FF-F96E-30C8D4DB5AC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D913D17-E441-973B-F28B-E1644B48D25B}"/>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solidFill>
                  <a:schemeClr val="bg2">
                    <a:lumMod val="90000"/>
                  </a:schemeClr>
                </a:solidFill>
              </a:rPr>
              <a:t>Access methods</a:t>
            </a:r>
          </a:p>
          <a:p>
            <a:r>
              <a:rPr lang="en-US" dirty="0">
                <a:solidFill>
                  <a:schemeClr val="bg2">
                    <a:lumMod val="90000"/>
                  </a:schemeClr>
                </a:solidFill>
              </a:rPr>
              <a:t>Disk structure</a:t>
            </a:r>
          </a:p>
          <a:p>
            <a:r>
              <a:rPr lang="en-US" dirty="0">
                <a:solidFill>
                  <a:schemeClr val="bg2">
                    <a:lumMod val="90000"/>
                  </a:schemeClr>
                </a:solidFill>
              </a:rPr>
              <a:t>Directory structure [Self-study]</a:t>
            </a:r>
          </a:p>
          <a:p>
            <a:r>
              <a:rPr lang="en-US" dirty="0">
                <a:solidFill>
                  <a:schemeClr val="bg2">
                    <a:lumMod val="90000"/>
                  </a:schemeClr>
                </a:solidFill>
              </a:rPr>
              <a:t>File system structure</a:t>
            </a:r>
          </a:p>
          <a:p>
            <a:r>
              <a:rPr lang="en-US" dirty="0">
                <a:solidFill>
                  <a:schemeClr val="bg2">
                    <a:lumMod val="90000"/>
                  </a:schemeClr>
                </a:solidFill>
              </a:rPr>
              <a:t>Allocation methods</a:t>
            </a:r>
          </a:p>
          <a:p>
            <a:r>
              <a:rPr lang="en-US" dirty="0"/>
              <a:t>Free-space management</a:t>
            </a:r>
          </a:p>
          <a:p>
            <a:r>
              <a:rPr lang="en-US" dirty="0">
                <a:solidFill>
                  <a:schemeClr val="bg2">
                    <a:lumMod val="90000"/>
                  </a:schemeClr>
                </a:solidFill>
              </a:rPr>
              <a:t>File sharing and protection</a:t>
            </a:r>
          </a:p>
        </p:txBody>
      </p:sp>
      <p:sp>
        <p:nvSpPr>
          <p:cNvPr id="4" name="Date Placeholder 3">
            <a:extLst>
              <a:ext uri="{FF2B5EF4-FFF2-40B4-BE49-F238E27FC236}">
                <a16:creationId xmlns:a16="http://schemas.microsoft.com/office/drawing/2014/main" id="{83465A42-69A1-15B7-A1B9-411B603F7E91}"/>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62976DD1-8E34-DCD9-284D-3861635B2164}"/>
              </a:ext>
            </a:extLst>
          </p:cNvPr>
          <p:cNvSpPr>
            <a:spLocks noGrp="1"/>
          </p:cNvSpPr>
          <p:nvPr>
            <p:ph type="ftr" sz="quarter" idx="11"/>
          </p:nvPr>
        </p:nvSpPr>
        <p:spPr/>
        <p:txBody>
          <a:bodyPr/>
          <a:lstStyle/>
          <a:p>
            <a:r>
              <a:rPr lang="en-US"/>
              <a:t>Operating Systems - File Systems</a:t>
            </a:r>
          </a:p>
        </p:txBody>
      </p:sp>
      <p:sp>
        <p:nvSpPr>
          <p:cNvPr id="5" name="Slide Number Placeholder 4">
            <a:extLst>
              <a:ext uri="{FF2B5EF4-FFF2-40B4-BE49-F238E27FC236}">
                <a16:creationId xmlns:a16="http://schemas.microsoft.com/office/drawing/2014/main" id="{4CF2E6E4-9F50-D3A2-2758-24E008469085}"/>
              </a:ext>
            </a:extLst>
          </p:cNvPr>
          <p:cNvSpPr>
            <a:spLocks noGrp="1"/>
          </p:cNvSpPr>
          <p:nvPr>
            <p:ph type="sldNum" sz="quarter" idx="12"/>
          </p:nvPr>
        </p:nvSpPr>
        <p:spPr/>
        <p:txBody>
          <a:bodyPr/>
          <a:lstStyle/>
          <a:p>
            <a:fld id="{BE0AC437-A1D8-4781-B86C-407FA400F126}" type="slidenum">
              <a:rPr lang="en-US" smtClean="0"/>
              <a:t>46</a:t>
            </a:fld>
            <a:endParaRPr lang="en-US"/>
          </a:p>
        </p:txBody>
      </p:sp>
    </p:spTree>
    <p:extLst>
      <p:ext uri="{BB962C8B-B14F-4D97-AF65-F5344CB8AC3E}">
        <p14:creationId xmlns:p14="http://schemas.microsoft.com/office/powerpoint/2010/main" val="190700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Keeping track of free blocks </a:t>
            </a:r>
          </a:p>
        </p:txBody>
      </p:sp>
      <p:grpSp>
        <p:nvGrpSpPr>
          <p:cNvPr id="3" name="Group 2"/>
          <p:cNvGrpSpPr/>
          <p:nvPr/>
        </p:nvGrpSpPr>
        <p:grpSpPr>
          <a:xfrm>
            <a:off x="762001" y="1371600"/>
            <a:ext cx="4800600" cy="4953000"/>
            <a:chOff x="762001" y="1371600"/>
            <a:chExt cx="4800600" cy="4953000"/>
          </a:xfrm>
        </p:grpSpPr>
        <p:pic>
          <p:nvPicPr>
            <p:cNvPr id="4" name="Picture 5"/>
            <p:cNvPicPr>
              <a:picLocks noChangeArrowheads="1"/>
            </p:cNvPicPr>
            <p:nvPr/>
          </p:nvPicPr>
          <p:blipFill rotWithShape="1">
            <a:blip r:embed="rId2" cstate="print">
              <a:extLst>
                <a:ext uri="{28A0092B-C50C-407E-A947-70E740481C1C}">
                  <a14:useLocalDpi xmlns:a14="http://schemas.microsoft.com/office/drawing/2010/main" val="0"/>
                </a:ext>
              </a:extLst>
            </a:blip>
            <a:srcRect r="34729" b="7203"/>
            <a:stretch/>
          </p:blipFill>
          <p:spPr bwMode="auto">
            <a:xfrm>
              <a:off x="762001" y="1371600"/>
              <a:ext cx="4800600" cy="4549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582848" y="5955268"/>
              <a:ext cx="1158907" cy="369332"/>
            </a:xfrm>
            <a:prstGeom prst="rect">
              <a:avLst/>
            </a:prstGeom>
            <a:noFill/>
          </p:spPr>
          <p:txBody>
            <a:bodyPr wrap="none" rtlCol="0">
              <a:spAutoFit/>
            </a:bodyPr>
            <a:lstStyle/>
            <a:p>
              <a:r>
                <a:rPr lang="en-US" dirty="0"/>
                <a:t>Linked List</a:t>
              </a:r>
            </a:p>
          </p:txBody>
        </p:sp>
      </p:grpSp>
      <p:grpSp>
        <p:nvGrpSpPr>
          <p:cNvPr id="9" name="Group 8"/>
          <p:cNvGrpSpPr/>
          <p:nvPr/>
        </p:nvGrpSpPr>
        <p:grpSpPr>
          <a:xfrm>
            <a:off x="5133183" y="1371601"/>
            <a:ext cx="3124200" cy="4952999"/>
            <a:chOff x="5133183" y="1371601"/>
            <a:chExt cx="3124200" cy="4952999"/>
          </a:xfrm>
        </p:grpSpPr>
        <p:pic>
          <p:nvPicPr>
            <p:cNvPr id="5" name="Picture 5"/>
            <p:cNvPicPr>
              <a:picLocks noChangeArrowheads="1"/>
            </p:cNvPicPr>
            <p:nvPr/>
          </p:nvPicPr>
          <p:blipFill rotWithShape="1">
            <a:blip r:embed="rId2" cstate="print">
              <a:extLst>
                <a:ext uri="{28A0092B-C50C-407E-A947-70E740481C1C}">
                  <a14:useLocalDpi xmlns:a14="http://schemas.microsoft.com/office/drawing/2010/main" val="0"/>
                </a:ext>
              </a:extLst>
            </a:blip>
            <a:srcRect l="70654" b="16373"/>
            <a:stretch/>
          </p:blipFill>
          <p:spPr bwMode="auto">
            <a:xfrm>
              <a:off x="6042660" y="1371601"/>
              <a:ext cx="2158365" cy="4099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695283" y="5955268"/>
              <a:ext cx="853119" cy="369332"/>
            </a:xfrm>
            <a:prstGeom prst="rect">
              <a:avLst/>
            </a:prstGeom>
            <a:noFill/>
          </p:spPr>
          <p:txBody>
            <a:bodyPr wrap="none" rtlCol="0">
              <a:spAutoFit/>
            </a:bodyPr>
            <a:lstStyle/>
            <a:p>
              <a:r>
                <a:rPr lang="en-US" dirty="0"/>
                <a:t>bitmap</a:t>
              </a:r>
            </a:p>
          </p:txBody>
        </p:sp>
        <p:sp>
          <p:nvSpPr>
            <p:cNvPr id="8" name="TextBox 7"/>
            <p:cNvSpPr txBox="1"/>
            <p:nvPr/>
          </p:nvSpPr>
          <p:spPr>
            <a:xfrm>
              <a:off x="5133183" y="5486821"/>
              <a:ext cx="3124200" cy="276999"/>
            </a:xfrm>
            <a:prstGeom prst="rect">
              <a:avLst/>
            </a:prstGeom>
            <a:solidFill>
              <a:schemeClr val="bg1"/>
            </a:solidFill>
          </p:spPr>
          <p:txBody>
            <a:bodyPr wrap="square" rtlCol="0">
              <a:spAutoFit/>
            </a:bodyPr>
            <a:lstStyle/>
            <a:p>
              <a:r>
                <a:rPr lang="en-US" sz="1200" dirty="0"/>
                <a:t>Fig. Tanenbaum, Modern Operating Systems</a:t>
              </a:r>
            </a:p>
          </p:txBody>
        </p:sp>
      </p:grpSp>
      <p:sp>
        <p:nvSpPr>
          <p:cNvPr id="10" name="Date Placeholder 9"/>
          <p:cNvSpPr>
            <a:spLocks noGrp="1"/>
          </p:cNvSpPr>
          <p:nvPr>
            <p:ph type="dt" sz="half" idx="10"/>
          </p:nvPr>
        </p:nvSpPr>
        <p:spPr/>
        <p:txBody>
          <a:bodyPr/>
          <a:lstStyle/>
          <a:p>
            <a:r>
              <a:rPr lang="en-US"/>
              <a:t>Vincenzo Gulisano</a:t>
            </a:r>
          </a:p>
        </p:txBody>
      </p:sp>
      <p:sp>
        <p:nvSpPr>
          <p:cNvPr id="13" name="Footer Placeholder 12"/>
          <p:cNvSpPr>
            <a:spLocks noGrp="1"/>
          </p:cNvSpPr>
          <p:nvPr>
            <p:ph type="ftr" sz="quarter" idx="11"/>
          </p:nvPr>
        </p:nvSpPr>
        <p:spPr/>
        <p:txBody>
          <a:bodyPr/>
          <a:lstStyle/>
          <a:p>
            <a:r>
              <a:rPr lang="en-US"/>
              <a:t>Operating Systems - File Systems</a:t>
            </a:r>
          </a:p>
        </p:txBody>
      </p:sp>
      <p:sp>
        <p:nvSpPr>
          <p:cNvPr id="12" name="Slide Number Placeholder 11">
            <a:extLst>
              <a:ext uri="{FF2B5EF4-FFF2-40B4-BE49-F238E27FC236}">
                <a16:creationId xmlns:a16="http://schemas.microsoft.com/office/drawing/2014/main" id="{4C6BF882-5A75-E80C-8549-6A22C50F420B}"/>
              </a:ext>
            </a:extLst>
          </p:cNvPr>
          <p:cNvSpPr>
            <a:spLocks noGrp="1"/>
          </p:cNvSpPr>
          <p:nvPr>
            <p:ph type="sldNum" sz="quarter" idx="12"/>
          </p:nvPr>
        </p:nvSpPr>
        <p:spPr/>
        <p:txBody>
          <a:bodyPr/>
          <a:lstStyle/>
          <a:p>
            <a:fld id="{BE0AC437-A1D8-4781-B86C-407FA400F126}" type="slidenum">
              <a:rPr lang="en-US" smtClean="0"/>
              <a:t>47</a:t>
            </a:fld>
            <a:endParaRPr lang="en-US"/>
          </a:p>
        </p:txBody>
      </p:sp>
    </p:spTree>
    <p:extLst>
      <p:ext uri="{BB962C8B-B14F-4D97-AF65-F5344CB8AC3E}">
        <p14:creationId xmlns:p14="http://schemas.microsoft.com/office/powerpoint/2010/main" val="355862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Keeping track of free blocks</a:t>
            </a:r>
          </a:p>
        </p:txBody>
      </p:sp>
      <p:sp>
        <p:nvSpPr>
          <p:cNvPr id="3" name="Content Placeholder 2"/>
          <p:cNvSpPr>
            <a:spLocks noGrp="1"/>
          </p:cNvSpPr>
          <p:nvPr>
            <p:ph idx="1"/>
          </p:nvPr>
        </p:nvSpPr>
        <p:spPr/>
        <p:txBody>
          <a:bodyPr>
            <a:normAutofit/>
          </a:bodyPr>
          <a:lstStyle/>
          <a:p>
            <a:r>
              <a:rPr lang="en-US" sz="2400" dirty="0"/>
              <a:t>Designing the right way of keeping free blocks is not trivial…</a:t>
            </a:r>
          </a:p>
        </p:txBody>
      </p:sp>
      <p:sp>
        <p:nvSpPr>
          <p:cNvPr id="4" name="TextBox 3"/>
          <p:cNvSpPr txBox="1"/>
          <p:nvPr/>
        </p:nvSpPr>
        <p:spPr>
          <a:xfrm>
            <a:off x="609600" y="2286000"/>
            <a:ext cx="8078494" cy="92333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Linked List. Keep only 1 block of pointers to free blocks in memory, others are stored</a:t>
            </a:r>
          </a:p>
          <a:p>
            <a:pPr marL="285750" indent="-285750">
              <a:buFont typeface="Arial" panose="020B0604020202020204" pitchFamily="34" charset="0"/>
              <a:buChar char="•"/>
            </a:pPr>
            <a:r>
              <a:rPr lang="en-US" dirty="0"/>
              <a:t>Run out of free blocks? Read the following one from disk</a:t>
            </a:r>
          </a:p>
          <a:p>
            <a:pPr marL="285750" indent="-285750">
              <a:buFont typeface="Arial" panose="020B0604020202020204" pitchFamily="34" charset="0"/>
              <a:buChar char="•"/>
            </a:pPr>
            <a:r>
              <a:rPr lang="en-US" dirty="0"/>
              <a:t>New free blocks? Add them to block in memory, if full </a:t>
            </a:r>
            <a:r>
              <a:rPr lang="en-US" dirty="0">
                <a:sym typeface="Wingdings" panose="05000000000000000000" pitchFamily="2" charset="2"/>
              </a:rPr>
              <a:t> store it.</a:t>
            </a:r>
            <a:endParaRPr lang="en-US" dirty="0"/>
          </a:p>
        </p:txBody>
      </p:sp>
      <p:grpSp>
        <p:nvGrpSpPr>
          <p:cNvPr id="11" name="Group 10"/>
          <p:cNvGrpSpPr/>
          <p:nvPr/>
        </p:nvGrpSpPr>
        <p:grpSpPr>
          <a:xfrm>
            <a:off x="1895368" y="3352800"/>
            <a:ext cx="5800832" cy="3394028"/>
            <a:chOff x="1332746" y="3352800"/>
            <a:chExt cx="5800832" cy="3394028"/>
          </a:xfrm>
        </p:grpSpPr>
        <p:pic>
          <p:nvPicPr>
            <p:cNvPr id="5" name="Picture 6" descr="04-23"/>
            <p:cNvPicPr>
              <a:picLocks noChangeAspect="1" noChangeArrowheads="1"/>
            </p:cNvPicPr>
            <p:nvPr/>
          </p:nvPicPr>
          <p:blipFill rotWithShape="1">
            <a:blip r:embed="rId2">
              <a:extLst>
                <a:ext uri="{28A0092B-C50C-407E-A947-70E740481C1C}">
                  <a14:useLocalDpi xmlns:a14="http://schemas.microsoft.com/office/drawing/2010/main" val="0"/>
                </a:ext>
              </a:extLst>
            </a:blip>
            <a:srcRect r="67964" b="8850"/>
            <a:stretch/>
          </p:blipFill>
          <p:spPr bwMode="auto">
            <a:xfrm>
              <a:off x="1332746" y="3730914"/>
              <a:ext cx="1981200" cy="20921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505200" y="3352800"/>
              <a:ext cx="1492012" cy="646331"/>
            </a:xfrm>
            <a:prstGeom prst="rect">
              <a:avLst/>
            </a:prstGeom>
            <a:noFill/>
          </p:spPr>
          <p:txBody>
            <a:bodyPr wrap="none" rtlCol="0">
              <a:spAutoFit/>
            </a:bodyPr>
            <a:lstStyle/>
            <a:p>
              <a:pPr algn="ctr"/>
              <a:r>
                <a:rPr lang="en-US" dirty="0"/>
                <a:t>Free temp file</a:t>
              </a:r>
              <a:br>
                <a:rPr lang="en-US" dirty="0"/>
              </a:br>
              <a:r>
                <a:rPr lang="en-US" dirty="0"/>
                <a:t>( 3 blocks)</a:t>
              </a:r>
            </a:p>
          </p:txBody>
        </p:sp>
        <p:sp>
          <p:nvSpPr>
            <p:cNvPr id="7" name="TextBox 6"/>
            <p:cNvSpPr txBox="1"/>
            <p:nvPr/>
          </p:nvSpPr>
          <p:spPr>
            <a:xfrm>
              <a:off x="3404916" y="6100497"/>
              <a:ext cx="1692579" cy="646331"/>
            </a:xfrm>
            <a:prstGeom prst="rect">
              <a:avLst/>
            </a:prstGeom>
            <a:noFill/>
          </p:spPr>
          <p:txBody>
            <a:bodyPr wrap="none" rtlCol="0">
              <a:spAutoFit/>
            </a:bodyPr>
            <a:lstStyle/>
            <a:p>
              <a:pPr algn="ctr"/>
              <a:r>
                <a:rPr lang="en-US" dirty="0"/>
                <a:t>Create temp file</a:t>
              </a:r>
              <a:br>
                <a:rPr lang="en-US" dirty="0"/>
              </a:br>
              <a:r>
                <a:rPr lang="en-US" dirty="0"/>
                <a:t>( 3 blocks)</a:t>
              </a:r>
            </a:p>
          </p:txBody>
        </p:sp>
        <p:pic>
          <p:nvPicPr>
            <p:cNvPr id="8" name="Picture 6" descr="04-23"/>
            <p:cNvPicPr>
              <a:picLocks noChangeAspect="1" noChangeArrowheads="1"/>
            </p:cNvPicPr>
            <p:nvPr/>
          </p:nvPicPr>
          <p:blipFill rotWithShape="1">
            <a:blip r:embed="rId2">
              <a:extLst>
                <a:ext uri="{28A0092B-C50C-407E-A947-70E740481C1C}">
                  <a14:useLocalDpi xmlns:a14="http://schemas.microsoft.com/office/drawing/2010/main" val="0"/>
                </a:ext>
              </a:extLst>
            </a:blip>
            <a:srcRect l="33278" r="33928" b="8850"/>
            <a:stretch/>
          </p:blipFill>
          <p:spPr bwMode="auto">
            <a:xfrm>
              <a:off x="5105400" y="3730914"/>
              <a:ext cx="2028178" cy="2092135"/>
            </a:xfrm>
            <a:prstGeom prst="rect">
              <a:avLst/>
            </a:prstGeom>
            <a:noFill/>
            <a:extLst>
              <a:ext uri="{909E8E84-426E-40DD-AFC4-6F175D3DCCD1}">
                <a14:hiddenFill xmlns:a14="http://schemas.microsoft.com/office/drawing/2010/main">
                  <a:solidFill>
                    <a:srgbClr val="FFFFFF"/>
                  </a:solidFill>
                </a14:hiddenFill>
              </a:ext>
            </a:extLst>
          </p:spPr>
        </p:pic>
        <p:sp>
          <p:nvSpPr>
            <p:cNvPr id="9" name="Arc 8"/>
            <p:cNvSpPr/>
            <p:nvPr/>
          </p:nvSpPr>
          <p:spPr>
            <a:xfrm>
              <a:off x="3097152" y="3966896"/>
              <a:ext cx="2362200" cy="685800"/>
            </a:xfrm>
            <a:prstGeom prst="arc">
              <a:avLst>
                <a:gd name="adj1" fmla="val 11178770"/>
                <a:gd name="adj2" fmla="val 21036453"/>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rc 9"/>
            <p:cNvSpPr/>
            <p:nvPr/>
          </p:nvSpPr>
          <p:spPr>
            <a:xfrm rot="10800000">
              <a:off x="3097153" y="5414696"/>
              <a:ext cx="2362200" cy="685800"/>
            </a:xfrm>
            <a:prstGeom prst="arc">
              <a:avLst>
                <a:gd name="adj1" fmla="val 11178770"/>
                <a:gd name="adj2" fmla="val 21036453"/>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2" name="TextBox 11"/>
          <p:cNvSpPr txBox="1"/>
          <p:nvPr/>
        </p:nvSpPr>
        <p:spPr>
          <a:xfrm>
            <a:off x="3611884" y="4572000"/>
            <a:ext cx="2179316" cy="92333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algn="ctr"/>
            <a:r>
              <a:rPr lang="en-US" b="1" dirty="0">
                <a:solidFill>
                  <a:srgbClr val="FF0000"/>
                </a:solidFill>
              </a:rPr>
              <a:t>What if a program</a:t>
            </a:r>
            <a:br>
              <a:rPr lang="en-US" b="1" dirty="0">
                <a:solidFill>
                  <a:srgbClr val="FF0000"/>
                </a:solidFill>
              </a:rPr>
            </a:br>
            <a:r>
              <a:rPr lang="en-US" b="1" dirty="0">
                <a:solidFill>
                  <a:srgbClr val="FF0000"/>
                </a:solidFill>
              </a:rPr>
              <a:t>creates a lot of these</a:t>
            </a:r>
            <a:br>
              <a:rPr lang="en-US" b="1" dirty="0">
                <a:solidFill>
                  <a:srgbClr val="FF0000"/>
                </a:solidFill>
              </a:rPr>
            </a:br>
            <a:r>
              <a:rPr lang="en-US" b="1" dirty="0">
                <a:solidFill>
                  <a:srgbClr val="FF0000"/>
                </a:solidFill>
              </a:rPr>
              <a:t>temp files?</a:t>
            </a:r>
          </a:p>
        </p:txBody>
      </p:sp>
      <p:sp>
        <p:nvSpPr>
          <p:cNvPr id="16" name="Date Placeholder 15"/>
          <p:cNvSpPr>
            <a:spLocks noGrp="1"/>
          </p:cNvSpPr>
          <p:nvPr>
            <p:ph type="dt" sz="half" idx="10"/>
          </p:nvPr>
        </p:nvSpPr>
        <p:spPr/>
        <p:txBody>
          <a:bodyPr/>
          <a:lstStyle/>
          <a:p>
            <a:r>
              <a:rPr lang="en-US"/>
              <a:t>Vincenzo Gulisano</a:t>
            </a:r>
          </a:p>
        </p:txBody>
      </p:sp>
      <p:sp>
        <p:nvSpPr>
          <p:cNvPr id="14" name="Footer Placeholder 13"/>
          <p:cNvSpPr>
            <a:spLocks noGrp="1"/>
          </p:cNvSpPr>
          <p:nvPr>
            <p:ph type="ftr" sz="quarter" idx="11"/>
          </p:nvPr>
        </p:nvSpPr>
        <p:spPr/>
        <p:txBody>
          <a:bodyPr/>
          <a:lstStyle/>
          <a:p>
            <a:r>
              <a:rPr lang="en-US"/>
              <a:t>Operating Systems - File Systems</a:t>
            </a:r>
          </a:p>
        </p:txBody>
      </p:sp>
      <p:sp>
        <p:nvSpPr>
          <p:cNvPr id="13" name="Slide Number Placeholder 12">
            <a:extLst>
              <a:ext uri="{FF2B5EF4-FFF2-40B4-BE49-F238E27FC236}">
                <a16:creationId xmlns:a16="http://schemas.microsoft.com/office/drawing/2014/main" id="{08D060CC-B4C7-AA5D-9DF5-372274A92517}"/>
              </a:ext>
            </a:extLst>
          </p:cNvPr>
          <p:cNvSpPr>
            <a:spLocks noGrp="1"/>
          </p:cNvSpPr>
          <p:nvPr>
            <p:ph type="sldNum" sz="quarter" idx="12"/>
          </p:nvPr>
        </p:nvSpPr>
        <p:spPr/>
        <p:txBody>
          <a:bodyPr/>
          <a:lstStyle/>
          <a:p>
            <a:fld id="{BE0AC437-A1D8-4781-B86C-407FA400F126}" type="slidenum">
              <a:rPr lang="en-US" smtClean="0"/>
              <a:t>48</a:t>
            </a:fld>
            <a:endParaRPr lang="en-US"/>
          </a:p>
        </p:txBody>
      </p:sp>
    </p:spTree>
    <p:extLst>
      <p:ext uri="{BB962C8B-B14F-4D97-AF65-F5344CB8AC3E}">
        <p14:creationId xmlns:p14="http://schemas.microsoft.com/office/powerpoint/2010/main" val="104649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93F1F-4AE5-BE49-CDFB-B426D4F95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257B0-E3E3-82F1-5A2A-8DEC7A40C024}"/>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1CA1E70-D93C-5CEC-8869-AC9336223AA7}"/>
              </a:ext>
            </a:extLst>
          </p:cNvPr>
          <p:cNvSpPr>
            <a:spLocks noGrp="1"/>
          </p:cNvSpPr>
          <p:nvPr>
            <p:ph idx="1"/>
          </p:nvPr>
        </p:nvSpPr>
        <p:spPr>
          <a:xfrm>
            <a:off x="628650" y="1386683"/>
            <a:ext cx="7886700" cy="4790280"/>
          </a:xfrm>
        </p:spPr>
        <p:txBody>
          <a:bodyPr>
            <a:normAutofit/>
          </a:bodyPr>
          <a:lstStyle/>
          <a:p>
            <a:r>
              <a:rPr lang="en-US" dirty="0">
                <a:solidFill>
                  <a:schemeClr val="bg2">
                    <a:lumMod val="90000"/>
                  </a:schemeClr>
                </a:solidFill>
              </a:rPr>
              <a:t>File concept</a:t>
            </a:r>
          </a:p>
          <a:p>
            <a:r>
              <a:rPr lang="en-US" dirty="0">
                <a:solidFill>
                  <a:schemeClr val="bg2">
                    <a:lumMod val="90000"/>
                  </a:schemeClr>
                </a:solidFill>
              </a:rPr>
              <a:t>Access methods</a:t>
            </a:r>
          </a:p>
          <a:p>
            <a:r>
              <a:rPr lang="en-US" dirty="0">
                <a:solidFill>
                  <a:schemeClr val="bg2">
                    <a:lumMod val="90000"/>
                  </a:schemeClr>
                </a:solidFill>
              </a:rPr>
              <a:t>Disk structure</a:t>
            </a:r>
          </a:p>
          <a:p>
            <a:r>
              <a:rPr lang="en-US" dirty="0">
                <a:solidFill>
                  <a:schemeClr val="bg2">
                    <a:lumMod val="90000"/>
                  </a:schemeClr>
                </a:solidFill>
              </a:rPr>
              <a:t>Directory structure [Self-study]</a:t>
            </a:r>
          </a:p>
          <a:p>
            <a:r>
              <a:rPr lang="en-US" dirty="0">
                <a:solidFill>
                  <a:schemeClr val="bg2">
                    <a:lumMod val="90000"/>
                  </a:schemeClr>
                </a:solidFill>
              </a:rPr>
              <a:t>File system structure</a:t>
            </a:r>
          </a:p>
          <a:p>
            <a:r>
              <a:rPr lang="en-US" dirty="0">
                <a:solidFill>
                  <a:schemeClr val="bg2">
                    <a:lumMod val="90000"/>
                  </a:schemeClr>
                </a:solidFill>
              </a:rPr>
              <a:t>Allocation methods</a:t>
            </a:r>
          </a:p>
          <a:p>
            <a:r>
              <a:rPr lang="en-US" dirty="0">
                <a:solidFill>
                  <a:schemeClr val="bg2">
                    <a:lumMod val="90000"/>
                  </a:schemeClr>
                </a:solidFill>
              </a:rPr>
              <a:t>Free-space management</a:t>
            </a:r>
          </a:p>
          <a:p>
            <a:r>
              <a:rPr lang="en-US" dirty="0"/>
              <a:t>File sharing and protection</a:t>
            </a:r>
          </a:p>
        </p:txBody>
      </p:sp>
      <p:sp>
        <p:nvSpPr>
          <p:cNvPr id="4" name="Date Placeholder 3">
            <a:extLst>
              <a:ext uri="{FF2B5EF4-FFF2-40B4-BE49-F238E27FC236}">
                <a16:creationId xmlns:a16="http://schemas.microsoft.com/office/drawing/2014/main" id="{A2A6B276-EDFC-5E8E-1FC9-FE87C66762F1}"/>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729D7A38-77A6-A76F-0A6B-8E87EF7A6645}"/>
              </a:ext>
            </a:extLst>
          </p:cNvPr>
          <p:cNvSpPr>
            <a:spLocks noGrp="1"/>
          </p:cNvSpPr>
          <p:nvPr>
            <p:ph type="ftr" sz="quarter" idx="11"/>
          </p:nvPr>
        </p:nvSpPr>
        <p:spPr/>
        <p:txBody>
          <a:bodyPr/>
          <a:lstStyle/>
          <a:p>
            <a:r>
              <a:rPr lang="en-US" dirty="0"/>
              <a:t>Operating Systems - File Systems</a:t>
            </a:r>
          </a:p>
        </p:txBody>
      </p:sp>
      <p:sp>
        <p:nvSpPr>
          <p:cNvPr id="5" name="Slide Number Placeholder 4">
            <a:extLst>
              <a:ext uri="{FF2B5EF4-FFF2-40B4-BE49-F238E27FC236}">
                <a16:creationId xmlns:a16="http://schemas.microsoft.com/office/drawing/2014/main" id="{3BA2AF80-5485-9FEF-4FD4-C4E664264DA6}"/>
              </a:ext>
            </a:extLst>
          </p:cNvPr>
          <p:cNvSpPr>
            <a:spLocks noGrp="1"/>
          </p:cNvSpPr>
          <p:nvPr>
            <p:ph type="sldNum" sz="quarter" idx="12"/>
          </p:nvPr>
        </p:nvSpPr>
        <p:spPr/>
        <p:txBody>
          <a:bodyPr/>
          <a:lstStyle/>
          <a:p>
            <a:fld id="{BE0AC437-A1D8-4781-B86C-407FA400F126}" type="slidenum">
              <a:rPr lang="en-US" smtClean="0"/>
              <a:t>49</a:t>
            </a:fld>
            <a:endParaRPr lang="en-US"/>
          </a:p>
        </p:txBody>
      </p:sp>
    </p:spTree>
    <p:extLst>
      <p:ext uri="{BB962C8B-B14F-4D97-AF65-F5344CB8AC3E}">
        <p14:creationId xmlns:p14="http://schemas.microsoft.com/office/powerpoint/2010/main" val="37669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a:t>Protection</a:t>
            </a:r>
          </a:p>
        </p:txBody>
      </p:sp>
      <p:sp>
        <p:nvSpPr>
          <p:cNvPr id="43011" name="Rectangle 3"/>
          <p:cNvSpPr>
            <a:spLocks noGrp="1" noChangeArrowheads="1"/>
          </p:cNvSpPr>
          <p:nvPr>
            <p:ph idx="1"/>
          </p:nvPr>
        </p:nvSpPr>
        <p:spPr/>
        <p:txBody>
          <a:bodyPr/>
          <a:lstStyle/>
          <a:p>
            <a:r>
              <a:rPr lang="en-US" altLang="en-US" dirty="0"/>
              <a:t>File owner/creator should be able to control:</a:t>
            </a:r>
          </a:p>
          <a:p>
            <a:pPr lvl="1"/>
            <a:r>
              <a:rPr lang="en-US" altLang="en-US" dirty="0"/>
              <a:t>what can be done</a:t>
            </a:r>
          </a:p>
          <a:p>
            <a:pPr lvl="1"/>
            <a:r>
              <a:rPr lang="en-US" altLang="en-US" dirty="0"/>
              <a:t>by whom</a:t>
            </a:r>
            <a:br>
              <a:rPr lang="en-US" altLang="en-US" dirty="0"/>
            </a:br>
            <a:endParaRPr lang="en-US" altLang="en-US" dirty="0"/>
          </a:p>
          <a:p>
            <a:r>
              <a:rPr lang="en-US" altLang="en-US" dirty="0"/>
              <a:t>Types of access</a:t>
            </a:r>
          </a:p>
          <a:p>
            <a:pPr lvl="1"/>
            <a:r>
              <a:rPr lang="en-US" altLang="en-US" b="1" dirty="0"/>
              <a:t>Read</a:t>
            </a:r>
          </a:p>
          <a:p>
            <a:pPr lvl="1"/>
            <a:r>
              <a:rPr lang="en-US" altLang="en-US" b="1" dirty="0"/>
              <a:t>Write</a:t>
            </a:r>
          </a:p>
          <a:p>
            <a:pPr lvl="1"/>
            <a:r>
              <a:rPr lang="en-US" altLang="en-US" b="1" dirty="0"/>
              <a:t>Execute</a:t>
            </a:r>
          </a:p>
          <a:p>
            <a:pPr lvl="1"/>
            <a:r>
              <a:rPr lang="en-US" altLang="en-US" b="1" dirty="0"/>
              <a:t>Append</a:t>
            </a:r>
          </a:p>
          <a:p>
            <a:pPr lvl="1"/>
            <a:r>
              <a:rPr lang="en-US" altLang="en-US" b="1" dirty="0"/>
              <a:t>Delete</a:t>
            </a:r>
          </a:p>
          <a:p>
            <a:pPr lvl="1"/>
            <a:r>
              <a:rPr lang="en-US" altLang="en-US" b="1" dirty="0"/>
              <a:t>List</a:t>
            </a:r>
          </a:p>
        </p:txBody>
      </p:sp>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dirty="0"/>
              <a:t>Operating Systems - File Systems</a:t>
            </a:r>
          </a:p>
        </p:txBody>
      </p:sp>
      <p:sp>
        <p:nvSpPr>
          <p:cNvPr id="3" name="Slide Number Placeholder 2">
            <a:extLst>
              <a:ext uri="{FF2B5EF4-FFF2-40B4-BE49-F238E27FC236}">
                <a16:creationId xmlns:a16="http://schemas.microsoft.com/office/drawing/2014/main" id="{9D5F7736-0894-2C54-E835-C4FA8406F9C2}"/>
              </a:ext>
            </a:extLst>
          </p:cNvPr>
          <p:cNvSpPr>
            <a:spLocks noGrp="1"/>
          </p:cNvSpPr>
          <p:nvPr>
            <p:ph type="sldNum" sz="quarter" idx="12"/>
          </p:nvPr>
        </p:nvSpPr>
        <p:spPr/>
        <p:txBody>
          <a:bodyPr/>
          <a:lstStyle/>
          <a:p>
            <a:fld id="{BE0AC437-A1D8-4781-B86C-407FA400F126}" type="slidenum">
              <a:rPr lang="en-US" smtClean="0"/>
              <a:t>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0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0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1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0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a:t>Access Lists and Groups</a:t>
            </a:r>
          </a:p>
        </p:txBody>
      </p:sp>
      <p:sp>
        <p:nvSpPr>
          <p:cNvPr id="44035" name="Rectangle 3"/>
          <p:cNvSpPr>
            <a:spLocks noGrp="1" noChangeArrowheads="1"/>
          </p:cNvSpPr>
          <p:nvPr>
            <p:ph idx="1"/>
          </p:nvPr>
        </p:nvSpPr>
        <p:spPr>
          <a:xfrm>
            <a:off x="806450" y="1233488"/>
            <a:ext cx="7342188" cy="3575050"/>
          </a:xfrm>
        </p:spPr>
        <p:txBody>
          <a:bodyPr/>
          <a:lstStyle/>
          <a:p>
            <a:pPr>
              <a:lnSpc>
                <a:spcPct val="90000"/>
              </a:lnSpc>
              <a:tabLst>
                <a:tab pos="1833563" algn="l"/>
                <a:tab pos="4459288" algn="l"/>
                <a:tab pos="5195888" algn="l"/>
                <a:tab pos="5888038" algn="l"/>
              </a:tabLst>
            </a:pPr>
            <a:r>
              <a:rPr lang="en-US" altLang="en-US"/>
              <a:t>Mode of access:  read, write, execute</a:t>
            </a:r>
          </a:p>
          <a:p>
            <a:pPr>
              <a:lnSpc>
                <a:spcPct val="90000"/>
              </a:lnSpc>
              <a:tabLst>
                <a:tab pos="1833563" algn="l"/>
                <a:tab pos="4459288" algn="l"/>
                <a:tab pos="5195888" algn="l"/>
                <a:tab pos="5888038" algn="l"/>
              </a:tabLst>
            </a:pPr>
            <a:r>
              <a:rPr lang="en-US" altLang="en-US"/>
              <a:t>Three classes of users on Unix / Linux</a:t>
            </a:r>
          </a:p>
          <a:p>
            <a:pPr>
              <a:lnSpc>
                <a:spcPct val="90000"/>
              </a:lnSpc>
              <a:spcBef>
                <a:spcPct val="10000"/>
              </a:spcBef>
              <a:buFont typeface="Monotype Sorts" pitchFamily="-84" charset="2"/>
              <a:buNone/>
              <a:tabLst>
                <a:tab pos="1833563" algn="l"/>
                <a:tab pos="4459288" algn="l"/>
                <a:tab pos="5195888" algn="l"/>
                <a:tab pos="5888038" algn="l"/>
              </a:tabLst>
            </a:pPr>
            <a:r>
              <a:rPr lang="en-US" altLang="en-US" sz="1600"/>
              <a:t>	</a:t>
            </a:r>
            <a:r>
              <a:rPr lang="en-US" altLang="en-US" sz="800"/>
              <a:t>	</a:t>
            </a:r>
            <a:r>
              <a:rPr lang="en-US" altLang="en-US" sz="1600"/>
              <a:t>			RWX</a:t>
            </a:r>
          </a:p>
          <a:p>
            <a:pPr>
              <a:lnSpc>
                <a:spcPct val="90000"/>
              </a:lnSpc>
              <a:spcBef>
                <a:spcPct val="10000"/>
              </a:spcBef>
              <a:buFont typeface="Monotype Sorts" pitchFamily="-84" charset="2"/>
              <a:buNone/>
              <a:tabLst>
                <a:tab pos="1833563" algn="l"/>
                <a:tab pos="4459288" algn="l"/>
                <a:tab pos="5195888" algn="l"/>
                <a:tab pos="5888038" algn="l"/>
              </a:tabLst>
            </a:pPr>
            <a:r>
              <a:rPr lang="en-US" altLang="en-US" sz="1600"/>
              <a:t>		a) </a:t>
            </a:r>
            <a:r>
              <a:rPr lang="en-US" altLang="en-US" sz="1600" b="1"/>
              <a:t>owner access</a:t>
            </a:r>
            <a:r>
              <a:rPr lang="en-US" altLang="en-US" sz="1600"/>
              <a:t> 	7	</a:t>
            </a:r>
            <a:r>
              <a:rPr lang="en-US" altLang="en-US" sz="1600">
                <a:sym typeface="Symbol" panose="05050102010706020507" pitchFamily="18" charset="2"/>
              </a:rPr>
              <a:t>	1 1 1</a:t>
            </a:r>
            <a:br>
              <a:rPr lang="en-US" altLang="en-US" sz="1600">
                <a:sym typeface="Symbol" panose="05050102010706020507" pitchFamily="18" charset="2"/>
              </a:rPr>
            </a:br>
            <a:r>
              <a:rPr lang="en-US" altLang="en-US" sz="1600">
                <a:sym typeface="Symbol" panose="05050102010706020507" pitchFamily="18" charset="2"/>
              </a:rPr>
              <a:t>				RWX</a:t>
            </a:r>
          </a:p>
          <a:p>
            <a:pPr>
              <a:lnSpc>
                <a:spcPct val="90000"/>
              </a:lnSpc>
              <a:spcBef>
                <a:spcPct val="10000"/>
              </a:spcBef>
              <a:buFont typeface="Monotype Sorts" pitchFamily="-84" charset="2"/>
              <a:buNone/>
              <a:tabLst>
                <a:tab pos="1833563" algn="l"/>
                <a:tab pos="4459288" algn="l"/>
                <a:tab pos="5195888" algn="l"/>
                <a:tab pos="5888038" algn="l"/>
              </a:tabLst>
            </a:pPr>
            <a:r>
              <a:rPr lang="en-US" altLang="en-US" sz="1600">
                <a:sym typeface="Symbol" panose="05050102010706020507" pitchFamily="18" charset="2"/>
              </a:rPr>
              <a:t>		b) </a:t>
            </a:r>
            <a:r>
              <a:rPr lang="en-US" altLang="en-US" sz="1600" b="1">
                <a:sym typeface="Symbol" panose="05050102010706020507" pitchFamily="18" charset="2"/>
              </a:rPr>
              <a:t>group access</a:t>
            </a:r>
            <a:r>
              <a:rPr lang="en-US" altLang="en-US" sz="1600">
                <a:sym typeface="Symbol" panose="05050102010706020507" pitchFamily="18" charset="2"/>
              </a:rPr>
              <a:t> 	6	 	1 1 0</a:t>
            </a:r>
          </a:p>
          <a:p>
            <a:pPr>
              <a:lnSpc>
                <a:spcPct val="90000"/>
              </a:lnSpc>
              <a:spcBef>
                <a:spcPct val="10000"/>
              </a:spcBef>
              <a:buFont typeface="Monotype Sorts" pitchFamily="-84" charset="2"/>
              <a:buNone/>
              <a:tabLst>
                <a:tab pos="1833563" algn="l"/>
                <a:tab pos="4459288" algn="l"/>
                <a:tab pos="5195888" algn="l"/>
                <a:tab pos="5888038" algn="l"/>
              </a:tabLst>
            </a:pPr>
            <a:r>
              <a:rPr lang="en-US" altLang="en-US" sz="1600">
                <a:sym typeface="Symbol" panose="05050102010706020507" pitchFamily="18" charset="2"/>
              </a:rPr>
              <a:t>					RWX</a:t>
            </a:r>
          </a:p>
          <a:p>
            <a:pPr>
              <a:lnSpc>
                <a:spcPct val="90000"/>
              </a:lnSpc>
              <a:spcBef>
                <a:spcPct val="10000"/>
              </a:spcBef>
              <a:buFont typeface="Monotype Sorts" pitchFamily="-84" charset="2"/>
              <a:buNone/>
              <a:tabLst>
                <a:tab pos="1833563" algn="l"/>
                <a:tab pos="4459288" algn="l"/>
                <a:tab pos="5195888" algn="l"/>
                <a:tab pos="5888038" algn="l"/>
              </a:tabLst>
            </a:pPr>
            <a:r>
              <a:rPr lang="en-US" altLang="en-US" sz="1600">
                <a:sym typeface="Symbol" panose="05050102010706020507" pitchFamily="18" charset="2"/>
              </a:rPr>
              <a:t>		c) </a:t>
            </a:r>
            <a:r>
              <a:rPr lang="en-US" altLang="en-US" sz="1600" b="1">
                <a:sym typeface="Symbol" panose="05050102010706020507" pitchFamily="18" charset="2"/>
              </a:rPr>
              <a:t>public access</a:t>
            </a:r>
            <a:r>
              <a:rPr lang="en-US" altLang="en-US" sz="1600">
                <a:sym typeface="Symbol" panose="05050102010706020507" pitchFamily="18" charset="2"/>
              </a:rPr>
              <a:t>	1	 	0 0 1</a:t>
            </a:r>
          </a:p>
          <a:p>
            <a:pPr>
              <a:lnSpc>
                <a:spcPct val="90000"/>
              </a:lnSpc>
              <a:tabLst>
                <a:tab pos="1833563" algn="l"/>
                <a:tab pos="4459288" algn="l"/>
                <a:tab pos="5195888" algn="l"/>
                <a:tab pos="5888038" algn="l"/>
              </a:tabLst>
            </a:pPr>
            <a:r>
              <a:rPr lang="en-US" altLang="en-US">
                <a:sym typeface="Symbol" panose="05050102010706020507" pitchFamily="18" charset="2"/>
              </a:rPr>
              <a:t>Ask manager to create a group (unique name), say G, and add some users to the group.</a:t>
            </a:r>
          </a:p>
          <a:p>
            <a:pPr>
              <a:lnSpc>
                <a:spcPct val="90000"/>
              </a:lnSpc>
              <a:tabLst>
                <a:tab pos="1833563" algn="l"/>
                <a:tab pos="4459288" algn="l"/>
                <a:tab pos="5195888" algn="l"/>
                <a:tab pos="5888038" algn="l"/>
              </a:tabLst>
            </a:pPr>
            <a:r>
              <a:rPr lang="en-US" altLang="en-US">
                <a:sym typeface="Symbol" panose="05050102010706020507" pitchFamily="18" charset="2"/>
              </a:rPr>
              <a:t>For a particular file (say </a:t>
            </a:r>
            <a:r>
              <a:rPr lang="en-US" altLang="en-US" i="1">
                <a:sym typeface="Symbol" panose="05050102010706020507" pitchFamily="18" charset="2"/>
              </a:rPr>
              <a:t>game</a:t>
            </a:r>
            <a:r>
              <a:rPr lang="en-US" altLang="en-US">
                <a:sym typeface="Symbol" panose="05050102010706020507" pitchFamily="18" charset="2"/>
              </a:rPr>
              <a:t>) or subdirectory, define an appropriate access.</a:t>
            </a:r>
          </a:p>
        </p:txBody>
      </p:sp>
      <p:sp>
        <p:nvSpPr>
          <p:cNvPr id="44036" name="Text Box 4"/>
          <p:cNvSpPr txBox="1">
            <a:spLocks noChangeArrowheads="1"/>
          </p:cNvSpPr>
          <p:nvPr/>
        </p:nvSpPr>
        <p:spPr bwMode="auto">
          <a:xfrm>
            <a:off x="3397250" y="4884738"/>
            <a:ext cx="635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200" b="1">
                <a:latin typeface="Helvetica" panose="020B0604020202020204" pitchFamily="34" charset="0"/>
              </a:rPr>
              <a:t>owner</a:t>
            </a:r>
          </a:p>
        </p:txBody>
      </p:sp>
      <p:sp>
        <p:nvSpPr>
          <p:cNvPr id="44037" name="Text Box 5"/>
          <p:cNvSpPr txBox="1">
            <a:spLocks noChangeArrowheads="1"/>
          </p:cNvSpPr>
          <p:nvPr/>
        </p:nvSpPr>
        <p:spPr bwMode="auto">
          <a:xfrm>
            <a:off x="4049713" y="4884738"/>
            <a:ext cx="6175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200" b="1">
                <a:latin typeface="Helvetica" panose="020B0604020202020204" pitchFamily="34" charset="0"/>
              </a:rPr>
              <a:t>group</a:t>
            </a:r>
          </a:p>
        </p:txBody>
      </p:sp>
      <p:sp>
        <p:nvSpPr>
          <p:cNvPr id="44038" name="Text Box 6"/>
          <p:cNvSpPr txBox="1">
            <a:spLocks noChangeArrowheads="1"/>
          </p:cNvSpPr>
          <p:nvPr/>
        </p:nvSpPr>
        <p:spPr bwMode="auto">
          <a:xfrm>
            <a:off x="4787900" y="4884738"/>
            <a:ext cx="635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200" b="1">
                <a:latin typeface="Helvetica" panose="020B0604020202020204" pitchFamily="34" charset="0"/>
              </a:rPr>
              <a:t>public</a:t>
            </a:r>
          </a:p>
        </p:txBody>
      </p:sp>
      <p:sp>
        <p:nvSpPr>
          <p:cNvPr id="44039" name="Text Box 7"/>
          <p:cNvSpPr txBox="1">
            <a:spLocks noChangeArrowheads="1"/>
          </p:cNvSpPr>
          <p:nvPr/>
        </p:nvSpPr>
        <p:spPr bwMode="auto">
          <a:xfrm>
            <a:off x="3452813" y="5399088"/>
            <a:ext cx="6842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200" b="1">
                <a:latin typeface="Helvetica" panose="020B0604020202020204" pitchFamily="34" charset="0"/>
              </a:rPr>
              <a:t>chmod</a:t>
            </a:r>
          </a:p>
        </p:txBody>
      </p:sp>
      <p:sp>
        <p:nvSpPr>
          <p:cNvPr id="44040" name="Text Box 8"/>
          <p:cNvSpPr txBox="1">
            <a:spLocks noChangeArrowheads="1"/>
          </p:cNvSpPr>
          <p:nvPr/>
        </p:nvSpPr>
        <p:spPr bwMode="auto">
          <a:xfrm>
            <a:off x="4108450" y="5399088"/>
            <a:ext cx="4365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200" b="1">
                <a:latin typeface="Helvetica" panose="020B0604020202020204" pitchFamily="34" charset="0"/>
              </a:rPr>
              <a:t>761</a:t>
            </a:r>
          </a:p>
        </p:txBody>
      </p:sp>
      <p:sp>
        <p:nvSpPr>
          <p:cNvPr id="44041" name="Text Box 9"/>
          <p:cNvSpPr txBox="1">
            <a:spLocks noChangeArrowheads="1"/>
          </p:cNvSpPr>
          <p:nvPr/>
        </p:nvSpPr>
        <p:spPr bwMode="auto">
          <a:xfrm>
            <a:off x="4583113" y="5399088"/>
            <a:ext cx="5810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200" b="1">
                <a:latin typeface="Helvetica" panose="020B0604020202020204" pitchFamily="34" charset="0"/>
              </a:rPr>
              <a:t>game</a:t>
            </a:r>
          </a:p>
        </p:txBody>
      </p:sp>
      <p:sp>
        <p:nvSpPr>
          <p:cNvPr id="44042" name="Line 10"/>
          <p:cNvSpPr>
            <a:spLocks noChangeShapeType="1"/>
          </p:cNvSpPr>
          <p:nvPr/>
        </p:nvSpPr>
        <p:spPr bwMode="auto">
          <a:xfrm>
            <a:off x="3736975" y="5065713"/>
            <a:ext cx="461963" cy="3317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3" name="Line 11"/>
          <p:cNvSpPr>
            <a:spLocks noChangeShapeType="1"/>
          </p:cNvSpPr>
          <p:nvPr/>
        </p:nvSpPr>
        <p:spPr bwMode="auto">
          <a:xfrm>
            <a:off x="4343400" y="5108575"/>
            <a:ext cx="0" cy="274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4" name="Line 12"/>
          <p:cNvSpPr>
            <a:spLocks noChangeShapeType="1"/>
          </p:cNvSpPr>
          <p:nvPr/>
        </p:nvSpPr>
        <p:spPr bwMode="auto">
          <a:xfrm flipH="1">
            <a:off x="4494213" y="5080000"/>
            <a:ext cx="600075" cy="346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5" name="Rectangle 13"/>
          <p:cNvSpPr>
            <a:spLocks noChangeArrowheads="1"/>
          </p:cNvSpPr>
          <p:nvPr/>
        </p:nvSpPr>
        <p:spPr bwMode="auto">
          <a:xfrm>
            <a:off x="798513" y="5643563"/>
            <a:ext cx="702945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1pPr>
            <a:lvl2pPr marL="742950" indent="-28575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2pPr>
            <a:lvl3pPr marL="1143000" indent="-2286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3pPr>
            <a:lvl4pPr marL="1600200" indent="-2286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4pPr>
            <a:lvl5pPr marL="2057400" indent="-228600">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tabLst>
                <a:tab pos="1833563" algn="l"/>
                <a:tab pos="4459288" algn="l"/>
                <a:tab pos="5195888" algn="l"/>
                <a:tab pos="5888038" algn="l"/>
              </a:tabLst>
              <a:defRPr>
                <a:solidFill>
                  <a:schemeClr val="tx1"/>
                </a:solidFill>
                <a:latin typeface="Verdana" panose="020B0604030504040204" pitchFamily="34" charset="0"/>
                <a:ea typeface="MS PGothic" panose="020B0600070205080204" pitchFamily="34" charset="-128"/>
              </a:defRPr>
            </a:lvl9pPr>
          </a:lstStyle>
          <a:p>
            <a:pPr>
              <a:spcBef>
                <a:spcPct val="20000"/>
              </a:spcBef>
              <a:buClr>
                <a:schemeClr val="folHlink"/>
              </a:buClr>
              <a:buFont typeface="Monotype Sorts" pitchFamily="-84" charset="2"/>
              <a:buNone/>
            </a:pPr>
            <a:r>
              <a:rPr kumimoji="1" lang="en-US" altLang="en-US">
                <a:latin typeface="Arial" panose="020B0604020202020204" pitchFamily="34" charset="0"/>
                <a:sym typeface="Symbol" panose="05050102010706020507" pitchFamily="18" charset="2"/>
              </a:rPr>
              <a:t>Attach a group to a file</a:t>
            </a:r>
            <a:br>
              <a:rPr kumimoji="1" lang="en-US" altLang="en-US">
                <a:latin typeface="Arial" panose="020B0604020202020204" pitchFamily="34" charset="0"/>
                <a:sym typeface="Symbol" panose="05050102010706020507" pitchFamily="18" charset="2"/>
              </a:rPr>
            </a:br>
            <a:r>
              <a:rPr kumimoji="1" lang="en-US" altLang="en-US">
                <a:latin typeface="Arial" panose="020B0604020202020204" pitchFamily="34" charset="0"/>
                <a:sym typeface="Symbol" panose="05050102010706020507" pitchFamily="18" charset="2"/>
              </a:rPr>
              <a:t>	         </a:t>
            </a:r>
            <a:r>
              <a:rPr kumimoji="1" lang="en-US" altLang="en-US" b="1">
                <a:latin typeface="Courier New" panose="02070309020205020404" pitchFamily="49" charset="0"/>
                <a:cs typeface="Courier New" panose="02070309020205020404" pitchFamily="49" charset="0"/>
                <a:sym typeface="Symbol" panose="05050102010706020507" pitchFamily="18" charset="2"/>
              </a:rPr>
              <a:t>chgrp     G    game</a:t>
            </a:r>
          </a:p>
        </p:txBody>
      </p:sp>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D1B4E37A-E5D7-F516-4033-DE15ADDF0FCF}"/>
              </a:ext>
            </a:extLst>
          </p:cNvPr>
          <p:cNvSpPr>
            <a:spLocks noGrp="1"/>
          </p:cNvSpPr>
          <p:nvPr>
            <p:ph type="sldNum" sz="quarter" idx="12"/>
          </p:nvPr>
        </p:nvSpPr>
        <p:spPr/>
        <p:txBody>
          <a:bodyPr/>
          <a:lstStyle/>
          <a:p>
            <a:fld id="{BE0AC437-A1D8-4781-B86C-407FA400F126}"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825500" y="258763"/>
            <a:ext cx="8077200" cy="609600"/>
          </a:xfrm>
        </p:spPr>
        <p:txBody>
          <a:bodyPr/>
          <a:lstStyle/>
          <a:p>
            <a:pPr eaLnBrk="1" hangingPunct="1"/>
            <a:r>
              <a:rPr lang="en-US" altLang="en-US" sz="2800"/>
              <a:t>Windows 7 Access-Control List Management</a:t>
            </a:r>
          </a:p>
        </p:txBody>
      </p:sp>
      <p:pic>
        <p:nvPicPr>
          <p:cNvPr id="45059" name="Picture 2" descr="11_16.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25433" y="1164590"/>
            <a:ext cx="3289617"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08CD60AA-3A2E-90A6-FD1E-0DB097008B6E}"/>
              </a:ext>
            </a:extLst>
          </p:cNvPr>
          <p:cNvSpPr>
            <a:spLocks noGrp="1"/>
          </p:cNvSpPr>
          <p:nvPr>
            <p:ph type="sldNum" sz="quarter" idx="12"/>
          </p:nvPr>
        </p:nvSpPr>
        <p:spPr/>
        <p:txBody>
          <a:bodyPr/>
          <a:lstStyle/>
          <a:p>
            <a:fld id="{BE0AC437-A1D8-4781-B86C-407FA400F126}"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949325" y="277813"/>
            <a:ext cx="7737475" cy="576262"/>
          </a:xfrm>
        </p:spPr>
        <p:txBody>
          <a:bodyPr/>
          <a:lstStyle/>
          <a:p>
            <a:pPr eaLnBrk="1" hangingPunct="1"/>
            <a:r>
              <a:rPr lang="en-US" altLang="en-US"/>
              <a:t>A Sample UNIX Directory Listing</a:t>
            </a:r>
          </a:p>
        </p:txBody>
      </p:sp>
      <p:pic>
        <p:nvPicPr>
          <p:cNvPr id="46083"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722" t="27065" r="722" b="27065"/>
          <a:stretch>
            <a:fillRect/>
          </a:stretch>
        </p:blipFill>
        <p:spPr>
          <a:xfrm>
            <a:off x="1079500" y="2003425"/>
            <a:ext cx="7350125" cy="3360738"/>
          </a:xfrm>
          <a:noFill/>
        </p:spPr>
      </p:pic>
      <p:sp>
        <p:nvSpPr>
          <p:cNvPr id="2" name="Date Placeholder 1"/>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File Systems</a:t>
            </a:r>
          </a:p>
        </p:txBody>
      </p:sp>
      <p:sp>
        <p:nvSpPr>
          <p:cNvPr id="3" name="Slide Number Placeholder 2">
            <a:extLst>
              <a:ext uri="{FF2B5EF4-FFF2-40B4-BE49-F238E27FC236}">
                <a16:creationId xmlns:a16="http://schemas.microsoft.com/office/drawing/2014/main" id="{45FEF249-C26B-1A3F-6C3B-50E7BFDCFC47}"/>
              </a:ext>
            </a:extLst>
          </p:cNvPr>
          <p:cNvSpPr>
            <a:spLocks noGrp="1"/>
          </p:cNvSpPr>
          <p:nvPr>
            <p:ph type="sldNum" sz="quarter" idx="12"/>
          </p:nvPr>
        </p:nvSpPr>
        <p:spPr/>
        <p:txBody>
          <a:bodyPr/>
          <a:lstStyle/>
          <a:p>
            <a:fld id="{BE0AC437-A1D8-4781-B86C-407FA400F126}"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187D4-4E5F-4BB9-2CEA-55A927EDC9C0}"/>
              </a:ext>
            </a:extLst>
          </p:cNvPr>
          <p:cNvSpPr>
            <a:spLocks noGrp="1"/>
          </p:cNvSpPr>
          <p:nvPr>
            <p:ph type="title"/>
          </p:nvPr>
        </p:nvSpPr>
        <p:spPr>
          <a:xfrm>
            <a:off x="963930" y="1008993"/>
            <a:ext cx="6923558" cy="3542045"/>
          </a:xfrm>
        </p:spPr>
        <p:txBody>
          <a:bodyPr vert="horz" lIns="91440" tIns="45720" rIns="91440" bIns="45720" rtlCol="0" anchor="b">
            <a:normAutofit/>
          </a:bodyPr>
          <a:lstStyle/>
          <a:p>
            <a:pPr defTabSz="914400"/>
            <a:r>
              <a:rPr lang="en-US" sz="10000" kern="1200">
                <a:solidFill>
                  <a:schemeClr val="tx1"/>
                </a:solidFill>
                <a:latin typeface="+mj-lt"/>
                <a:ea typeface="+mj-ea"/>
                <a:cs typeface="+mj-cs"/>
              </a:rPr>
              <a:t>Questions</a:t>
            </a:r>
          </a:p>
        </p:txBody>
      </p:sp>
      <p:sp>
        <p:nvSpPr>
          <p:cNvPr id="5" name="Footer Placeholder 4">
            <a:extLst>
              <a:ext uri="{FF2B5EF4-FFF2-40B4-BE49-F238E27FC236}">
                <a16:creationId xmlns:a16="http://schemas.microsoft.com/office/drawing/2014/main" id="{2DB23669-EC55-D1C4-9F30-6BA06C3AB4C5}"/>
              </a:ext>
            </a:extLst>
          </p:cNvPr>
          <p:cNvSpPr>
            <a:spLocks noGrp="1"/>
          </p:cNvSpPr>
          <p:nvPr>
            <p:ph type="ftr" sz="quarter" idx="11"/>
          </p:nvPr>
        </p:nvSpPr>
        <p:spPr>
          <a:xfrm rot="5400000">
            <a:off x="-1783080" y="3246120"/>
            <a:ext cx="4203954" cy="365760"/>
          </a:xfrm>
        </p:spPr>
        <p:txBody>
          <a:bodyPr vert="horz" lIns="91440" tIns="45720" rIns="91440" bIns="45720" rtlCol="0" anchor="t">
            <a:normAutofit/>
          </a:bodyPr>
          <a:lstStyle/>
          <a:p>
            <a:pPr algn="l" eaLnBrk="1" hangingPunct="1">
              <a:spcAft>
                <a:spcPts val="600"/>
              </a:spcAft>
            </a:pPr>
            <a:r>
              <a:rPr lang="en-US" sz="1000" kern="1200">
                <a:solidFill>
                  <a:schemeClr val="tx1">
                    <a:lumMod val="75000"/>
                    <a:lumOff val="25000"/>
                  </a:schemeClr>
                </a:solidFill>
                <a:latin typeface="+mn-lt"/>
                <a:ea typeface="+mn-ea"/>
                <a:cs typeface="+mn-cs"/>
              </a:rPr>
              <a:t>Operating Systems - File Systems</a:t>
            </a:r>
          </a:p>
        </p:txBody>
      </p:sp>
      <p:sp>
        <p:nvSpPr>
          <p:cNvPr id="4" name="Date Placeholder 3">
            <a:extLst>
              <a:ext uri="{FF2B5EF4-FFF2-40B4-BE49-F238E27FC236}">
                <a16:creationId xmlns:a16="http://schemas.microsoft.com/office/drawing/2014/main" id="{2C538407-2790-8E61-10DC-FB682CCE6CF7}"/>
              </a:ext>
            </a:extLst>
          </p:cNvPr>
          <p:cNvSpPr>
            <a:spLocks noGrp="1"/>
          </p:cNvSpPr>
          <p:nvPr>
            <p:ph type="dt" sz="half" idx="10"/>
          </p:nvPr>
        </p:nvSpPr>
        <p:spPr>
          <a:xfrm>
            <a:off x="6719046" y="5769149"/>
            <a:ext cx="1796304" cy="365760"/>
          </a:xfrm>
        </p:spPr>
        <p:txBody>
          <a:bodyPr vert="horz" lIns="91440" tIns="45720" rIns="91440" bIns="45720" rtlCol="0" anchor="b">
            <a:normAutofit/>
          </a:bodyPr>
          <a:lstStyle/>
          <a:p>
            <a:pPr algn="r" eaLnBrk="1" hangingPunct="1">
              <a:spcAft>
                <a:spcPts val="600"/>
              </a:spcAft>
            </a:pPr>
            <a:r>
              <a:rPr lang="en-US" sz="1000">
                <a:solidFill>
                  <a:srgbClr val="FFFFFF"/>
                </a:solidFill>
                <a:latin typeface="+mn-lt"/>
                <a:ea typeface="+mn-ea"/>
              </a:rPr>
              <a:t>Vincenzo Gulisano</a:t>
            </a:r>
          </a:p>
        </p:txBody>
      </p:sp>
      <p:sp>
        <p:nvSpPr>
          <p:cNvPr id="3" name="Slide Number Placeholder 2">
            <a:extLst>
              <a:ext uri="{FF2B5EF4-FFF2-40B4-BE49-F238E27FC236}">
                <a16:creationId xmlns:a16="http://schemas.microsoft.com/office/drawing/2014/main" id="{C65A9DDA-D07E-FA44-A93D-AF7CC5F74470}"/>
              </a:ext>
            </a:extLst>
          </p:cNvPr>
          <p:cNvSpPr>
            <a:spLocks noGrp="1"/>
          </p:cNvSpPr>
          <p:nvPr>
            <p:ph type="sldNum" sz="quarter" idx="12"/>
          </p:nvPr>
        </p:nvSpPr>
        <p:spPr/>
        <p:txBody>
          <a:bodyPr/>
          <a:lstStyle/>
          <a:p>
            <a:fld id="{BE0AC437-A1D8-4781-B86C-407FA400F126}" type="slidenum">
              <a:rPr lang="en-US" smtClean="0"/>
              <a:t>54</a:t>
            </a:fld>
            <a:endParaRPr lang="en-US"/>
          </a:p>
        </p:txBody>
      </p:sp>
    </p:spTree>
    <p:extLst>
      <p:ext uri="{BB962C8B-B14F-4D97-AF65-F5344CB8AC3E}">
        <p14:creationId xmlns:p14="http://schemas.microsoft.com/office/powerpoint/2010/main" val="362006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AA079-F7EA-5988-036C-42836F02B84C}"/>
              </a:ext>
            </a:extLst>
          </p:cNvPr>
          <p:cNvSpPr>
            <a:spLocks noGrp="1"/>
          </p:cNvSpPr>
          <p:nvPr>
            <p:ph type="title"/>
          </p:nvPr>
        </p:nvSpPr>
        <p:spPr/>
        <p:txBody>
          <a:bodyPr>
            <a:normAutofit/>
          </a:bodyPr>
          <a:lstStyle/>
          <a:p>
            <a:pPr fontAlgn="base"/>
            <a:r>
              <a:rPr lang="en-GB" b="1" dirty="0">
                <a:effectLst/>
                <a:latin typeface="inherit"/>
              </a:rPr>
              <a:t>Disk space utilization is most likely maximized by</a:t>
            </a:r>
            <a:endParaRPr lang="en-SE" dirty="0"/>
          </a:p>
        </p:txBody>
      </p:sp>
      <p:sp>
        <p:nvSpPr>
          <p:cNvPr id="3" name="Content Placeholder 2">
            <a:extLst>
              <a:ext uri="{FF2B5EF4-FFF2-40B4-BE49-F238E27FC236}">
                <a16:creationId xmlns:a16="http://schemas.microsoft.com/office/drawing/2014/main" id="{54A1E2FB-05F5-4470-76D7-892058CD1A97}"/>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decreasing the block size</a:t>
            </a:r>
          </a:p>
          <a:p>
            <a:pPr marL="457200" indent="-457200" algn="l" fontAlgn="base">
              <a:buFont typeface="+mj-lt"/>
              <a:buAutoNum type="arabicPeriod"/>
            </a:pPr>
            <a:r>
              <a:rPr lang="en-GB" b="0" i="0" dirty="0">
                <a:solidFill>
                  <a:srgbClr val="333333"/>
                </a:solidFill>
                <a:effectLst/>
                <a:latin typeface="Montserrat" pitchFamily="2" charset="77"/>
              </a:rPr>
              <a:t>increasing the block size</a:t>
            </a:r>
          </a:p>
        </p:txBody>
      </p:sp>
      <p:sp>
        <p:nvSpPr>
          <p:cNvPr id="4" name="Date Placeholder 3">
            <a:extLst>
              <a:ext uri="{FF2B5EF4-FFF2-40B4-BE49-F238E27FC236}">
                <a16:creationId xmlns:a16="http://schemas.microsoft.com/office/drawing/2014/main" id="{CBD1F573-007E-9C55-0F01-78C129E685D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FFFCB5DC-3512-AB46-0009-091701CFE6D4}"/>
              </a:ext>
            </a:extLst>
          </p:cNvPr>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8990E98C-DE73-021A-15F5-54B437AA776F}"/>
              </a:ext>
            </a:extLst>
          </p:cNvPr>
          <p:cNvSpPr>
            <a:spLocks noGrp="1"/>
          </p:cNvSpPr>
          <p:nvPr>
            <p:ph type="sldNum" sz="quarter" idx="12"/>
          </p:nvPr>
        </p:nvSpPr>
        <p:spPr/>
        <p:txBody>
          <a:bodyPr/>
          <a:lstStyle/>
          <a:p>
            <a:fld id="{BE0AC437-A1D8-4781-B86C-407FA400F126}" type="slidenum">
              <a:rPr lang="en-US" smtClean="0"/>
              <a:t>55</a:t>
            </a:fld>
            <a:endParaRPr lang="en-US"/>
          </a:p>
        </p:txBody>
      </p:sp>
    </p:spTree>
    <p:extLst>
      <p:ext uri="{BB962C8B-B14F-4D97-AF65-F5344CB8AC3E}">
        <p14:creationId xmlns:p14="http://schemas.microsoft.com/office/powerpoint/2010/main" val="9387698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15C0C-CBC9-98D7-CA00-7F1B54572995}"/>
              </a:ext>
            </a:extLst>
          </p:cNvPr>
          <p:cNvSpPr>
            <a:spLocks noGrp="1"/>
          </p:cNvSpPr>
          <p:nvPr>
            <p:ph type="title"/>
          </p:nvPr>
        </p:nvSpPr>
        <p:spPr/>
        <p:txBody>
          <a:bodyPr>
            <a:normAutofit/>
          </a:bodyPr>
          <a:lstStyle/>
          <a:p>
            <a:pPr fontAlgn="base"/>
            <a:r>
              <a:rPr lang="en-GB" b="1" dirty="0">
                <a:effectLst/>
                <a:latin typeface="inherit"/>
              </a:rPr>
              <a:t>This figure shows...</a:t>
            </a:r>
            <a:endParaRPr lang="en-SE" dirty="0"/>
          </a:p>
        </p:txBody>
      </p:sp>
      <p:sp>
        <p:nvSpPr>
          <p:cNvPr id="3" name="Content Placeholder 2">
            <a:extLst>
              <a:ext uri="{FF2B5EF4-FFF2-40B4-BE49-F238E27FC236}">
                <a16:creationId xmlns:a16="http://schemas.microsoft.com/office/drawing/2014/main" id="{2CB75B28-E666-DEDF-214F-50C81A65E852}"/>
              </a:ext>
            </a:extLst>
          </p:cNvPr>
          <p:cNvSpPr>
            <a:spLocks noGrp="1"/>
          </p:cNvSpPr>
          <p:nvPr>
            <p:ph idx="1"/>
          </p:nvPr>
        </p:nvSpPr>
        <p:spPr>
          <a:xfrm>
            <a:off x="628650" y="2226469"/>
            <a:ext cx="4455729" cy="3263504"/>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rate goes up when internal frag. is small</a:t>
            </a:r>
          </a:p>
          <a:p>
            <a:pPr marL="457200" indent="-457200" algn="l" fontAlgn="base">
              <a:buFont typeface="+mj-lt"/>
              <a:buAutoNum type="arabicPeriod"/>
            </a:pPr>
            <a:r>
              <a:rPr lang="en-GB" b="0" i="0" dirty="0">
                <a:solidFill>
                  <a:srgbClr val="333333"/>
                </a:solidFill>
                <a:effectLst/>
                <a:latin typeface="Montserrat" pitchFamily="2" charset="77"/>
              </a:rPr>
              <a:t>hints about the average size of the files stored on disk</a:t>
            </a:r>
          </a:p>
          <a:p>
            <a:pPr marL="457200" indent="-457200" algn="l" fontAlgn="base">
              <a:buFont typeface="+mj-lt"/>
              <a:buAutoNum type="arabicPeriod"/>
            </a:pPr>
            <a:r>
              <a:rPr lang="en-GB" b="0" i="0" dirty="0">
                <a:solidFill>
                  <a:srgbClr val="333333"/>
                </a:solidFill>
                <a:effectLst/>
                <a:latin typeface="Montserrat" pitchFamily="2" charset="77"/>
              </a:rPr>
              <a:t>disk utilization must be sacrificed to speed up rate</a:t>
            </a:r>
          </a:p>
        </p:txBody>
      </p:sp>
      <p:pic>
        <p:nvPicPr>
          <p:cNvPr id="1026" name="Picture 2">
            <a:extLst>
              <a:ext uri="{FF2B5EF4-FFF2-40B4-BE49-F238E27FC236}">
                <a16:creationId xmlns:a16="http://schemas.microsoft.com/office/drawing/2014/main" id="{B8AC5EB4-EBD4-6C16-3E52-85DD9384C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9702" y="3506610"/>
            <a:ext cx="3978494" cy="208456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31F01437-43F5-819E-38B5-98D43BAF2365}"/>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A60A013E-E812-E6A6-9257-23E19B729C47}"/>
              </a:ext>
            </a:extLst>
          </p:cNvPr>
          <p:cNvSpPr>
            <a:spLocks noGrp="1"/>
          </p:cNvSpPr>
          <p:nvPr>
            <p:ph type="ftr" sz="quarter" idx="11"/>
          </p:nvPr>
        </p:nvSpPr>
        <p:spPr/>
        <p:txBody>
          <a:bodyPr/>
          <a:lstStyle/>
          <a:p>
            <a:r>
              <a:rPr lang="en-US"/>
              <a:t>Operating Systems - File Systems</a:t>
            </a:r>
          </a:p>
        </p:txBody>
      </p:sp>
      <p:sp>
        <p:nvSpPr>
          <p:cNvPr id="7" name="Slide Number Placeholder 6">
            <a:extLst>
              <a:ext uri="{FF2B5EF4-FFF2-40B4-BE49-F238E27FC236}">
                <a16:creationId xmlns:a16="http://schemas.microsoft.com/office/drawing/2014/main" id="{A4986824-DF86-5BC2-8BD0-A60AB9FAF341}"/>
              </a:ext>
            </a:extLst>
          </p:cNvPr>
          <p:cNvSpPr>
            <a:spLocks noGrp="1"/>
          </p:cNvSpPr>
          <p:nvPr>
            <p:ph type="sldNum" sz="quarter" idx="12"/>
          </p:nvPr>
        </p:nvSpPr>
        <p:spPr/>
        <p:txBody>
          <a:bodyPr/>
          <a:lstStyle/>
          <a:p>
            <a:fld id="{BE0AC437-A1D8-4781-B86C-407FA400F126}" type="slidenum">
              <a:rPr lang="en-US" smtClean="0"/>
              <a:t>56</a:t>
            </a:fld>
            <a:endParaRPr lang="en-US"/>
          </a:p>
        </p:txBody>
      </p:sp>
    </p:spTree>
    <p:extLst>
      <p:ext uri="{BB962C8B-B14F-4D97-AF65-F5344CB8AC3E}">
        <p14:creationId xmlns:p14="http://schemas.microsoft.com/office/powerpoint/2010/main" val="21907978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39131-810B-C0B7-6F68-5C2DB2B5BD24}"/>
              </a:ext>
            </a:extLst>
          </p:cNvPr>
          <p:cNvSpPr>
            <a:spLocks noGrp="1"/>
          </p:cNvSpPr>
          <p:nvPr>
            <p:ph type="title"/>
          </p:nvPr>
        </p:nvSpPr>
        <p:spPr/>
        <p:txBody>
          <a:bodyPr>
            <a:normAutofit/>
          </a:bodyPr>
          <a:lstStyle/>
          <a:p>
            <a:pPr fontAlgn="base"/>
            <a:r>
              <a:rPr lang="en-GB" b="1" dirty="0">
                <a:effectLst/>
                <a:latin typeface="inherit"/>
              </a:rPr>
              <a:t>The part that is OS-specific is</a:t>
            </a:r>
            <a:endParaRPr lang="en-SE" dirty="0"/>
          </a:p>
        </p:txBody>
      </p:sp>
      <p:sp>
        <p:nvSpPr>
          <p:cNvPr id="3" name="Content Placeholder 2">
            <a:extLst>
              <a:ext uri="{FF2B5EF4-FFF2-40B4-BE49-F238E27FC236}">
                <a16:creationId xmlns:a16="http://schemas.microsoft.com/office/drawing/2014/main" id="{F12CF526-50E0-9D82-C777-E53A97E5D2DD}"/>
              </a:ext>
            </a:extLst>
          </p:cNvPr>
          <p:cNvSpPr>
            <a:spLocks noGrp="1"/>
          </p:cNvSpPr>
          <p:nvPr>
            <p:ph idx="1"/>
          </p:nvPr>
        </p:nvSpPr>
        <p:spPr>
          <a:xfrm>
            <a:off x="628651" y="2226469"/>
            <a:ext cx="3328601" cy="3263504"/>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MBR</a:t>
            </a:r>
          </a:p>
          <a:p>
            <a:pPr marL="457200" indent="-457200" algn="l" fontAlgn="base">
              <a:buFont typeface="+mj-lt"/>
              <a:buAutoNum type="arabicPeriod"/>
            </a:pPr>
            <a:r>
              <a:rPr lang="en-GB" b="0" i="0" dirty="0">
                <a:solidFill>
                  <a:srgbClr val="333333"/>
                </a:solidFill>
                <a:effectLst/>
                <a:latin typeface="Montserrat" pitchFamily="2" charset="77"/>
              </a:rPr>
              <a:t>Partition table</a:t>
            </a:r>
          </a:p>
          <a:p>
            <a:pPr marL="457200" indent="-457200" algn="l" fontAlgn="base">
              <a:buFont typeface="+mj-lt"/>
              <a:buAutoNum type="arabicPeriod"/>
            </a:pPr>
            <a:r>
              <a:rPr lang="en-GB" b="0" i="0" dirty="0">
                <a:solidFill>
                  <a:srgbClr val="333333"/>
                </a:solidFill>
                <a:effectLst/>
                <a:latin typeface="Montserrat" pitchFamily="2" charset="77"/>
              </a:rPr>
              <a:t>Boot block X</a:t>
            </a:r>
          </a:p>
          <a:p>
            <a:pPr marL="457200" indent="-457200" algn="l" fontAlgn="base">
              <a:buFont typeface="+mj-lt"/>
              <a:buAutoNum type="arabicPeriod"/>
            </a:pPr>
            <a:r>
              <a:rPr lang="en-GB" b="0" i="0" dirty="0">
                <a:solidFill>
                  <a:srgbClr val="333333"/>
                </a:solidFill>
                <a:effectLst/>
                <a:latin typeface="Montserrat" pitchFamily="2" charset="77"/>
              </a:rPr>
              <a:t>Free space management X</a:t>
            </a:r>
          </a:p>
        </p:txBody>
      </p:sp>
      <p:pic>
        <p:nvPicPr>
          <p:cNvPr id="4" name="Picture 2">
            <a:extLst>
              <a:ext uri="{FF2B5EF4-FFF2-40B4-BE49-F238E27FC236}">
                <a16:creationId xmlns:a16="http://schemas.microsoft.com/office/drawing/2014/main" id="{51BC2668-2154-299F-F635-AF19EA82A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4368" y="2783668"/>
            <a:ext cx="5098148" cy="1942341"/>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5D778B8C-7344-9143-BC0C-2D26DE8CDB29}"/>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8EA7AAE1-3B17-4E06-3017-424369AC5DE6}"/>
              </a:ext>
            </a:extLst>
          </p:cNvPr>
          <p:cNvSpPr>
            <a:spLocks noGrp="1"/>
          </p:cNvSpPr>
          <p:nvPr>
            <p:ph type="ftr" sz="quarter" idx="11"/>
          </p:nvPr>
        </p:nvSpPr>
        <p:spPr/>
        <p:txBody>
          <a:bodyPr/>
          <a:lstStyle/>
          <a:p>
            <a:r>
              <a:rPr lang="en-US"/>
              <a:t>Operating Systems - File Systems</a:t>
            </a:r>
          </a:p>
        </p:txBody>
      </p:sp>
      <p:sp>
        <p:nvSpPr>
          <p:cNvPr id="8" name="Slide Number Placeholder 7">
            <a:extLst>
              <a:ext uri="{FF2B5EF4-FFF2-40B4-BE49-F238E27FC236}">
                <a16:creationId xmlns:a16="http://schemas.microsoft.com/office/drawing/2014/main" id="{287E673F-B7E0-CE9A-0FE7-778F3E1A9B94}"/>
              </a:ext>
            </a:extLst>
          </p:cNvPr>
          <p:cNvSpPr>
            <a:spLocks noGrp="1"/>
          </p:cNvSpPr>
          <p:nvPr>
            <p:ph type="sldNum" sz="quarter" idx="12"/>
          </p:nvPr>
        </p:nvSpPr>
        <p:spPr/>
        <p:txBody>
          <a:bodyPr/>
          <a:lstStyle/>
          <a:p>
            <a:fld id="{BE0AC437-A1D8-4781-B86C-407FA400F126}" type="slidenum">
              <a:rPr lang="en-US" smtClean="0"/>
              <a:t>57</a:t>
            </a:fld>
            <a:endParaRPr lang="en-US"/>
          </a:p>
        </p:txBody>
      </p:sp>
    </p:spTree>
    <p:extLst>
      <p:ext uri="{BB962C8B-B14F-4D97-AF65-F5344CB8AC3E}">
        <p14:creationId xmlns:p14="http://schemas.microsoft.com/office/powerpoint/2010/main" val="12298510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DF87-A38C-A29A-E1C2-6CAE26A0ED3F}"/>
              </a:ext>
            </a:extLst>
          </p:cNvPr>
          <p:cNvSpPr>
            <a:spLocks noGrp="1"/>
          </p:cNvSpPr>
          <p:nvPr>
            <p:ph type="title"/>
          </p:nvPr>
        </p:nvSpPr>
        <p:spPr/>
        <p:txBody>
          <a:bodyPr>
            <a:normAutofit/>
          </a:bodyPr>
          <a:lstStyle/>
          <a:p>
            <a:pPr fontAlgn="base"/>
            <a:r>
              <a:rPr lang="en-GB" b="1" dirty="0">
                <a:effectLst/>
                <a:latin typeface="inherit"/>
              </a:rPr>
              <a:t>Contiguous allocation for a disk leads to...</a:t>
            </a:r>
            <a:endParaRPr lang="en-SE" dirty="0"/>
          </a:p>
        </p:txBody>
      </p:sp>
      <p:sp>
        <p:nvSpPr>
          <p:cNvPr id="3" name="Content Placeholder 2">
            <a:extLst>
              <a:ext uri="{FF2B5EF4-FFF2-40B4-BE49-F238E27FC236}">
                <a16:creationId xmlns:a16="http://schemas.microsoft.com/office/drawing/2014/main" id="{E49E17F6-4F93-5389-7B03-9F9D21ADE4B3}"/>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External fragmentation</a:t>
            </a:r>
          </a:p>
          <a:p>
            <a:pPr marL="457200" indent="-457200" algn="l" fontAlgn="base">
              <a:buFont typeface="+mj-lt"/>
              <a:buAutoNum type="arabicPeriod"/>
            </a:pPr>
            <a:r>
              <a:rPr lang="en-GB" b="0" i="0" dirty="0">
                <a:solidFill>
                  <a:srgbClr val="333333"/>
                </a:solidFill>
                <a:effectLst/>
                <a:latin typeface="Montserrat" pitchFamily="2" charset="77"/>
              </a:rPr>
              <a:t>Internal fragmentation</a:t>
            </a:r>
          </a:p>
          <a:p>
            <a:pPr marL="457200" indent="-457200" algn="l" fontAlgn="base">
              <a:buFont typeface="+mj-lt"/>
              <a:buAutoNum type="arabicPeriod"/>
            </a:pPr>
            <a:r>
              <a:rPr lang="en-GB" b="0" i="0" dirty="0">
                <a:solidFill>
                  <a:srgbClr val="333333"/>
                </a:solidFill>
                <a:effectLst/>
                <a:latin typeface="Montserrat" pitchFamily="2" charset="77"/>
              </a:rPr>
              <a:t>Both of them</a:t>
            </a:r>
          </a:p>
        </p:txBody>
      </p:sp>
      <p:sp>
        <p:nvSpPr>
          <p:cNvPr id="4" name="Date Placeholder 3">
            <a:extLst>
              <a:ext uri="{FF2B5EF4-FFF2-40B4-BE49-F238E27FC236}">
                <a16:creationId xmlns:a16="http://schemas.microsoft.com/office/drawing/2014/main" id="{E903C018-BC1C-753D-86DE-6A5BFD5AF541}"/>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7493D86A-8B57-E45F-AF1B-C79E10248700}"/>
              </a:ext>
            </a:extLst>
          </p:cNvPr>
          <p:cNvSpPr>
            <a:spLocks noGrp="1"/>
          </p:cNvSpPr>
          <p:nvPr>
            <p:ph type="ftr" sz="quarter" idx="11"/>
          </p:nvPr>
        </p:nvSpPr>
        <p:spPr/>
        <p:txBody>
          <a:bodyPr/>
          <a:lstStyle/>
          <a:p>
            <a:r>
              <a:rPr lang="en-SE"/>
              <a:t>Operating Systems - File Systems</a:t>
            </a:r>
          </a:p>
        </p:txBody>
      </p:sp>
      <p:sp>
        <p:nvSpPr>
          <p:cNvPr id="7" name="Slide Number Placeholder 6">
            <a:extLst>
              <a:ext uri="{FF2B5EF4-FFF2-40B4-BE49-F238E27FC236}">
                <a16:creationId xmlns:a16="http://schemas.microsoft.com/office/drawing/2014/main" id="{7AEF6FB1-0C63-8350-E5F1-7A1FADCF78D9}"/>
              </a:ext>
            </a:extLst>
          </p:cNvPr>
          <p:cNvSpPr>
            <a:spLocks noGrp="1"/>
          </p:cNvSpPr>
          <p:nvPr>
            <p:ph type="sldNum" sz="quarter" idx="12"/>
          </p:nvPr>
        </p:nvSpPr>
        <p:spPr/>
        <p:txBody>
          <a:bodyPr/>
          <a:lstStyle/>
          <a:p>
            <a:fld id="{5F79AA98-1CDB-B74D-913E-0EAC104F29A0}" type="slidenum">
              <a:rPr lang="en-SE" smtClean="0"/>
              <a:t>58</a:t>
            </a:fld>
            <a:endParaRPr lang="en-SE"/>
          </a:p>
        </p:txBody>
      </p:sp>
    </p:spTree>
    <p:extLst>
      <p:ext uri="{BB962C8B-B14F-4D97-AF65-F5344CB8AC3E}">
        <p14:creationId xmlns:p14="http://schemas.microsoft.com/office/powerpoint/2010/main" val="39166299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ACB7-AAAA-A623-42E9-E49EE8463565}"/>
              </a:ext>
            </a:extLst>
          </p:cNvPr>
          <p:cNvSpPr>
            <a:spLocks noGrp="1"/>
          </p:cNvSpPr>
          <p:nvPr>
            <p:ph type="title"/>
          </p:nvPr>
        </p:nvSpPr>
        <p:spPr/>
        <p:txBody>
          <a:bodyPr>
            <a:normAutofit/>
          </a:bodyPr>
          <a:lstStyle/>
          <a:p>
            <a:pPr fontAlgn="base"/>
            <a:r>
              <a:rPr lang="en-GB" b="1" dirty="0">
                <a:effectLst/>
                <a:latin typeface="inherit"/>
              </a:rPr>
              <a:t>What requires more space to keep track of free blocks?</a:t>
            </a:r>
            <a:endParaRPr lang="en-SE" dirty="0"/>
          </a:p>
        </p:txBody>
      </p:sp>
      <p:sp>
        <p:nvSpPr>
          <p:cNvPr id="3" name="Content Placeholder 2">
            <a:extLst>
              <a:ext uri="{FF2B5EF4-FFF2-40B4-BE49-F238E27FC236}">
                <a16:creationId xmlns:a16="http://schemas.microsoft.com/office/drawing/2014/main" id="{DCB607D1-7081-B741-69AF-21E23FFC8212}"/>
              </a:ext>
            </a:extLst>
          </p:cNvPr>
          <p:cNvSpPr>
            <a:spLocks noGrp="1"/>
          </p:cNvSpPr>
          <p:nvPr>
            <p:ph idx="1"/>
          </p:nvPr>
        </p:nvSpPr>
        <p:spPr/>
        <p:txBody>
          <a:bodyPr/>
          <a:lstStyle/>
          <a:p>
            <a:pPr marL="457200" indent="-457200" algn="l" fontAlgn="base">
              <a:buFont typeface="+mj-lt"/>
              <a:buAutoNum type="arabicPeriod"/>
            </a:pPr>
            <a:r>
              <a:rPr lang="en-SE" dirty="0"/>
              <a:t>L</a:t>
            </a:r>
            <a:r>
              <a:rPr lang="en-GB" b="0" i="0" dirty="0">
                <a:solidFill>
                  <a:srgbClr val="333333"/>
                </a:solidFill>
                <a:effectLst/>
                <a:latin typeface="Montserrat" pitchFamily="2" charset="77"/>
              </a:rPr>
              <a:t>inked list</a:t>
            </a:r>
          </a:p>
          <a:p>
            <a:pPr marL="457200" indent="-457200" algn="l" fontAlgn="base">
              <a:buFont typeface="+mj-lt"/>
              <a:buAutoNum type="arabicPeriod"/>
            </a:pPr>
            <a:r>
              <a:rPr lang="en-GB" b="0" i="0" dirty="0">
                <a:solidFill>
                  <a:srgbClr val="333333"/>
                </a:solidFill>
                <a:effectLst/>
                <a:latin typeface="Montserrat" pitchFamily="2" charset="77"/>
              </a:rPr>
              <a:t>Bitmap</a:t>
            </a:r>
          </a:p>
          <a:p>
            <a:pPr marL="457200" indent="-457200" algn="l" fontAlgn="base">
              <a:buFont typeface="+mj-lt"/>
              <a:buAutoNum type="arabicPeriod"/>
            </a:pPr>
            <a:r>
              <a:rPr lang="en-GB" b="0" i="0" dirty="0">
                <a:solidFill>
                  <a:srgbClr val="333333"/>
                </a:solidFill>
                <a:effectLst/>
                <a:latin typeface="Montserrat" pitchFamily="2" charset="77"/>
              </a:rPr>
              <a:t>who knows...</a:t>
            </a:r>
          </a:p>
        </p:txBody>
      </p:sp>
      <p:sp>
        <p:nvSpPr>
          <p:cNvPr id="4" name="Date Placeholder 3">
            <a:extLst>
              <a:ext uri="{FF2B5EF4-FFF2-40B4-BE49-F238E27FC236}">
                <a16:creationId xmlns:a16="http://schemas.microsoft.com/office/drawing/2014/main" id="{E8966ACD-C5A1-EEF1-52C4-846CF3C13C35}"/>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B2A2D0F-BAFC-EADE-81AF-491EFB853E89}"/>
              </a:ext>
            </a:extLst>
          </p:cNvPr>
          <p:cNvSpPr>
            <a:spLocks noGrp="1"/>
          </p:cNvSpPr>
          <p:nvPr>
            <p:ph type="ftr" sz="quarter" idx="11"/>
          </p:nvPr>
        </p:nvSpPr>
        <p:spPr/>
        <p:txBody>
          <a:bodyPr/>
          <a:lstStyle/>
          <a:p>
            <a:r>
              <a:rPr lang="en-SE"/>
              <a:t>Operating Systems - File Systems</a:t>
            </a:r>
          </a:p>
        </p:txBody>
      </p:sp>
      <p:sp>
        <p:nvSpPr>
          <p:cNvPr id="7" name="Slide Number Placeholder 6">
            <a:extLst>
              <a:ext uri="{FF2B5EF4-FFF2-40B4-BE49-F238E27FC236}">
                <a16:creationId xmlns:a16="http://schemas.microsoft.com/office/drawing/2014/main" id="{1BC9383B-5232-DEBE-3E55-67852B256477}"/>
              </a:ext>
            </a:extLst>
          </p:cNvPr>
          <p:cNvSpPr>
            <a:spLocks noGrp="1"/>
          </p:cNvSpPr>
          <p:nvPr>
            <p:ph type="sldNum" sz="quarter" idx="12"/>
          </p:nvPr>
        </p:nvSpPr>
        <p:spPr/>
        <p:txBody>
          <a:bodyPr/>
          <a:lstStyle/>
          <a:p>
            <a:fld id="{5F79AA98-1CDB-B74D-913E-0EAC104F29A0}" type="slidenum">
              <a:rPr lang="en-SE" smtClean="0"/>
              <a:t>59</a:t>
            </a:fld>
            <a:endParaRPr lang="en-SE"/>
          </a:p>
        </p:txBody>
      </p:sp>
    </p:spTree>
    <p:extLst>
      <p:ext uri="{BB962C8B-B14F-4D97-AF65-F5344CB8AC3E}">
        <p14:creationId xmlns:p14="http://schemas.microsoft.com/office/powerpoint/2010/main" val="3062509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EFA584-4745-E7DA-4108-DF92B41F7C03}"/>
              </a:ext>
            </a:extLst>
          </p:cNvPr>
          <p:cNvSpPr>
            <a:spLocks noGrp="1"/>
          </p:cNvSpPr>
          <p:nvPr>
            <p:ph idx="1"/>
          </p:nvPr>
        </p:nvSpPr>
        <p:spPr>
          <a:xfrm>
            <a:off x="4572000" y="3346911"/>
            <a:ext cx="3943350" cy="2143061"/>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Yes</a:t>
            </a:r>
          </a:p>
          <a:p>
            <a:pPr marL="457200" indent="-457200" algn="l" fontAlgn="base">
              <a:buFont typeface="+mj-lt"/>
              <a:buAutoNum type="arabicPeriod"/>
            </a:pPr>
            <a:r>
              <a:rPr lang="en-GB" b="0" i="0" dirty="0">
                <a:solidFill>
                  <a:srgbClr val="333333"/>
                </a:solidFill>
                <a:effectLst/>
                <a:latin typeface="Montserrat" pitchFamily="2" charset="77"/>
              </a:rPr>
              <a:t>No</a:t>
            </a:r>
          </a:p>
          <a:p>
            <a:pPr marL="457200" indent="-457200" algn="l" fontAlgn="base">
              <a:buFont typeface="+mj-lt"/>
              <a:buAutoNum type="arabicPeriod"/>
            </a:pPr>
            <a:r>
              <a:rPr lang="en-GB" b="0" i="0" dirty="0">
                <a:solidFill>
                  <a:srgbClr val="333333"/>
                </a:solidFill>
                <a:effectLst/>
                <a:latin typeface="Montserrat" pitchFamily="2" charset="77"/>
              </a:rPr>
              <a:t>Who knows...</a:t>
            </a:r>
          </a:p>
          <a:p>
            <a:endParaRPr lang="en-SE" dirty="0"/>
          </a:p>
        </p:txBody>
      </p:sp>
      <p:pic>
        <p:nvPicPr>
          <p:cNvPr id="3074" name="Picture 2">
            <a:extLst>
              <a:ext uri="{FF2B5EF4-FFF2-40B4-BE49-F238E27FC236}">
                <a16:creationId xmlns:a16="http://schemas.microsoft.com/office/drawing/2014/main" id="{52B0CA51-D8E2-994E-D4C7-54E5F3D2A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64" y="1368028"/>
            <a:ext cx="5209601" cy="1978883"/>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46AD635E-DFBD-9002-D2BC-7A83B659DCCA}"/>
              </a:ext>
            </a:extLst>
          </p:cNvPr>
          <p:cNvSpPr>
            <a:spLocks noGrp="1"/>
          </p:cNvSpPr>
          <p:nvPr>
            <p:ph type="dt" sz="half" idx="10"/>
          </p:nvPr>
        </p:nvSpPr>
        <p:spPr/>
        <p:txBody>
          <a:bodyPr/>
          <a:lstStyle/>
          <a:p>
            <a:r>
              <a:rPr lang="en-US"/>
              <a:t>Vincenzo Gulisano</a:t>
            </a:r>
            <a:endParaRPr lang="en-SE"/>
          </a:p>
        </p:txBody>
      </p:sp>
      <p:sp>
        <p:nvSpPr>
          <p:cNvPr id="4" name="Footer Placeholder 3">
            <a:extLst>
              <a:ext uri="{FF2B5EF4-FFF2-40B4-BE49-F238E27FC236}">
                <a16:creationId xmlns:a16="http://schemas.microsoft.com/office/drawing/2014/main" id="{930F598C-AD2C-6DF4-088F-732B92EBF312}"/>
              </a:ext>
            </a:extLst>
          </p:cNvPr>
          <p:cNvSpPr>
            <a:spLocks noGrp="1"/>
          </p:cNvSpPr>
          <p:nvPr>
            <p:ph type="ftr" sz="quarter" idx="11"/>
          </p:nvPr>
        </p:nvSpPr>
        <p:spPr/>
        <p:txBody>
          <a:bodyPr/>
          <a:lstStyle/>
          <a:p>
            <a:r>
              <a:rPr lang="en-SE"/>
              <a:t>Operating Systems - File Systems</a:t>
            </a:r>
          </a:p>
        </p:txBody>
      </p:sp>
      <p:sp>
        <p:nvSpPr>
          <p:cNvPr id="6" name="Slide Number Placeholder 5">
            <a:extLst>
              <a:ext uri="{FF2B5EF4-FFF2-40B4-BE49-F238E27FC236}">
                <a16:creationId xmlns:a16="http://schemas.microsoft.com/office/drawing/2014/main" id="{498E12E1-13D5-300C-8E24-C0B9B3543ADF}"/>
              </a:ext>
            </a:extLst>
          </p:cNvPr>
          <p:cNvSpPr>
            <a:spLocks noGrp="1"/>
          </p:cNvSpPr>
          <p:nvPr>
            <p:ph type="sldNum" sz="quarter" idx="12"/>
          </p:nvPr>
        </p:nvSpPr>
        <p:spPr/>
        <p:txBody>
          <a:bodyPr/>
          <a:lstStyle/>
          <a:p>
            <a:fld id="{5F79AA98-1CDB-B74D-913E-0EAC104F29A0}" type="slidenum">
              <a:rPr lang="en-SE" smtClean="0"/>
              <a:t>60</a:t>
            </a:fld>
            <a:endParaRPr lang="en-SE"/>
          </a:p>
        </p:txBody>
      </p:sp>
    </p:spTree>
    <p:extLst>
      <p:ext uri="{BB962C8B-B14F-4D97-AF65-F5344CB8AC3E}">
        <p14:creationId xmlns:p14="http://schemas.microsoft.com/office/powerpoint/2010/main" val="1755501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9230" y="812621"/>
            <a:ext cx="4049486" cy="4293483"/>
          </a:xfrm>
          <a:prstGeom prst="rect">
            <a:avLst/>
          </a:prstGeom>
        </p:spPr>
        <p:txBody>
          <a:bodyPr wrap="square">
            <a:spAutoFit/>
          </a:bodyPr>
          <a:lstStyle/>
          <a:p>
            <a:r>
              <a:rPr lang="en-US" sz="2100" dirty="0"/>
              <a:t>Consider a file system that uses </a:t>
            </a:r>
            <a:r>
              <a:rPr lang="en-US" sz="2100" dirty="0" err="1"/>
              <a:t>i</a:t>
            </a:r>
            <a:r>
              <a:rPr lang="en-US" sz="2100" dirty="0"/>
              <a:t>-nodes to represent files. Disk blocks are 8-KB in size and a pointer to a disk block requires 4 bytes. This file system has 12 direct disk blocks, plus single, double, and triple indirect disk blocks (as shown in the picture). What is the maximum size of a file that can be stored in this file system?</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286" y="1971080"/>
            <a:ext cx="3881438" cy="291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9422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2482289"/>
            <a:ext cx="7881257" cy="1061829"/>
          </a:xfrm>
          <a:prstGeom prst="rect">
            <a:avLst/>
          </a:prstGeom>
        </p:spPr>
        <p:txBody>
          <a:bodyPr wrap="square">
            <a:spAutoFit/>
          </a:bodyPr>
          <a:lstStyle/>
          <a:p>
            <a:r>
              <a:rPr lang="en-US" sz="2100" dirty="0"/>
              <a:t>What are the advantages of the variation of linked allocation that uses a FAT to chain together the blocks of a file?</a:t>
            </a:r>
          </a:p>
        </p:txBody>
      </p:sp>
    </p:spTree>
    <p:extLst>
      <p:ext uri="{BB962C8B-B14F-4D97-AF65-F5344CB8AC3E}">
        <p14:creationId xmlns:p14="http://schemas.microsoft.com/office/powerpoint/2010/main" val="365639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6315" y="2647323"/>
            <a:ext cx="8251371" cy="1384995"/>
          </a:xfrm>
          <a:prstGeom prst="rect">
            <a:avLst/>
          </a:prstGeom>
        </p:spPr>
        <p:txBody>
          <a:bodyPr wrap="square">
            <a:spAutoFit/>
          </a:bodyPr>
          <a:lstStyle/>
          <a:p>
            <a:r>
              <a:rPr lang="en-US" sz="2100" dirty="0"/>
              <a:t>Consider a system where free space is kept in a free-space list</a:t>
            </a:r>
            <a:r>
              <a:rPr lang="en-US" sz="2100"/>
              <a:t>. </a:t>
            </a:r>
            <a:r>
              <a:rPr lang="en-US" sz="2100" dirty="0"/>
              <a:t>Suppose that the pointer to the free-space list is lost. Can the system reconstruct the free-space list? Explain your answer</a:t>
            </a:r>
          </a:p>
        </p:txBody>
      </p:sp>
    </p:spTree>
    <p:extLst>
      <p:ext uri="{BB962C8B-B14F-4D97-AF65-F5344CB8AC3E}">
        <p14:creationId xmlns:p14="http://schemas.microsoft.com/office/powerpoint/2010/main" val="1704109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8107</TotalTime>
  <Words>4083</Words>
  <Application>Microsoft Macintosh PowerPoint</Application>
  <PresentationFormat>On-screen Show (4:3)</PresentationFormat>
  <Paragraphs>669</Paragraphs>
  <Slides>63</Slides>
  <Notes>52</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63</vt:i4>
      </vt:variant>
    </vt:vector>
  </HeadingPairs>
  <TitlesOfParts>
    <vt:vector size="79" baseType="lpstr">
      <vt:lpstr>Arial</vt:lpstr>
      <vt:lpstr>Calibri</vt:lpstr>
      <vt:lpstr>Calibri Light</vt:lpstr>
      <vt:lpstr>Courier New</vt:lpstr>
      <vt:lpstr>Garamond</vt:lpstr>
      <vt:lpstr>Helvetica</vt:lpstr>
      <vt:lpstr>inherit</vt:lpstr>
      <vt:lpstr>Monotype Sorts</vt:lpstr>
      <vt:lpstr>Montserrat</vt:lpstr>
      <vt:lpstr>Symbol</vt:lpstr>
      <vt:lpstr>Times New Roman</vt:lpstr>
      <vt:lpstr>Verdana</vt:lpstr>
      <vt:lpstr>Wingdings</vt:lpstr>
      <vt:lpstr>Office Theme</vt:lpstr>
      <vt:lpstr>1_Office Theme</vt:lpstr>
      <vt:lpstr>Image</vt:lpstr>
      <vt:lpstr>PowerPoint Presentation</vt:lpstr>
      <vt:lpstr>Reading instructions</vt:lpstr>
      <vt:lpstr>What are the most visible aspects of a file system to users?</vt:lpstr>
      <vt:lpstr>Objectives</vt:lpstr>
      <vt:lpstr>AGENDA</vt:lpstr>
      <vt:lpstr>AGENDA</vt:lpstr>
      <vt:lpstr>File Concept</vt:lpstr>
      <vt:lpstr>File Attributes</vt:lpstr>
      <vt:lpstr>File Types – Name, Extension</vt:lpstr>
      <vt:lpstr>Open Files</vt:lpstr>
      <vt:lpstr>File Operations</vt:lpstr>
      <vt:lpstr>System calls - Example program – 1/2 </vt:lpstr>
      <vt:lpstr>System calls - Example program – 2/2 </vt:lpstr>
      <vt:lpstr>AGENDA</vt:lpstr>
      <vt:lpstr>Access Methods</vt:lpstr>
      <vt:lpstr>Reading / Writing blocks</vt:lpstr>
      <vt:lpstr>Block Size 1/2</vt:lpstr>
      <vt:lpstr>Block Size 2/2</vt:lpstr>
      <vt:lpstr>AGENDA</vt:lpstr>
      <vt:lpstr>File System layout on disk</vt:lpstr>
      <vt:lpstr>File system layout – MBR/Legacy</vt:lpstr>
      <vt:lpstr>File system layout – MBR/Legacy</vt:lpstr>
      <vt:lpstr>File system layout – MBR/Legacy</vt:lpstr>
      <vt:lpstr>Limitations of MBR</vt:lpstr>
      <vt:lpstr>Unified Extensible Firmware Interface (UEFI)</vt:lpstr>
      <vt:lpstr>Unified Extensible Firmware Interface (UEFI)</vt:lpstr>
      <vt:lpstr>Unified Extensible Firmware Interface (UEFI)</vt:lpstr>
      <vt:lpstr>Unified Extensible Firmware Interface (UEFI)</vt:lpstr>
      <vt:lpstr>AGENDA</vt:lpstr>
      <vt:lpstr>What should directories allow us to do?</vt:lpstr>
      <vt:lpstr>Single-Level Directory</vt:lpstr>
      <vt:lpstr>Two-Level Directory</vt:lpstr>
      <vt:lpstr>Tree-Structured Directories</vt:lpstr>
      <vt:lpstr>Path names</vt:lpstr>
      <vt:lpstr>Acyclic-Graph Directories</vt:lpstr>
      <vt:lpstr>Acyclic-Graph Directories bring trade-offs…</vt:lpstr>
      <vt:lpstr>AGENDA</vt:lpstr>
      <vt:lpstr>Layered File System</vt:lpstr>
      <vt:lpstr>Virtual File Systems</vt:lpstr>
      <vt:lpstr>Implementing Files</vt:lpstr>
      <vt:lpstr>AGENDA</vt:lpstr>
      <vt:lpstr>Contiguous allocation</vt:lpstr>
      <vt:lpstr>Linked List allocation</vt:lpstr>
      <vt:lpstr>Linked List allocation using FAT</vt:lpstr>
      <vt:lpstr>I-nodes</vt:lpstr>
      <vt:lpstr>AGENDA</vt:lpstr>
      <vt:lpstr>Keeping track of free blocks </vt:lpstr>
      <vt:lpstr>Keeping track of free blocks</vt:lpstr>
      <vt:lpstr>AGENDA</vt:lpstr>
      <vt:lpstr>Protection</vt:lpstr>
      <vt:lpstr>Access Lists and Groups</vt:lpstr>
      <vt:lpstr>Windows 7 Access-Control List Management</vt:lpstr>
      <vt:lpstr>A Sample UNIX Directory Listing</vt:lpstr>
      <vt:lpstr>Questions</vt:lpstr>
      <vt:lpstr>Disk space utilization is most likely maximized by</vt:lpstr>
      <vt:lpstr>This figure shows...</vt:lpstr>
      <vt:lpstr>The part that is OS-specific is</vt:lpstr>
      <vt:lpstr>Contiguous allocation for a disk leads to...</vt:lpstr>
      <vt:lpstr>What requires more space to keep track of free blocks?</vt:lpstr>
      <vt:lpstr>PowerPoint Presentation</vt:lpstr>
      <vt:lpstr>PowerPoint Presentation</vt:lpstr>
      <vt:lpstr>PowerPoint Presentation</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1.01</dc:title>
  <dc:creator>Lucent End User</dc:creator>
  <cp:lastModifiedBy>Vincenzo Gulisano</cp:lastModifiedBy>
  <cp:revision>227</cp:revision>
  <dcterms:created xsi:type="dcterms:W3CDTF">2004-10-07T18:29:30Z</dcterms:created>
  <dcterms:modified xsi:type="dcterms:W3CDTF">2026-09-28T10:44:35Z</dcterms:modified>
</cp:coreProperties>
</file>