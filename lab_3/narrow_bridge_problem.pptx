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72" r:id="rId10"/>
    <p:sldId id="265" r:id="rId11"/>
    <p:sldId id="273" r:id="rId12"/>
    <p:sldId id="267" r:id="rId13"/>
    <p:sldId id="268" r:id="rId14"/>
    <p:sldId id="274" r:id="rId15"/>
    <p:sldId id="275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99"/>
    <p:restoredTop sz="82242"/>
  </p:normalViewPr>
  <p:slideViewPr>
    <p:cSldViewPr snapToGrid="0">
      <p:cViewPr varScale="1">
        <p:scale>
          <a:sx n="97" d="100"/>
          <a:sy n="97" d="100"/>
        </p:scale>
        <p:origin x="1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4141D-E9BE-0C46-80A1-2BC8B33B96AA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8A844-FFF8-D045-9660-1BD6CD48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88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5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81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53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here is that it could be nice, locks for specific conditions, until you do not get it, just sleep and wait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18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first attempt, let’s agree that without locks it does not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93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2D553-6C4F-6E87-5516-49F90426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EAD64-AAB5-B144-73DF-D2E5A9E24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A149C-0AB3-E2C1-7208-3B20FB36B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first attempt, let’s agree that without locks it does not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BEFFE-A119-C7BA-60E4-D8BC86F69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78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72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35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 we do </a:t>
            </a:r>
            <a:r>
              <a:rPr lang="en-US" dirty="0" err="1"/>
              <a:t>cond_broadcast</a:t>
            </a:r>
            <a:r>
              <a:rPr lang="en-US" dirty="0"/>
              <a:t> is that in the other direction up to 3 could travel immediately, so we just wake up all and if there are more than 3 it is still ok, they will go in order themselves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8A844-FFF8-D045-9660-1BD6CD48FA8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60F3-BB08-9125-7ADD-5AD6B7580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F817F-528B-287F-9C9E-DA111A970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72D50-C582-AE8F-2FA9-541B4816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5141F-9EF4-2B99-0D1A-527A6E8E3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07C9B-ED80-E62E-9D9C-0DA294D4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6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8EFE6-7E1A-8EBF-C674-702872F7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75E42-197A-49FF-E17B-73028A115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A5AA5-1FD7-E008-2692-DAF462E45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26A1-57FE-BB76-A882-CB8972DF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F1D5-7907-9EBA-65A8-4EE5420C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4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25061-5E13-B6CC-07D8-628C4FB6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A85BF-9D55-B8D4-1768-EEC4A7FB5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ADA5F-F220-C4A2-7BCC-D021C00B9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1BECF-F66C-F87E-84A5-ABC81456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F039C-D852-0464-34D6-2DA0AC5C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0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148A-9719-E1E6-F582-2C1C250E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CC537-E300-F67D-3674-BD8AA6233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6D969-6288-195B-888B-474D4971E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9AE5B-A9C6-1E2A-1C19-C1E8CE77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F58CA-A535-D62D-B4A7-9338BE5C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1AC5C-7B3C-9AFB-CE11-23A94AD7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0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AD96-B798-0F78-D50B-63DD9093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DB2BB-BBF5-6171-569A-553BCBB68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CF97A-1B63-4FEF-3C26-BB677D9AD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F07BE-FF4A-0EF8-48DC-456333237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0CA37-5F7F-094D-D0CA-F455FD77E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476B0-5429-8D20-66F5-2DFFF2E7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772B3-E994-07AE-F105-F0EEEF08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73C3E-9A91-88A0-48F6-24A1A3E9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1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7983-CFEB-FC1E-3720-85A2F482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054E6-DEBD-D3AE-A538-0C1A1B43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761B5-4368-7B9A-36CE-E518DF7E9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35E3F-21E6-B8F0-9259-794A7EF96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1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FF8824-7FD0-8147-B3D3-3765CA83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3FAD3-642B-466E-4256-D3154459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61CC3-2BE3-DF41-38BC-CB28BA9D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6471-1CC9-B746-A6B5-765E5C690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01678-B36D-9445-32E9-3543E8ECA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25C44-2458-0239-8B2E-FCA4BFC9A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82262-AAB8-FE16-0D8A-2DA3BF79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F2F9E-A149-51F5-C05E-F92190FC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4E084-0394-7FAC-BE57-FC1DB094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4BF3-CDC9-2CBA-3B64-A590227C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17D25-CA53-C2B8-5E17-E0DF89813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939E7-6C2C-54DC-F15E-5BF7246E5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872F4-B5E1-DBCD-DD1C-E89DF245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988BD-C5A3-8DE0-AF91-6E3139A8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D1B82-9D20-14AF-764A-AEFFB72A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0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C9F4-75F6-7CDE-D37B-EB06B4F41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A3357-2BDC-E527-35BF-17F3FAF5D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54D2F-13E6-5F18-FB4C-EEA32585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AB476-7E4C-3C22-0B38-3E058E8B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83EFD-7C73-7352-165B-963E2EA7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9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8EA75B-9AFC-7617-1088-12B010B19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0A618-E219-048E-94F9-7373D7CF2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309AC-296C-BC92-9BD6-6F50B8D04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3FC57-1007-EF59-5599-896C0F5F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448FF-B29A-2650-1B62-6377ED4C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1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86804-ACF2-6B42-4C2A-0EBB546E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A3114-573F-2211-8B2E-210F35DCA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FFA67-A2B2-7D98-BF02-218176DEC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290E0-1C66-574A-B447-327DB413E415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D677C-E394-E523-119A-7C3E6AEFB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AD140-9994-EA04-9881-53699D2FF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F12D9D-06EF-B448-A0EF-6924A1E0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7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vectors/bomb-explosive-detonation-fuze-154805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bomb-explosive-detonation-fuze-15480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B8653C-1F0D-65DA-81EC-7E61F3304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984" y="2588227"/>
            <a:ext cx="7772400" cy="117371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90A14D0-F76C-4BD0-609B-6CEA27F031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The problem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635F4-C4D4-D6D6-1F49-8E8EB19D6033}"/>
              </a:ext>
            </a:extLst>
          </p:cNvPr>
          <p:cNvSpPr txBox="1"/>
          <p:nvPr/>
        </p:nvSpPr>
        <p:spPr>
          <a:xfrm>
            <a:off x="123092" y="1605424"/>
            <a:ext cx="119047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+mn-lt"/>
              </a:rPr>
              <a:t>A two way east-west road contains a narrow bridge with only one lane. An eastbound (or westbound) car can pass over the bridge only if there is no oncoming car on the bridge. 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Traffic may only cross the bridge in one direction at a time, and if there are ever more than 3 vehicles on the bridge at one time, it will collapse </a:t>
            </a:r>
            <a:r>
              <a:rPr lang="en-US" sz="1800" dirty="0">
                <a:effectLst/>
                <a:latin typeface="+mn-lt"/>
              </a:rPr>
              <a:t>under their weight. In this system, 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each car is represented by one thread, which executes the procedure </a:t>
            </a:r>
            <a:r>
              <a:rPr lang="en-US" sz="1800" dirty="0" err="1">
                <a:effectLst/>
                <a:highlight>
                  <a:srgbClr val="FFFF00"/>
                </a:highlight>
                <a:latin typeface="+mn-lt"/>
              </a:rPr>
              <a:t>OneVehicle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 when it arrives at the bridge</a:t>
            </a:r>
            <a:r>
              <a:rPr lang="en-US" sz="1800" dirty="0">
                <a:effectLst/>
                <a:latin typeface="+mn-lt"/>
              </a:rPr>
              <a:t>.</a:t>
            </a:r>
            <a:endParaRPr lang="en-US" sz="1500" dirty="0"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ADF23-7CA1-B54F-F5C0-3ADE49E30AB2}"/>
              </a:ext>
            </a:extLst>
          </p:cNvPr>
          <p:cNvSpPr txBox="1"/>
          <p:nvPr/>
        </p:nvSpPr>
        <p:spPr>
          <a:xfrm>
            <a:off x="123092" y="3640864"/>
            <a:ext cx="42994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OneVehicle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(Direction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ArriveBridge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CrossBridge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marR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ExitBridge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18548-659F-3E2F-C90C-C77FD4C87A3B}"/>
              </a:ext>
            </a:extLst>
          </p:cNvPr>
          <p:cNvSpPr txBox="1"/>
          <p:nvPr/>
        </p:nvSpPr>
        <p:spPr>
          <a:xfrm>
            <a:off x="123092" y="5252576"/>
            <a:ext cx="3868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 gives the direction in which the vehicle will cross the bridge</a:t>
            </a:r>
            <a:endParaRPr lang="en-US" sz="1500" dirty="0">
              <a:effectLst/>
              <a:highlight>
                <a:srgbClr val="FFFF00"/>
              </a:highlight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3C6928-56D6-C35C-E473-EA065B72E17E}"/>
              </a:ext>
            </a:extLst>
          </p:cNvPr>
          <p:cNvSpPr txBox="1"/>
          <p:nvPr/>
        </p:nvSpPr>
        <p:spPr>
          <a:xfrm>
            <a:off x="4422531" y="3761942"/>
            <a:ext cx="693126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Write the procedures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ArriveBridge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 and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ExitBridge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.</a:t>
            </a:r>
          </a:p>
          <a:p>
            <a:pPr marL="0" marR="0">
              <a:buNone/>
            </a:pPr>
            <a:endParaRPr lang="en-US" sz="18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ArriveBridge</a:t>
            </a:r>
            <a:r>
              <a:rPr lang="en-US" sz="1800" dirty="0">
                <a:effectLst/>
                <a:latin typeface="+mn-lt"/>
              </a:rPr>
              <a:t> must not return until it safe for the car to cross the bridge in the given direction (it must guarantee that there will be no head-on collisions or bridge collapses).</a:t>
            </a:r>
          </a:p>
          <a:p>
            <a:pPr marL="0" marR="0">
              <a:buNone/>
            </a:pPr>
            <a:endParaRPr lang="en-US" sz="18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ExitBridge</a:t>
            </a:r>
            <a:r>
              <a:rPr lang="en-US" sz="1800" dirty="0">
                <a:effectLst/>
                <a:latin typeface="+mn-lt"/>
              </a:rPr>
              <a:t> is called to indicate that the caller has finished crossing the bridge;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ExitBridge</a:t>
            </a:r>
            <a:r>
              <a:rPr lang="en-US" sz="1800" dirty="0">
                <a:effectLst/>
                <a:latin typeface="+mn-lt"/>
              </a:rPr>
              <a:t> should take steps to let additional cars cross the bridge.</a:t>
            </a:r>
            <a:endParaRPr lang="en-US" sz="15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11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EAAA-BA1A-7C02-4DD1-BDB25D59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890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/>
              <a:t>We want to use conditional variables but, before we discuss them, let’s go back to producer-consumer implemented with semaphores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4B43D2-A569-F755-3B14-09B112F1535C}"/>
              </a:ext>
            </a:extLst>
          </p:cNvPr>
          <p:cNvGrpSpPr/>
          <p:nvPr/>
        </p:nvGrpSpPr>
        <p:grpSpPr>
          <a:xfrm>
            <a:off x="1788886" y="2315628"/>
            <a:ext cx="11092228" cy="3418071"/>
            <a:chOff x="556433" y="2395141"/>
            <a:chExt cx="11092228" cy="34180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799638-81F6-8B04-D50E-6E7C5BC5C73D}"/>
                </a:ext>
              </a:extLst>
            </p:cNvPr>
            <p:cNvSpPr txBox="1"/>
            <p:nvPr/>
          </p:nvSpPr>
          <p:spPr>
            <a:xfrm>
              <a:off x="5552661" y="2396892"/>
              <a:ext cx="6096000" cy="341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400" b="1" dirty="0">
                  <a:latin typeface="+mn-lt"/>
                </a:rPr>
                <a:t>Consumer</a:t>
              </a:r>
            </a:p>
            <a:p>
              <a:pPr rtl="0">
                <a:buNone/>
              </a:pPr>
              <a:endParaRPr lang="en-US" sz="2400" dirty="0">
                <a:latin typeface="+mn-lt"/>
              </a:endParaRP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wait "has items"</a:t>
              </a:r>
            </a:p>
            <a:p>
              <a:pPr rtl="0">
                <a:buNone/>
              </a:pPr>
              <a:endParaRPr lang="en-US" sz="2400" dirty="0">
                <a:latin typeface="+mn-lt"/>
              </a:endParaRP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lock buffer</a:t>
              </a: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retrieve</a:t>
              </a: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unlock buffer</a:t>
              </a:r>
            </a:p>
            <a:p>
              <a:pPr rtl="0">
                <a:buNone/>
              </a:pPr>
              <a:endParaRPr lang="en-US" sz="2400" dirty="0">
                <a:latin typeface="+mn-lt"/>
              </a:endParaRP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signal "has space"</a:t>
              </a:r>
              <a:endParaRPr lang="en-US" sz="2400" dirty="0">
                <a:latin typeface="Courier New" panose="02070309020205020404" pitchFamily="49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0947D9-C5F8-299F-D076-72800A7717F4}"/>
                </a:ext>
              </a:extLst>
            </p:cNvPr>
            <p:cNvSpPr txBox="1"/>
            <p:nvPr/>
          </p:nvSpPr>
          <p:spPr>
            <a:xfrm>
              <a:off x="1002508" y="2395141"/>
              <a:ext cx="6096000" cy="341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2400" b="1" dirty="0">
                  <a:latin typeface="+mn-lt"/>
                </a:rPr>
                <a:t>Producer</a:t>
              </a:r>
            </a:p>
            <a:p>
              <a:pPr rtl="0">
                <a:buNone/>
              </a:pPr>
              <a:endParaRPr lang="en-US" sz="2400" dirty="0">
                <a:latin typeface="+mn-lt"/>
              </a:endParaRP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wait "has space"</a:t>
              </a:r>
            </a:p>
            <a:p>
              <a:pPr rtl="0">
                <a:buNone/>
              </a:pPr>
              <a:endParaRPr lang="en-US" sz="2400" dirty="0">
                <a:latin typeface="+mn-lt"/>
              </a:endParaRP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lock buffer</a:t>
              </a: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deposit</a:t>
              </a: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unlock buffer</a:t>
              </a:r>
            </a:p>
            <a:p>
              <a:pPr rtl="0">
                <a:buNone/>
              </a:pPr>
              <a:endParaRPr lang="en-US" sz="2400" dirty="0">
                <a:latin typeface="+mn-lt"/>
              </a:endParaRPr>
            </a:p>
            <a:p>
              <a:pPr rtl="0">
                <a:buNone/>
              </a:pPr>
              <a:r>
                <a:rPr lang="en-US" sz="2400" dirty="0">
                  <a:latin typeface="+mn-lt"/>
                </a:rPr>
                <a:t>signal "has items"</a:t>
              </a:r>
              <a:endParaRPr lang="en-US" sz="2400" dirty="0">
                <a:latin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0B09872-C2A3-DC17-EB6B-0A67ECFAD91B}"/>
                </a:ext>
              </a:extLst>
            </p:cNvPr>
            <p:cNvCxnSpPr/>
            <p:nvPr/>
          </p:nvCxnSpPr>
          <p:spPr>
            <a:xfrm flipV="1">
              <a:off x="3021496" y="4091778"/>
              <a:ext cx="2531165" cy="73201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CD49660-93E0-2E9A-8432-84D25DF0B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6939" y="4090027"/>
              <a:ext cx="2797818" cy="73376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78CE007-D325-7224-2ABC-5B51AE0929AB}"/>
                </a:ext>
              </a:extLst>
            </p:cNvPr>
            <p:cNvSpPr/>
            <p:nvPr/>
          </p:nvSpPr>
          <p:spPr>
            <a:xfrm>
              <a:off x="556433" y="4094922"/>
              <a:ext cx="437480" cy="702365"/>
            </a:xfrm>
            <a:custGeom>
              <a:avLst/>
              <a:gdLst>
                <a:gd name="csX0" fmla="*/ 437480 w 437480"/>
                <a:gd name="csY0" fmla="*/ 702365 h 702365"/>
                <a:gd name="csX1" fmla="*/ 158 w 437480"/>
                <a:gd name="csY1" fmla="*/ 344557 h 702365"/>
                <a:gd name="csX2" fmla="*/ 397724 w 437480"/>
                <a:gd name="csY2" fmla="*/ 0 h 702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7480" h="702365">
                  <a:moveTo>
                    <a:pt x="437480" y="702365"/>
                  </a:moveTo>
                  <a:cubicBezTo>
                    <a:pt x="222132" y="581991"/>
                    <a:pt x="6784" y="461618"/>
                    <a:pt x="158" y="344557"/>
                  </a:cubicBezTo>
                  <a:cubicBezTo>
                    <a:pt x="-6468" y="227496"/>
                    <a:pt x="195628" y="113748"/>
                    <a:pt x="397724" y="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22A295F-46AC-D7A3-1A25-60A5DBB15AE5}"/>
                </a:ext>
              </a:extLst>
            </p:cNvPr>
            <p:cNvSpPr/>
            <p:nvPr/>
          </p:nvSpPr>
          <p:spPr>
            <a:xfrm rot="20427383" flipH="1">
              <a:off x="7382769" y="4041981"/>
              <a:ext cx="437480" cy="702365"/>
            </a:xfrm>
            <a:custGeom>
              <a:avLst/>
              <a:gdLst>
                <a:gd name="csX0" fmla="*/ 437480 w 437480"/>
                <a:gd name="csY0" fmla="*/ 702365 h 702365"/>
                <a:gd name="csX1" fmla="*/ 158 w 437480"/>
                <a:gd name="csY1" fmla="*/ 344557 h 702365"/>
                <a:gd name="csX2" fmla="*/ 397724 w 437480"/>
                <a:gd name="csY2" fmla="*/ 0 h 702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7480" h="702365">
                  <a:moveTo>
                    <a:pt x="437480" y="702365"/>
                  </a:moveTo>
                  <a:cubicBezTo>
                    <a:pt x="222132" y="581991"/>
                    <a:pt x="6784" y="461618"/>
                    <a:pt x="158" y="344557"/>
                  </a:cubicBezTo>
                  <a:cubicBezTo>
                    <a:pt x="-6468" y="227496"/>
                    <a:pt x="195628" y="113748"/>
                    <a:pt x="397724" y="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B8380BF-D6D0-7CD6-55A5-395E5532DB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5078" y="3429000"/>
              <a:ext cx="1949679" cy="203752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FE95F09-6E7C-6681-6C48-6DCEB361E2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6483" y="3427249"/>
              <a:ext cx="1941889" cy="2165168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89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097F-77EE-B364-D467-E19C4DBC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09EDCE-D6D5-2C13-D455-92DFB5D0029A}"/>
              </a:ext>
            </a:extLst>
          </p:cNvPr>
          <p:cNvSpPr txBox="1"/>
          <p:nvPr/>
        </p:nvSpPr>
        <p:spPr>
          <a:xfrm>
            <a:off x="2581835" y="64276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D885C-37AA-EA40-F3D4-8A4B1E6EF71C}"/>
              </a:ext>
            </a:extLst>
          </p:cNvPr>
          <p:cNvSpPr txBox="1"/>
          <p:nvPr/>
        </p:nvSpPr>
        <p:spPr>
          <a:xfrm>
            <a:off x="400878" y="651518"/>
            <a:ext cx="80109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binary semaphore mutex = 1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general semaphore </a:t>
            </a:r>
            <a:r>
              <a:rPr lang="en-US" sz="2400" dirty="0" err="1">
                <a:latin typeface="+mn-lt"/>
              </a:rPr>
              <a:t>has_items</a:t>
            </a:r>
            <a:r>
              <a:rPr lang="en-US" sz="2400" dirty="0">
                <a:latin typeface="+mn-lt"/>
              </a:rPr>
              <a:t> = 0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general semaphore </a:t>
            </a:r>
            <a:r>
              <a:rPr lang="en-US" sz="2400" dirty="0" err="1">
                <a:latin typeface="+mn-lt"/>
              </a:rPr>
              <a:t>has_space</a:t>
            </a:r>
            <a:r>
              <a:rPr lang="en-US" sz="2400" dirty="0">
                <a:latin typeface="+mn-lt"/>
              </a:rPr>
              <a:t> = N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6C8F7-14A7-92BB-EC0E-AE8D26DDC556}"/>
              </a:ext>
            </a:extLst>
          </p:cNvPr>
          <p:cNvSpPr txBox="1"/>
          <p:nvPr/>
        </p:nvSpPr>
        <p:spPr>
          <a:xfrm>
            <a:off x="1379926" y="2177721"/>
            <a:ext cx="34157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Producer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while (true)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// Produce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wait(</a:t>
            </a:r>
            <a:r>
              <a:rPr lang="en-US" sz="2400" dirty="0" err="1">
                <a:latin typeface="+mn-lt"/>
              </a:rPr>
              <a:t>has_space</a:t>
            </a:r>
            <a:r>
              <a:rPr lang="en-US" sz="2400" dirty="0">
                <a:latin typeface="+mn-lt"/>
              </a:rPr>
              <a:t>)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wait(mutex)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// Add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signal(mutex)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signal(</a:t>
            </a:r>
            <a:r>
              <a:rPr lang="en-US" sz="2400" dirty="0" err="1">
                <a:latin typeface="+mn-lt"/>
              </a:rPr>
              <a:t>has_items</a:t>
            </a:r>
            <a:r>
              <a:rPr lang="en-US" sz="2400" dirty="0">
                <a:latin typeface="+mn-lt"/>
              </a:rPr>
              <a:t>)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190FB-5A09-6E9E-4BAC-C6B6FF1B713A}"/>
              </a:ext>
            </a:extLst>
          </p:cNvPr>
          <p:cNvSpPr txBox="1"/>
          <p:nvPr/>
        </p:nvSpPr>
        <p:spPr>
          <a:xfrm>
            <a:off x="6811529" y="2177721"/>
            <a:ext cx="48503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Consumer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while (true)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wait(</a:t>
            </a:r>
            <a:r>
              <a:rPr lang="en-US" sz="2400" dirty="0" err="1">
                <a:latin typeface="+mn-lt"/>
              </a:rPr>
              <a:t>has_items</a:t>
            </a:r>
            <a:r>
              <a:rPr lang="en-US" sz="2400" dirty="0">
                <a:latin typeface="+mn-lt"/>
              </a:rPr>
              <a:t>)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wait(mutex)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// Retrieve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signal(mutex)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signal(</a:t>
            </a:r>
            <a:r>
              <a:rPr lang="en-US" sz="2400" dirty="0" err="1">
                <a:latin typeface="+mn-lt"/>
              </a:rPr>
              <a:t>has_space</a:t>
            </a:r>
            <a:r>
              <a:rPr lang="en-US" sz="2400" dirty="0">
                <a:latin typeface="+mn-lt"/>
              </a:rPr>
              <a:t>)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    // Process or consume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    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C1654B-4804-3EF3-16EC-E0C2FEB4AC53}"/>
              </a:ext>
            </a:extLst>
          </p:cNvPr>
          <p:cNvCxnSpPr>
            <a:cxnSpLocks/>
          </p:cNvCxnSpPr>
          <p:nvPr/>
        </p:nvCxnSpPr>
        <p:spPr>
          <a:xfrm flipV="1">
            <a:off x="3909392" y="3560045"/>
            <a:ext cx="3313043" cy="106667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E0A656-6E1B-2A91-81BB-9DCDA17E875C}"/>
              </a:ext>
            </a:extLst>
          </p:cNvPr>
          <p:cNvCxnSpPr>
            <a:cxnSpLocks/>
          </p:cNvCxnSpPr>
          <p:nvPr/>
        </p:nvCxnSpPr>
        <p:spPr>
          <a:xfrm flipH="1" flipV="1">
            <a:off x="3633432" y="3909526"/>
            <a:ext cx="3585885" cy="35118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>
            <a:extLst>
              <a:ext uri="{FF2B5EF4-FFF2-40B4-BE49-F238E27FC236}">
                <a16:creationId xmlns:a16="http://schemas.microsoft.com/office/drawing/2014/main" id="{CF9444B0-E09D-EED5-0C20-696C9F39F360}"/>
              </a:ext>
            </a:extLst>
          </p:cNvPr>
          <p:cNvSpPr/>
          <p:nvPr/>
        </p:nvSpPr>
        <p:spPr>
          <a:xfrm>
            <a:off x="1420327" y="3909526"/>
            <a:ext cx="437480" cy="702365"/>
          </a:xfrm>
          <a:custGeom>
            <a:avLst/>
            <a:gdLst>
              <a:gd name="csX0" fmla="*/ 437480 w 437480"/>
              <a:gd name="csY0" fmla="*/ 702365 h 702365"/>
              <a:gd name="csX1" fmla="*/ 158 w 437480"/>
              <a:gd name="csY1" fmla="*/ 344557 h 702365"/>
              <a:gd name="csX2" fmla="*/ 397724 w 437480"/>
              <a:gd name="csY2" fmla="*/ 0 h 702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7480" h="702365">
                <a:moveTo>
                  <a:pt x="437480" y="702365"/>
                </a:moveTo>
                <a:cubicBezTo>
                  <a:pt x="222132" y="581991"/>
                  <a:pt x="6784" y="461618"/>
                  <a:pt x="158" y="344557"/>
                </a:cubicBezTo>
                <a:cubicBezTo>
                  <a:pt x="-6468" y="227496"/>
                  <a:pt x="195628" y="113748"/>
                  <a:pt x="397724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032A656-E0A1-4821-CD4B-F4C98A9F7179}"/>
              </a:ext>
            </a:extLst>
          </p:cNvPr>
          <p:cNvSpPr/>
          <p:nvPr/>
        </p:nvSpPr>
        <p:spPr>
          <a:xfrm rot="20900177" flipH="1">
            <a:off x="9935384" y="3856585"/>
            <a:ext cx="437480" cy="702365"/>
          </a:xfrm>
          <a:custGeom>
            <a:avLst/>
            <a:gdLst>
              <a:gd name="csX0" fmla="*/ 437480 w 437480"/>
              <a:gd name="csY0" fmla="*/ 702365 h 702365"/>
              <a:gd name="csX1" fmla="*/ 158 w 437480"/>
              <a:gd name="csY1" fmla="*/ 344557 h 702365"/>
              <a:gd name="csX2" fmla="*/ 397724 w 437480"/>
              <a:gd name="csY2" fmla="*/ 0 h 702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7480" h="702365">
                <a:moveTo>
                  <a:pt x="437480" y="702365"/>
                </a:moveTo>
                <a:cubicBezTo>
                  <a:pt x="222132" y="581991"/>
                  <a:pt x="6784" y="461618"/>
                  <a:pt x="158" y="344557"/>
                </a:cubicBezTo>
                <a:cubicBezTo>
                  <a:pt x="-6468" y="227496"/>
                  <a:pt x="195628" y="113748"/>
                  <a:pt x="397724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8E150D-6427-C57A-7151-202781781F00}"/>
              </a:ext>
            </a:extLst>
          </p:cNvPr>
          <p:cNvCxnSpPr>
            <a:cxnSpLocks/>
          </p:cNvCxnSpPr>
          <p:nvPr/>
        </p:nvCxnSpPr>
        <p:spPr>
          <a:xfrm flipV="1">
            <a:off x="4406347" y="3127513"/>
            <a:ext cx="2816088" cy="187864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BA7087-9B33-967E-C1C3-87AE3E00278F}"/>
              </a:ext>
            </a:extLst>
          </p:cNvPr>
          <p:cNvCxnSpPr>
            <a:cxnSpLocks/>
          </p:cNvCxnSpPr>
          <p:nvPr/>
        </p:nvCxnSpPr>
        <p:spPr>
          <a:xfrm flipH="1" flipV="1">
            <a:off x="4301485" y="3560045"/>
            <a:ext cx="2917832" cy="103587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72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1359F-F643-607B-63B3-98AB4C19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3066-8FD3-A004-7FA1-CE11BCCD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limitations?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3F032-1E13-EE6B-4D36-1A7047557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8" y="1825625"/>
            <a:ext cx="10823712" cy="4351338"/>
          </a:xfrm>
        </p:spPr>
        <p:txBody>
          <a:bodyPr>
            <a:normAutofit/>
          </a:bodyPr>
          <a:lstStyle/>
          <a:p>
            <a:r>
              <a:rPr lang="en-US" dirty="0"/>
              <a:t>It works only for counter-based synchronization, but a single semaphore count cannot directly represent a Boolean condition like</a:t>
            </a:r>
            <a:br>
              <a:rPr lang="en-US" dirty="0"/>
            </a:b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cars &lt; 3 AND (cars == 0 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current_direction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my_direction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  <a:p>
            <a:r>
              <a:rPr lang="en-US" dirty="0"/>
              <a:t>The condition is not explicit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wait(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has_space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suggests the meaning through the name, but it does not explicitly check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(count ==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signal(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has_space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/>
              <a:t>increments the semaphore even if nobody is currently waiting. Also, Therefore, one accidental extra signal can create a false permit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AD40C-DB43-FD71-B180-EB5883AD87D8}"/>
              </a:ext>
            </a:extLst>
          </p:cNvPr>
          <p:cNvSpPr txBox="1"/>
          <p:nvPr/>
        </p:nvSpPr>
        <p:spPr>
          <a:xfrm>
            <a:off x="2581835" y="64276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98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61D4-8C71-483E-DC6D-969AE6A2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use locks?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056D19-C728-5355-2AFA-153ECAD57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8" y="1825625"/>
            <a:ext cx="10823712" cy="4351338"/>
          </a:xfrm>
        </p:spPr>
        <p:txBody>
          <a:bodyPr>
            <a:normAutofit/>
          </a:bodyPr>
          <a:lstStyle/>
          <a:p>
            <a:r>
              <a:rPr lang="en-US" sz="4000" dirty="0"/>
              <a:t>Lock: token that can be held by 0 or 1 thread at a time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acquire</a:t>
            </a:r>
            <a:r>
              <a:rPr lang="en-US" sz="4000" dirty="0"/>
              <a:t>: get the lock if the lock is free, wait otherwise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sz="4000" dirty="0"/>
              <a:t>: mark the lock as free (assumption: only how owns the lock calls 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621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5735-1D3A-E268-4377-069D6EDB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prod/cons bounded buffer with locks (starting from scratch) – attempt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59F86-B73A-39AF-1940-259B5EFE5E7D}"/>
              </a:ext>
            </a:extLst>
          </p:cNvPr>
          <p:cNvSpPr txBox="1"/>
          <p:nvPr/>
        </p:nvSpPr>
        <p:spPr>
          <a:xfrm>
            <a:off x="241852" y="1757426"/>
            <a:ext cx="74941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shared count = 0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shared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 = N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7DEAE-0B22-BEB9-406A-39C1A8BD5582}"/>
              </a:ext>
            </a:extLst>
          </p:cNvPr>
          <p:cNvSpPr txBox="1"/>
          <p:nvPr/>
        </p:nvSpPr>
        <p:spPr>
          <a:xfrm>
            <a:off x="241852" y="2933457"/>
            <a:ext cx="47470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Producer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// Produce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while (count ==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) {}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// Add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count++;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E20673-08E7-5213-94E6-579CE19849EE}"/>
              </a:ext>
            </a:extLst>
          </p:cNvPr>
          <p:cNvSpPr txBox="1"/>
          <p:nvPr/>
        </p:nvSpPr>
        <p:spPr>
          <a:xfrm>
            <a:off x="4604554" y="2933457"/>
            <a:ext cx="74477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Consumer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while (count == 0) {}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// Retrieve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count--;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// Consume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710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BC6C6-0449-179B-BAAF-9D625BEC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A51C-CF0A-DFF7-552E-3E902F12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prod/cons bounded buffer with locks (starting from scratch) – attempt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B0E1B-F092-67C0-A523-6317BF204C4D}"/>
              </a:ext>
            </a:extLst>
          </p:cNvPr>
          <p:cNvSpPr txBox="1"/>
          <p:nvPr/>
        </p:nvSpPr>
        <p:spPr>
          <a:xfrm>
            <a:off x="8570266" y="1928537"/>
            <a:ext cx="3482008" cy="4524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2 Producers, P1 P2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N=20</a:t>
            </a:r>
          </a:p>
          <a:p>
            <a:pPr rtl="0">
              <a:buNone/>
            </a:pPr>
            <a:endParaRPr lang="en-US" sz="2400" dirty="0">
              <a:latin typeface="Aptos" panose="020B0004020202020204" pitchFamily="34" charset="0"/>
            </a:endParaRP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… // here count=19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P1:02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P1:03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Context switch (P1 </a:t>
            </a:r>
            <a:r>
              <a:rPr lang="en-US" sz="2400" dirty="0">
                <a:latin typeface="Aptos" panose="020B0004020202020204" pitchFamily="34" charset="0"/>
                <a:sym typeface="Wingdings" pitchFamily="2" charset="2"/>
              </a:rPr>
              <a:t> P2)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  <a:sym typeface="Wingdings" pitchFamily="2" charset="2"/>
              </a:rPr>
              <a:t>P2: 02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  <a:sym typeface="Wingdings" pitchFamily="2" charset="2"/>
              </a:rPr>
              <a:t>P2: 03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  <a:sym typeface="Wingdings" pitchFamily="2" charset="2"/>
              </a:rPr>
              <a:t>P2: 04 (count is now 20)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  <a:sym typeface="Wingdings" pitchFamily="2" charset="2"/>
              </a:rPr>
              <a:t>Context switch (P2  P1)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  <a:sym typeface="Wingdings" pitchFamily="2" charset="2"/>
              </a:rPr>
              <a:t>P1: 04 (count is now 21)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A4E16-0D8E-2280-6ECB-BA89BEBBB2ED}"/>
              </a:ext>
            </a:extLst>
          </p:cNvPr>
          <p:cNvSpPr txBox="1"/>
          <p:nvPr/>
        </p:nvSpPr>
        <p:spPr>
          <a:xfrm>
            <a:off x="241852" y="1757426"/>
            <a:ext cx="74941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shared count = 0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shared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 = N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EF22D-5D37-A6EC-4609-484C844DDABF}"/>
              </a:ext>
            </a:extLst>
          </p:cNvPr>
          <p:cNvSpPr txBox="1"/>
          <p:nvPr/>
        </p:nvSpPr>
        <p:spPr>
          <a:xfrm>
            <a:off x="241852" y="2933457"/>
            <a:ext cx="47470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Producer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// Produce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while (count ==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) {}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// Add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count++;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0DED3-3E7D-BADC-267C-B8E396CA016D}"/>
              </a:ext>
            </a:extLst>
          </p:cNvPr>
          <p:cNvSpPr txBox="1"/>
          <p:nvPr/>
        </p:nvSpPr>
        <p:spPr>
          <a:xfrm>
            <a:off x="4604554" y="2933457"/>
            <a:ext cx="74477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Consumer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while (count == 0) {}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// Retrieve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count--;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// Consume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pic>
        <p:nvPicPr>
          <p:cNvPr id="11" name="Picture 10" descr="Bomb Explosive Detonation - Free vector graphic on Pixabay">
            <a:extLst>
              <a:ext uri="{FF2B5EF4-FFF2-40B4-BE49-F238E27FC236}">
                <a16:creationId xmlns:a16="http://schemas.microsoft.com/office/drawing/2014/main" id="{DF4A699E-C3CE-A026-2292-F63954057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338730" y="1616219"/>
            <a:ext cx="725875" cy="65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8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0DDA-4E63-5ACC-8390-A8B7AF347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11D7-53FA-1275-2CC5-336D60A0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prod/cons bounded buffer with locks (starting from scratch) – attempt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7B5DE-813F-FA86-417C-11E3A8A663B4}"/>
              </a:ext>
            </a:extLst>
          </p:cNvPr>
          <p:cNvSpPr txBox="1"/>
          <p:nvPr/>
        </p:nvSpPr>
        <p:spPr>
          <a:xfrm>
            <a:off x="500269" y="1870262"/>
            <a:ext cx="31970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shared count = 0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shared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 = N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shared lock l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A3B41-2DF8-7B6E-0894-90E5F0A0E05F}"/>
              </a:ext>
            </a:extLst>
          </p:cNvPr>
          <p:cNvSpPr txBox="1"/>
          <p:nvPr/>
        </p:nvSpPr>
        <p:spPr>
          <a:xfrm>
            <a:off x="500269" y="3250165"/>
            <a:ext cx="43102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Producer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// Produce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while (count ==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) {}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// Add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count++;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9A1D4-0701-7DAF-BBF3-1FA0B7378B80}"/>
              </a:ext>
            </a:extLst>
          </p:cNvPr>
          <p:cNvSpPr txBox="1"/>
          <p:nvPr/>
        </p:nvSpPr>
        <p:spPr>
          <a:xfrm>
            <a:off x="4681332" y="3250165"/>
            <a:ext cx="4886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Consumer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while (count == 0) {}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// Retrieve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count--;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// Consume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14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4E3-1A3A-B89E-1DE7-7CD1F72F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BE7D1-837B-D64B-E043-388941F9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prod/cons bounded buffer with locks (starting from scratch) – attempt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2547E-8C3E-D989-6E9C-432629E9C353}"/>
              </a:ext>
            </a:extLst>
          </p:cNvPr>
          <p:cNvSpPr txBox="1"/>
          <p:nvPr/>
        </p:nvSpPr>
        <p:spPr>
          <a:xfrm>
            <a:off x="500269" y="1870262"/>
            <a:ext cx="31970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shared count = 0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shared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 = N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shared lock l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8B0B3-B3C7-F4F2-2C93-A2ECA4D4812D}"/>
              </a:ext>
            </a:extLst>
          </p:cNvPr>
          <p:cNvSpPr txBox="1"/>
          <p:nvPr/>
        </p:nvSpPr>
        <p:spPr>
          <a:xfrm>
            <a:off x="500269" y="3250165"/>
            <a:ext cx="43102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Producer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// Produce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while (count ==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) {}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// Add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count++;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53B22-F337-E26A-FFB0-261E5D389CE1}"/>
              </a:ext>
            </a:extLst>
          </p:cNvPr>
          <p:cNvSpPr txBox="1"/>
          <p:nvPr/>
        </p:nvSpPr>
        <p:spPr>
          <a:xfrm>
            <a:off x="4681332" y="3250165"/>
            <a:ext cx="4886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Consumer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while (count == 0) {}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// Retrieve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count--;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// Consume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AF8B1-AD77-49D9-ECFE-718564DEBA54}"/>
              </a:ext>
            </a:extLst>
          </p:cNvPr>
          <p:cNvSpPr txBox="1"/>
          <p:nvPr/>
        </p:nvSpPr>
        <p:spPr>
          <a:xfrm>
            <a:off x="8570266" y="1928537"/>
            <a:ext cx="3482008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1 Producer, P1 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1 Consumer, C1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N=20</a:t>
            </a: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Initially empty</a:t>
            </a:r>
          </a:p>
          <a:p>
            <a:pPr rtl="0">
              <a:buNone/>
            </a:pPr>
            <a:endParaRPr lang="en-US" sz="2400" dirty="0">
              <a:latin typeface="Aptos" panose="020B0004020202020204" pitchFamily="34" charset="0"/>
            </a:endParaRPr>
          </a:p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C1: 01 // Game over</a:t>
            </a:r>
          </a:p>
        </p:txBody>
      </p:sp>
      <p:pic>
        <p:nvPicPr>
          <p:cNvPr id="11" name="Picture 10" descr="Bomb Explosive Detonation - Free vector graphic on Pixabay">
            <a:extLst>
              <a:ext uri="{FF2B5EF4-FFF2-40B4-BE49-F238E27FC236}">
                <a16:creationId xmlns:a16="http://schemas.microsoft.com/office/drawing/2014/main" id="{17B6142D-EE81-6F60-70EA-388A3A582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38730" y="1616219"/>
            <a:ext cx="725875" cy="65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89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690B0-956B-FB4B-194A-9CCD2DCF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A371-5073-465F-0257-3DFF1592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498"/>
            <a:ext cx="12192000" cy="72739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Let’s build prod/cons bounded buffer with locks – attempt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7B5AA-A7F2-6437-FC2C-4695908E8BC5}"/>
              </a:ext>
            </a:extLst>
          </p:cNvPr>
          <p:cNvSpPr txBox="1"/>
          <p:nvPr/>
        </p:nvSpPr>
        <p:spPr>
          <a:xfrm>
            <a:off x="357808" y="9919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>
                <a:latin typeface="+mn-lt"/>
              </a:rPr>
              <a:t>shared count = 0</a:t>
            </a:r>
          </a:p>
          <a:p>
            <a:pPr rtl="0">
              <a:buNone/>
            </a:pPr>
            <a:r>
              <a:rPr lang="en-US" sz="2400">
                <a:latin typeface="+mn-lt"/>
              </a:rPr>
              <a:t>shared max_size = N</a:t>
            </a:r>
          </a:p>
          <a:p>
            <a:pPr rtl="0">
              <a:buNone/>
            </a:pPr>
            <a:r>
              <a:rPr lang="en-US" sz="2400">
                <a:latin typeface="+mn-lt"/>
              </a:rPr>
              <a:t>shared lock l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B7EE8-77B7-52DF-5ACA-95A6B78B976D}"/>
              </a:ext>
            </a:extLst>
          </p:cNvPr>
          <p:cNvSpPr txBox="1"/>
          <p:nvPr/>
        </p:nvSpPr>
        <p:spPr>
          <a:xfrm>
            <a:off x="357808" y="2447643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Producer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// Produce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while (count ==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  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  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07  // Add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08  count++;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09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FBF676-A4D9-A321-FA4B-38AF821A1517}"/>
              </a:ext>
            </a:extLst>
          </p:cNvPr>
          <p:cNvSpPr txBox="1"/>
          <p:nvPr/>
        </p:nvSpPr>
        <p:spPr>
          <a:xfrm>
            <a:off x="6453808" y="2447643"/>
            <a:ext cx="43599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Consumer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while (count == 0)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  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  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// Retrieve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07  count--;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08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09  // Consume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34AEFC-E4D1-D6B3-A2BD-AD43EF5CE516}"/>
              </a:ext>
            </a:extLst>
          </p:cNvPr>
          <p:cNvCxnSpPr>
            <a:cxnSpLocks/>
          </p:cNvCxnSpPr>
          <p:nvPr/>
        </p:nvCxnSpPr>
        <p:spPr>
          <a:xfrm>
            <a:off x="2782957" y="4147930"/>
            <a:ext cx="351182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97F524-61AF-FBE6-67A0-DB713555C8CB}"/>
              </a:ext>
            </a:extLst>
          </p:cNvPr>
          <p:cNvCxnSpPr>
            <a:cxnSpLocks/>
          </p:cNvCxnSpPr>
          <p:nvPr/>
        </p:nvCxnSpPr>
        <p:spPr>
          <a:xfrm flipV="1">
            <a:off x="2782957" y="3127513"/>
            <a:ext cx="3667733" cy="1020417"/>
          </a:xfrm>
          <a:prstGeom prst="curvedConnector3">
            <a:avLst>
              <a:gd name="adj1" fmla="val 6373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0F502B-169D-8BA0-81FF-F5958D352845}"/>
              </a:ext>
            </a:extLst>
          </p:cNvPr>
          <p:cNvCxnSpPr>
            <a:cxnSpLocks/>
          </p:cNvCxnSpPr>
          <p:nvPr/>
        </p:nvCxnSpPr>
        <p:spPr>
          <a:xfrm flipH="1">
            <a:off x="2623932" y="3763617"/>
            <a:ext cx="3670851" cy="72887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B1D306-2CD2-8381-FA41-4AF6C08C1B9F}"/>
              </a:ext>
            </a:extLst>
          </p:cNvPr>
          <p:cNvCxnSpPr>
            <a:cxnSpLocks/>
          </p:cNvCxnSpPr>
          <p:nvPr/>
        </p:nvCxnSpPr>
        <p:spPr>
          <a:xfrm flipH="1" flipV="1">
            <a:off x="2627050" y="3429000"/>
            <a:ext cx="3667733" cy="3346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637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2415-0DC6-D43B-086E-2EB23BDA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E9FB-FBC1-7B05-4C6F-D4AEEABD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498"/>
            <a:ext cx="12192000" cy="72739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Let’s build prod/cons bounded buffer with locks – attempt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BF78F-38AA-9180-B305-0219AC7216E3}"/>
              </a:ext>
            </a:extLst>
          </p:cNvPr>
          <p:cNvSpPr txBox="1"/>
          <p:nvPr/>
        </p:nvSpPr>
        <p:spPr>
          <a:xfrm>
            <a:off x="357808" y="9919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>
                <a:latin typeface="+mn-lt"/>
              </a:rPr>
              <a:t>shared count = 0</a:t>
            </a:r>
          </a:p>
          <a:p>
            <a:pPr rtl="0">
              <a:buNone/>
            </a:pPr>
            <a:r>
              <a:rPr lang="en-US" sz="2400">
                <a:latin typeface="+mn-lt"/>
              </a:rPr>
              <a:t>shared max_size = N</a:t>
            </a:r>
          </a:p>
          <a:p>
            <a:pPr rtl="0">
              <a:buNone/>
            </a:pPr>
            <a:r>
              <a:rPr lang="en-US" sz="2400">
                <a:latin typeface="+mn-lt"/>
              </a:rPr>
              <a:t>shared lock l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67836-C754-554A-DB97-FBA6D11A4BF6}"/>
              </a:ext>
            </a:extLst>
          </p:cNvPr>
          <p:cNvSpPr txBox="1"/>
          <p:nvPr/>
        </p:nvSpPr>
        <p:spPr>
          <a:xfrm>
            <a:off x="357808" y="2447643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Producer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// Produce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while (count ==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  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  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07  // Add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08  count++;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09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79D1A-FA3F-9D38-892E-3660BB66D8DA}"/>
              </a:ext>
            </a:extLst>
          </p:cNvPr>
          <p:cNvSpPr txBox="1"/>
          <p:nvPr/>
        </p:nvSpPr>
        <p:spPr>
          <a:xfrm>
            <a:off x="6453808" y="2447643"/>
            <a:ext cx="43599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Consumer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while (count == 0)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  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  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// Retrieve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07  count--;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08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09  // Consume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6DDC66-E2D2-0DA2-70C3-C987ACA8E77A}"/>
              </a:ext>
            </a:extLst>
          </p:cNvPr>
          <p:cNvCxnSpPr>
            <a:cxnSpLocks/>
          </p:cNvCxnSpPr>
          <p:nvPr/>
        </p:nvCxnSpPr>
        <p:spPr>
          <a:xfrm>
            <a:off x="2782957" y="4147930"/>
            <a:ext cx="351182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B3E764-7A48-A23A-E7C5-AE1BD0BC9705}"/>
              </a:ext>
            </a:extLst>
          </p:cNvPr>
          <p:cNvCxnSpPr>
            <a:cxnSpLocks/>
          </p:cNvCxnSpPr>
          <p:nvPr/>
        </p:nvCxnSpPr>
        <p:spPr>
          <a:xfrm flipV="1">
            <a:off x="2782957" y="3127513"/>
            <a:ext cx="3667733" cy="1020417"/>
          </a:xfrm>
          <a:prstGeom prst="curvedConnector3">
            <a:avLst>
              <a:gd name="adj1" fmla="val 6373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F627F5-3265-D8F6-CFC3-3EECFE7FF013}"/>
              </a:ext>
            </a:extLst>
          </p:cNvPr>
          <p:cNvCxnSpPr>
            <a:cxnSpLocks/>
          </p:cNvCxnSpPr>
          <p:nvPr/>
        </p:nvCxnSpPr>
        <p:spPr>
          <a:xfrm flipH="1">
            <a:off x="2623932" y="3763617"/>
            <a:ext cx="3670851" cy="72887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D99C8A-D60B-4169-7BB0-77DFE52FCE12}"/>
              </a:ext>
            </a:extLst>
          </p:cNvPr>
          <p:cNvCxnSpPr>
            <a:cxnSpLocks/>
          </p:cNvCxnSpPr>
          <p:nvPr/>
        </p:nvCxnSpPr>
        <p:spPr>
          <a:xfrm flipH="1" flipV="1">
            <a:off x="2627050" y="3429000"/>
            <a:ext cx="3667733" cy="3346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796522-19E0-9FD7-527A-3616D216D255}"/>
              </a:ext>
            </a:extLst>
          </p:cNvPr>
          <p:cNvSpPr txBox="1"/>
          <p:nvPr/>
        </p:nvSpPr>
        <p:spPr>
          <a:xfrm>
            <a:off x="3246783" y="950198"/>
            <a:ext cx="871993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It’s not guaranteed that the producer(s) / consumer(s) will make progress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What’s good: that both release the lock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What’s bad: that both wake up and try to get the lock independently of whether they can actually do their job </a:t>
            </a:r>
          </a:p>
        </p:txBody>
      </p:sp>
    </p:spTree>
    <p:extLst>
      <p:ext uri="{BB962C8B-B14F-4D97-AF65-F5344CB8AC3E}">
        <p14:creationId xmlns:p14="http://schemas.microsoft.com/office/powerpoint/2010/main" val="1274693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5B8E85-8E6E-1C3E-CDEC-8C08739F3E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27"/>
          <a:stretch>
            <a:fillRect/>
          </a:stretch>
        </p:blipFill>
        <p:spPr>
          <a:xfrm>
            <a:off x="5141843" y="4154800"/>
            <a:ext cx="7050157" cy="2703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C82691-F895-91C6-DD9F-C519A734596C}"/>
              </a:ext>
            </a:extLst>
          </p:cNvPr>
          <p:cNvSpPr txBox="1"/>
          <p:nvPr/>
        </p:nvSpPr>
        <p:spPr>
          <a:xfrm>
            <a:off x="224589" y="291800"/>
            <a:ext cx="1113322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Condition variable</a:t>
            </a:r>
            <a:r>
              <a:rPr lang="en-US" sz="2000" dirty="0"/>
              <a:t>: an object that you can use to wait for a condition to become true, associated with a </a:t>
            </a:r>
            <a:r>
              <a:rPr lang="en-US" sz="2000" u="sng" dirty="0"/>
              <a:t>lock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cond_wait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(condition, lock)</a:t>
            </a:r>
            <a:r>
              <a:rPr lang="en-US" sz="2000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Release the lock.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 thread goes to sleep / enters the waiting queue.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Upon waking up, it reacquires the lock.</a:t>
            </a:r>
          </a:p>
          <a:p>
            <a:pP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cond_signal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(condition, lock)</a:t>
            </a:r>
            <a:r>
              <a:rPr lang="en-US" sz="2000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If a thread is waiting on the condition, wake up one and give it the lock.</a:t>
            </a:r>
          </a:p>
          <a:p>
            <a:pP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cond_broadcast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(condition, lock)</a:t>
            </a:r>
            <a:r>
              <a:rPr lang="en-US" sz="2000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Same as signal, except all waiting threads wake up.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Whoever calls these methods needs to hold the lock.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Fine-grained control over execution order.</a:t>
            </a:r>
          </a:p>
        </p:txBody>
      </p:sp>
    </p:spTree>
    <p:extLst>
      <p:ext uri="{BB962C8B-B14F-4D97-AF65-F5344CB8AC3E}">
        <p14:creationId xmlns:p14="http://schemas.microsoft.com/office/powerpoint/2010/main" val="3675519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1F37-308E-6B0A-3588-3B237ED0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prod/cons bounded buffer with locks (starting from scratch) – attempt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265BB-DE0B-4C2C-EAFC-2BBC3C89D347}"/>
              </a:ext>
            </a:extLst>
          </p:cNvPr>
          <p:cNvSpPr txBox="1"/>
          <p:nvPr/>
        </p:nvSpPr>
        <p:spPr>
          <a:xfrm>
            <a:off x="4638262" y="1583175"/>
            <a:ext cx="30745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shared count = 0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shared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 = N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shared lock l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condition </a:t>
            </a:r>
            <a:r>
              <a:rPr lang="en-US" sz="2400" dirty="0" err="1">
                <a:latin typeface="+mn-lt"/>
              </a:rPr>
              <a:t>has_space</a:t>
            </a:r>
            <a:endParaRPr lang="en-US" sz="2400" dirty="0">
              <a:latin typeface="+mn-lt"/>
            </a:endParaRPr>
          </a:p>
          <a:p>
            <a:pPr rtl="0">
              <a:buNone/>
            </a:pPr>
            <a:r>
              <a:rPr lang="en-US" sz="2400" dirty="0">
                <a:latin typeface="+mn-lt"/>
              </a:rPr>
              <a:t>condition </a:t>
            </a:r>
            <a:r>
              <a:rPr lang="en-US" sz="2400" dirty="0" err="1">
                <a:latin typeface="+mn-lt"/>
              </a:rPr>
              <a:t>has_items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C23C8-438D-1634-5458-C843495EB4C0}"/>
              </a:ext>
            </a:extLst>
          </p:cNvPr>
          <p:cNvSpPr txBox="1"/>
          <p:nvPr/>
        </p:nvSpPr>
        <p:spPr>
          <a:xfrm>
            <a:off x="231915" y="2495521"/>
            <a:ext cx="43069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Producer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// Produce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while (count == </a:t>
            </a:r>
            <a:r>
              <a:rPr lang="en-US" sz="2400" dirty="0" err="1">
                <a:latin typeface="+mn-lt"/>
              </a:rPr>
              <a:t>max_size</a:t>
            </a:r>
            <a:r>
              <a:rPr lang="en-US" sz="2400" dirty="0">
                <a:latin typeface="+mn-lt"/>
              </a:rPr>
              <a:t>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    </a:t>
            </a:r>
            <a:r>
              <a:rPr lang="en-US" sz="2400" dirty="0" err="1">
                <a:latin typeface="+mn-lt"/>
              </a:rPr>
              <a:t>cond_wait</a:t>
            </a:r>
            <a:r>
              <a:rPr lang="en-US" sz="2400" dirty="0">
                <a:latin typeface="+mn-lt"/>
              </a:rPr>
              <a:t>(</a:t>
            </a:r>
            <a:r>
              <a:rPr lang="en-US" sz="2400" dirty="0" err="1">
                <a:latin typeface="+mn-lt"/>
              </a:rPr>
              <a:t>has_space</a:t>
            </a:r>
            <a:r>
              <a:rPr lang="en-US" sz="2400" dirty="0">
                <a:latin typeface="+mn-lt"/>
              </a:rPr>
              <a:t>, 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// Add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07  count++;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08  </a:t>
            </a:r>
            <a:r>
              <a:rPr lang="en-US" sz="2400" dirty="0" err="1">
                <a:latin typeface="+mn-lt"/>
              </a:rPr>
              <a:t>cond_signal</a:t>
            </a:r>
            <a:r>
              <a:rPr lang="en-US" sz="2400" dirty="0">
                <a:latin typeface="+mn-lt"/>
              </a:rPr>
              <a:t>(</a:t>
            </a:r>
            <a:r>
              <a:rPr lang="en-US" sz="2400" dirty="0" err="1">
                <a:latin typeface="+mn-lt"/>
              </a:rPr>
              <a:t>has_items</a:t>
            </a:r>
            <a:r>
              <a:rPr lang="en-US" sz="2400" dirty="0">
                <a:latin typeface="+mn-lt"/>
              </a:rPr>
              <a:t>, 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09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0C630-8A59-6801-008B-68E6A1E1BBF0}"/>
              </a:ext>
            </a:extLst>
          </p:cNvPr>
          <p:cNvSpPr txBox="1"/>
          <p:nvPr/>
        </p:nvSpPr>
        <p:spPr>
          <a:xfrm>
            <a:off x="7812158" y="2495521"/>
            <a:ext cx="423903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+mn-lt"/>
              </a:rPr>
              <a:t>Consumer (repeat forever)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01  acquire(l);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02  while (count == 0) {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03      </a:t>
            </a:r>
            <a:r>
              <a:rPr lang="en-US" sz="2400" dirty="0" err="1">
                <a:latin typeface="+mn-lt"/>
              </a:rPr>
              <a:t>cond_wait</a:t>
            </a:r>
            <a:r>
              <a:rPr lang="en-US" sz="2400" dirty="0">
                <a:latin typeface="+mn-lt"/>
              </a:rPr>
              <a:t>(</a:t>
            </a:r>
            <a:r>
              <a:rPr lang="en-US" sz="2400" dirty="0" err="1">
                <a:latin typeface="+mn-lt"/>
              </a:rPr>
              <a:t>has_items</a:t>
            </a:r>
            <a:r>
              <a:rPr lang="en-US" sz="2400" dirty="0">
                <a:latin typeface="+mn-lt"/>
              </a:rPr>
              <a:t>, 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04  }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05  // Retrieve an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06  count--;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07  </a:t>
            </a:r>
            <a:r>
              <a:rPr lang="en-US" sz="2400" dirty="0" err="1">
                <a:latin typeface="+mn-lt"/>
              </a:rPr>
              <a:t>cond_signal</a:t>
            </a:r>
            <a:r>
              <a:rPr lang="en-US" sz="2400" dirty="0">
                <a:latin typeface="+mn-lt"/>
              </a:rPr>
              <a:t>(</a:t>
            </a:r>
            <a:r>
              <a:rPr lang="en-US" sz="2400" dirty="0" err="1">
                <a:latin typeface="+mn-lt"/>
              </a:rPr>
              <a:t>has_space</a:t>
            </a:r>
            <a:r>
              <a:rPr lang="en-US" sz="2400" dirty="0">
                <a:latin typeface="+mn-lt"/>
              </a:rPr>
              <a:t>, 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08  release(l);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09  // Consume the item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57E012-EF46-2729-89A8-A451508755FE}"/>
              </a:ext>
            </a:extLst>
          </p:cNvPr>
          <p:cNvCxnSpPr>
            <a:cxnSpLocks/>
          </p:cNvCxnSpPr>
          <p:nvPr/>
        </p:nvCxnSpPr>
        <p:spPr>
          <a:xfrm flipH="1" flipV="1">
            <a:off x="4379843" y="4200939"/>
            <a:ext cx="3432315" cy="109993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B0791C-CD92-232D-2F4C-2C129D42AB85}"/>
              </a:ext>
            </a:extLst>
          </p:cNvPr>
          <p:cNvCxnSpPr>
            <a:cxnSpLocks/>
          </p:cNvCxnSpPr>
          <p:nvPr/>
        </p:nvCxnSpPr>
        <p:spPr>
          <a:xfrm flipV="1">
            <a:off x="4379843" y="3896139"/>
            <a:ext cx="3432315" cy="174928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433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FAED8-0038-5E41-FF11-6637D923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B6E93B-4842-7E9A-311C-E88605F4E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984" y="2588227"/>
            <a:ext cx="7772400" cy="117371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40B7A37-2F3A-3BC0-5394-D42A2BA28C9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The problem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200A6-27B3-C576-5004-D39F23C0EF44}"/>
              </a:ext>
            </a:extLst>
          </p:cNvPr>
          <p:cNvSpPr txBox="1"/>
          <p:nvPr/>
        </p:nvSpPr>
        <p:spPr>
          <a:xfrm>
            <a:off x="123092" y="1605424"/>
            <a:ext cx="119047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+mn-lt"/>
              </a:rPr>
              <a:t>A two way east-west road contains a narrow bridge with only one lane. An eastbound (or westbound) car can pass over the bridge only if there is no oncoming car on the bridge. 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Traffic may only cross the bridge in one direction at a time, and if there are ever more than 3 vehicles on the bridge at one time, it will collapse </a:t>
            </a:r>
            <a:r>
              <a:rPr lang="en-US" sz="1800" dirty="0">
                <a:effectLst/>
                <a:latin typeface="+mn-lt"/>
              </a:rPr>
              <a:t>under their weight. In this system, 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each car is represented by one thread, which executes the procedure </a:t>
            </a:r>
            <a:r>
              <a:rPr lang="en-US" sz="1800" dirty="0" err="1">
                <a:effectLst/>
                <a:highlight>
                  <a:srgbClr val="FFFF00"/>
                </a:highlight>
                <a:latin typeface="+mn-lt"/>
              </a:rPr>
              <a:t>OneVehicle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 when it arrives at the bridge</a:t>
            </a:r>
            <a:r>
              <a:rPr lang="en-US" sz="1800" dirty="0">
                <a:effectLst/>
                <a:latin typeface="+mn-lt"/>
              </a:rPr>
              <a:t>.</a:t>
            </a:r>
            <a:endParaRPr lang="en-US" sz="1500" dirty="0">
              <a:effectLst/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C95E9-4F6D-4A05-3A0F-41090248B73F}"/>
              </a:ext>
            </a:extLst>
          </p:cNvPr>
          <p:cNvSpPr txBox="1"/>
          <p:nvPr/>
        </p:nvSpPr>
        <p:spPr>
          <a:xfrm>
            <a:off x="123092" y="3640864"/>
            <a:ext cx="42994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OneVehicle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(Direction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ArriveBridge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CrossBridge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marR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ExitBridge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0BBAB-653F-0D48-2366-9D5EDFE40A99}"/>
              </a:ext>
            </a:extLst>
          </p:cNvPr>
          <p:cNvSpPr txBox="1"/>
          <p:nvPr/>
        </p:nvSpPr>
        <p:spPr>
          <a:xfrm>
            <a:off x="123092" y="5252576"/>
            <a:ext cx="3868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direc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 gives the direction in which the vehicle will cross the bridge</a:t>
            </a:r>
            <a:endParaRPr lang="en-US" sz="1500" dirty="0">
              <a:effectLst/>
              <a:highlight>
                <a:srgbClr val="FFFF00"/>
              </a:highlight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CE0D20-AEDD-4AC2-22F3-0426837B6ED2}"/>
              </a:ext>
            </a:extLst>
          </p:cNvPr>
          <p:cNvSpPr txBox="1"/>
          <p:nvPr/>
        </p:nvSpPr>
        <p:spPr>
          <a:xfrm>
            <a:off x="4422531" y="3761942"/>
            <a:ext cx="693126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Write the procedures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ArriveBridge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 and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ExitBridge</a:t>
            </a:r>
            <a:r>
              <a:rPr lang="en-US" sz="1800" dirty="0">
                <a:effectLst/>
                <a:highlight>
                  <a:srgbClr val="FFFF00"/>
                </a:highlight>
                <a:latin typeface="+mn-lt"/>
              </a:rPr>
              <a:t>.</a:t>
            </a:r>
          </a:p>
          <a:p>
            <a:pPr marL="0" marR="0">
              <a:buNone/>
            </a:pPr>
            <a:endParaRPr lang="en-US" sz="18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ArriveBridge</a:t>
            </a:r>
            <a:r>
              <a:rPr lang="en-US" sz="1800" dirty="0">
                <a:effectLst/>
                <a:latin typeface="+mn-lt"/>
              </a:rPr>
              <a:t> must not return until it safe for the car to cross the bridge in the given direction (it must guarantee that there will be no head-on collisions or bridge collapses).</a:t>
            </a:r>
          </a:p>
          <a:p>
            <a:pPr marL="0" marR="0">
              <a:buNone/>
            </a:pPr>
            <a:endParaRPr lang="en-US" sz="18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ExitBridge</a:t>
            </a:r>
            <a:r>
              <a:rPr lang="en-US" sz="1800" dirty="0">
                <a:effectLst/>
                <a:latin typeface="+mn-lt"/>
              </a:rPr>
              <a:t> is called to indicate that the caller has finished crossing the bridge; </a:t>
            </a:r>
            <a:r>
              <a:rPr lang="en-US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ExitBridge</a:t>
            </a:r>
            <a:r>
              <a:rPr lang="en-US" sz="1800" dirty="0">
                <a:effectLst/>
                <a:latin typeface="+mn-lt"/>
              </a:rPr>
              <a:t> should take steps to let additional cars cross the bridge.</a:t>
            </a:r>
            <a:endParaRPr lang="en-US" sz="15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93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19E8-FA40-7544-B4C5-83309C40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A8FB2-E6B9-0BE0-EFA9-D37333F35E06}"/>
              </a:ext>
            </a:extLst>
          </p:cNvPr>
          <p:cNvSpPr txBox="1"/>
          <p:nvPr/>
        </p:nvSpPr>
        <p:spPr>
          <a:xfrm>
            <a:off x="895732" y="1659285"/>
            <a:ext cx="10400535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en-US" sz="2800" dirty="0">
                <a:latin typeface="Aptos" panose="020B0004020202020204" pitchFamily="34" charset="0"/>
              </a:rPr>
              <a:t>Constraints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0 &lt;= cars &lt;=3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All cars in the same direction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Bridge empty (cars==0) AND car wants in? OK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 Bridge NOT(empty OR full) AND car in the same direction? OK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Synchronization shared variables: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cars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direction</a:t>
            </a:r>
          </a:p>
        </p:txBody>
      </p:sp>
    </p:spTree>
    <p:extLst>
      <p:ext uri="{BB962C8B-B14F-4D97-AF65-F5344CB8AC3E}">
        <p14:creationId xmlns:p14="http://schemas.microsoft.com/office/powerpoint/2010/main" val="1416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F9B338-25FA-BDD4-8A29-A121FE5E72FD}"/>
              </a:ext>
            </a:extLst>
          </p:cNvPr>
          <p:cNvSpPr txBox="1"/>
          <p:nvPr/>
        </p:nvSpPr>
        <p:spPr>
          <a:xfrm>
            <a:off x="457949" y="542622"/>
            <a:ext cx="6096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/>
              <a:t>shared variable cars = 0</a:t>
            </a:r>
          </a:p>
          <a:p>
            <a:pPr rtl="0">
              <a:buNone/>
            </a:pPr>
            <a:r>
              <a:rPr lang="en-US" sz="2400" dirty="0"/>
              <a:t>shared Direction D = 0</a:t>
            </a:r>
          </a:p>
          <a:p>
            <a:pPr rtl="0">
              <a:buNone/>
            </a:pPr>
            <a:r>
              <a:rPr lang="en-US" sz="2400" dirty="0"/>
              <a:t>lock bridge</a:t>
            </a:r>
          </a:p>
          <a:p>
            <a:pPr rtl="0">
              <a:buNone/>
            </a:pPr>
            <a:r>
              <a:rPr lang="en-US" sz="2400" dirty="0" err="1"/>
              <a:t>waitingToGo</a:t>
            </a:r>
            <a:r>
              <a:rPr lang="en-US" sz="2400" dirty="0"/>
              <a:t>[2]</a:t>
            </a:r>
          </a:p>
          <a:p>
            <a:pPr rtl="0">
              <a:buNone/>
            </a:pPr>
            <a:endParaRPr lang="en-US" sz="2400" dirty="0"/>
          </a:p>
          <a:p>
            <a:pPr rtl="0">
              <a:buNone/>
            </a:pPr>
            <a:r>
              <a:rPr lang="en-US" sz="2400" dirty="0" err="1"/>
              <a:t>ArriveBridge</a:t>
            </a:r>
            <a:r>
              <a:rPr lang="en-US" sz="2400" dirty="0"/>
              <a:t>(Direction d) {</a:t>
            </a:r>
          </a:p>
          <a:p>
            <a:pPr rtl="0">
              <a:buNone/>
            </a:pPr>
            <a:r>
              <a:rPr lang="en-US" sz="2400" dirty="0"/>
              <a:t>    lock(bridge);</a:t>
            </a:r>
          </a:p>
          <a:p>
            <a:pPr rtl="0">
              <a:buNone/>
            </a:pPr>
            <a:r>
              <a:rPr lang="en-US" sz="2400" dirty="0"/>
              <a:t>    while (cars == 3 || (cars &gt; 0 &amp;&amp; D != d)) {</a:t>
            </a:r>
          </a:p>
          <a:p>
            <a:pPr rtl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waitingToGo</a:t>
            </a:r>
            <a:r>
              <a:rPr lang="en-US" sz="2400" dirty="0"/>
              <a:t>[d]++;</a:t>
            </a:r>
          </a:p>
          <a:p>
            <a:pPr rtl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cond_wait</a:t>
            </a:r>
            <a:r>
              <a:rPr lang="en-US" sz="2400" dirty="0"/>
              <a:t>(</a:t>
            </a:r>
            <a:r>
              <a:rPr lang="en-US" sz="2400" dirty="0" err="1"/>
              <a:t>waitingToGo</a:t>
            </a:r>
            <a:r>
              <a:rPr lang="en-US" sz="2400" dirty="0"/>
              <a:t>[d], bridge);</a:t>
            </a:r>
          </a:p>
          <a:p>
            <a:pPr rtl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waitingToGo</a:t>
            </a:r>
            <a:r>
              <a:rPr lang="en-US" sz="2400" dirty="0"/>
              <a:t>[d]--;</a:t>
            </a:r>
          </a:p>
          <a:p>
            <a:pPr rtl="0">
              <a:buNone/>
            </a:pPr>
            <a:r>
              <a:rPr lang="en-US" sz="2400" dirty="0"/>
              <a:t>    }</a:t>
            </a:r>
          </a:p>
          <a:p>
            <a:pPr rtl="0">
              <a:buNone/>
            </a:pPr>
            <a:r>
              <a:rPr lang="en-US" sz="2400" dirty="0"/>
              <a:t>    cars++;</a:t>
            </a:r>
          </a:p>
          <a:p>
            <a:pPr rtl="0">
              <a:buNone/>
            </a:pPr>
            <a:r>
              <a:rPr lang="en-US" sz="2400" dirty="0"/>
              <a:t>    D = d;</a:t>
            </a:r>
          </a:p>
          <a:p>
            <a:pPr rtl="0">
              <a:buNone/>
            </a:pPr>
            <a:r>
              <a:rPr lang="en-US" sz="2400" dirty="0"/>
              <a:t>    release(bridge);</a:t>
            </a:r>
          </a:p>
          <a:p>
            <a:pPr rtl="0">
              <a:buNone/>
            </a:pPr>
            <a:r>
              <a:rPr lang="en-US" sz="2400" dirty="0"/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1DB55-3255-4A64-B12B-C6ED9EE6FEB7}"/>
              </a:ext>
            </a:extLst>
          </p:cNvPr>
          <p:cNvSpPr txBox="1"/>
          <p:nvPr/>
        </p:nvSpPr>
        <p:spPr>
          <a:xfrm>
            <a:off x="6456215" y="1650618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 err="1"/>
              <a:t>ExitBridge</a:t>
            </a:r>
            <a:r>
              <a:rPr lang="en-US" sz="2400" dirty="0"/>
              <a:t>(Direction d) {</a:t>
            </a:r>
          </a:p>
          <a:p>
            <a:pPr rtl="0">
              <a:buNone/>
            </a:pPr>
            <a:r>
              <a:rPr lang="en-US" sz="2400" dirty="0"/>
              <a:t>    lock(bridge);</a:t>
            </a:r>
          </a:p>
          <a:p>
            <a:pPr rtl="0">
              <a:buNone/>
            </a:pPr>
            <a:r>
              <a:rPr lang="en-US" sz="2400" dirty="0"/>
              <a:t>    cars--;</a:t>
            </a:r>
          </a:p>
          <a:p>
            <a:pPr rtl="0">
              <a:buNone/>
            </a:pPr>
            <a:endParaRPr lang="en-US" sz="2400" dirty="0"/>
          </a:p>
          <a:p>
            <a:pPr rtl="0">
              <a:buNone/>
            </a:pPr>
            <a:r>
              <a:rPr lang="en-US" sz="2400" dirty="0"/>
              <a:t>    if (</a:t>
            </a:r>
            <a:r>
              <a:rPr lang="en-US" sz="2400" dirty="0" err="1"/>
              <a:t>waitingToGo</a:t>
            </a:r>
            <a:r>
              <a:rPr lang="en-US" sz="2400" dirty="0"/>
              <a:t>[d] &gt; 0) {</a:t>
            </a:r>
          </a:p>
          <a:p>
            <a:pPr rtl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cond_signal</a:t>
            </a:r>
            <a:r>
              <a:rPr lang="en-US" sz="2400" dirty="0"/>
              <a:t>(</a:t>
            </a:r>
            <a:r>
              <a:rPr lang="en-US" sz="2400" dirty="0" err="1"/>
              <a:t>waitingToGo</a:t>
            </a:r>
            <a:r>
              <a:rPr lang="en-US" sz="2400" dirty="0"/>
              <a:t>[d], bridge);</a:t>
            </a:r>
          </a:p>
          <a:p>
            <a:pPr rtl="0">
              <a:buNone/>
            </a:pPr>
            <a:r>
              <a:rPr lang="en-US" sz="2400" dirty="0"/>
              <a:t>    } else if (cars == 0) {</a:t>
            </a:r>
          </a:p>
          <a:p>
            <a:pPr rtl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cond_broadcast</a:t>
            </a:r>
            <a:r>
              <a:rPr lang="en-US" sz="2400" dirty="0"/>
              <a:t>(</a:t>
            </a:r>
            <a:r>
              <a:rPr lang="en-US" sz="2400" dirty="0" err="1"/>
              <a:t>waitingToGo</a:t>
            </a:r>
            <a:r>
              <a:rPr lang="en-US" sz="2400" dirty="0"/>
              <a:t>[1 - d], bridge);</a:t>
            </a:r>
          </a:p>
          <a:p>
            <a:pPr rtl="0">
              <a:buNone/>
            </a:pPr>
            <a:r>
              <a:rPr lang="en-US" sz="2400" dirty="0"/>
              <a:t>    }</a:t>
            </a:r>
          </a:p>
          <a:p>
            <a:pPr rtl="0">
              <a:buNone/>
            </a:pPr>
            <a:endParaRPr lang="en-US" sz="2400" dirty="0"/>
          </a:p>
          <a:p>
            <a:pPr rtl="0">
              <a:buNone/>
            </a:pPr>
            <a:r>
              <a:rPr lang="en-US" sz="2400" dirty="0"/>
              <a:t>    release(bridge);</a:t>
            </a:r>
          </a:p>
          <a:p>
            <a:pPr rtl="0">
              <a:buNone/>
            </a:pPr>
            <a:r>
              <a:rPr lang="en-US" sz="2400" dirty="0"/>
              <a:t>}</a:t>
            </a:r>
            <a:endParaRPr lang="en-US" sz="2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8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2056</Words>
  <Application>Microsoft Macintosh PowerPoint</Application>
  <PresentationFormat>Widescreen</PresentationFormat>
  <Paragraphs>310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Helvetica</vt:lpstr>
      <vt:lpstr>Office Theme</vt:lpstr>
      <vt:lpstr>PowerPoint Presentation</vt:lpstr>
      <vt:lpstr>We want to use conditional variables but, before we discuss them, let’s go back to producer-consumer implemented with semaphores</vt:lpstr>
      <vt:lpstr>PowerPoint Presentation</vt:lpstr>
      <vt:lpstr>What are the limitations?</vt:lpstr>
      <vt:lpstr>Can we use locks?</vt:lpstr>
      <vt:lpstr>Let’s build prod/cons bounded buffer with locks (starting from scratch) – attempt 1</vt:lpstr>
      <vt:lpstr>Let’s build prod/cons bounded buffer with locks (starting from scratch) – attempt 1</vt:lpstr>
      <vt:lpstr>Let’s build prod/cons bounded buffer with locks (starting from scratch) – attempt 2</vt:lpstr>
      <vt:lpstr>Let’s build prod/cons bounded buffer with locks (starting from scratch) – attempt 2</vt:lpstr>
      <vt:lpstr>Let’s build prod/cons bounded buffer with locks – attempt 3</vt:lpstr>
      <vt:lpstr>Let’s build prod/cons bounded buffer with locks – attempt 3</vt:lpstr>
      <vt:lpstr>PowerPoint Presentation</vt:lpstr>
      <vt:lpstr>Let’s build prod/cons bounded buffer with locks (starting from scratch) – attempt 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Gulisano</dc:creator>
  <cp:lastModifiedBy>Vincenzo Gulisano</cp:lastModifiedBy>
  <cp:revision>12</cp:revision>
  <dcterms:created xsi:type="dcterms:W3CDTF">2025-10-08T08:37:43Z</dcterms:created>
  <dcterms:modified xsi:type="dcterms:W3CDTF">2026-10-05T04:52:49Z</dcterms:modified>
</cp:coreProperties>
</file>