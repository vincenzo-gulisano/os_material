
<file path=[Content_Types].xml><?xml version="1.0" encoding="utf-8"?>
<Types xmlns="http://schemas.openxmlformats.org/package/2006/content-types">
  <Default Extension="emf" ContentType="image/x-emf"/>
  <Default Extension="gif" ContentType="image/gif"/>
  <Default Extension="jpeg" ContentType="image/jpeg"/>
  <Default Extension="jp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4506" r:id="rId1"/>
  </p:sldMasterIdLst>
  <p:notesMasterIdLst>
    <p:notesMasterId r:id="rId66"/>
  </p:notesMasterIdLst>
  <p:handoutMasterIdLst>
    <p:handoutMasterId r:id="rId67"/>
  </p:handoutMasterIdLst>
  <p:sldIdLst>
    <p:sldId id="330" r:id="rId2"/>
    <p:sldId id="526" r:id="rId3"/>
    <p:sldId id="412" r:id="rId4"/>
    <p:sldId id="499" r:id="rId5"/>
    <p:sldId id="501" r:id="rId6"/>
    <p:sldId id="527" r:id="rId7"/>
    <p:sldId id="528" r:id="rId8"/>
    <p:sldId id="529" r:id="rId9"/>
    <p:sldId id="413" r:id="rId10"/>
    <p:sldId id="414" r:id="rId11"/>
    <p:sldId id="416" r:id="rId12"/>
    <p:sldId id="524" r:id="rId13"/>
    <p:sldId id="417" r:id="rId14"/>
    <p:sldId id="502" r:id="rId15"/>
    <p:sldId id="421" r:id="rId16"/>
    <p:sldId id="422" r:id="rId17"/>
    <p:sldId id="423" r:id="rId18"/>
    <p:sldId id="424" r:id="rId19"/>
    <p:sldId id="504" r:id="rId20"/>
    <p:sldId id="428" r:id="rId21"/>
    <p:sldId id="429" r:id="rId22"/>
    <p:sldId id="430" r:id="rId23"/>
    <p:sldId id="509" r:id="rId24"/>
    <p:sldId id="431" r:id="rId25"/>
    <p:sldId id="432" r:id="rId26"/>
    <p:sldId id="434" r:id="rId27"/>
    <p:sldId id="471" r:id="rId28"/>
    <p:sldId id="435" r:id="rId29"/>
    <p:sldId id="505" r:id="rId30"/>
    <p:sldId id="436" r:id="rId31"/>
    <p:sldId id="437" r:id="rId32"/>
    <p:sldId id="489" r:id="rId33"/>
    <p:sldId id="443" r:id="rId34"/>
    <p:sldId id="473" r:id="rId35"/>
    <p:sldId id="476" r:id="rId36"/>
    <p:sldId id="514" r:id="rId37"/>
    <p:sldId id="445" r:id="rId38"/>
    <p:sldId id="446" r:id="rId39"/>
    <p:sldId id="447" r:id="rId40"/>
    <p:sldId id="515" r:id="rId41"/>
    <p:sldId id="449" r:id="rId42"/>
    <p:sldId id="495" r:id="rId43"/>
    <p:sldId id="516" r:id="rId44"/>
    <p:sldId id="451" r:id="rId45"/>
    <p:sldId id="456" r:id="rId46"/>
    <p:sldId id="457" r:id="rId47"/>
    <p:sldId id="510" r:id="rId48"/>
    <p:sldId id="511" r:id="rId49"/>
    <p:sldId id="512" r:id="rId50"/>
    <p:sldId id="517" r:id="rId51"/>
    <p:sldId id="518" r:id="rId52"/>
    <p:sldId id="520" r:id="rId53"/>
    <p:sldId id="521" r:id="rId54"/>
    <p:sldId id="522" r:id="rId55"/>
    <p:sldId id="261" r:id="rId56"/>
    <p:sldId id="262" r:id="rId57"/>
    <p:sldId id="263" r:id="rId58"/>
    <p:sldId id="264" r:id="rId59"/>
    <p:sldId id="257" r:id="rId60"/>
    <p:sldId id="258" r:id="rId61"/>
    <p:sldId id="259" r:id="rId62"/>
    <p:sldId id="530" r:id="rId63"/>
    <p:sldId id="531" r:id="rId64"/>
    <p:sldId id="532" r:id="rId65"/>
  </p:sldIdLst>
  <p:sldSz cx="9144000" cy="6858000" type="screen4x3"/>
  <p:notesSz cx="6718300" cy="9855200"/>
  <p:defaultTextStyle>
    <a:defPPr>
      <a:defRPr lang="en-US"/>
    </a:defPPr>
    <a:lvl1pPr algn="l" rtl="0" eaLnBrk="0" fontAlgn="base" hangingPunct="0">
      <a:spcBef>
        <a:spcPct val="0"/>
      </a:spcBef>
      <a:spcAft>
        <a:spcPct val="0"/>
      </a:spcAft>
      <a:defRPr kern="1200">
        <a:solidFill>
          <a:schemeClr val="tx1"/>
        </a:solidFill>
        <a:latin typeface="Verdana" panose="020B0604030504040204" pitchFamily="34" charset="0"/>
        <a:ea typeface="MS PGothic"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Verdana" panose="020B0604030504040204" pitchFamily="34" charset="0"/>
        <a:ea typeface="MS PGothic"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Verdana" panose="020B0604030504040204" pitchFamily="34" charset="0"/>
        <a:ea typeface="MS PGothic"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Verdana" panose="020B0604030504040204" pitchFamily="34" charset="0"/>
        <a:ea typeface="MS PGothic"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Verdana" panose="020B0604030504040204" pitchFamily="34" charset="0"/>
        <a:ea typeface="MS PGothic" panose="020B0600070205080204" pitchFamily="34" charset="-128"/>
        <a:cs typeface="+mn-cs"/>
      </a:defRPr>
    </a:lvl5pPr>
    <a:lvl6pPr marL="2286000" algn="l" defTabSz="914400" rtl="0" eaLnBrk="1" latinLnBrk="0" hangingPunct="1">
      <a:defRPr kern="1200">
        <a:solidFill>
          <a:schemeClr val="tx1"/>
        </a:solidFill>
        <a:latin typeface="Verdana" panose="020B0604030504040204" pitchFamily="34" charset="0"/>
        <a:ea typeface="MS PGothic" panose="020B0600070205080204" pitchFamily="34" charset="-128"/>
        <a:cs typeface="+mn-cs"/>
      </a:defRPr>
    </a:lvl6pPr>
    <a:lvl7pPr marL="2743200" algn="l" defTabSz="914400" rtl="0" eaLnBrk="1" latinLnBrk="0" hangingPunct="1">
      <a:defRPr kern="1200">
        <a:solidFill>
          <a:schemeClr val="tx1"/>
        </a:solidFill>
        <a:latin typeface="Verdana" panose="020B0604030504040204" pitchFamily="34" charset="0"/>
        <a:ea typeface="MS PGothic" panose="020B0600070205080204" pitchFamily="34" charset="-128"/>
        <a:cs typeface="+mn-cs"/>
      </a:defRPr>
    </a:lvl7pPr>
    <a:lvl8pPr marL="3200400" algn="l" defTabSz="914400" rtl="0" eaLnBrk="1" latinLnBrk="0" hangingPunct="1">
      <a:defRPr kern="1200">
        <a:solidFill>
          <a:schemeClr val="tx1"/>
        </a:solidFill>
        <a:latin typeface="Verdana" panose="020B0604030504040204" pitchFamily="34" charset="0"/>
        <a:ea typeface="MS PGothic" panose="020B0600070205080204" pitchFamily="34" charset="-128"/>
        <a:cs typeface="+mn-cs"/>
      </a:defRPr>
    </a:lvl8pPr>
    <a:lvl9pPr marL="3657600" algn="l" defTabSz="914400" rtl="0" eaLnBrk="1" latinLnBrk="0" hangingPunct="1">
      <a:defRPr kern="1200">
        <a:solidFill>
          <a:schemeClr val="tx1"/>
        </a:solidFill>
        <a:latin typeface="Verdana" panose="020B0604030504040204" pitchFamily="34" charset="0"/>
        <a:ea typeface="MS PGothic" panose="020B0600070205080204" pitchFamily="34" charset="-128"/>
        <a:cs typeface="+mn-cs"/>
      </a:defRPr>
    </a:lvl9pPr>
  </p:defaultTextStyle>
  <p:extLst>
    <p:ext uri="{EFAFB233-063F-42B5-8137-9DF3F51BA10A}">
      <p15:sldGuideLst xmlns:p15="http://schemas.microsoft.com/office/powerpoint/2012/main">
        <p15:guide id="1" orient="horz" pos="816">
          <p15:clr>
            <a:srgbClr val="A4A3A4"/>
          </p15:clr>
        </p15:guide>
        <p15:guide id="2" pos="44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0000"/>
    <a:srgbClr val="CCECFF"/>
    <a:srgbClr val="66CCFF"/>
    <a:srgbClr val="CCFFFF"/>
    <a:srgbClr val="F8F8F8"/>
    <a:srgbClr val="EAEAEA"/>
    <a:srgbClr val="CC66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D440484-DEA2-744C-8CA3-39F95971E40E}" v="8" dt="2025-09-03T03:57:34.72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296" autoAdjust="0"/>
    <p:restoredTop sz="78630" autoAdjust="0"/>
  </p:normalViewPr>
  <p:slideViewPr>
    <p:cSldViewPr snapToGrid="0">
      <p:cViewPr varScale="1">
        <p:scale>
          <a:sx n="98" d="100"/>
          <a:sy n="98" d="100"/>
        </p:scale>
        <p:origin x="2792" y="200"/>
      </p:cViewPr>
      <p:guideLst>
        <p:guide orient="horz" pos="816"/>
        <p:guide pos="44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0"/>
    </p:cViewPr>
  </p:sorterViewPr>
  <p:notesViewPr>
    <p:cSldViewPr snapToGrid="0">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notesMaster" Target="notesMasters/notesMaster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72" Type="http://schemas.microsoft.com/office/2016/11/relationships/changesInfo" Target="changesInfos/changesInfo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handoutMaster" Target="handoutMasters/handout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Vincenzo Massimiliano Gulisano" userId="887d7398-9e41-4331-abd4-9c23f064ea90" providerId="ADAL" clId="{8EA10870-6395-588A-9409-E8E4CA631CF7}"/>
    <pc:docChg chg="undo custSel addSld delSld modSld">
      <pc:chgData name="Vincenzo Massimiliano Gulisano" userId="887d7398-9e41-4331-abd4-9c23f064ea90" providerId="ADAL" clId="{8EA10870-6395-588A-9409-E8E4CA631CF7}" dt="2025-09-08T04:14:32.650" v="271" actId="20577"/>
      <pc:docMkLst>
        <pc:docMk/>
      </pc:docMkLst>
      <pc:sldChg chg="modSp add mod modNotesTx">
        <pc:chgData name="Vincenzo Massimiliano Gulisano" userId="887d7398-9e41-4331-abd4-9c23f064ea90" providerId="ADAL" clId="{8EA10870-6395-588A-9409-E8E4CA631CF7}" dt="2025-09-08T04:14:10.130" v="267" actId="20577"/>
        <pc:sldMkLst>
          <pc:docMk/>
          <pc:sldMk cId="2704110245" sldId="257"/>
        </pc:sldMkLst>
        <pc:spChg chg="mod">
          <ac:chgData name="Vincenzo Massimiliano Gulisano" userId="887d7398-9e41-4331-abd4-9c23f064ea90" providerId="ADAL" clId="{8EA10870-6395-588A-9409-E8E4CA631CF7}" dt="2025-09-08T04:14:08.263" v="260" actId="12"/>
          <ac:spMkLst>
            <pc:docMk/>
            <pc:sldMk cId="2704110245" sldId="257"/>
            <ac:spMk id="3" creationId="{E2E84E5F-F8B8-44A6-5D92-AA66B2B04BB1}"/>
          </ac:spMkLst>
        </pc:spChg>
      </pc:sldChg>
      <pc:sldChg chg="modSp add mod modNotesTx">
        <pc:chgData name="Vincenzo Massimiliano Gulisano" userId="887d7398-9e41-4331-abd4-9c23f064ea90" providerId="ADAL" clId="{8EA10870-6395-588A-9409-E8E4CA631CF7}" dt="2025-09-08T04:14:20.289" v="269" actId="20577"/>
        <pc:sldMkLst>
          <pc:docMk/>
          <pc:sldMk cId="2463020193" sldId="258"/>
        </pc:sldMkLst>
        <pc:spChg chg="mod">
          <ac:chgData name="Vincenzo Massimiliano Gulisano" userId="887d7398-9e41-4331-abd4-9c23f064ea90" providerId="ADAL" clId="{8EA10870-6395-588A-9409-E8E4CA631CF7}" dt="2025-09-08T04:14:18.975" v="268" actId="12"/>
          <ac:spMkLst>
            <pc:docMk/>
            <pc:sldMk cId="2463020193" sldId="258"/>
            <ac:spMk id="3" creationId="{8B1770C3-FFDA-3789-97B6-28B388F1173D}"/>
          </ac:spMkLst>
        </pc:spChg>
      </pc:sldChg>
      <pc:sldChg chg="modSp add mod modNotesTx">
        <pc:chgData name="Vincenzo Massimiliano Gulisano" userId="887d7398-9e41-4331-abd4-9c23f064ea90" providerId="ADAL" clId="{8EA10870-6395-588A-9409-E8E4CA631CF7}" dt="2025-09-08T04:14:32.650" v="271" actId="20577"/>
        <pc:sldMkLst>
          <pc:docMk/>
          <pc:sldMk cId="3432169542" sldId="259"/>
        </pc:sldMkLst>
        <pc:spChg chg="mod">
          <ac:chgData name="Vincenzo Massimiliano Gulisano" userId="887d7398-9e41-4331-abd4-9c23f064ea90" providerId="ADAL" clId="{8EA10870-6395-588A-9409-E8E4CA631CF7}" dt="2025-09-08T04:14:30.294" v="270" actId="12"/>
          <ac:spMkLst>
            <pc:docMk/>
            <pc:sldMk cId="3432169542" sldId="259"/>
            <ac:spMk id="3" creationId="{5FD8BA12-3D20-9783-9193-DA13A29C2994}"/>
          </ac:spMkLst>
        </pc:spChg>
      </pc:sldChg>
      <pc:sldChg chg="modSp add mod">
        <pc:chgData name="Vincenzo Massimiliano Gulisano" userId="887d7398-9e41-4331-abd4-9c23f064ea90" providerId="ADAL" clId="{8EA10870-6395-588A-9409-E8E4CA631CF7}" dt="2025-09-03T03:52:11.768" v="30" actId="20577"/>
        <pc:sldMkLst>
          <pc:docMk/>
          <pc:sldMk cId="108351970" sldId="260"/>
        </pc:sldMkLst>
        <pc:spChg chg="mod">
          <ac:chgData name="Vincenzo Massimiliano Gulisano" userId="887d7398-9e41-4331-abd4-9c23f064ea90" providerId="ADAL" clId="{8EA10870-6395-588A-9409-E8E4CA631CF7}" dt="2025-09-03T03:52:11.768" v="30" actId="20577"/>
          <ac:spMkLst>
            <pc:docMk/>
            <pc:sldMk cId="108351970" sldId="260"/>
            <ac:spMk id="2" creationId="{2C4EBB15-5B3B-5910-2C6D-B11C9840B253}"/>
          </ac:spMkLst>
        </pc:spChg>
      </pc:sldChg>
      <pc:sldChg chg="modSp add del mod">
        <pc:chgData name="Vincenzo Massimiliano Gulisano" userId="887d7398-9e41-4331-abd4-9c23f064ea90" providerId="ADAL" clId="{8EA10870-6395-588A-9409-E8E4CA631CF7}" dt="2025-09-03T03:52:36.370" v="39" actId="2696"/>
        <pc:sldMkLst>
          <pc:docMk/>
          <pc:sldMk cId="2306672857" sldId="261"/>
        </pc:sldMkLst>
      </pc:sldChg>
      <pc:sldChg chg="add">
        <pc:chgData name="Vincenzo Massimiliano Gulisano" userId="887d7398-9e41-4331-abd4-9c23f064ea90" providerId="ADAL" clId="{8EA10870-6395-588A-9409-E8E4CA631CF7}" dt="2025-09-03T03:52:55.820" v="40"/>
        <pc:sldMkLst>
          <pc:docMk/>
          <pc:sldMk cId="3831187052" sldId="261"/>
        </pc:sldMkLst>
      </pc:sldChg>
      <pc:sldChg chg="modSp add del mod">
        <pc:chgData name="Vincenzo Massimiliano Gulisano" userId="887d7398-9e41-4331-abd4-9c23f064ea90" providerId="ADAL" clId="{8EA10870-6395-588A-9409-E8E4CA631CF7}" dt="2025-09-03T03:52:36.370" v="39" actId="2696"/>
        <pc:sldMkLst>
          <pc:docMk/>
          <pc:sldMk cId="861529285" sldId="262"/>
        </pc:sldMkLst>
      </pc:sldChg>
      <pc:sldChg chg="modSp add mod modNotesTx">
        <pc:chgData name="Vincenzo Massimiliano Gulisano" userId="887d7398-9e41-4331-abd4-9c23f064ea90" providerId="ADAL" clId="{8EA10870-6395-588A-9409-E8E4CA631CF7}" dt="2025-09-08T04:12:53.288" v="253" actId="20577"/>
        <pc:sldMkLst>
          <pc:docMk/>
          <pc:sldMk cId="2787053621" sldId="262"/>
        </pc:sldMkLst>
        <pc:spChg chg="mod">
          <ac:chgData name="Vincenzo Massimiliano Gulisano" userId="887d7398-9e41-4331-abd4-9c23f064ea90" providerId="ADAL" clId="{8EA10870-6395-588A-9409-E8E4CA631CF7}" dt="2025-09-08T04:12:23.902" v="117" actId="12"/>
          <ac:spMkLst>
            <pc:docMk/>
            <pc:sldMk cId="2787053621" sldId="262"/>
            <ac:spMk id="3" creationId="{3F77609B-674F-D00B-A50C-091A06357DE2}"/>
          </ac:spMkLst>
        </pc:spChg>
      </pc:sldChg>
      <pc:sldChg chg="modSp add mod modNotesTx">
        <pc:chgData name="Vincenzo Massimiliano Gulisano" userId="887d7398-9e41-4331-abd4-9c23f064ea90" providerId="ADAL" clId="{8EA10870-6395-588A-9409-E8E4CA631CF7}" dt="2025-09-08T04:13:03.231" v="255" actId="20577"/>
        <pc:sldMkLst>
          <pc:docMk/>
          <pc:sldMk cId="1667356494" sldId="263"/>
        </pc:sldMkLst>
        <pc:spChg chg="mod">
          <ac:chgData name="Vincenzo Massimiliano Gulisano" userId="887d7398-9e41-4331-abd4-9c23f064ea90" providerId="ADAL" clId="{8EA10870-6395-588A-9409-E8E4CA631CF7}" dt="2025-09-08T04:13:01.829" v="254" actId="12"/>
          <ac:spMkLst>
            <pc:docMk/>
            <pc:sldMk cId="1667356494" sldId="263"/>
            <ac:spMk id="3" creationId="{E9DA11F3-528A-4E7A-D81C-F4C4AC9E307F}"/>
          </ac:spMkLst>
        </pc:spChg>
      </pc:sldChg>
      <pc:sldChg chg="modSp add del mod">
        <pc:chgData name="Vincenzo Massimiliano Gulisano" userId="887d7398-9e41-4331-abd4-9c23f064ea90" providerId="ADAL" clId="{8EA10870-6395-588A-9409-E8E4CA631CF7}" dt="2025-09-03T03:52:36.370" v="39" actId="2696"/>
        <pc:sldMkLst>
          <pc:docMk/>
          <pc:sldMk cId="3857396575" sldId="263"/>
        </pc:sldMkLst>
      </pc:sldChg>
      <pc:sldChg chg="modSp add del mod">
        <pc:chgData name="Vincenzo Massimiliano Gulisano" userId="887d7398-9e41-4331-abd4-9c23f064ea90" providerId="ADAL" clId="{8EA10870-6395-588A-9409-E8E4CA631CF7}" dt="2025-09-03T03:52:36.370" v="39" actId="2696"/>
        <pc:sldMkLst>
          <pc:docMk/>
          <pc:sldMk cId="2321744945" sldId="264"/>
        </pc:sldMkLst>
      </pc:sldChg>
      <pc:sldChg chg="modSp add mod modNotesTx">
        <pc:chgData name="Vincenzo Massimiliano Gulisano" userId="887d7398-9e41-4331-abd4-9c23f064ea90" providerId="ADAL" clId="{8EA10870-6395-588A-9409-E8E4CA631CF7}" dt="2025-09-08T04:13:22.915" v="259" actId="20577"/>
        <pc:sldMkLst>
          <pc:docMk/>
          <pc:sldMk cId="3754266157" sldId="264"/>
        </pc:sldMkLst>
        <pc:spChg chg="mod">
          <ac:chgData name="Vincenzo Massimiliano Gulisano" userId="887d7398-9e41-4331-abd4-9c23f064ea90" providerId="ADAL" clId="{8EA10870-6395-588A-9409-E8E4CA631CF7}" dt="2025-09-08T04:13:21.305" v="258" actId="12"/>
          <ac:spMkLst>
            <pc:docMk/>
            <pc:sldMk cId="3754266157" sldId="264"/>
            <ac:spMk id="3" creationId="{4B5C34E7-3ABB-2F96-27EC-3591B28EC1EF}"/>
          </ac:spMkLst>
        </pc:spChg>
      </pc:sldChg>
      <pc:sldChg chg="modNotesTx">
        <pc:chgData name="Vincenzo Massimiliano Gulisano" userId="887d7398-9e41-4331-abd4-9c23f064ea90" providerId="ADAL" clId="{8EA10870-6395-588A-9409-E8E4CA631CF7}" dt="2025-09-03T03:50:15.216" v="5" actId="20577"/>
        <pc:sldMkLst>
          <pc:docMk/>
          <pc:sldMk cId="0" sldId="414"/>
        </pc:sldMkLst>
      </pc:sldChg>
      <pc:sldChg chg="modNotesTx">
        <pc:chgData name="Vincenzo Massimiliano Gulisano" userId="887d7398-9e41-4331-abd4-9c23f064ea90" providerId="ADAL" clId="{8EA10870-6395-588A-9409-E8E4CA631CF7}" dt="2025-09-03T03:55:29.587" v="114" actId="20577"/>
        <pc:sldMkLst>
          <pc:docMk/>
          <pc:sldMk cId="0" sldId="471"/>
        </pc:sldMkLst>
      </pc:sldChg>
      <pc:sldChg chg="modNotesTx">
        <pc:chgData name="Vincenzo Massimiliano Gulisano" userId="887d7398-9e41-4331-abd4-9c23f064ea90" providerId="ADAL" clId="{8EA10870-6395-588A-9409-E8E4CA631CF7}" dt="2025-09-03T03:57:34.520" v="116" actId="20577"/>
        <pc:sldMkLst>
          <pc:docMk/>
          <pc:sldMk cId="3759279333" sldId="517"/>
        </pc:sldMkLst>
      </pc:sldChg>
      <pc:sldChg chg="modNotesTx">
        <pc:chgData name="Vincenzo Massimiliano Gulisano" userId="887d7398-9e41-4331-abd4-9c23f064ea90" providerId="ADAL" clId="{8EA10870-6395-588A-9409-E8E4CA631CF7}" dt="2025-09-03T03:45:46.790" v="0" actId="20577"/>
        <pc:sldMkLst>
          <pc:docMk/>
          <pc:sldMk cId="1449966537" sldId="529"/>
        </pc:sldMkLst>
      </pc:sldChg>
    </pc:docChg>
  </pc:docChgLst>
  <pc:docChgLst>
    <pc:chgData name="Vincenzo Massimiliano Gulisano" userId="887d7398-9e41-4331-abd4-9c23f064ea90" providerId="ADAL" clId="{8F06A673-972A-F141-A267-9E7B74A36432}"/>
    <pc:docChg chg="modSld modShowInfo">
      <pc:chgData name="Vincenzo Massimiliano Gulisano" userId="887d7398-9e41-4331-abd4-9c23f064ea90" providerId="ADAL" clId="{8F06A673-972A-F141-A267-9E7B74A36432}" dt="2023-09-07T07:59:08.693" v="3" actId="11"/>
      <pc:docMkLst>
        <pc:docMk/>
      </pc:docMkLst>
      <pc:sldChg chg="modSp mod">
        <pc:chgData name="Vincenzo Massimiliano Gulisano" userId="887d7398-9e41-4331-abd4-9c23f064ea90" providerId="ADAL" clId="{8F06A673-972A-F141-A267-9E7B74A36432}" dt="2023-09-07T07:58:47.446" v="1" actId="12"/>
        <pc:sldMkLst>
          <pc:docMk/>
          <pc:sldMk cId="726914697" sldId="521"/>
        </pc:sldMkLst>
      </pc:sldChg>
      <pc:sldChg chg="modSp mod">
        <pc:chgData name="Vincenzo Massimiliano Gulisano" userId="887d7398-9e41-4331-abd4-9c23f064ea90" providerId="ADAL" clId="{8F06A673-972A-F141-A267-9E7B74A36432}" dt="2023-09-07T07:59:08.693" v="3" actId="11"/>
        <pc:sldMkLst>
          <pc:docMk/>
          <pc:sldMk cId="2145811468" sldId="522"/>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6082" name="Rectangle 2"/>
          <p:cNvSpPr>
            <a:spLocks noGrp="1" noChangeArrowheads="1"/>
          </p:cNvSpPr>
          <p:nvPr>
            <p:ph type="hdr" sz="quarter"/>
          </p:nvPr>
        </p:nvSpPr>
        <p:spPr bwMode="auto">
          <a:xfrm>
            <a:off x="0" y="1"/>
            <a:ext cx="2945342" cy="469536"/>
          </a:xfrm>
          <a:prstGeom prst="rect">
            <a:avLst/>
          </a:prstGeom>
          <a:noFill/>
          <a:ln w="9525">
            <a:noFill/>
            <a:miter lim="800000"/>
            <a:headEnd/>
            <a:tailEnd/>
          </a:ln>
        </p:spPr>
        <p:txBody>
          <a:bodyPr vert="horz" wrap="none" lIns="88254" tIns="44128" rIns="88254" bIns="44128" numCol="1" anchor="ctr" anchorCtr="0" compatLnSpc="1">
            <a:prstTxWarp prst="textNoShape">
              <a:avLst/>
            </a:prstTxWarp>
          </a:bodyPr>
          <a:lstStyle>
            <a:lvl1pPr defTabSz="883092">
              <a:defRPr sz="1100">
                <a:latin typeface="Helvetica" charset="0"/>
                <a:ea typeface="ＭＳ Ｐゴシック" charset="-128"/>
                <a:cs typeface="ＭＳ Ｐゴシック" charset="-128"/>
              </a:defRPr>
            </a:lvl1pPr>
          </a:lstStyle>
          <a:p>
            <a:pPr>
              <a:defRPr/>
            </a:pPr>
            <a:endParaRPr lang="en-US"/>
          </a:p>
        </p:txBody>
      </p:sp>
      <p:sp>
        <p:nvSpPr>
          <p:cNvPr id="46083" name="Rectangle 3"/>
          <p:cNvSpPr>
            <a:spLocks noGrp="1" noChangeArrowheads="1"/>
          </p:cNvSpPr>
          <p:nvPr>
            <p:ph type="dt" sz="quarter" idx="1"/>
          </p:nvPr>
        </p:nvSpPr>
        <p:spPr bwMode="auto">
          <a:xfrm>
            <a:off x="3786651" y="1"/>
            <a:ext cx="2943820" cy="469536"/>
          </a:xfrm>
          <a:prstGeom prst="rect">
            <a:avLst/>
          </a:prstGeom>
          <a:noFill/>
          <a:ln w="9525">
            <a:noFill/>
            <a:miter lim="800000"/>
            <a:headEnd/>
            <a:tailEnd/>
          </a:ln>
        </p:spPr>
        <p:txBody>
          <a:bodyPr vert="horz" wrap="none" lIns="88254" tIns="44128" rIns="88254" bIns="44128" numCol="1" anchor="ctr" anchorCtr="0" compatLnSpc="1">
            <a:prstTxWarp prst="textNoShape">
              <a:avLst/>
            </a:prstTxWarp>
          </a:bodyPr>
          <a:lstStyle>
            <a:lvl1pPr algn="r" defTabSz="883092">
              <a:defRPr sz="1100">
                <a:latin typeface="Helvetica" charset="0"/>
                <a:ea typeface="ＭＳ Ｐゴシック" charset="-128"/>
                <a:cs typeface="ＭＳ Ｐゴシック" charset="-128"/>
              </a:defRPr>
            </a:lvl1pPr>
          </a:lstStyle>
          <a:p>
            <a:pPr>
              <a:defRPr/>
            </a:pPr>
            <a:endParaRPr lang="en-US"/>
          </a:p>
        </p:txBody>
      </p:sp>
      <p:sp>
        <p:nvSpPr>
          <p:cNvPr id="46084" name="Rectangle 4"/>
          <p:cNvSpPr>
            <a:spLocks noGrp="1" noChangeArrowheads="1"/>
          </p:cNvSpPr>
          <p:nvPr>
            <p:ph type="ftr" sz="quarter" idx="2"/>
          </p:nvPr>
        </p:nvSpPr>
        <p:spPr bwMode="auto">
          <a:xfrm>
            <a:off x="0" y="9399128"/>
            <a:ext cx="2945342" cy="469535"/>
          </a:xfrm>
          <a:prstGeom prst="rect">
            <a:avLst/>
          </a:prstGeom>
          <a:noFill/>
          <a:ln w="9525">
            <a:noFill/>
            <a:miter lim="800000"/>
            <a:headEnd/>
            <a:tailEnd/>
          </a:ln>
        </p:spPr>
        <p:txBody>
          <a:bodyPr vert="horz" wrap="none" lIns="88254" tIns="44128" rIns="88254" bIns="44128" numCol="1" anchor="b" anchorCtr="0" compatLnSpc="1">
            <a:prstTxWarp prst="textNoShape">
              <a:avLst/>
            </a:prstTxWarp>
          </a:bodyPr>
          <a:lstStyle>
            <a:lvl1pPr defTabSz="883092">
              <a:defRPr sz="1100">
                <a:latin typeface="Helvetica" charset="0"/>
                <a:ea typeface="ＭＳ Ｐゴシック" charset="-128"/>
                <a:cs typeface="ＭＳ Ｐゴシック" charset="-128"/>
              </a:defRPr>
            </a:lvl1pPr>
          </a:lstStyle>
          <a:p>
            <a:pPr>
              <a:defRPr/>
            </a:pPr>
            <a:endParaRPr lang="en-US"/>
          </a:p>
        </p:txBody>
      </p:sp>
      <p:sp>
        <p:nvSpPr>
          <p:cNvPr id="46085" name="Rectangle 5"/>
          <p:cNvSpPr>
            <a:spLocks noGrp="1" noChangeArrowheads="1"/>
          </p:cNvSpPr>
          <p:nvPr>
            <p:ph type="sldNum" sz="quarter" idx="3"/>
          </p:nvPr>
        </p:nvSpPr>
        <p:spPr bwMode="auto">
          <a:xfrm>
            <a:off x="3786651" y="9399128"/>
            <a:ext cx="2943820" cy="469535"/>
          </a:xfrm>
          <a:prstGeom prst="rect">
            <a:avLst/>
          </a:prstGeom>
          <a:noFill/>
          <a:ln w="9525">
            <a:noFill/>
            <a:miter lim="800000"/>
            <a:headEnd/>
            <a:tailEnd/>
          </a:ln>
        </p:spPr>
        <p:txBody>
          <a:bodyPr vert="horz" wrap="none" lIns="88254" tIns="44128" rIns="88254" bIns="44128" numCol="1" anchor="b" anchorCtr="0" compatLnSpc="1">
            <a:prstTxWarp prst="textNoShape">
              <a:avLst/>
            </a:prstTxWarp>
          </a:bodyPr>
          <a:lstStyle>
            <a:lvl1pPr algn="r" defTabSz="882650">
              <a:defRPr sz="1100">
                <a:latin typeface="Helvetica" panose="020B0604020202020204" pitchFamily="34" charset="0"/>
              </a:defRPr>
            </a:lvl1pPr>
          </a:lstStyle>
          <a:p>
            <a:fld id="{15CD99E5-FD14-47F7-9FC5-A65A5DC016AE}" type="slidenum">
              <a:rPr lang="en-US" altLang="en-US"/>
              <a:pPr/>
              <a:t>‹#›</a:t>
            </a:fld>
            <a:endParaRPr lang="en-US" altLang="en-US"/>
          </a:p>
        </p:txBody>
      </p:sp>
    </p:spTree>
    <p:extLst>
      <p:ext uri="{BB962C8B-B14F-4D97-AF65-F5344CB8AC3E}">
        <p14:creationId xmlns:p14="http://schemas.microsoft.com/office/powerpoint/2010/main" val="150459835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146" name="Rectangle 2"/>
          <p:cNvSpPr>
            <a:spLocks noGrp="1" noChangeArrowheads="1"/>
          </p:cNvSpPr>
          <p:nvPr>
            <p:ph type="hdr" sz="quarter"/>
          </p:nvPr>
        </p:nvSpPr>
        <p:spPr bwMode="auto">
          <a:xfrm>
            <a:off x="0" y="0"/>
            <a:ext cx="2910351" cy="491414"/>
          </a:xfrm>
          <a:prstGeom prst="rect">
            <a:avLst/>
          </a:prstGeom>
          <a:noFill/>
          <a:ln w="9525">
            <a:noFill/>
            <a:miter lim="800000"/>
            <a:headEnd/>
            <a:tailEnd/>
          </a:ln>
        </p:spPr>
        <p:txBody>
          <a:bodyPr vert="horz" wrap="none" lIns="93152" tIns="46576" rIns="93152" bIns="46576" numCol="1" anchor="ctr" anchorCtr="0" compatLnSpc="1">
            <a:prstTxWarp prst="textNoShape">
              <a:avLst/>
            </a:prstTxWarp>
          </a:bodyPr>
          <a:lstStyle>
            <a:lvl1pPr defTabSz="931088">
              <a:defRPr sz="1200">
                <a:latin typeface="Times New Roman" charset="0"/>
                <a:ea typeface="ＭＳ Ｐゴシック" charset="-128"/>
                <a:cs typeface="ＭＳ Ｐゴシック" charset="-128"/>
              </a:defRPr>
            </a:lvl1pPr>
          </a:lstStyle>
          <a:p>
            <a:pPr>
              <a:defRPr/>
            </a:pPr>
            <a:endParaRPr lang="en-US"/>
          </a:p>
        </p:txBody>
      </p:sp>
      <p:sp>
        <p:nvSpPr>
          <p:cNvPr id="6147" name="Rectangle 3"/>
          <p:cNvSpPr>
            <a:spLocks noGrp="1" noChangeArrowheads="1"/>
          </p:cNvSpPr>
          <p:nvPr>
            <p:ph type="dt" idx="1"/>
          </p:nvPr>
        </p:nvSpPr>
        <p:spPr bwMode="auto">
          <a:xfrm>
            <a:off x="3807950" y="0"/>
            <a:ext cx="2910350" cy="491414"/>
          </a:xfrm>
          <a:prstGeom prst="rect">
            <a:avLst/>
          </a:prstGeom>
          <a:noFill/>
          <a:ln w="9525">
            <a:noFill/>
            <a:miter lim="800000"/>
            <a:headEnd/>
            <a:tailEnd/>
          </a:ln>
        </p:spPr>
        <p:txBody>
          <a:bodyPr vert="horz" wrap="none" lIns="93152" tIns="46576" rIns="93152" bIns="46576" numCol="1" anchor="ctr" anchorCtr="0" compatLnSpc="1">
            <a:prstTxWarp prst="textNoShape">
              <a:avLst/>
            </a:prstTxWarp>
          </a:bodyPr>
          <a:lstStyle>
            <a:lvl1pPr algn="r" defTabSz="931088">
              <a:defRPr sz="1200">
                <a:latin typeface="Times New Roman" charset="0"/>
                <a:ea typeface="ＭＳ Ｐゴシック" charset="-128"/>
                <a:cs typeface="ＭＳ Ｐゴシック" charset="-128"/>
              </a:defRPr>
            </a:lvl1pPr>
          </a:lstStyle>
          <a:p>
            <a:pPr>
              <a:defRPr/>
            </a:pPr>
            <a:endParaRPr lang="en-US"/>
          </a:p>
        </p:txBody>
      </p:sp>
      <p:sp>
        <p:nvSpPr>
          <p:cNvPr id="67588" name="Rectangle 4"/>
          <p:cNvSpPr>
            <a:spLocks noGrp="1" noRot="1" noChangeAspect="1" noChangeArrowheads="1" noTextEdit="1"/>
          </p:cNvSpPr>
          <p:nvPr>
            <p:ph type="sldImg" idx="2"/>
          </p:nvPr>
        </p:nvSpPr>
        <p:spPr bwMode="auto">
          <a:xfrm>
            <a:off x="896938" y="739775"/>
            <a:ext cx="4926012" cy="3695700"/>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6149" name="Rectangle 5"/>
          <p:cNvSpPr>
            <a:spLocks noGrp="1" noChangeArrowheads="1"/>
          </p:cNvSpPr>
          <p:nvPr>
            <p:ph type="body" sz="quarter" idx="3"/>
          </p:nvPr>
        </p:nvSpPr>
        <p:spPr bwMode="auto">
          <a:xfrm>
            <a:off x="896078" y="4681894"/>
            <a:ext cx="4926145" cy="4432820"/>
          </a:xfrm>
          <a:prstGeom prst="rect">
            <a:avLst/>
          </a:prstGeom>
          <a:noFill/>
          <a:ln w="9525">
            <a:noFill/>
            <a:miter lim="800000"/>
            <a:headEnd/>
            <a:tailEnd/>
          </a:ln>
        </p:spPr>
        <p:txBody>
          <a:bodyPr vert="horz" wrap="none" lIns="93152" tIns="46576" rIns="93152" bIns="46576" numCol="1" anchor="ctr"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150" name="Rectangle 6"/>
          <p:cNvSpPr>
            <a:spLocks noGrp="1" noChangeArrowheads="1"/>
          </p:cNvSpPr>
          <p:nvPr>
            <p:ph type="ftr" sz="quarter" idx="4"/>
          </p:nvPr>
        </p:nvSpPr>
        <p:spPr bwMode="auto">
          <a:xfrm>
            <a:off x="0" y="9363786"/>
            <a:ext cx="2910351" cy="491414"/>
          </a:xfrm>
          <a:prstGeom prst="rect">
            <a:avLst/>
          </a:prstGeom>
          <a:noFill/>
          <a:ln w="9525">
            <a:noFill/>
            <a:miter lim="800000"/>
            <a:headEnd/>
            <a:tailEnd/>
          </a:ln>
        </p:spPr>
        <p:txBody>
          <a:bodyPr vert="horz" wrap="none" lIns="93152" tIns="46576" rIns="93152" bIns="46576" numCol="1" anchor="b" anchorCtr="0" compatLnSpc="1">
            <a:prstTxWarp prst="textNoShape">
              <a:avLst/>
            </a:prstTxWarp>
          </a:bodyPr>
          <a:lstStyle>
            <a:lvl1pPr defTabSz="931088">
              <a:defRPr sz="1200">
                <a:latin typeface="Times New Roman" charset="0"/>
                <a:ea typeface="ＭＳ Ｐゴシック" charset="-128"/>
                <a:cs typeface="ＭＳ Ｐゴシック" charset="-128"/>
              </a:defRPr>
            </a:lvl1pPr>
          </a:lstStyle>
          <a:p>
            <a:pPr>
              <a:defRPr/>
            </a:pPr>
            <a:endParaRPr lang="en-US"/>
          </a:p>
        </p:txBody>
      </p:sp>
      <p:sp>
        <p:nvSpPr>
          <p:cNvPr id="6151" name="Rectangle 7"/>
          <p:cNvSpPr>
            <a:spLocks noGrp="1" noChangeArrowheads="1"/>
          </p:cNvSpPr>
          <p:nvPr>
            <p:ph type="sldNum" sz="quarter" idx="5"/>
          </p:nvPr>
        </p:nvSpPr>
        <p:spPr bwMode="auto">
          <a:xfrm>
            <a:off x="3807950" y="9363786"/>
            <a:ext cx="2910350" cy="491414"/>
          </a:xfrm>
          <a:prstGeom prst="rect">
            <a:avLst/>
          </a:prstGeom>
          <a:noFill/>
          <a:ln w="9525">
            <a:noFill/>
            <a:miter lim="800000"/>
            <a:headEnd/>
            <a:tailEnd/>
          </a:ln>
        </p:spPr>
        <p:txBody>
          <a:bodyPr vert="horz" wrap="none" lIns="93152" tIns="46576" rIns="93152" bIns="46576" numCol="1" anchor="b" anchorCtr="0" compatLnSpc="1">
            <a:prstTxWarp prst="textNoShape">
              <a:avLst/>
            </a:prstTxWarp>
          </a:bodyPr>
          <a:lstStyle>
            <a:lvl1pPr algn="r" defTabSz="930275">
              <a:defRPr sz="1200">
                <a:latin typeface="Times New Roman" panose="02020603050405020304" pitchFamily="18" charset="0"/>
              </a:defRPr>
            </a:lvl1pPr>
          </a:lstStyle>
          <a:p>
            <a:fld id="{A2FE1CAB-13BE-4BE1-8D6B-122846198519}" type="slidenum">
              <a:rPr lang="en-US" altLang="en-US"/>
              <a:pPr/>
              <a:t>‹#›</a:t>
            </a:fld>
            <a:endParaRPr lang="en-US" altLang="en-US"/>
          </a:p>
        </p:txBody>
      </p:sp>
    </p:spTree>
    <p:extLst>
      <p:ext uri="{BB962C8B-B14F-4D97-AF65-F5344CB8AC3E}">
        <p14:creationId xmlns:p14="http://schemas.microsoft.com/office/powerpoint/2010/main" val="3940642451"/>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Times New Roman" charset="0"/>
        <a:ea typeface="MS PGothic" pitchFamily="34" charset="-128"/>
        <a:cs typeface="ＭＳ Ｐゴシック" charset="-128"/>
      </a:defRPr>
    </a:lvl1pPr>
    <a:lvl2pPr marL="457200" algn="l" rtl="0" eaLnBrk="0" fontAlgn="base" hangingPunct="0">
      <a:spcBef>
        <a:spcPct val="30000"/>
      </a:spcBef>
      <a:spcAft>
        <a:spcPct val="0"/>
      </a:spcAft>
      <a:defRPr sz="1200" kern="1200">
        <a:solidFill>
          <a:schemeClr val="tx1"/>
        </a:solidFill>
        <a:latin typeface="Times New Roman" charset="0"/>
        <a:ea typeface="MS PGothic" pitchFamily="34" charset="-128"/>
        <a:cs typeface="+mn-cs"/>
      </a:defRPr>
    </a:lvl2pPr>
    <a:lvl3pPr marL="914400" algn="l" rtl="0" eaLnBrk="0" fontAlgn="base" hangingPunct="0">
      <a:spcBef>
        <a:spcPct val="30000"/>
      </a:spcBef>
      <a:spcAft>
        <a:spcPct val="0"/>
      </a:spcAft>
      <a:defRPr sz="1200" kern="1200">
        <a:solidFill>
          <a:schemeClr val="tx1"/>
        </a:solidFill>
        <a:latin typeface="Times New Roman" charset="0"/>
        <a:ea typeface="MS PGothic" pitchFamily="34" charset="-128"/>
        <a:cs typeface="+mn-cs"/>
      </a:defRPr>
    </a:lvl3pPr>
    <a:lvl4pPr marL="1371600" algn="l" rtl="0" eaLnBrk="0" fontAlgn="base" hangingPunct="0">
      <a:spcBef>
        <a:spcPct val="30000"/>
      </a:spcBef>
      <a:spcAft>
        <a:spcPct val="0"/>
      </a:spcAft>
      <a:defRPr sz="1200" kern="1200">
        <a:solidFill>
          <a:schemeClr val="tx1"/>
        </a:solidFill>
        <a:latin typeface="Times New Roman" charset="0"/>
        <a:ea typeface="MS PGothic" pitchFamily="34" charset="-128"/>
        <a:cs typeface="+mn-cs"/>
      </a:defRPr>
    </a:lvl4pPr>
    <a:lvl5pPr marL="1828800" algn="l" rtl="0" eaLnBrk="0" fontAlgn="base" hangingPunct="0">
      <a:spcBef>
        <a:spcPct val="30000"/>
      </a:spcBef>
      <a:spcAft>
        <a:spcPct val="0"/>
      </a:spcAft>
      <a:defRPr sz="1200" kern="1200">
        <a:solidFill>
          <a:schemeClr val="tx1"/>
        </a:solidFill>
        <a:latin typeface="Times New Roman" charset="0"/>
        <a:ea typeface="MS PGothic" pitchFamily="34" charset="-128"/>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61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a:solidFill>
                  <a:schemeClr val="tx1"/>
                </a:solidFill>
                <a:latin typeface="Verdana" panose="020B0604030504040204" pitchFamily="34" charset="0"/>
                <a:ea typeface="MS PGothic" panose="020B0600070205080204" pitchFamily="34" charset="-128"/>
              </a:defRPr>
            </a:lvl1pPr>
            <a:lvl2pPr marL="742950" indent="-285750" defTabSz="928688">
              <a:defRPr>
                <a:solidFill>
                  <a:schemeClr val="tx1"/>
                </a:solidFill>
                <a:latin typeface="Verdana" panose="020B0604030504040204" pitchFamily="34" charset="0"/>
                <a:ea typeface="MS PGothic" panose="020B0600070205080204" pitchFamily="34" charset="-128"/>
              </a:defRPr>
            </a:lvl2pPr>
            <a:lvl3pPr marL="1143000" indent="-228600" defTabSz="928688">
              <a:defRPr>
                <a:solidFill>
                  <a:schemeClr val="tx1"/>
                </a:solidFill>
                <a:latin typeface="Verdana" panose="020B0604030504040204" pitchFamily="34" charset="0"/>
                <a:ea typeface="MS PGothic" panose="020B0600070205080204" pitchFamily="34" charset="-128"/>
              </a:defRPr>
            </a:lvl3pPr>
            <a:lvl4pPr marL="1600200" indent="-228600" defTabSz="928688">
              <a:defRPr>
                <a:solidFill>
                  <a:schemeClr val="tx1"/>
                </a:solidFill>
                <a:latin typeface="Verdana" panose="020B0604030504040204" pitchFamily="34" charset="0"/>
                <a:ea typeface="MS PGothic" panose="020B0600070205080204" pitchFamily="34" charset="-128"/>
              </a:defRPr>
            </a:lvl4pPr>
            <a:lvl5pPr marL="2057400" indent="-228600" defTabSz="928688">
              <a:defRPr>
                <a:solidFill>
                  <a:schemeClr val="tx1"/>
                </a:solidFill>
                <a:latin typeface="Verdana" panose="020B0604030504040204" pitchFamily="34" charset="0"/>
                <a:ea typeface="MS PGothic" panose="020B0600070205080204" pitchFamily="34" charset="-128"/>
              </a:defRPr>
            </a:lvl5pPr>
            <a:lvl6pPr marL="2514600" indent="-228600" defTabSz="928688"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28688"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28688"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28688"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A328B533-8857-427F-B5E5-DF256DF739B8}" type="slidenum">
              <a:rPr lang="en-US" altLang="en-US">
                <a:latin typeface="Times New Roman" panose="02020603050405020304" pitchFamily="18" charset="0"/>
              </a:rPr>
              <a:pPr/>
              <a:t>1</a:t>
            </a:fld>
            <a:endParaRPr lang="en-US" altLang="en-US">
              <a:latin typeface="Times New Roman" panose="02020603050405020304" pitchFamily="18" charset="0"/>
            </a:endParaRPr>
          </a:p>
        </p:txBody>
      </p:sp>
      <p:sp>
        <p:nvSpPr>
          <p:cNvPr id="68611" name="Rectangle 2"/>
          <p:cNvSpPr>
            <a:spLocks noGrp="1" noRot="1" noChangeAspect="1" noChangeArrowheads="1" noTextEdit="1"/>
          </p:cNvSpPr>
          <p:nvPr>
            <p:ph type="sldImg"/>
          </p:nvPr>
        </p:nvSpPr>
        <p:spPr>
          <a:ln/>
        </p:spPr>
        <p:txBody>
          <a:bodyPr/>
          <a:lstStyle/>
          <a:p>
            <a:endParaRPr lang="en-US"/>
          </a:p>
        </p:txBody>
      </p:sp>
      <p:sp>
        <p:nvSpPr>
          <p:cNvPr id="6861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14113232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58" name="Rectangle 2"/>
          <p:cNvSpPr>
            <a:spLocks noGrp="1" noRot="1" noChangeAspect="1" noChangeArrowheads="1" noTextEdit="1"/>
          </p:cNvSpPr>
          <p:nvPr>
            <p:ph type="sldImg"/>
          </p:nvPr>
        </p:nvSpPr>
        <p:spPr>
          <a:ln/>
        </p:spPr>
        <p:txBody>
          <a:bodyPr/>
          <a:lstStyle/>
          <a:p>
            <a:endParaRPr lang="en-US"/>
          </a:p>
        </p:txBody>
      </p:sp>
      <p:sp>
        <p:nvSpPr>
          <p:cNvPr id="70659"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latin typeface="Times New Roman" panose="02020603050405020304" pitchFamily="18" charset="0"/>
              </a:rPr>
              <a:t>While</a:t>
            </a:r>
            <a:r>
              <a:rPr lang="en-US" altLang="en-US" baseline="0" dirty="0">
                <a:latin typeface="Times New Roman" panose="02020603050405020304" pitchFamily="18" charset="0"/>
              </a:rPr>
              <a:t> executing different user programs at the same time, how does the OS take care of system tasks too?</a:t>
            </a:r>
          </a:p>
          <a:p>
            <a:r>
              <a:rPr lang="en-US" altLang="en-US" baseline="0" dirty="0">
                <a:latin typeface="Times New Roman" panose="02020603050405020304" pitchFamily="18" charset="0"/>
              </a:rPr>
              <a:t>OS processes and User processes</a:t>
            </a:r>
          </a:p>
        </p:txBody>
      </p:sp>
    </p:spTree>
    <p:extLst>
      <p:ext uri="{BB962C8B-B14F-4D97-AF65-F5344CB8AC3E}">
        <p14:creationId xmlns:p14="http://schemas.microsoft.com/office/powerpoint/2010/main" val="309128401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2FE1CAB-13BE-4BE1-8D6B-122846198519}" type="slidenum">
              <a:rPr lang="en-US" altLang="en-US" smtClean="0"/>
              <a:pPr/>
              <a:t>5</a:t>
            </a:fld>
            <a:endParaRPr lang="en-US" altLang="en-US"/>
          </a:p>
        </p:txBody>
      </p:sp>
    </p:spTree>
    <p:extLst>
      <p:ext uri="{BB962C8B-B14F-4D97-AF65-F5344CB8AC3E}">
        <p14:creationId xmlns:p14="http://schemas.microsoft.com/office/powerpoint/2010/main" val="145831615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who think 1 is false?</a:t>
            </a:r>
          </a:p>
          <a:p>
            <a:r>
              <a:rPr lang="en-US" dirty="0"/>
              <a:t>who think 2 is false?</a:t>
            </a:r>
          </a:p>
          <a:p>
            <a:r>
              <a:rPr lang="en-US" dirty="0"/>
              <a:t>who think 1</a:t>
            </a:r>
            <a:r>
              <a:rPr lang="en-US" baseline="0" dirty="0"/>
              <a:t> and 2 are false?</a:t>
            </a:r>
            <a:endParaRPr lang="en-US" dirty="0"/>
          </a:p>
          <a:p>
            <a:r>
              <a:rPr lang="en-US" dirty="0"/>
              <a:t>ask why</a:t>
            </a:r>
          </a:p>
          <a:p>
            <a:endParaRPr lang="en-US" dirty="0"/>
          </a:p>
        </p:txBody>
      </p:sp>
      <p:sp>
        <p:nvSpPr>
          <p:cNvPr id="4" name="Slide Number Placeholder 3"/>
          <p:cNvSpPr>
            <a:spLocks noGrp="1"/>
          </p:cNvSpPr>
          <p:nvPr>
            <p:ph type="sldNum" sz="quarter" idx="10"/>
          </p:nvPr>
        </p:nvSpPr>
        <p:spPr/>
        <p:txBody>
          <a:bodyPr/>
          <a:lstStyle/>
          <a:p>
            <a:fld id="{A2FE1CAB-13BE-4BE1-8D6B-122846198519}" type="slidenum">
              <a:rPr lang="en-US" altLang="en-US" smtClean="0"/>
              <a:pPr/>
              <a:t>6</a:t>
            </a:fld>
            <a:endParaRPr lang="en-US" altLang="en-US"/>
          </a:p>
        </p:txBody>
      </p:sp>
    </p:spTree>
    <p:extLst>
      <p:ext uri="{BB962C8B-B14F-4D97-AF65-F5344CB8AC3E}">
        <p14:creationId xmlns:p14="http://schemas.microsoft.com/office/powerpoint/2010/main" val="214573728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Let's assume for now one CPU / one core. No parallelism</a:t>
            </a:r>
          </a:p>
        </p:txBody>
      </p:sp>
      <p:sp>
        <p:nvSpPr>
          <p:cNvPr id="4" name="Slide Number Placeholder 3"/>
          <p:cNvSpPr>
            <a:spLocks noGrp="1"/>
          </p:cNvSpPr>
          <p:nvPr>
            <p:ph type="sldNum" sz="quarter" idx="5"/>
          </p:nvPr>
        </p:nvSpPr>
        <p:spPr/>
        <p:txBody>
          <a:bodyPr/>
          <a:lstStyle/>
          <a:p>
            <a:fld id="{A2FE1CAB-13BE-4BE1-8D6B-122846198519}" type="slidenum">
              <a:rPr lang="en-US" altLang="en-US" smtClean="0"/>
              <a:pPr/>
              <a:t>7</a:t>
            </a:fld>
            <a:endParaRPr lang="en-US" altLang="en-US"/>
          </a:p>
        </p:txBody>
      </p:sp>
    </p:spTree>
    <p:extLst>
      <p:ext uri="{BB962C8B-B14F-4D97-AF65-F5344CB8AC3E}">
        <p14:creationId xmlns:p14="http://schemas.microsoft.com/office/powerpoint/2010/main" val="367431563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Do not get scared! we will see this now</a:t>
            </a:r>
          </a:p>
          <a:p>
            <a:endParaRPr lang="en-US" dirty="0"/>
          </a:p>
          <a:p>
            <a:r>
              <a:rPr lang="en-US" dirty="0"/>
              <a:t>Actually, write down what PCB means</a:t>
            </a:r>
          </a:p>
          <a:p>
            <a:endParaRPr lang="en-US" dirty="0"/>
          </a:p>
          <a:p>
            <a:r>
              <a:rPr lang="en-US" dirty="0"/>
              <a:t>The OS is an oracle in the beginning, then I explain</a:t>
            </a:r>
          </a:p>
          <a:p>
            <a:endParaRPr lang="en-US" dirty="0"/>
          </a:p>
          <a:p>
            <a:r>
              <a:rPr lang="en-US" dirty="0"/>
              <a:t>The pasta example</a:t>
            </a:r>
          </a:p>
          <a:p>
            <a:endParaRPr lang="en-US" dirty="0"/>
          </a:p>
        </p:txBody>
      </p:sp>
      <p:sp>
        <p:nvSpPr>
          <p:cNvPr id="4" name="Slide Number Placeholder 3"/>
          <p:cNvSpPr>
            <a:spLocks noGrp="1"/>
          </p:cNvSpPr>
          <p:nvPr>
            <p:ph type="sldNum" sz="quarter" idx="10"/>
          </p:nvPr>
        </p:nvSpPr>
        <p:spPr/>
        <p:txBody>
          <a:bodyPr/>
          <a:lstStyle/>
          <a:p>
            <a:fld id="{BC4D42E7-0435-CF41-B6F0-4E01A14A5C1C}" type="slidenum">
              <a:rPr lang="en-US" smtClean="0"/>
              <a:t>8</a:t>
            </a:fld>
            <a:endParaRPr lang="en-US"/>
          </a:p>
        </p:txBody>
      </p:sp>
    </p:spTree>
    <p:extLst>
      <p:ext uri="{BB962C8B-B14F-4D97-AF65-F5344CB8AC3E}">
        <p14:creationId xmlns:p14="http://schemas.microsoft.com/office/powerpoint/2010/main" val="209064485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82" name="Rectangle 2"/>
          <p:cNvSpPr>
            <a:spLocks noGrp="1" noRot="1" noChangeAspect="1" noChangeArrowheads="1" noTextEdit="1"/>
          </p:cNvSpPr>
          <p:nvPr>
            <p:ph type="sldImg"/>
          </p:nvPr>
        </p:nvSpPr>
        <p:spPr>
          <a:ln/>
        </p:spPr>
        <p:txBody>
          <a:bodyPr/>
          <a:lstStyle/>
          <a:p>
            <a:endParaRPr lang="en-US"/>
          </a:p>
        </p:txBody>
      </p:sp>
      <p:sp>
        <p:nvSpPr>
          <p:cNvPr id="71683"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latin typeface="Times New Roman" panose="02020603050405020304" pitchFamily="18" charset="0"/>
              </a:rPr>
              <a:t>Example of process: mail client. Sequential</a:t>
            </a:r>
            <a:r>
              <a:rPr lang="en-US" altLang="en-US" baseline="0" dirty="0">
                <a:latin typeface="Times New Roman" panose="02020603050405020304" pitchFamily="18" charset="0"/>
              </a:rPr>
              <a:t> fashion: open, load interface, receive mail (connect …)</a:t>
            </a:r>
            <a:endParaRPr lang="en-US" altLang="en-US" dirty="0">
              <a:latin typeface="Times New Roman" panose="02020603050405020304" pitchFamily="18" charset="0"/>
            </a:endParaRPr>
          </a:p>
        </p:txBody>
      </p:sp>
    </p:spTree>
    <p:extLst>
      <p:ext uri="{BB962C8B-B14F-4D97-AF65-F5344CB8AC3E}">
        <p14:creationId xmlns:p14="http://schemas.microsoft.com/office/powerpoint/2010/main" val="11011075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730" name="Rectangle 2"/>
          <p:cNvSpPr>
            <a:spLocks noGrp="1" noRot="1" noChangeAspect="1" noChangeArrowheads="1" noTextEdit="1"/>
          </p:cNvSpPr>
          <p:nvPr>
            <p:ph type="sldImg"/>
          </p:nvPr>
        </p:nvSpPr>
        <p:spPr>
          <a:ln/>
        </p:spPr>
        <p:txBody>
          <a:bodyPr/>
          <a:lstStyle/>
          <a:p>
            <a:endParaRPr lang="en-US"/>
          </a:p>
        </p:txBody>
      </p:sp>
      <p:sp>
        <p:nvSpPr>
          <p:cNvPr id="7373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latin typeface="Times New Roman" panose="02020603050405020304" pitchFamily="18" charset="0"/>
              </a:rPr>
              <a:t>Clarify: Program counter (and other registers) are in the PCB</a:t>
            </a:r>
          </a:p>
          <a:p>
            <a:r>
              <a:rPr lang="en-US" altLang="en-US" dirty="0">
                <a:latin typeface="Times New Roman" panose="02020603050405020304" pitchFamily="18" charset="0"/>
              </a:rPr>
              <a:t>Stack: thread specific / LIFO. Heap: one-per-process,</a:t>
            </a:r>
            <a:r>
              <a:rPr lang="en-US" altLang="en-US" baseline="0" dirty="0">
                <a:latin typeface="Times New Roman" panose="02020603050405020304" pitchFamily="18" charset="0"/>
              </a:rPr>
              <a:t> no specific access pattern</a:t>
            </a:r>
          </a:p>
          <a:p>
            <a:endParaRPr lang="en-US" altLang="en-US" baseline="0" dirty="0">
              <a:latin typeface="Times New Roman" panose="02020603050405020304" pitchFamily="18" charset="0"/>
            </a:endParaRPr>
          </a:p>
          <a:p>
            <a:r>
              <a:rPr lang="en-US" b="1" dirty="0"/>
              <a:t>Stack vs. Heap</a:t>
            </a:r>
          </a:p>
          <a:p>
            <a:r>
              <a:rPr lang="en-US" b="1" dirty="0"/>
              <a:t>Stack</a:t>
            </a:r>
            <a:endParaRPr lang="en-US" dirty="0"/>
          </a:p>
          <a:p>
            <a:pPr lvl="1"/>
            <a:r>
              <a:rPr lang="en-US" dirty="0"/>
              <a:t>Used for </a:t>
            </a:r>
            <a:r>
              <a:rPr lang="en-US" i="1" dirty="0"/>
              <a:t>automatic storage</a:t>
            </a:r>
            <a:r>
              <a:rPr lang="en-US" dirty="0"/>
              <a:t>: function call frames, local variables, return addresses.</a:t>
            </a:r>
          </a:p>
          <a:p>
            <a:pPr lvl="1"/>
            <a:r>
              <a:rPr lang="en-US" dirty="0"/>
              <a:t>Managed implicitly by the compiler and CPU: grows and shrinks as functions are called and return.</a:t>
            </a:r>
          </a:p>
          <a:p>
            <a:pPr lvl="1"/>
            <a:r>
              <a:rPr lang="en-US" dirty="0"/>
              <a:t>Very fast, but limited in size.</a:t>
            </a:r>
          </a:p>
          <a:p>
            <a:r>
              <a:rPr lang="en-US" b="1" dirty="0"/>
              <a:t>Heap</a:t>
            </a:r>
            <a:endParaRPr lang="en-US" dirty="0"/>
          </a:p>
          <a:p>
            <a:pPr lvl="1"/>
            <a:r>
              <a:rPr lang="en-US" dirty="0"/>
              <a:t>Used for </a:t>
            </a:r>
            <a:r>
              <a:rPr lang="en-US" i="1" dirty="0"/>
              <a:t>dynamic storage</a:t>
            </a:r>
            <a:r>
              <a:rPr lang="en-US" dirty="0"/>
              <a:t>: objects and data whose lifetime is not tied to a function call.</a:t>
            </a:r>
          </a:p>
          <a:p>
            <a:pPr lvl="1"/>
            <a:r>
              <a:rPr lang="en-US" dirty="0"/>
              <a:t>Managed explicitly by the programmer (e.g. </a:t>
            </a:r>
            <a:r>
              <a:rPr lang="en-US" sz="1200" kern="1200" dirty="0">
                <a:solidFill>
                  <a:schemeClr val="tx1"/>
                </a:solidFill>
                <a:latin typeface="Times New Roman" charset="0"/>
                <a:ea typeface="MS PGothic" pitchFamily="34" charset="-128"/>
                <a:cs typeface="+mn-cs"/>
              </a:rPr>
              <a:t>malloc/free</a:t>
            </a:r>
            <a:r>
              <a:rPr lang="en-US" dirty="0"/>
              <a:t>, </a:t>
            </a:r>
            <a:r>
              <a:rPr lang="en-US" sz="1200" kern="1200" dirty="0">
                <a:solidFill>
                  <a:schemeClr val="tx1"/>
                </a:solidFill>
                <a:latin typeface="Times New Roman" charset="0"/>
                <a:ea typeface="MS PGothic" pitchFamily="34" charset="-128"/>
                <a:cs typeface="+mn-cs"/>
              </a:rPr>
              <a:t>new/delete</a:t>
            </a:r>
            <a:r>
              <a:rPr lang="en-US" dirty="0"/>
              <a:t>).</a:t>
            </a:r>
          </a:p>
          <a:p>
            <a:pPr lvl="1"/>
            <a:r>
              <a:rPr lang="en-US" dirty="0"/>
              <a:t>More flexible, but slower and more prone to fragmentation.</a:t>
            </a:r>
          </a:p>
          <a:p>
            <a:endParaRPr lang="en-US" altLang="en-US" dirty="0">
              <a:latin typeface="Times New Roman" panose="02020603050405020304" pitchFamily="18" charset="0"/>
            </a:endParaRPr>
          </a:p>
          <a:p>
            <a:r>
              <a:rPr lang="en-US" b="1" dirty="0"/>
              <a:t>Growing in Different Directions</a:t>
            </a:r>
          </a:p>
          <a:p>
            <a:r>
              <a:rPr lang="en-US" dirty="0"/>
              <a:t>In many system architectures, the </a:t>
            </a:r>
            <a:r>
              <a:rPr lang="en-US" b="1" dirty="0"/>
              <a:t>stack grows downward</a:t>
            </a:r>
            <a:r>
              <a:rPr lang="en-US" dirty="0"/>
              <a:t>: it starts at a high virtual memory address and grows toward lower addresses as more frames are pushed.</a:t>
            </a:r>
          </a:p>
          <a:p>
            <a:r>
              <a:rPr lang="en-US" dirty="0"/>
              <a:t>The </a:t>
            </a:r>
            <a:r>
              <a:rPr lang="en-US" b="1" dirty="0"/>
              <a:t>heap grows upward</a:t>
            </a:r>
            <a:r>
              <a:rPr lang="en-US" dirty="0"/>
              <a:t>: it starts at a low virtual memory address (just above the global data segment) and grows toward higher addresses as more memory is allocated.</a:t>
            </a:r>
          </a:p>
          <a:p>
            <a:br>
              <a:rPr lang="en-US" dirty="0"/>
            </a:br>
            <a:endParaRPr lang="en-US" dirty="0"/>
          </a:p>
          <a:p>
            <a:r>
              <a:rPr lang="en-US" b="1" dirty="0"/>
              <a:t>Why</a:t>
            </a:r>
          </a:p>
          <a:p>
            <a:r>
              <a:rPr lang="en-US" dirty="0"/>
              <a:t>This convention helps maximize the efficient use of the process’s address space.</a:t>
            </a:r>
          </a:p>
          <a:p>
            <a:r>
              <a:rPr lang="en-US" dirty="0"/>
              <a:t>By letting stack and heap grow toward each other, the OS can use the same contiguous region of virtual memory for both, reducing waste.</a:t>
            </a:r>
          </a:p>
          <a:p>
            <a:r>
              <a:rPr lang="en-US" dirty="0"/>
              <a:t>If the stack grows down from the top and the heap grows up from the bottom, they only collide if the process exhausts its address space, which is easy for the OS to detect.</a:t>
            </a:r>
          </a:p>
          <a:p>
            <a:endParaRPr lang="en-US" altLang="en-US" dirty="0">
              <a:latin typeface="Times New Roman" panose="02020603050405020304" pitchFamily="18" charset="0"/>
            </a:endParaRPr>
          </a:p>
          <a:p>
            <a:r>
              <a:rPr lang="en-US" dirty="0"/>
              <a:t>Yes. In C, </a:t>
            </a:r>
            <a:r>
              <a:rPr lang="en-US" b="1" dirty="0"/>
              <a:t>local variables with automatic storage duration</a:t>
            </a:r>
            <a:r>
              <a:rPr lang="en-US" dirty="0"/>
              <a:t> (the default) are stored on the </a:t>
            </a:r>
            <a:r>
              <a:rPr lang="en-US" b="1" dirty="0"/>
              <a:t>stack</a:t>
            </a:r>
            <a:r>
              <a:rPr lang="en-US" dirty="0"/>
              <a:t>.</a:t>
            </a:r>
          </a:p>
          <a:p>
            <a:r>
              <a:rPr lang="en-US" dirty="0"/>
              <a:t>Each time a function is called, the compiler generates code to allocate a </a:t>
            </a:r>
            <a:r>
              <a:rPr lang="en-US" b="1" dirty="0"/>
              <a:t>stack frame</a:t>
            </a:r>
            <a:r>
              <a:rPr lang="en-US" dirty="0"/>
              <a:t>.</a:t>
            </a:r>
          </a:p>
          <a:p>
            <a:r>
              <a:rPr lang="en-US" dirty="0"/>
              <a:t>That frame holds:</a:t>
            </a:r>
          </a:p>
          <a:p>
            <a:pPr lvl="1"/>
            <a:r>
              <a:rPr lang="en-US" dirty="0"/>
              <a:t>the function’s local variables,</a:t>
            </a:r>
          </a:p>
          <a:p>
            <a:pPr lvl="1"/>
            <a:r>
              <a:rPr lang="en-US" dirty="0"/>
              <a:t>bookkeeping info (like the return address and saved registers).</a:t>
            </a:r>
          </a:p>
          <a:p>
            <a:r>
              <a:rPr lang="en-US" dirty="0"/>
              <a:t>When the function returns, the frame is popped and those variables cease to exist.</a:t>
            </a:r>
          </a:p>
          <a:p>
            <a:br>
              <a:rPr lang="en-US" dirty="0"/>
            </a:br>
            <a:endParaRPr lang="en-US" dirty="0"/>
          </a:p>
          <a:p>
            <a:r>
              <a:rPr lang="en-US" b="1" dirty="0"/>
              <a:t>Exceptions</a:t>
            </a:r>
          </a:p>
          <a:p>
            <a:r>
              <a:rPr lang="en-US" dirty="0"/>
              <a:t>If you declare a local variable as </a:t>
            </a:r>
            <a:r>
              <a:rPr lang="en-US" sz="1200" b="1" kern="1200" dirty="0">
                <a:solidFill>
                  <a:schemeClr val="tx1"/>
                </a:solidFill>
                <a:latin typeface="Times New Roman" charset="0"/>
                <a:ea typeface="MS PGothic" pitchFamily="34" charset="-128"/>
                <a:cs typeface="ＭＳ Ｐゴシック" charset="-128"/>
              </a:rPr>
              <a:t>static</a:t>
            </a:r>
            <a:r>
              <a:rPr lang="en-US" dirty="0"/>
              <a:t>, it is </a:t>
            </a:r>
            <a:r>
              <a:rPr lang="en-US" i="1" dirty="0"/>
              <a:t>not</a:t>
            </a:r>
            <a:r>
              <a:rPr lang="en-US" dirty="0"/>
              <a:t> on the stack. Instead, it lives in the </a:t>
            </a:r>
            <a:r>
              <a:rPr lang="en-US" b="1" dirty="0"/>
              <a:t>data segment</a:t>
            </a:r>
            <a:r>
              <a:rPr lang="en-US" dirty="0"/>
              <a:t> and persists across function calls.</a:t>
            </a:r>
          </a:p>
          <a:p>
            <a:r>
              <a:rPr lang="en-US" dirty="0"/>
              <a:t>If you use </a:t>
            </a:r>
            <a:r>
              <a:rPr lang="en-US" sz="1200" b="1" kern="1200" dirty="0">
                <a:solidFill>
                  <a:schemeClr val="tx1"/>
                </a:solidFill>
                <a:latin typeface="Times New Roman" charset="0"/>
                <a:ea typeface="MS PGothic" pitchFamily="34" charset="-128"/>
                <a:cs typeface="ＭＳ Ｐゴシック" charset="-128"/>
              </a:rPr>
              <a:t>malloc</a:t>
            </a:r>
            <a:r>
              <a:rPr lang="en-US" b="1" dirty="0"/>
              <a:t>/</a:t>
            </a:r>
            <a:r>
              <a:rPr lang="en-US" sz="1200" b="1" kern="1200" dirty="0" err="1">
                <a:solidFill>
                  <a:schemeClr val="tx1"/>
                </a:solidFill>
                <a:latin typeface="Times New Roman" charset="0"/>
                <a:ea typeface="MS PGothic" pitchFamily="34" charset="-128"/>
                <a:cs typeface="ＭＳ Ｐゴシック" charset="-128"/>
              </a:rPr>
              <a:t>calloc</a:t>
            </a:r>
            <a:r>
              <a:rPr lang="en-US" b="1" dirty="0"/>
              <a:t>/</a:t>
            </a:r>
            <a:r>
              <a:rPr lang="en-US" sz="1200" b="1" kern="1200" dirty="0" err="1">
                <a:solidFill>
                  <a:schemeClr val="tx1"/>
                </a:solidFill>
                <a:latin typeface="Times New Roman" charset="0"/>
                <a:ea typeface="MS PGothic" pitchFamily="34" charset="-128"/>
                <a:cs typeface="ＭＳ Ｐゴシック" charset="-128"/>
              </a:rPr>
              <a:t>realloc</a:t>
            </a:r>
            <a:r>
              <a:rPr lang="en-US" dirty="0"/>
              <a:t>, the storage is allocated in the </a:t>
            </a:r>
            <a:r>
              <a:rPr lang="en-US" b="1" dirty="0"/>
              <a:t>heap</a:t>
            </a:r>
            <a:r>
              <a:rPr lang="en-US" dirty="0"/>
              <a:t>, not on the stack, even if the pointer to it is a local variable.</a:t>
            </a:r>
          </a:p>
          <a:p>
            <a:r>
              <a:rPr lang="en-US" dirty="0"/>
              <a:t>Compiler optimizations may sometimes keep variables in </a:t>
            </a:r>
            <a:r>
              <a:rPr lang="en-US" b="1" dirty="0"/>
              <a:t>CPU registers</a:t>
            </a:r>
            <a:r>
              <a:rPr lang="en-US" dirty="0"/>
              <a:t> instead of on the stack.</a:t>
            </a:r>
          </a:p>
        </p:txBody>
      </p:sp>
    </p:spTree>
    <p:extLst>
      <p:ext uri="{BB962C8B-B14F-4D97-AF65-F5344CB8AC3E}">
        <p14:creationId xmlns:p14="http://schemas.microsoft.com/office/powerpoint/2010/main" val="404899399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778" name="Rectangle 2"/>
          <p:cNvSpPr>
            <a:spLocks noGrp="1" noRot="1" noChangeAspect="1" noChangeArrowheads="1" noTextEdit="1"/>
          </p:cNvSpPr>
          <p:nvPr>
            <p:ph type="sldImg"/>
          </p:nvPr>
        </p:nvSpPr>
        <p:spPr>
          <a:ln/>
        </p:spPr>
        <p:txBody>
          <a:bodyPr/>
          <a:lstStyle/>
          <a:p>
            <a:endParaRPr lang="en-US"/>
          </a:p>
        </p:txBody>
      </p:sp>
      <p:sp>
        <p:nvSpPr>
          <p:cNvPr id="75779"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sz="1200" kern="1200" dirty="0">
                <a:solidFill>
                  <a:schemeClr val="tx1"/>
                </a:solidFill>
                <a:effectLst/>
                <a:latin typeface="Times New Roman" charset="0"/>
                <a:ea typeface="MS PGothic" pitchFamily="34" charset="-128"/>
                <a:cs typeface="ＭＳ Ｐゴシック" charset="-128"/>
              </a:rPr>
              <a:t>process-state models and names vary between operating systems</a:t>
            </a:r>
            <a:endParaRPr lang="en-US" altLang="en-US" dirty="0">
              <a:latin typeface="Times New Roman" panose="02020603050405020304" pitchFamily="18" charset="0"/>
            </a:endParaRPr>
          </a:p>
        </p:txBody>
      </p:sp>
    </p:spTree>
    <p:extLst>
      <p:ext uri="{BB962C8B-B14F-4D97-AF65-F5344CB8AC3E}">
        <p14:creationId xmlns:p14="http://schemas.microsoft.com/office/powerpoint/2010/main" val="197821999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018" name="Rectangle 2"/>
          <p:cNvSpPr>
            <a:spLocks noGrp="1" noRot="1" noChangeAspect="1" noChangeArrowheads="1" noTextEdit="1"/>
          </p:cNvSpPr>
          <p:nvPr>
            <p:ph type="sldImg"/>
          </p:nvPr>
        </p:nvSpPr>
        <p:spPr>
          <a:ln/>
        </p:spPr>
        <p:txBody>
          <a:bodyPr/>
          <a:lstStyle/>
          <a:p>
            <a:endParaRPr lang="en-US"/>
          </a:p>
        </p:txBody>
      </p:sp>
      <p:sp>
        <p:nvSpPr>
          <p:cNvPr id="86019"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8582865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802" name="Rectangle 2"/>
          <p:cNvSpPr>
            <a:spLocks noGrp="1" noRot="1" noChangeAspect="1" noChangeArrowheads="1" noTextEdit="1"/>
          </p:cNvSpPr>
          <p:nvPr>
            <p:ph type="sldImg"/>
          </p:nvPr>
        </p:nvSpPr>
        <p:spPr>
          <a:ln/>
        </p:spPr>
        <p:txBody>
          <a:bodyPr/>
          <a:lstStyle/>
          <a:p>
            <a:endParaRPr lang="en-US"/>
          </a:p>
        </p:txBody>
      </p:sp>
      <p:sp>
        <p:nvSpPr>
          <p:cNvPr id="76803"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latin typeface="Times New Roman" panose="02020603050405020304" pitchFamily="18" charset="0"/>
              </a:rPr>
              <a:t>PCB serves as the repository for any information</a:t>
            </a:r>
            <a:r>
              <a:rPr lang="en-US" altLang="en-US" baseline="0" dirty="0">
                <a:latin typeface="Times New Roman" panose="02020603050405020304" pitchFamily="18" charset="0"/>
              </a:rPr>
              <a:t> that may vary from process to process</a:t>
            </a:r>
            <a:endParaRPr lang="en-US" altLang="en-US" dirty="0">
              <a:latin typeface="Times New Roman" panose="02020603050405020304" pitchFamily="18" charset="0"/>
            </a:endParaRPr>
          </a:p>
        </p:txBody>
      </p:sp>
    </p:spTree>
    <p:extLst>
      <p:ext uri="{BB962C8B-B14F-4D97-AF65-F5344CB8AC3E}">
        <p14:creationId xmlns:p14="http://schemas.microsoft.com/office/powerpoint/2010/main" val="82693672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874" name="Rectangle 2"/>
          <p:cNvSpPr>
            <a:spLocks noGrp="1" noRot="1" noChangeAspect="1" noChangeArrowheads="1" noTextEdit="1"/>
          </p:cNvSpPr>
          <p:nvPr>
            <p:ph type="sldImg"/>
          </p:nvPr>
        </p:nvSpPr>
        <p:spPr>
          <a:ln/>
        </p:spPr>
        <p:txBody>
          <a:bodyPr/>
          <a:lstStyle/>
          <a:p>
            <a:endParaRPr lang="en-US"/>
          </a:p>
        </p:txBody>
      </p:sp>
      <p:sp>
        <p:nvSpPr>
          <p:cNvPr id="7987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dirty="0">
              <a:latin typeface="Times New Roman" panose="02020603050405020304" pitchFamily="18" charset="0"/>
            </a:endParaRPr>
          </a:p>
        </p:txBody>
      </p:sp>
    </p:spTree>
    <p:extLst>
      <p:ext uri="{BB962C8B-B14F-4D97-AF65-F5344CB8AC3E}">
        <p14:creationId xmlns:p14="http://schemas.microsoft.com/office/powerpoint/2010/main" val="196767000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8" name="Rectangle 2"/>
          <p:cNvSpPr>
            <a:spLocks noGrp="1" noRot="1" noChangeAspect="1" noChangeArrowheads="1" noTextEdit="1"/>
          </p:cNvSpPr>
          <p:nvPr>
            <p:ph type="sldImg"/>
          </p:nvPr>
        </p:nvSpPr>
        <p:spPr>
          <a:ln/>
        </p:spPr>
        <p:txBody>
          <a:bodyPr/>
          <a:lstStyle/>
          <a:p>
            <a:endParaRPr lang="en-US"/>
          </a:p>
        </p:txBody>
      </p:sp>
      <p:sp>
        <p:nvSpPr>
          <p:cNvPr id="80899"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latin typeface="Times New Roman" panose="02020603050405020304" pitchFamily="18" charset="0"/>
              </a:rPr>
              <a:t>Each device has its device queue – Here you can use</a:t>
            </a:r>
            <a:r>
              <a:rPr lang="en-US" altLang="en-US" baseline="0" dirty="0">
                <a:latin typeface="Times New Roman" panose="02020603050405020304" pitchFamily="18" charset="0"/>
              </a:rPr>
              <a:t> the blackboard</a:t>
            </a:r>
          </a:p>
          <a:p>
            <a:endParaRPr lang="en-US" altLang="en-US" baseline="0" dirty="0">
              <a:latin typeface="Times New Roman" panose="02020603050405020304" pitchFamily="18" charset="0"/>
            </a:endParaRPr>
          </a:p>
          <a:p>
            <a:r>
              <a:rPr lang="en-US" altLang="en-US" baseline="0" dirty="0">
                <a:latin typeface="Times New Roman" panose="02020603050405020304" pitchFamily="18" charset="0"/>
              </a:rPr>
              <a:t>bags example, instead of one big bag, many bags with similar processes</a:t>
            </a:r>
            <a:endParaRPr lang="en-US" altLang="en-US" dirty="0">
              <a:latin typeface="Times New Roman" panose="02020603050405020304" pitchFamily="18" charset="0"/>
            </a:endParaRPr>
          </a:p>
        </p:txBody>
      </p:sp>
    </p:spTree>
    <p:extLst>
      <p:ext uri="{BB962C8B-B14F-4D97-AF65-F5344CB8AC3E}">
        <p14:creationId xmlns:p14="http://schemas.microsoft.com/office/powerpoint/2010/main" val="21092840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22" name="Rectangle 2"/>
          <p:cNvSpPr>
            <a:spLocks noGrp="1" noRot="1" noChangeAspect="1" noChangeArrowheads="1" noTextEdit="1"/>
          </p:cNvSpPr>
          <p:nvPr>
            <p:ph type="sldImg"/>
          </p:nvPr>
        </p:nvSpPr>
        <p:spPr>
          <a:ln/>
        </p:spPr>
        <p:txBody>
          <a:bodyPr/>
          <a:lstStyle/>
          <a:p>
            <a:endParaRPr lang="en-US"/>
          </a:p>
        </p:txBody>
      </p:sp>
      <p:sp>
        <p:nvSpPr>
          <p:cNvPr id="81923"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latin typeface="Times New Roman" panose="02020603050405020304" pitchFamily="18" charset="0"/>
              </a:rPr>
              <a:t>Rectangular boxes represent queues.  2 types of queues: ready queue and</a:t>
            </a:r>
            <a:r>
              <a:rPr lang="en-US" altLang="en-US" baseline="0" dirty="0">
                <a:latin typeface="Times New Roman" panose="02020603050405020304" pitchFamily="18" charset="0"/>
              </a:rPr>
              <a:t> device queues</a:t>
            </a:r>
          </a:p>
          <a:p>
            <a:r>
              <a:rPr lang="en-US" altLang="en-US" baseline="0" dirty="0">
                <a:latin typeface="Times New Roman" panose="02020603050405020304" pitchFamily="18" charset="0"/>
              </a:rPr>
              <a:t>Circles represent resources serving the queues</a:t>
            </a:r>
          </a:p>
          <a:p>
            <a:r>
              <a:rPr lang="en-US" altLang="en-US" baseline="0" dirty="0">
                <a:latin typeface="Times New Roman" panose="02020603050405020304" pitchFamily="18" charset="0"/>
              </a:rPr>
              <a:t>Arrows represent flows</a:t>
            </a:r>
          </a:p>
          <a:p>
            <a:endParaRPr lang="en-US" altLang="en-US" dirty="0">
              <a:latin typeface="Times New Roman" panose="02020603050405020304" pitchFamily="18" charset="0"/>
            </a:endParaRPr>
          </a:p>
          <a:p>
            <a:r>
              <a:rPr lang="en-US" altLang="en-US" dirty="0">
                <a:latin typeface="Times New Roman" panose="02020603050405020304" pitchFamily="18" charset="0"/>
              </a:rPr>
              <a:t>If needed: clarify interrupt here can mean several things hardware/software signal / high-priority event</a:t>
            </a:r>
          </a:p>
        </p:txBody>
      </p:sp>
    </p:spTree>
    <p:extLst>
      <p:ext uri="{BB962C8B-B14F-4D97-AF65-F5344CB8AC3E}">
        <p14:creationId xmlns:p14="http://schemas.microsoft.com/office/powerpoint/2010/main" val="98922361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6" name="Rectangle 2"/>
          <p:cNvSpPr>
            <a:spLocks noGrp="1" noRot="1" noChangeAspect="1" noChangeArrowheads="1" noTextEdit="1"/>
          </p:cNvSpPr>
          <p:nvPr>
            <p:ph type="sldImg"/>
          </p:nvPr>
        </p:nvSpPr>
        <p:spPr>
          <a:ln/>
        </p:spPr>
        <p:txBody>
          <a:bodyPr/>
          <a:lstStyle/>
          <a:p>
            <a:endParaRPr lang="en-US"/>
          </a:p>
        </p:txBody>
      </p:sp>
      <p:sp>
        <p:nvSpPr>
          <p:cNvPr id="82947"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217607493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042" name="Rectangle 2"/>
          <p:cNvSpPr>
            <a:spLocks noGrp="1" noRot="1" noChangeAspect="1" noChangeArrowheads="1" noTextEdit="1"/>
          </p:cNvSpPr>
          <p:nvPr>
            <p:ph type="sldImg"/>
          </p:nvPr>
        </p:nvSpPr>
        <p:spPr>
          <a:ln/>
        </p:spPr>
        <p:txBody>
          <a:bodyPr/>
          <a:lstStyle/>
          <a:p>
            <a:endParaRPr lang="en-US"/>
          </a:p>
        </p:txBody>
      </p:sp>
      <p:sp>
        <p:nvSpPr>
          <p:cNvPr id="87043"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86621011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066" name="Rectangle 2"/>
          <p:cNvSpPr>
            <a:spLocks noGrp="1" noRot="1" noChangeAspect="1" noChangeArrowheads="1" noTextEdit="1"/>
          </p:cNvSpPr>
          <p:nvPr>
            <p:ph type="sldImg"/>
          </p:nvPr>
        </p:nvSpPr>
        <p:spPr>
          <a:ln/>
        </p:spPr>
        <p:txBody>
          <a:bodyPr/>
          <a:lstStyle/>
          <a:p>
            <a:endParaRPr lang="en-US"/>
          </a:p>
        </p:txBody>
      </p:sp>
      <p:sp>
        <p:nvSpPr>
          <p:cNvPr id="88067"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latin typeface="Times New Roman" panose="02020603050405020304" pitchFamily="18" charset="0"/>
              </a:rPr>
              <a:t>You double-click something for a process. Hence, there’s a process waiting for the double-click</a:t>
            </a:r>
          </a:p>
          <a:p>
            <a:r>
              <a:rPr lang="en-US" altLang="en-US" dirty="0">
                <a:latin typeface="Times New Roman" panose="02020603050405020304" pitchFamily="18" charset="0"/>
              </a:rPr>
              <a:t>Resources: memory, files, devices</a:t>
            </a:r>
          </a:p>
          <a:p>
            <a:r>
              <a:rPr lang="en-US" altLang="en-US" dirty="0">
                <a:latin typeface="Times New Roman" panose="02020603050405020304" pitchFamily="18" charset="0"/>
              </a:rPr>
              <a:t>Address</a:t>
            </a:r>
            <a:r>
              <a:rPr lang="en-US" altLang="en-US" baseline="0" dirty="0">
                <a:latin typeface="Times New Roman" panose="02020603050405020304" pitchFamily="18" charset="0"/>
              </a:rPr>
              <a:t> space: same program and data</a:t>
            </a:r>
            <a:endParaRPr lang="en-US" altLang="en-US" dirty="0">
              <a:latin typeface="Times New Roman" panose="02020603050405020304" pitchFamily="18" charset="0"/>
            </a:endParaRPr>
          </a:p>
        </p:txBody>
      </p:sp>
    </p:spTree>
    <p:extLst>
      <p:ext uri="{BB962C8B-B14F-4D97-AF65-F5344CB8AC3E}">
        <p14:creationId xmlns:p14="http://schemas.microsoft.com/office/powerpoint/2010/main" val="201415300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090" name="Rectangle 2"/>
          <p:cNvSpPr>
            <a:spLocks noGrp="1" noRot="1" noChangeAspect="1" noChangeArrowheads="1" noTextEdit="1"/>
          </p:cNvSpPr>
          <p:nvPr>
            <p:ph type="sldImg"/>
          </p:nvPr>
        </p:nvSpPr>
        <p:spPr>
          <a:ln/>
        </p:spPr>
        <p:txBody>
          <a:bodyPr/>
          <a:lstStyle/>
          <a:p>
            <a:endParaRPr lang="en-US"/>
          </a:p>
        </p:txBody>
      </p:sp>
      <p:sp>
        <p:nvSpPr>
          <p:cNvPr id="8909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232428096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sz="1200" kern="1200" dirty="0" err="1">
                <a:solidFill>
                  <a:schemeClr val="tx1"/>
                </a:solidFill>
                <a:effectLst/>
                <a:latin typeface="Times New Roman" charset="0"/>
                <a:ea typeface="MS PGothic" pitchFamily="34" charset="-128"/>
                <a:cs typeface="ＭＳ Ｐゴシック" charset="-128"/>
              </a:rPr>
              <a:t>pstree</a:t>
            </a:r>
            <a:r>
              <a:rPr lang="en-US" sz="1200" kern="1200" dirty="0">
                <a:solidFill>
                  <a:schemeClr val="tx1"/>
                </a:solidFill>
                <a:effectLst/>
                <a:latin typeface="Times New Roman" charset="0"/>
                <a:ea typeface="MS PGothic" pitchFamily="34" charset="-128"/>
                <a:cs typeface="ＭＳ Ｐゴシック" charset="-128"/>
              </a:rPr>
              <a:t> - display a tree of processes</a:t>
            </a:r>
          </a:p>
          <a:p>
            <a:endParaRPr lang="en-US" sz="1200" kern="1200" dirty="0">
              <a:solidFill>
                <a:schemeClr val="tx1"/>
              </a:solidFill>
              <a:effectLst/>
              <a:latin typeface="Times New Roman" charset="0"/>
              <a:ea typeface="MS PGothic" pitchFamily="34" charset="-128"/>
              <a:cs typeface="ＭＳ Ｐゴシック" charset="-128"/>
            </a:endParaRPr>
          </a:p>
          <a:p>
            <a:r>
              <a:rPr lang="en-US" sz="1200" b="1" kern="1200" dirty="0">
                <a:solidFill>
                  <a:schemeClr val="tx1"/>
                </a:solidFill>
                <a:effectLst/>
                <a:latin typeface="Times New Roman" charset="0"/>
                <a:ea typeface="MS PGothic" pitchFamily="34" charset="-128"/>
                <a:cs typeface="ＭＳ Ｐゴシック" charset="-128"/>
              </a:rPr>
              <a:t>-p</a:t>
            </a:r>
            <a:r>
              <a:rPr lang="en-US" sz="1200" kern="1200" dirty="0">
                <a:solidFill>
                  <a:schemeClr val="tx1"/>
                </a:solidFill>
                <a:effectLst/>
                <a:latin typeface="Times New Roman" charset="0"/>
                <a:ea typeface="MS PGothic" pitchFamily="34" charset="-128"/>
                <a:cs typeface="ＭＳ Ｐゴシック" charset="-128"/>
              </a:rPr>
              <a:t>     Show PIDs.  PIDs are shown as decimal numbers in parentheses after each process name.  </a:t>
            </a:r>
            <a:r>
              <a:rPr lang="en-US" sz="1200" b="1" kern="1200" dirty="0">
                <a:solidFill>
                  <a:schemeClr val="tx1"/>
                </a:solidFill>
                <a:effectLst/>
                <a:latin typeface="Times New Roman" charset="0"/>
                <a:ea typeface="MS PGothic" pitchFamily="34" charset="-128"/>
                <a:cs typeface="ＭＳ Ｐゴシック" charset="-128"/>
              </a:rPr>
              <a:t>-p</a:t>
            </a:r>
            <a:r>
              <a:rPr lang="en-US" sz="1200" kern="1200" dirty="0">
                <a:solidFill>
                  <a:schemeClr val="tx1"/>
                </a:solidFill>
                <a:effectLst/>
                <a:latin typeface="Times New Roman" charset="0"/>
                <a:ea typeface="MS PGothic" pitchFamily="34" charset="-128"/>
                <a:cs typeface="ＭＳ Ｐゴシック" charset="-128"/>
              </a:rPr>
              <a:t> implicitly disables compaction.</a:t>
            </a:r>
          </a:p>
          <a:p>
            <a:endParaRPr lang="en-US" sz="1200" kern="1200" dirty="0">
              <a:solidFill>
                <a:schemeClr val="tx1"/>
              </a:solidFill>
              <a:effectLst/>
              <a:latin typeface="Times New Roman" charset="0"/>
              <a:ea typeface="MS PGothic" pitchFamily="34" charset="-128"/>
              <a:cs typeface="ＭＳ Ｐゴシック" charset="-128"/>
            </a:endParaRPr>
          </a:p>
          <a:p>
            <a:r>
              <a:rPr lang="en-US" sz="1200" b="1" kern="1200" dirty="0">
                <a:solidFill>
                  <a:schemeClr val="tx1"/>
                </a:solidFill>
                <a:effectLst/>
                <a:latin typeface="Times New Roman" charset="0"/>
                <a:ea typeface="MS PGothic" pitchFamily="34" charset="-128"/>
                <a:cs typeface="ＭＳ Ｐゴシック" charset="-128"/>
              </a:rPr>
              <a:t>-l</a:t>
            </a:r>
            <a:r>
              <a:rPr lang="en-US" sz="1200" kern="1200" dirty="0">
                <a:solidFill>
                  <a:schemeClr val="tx1"/>
                </a:solidFill>
                <a:effectLst/>
                <a:latin typeface="Times New Roman" charset="0"/>
                <a:ea typeface="MS PGothic" pitchFamily="34" charset="-128"/>
                <a:cs typeface="ＭＳ Ｐゴシック" charset="-128"/>
              </a:rPr>
              <a:t>     Display  long  lines.  By default, lines are truncated to either the COLUMNS environment variable or the display width.  If  neither of these methods work, the default of 132 columns is used.</a:t>
            </a:r>
          </a:p>
          <a:p>
            <a:endParaRPr lang="en-US" sz="1200" kern="1200" dirty="0">
              <a:solidFill>
                <a:schemeClr val="tx1"/>
              </a:solidFill>
              <a:effectLst/>
              <a:latin typeface="Times New Roman" charset="0"/>
              <a:ea typeface="MS PGothic" pitchFamily="34" charset="-128"/>
              <a:cs typeface="ＭＳ Ｐゴシック" charset="-128"/>
            </a:endParaRPr>
          </a:p>
        </p:txBody>
      </p:sp>
      <p:sp>
        <p:nvSpPr>
          <p:cNvPr id="4" name="Slide Number Placeholder 3"/>
          <p:cNvSpPr>
            <a:spLocks noGrp="1"/>
          </p:cNvSpPr>
          <p:nvPr>
            <p:ph type="sldNum" sz="quarter" idx="10"/>
          </p:nvPr>
        </p:nvSpPr>
        <p:spPr/>
        <p:txBody>
          <a:bodyPr/>
          <a:lstStyle/>
          <a:p>
            <a:fld id="{A2FE1CAB-13BE-4BE1-8D6B-122846198519}" type="slidenum">
              <a:rPr lang="en-US" altLang="en-US" smtClean="0"/>
              <a:pPr/>
              <a:t>23</a:t>
            </a:fld>
            <a:endParaRPr lang="en-US" altLang="en-US"/>
          </a:p>
        </p:txBody>
      </p:sp>
    </p:spTree>
    <p:extLst>
      <p:ext uri="{BB962C8B-B14F-4D97-AF65-F5344CB8AC3E}">
        <p14:creationId xmlns:p14="http://schemas.microsoft.com/office/powerpoint/2010/main" val="333421274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14" name="Rectangle 2"/>
          <p:cNvSpPr>
            <a:spLocks noGrp="1" noRot="1" noChangeAspect="1" noChangeArrowheads="1" noTextEdit="1"/>
          </p:cNvSpPr>
          <p:nvPr>
            <p:ph type="sldImg"/>
          </p:nvPr>
        </p:nvSpPr>
        <p:spPr>
          <a:ln/>
        </p:spPr>
        <p:txBody>
          <a:bodyPr/>
          <a:lstStyle/>
          <a:p>
            <a:endParaRPr lang="en-US"/>
          </a:p>
        </p:txBody>
      </p:sp>
      <p:sp>
        <p:nvSpPr>
          <p:cNvPr id="9011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sz="1200" kern="1200" dirty="0">
                <a:solidFill>
                  <a:schemeClr val="tx1"/>
                </a:solidFill>
                <a:latin typeface="Times New Roman" charset="0"/>
                <a:ea typeface="MS PGothic" pitchFamily="34" charset="-128"/>
                <a:cs typeface="ＭＳ Ｐゴシック" charset="-128"/>
              </a:rPr>
              <a:t>fork()</a:t>
            </a:r>
            <a:r>
              <a:rPr lang="en-US" dirty="0"/>
              <a:t> gives the new process a complete, valid starting environment for free, while allowing that environment to be modified before another program is loaded.</a:t>
            </a:r>
          </a:p>
          <a:p>
            <a:endParaRPr lang="en-US" dirty="0"/>
          </a:p>
          <a:p>
            <a:r>
              <a:rPr lang="en-US" dirty="0"/>
              <a:t>A system call that directly creates a completely new process is also possible. Windows uses this style with </a:t>
            </a:r>
            <a:r>
              <a:rPr lang="en-US" sz="1200" kern="1200" dirty="0" err="1">
                <a:solidFill>
                  <a:schemeClr val="tx1"/>
                </a:solidFill>
                <a:latin typeface="Times New Roman" charset="0"/>
                <a:ea typeface="MS PGothic" pitchFamily="34" charset="-128"/>
                <a:cs typeface="ＭＳ Ｐゴシック" charset="-128"/>
              </a:rPr>
              <a:t>CreateProcess</a:t>
            </a:r>
            <a:r>
              <a:rPr lang="en-US" sz="1200" kern="1200" dirty="0">
                <a:solidFill>
                  <a:schemeClr val="tx1"/>
                </a:solidFill>
                <a:latin typeface="Times New Roman" charset="0"/>
                <a:ea typeface="MS PGothic" pitchFamily="34" charset="-128"/>
                <a:cs typeface="ＭＳ Ｐゴシック" charset="-128"/>
              </a:rPr>
              <a:t>()</a:t>
            </a:r>
            <a:r>
              <a:rPr lang="en-US" dirty="0"/>
              <a:t>, and POSIX provides </a:t>
            </a:r>
            <a:r>
              <a:rPr lang="en-US" sz="1200" kern="1200" dirty="0" err="1">
                <a:solidFill>
                  <a:schemeClr val="tx1"/>
                </a:solidFill>
                <a:latin typeface="Times New Roman" charset="0"/>
                <a:ea typeface="MS PGothic" pitchFamily="34" charset="-128"/>
                <a:cs typeface="ＭＳ Ｐゴシック" charset="-128"/>
              </a:rPr>
              <a:t>posix_spawn</a:t>
            </a:r>
            <a:r>
              <a:rPr lang="en-US" sz="1200" kern="1200" dirty="0">
                <a:solidFill>
                  <a:schemeClr val="tx1"/>
                </a:solidFill>
                <a:latin typeface="Times New Roman" charset="0"/>
                <a:ea typeface="MS PGothic" pitchFamily="34" charset="-128"/>
                <a:cs typeface="ＭＳ Ｐゴシック" charset="-128"/>
              </a:rPr>
              <a:t>()</a:t>
            </a:r>
            <a:r>
              <a:rPr lang="en-US" dirty="0"/>
              <a:t>. The </a:t>
            </a:r>
            <a:r>
              <a:rPr lang="en-US" sz="1200" kern="1200" dirty="0">
                <a:solidFill>
                  <a:schemeClr val="tx1"/>
                </a:solidFill>
                <a:latin typeface="Times New Roman" charset="0"/>
                <a:ea typeface="MS PGothic" pitchFamily="34" charset="-128"/>
                <a:cs typeface="ＭＳ Ｐゴシック" charset="-128"/>
              </a:rPr>
              <a:t>fork()</a:t>
            </a:r>
            <a:r>
              <a:rPr lang="en-US" dirty="0"/>
              <a:t>–</a:t>
            </a:r>
            <a:r>
              <a:rPr lang="en-US" sz="1200" kern="1200" dirty="0">
                <a:solidFill>
                  <a:schemeClr val="tx1"/>
                </a:solidFill>
                <a:latin typeface="Times New Roman" charset="0"/>
                <a:ea typeface="MS PGothic" pitchFamily="34" charset="-128"/>
                <a:cs typeface="ＭＳ Ｐゴシック" charset="-128"/>
              </a:rPr>
              <a:t>exec()</a:t>
            </a:r>
            <a:r>
              <a:rPr lang="en-US" dirty="0"/>
              <a:t> design is mainly the traditional UNIX approach, not a universal requirement.</a:t>
            </a:r>
          </a:p>
          <a:p>
            <a:endParaRPr lang="en-US" altLang="en-US" dirty="0">
              <a:latin typeface="Times New Roman" panose="02020603050405020304" pitchFamily="18" charset="0"/>
            </a:endParaRPr>
          </a:p>
          <a:p>
            <a:r>
              <a:rPr lang="en-US" altLang="en-US" dirty="0">
                <a:latin typeface="Times New Roman" panose="02020603050405020304" pitchFamily="18" charset="0"/>
              </a:rPr>
              <a:t>Think also about permissions / scope </a:t>
            </a:r>
            <a:r>
              <a:rPr lang="en-US" altLang="en-US" dirty="0">
                <a:latin typeface="Times New Roman" panose="02020603050405020304" pitchFamily="18" charset="0"/>
                <a:sym typeface="Wingdings" pitchFamily="2" charset="2"/>
              </a:rPr>
              <a:t> all this can be inherited from the parent process easily.</a:t>
            </a:r>
            <a:endParaRPr lang="en-US" altLang="en-US" dirty="0">
              <a:latin typeface="Times New Roman" panose="02020603050405020304" pitchFamily="18" charset="0"/>
            </a:endParaRPr>
          </a:p>
        </p:txBody>
      </p:sp>
    </p:spTree>
    <p:extLst>
      <p:ext uri="{BB962C8B-B14F-4D97-AF65-F5344CB8AC3E}">
        <p14:creationId xmlns:p14="http://schemas.microsoft.com/office/powerpoint/2010/main" val="259999182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138" name="Rectangle 2"/>
          <p:cNvSpPr>
            <a:spLocks noGrp="1" noRot="1" noChangeAspect="1" noChangeArrowheads="1" noTextEdit="1"/>
          </p:cNvSpPr>
          <p:nvPr>
            <p:ph type="sldImg"/>
          </p:nvPr>
        </p:nvSpPr>
        <p:spPr>
          <a:ln/>
        </p:spPr>
        <p:txBody>
          <a:bodyPr/>
          <a:lstStyle/>
          <a:p>
            <a:endParaRPr lang="en-US"/>
          </a:p>
        </p:txBody>
      </p:sp>
      <p:sp>
        <p:nvSpPr>
          <p:cNvPr id="91139"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latin typeface="Times New Roman" panose="02020603050405020304" pitchFamily="18" charset="0"/>
              </a:rPr>
              <a:t>Use the blackboard</a:t>
            </a:r>
          </a:p>
        </p:txBody>
      </p:sp>
    </p:spTree>
    <p:extLst>
      <p:ext uri="{BB962C8B-B14F-4D97-AF65-F5344CB8AC3E}">
        <p14:creationId xmlns:p14="http://schemas.microsoft.com/office/powerpoint/2010/main" val="336889691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186" name="Rectangle 2"/>
          <p:cNvSpPr>
            <a:spLocks noGrp="1" noRot="1" noChangeAspect="1" noChangeArrowheads="1" noTextEdit="1"/>
          </p:cNvSpPr>
          <p:nvPr>
            <p:ph type="sldImg"/>
          </p:nvPr>
        </p:nvSpPr>
        <p:spPr>
          <a:ln/>
        </p:spPr>
        <p:txBody>
          <a:bodyPr/>
          <a:lstStyle/>
          <a:p>
            <a:endParaRPr lang="en-US"/>
          </a:p>
        </p:txBody>
      </p:sp>
      <p:sp>
        <p:nvSpPr>
          <p:cNvPr id="93187"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235858730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4210" name="Rectangle 2"/>
          <p:cNvSpPr>
            <a:spLocks noGrp="1" noRot="1" noChangeAspect="1" noChangeArrowheads="1" noTextEdit="1"/>
          </p:cNvSpPr>
          <p:nvPr>
            <p:ph type="sldImg"/>
          </p:nvPr>
        </p:nvSpPr>
        <p:spPr>
          <a:ln/>
        </p:spPr>
        <p:txBody>
          <a:bodyPr/>
          <a:lstStyle/>
          <a:p>
            <a:endParaRPr lang="en-US"/>
          </a:p>
        </p:txBody>
      </p:sp>
      <p:sp>
        <p:nvSpPr>
          <p:cNvPr id="9421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latin typeface="Times New Roman" panose="02020603050405020304" pitchFamily="18" charset="0"/>
              </a:rPr>
              <a:t>orphan processes are assigned to </a:t>
            </a:r>
            <a:r>
              <a:rPr lang="en-US" altLang="en-US" dirty="0" err="1">
                <a:latin typeface="Times New Roman" panose="02020603050405020304" pitchFamily="18" charset="0"/>
              </a:rPr>
              <a:t>init</a:t>
            </a:r>
            <a:endParaRPr lang="en-US" altLang="en-US" dirty="0">
              <a:latin typeface="Times New Roman" panose="02020603050405020304" pitchFamily="18" charset="0"/>
            </a:endParaRPr>
          </a:p>
          <a:p>
            <a:endParaRPr lang="en-US" altLang="en-US" dirty="0">
              <a:latin typeface="Times New Roman" panose="02020603050405020304" pitchFamily="18" charset="0"/>
            </a:endParaRPr>
          </a:p>
          <a:p>
            <a:r>
              <a:rPr lang="en-US" altLang="en-US" dirty="0">
                <a:latin typeface="Times New Roman" panose="02020603050405020304" pitchFamily="18" charset="0"/>
              </a:rPr>
              <a:t>Take a breath here, next slide</a:t>
            </a:r>
            <a:r>
              <a:rPr lang="en-US" altLang="en-US" baseline="0" dirty="0">
                <a:latin typeface="Times New Roman" panose="02020603050405020304" pitchFamily="18" charset="0"/>
              </a:rPr>
              <a:t> is about having different processes running within the same program</a:t>
            </a:r>
          </a:p>
          <a:p>
            <a:endParaRPr lang="en-US" altLang="en-US" dirty="0">
              <a:latin typeface="Times New Roman" panose="02020603050405020304" pitchFamily="18" charset="0"/>
            </a:endParaRPr>
          </a:p>
          <a:p>
            <a:r>
              <a:rPr lang="en-US" b="1" dirty="0"/>
              <a:t>Key point:</a:t>
            </a:r>
            <a:r>
              <a:rPr lang="en-US" dirty="0"/>
              <a:t> Zombie = terminated process still waiting to be reaped. It’s the parent who is late with wait / reaping</a:t>
            </a:r>
          </a:p>
          <a:p>
            <a:r>
              <a:rPr lang="en-US" b="1" dirty="0"/>
              <a:t>Key point:</a:t>
            </a:r>
            <a:r>
              <a:rPr lang="en-US" dirty="0"/>
              <a:t> Orphan = still alive, but parent is gone.</a:t>
            </a:r>
            <a:endParaRPr lang="en-US" altLang="en-US" dirty="0">
              <a:latin typeface="Times New Roman" panose="02020603050405020304" pitchFamily="18" charset="0"/>
            </a:endParaRPr>
          </a:p>
        </p:txBody>
      </p:sp>
    </p:spTree>
    <p:extLst>
      <p:ext uri="{BB962C8B-B14F-4D97-AF65-F5344CB8AC3E}">
        <p14:creationId xmlns:p14="http://schemas.microsoft.com/office/powerpoint/2010/main" val="45854138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234" name="Rectangle 2"/>
          <p:cNvSpPr>
            <a:spLocks noGrp="1" noRot="1" noChangeAspect="1" noChangeArrowheads="1" noTextEdit="1"/>
          </p:cNvSpPr>
          <p:nvPr>
            <p:ph type="sldImg"/>
          </p:nvPr>
        </p:nvSpPr>
        <p:spPr>
          <a:ln/>
        </p:spPr>
        <p:txBody>
          <a:bodyPr/>
          <a:lstStyle/>
          <a:p>
            <a:endParaRPr lang="en-US"/>
          </a:p>
        </p:txBody>
      </p:sp>
      <p:sp>
        <p:nvSpPr>
          <p:cNvPr id="952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183199423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Now, if two processes are distinct entities, how do they communicate?</a:t>
            </a:r>
          </a:p>
        </p:txBody>
      </p:sp>
      <p:sp>
        <p:nvSpPr>
          <p:cNvPr id="4" name="Slide Number Placeholder 3"/>
          <p:cNvSpPr>
            <a:spLocks noGrp="1"/>
          </p:cNvSpPr>
          <p:nvPr>
            <p:ph type="sldNum" sz="quarter" idx="5"/>
          </p:nvPr>
        </p:nvSpPr>
        <p:spPr/>
        <p:txBody>
          <a:bodyPr/>
          <a:lstStyle/>
          <a:p>
            <a:fld id="{A2FE1CAB-13BE-4BE1-8D6B-122846198519}" type="slidenum">
              <a:rPr lang="en-US" altLang="en-US" smtClean="0"/>
              <a:pPr/>
              <a:t>29</a:t>
            </a:fld>
            <a:endParaRPr lang="en-US" altLang="en-US"/>
          </a:p>
        </p:txBody>
      </p:sp>
    </p:spTree>
    <p:extLst>
      <p:ext uri="{BB962C8B-B14F-4D97-AF65-F5344CB8AC3E}">
        <p14:creationId xmlns:p14="http://schemas.microsoft.com/office/powerpoint/2010/main" val="339694493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258" name="Rectangle 2"/>
          <p:cNvSpPr>
            <a:spLocks noGrp="1" noRot="1" noChangeAspect="1" noChangeArrowheads="1" noTextEdit="1"/>
          </p:cNvSpPr>
          <p:nvPr>
            <p:ph type="sldImg"/>
          </p:nvPr>
        </p:nvSpPr>
        <p:spPr>
          <a:ln/>
        </p:spPr>
        <p:txBody>
          <a:bodyPr/>
          <a:lstStyle/>
          <a:p>
            <a:endParaRPr lang="en-US"/>
          </a:p>
        </p:txBody>
      </p:sp>
      <p:sp>
        <p:nvSpPr>
          <p:cNvPr id="96259"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latin typeface="Times New Roman" panose="02020603050405020304" pitchFamily="18" charset="0"/>
              </a:rPr>
              <a:t>Information sharing: same file accessed by multiple processes</a:t>
            </a:r>
          </a:p>
          <a:p>
            <a:r>
              <a:rPr lang="en-US" altLang="en-US" dirty="0">
                <a:latin typeface="Times New Roman" panose="02020603050405020304" pitchFamily="18" charset="0"/>
              </a:rPr>
              <a:t>Modularity:</a:t>
            </a:r>
            <a:r>
              <a:rPr lang="en-US" altLang="en-US" baseline="0" dirty="0">
                <a:latin typeface="Times New Roman" panose="02020603050405020304" pitchFamily="18" charset="0"/>
              </a:rPr>
              <a:t> design system in modular fashion</a:t>
            </a:r>
          </a:p>
          <a:p>
            <a:endParaRPr lang="en-US" altLang="en-US" baseline="0" dirty="0">
              <a:latin typeface="Times New Roman" panose="02020603050405020304" pitchFamily="18" charset="0"/>
            </a:endParaRPr>
          </a:p>
          <a:p>
            <a:r>
              <a:rPr lang="en-US" altLang="en-US" baseline="0" dirty="0">
                <a:latin typeface="Times New Roman" panose="02020603050405020304" pitchFamily="18" charset="0"/>
              </a:rPr>
              <a:t>MP better for smaller amounts of data, also better in a distributed system</a:t>
            </a:r>
          </a:p>
          <a:p>
            <a:r>
              <a:rPr lang="en-US" altLang="en-US" baseline="0" dirty="0">
                <a:latin typeface="Times New Roman" panose="02020603050405020304" pitchFamily="18" charset="0"/>
              </a:rPr>
              <a:t>SM is faster because less/fewer system calls, just access to the memory</a:t>
            </a:r>
            <a:endParaRPr lang="en-US" altLang="en-US" dirty="0">
              <a:latin typeface="Times New Roman" panose="02020603050405020304" pitchFamily="18" charset="0"/>
            </a:endParaRPr>
          </a:p>
        </p:txBody>
      </p:sp>
    </p:spTree>
    <p:extLst>
      <p:ext uri="{BB962C8B-B14F-4D97-AF65-F5344CB8AC3E}">
        <p14:creationId xmlns:p14="http://schemas.microsoft.com/office/powerpoint/2010/main" val="332077744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282" name="Rectangle 2"/>
          <p:cNvSpPr>
            <a:spLocks noGrp="1" noRot="1" noChangeAspect="1" noChangeArrowheads="1" noTextEdit="1"/>
          </p:cNvSpPr>
          <p:nvPr>
            <p:ph type="sldImg"/>
          </p:nvPr>
        </p:nvSpPr>
        <p:spPr>
          <a:ln/>
        </p:spPr>
        <p:txBody>
          <a:bodyPr/>
          <a:lstStyle/>
          <a:p>
            <a:endParaRPr lang="en-US"/>
          </a:p>
        </p:txBody>
      </p:sp>
      <p:sp>
        <p:nvSpPr>
          <p:cNvPr id="97283"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224815474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330" name="Rectangle 2"/>
          <p:cNvSpPr>
            <a:spLocks noGrp="1" noRot="1" noChangeAspect="1" noChangeArrowheads="1" noTextEdit="1"/>
          </p:cNvSpPr>
          <p:nvPr>
            <p:ph type="sldImg"/>
          </p:nvPr>
        </p:nvSpPr>
        <p:spPr>
          <a:ln/>
        </p:spPr>
        <p:txBody>
          <a:bodyPr/>
          <a:lstStyle/>
          <a:p>
            <a:endParaRPr lang="en-US"/>
          </a:p>
        </p:txBody>
      </p:sp>
      <p:sp>
        <p:nvSpPr>
          <p:cNvPr id="9933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dirty="0">
              <a:latin typeface="Times New Roman" panose="02020603050405020304" pitchFamily="18" charset="0"/>
            </a:endParaRPr>
          </a:p>
        </p:txBody>
      </p:sp>
    </p:spTree>
    <p:extLst>
      <p:ext uri="{BB962C8B-B14F-4D97-AF65-F5344CB8AC3E}">
        <p14:creationId xmlns:p14="http://schemas.microsoft.com/office/powerpoint/2010/main" val="222570069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426" name="Rectangle 2"/>
          <p:cNvSpPr>
            <a:spLocks noGrp="1" noRot="1" noChangeAspect="1" noChangeArrowheads="1" noTextEdit="1"/>
          </p:cNvSpPr>
          <p:nvPr>
            <p:ph type="sldImg"/>
          </p:nvPr>
        </p:nvSpPr>
        <p:spPr>
          <a:ln/>
        </p:spPr>
        <p:txBody>
          <a:bodyPr/>
          <a:lstStyle/>
          <a:p>
            <a:endParaRPr lang="en-US"/>
          </a:p>
        </p:txBody>
      </p:sp>
      <p:sp>
        <p:nvSpPr>
          <p:cNvPr id="103427"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latin typeface="Times New Roman" panose="02020603050405020304" pitchFamily="18" charset="0"/>
              </a:rPr>
              <a:t>Processes need to agre</a:t>
            </a:r>
            <a:r>
              <a:rPr lang="en-US" altLang="en-US" baseline="0" dirty="0">
                <a:latin typeface="Times New Roman" panose="02020603050405020304" pitchFamily="18" charset="0"/>
              </a:rPr>
              <a:t>e on sharing memory</a:t>
            </a:r>
          </a:p>
          <a:p>
            <a:endParaRPr lang="en-US" altLang="en-US" baseline="0" dirty="0">
              <a:latin typeface="Times New Roman" panose="02020603050405020304" pitchFamily="18" charset="0"/>
            </a:endParaRPr>
          </a:p>
          <a:p>
            <a:r>
              <a:rPr lang="en-US" altLang="en-US" baseline="0" dirty="0">
                <a:latin typeface="Times New Roman" panose="02020603050405020304" pitchFamily="18" charset="0"/>
              </a:rPr>
              <a:t>Here drawing if needed.</a:t>
            </a:r>
            <a:endParaRPr lang="en-US" altLang="en-US" dirty="0">
              <a:latin typeface="Times New Roman" panose="02020603050405020304" pitchFamily="18" charset="0"/>
            </a:endParaRPr>
          </a:p>
        </p:txBody>
      </p:sp>
    </p:spTree>
    <p:extLst>
      <p:ext uri="{BB962C8B-B14F-4D97-AF65-F5344CB8AC3E}">
        <p14:creationId xmlns:p14="http://schemas.microsoft.com/office/powerpoint/2010/main" val="167546822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474" name="Rectangle 2"/>
          <p:cNvSpPr>
            <a:spLocks noGrp="1" noRot="1" noChangeAspect="1" noChangeArrowheads="1" noTextEdit="1"/>
          </p:cNvSpPr>
          <p:nvPr>
            <p:ph type="sldImg"/>
          </p:nvPr>
        </p:nvSpPr>
        <p:spPr>
          <a:ln/>
        </p:spPr>
        <p:txBody>
          <a:bodyPr/>
          <a:lstStyle/>
          <a:p>
            <a:endParaRPr lang="en-US"/>
          </a:p>
        </p:txBody>
      </p:sp>
      <p:sp>
        <p:nvSpPr>
          <p:cNvPr id="10547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latin typeface="Times New Roman" panose="02020603050405020304" pitchFamily="18" charset="0"/>
              </a:rPr>
              <a:t>discuss the logical implementation, not the physical one</a:t>
            </a:r>
          </a:p>
        </p:txBody>
      </p:sp>
    </p:spTree>
    <p:extLst>
      <p:ext uri="{BB962C8B-B14F-4D97-AF65-F5344CB8AC3E}">
        <p14:creationId xmlns:p14="http://schemas.microsoft.com/office/powerpoint/2010/main" val="316061581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498" name="Rectangle 2"/>
          <p:cNvSpPr>
            <a:spLocks noGrp="1" noRot="1" noChangeAspect="1" noChangeArrowheads="1" noTextEdit="1"/>
          </p:cNvSpPr>
          <p:nvPr>
            <p:ph type="sldImg"/>
          </p:nvPr>
        </p:nvSpPr>
        <p:spPr>
          <a:ln/>
        </p:spPr>
        <p:txBody>
          <a:bodyPr/>
          <a:lstStyle/>
          <a:p>
            <a:endParaRPr lang="en-US"/>
          </a:p>
        </p:txBody>
      </p:sp>
      <p:sp>
        <p:nvSpPr>
          <p:cNvPr id="106499"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latin typeface="Times New Roman" panose="02020603050405020304" pitchFamily="18" charset="0"/>
              </a:rPr>
              <a:t>Issues / challenges related to the logical implementation of message passing systems (discussion)</a:t>
            </a:r>
          </a:p>
        </p:txBody>
      </p:sp>
    </p:spTree>
    <p:extLst>
      <p:ext uri="{BB962C8B-B14F-4D97-AF65-F5344CB8AC3E}">
        <p14:creationId xmlns:p14="http://schemas.microsoft.com/office/powerpoint/2010/main" val="230423907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498" name="Rectangle 2"/>
          <p:cNvSpPr>
            <a:spLocks noGrp="1" noRot="1" noChangeAspect="1" noChangeArrowheads="1" noTextEdit="1"/>
          </p:cNvSpPr>
          <p:nvPr>
            <p:ph type="sldImg"/>
          </p:nvPr>
        </p:nvSpPr>
        <p:spPr>
          <a:ln/>
        </p:spPr>
        <p:txBody>
          <a:bodyPr/>
          <a:lstStyle/>
          <a:p>
            <a:endParaRPr lang="en-US"/>
          </a:p>
        </p:txBody>
      </p:sp>
      <p:sp>
        <p:nvSpPr>
          <p:cNvPr id="106499"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230423907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522" name="Rectangle 2"/>
          <p:cNvSpPr>
            <a:spLocks noGrp="1" noRot="1" noChangeAspect="1" noChangeArrowheads="1" noTextEdit="1"/>
          </p:cNvSpPr>
          <p:nvPr>
            <p:ph type="sldImg"/>
          </p:nvPr>
        </p:nvSpPr>
        <p:spPr>
          <a:ln/>
        </p:spPr>
        <p:txBody>
          <a:bodyPr/>
          <a:lstStyle/>
          <a:p>
            <a:endParaRPr lang="en-US"/>
          </a:p>
        </p:txBody>
      </p:sp>
      <p:sp>
        <p:nvSpPr>
          <p:cNvPr id="107523"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328744680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546" name="Rectangle 2"/>
          <p:cNvSpPr>
            <a:spLocks noGrp="1" noRot="1" noChangeAspect="1" noChangeArrowheads="1" noTextEdit="1"/>
          </p:cNvSpPr>
          <p:nvPr>
            <p:ph type="sldImg"/>
          </p:nvPr>
        </p:nvSpPr>
        <p:spPr>
          <a:ln/>
        </p:spPr>
        <p:txBody>
          <a:bodyPr/>
          <a:lstStyle/>
          <a:p>
            <a:endParaRPr lang="en-US"/>
          </a:p>
        </p:txBody>
      </p:sp>
      <p:sp>
        <p:nvSpPr>
          <p:cNvPr id="108547"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217542641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570" name="Rectangle 2"/>
          <p:cNvSpPr>
            <a:spLocks noGrp="1" noRot="1" noChangeAspect="1" noChangeArrowheads="1" noTextEdit="1"/>
          </p:cNvSpPr>
          <p:nvPr>
            <p:ph type="sldImg"/>
          </p:nvPr>
        </p:nvSpPr>
        <p:spPr>
          <a:ln/>
        </p:spPr>
        <p:txBody>
          <a:bodyPr/>
          <a:lstStyle/>
          <a:p>
            <a:endParaRPr lang="en-US"/>
          </a:p>
        </p:txBody>
      </p:sp>
      <p:sp>
        <p:nvSpPr>
          <p:cNvPr id="10957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76883995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498" name="Rectangle 2"/>
          <p:cNvSpPr>
            <a:spLocks noGrp="1" noRot="1" noChangeAspect="1" noChangeArrowheads="1" noTextEdit="1"/>
          </p:cNvSpPr>
          <p:nvPr>
            <p:ph type="sldImg"/>
          </p:nvPr>
        </p:nvSpPr>
        <p:spPr>
          <a:ln/>
        </p:spPr>
        <p:txBody>
          <a:bodyPr/>
          <a:lstStyle/>
          <a:p>
            <a:endParaRPr lang="en-US"/>
          </a:p>
        </p:txBody>
      </p:sp>
      <p:sp>
        <p:nvSpPr>
          <p:cNvPr id="106499"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230423907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618" name="Rectangle 2"/>
          <p:cNvSpPr>
            <a:spLocks noGrp="1" noRot="1" noChangeAspect="1" noChangeArrowheads="1" noTextEdit="1"/>
          </p:cNvSpPr>
          <p:nvPr>
            <p:ph type="sldImg"/>
          </p:nvPr>
        </p:nvSpPr>
        <p:spPr>
          <a:ln/>
        </p:spPr>
        <p:txBody>
          <a:bodyPr/>
          <a:lstStyle/>
          <a:p>
            <a:endParaRPr lang="en-US"/>
          </a:p>
        </p:txBody>
      </p:sp>
      <p:sp>
        <p:nvSpPr>
          <p:cNvPr id="111619"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292545692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42" name="Rectangle 2"/>
          <p:cNvSpPr>
            <a:spLocks noGrp="1" noRot="1" noChangeAspect="1" noChangeArrowheads="1" noTextEdit="1"/>
          </p:cNvSpPr>
          <p:nvPr>
            <p:ph type="sldImg"/>
          </p:nvPr>
        </p:nvSpPr>
        <p:spPr>
          <a:ln/>
        </p:spPr>
        <p:txBody>
          <a:bodyPr/>
          <a:lstStyle/>
          <a:p>
            <a:endParaRPr lang="en-US"/>
          </a:p>
        </p:txBody>
      </p:sp>
      <p:sp>
        <p:nvSpPr>
          <p:cNvPr id="112643"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342826964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498" name="Rectangle 2"/>
          <p:cNvSpPr>
            <a:spLocks noGrp="1" noRot="1" noChangeAspect="1" noChangeArrowheads="1" noTextEdit="1"/>
          </p:cNvSpPr>
          <p:nvPr>
            <p:ph type="sldImg"/>
          </p:nvPr>
        </p:nvSpPr>
        <p:spPr>
          <a:ln/>
        </p:spPr>
        <p:txBody>
          <a:bodyPr/>
          <a:lstStyle/>
          <a:p>
            <a:endParaRPr lang="en-US"/>
          </a:p>
        </p:txBody>
      </p:sp>
      <p:sp>
        <p:nvSpPr>
          <p:cNvPr id="106499"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230423907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666" name="Rectangle 2"/>
          <p:cNvSpPr>
            <a:spLocks noGrp="1" noRot="1" noChangeAspect="1" noChangeArrowheads="1" noTextEdit="1"/>
          </p:cNvSpPr>
          <p:nvPr>
            <p:ph type="sldImg"/>
          </p:nvPr>
        </p:nvSpPr>
        <p:spPr>
          <a:ln/>
        </p:spPr>
        <p:txBody>
          <a:bodyPr/>
          <a:lstStyle/>
          <a:p>
            <a:endParaRPr lang="en-US"/>
          </a:p>
        </p:txBody>
      </p:sp>
      <p:sp>
        <p:nvSpPr>
          <p:cNvPr id="113667"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135046373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786" name="Rectangle 2"/>
          <p:cNvSpPr>
            <a:spLocks noGrp="1" noRot="1" noChangeAspect="1" noChangeArrowheads="1" noTextEdit="1"/>
          </p:cNvSpPr>
          <p:nvPr>
            <p:ph type="sldImg"/>
          </p:nvPr>
        </p:nvSpPr>
        <p:spPr>
          <a:ln/>
        </p:spPr>
        <p:txBody>
          <a:bodyPr/>
          <a:lstStyle/>
          <a:p>
            <a:endParaRPr lang="en-US"/>
          </a:p>
        </p:txBody>
      </p:sp>
      <p:sp>
        <p:nvSpPr>
          <p:cNvPr id="118787"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141598637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810" name="Rectangle 2"/>
          <p:cNvSpPr>
            <a:spLocks noGrp="1" noRot="1" noChangeAspect="1" noChangeArrowheads="1" noTextEdit="1"/>
          </p:cNvSpPr>
          <p:nvPr>
            <p:ph type="sldImg"/>
          </p:nvPr>
        </p:nvSpPr>
        <p:spPr>
          <a:ln/>
        </p:spPr>
        <p:txBody>
          <a:bodyPr/>
          <a:lstStyle/>
          <a:p>
            <a:endParaRPr lang="en-US"/>
          </a:p>
        </p:txBody>
      </p:sp>
      <p:sp>
        <p:nvSpPr>
          <p:cNvPr id="11981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latin typeface="Times New Roman" panose="02020603050405020304" pitchFamily="18" charset="0"/>
              </a:rPr>
              <a:t>Server publishes connection-port for all processes</a:t>
            </a:r>
          </a:p>
          <a:p>
            <a:r>
              <a:rPr lang="en-US" altLang="en-US" dirty="0">
                <a:latin typeface="Times New Roman" panose="02020603050405020304" pitchFamily="18" charset="0"/>
              </a:rPr>
              <a:t>client sends connection request</a:t>
            </a:r>
          </a:p>
          <a:p>
            <a:r>
              <a:rPr lang="en-US" altLang="en-US" dirty="0">
                <a:latin typeface="Times New Roman" panose="02020603050405020304" pitchFamily="18" charset="0"/>
              </a:rPr>
              <a:t>Server creates channel (two</a:t>
            </a:r>
            <a:r>
              <a:rPr lang="en-US" altLang="en-US" baseline="0" dirty="0">
                <a:latin typeface="Times New Roman" panose="02020603050405020304" pitchFamily="18" charset="0"/>
              </a:rPr>
              <a:t> private communication ports) and shares it with the client.</a:t>
            </a:r>
          </a:p>
          <a:p>
            <a:r>
              <a:rPr lang="en-US" altLang="en-US" baseline="0" dirty="0">
                <a:latin typeface="Times New Roman" panose="02020603050405020304" pitchFamily="18" charset="0"/>
              </a:rPr>
              <a:t>Mixed communication, also section object for larger messages</a:t>
            </a:r>
            <a:endParaRPr lang="en-US" altLang="en-US" dirty="0">
              <a:latin typeface="Times New Roman" panose="02020603050405020304" pitchFamily="18" charset="0"/>
            </a:endParaRPr>
          </a:p>
        </p:txBody>
      </p:sp>
    </p:spTree>
    <p:extLst>
      <p:ext uri="{BB962C8B-B14F-4D97-AF65-F5344CB8AC3E}">
        <p14:creationId xmlns:p14="http://schemas.microsoft.com/office/powerpoint/2010/main" val="158448999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8002" name="Rectangle 2"/>
          <p:cNvSpPr>
            <a:spLocks noGrp="1" noRot="1" noChangeAspect="1" noChangeArrowheads="1" noTextEdit="1"/>
          </p:cNvSpPr>
          <p:nvPr>
            <p:ph type="sldImg"/>
          </p:nvPr>
        </p:nvSpPr>
        <p:spPr>
          <a:ln/>
        </p:spPr>
        <p:txBody>
          <a:bodyPr/>
          <a:lstStyle/>
          <a:p>
            <a:endParaRPr lang="en-US"/>
          </a:p>
        </p:txBody>
      </p:sp>
      <p:sp>
        <p:nvSpPr>
          <p:cNvPr id="128003"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latin typeface="Times New Roman" pitchFamily="18" charset="0"/>
              </a:rPr>
              <a:t>half duplex data traverses one direction at time, full duplex both</a:t>
            </a:r>
          </a:p>
        </p:txBody>
      </p:sp>
    </p:spTree>
    <p:extLst>
      <p:ext uri="{BB962C8B-B14F-4D97-AF65-F5344CB8AC3E}">
        <p14:creationId xmlns:p14="http://schemas.microsoft.com/office/powerpoint/2010/main" val="603195970"/>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9026" name="Rectangle 2"/>
          <p:cNvSpPr>
            <a:spLocks noGrp="1" noRot="1" noChangeAspect="1" noChangeArrowheads="1" noTextEdit="1"/>
          </p:cNvSpPr>
          <p:nvPr>
            <p:ph type="sldImg"/>
          </p:nvPr>
        </p:nvSpPr>
        <p:spPr>
          <a:ln/>
        </p:spPr>
        <p:txBody>
          <a:bodyPr/>
          <a:lstStyle/>
          <a:p>
            <a:endParaRPr lang="en-US"/>
          </a:p>
        </p:txBody>
      </p:sp>
      <p:sp>
        <p:nvSpPr>
          <p:cNvPr id="129027"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dirty="0">
              <a:latin typeface="Times New Roman" pitchFamily="18" charset="0"/>
            </a:endParaRPr>
          </a:p>
        </p:txBody>
      </p:sp>
    </p:spTree>
    <p:extLst>
      <p:ext uri="{BB962C8B-B14F-4D97-AF65-F5344CB8AC3E}">
        <p14:creationId xmlns:p14="http://schemas.microsoft.com/office/powerpoint/2010/main" val="12523984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0050" name="Rectangle 2"/>
          <p:cNvSpPr>
            <a:spLocks noGrp="1" noRot="1" noChangeAspect="1" noChangeArrowheads="1" noTextEdit="1"/>
          </p:cNvSpPr>
          <p:nvPr>
            <p:ph type="sldImg"/>
          </p:nvPr>
        </p:nvSpPr>
        <p:spPr>
          <a:ln/>
        </p:spPr>
        <p:txBody>
          <a:bodyPr/>
          <a:lstStyle/>
          <a:p>
            <a:endParaRPr lang="en-US"/>
          </a:p>
        </p:txBody>
      </p:sp>
      <p:sp>
        <p:nvSpPr>
          <p:cNvPr id="13005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itchFamily="18" charset="0"/>
            </a:endParaRPr>
          </a:p>
        </p:txBody>
      </p:sp>
    </p:spTree>
    <p:extLst>
      <p:ext uri="{BB962C8B-B14F-4D97-AF65-F5344CB8AC3E}">
        <p14:creationId xmlns:p14="http://schemas.microsoft.com/office/powerpoint/2010/main" val="11959301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Look at the pipe</a:t>
            </a:r>
            <a:r>
              <a:rPr lang="en-US" baseline="0" dirty="0"/>
              <a:t> manual (unidirectional pipe in this case)</a:t>
            </a:r>
          </a:p>
          <a:p>
            <a:endParaRPr lang="en-US" baseline="0" dirty="0"/>
          </a:p>
          <a:p>
            <a:r>
              <a:rPr lang="en-US" b="1" dirty="0"/>
              <a:t>Step by step</a:t>
            </a:r>
          </a:p>
          <a:p>
            <a:r>
              <a:rPr lang="en-US" b="1" dirty="0"/>
              <a:t>Shell parses the command</a:t>
            </a:r>
            <a:r>
              <a:rPr lang="en-US" dirty="0"/>
              <a:t> and sees the </a:t>
            </a:r>
            <a:r>
              <a:rPr lang="en-US" sz="1200" kern="1200" dirty="0">
                <a:solidFill>
                  <a:schemeClr val="tx1"/>
                </a:solidFill>
                <a:latin typeface="Times New Roman" charset="0"/>
                <a:ea typeface="MS PGothic" pitchFamily="34" charset="-128"/>
                <a:cs typeface="ＭＳ Ｐゴシック" charset="-128"/>
              </a:rPr>
              <a:t>|</a:t>
            </a:r>
            <a:r>
              <a:rPr lang="en-US" dirty="0"/>
              <a:t>.</a:t>
            </a:r>
          </a:p>
          <a:p>
            <a:r>
              <a:rPr lang="en-US" dirty="0"/>
              <a:t>The shell calls the system call </a:t>
            </a:r>
            <a:r>
              <a:rPr lang="en-US" sz="1200" kern="1200" dirty="0">
                <a:solidFill>
                  <a:schemeClr val="tx1"/>
                </a:solidFill>
                <a:latin typeface="Times New Roman" charset="0"/>
                <a:ea typeface="MS PGothic" pitchFamily="34" charset="-128"/>
                <a:cs typeface="ＭＳ Ｐゴシック" charset="-128"/>
              </a:rPr>
              <a:t>pipe()</a:t>
            </a:r>
            <a:r>
              <a:rPr lang="en-US" dirty="0"/>
              <a:t>, which creates a </a:t>
            </a:r>
            <a:r>
              <a:rPr lang="en-US" b="1" dirty="0"/>
              <a:t>pair of file descriptors</a:t>
            </a:r>
            <a:r>
              <a:rPr lang="en-US" dirty="0"/>
              <a:t>:</a:t>
            </a:r>
          </a:p>
          <a:p>
            <a:pPr lvl="1"/>
            <a:r>
              <a:rPr lang="en-US" sz="1200" kern="1200" dirty="0" err="1">
                <a:solidFill>
                  <a:schemeClr val="tx1"/>
                </a:solidFill>
                <a:latin typeface="Times New Roman" charset="0"/>
                <a:ea typeface="MS PGothic" pitchFamily="34" charset="-128"/>
                <a:cs typeface="+mn-cs"/>
              </a:rPr>
              <a:t>fd</a:t>
            </a:r>
            <a:r>
              <a:rPr lang="en-US" sz="1200" kern="1200" dirty="0">
                <a:solidFill>
                  <a:schemeClr val="tx1"/>
                </a:solidFill>
                <a:latin typeface="Times New Roman" charset="0"/>
                <a:ea typeface="MS PGothic" pitchFamily="34" charset="-128"/>
                <a:cs typeface="+mn-cs"/>
              </a:rPr>
              <a:t>[0]</a:t>
            </a:r>
            <a:r>
              <a:rPr lang="en-US" dirty="0"/>
              <a:t> = read end</a:t>
            </a:r>
          </a:p>
          <a:p>
            <a:pPr lvl="1"/>
            <a:r>
              <a:rPr lang="en-US" sz="1200" kern="1200" dirty="0" err="1">
                <a:solidFill>
                  <a:schemeClr val="tx1"/>
                </a:solidFill>
                <a:latin typeface="Times New Roman" charset="0"/>
                <a:ea typeface="MS PGothic" pitchFamily="34" charset="-128"/>
                <a:cs typeface="+mn-cs"/>
              </a:rPr>
              <a:t>fd</a:t>
            </a:r>
            <a:r>
              <a:rPr lang="en-US" sz="1200" kern="1200" dirty="0">
                <a:solidFill>
                  <a:schemeClr val="tx1"/>
                </a:solidFill>
                <a:latin typeface="Times New Roman" charset="0"/>
                <a:ea typeface="MS PGothic" pitchFamily="34" charset="-128"/>
                <a:cs typeface="+mn-cs"/>
              </a:rPr>
              <a:t>[1]</a:t>
            </a:r>
            <a:r>
              <a:rPr lang="en-US" dirty="0"/>
              <a:t> = write end</a:t>
            </a:r>
            <a:br>
              <a:rPr lang="en-US" dirty="0"/>
            </a:br>
            <a:r>
              <a:rPr lang="en-US" dirty="0"/>
              <a:t>These are linked in the kernel’s memory; no filename is involved → </a:t>
            </a:r>
            <a:r>
              <a:rPr lang="en-US" i="1" dirty="0"/>
              <a:t>unnamed pipe</a:t>
            </a:r>
            <a:r>
              <a:rPr lang="en-US" dirty="0"/>
              <a:t>.</a:t>
            </a:r>
          </a:p>
          <a:p>
            <a:r>
              <a:rPr lang="en-US" b="1" dirty="0"/>
              <a:t>Fork #1</a:t>
            </a:r>
            <a:r>
              <a:rPr lang="en-US" dirty="0"/>
              <a:t>: the shell forks a child to run </a:t>
            </a:r>
            <a:r>
              <a:rPr lang="en-US" sz="1200" kern="1200" dirty="0">
                <a:solidFill>
                  <a:schemeClr val="tx1"/>
                </a:solidFill>
                <a:latin typeface="Times New Roman" charset="0"/>
                <a:ea typeface="MS PGothic" pitchFamily="34" charset="-128"/>
                <a:cs typeface="ＭＳ Ｐゴシック" charset="-128"/>
              </a:rPr>
              <a:t>ls -la</a:t>
            </a:r>
            <a:r>
              <a:rPr lang="en-US" dirty="0"/>
              <a:t>.</a:t>
            </a:r>
          </a:p>
          <a:p>
            <a:pPr lvl="1"/>
            <a:r>
              <a:rPr lang="en-US" dirty="0"/>
              <a:t>In that child, standard output (</a:t>
            </a:r>
            <a:r>
              <a:rPr lang="en-US" sz="1200" kern="1200" dirty="0" err="1">
                <a:solidFill>
                  <a:schemeClr val="tx1"/>
                </a:solidFill>
                <a:latin typeface="Times New Roman" charset="0"/>
                <a:ea typeface="MS PGothic" pitchFamily="34" charset="-128"/>
                <a:cs typeface="+mn-cs"/>
              </a:rPr>
              <a:t>stdout</a:t>
            </a:r>
            <a:r>
              <a:rPr lang="en-US" dirty="0"/>
              <a:t>, file descriptor 1) is </a:t>
            </a:r>
            <a:r>
              <a:rPr lang="en-US" b="1" dirty="0"/>
              <a:t>redirected to</a:t>
            </a:r>
            <a:r>
              <a:rPr lang="en-US" dirty="0"/>
              <a:t> the write end of the pipe (</a:t>
            </a:r>
            <a:r>
              <a:rPr lang="en-US" sz="1200" kern="1200" dirty="0" err="1">
                <a:solidFill>
                  <a:schemeClr val="tx1"/>
                </a:solidFill>
                <a:latin typeface="Times New Roman" charset="0"/>
                <a:ea typeface="MS PGothic" pitchFamily="34" charset="-128"/>
                <a:cs typeface="+mn-cs"/>
              </a:rPr>
              <a:t>fd</a:t>
            </a:r>
            <a:r>
              <a:rPr lang="en-US" sz="1200" kern="1200" dirty="0">
                <a:solidFill>
                  <a:schemeClr val="tx1"/>
                </a:solidFill>
                <a:latin typeface="Times New Roman" charset="0"/>
                <a:ea typeface="MS PGothic" pitchFamily="34" charset="-128"/>
                <a:cs typeface="+mn-cs"/>
              </a:rPr>
              <a:t>[1]</a:t>
            </a:r>
            <a:r>
              <a:rPr lang="en-US" dirty="0"/>
              <a:t>).</a:t>
            </a:r>
          </a:p>
          <a:p>
            <a:r>
              <a:rPr lang="en-US" b="1" dirty="0"/>
              <a:t>Fork #2</a:t>
            </a:r>
            <a:r>
              <a:rPr lang="en-US" dirty="0"/>
              <a:t>: the shell forks a child to run </a:t>
            </a:r>
            <a:r>
              <a:rPr lang="en-US" sz="1200" kern="1200" dirty="0">
                <a:solidFill>
                  <a:schemeClr val="tx1"/>
                </a:solidFill>
                <a:latin typeface="Times New Roman" charset="0"/>
                <a:ea typeface="MS PGothic" pitchFamily="34" charset="-128"/>
                <a:cs typeface="ＭＳ Ｐゴシック" charset="-128"/>
              </a:rPr>
              <a:t>grep &lt;pattern&gt;</a:t>
            </a:r>
            <a:r>
              <a:rPr lang="en-US" dirty="0"/>
              <a:t>.</a:t>
            </a:r>
          </a:p>
          <a:p>
            <a:pPr lvl="1"/>
            <a:r>
              <a:rPr lang="en-US" dirty="0"/>
              <a:t>In that child, standard input (</a:t>
            </a:r>
            <a:r>
              <a:rPr lang="en-US" sz="1200" kern="1200" dirty="0">
                <a:solidFill>
                  <a:schemeClr val="tx1"/>
                </a:solidFill>
                <a:latin typeface="Times New Roman" charset="0"/>
                <a:ea typeface="MS PGothic" pitchFamily="34" charset="-128"/>
                <a:cs typeface="+mn-cs"/>
              </a:rPr>
              <a:t>stdin</a:t>
            </a:r>
            <a:r>
              <a:rPr lang="en-US" dirty="0"/>
              <a:t>, file descriptor 0) is </a:t>
            </a:r>
            <a:r>
              <a:rPr lang="en-US" b="1" dirty="0"/>
              <a:t>redirected from</a:t>
            </a:r>
            <a:r>
              <a:rPr lang="en-US" dirty="0"/>
              <a:t> the read end of the pipe (</a:t>
            </a:r>
            <a:r>
              <a:rPr lang="en-US" sz="1200" kern="1200" dirty="0" err="1">
                <a:solidFill>
                  <a:schemeClr val="tx1"/>
                </a:solidFill>
                <a:latin typeface="Times New Roman" charset="0"/>
                <a:ea typeface="MS PGothic" pitchFamily="34" charset="-128"/>
                <a:cs typeface="+mn-cs"/>
              </a:rPr>
              <a:t>fd</a:t>
            </a:r>
            <a:r>
              <a:rPr lang="en-US" sz="1200" kern="1200" dirty="0">
                <a:solidFill>
                  <a:schemeClr val="tx1"/>
                </a:solidFill>
                <a:latin typeface="Times New Roman" charset="0"/>
                <a:ea typeface="MS PGothic" pitchFamily="34" charset="-128"/>
                <a:cs typeface="+mn-cs"/>
              </a:rPr>
              <a:t>[0]</a:t>
            </a:r>
            <a:r>
              <a:rPr lang="en-US" dirty="0"/>
              <a:t>).</a:t>
            </a:r>
          </a:p>
          <a:p>
            <a:r>
              <a:rPr lang="en-US" dirty="0"/>
              <a:t>The shell closes the unused ends of the pipe in each process.</a:t>
            </a:r>
          </a:p>
          <a:p>
            <a:r>
              <a:rPr lang="en-US" dirty="0"/>
              <a:t>Now:</a:t>
            </a:r>
          </a:p>
          <a:p>
            <a:pPr lvl="1"/>
            <a:r>
              <a:rPr lang="en-US" sz="1200" kern="1200" dirty="0">
                <a:solidFill>
                  <a:schemeClr val="tx1"/>
                </a:solidFill>
                <a:latin typeface="Times New Roman" charset="0"/>
                <a:ea typeface="MS PGothic" pitchFamily="34" charset="-128"/>
                <a:cs typeface="+mn-cs"/>
              </a:rPr>
              <a:t>ls -la</a:t>
            </a:r>
            <a:r>
              <a:rPr lang="en-US" dirty="0"/>
              <a:t> writes its output → goes into the pipe (kernel buffer).</a:t>
            </a:r>
          </a:p>
          <a:p>
            <a:pPr lvl="1"/>
            <a:r>
              <a:rPr lang="en-US" sz="1200" kern="1200" dirty="0">
                <a:solidFill>
                  <a:schemeClr val="tx1"/>
                </a:solidFill>
                <a:latin typeface="Times New Roman" charset="0"/>
                <a:ea typeface="MS PGothic" pitchFamily="34" charset="-128"/>
                <a:cs typeface="+mn-cs"/>
              </a:rPr>
              <a:t>grep</a:t>
            </a:r>
            <a:r>
              <a:rPr lang="en-US" dirty="0"/>
              <a:t> reads from the pipe as if it were reading from standard input.</a:t>
            </a:r>
          </a:p>
          <a:p>
            <a:endParaRPr lang="en-US" dirty="0"/>
          </a:p>
        </p:txBody>
      </p:sp>
      <p:sp>
        <p:nvSpPr>
          <p:cNvPr id="4" name="Slide Number Placeholder 3"/>
          <p:cNvSpPr>
            <a:spLocks noGrp="1"/>
          </p:cNvSpPr>
          <p:nvPr>
            <p:ph type="sldNum" sz="quarter" idx="10"/>
          </p:nvPr>
        </p:nvSpPr>
        <p:spPr/>
        <p:txBody>
          <a:bodyPr/>
          <a:lstStyle/>
          <a:p>
            <a:fld id="{A2FE1CAB-13BE-4BE1-8D6B-122846198519}" type="slidenum">
              <a:rPr lang="en-US" altLang="en-US" smtClean="0"/>
              <a:pPr/>
              <a:t>50</a:t>
            </a:fld>
            <a:endParaRPr lang="en-US" altLang="en-US"/>
          </a:p>
        </p:txBody>
      </p:sp>
    </p:spTree>
    <p:extLst>
      <p:ext uri="{BB962C8B-B14F-4D97-AF65-F5344CB8AC3E}">
        <p14:creationId xmlns:p14="http://schemas.microsoft.com/office/powerpoint/2010/main" val="345563581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2FE1CAB-13BE-4BE1-8D6B-122846198519}" type="slidenum">
              <a:rPr lang="en-US" altLang="en-US" smtClean="0"/>
              <a:pPr/>
              <a:t>51</a:t>
            </a:fld>
            <a:endParaRPr lang="en-US" altLang="en-US"/>
          </a:p>
        </p:txBody>
      </p:sp>
    </p:spTree>
    <p:extLst>
      <p:ext uri="{BB962C8B-B14F-4D97-AF65-F5344CB8AC3E}">
        <p14:creationId xmlns:p14="http://schemas.microsoft.com/office/powerpoint/2010/main" val="1520689876"/>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indent="0" algn="l" defTabSz="914400" rtl="0" eaLnBrk="0" fontAlgn="base" latinLnBrk="0" hangingPunct="0">
              <a:lnSpc>
                <a:spcPct val="100000"/>
              </a:lnSpc>
              <a:spcBef>
                <a:spcPct val="30000"/>
              </a:spcBef>
              <a:spcAft>
                <a:spcPct val="0"/>
              </a:spcAft>
              <a:buClrTx/>
              <a:buSzTx/>
              <a:buFontTx/>
              <a:buNone/>
              <a:tabLst/>
              <a:defRPr/>
            </a:pPr>
            <a:r>
              <a:rPr lang="en-US" sz="1200" dirty="0">
                <a:latin typeface="Courier New" panose="02070309020205020404" pitchFamily="49" charset="0"/>
              </a:rPr>
              <a:t>close(</a:t>
            </a:r>
            <a:r>
              <a:rPr lang="en-US" sz="1200" dirty="0" err="1">
                <a:latin typeface="Courier New" panose="02070309020205020404" pitchFamily="49" charset="0"/>
              </a:rPr>
              <a:t>fd</a:t>
            </a:r>
            <a:r>
              <a:rPr lang="en-US" sz="1200" dirty="0">
                <a:latin typeface="Courier New" panose="02070309020205020404" pitchFamily="49" charset="0"/>
              </a:rPr>
              <a:t>[WRITE_END])</a:t>
            </a:r>
            <a:r>
              <a:rPr lang="en-US" sz="1200" baseline="0" dirty="0">
                <a:latin typeface="Courier New" panose="02070309020205020404" pitchFamily="49" charset="0"/>
              </a:rPr>
              <a:t> is needed to detect the end of the file! (question)</a:t>
            </a:r>
            <a:endParaRPr lang="en-US" sz="1200" dirty="0">
              <a:latin typeface="Courier New" panose="02070309020205020404" pitchFamily="49" charset="0"/>
            </a:endParaRPr>
          </a:p>
        </p:txBody>
      </p:sp>
      <p:sp>
        <p:nvSpPr>
          <p:cNvPr id="4" name="Slide Number Placeholder 3"/>
          <p:cNvSpPr>
            <a:spLocks noGrp="1"/>
          </p:cNvSpPr>
          <p:nvPr>
            <p:ph type="sldNum" sz="quarter" idx="10"/>
          </p:nvPr>
        </p:nvSpPr>
        <p:spPr/>
        <p:txBody>
          <a:bodyPr/>
          <a:lstStyle/>
          <a:p>
            <a:fld id="{A2FE1CAB-13BE-4BE1-8D6B-122846198519}" type="slidenum">
              <a:rPr lang="en-US" altLang="en-US" smtClean="0"/>
              <a:pPr/>
              <a:t>54</a:t>
            </a:fld>
            <a:endParaRPr lang="en-US" altLang="en-US"/>
          </a:p>
        </p:txBody>
      </p:sp>
    </p:spTree>
    <p:extLst>
      <p:ext uri="{BB962C8B-B14F-4D97-AF65-F5344CB8AC3E}">
        <p14:creationId xmlns:p14="http://schemas.microsoft.com/office/powerpoint/2010/main" val="4090680085"/>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1 and 3. 2 too if you want (global variable used to decide which instruction to run next)</a:t>
            </a:r>
          </a:p>
          <a:p>
            <a:endParaRPr lang="en-US" dirty="0"/>
          </a:p>
        </p:txBody>
      </p:sp>
      <p:sp>
        <p:nvSpPr>
          <p:cNvPr id="4" name="Slide Number Placeholder 3"/>
          <p:cNvSpPr>
            <a:spLocks noGrp="1"/>
          </p:cNvSpPr>
          <p:nvPr>
            <p:ph type="sldNum" sz="quarter" idx="5"/>
          </p:nvPr>
        </p:nvSpPr>
        <p:spPr/>
        <p:txBody>
          <a:bodyPr/>
          <a:lstStyle/>
          <a:p>
            <a:fld id="{A2FE1CAB-13BE-4BE1-8D6B-122846198519}" type="slidenum">
              <a:rPr lang="en-US" altLang="en-US" smtClean="0"/>
              <a:pPr/>
              <a:t>56</a:t>
            </a:fld>
            <a:endParaRPr lang="en-US" altLang="en-US"/>
          </a:p>
        </p:txBody>
      </p:sp>
    </p:spTree>
    <p:extLst>
      <p:ext uri="{BB962C8B-B14F-4D97-AF65-F5344CB8AC3E}">
        <p14:creationId xmlns:p14="http://schemas.microsoft.com/office/powerpoint/2010/main" val="3443054425"/>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4</a:t>
            </a:r>
          </a:p>
        </p:txBody>
      </p:sp>
      <p:sp>
        <p:nvSpPr>
          <p:cNvPr id="4" name="Slide Number Placeholder 3"/>
          <p:cNvSpPr>
            <a:spLocks noGrp="1"/>
          </p:cNvSpPr>
          <p:nvPr>
            <p:ph type="sldNum" sz="quarter" idx="5"/>
          </p:nvPr>
        </p:nvSpPr>
        <p:spPr/>
        <p:txBody>
          <a:bodyPr/>
          <a:lstStyle/>
          <a:p>
            <a:fld id="{A2FE1CAB-13BE-4BE1-8D6B-122846198519}" type="slidenum">
              <a:rPr lang="en-US" altLang="en-US" smtClean="0"/>
              <a:pPr/>
              <a:t>57</a:t>
            </a:fld>
            <a:endParaRPr lang="en-US" altLang="en-US"/>
          </a:p>
        </p:txBody>
      </p:sp>
    </p:spTree>
    <p:extLst>
      <p:ext uri="{BB962C8B-B14F-4D97-AF65-F5344CB8AC3E}">
        <p14:creationId xmlns:p14="http://schemas.microsoft.com/office/powerpoint/2010/main" val="3189973266"/>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1</a:t>
            </a:r>
          </a:p>
        </p:txBody>
      </p:sp>
      <p:sp>
        <p:nvSpPr>
          <p:cNvPr id="4" name="Slide Number Placeholder 3"/>
          <p:cNvSpPr>
            <a:spLocks noGrp="1"/>
          </p:cNvSpPr>
          <p:nvPr>
            <p:ph type="sldNum" sz="quarter" idx="5"/>
          </p:nvPr>
        </p:nvSpPr>
        <p:spPr/>
        <p:txBody>
          <a:bodyPr/>
          <a:lstStyle/>
          <a:p>
            <a:fld id="{A2FE1CAB-13BE-4BE1-8D6B-122846198519}" type="slidenum">
              <a:rPr lang="en-US" altLang="en-US" smtClean="0"/>
              <a:pPr/>
              <a:t>58</a:t>
            </a:fld>
            <a:endParaRPr lang="en-US" altLang="en-US"/>
          </a:p>
        </p:txBody>
      </p:sp>
    </p:spTree>
    <p:extLst>
      <p:ext uri="{BB962C8B-B14F-4D97-AF65-F5344CB8AC3E}">
        <p14:creationId xmlns:p14="http://schemas.microsoft.com/office/powerpoint/2010/main" val="944457628"/>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1 and 2</a:t>
            </a:r>
          </a:p>
        </p:txBody>
      </p:sp>
      <p:sp>
        <p:nvSpPr>
          <p:cNvPr id="4" name="Slide Number Placeholder 3"/>
          <p:cNvSpPr>
            <a:spLocks noGrp="1"/>
          </p:cNvSpPr>
          <p:nvPr>
            <p:ph type="sldNum" sz="quarter" idx="5"/>
          </p:nvPr>
        </p:nvSpPr>
        <p:spPr/>
        <p:txBody>
          <a:bodyPr/>
          <a:lstStyle/>
          <a:p>
            <a:fld id="{A2FE1CAB-13BE-4BE1-8D6B-122846198519}" type="slidenum">
              <a:rPr lang="en-US" altLang="en-US" smtClean="0"/>
              <a:pPr/>
              <a:t>59</a:t>
            </a:fld>
            <a:endParaRPr lang="en-US" altLang="en-US"/>
          </a:p>
        </p:txBody>
      </p:sp>
    </p:spTree>
    <p:extLst>
      <p:ext uri="{BB962C8B-B14F-4D97-AF65-F5344CB8AC3E}">
        <p14:creationId xmlns:p14="http://schemas.microsoft.com/office/powerpoint/2010/main" val="931967348"/>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1 and 3</a:t>
            </a:r>
          </a:p>
        </p:txBody>
      </p:sp>
      <p:sp>
        <p:nvSpPr>
          <p:cNvPr id="4" name="Slide Number Placeholder 3"/>
          <p:cNvSpPr>
            <a:spLocks noGrp="1"/>
          </p:cNvSpPr>
          <p:nvPr>
            <p:ph type="sldNum" sz="quarter" idx="5"/>
          </p:nvPr>
        </p:nvSpPr>
        <p:spPr/>
        <p:txBody>
          <a:bodyPr/>
          <a:lstStyle/>
          <a:p>
            <a:fld id="{A2FE1CAB-13BE-4BE1-8D6B-122846198519}" type="slidenum">
              <a:rPr lang="en-US" altLang="en-US" smtClean="0"/>
              <a:pPr/>
              <a:t>60</a:t>
            </a:fld>
            <a:endParaRPr lang="en-US" altLang="en-US"/>
          </a:p>
        </p:txBody>
      </p:sp>
    </p:spTree>
    <p:extLst>
      <p:ext uri="{BB962C8B-B14F-4D97-AF65-F5344CB8AC3E}">
        <p14:creationId xmlns:p14="http://schemas.microsoft.com/office/powerpoint/2010/main" val="59420982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3</a:t>
            </a:r>
          </a:p>
        </p:txBody>
      </p:sp>
      <p:sp>
        <p:nvSpPr>
          <p:cNvPr id="4" name="Slide Number Placeholder 3"/>
          <p:cNvSpPr>
            <a:spLocks noGrp="1"/>
          </p:cNvSpPr>
          <p:nvPr>
            <p:ph type="sldNum" sz="quarter" idx="5"/>
          </p:nvPr>
        </p:nvSpPr>
        <p:spPr/>
        <p:txBody>
          <a:bodyPr/>
          <a:lstStyle/>
          <a:p>
            <a:fld id="{A2FE1CAB-13BE-4BE1-8D6B-122846198519}" type="slidenum">
              <a:rPr lang="en-US" altLang="en-US" smtClean="0"/>
              <a:pPr/>
              <a:t>61</a:t>
            </a:fld>
            <a:endParaRPr lang="en-US" altLang="en-US"/>
          </a:p>
        </p:txBody>
      </p:sp>
    </p:spTree>
    <p:extLst>
      <p:ext uri="{BB962C8B-B14F-4D97-AF65-F5344CB8AC3E}">
        <p14:creationId xmlns:p14="http://schemas.microsoft.com/office/powerpoint/2010/main" val="192977542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sz="1200" kern="1200" dirty="0">
                <a:solidFill>
                  <a:schemeClr val="tx1"/>
                </a:solidFill>
                <a:effectLst/>
                <a:latin typeface="Times New Roman" charset="0"/>
                <a:ea typeface="MS PGothic" pitchFamily="34" charset="-128"/>
                <a:cs typeface="ＭＳ Ｐゴシック" charset="-128"/>
              </a:rPr>
              <a:t>The parent and child do not share variables.</a:t>
            </a:r>
          </a:p>
          <a:p>
            <a:endParaRPr lang="en-US" dirty="0"/>
          </a:p>
          <a:p>
            <a:r>
              <a:rPr lang="en-US" sz="1200" dirty="0"/>
              <a:t>CHILD 0</a:t>
            </a:r>
          </a:p>
          <a:p>
            <a:r>
              <a:rPr lang="en-US" sz="1200" dirty="0"/>
              <a:t>CHILD -1</a:t>
            </a:r>
          </a:p>
          <a:p>
            <a:r>
              <a:rPr lang="en-US" sz="1200" dirty="0"/>
              <a:t>CHILD -4</a:t>
            </a:r>
          </a:p>
          <a:p>
            <a:r>
              <a:rPr lang="en-US" sz="1200" dirty="0"/>
              <a:t>CHILD -9</a:t>
            </a:r>
          </a:p>
          <a:p>
            <a:r>
              <a:rPr lang="en-US" sz="1200" dirty="0"/>
              <a:t>CHILD -16</a:t>
            </a:r>
          </a:p>
          <a:p>
            <a:r>
              <a:rPr lang="en-US" sz="1200" dirty="0"/>
              <a:t>PARENT 0</a:t>
            </a:r>
          </a:p>
          <a:p>
            <a:r>
              <a:rPr lang="en-US" sz="1200" dirty="0"/>
              <a:t>PARENT 1</a:t>
            </a:r>
          </a:p>
          <a:p>
            <a:r>
              <a:rPr lang="en-US" sz="1200" dirty="0"/>
              <a:t>PARENT 2</a:t>
            </a:r>
          </a:p>
          <a:p>
            <a:r>
              <a:rPr lang="en-US" sz="1200" dirty="0"/>
              <a:t>PARENT 3</a:t>
            </a:r>
          </a:p>
          <a:p>
            <a:r>
              <a:rPr lang="en-US" sz="1200" dirty="0"/>
              <a:t>PARENT 4</a:t>
            </a:r>
          </a:p>
          <a:p>
            <a:endParaRPr lang="en-US" dirty="0"/>
          </a:p>
        </p:txBody>
      </p:sp>
      <p:sp>
        <p:nvSpPr>
          <p:cNvPr id="4" name="Slide Number Placeholder 3"/>
          <p:cNvSpPr>
            <a:spLocks noGrp="1"/>
          </p:cNvSpPr>
          <p:nvPr>
            <p:ph type="sldNum" sz="quarter" idx="10"/>
          </p:nvPr>
        </p:nvSpPr>
        <p:spPr/>
        <p:txBody>
          <a:bodyPr/>
          <a:lstStyle/>
          <a:p>
            <a:fld id="{80E8758D-04B3-624F-969C-7217C476925E}" type="slidenum">
              <a:rPr lang="en-US" smtClean="0"/>
              <a:t>62</a:t>
            </a:fld>
            <a:endParaRPr lang="en-US"/>
          </a:p>
        </p:txBody>
      </p:sp>
    </p:spTree>
    <p:extLst>
      <p:ext uri="{BB962C8B-B14F-4D97-AF65-F5344CB8AC3E}">
        <p14:creationId xmlns:p14="http://schemas.microsoft.com/office/powerpoint/2010/main" val="75489374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sz="1200" dirty="0"/>
              <a:t>child: </a:t>
            </a:r>
            <a:r>
              <a:rPr lang="en-US" sz="1200" dirty="0" err="1"/>
              <a:t>pid</a:t>
            </a:r>
            <a:r>
              <a:rPr lang="en-US" sz="1200" dirty="0"/>
              <a:t> = 0</a:t>
            </a:r>
          </a:p>
          <a:p>
            <a:r>
              <a:rPr lang="en-US" sz="1200" dirty="0"/>
              <a:t>child: pid1 = X</a:t>
            </a:r>
          </a:p>
          <a:p>
            <a:r>
              <a:rPr lang="en-US" sz="1200" dirty="0"/>
              <a:t>parent: </a:t>
            </a:r>
            <a:r>
              <a:rPr lang="en-US" sz="1200" dirty="0" err="1"/>
              <a:t>pid</a:t>
            </a:r>
            <a:r>
              <a:rPr lang="en-US" sz="1200" dirty="0"/>
              <a:t> = X</a:t>
            </a:r>
          </a:p>
          <a:p>
            <a:r>
              <a:rPr lang="en-US" sz="1200" dirty="0"/>
              <a:t>parent: pid1 = Y</a:t>
            </a:r>
          </a:p>
          <a:p>
            <a:endParaRPr lang="en-US" sz="1200" dirty="0"/>
          </a:p>
          <a:p>
            <a:r>
              <a:rPr lang="en-US" sz="1200" dirty="0"/>
              <a:t>Notice:</a:t>
            </a:r>
          </a:p>
          <a:p>
            <a:r>
              <a:rPr lang="en-US" sz="1200" dirty="0"/>
              <a:t>X is the same for child and parent</a:t>
            </a:r>
          </a:p>
          <a:p>
            <a:r>
              <a:rPr lang="en-US" sz="1200" dirty="0"/>
              <a:t>Y is different from X</a:t>
            </a:r>
          </a:p>
          <a:p>
            <a:r>
              <a:rPr lang="en-US" sz="1200" dirty="0"/>
              <a:t>X &gt; 1</a:t>
            </a:r>
          </a:p>
          <a:p>
            <a:r>
              <a:rPr lang="en-US" sz="1200" dirty="0"/>
              <a:t>Y &gt; 1</a:t>
            </a:r>
          </a:p>
          <a:p>
            <a:r>
              <a:rPr lang="en-US" sz="1200" dirty="0"/>
              <a:t>The parent is not waiting for the child to print. Messages can be printed in different order...</a:t>
            </a:r>
          </a:p>
          <a:p>
            <a:endParaRPr lang="en-US" dirty="0"/>
          </a:p>
        </p:txBody>
      </p:sp>
      <p:sp>
        <p:nvSpPr>
          <p:cNvPr id="4" name="Slide Number Placeholder 3"/>
          <p:cNvSpPr>
            <a:spLocks noGrp="1"/>
          </p:cNvSpPr>
          <p:nvPr>
            <p:ph type="sldNum" sz="quarter" idx="5"/>
          </p:nvPr>
        </p:nvSpPr>
        <p:spPr/>
        <p:txBody>
          <a:bodyPr/>
          <a:lstStyle/>
          <a:p>
            <a:fld id="{A2FE1CAB-13BE-4BE1-8D6B-122846198519}" type="slidenum">
              <a:rPr lang="en-US" altLang="en-US" smtClean="0"/>
              <a:pPr/>
              <a:t>63</a:t>
            </a:fld>
            <a:endParaRPr lang="en-US" altLang="en-US"/>
          </a:p>
        </p:txBody>
      </p:sp>
    </p:spTree>
    <p:extLst>
      <p:ext uri="{BB962C8B-B14F-4D97-AF65-F5344CB8AC3E}">
        <p14:creationId xmlns:p14="http://schemas.microsoft.com/office/powerpoint/2010/main" val="64977187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sz="1200" dirty="0"/>
              <a:t>CPU utilization = 1 </a:t>
            </a:r>
            <a:r>
              <a:rPr lang="mr-IN" sz="1200" dirty="0"/>
              <a:t>–</a:t>
            </a:r>
            <a:r>
              <a:rPr lang="en-US" sz="1200" dirty="0"/>
              <a:t> </a:t>
            </a:r>
            <a:r>
              <a:rPr lang="en-US" sz="1200" dirty="0" err="1"/>
              <a:t>p</a:t>
            </a:r>
            <a:r>
              <a:rPr lang="en-US" sz="1200" baseline="30000" dirty="0" err="1"/>
              <a:t>n</a:t>
            </a:r>
            <a:r>
              <a:rPr lang="en-US" sz="1200" dirty="0"/>
              <a:t> = 1 </a:t>
            </a:r>
            <a:r>
              <a:rPr lang="mr-IN" sz="1200" dirty="0"/>
              <a:t>–</a:t>
            </a:r>
            <a:r>
              <a:rPr lang="en-US" sz="1200" dirty="0"/>
              <a:t> 0.4</a:t>
            </a:r>
            <a:r>
              <a:rPr lang="en-US" sz="1200" baseline="30000" dirty="0"/>
              <a:t>5 </a:t>
            </a:r>
            <a:r>
              <a:rPr lang="en-US" sz="1200" dirty="0"/>
              <a:t>= 0.99</a:t>
            </a:r>
          </a:p>
          <a:p>
            <a:endParaRPr lang="en-US" sz="1200" dirty="0"/>
          </a:p>
          <a:p>
            <a:r>
              <a:rPr lang="en-US" sz="1200" dirty="0"/>
              <a:t>where p is the probability for a process to be waiting for I/O.</a:t>
            </a:r>
          </a:p>
        </p:txBody>
      </p:sp>
      <p:sp>
        <p:nvSpPr>
          <p:cNvPr id="4" name="Slide Number Placeholder 3"/>
          <p:cNvSpPr>
            <a:spLocks noGrp="1"/>
          </p:cNvSpPr>
          <p:nvPr>
            <p:ph type="sldNum" sz="quarter" idx="5"/>
          </p:nvPr>
        </p:nvSpPr>
        <p:spPr/>
        <p:txBody>
          <a:bodyPr/>
          <a:lstStyle/>
          <a:p>
            <a:fld id="{A2FE1CAB-13BE-4BE1-8D6B-122846198519}" type="slidenum">
              <a:rPr lang="en-US" altLang="en-US" smtClean="0"/>
              <a:pPr/>
              <a:t>64</a:t>
            </a:fld>
            <a:endParaRPr lang="en-US" altLang="en-US"/>
          </a:p>
        </p:txBody>
      </p:sp>
    </p:spTree>
    <p:extLst>
      <p:ext uri="{BB962C8B-B14F-4D97-AF65-F5344CB8AC3E}">
        <p14:creationId xmlns:p14="http://schemas.microsoft.com/office/powerpoint/2010/main" val="351313724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1122363"/>
            <a:ext cx="6858000" cy="2387600"/>
          </a:xfrm>
        </p:spPr>
        <p:txBody>
          <a:bodyPr anchor="b"/>
          <a:lstStyle>
            <a:lvl1pPr algn="ctr">
              <a:defRPr sz="4500"/>
            </a:lvl1pPr>
          </a:lstStyle>
          <a:p>
            <a:r>
              <a:rPr lang="en-US"/>
              <a:t>Click to edit Master title style</a:t>
            </a:r>
          </a:p>
        </p:txBody>
      </p:sp>
      <p:sp>
        <p:nvSpPr>
          <p:cNvPr id="3" name="Subtitle 2"/>
          <p:cNvSpPr>
            <a:spLocks noGrp="1"/>
          </p:cNvSpPr>
          <p:nvPr>
            <p:ph type="subTitle" idx="1"/>
          </p:nvPr>
        </p:nvSpPr>
        <p:spPr>
          <a:xfrm>
            <a:off x="1143000" y="3602038"/>
            <a:ext cx="6858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p:cNvSpPr>
            <a:spLocks noGrp="1"/>
          </p:cNvSpPr>
          <p:nvPr>
            <p:ph type="dt" sz="half" idx="10"/>
          </p:nvPr>
        </p:nvSpPr>
        <p:spPr/>
        <p:txBody>
          <a:bodyPr/>
          <a:lstStyle/>
          <a:p>
            <a:r>
              <a:rPr lang="en-US"/>
              <a:t>Vincenzo Gulisano</a:t>
            </a:r>
          </a:p>
        </p:txBody>
      </p:sp>
      <p:sp>
        <p:nvSpPr>
          <p:cNvPr id="5" name="Footer Placeholder 4"/>
          <p:cNvSpPr>
            <a:spLocks noGrp="1"/>
          </p:cNvSpPr>
          <p:nvPr>
            <p:ph type="ftr" sz="quarter" idx="11"/>
          </p:nvPr>
        </p:nvSpPr>
        <p:spPr/>
        <p:txBody>
          <a:bodyPr/>
          <a:lstStyle/>
          <a:p>
            <a:r>
              <a:rPr lang="en-US"/>
              <a:t>Operating Systems - Processes</a:t>
            </a:r>
          </a:p>
        </p:txBody>
      </p:sp>
      <p:sp>
        <p:nvSpPr>
          <p:cNvPr id="6" name="Slide Number Placeholder 5"/>
          <p:cNvSpPr>
            <a:spLocks noGrp="1"/>
          </p:cNvSpPr>
          <p:nvPr>
            <p:ph type="sldNum" sz="quarter" idx="12"/>
          </p:nvPr>
        </p:nvSpPr>
        <p:spPr/>
        <p:txBody>
          <a:bodyPr/>
          <a:lstStyle/>
          <a:p>
            <a:fld id="{95AAEEEC-DCEC-4178-AB14-E7254A15A296}" type="slidenum">
              <a:rPr lang="en-US" smtClean="0"/>
              <a:t>‹#›</a:t>
            </a:fld>
            <a:endParaRPr lang="en-US"/>
          </a:p>
        </p:txBody>
      </p:sp>
    </p:spTree>
    <p:extLst>
      <p:ext uri="{BB962C8B-B14F-4D97-AF65-F5344CB8AC3E}">
        <p14:creationId xmlns:p14="http://schemas.microsoft.com/office/powerpoint/2010/main" val="237286432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r>
              <a:rPr lang="en-US"/>
              <a:t>Vincenzo Gulisano</a:t>
            </a:r>
          </a:p>
        </p:txBody>
      </p:sp>
      <p:sp>
        <p:nvSpPr>
          <p:cNvPr id="5" name="Footer Placeholder 4"/>
          <p:cNvSpPr>
            <a:spLocks noGrp="1"/>
          </p:cNvSpPr>
          <p:nvPr>
            <p:ph type="ftr" sz="quarter" idx="11"/>
          </p:nvPr>
        </p:nvSpPr>
        <p:spPr/>
        <p:txBody>
          <a:bodyPr/>
          <a:lstStyle/>
          <a:p>
            <a:r>
              <a:rPr lang="en-US"/>
              <a:t>Operating Systems - Processes</a:t>
            </a:r>
          </a:p>
        </p:txBody>
      </p:sp>
      <p:sp>
        <p:nvSpPr>
          <p:cNvPr id="6" name="Slide Number Placeholder 5"/>
          <p:cNvSpPr>
            <a:spLocks noGrp="1"/>
          </p:cNvSpPr>
          <p:nvPr>
            <p:ph type="sldNum" sz="quarter" idx="12"/>
          </p:nvPr>
        </p:nvSpPr>
        <p:spPr/>
        <p:txBody>
          <a:bodyPr/>
          <a:lstStyle/>
          <a:p>
            <a:fld id="{95AAEEEC-DCEC-4178-AB14-E7254A15A296}" type="slidenum">
              <a:rPr lang="en-US" smtClean="0"/>
              <a:t>‹#›</a:t>
            </a:fld>
            <a:endParaRPr lang="en-US"/>
          </a:p>
        </p:txBody>
      </p:sp>
    </p:spTree>
    <p:extLst>
      <p:ext uri="{BB962C8B-B14F-4D97-AF65-F5344CB8AC3E}">
        <p14:creationId xmlns:p14="http://schemas.microsoft.com/office/powerpoint/2010/main" val="36881719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4500"/>
            </a:lvl1pPr>
          </a:lstStyle>
          <a:p>
            <a:r>
              <a:rPr lang="en-US"/>
              <a:t>Click to edit Master title style</a:t>
            </a:r>
          </a:p>
        </p:txBody>
      </p:sp>
      <p:sp>
        <p:nvSpPr>
          <p:cNvPr id="3" name="Text Placeholder 2"/>
          <p:cNvSpPr>
            <a:spLocks noGrp="1"/>
          </p:cNvSpPr>
          <p:nvPr>
            <p:ph type="body" idx="1"/>
          </p:nvPr>
        </p:nvSpPr>
        <p:spPr>
          <a:xfrm>
            <a:off x="623888" y="4589464"/>
            <a:ext cx="7886700" cy="1500187"/>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r>
              <a:rPr lang="en-US"/>
              <a:t>Vincenzo Gulisano</a:t>
            </a:r>
          </a:p>
        </p:txBody>
      </p:sp>
      <p:sp>
        <p:nvSpPr>
          <p:cNvPr id="5" name="Footer Placeholder 4"/>
          <p:cNvSpPr>
            <a:spLocks noGrp="1"/>
          </p:cNvSpPr>
          <p:nvPr>
            <p:ph type="ftr" sz="quarter" idx="11"/>
          </p:nvPr>
        </p:nvSpPr>
        <p:spPr/>
        <p:txBody>
          <a:bodyPr/>
          <a:lstStyle/>
          <a:p>
            <a:r>
              <a:rPr lang="en-US"/>
              <a:t>Operating Systems - Processes</a:t>
            </a:r>
          </a:p>
        </p:txBody>
      </p:sp>
      <p:sp>
        <p:nvSpPr>
          <p:cNvPr id="6" name="Slide Number Placeholder 5"/>
          <p:cNvSpPr>
            <a:spLocks noGrp="1"/>
          </p:cNvSpPr>
          <p:nvPr>
            <p:ph type="sldNum" sz="quarter" idx="12"/>
          </p:nvPr>
        </p:nvSpPr>
        <p:spPr/>
        <p:txBody>
          <a:bodyPr/>
          <a:lstStyle/>
          <a:p>
            <a:fld id="{95AAEEEC-DCEC-4178-AB14-E7254A15A296}" type="slidenum">
              <a:rPr lang="en-US" smtClean="0"/>
              <a:t>‹#›</a:t>
            </a:fld>
            <a:endParaRPr lang="en-US"/>
          </a:p>
        </p:txBody>
      </p:sp>
    </p:spTree>
    <p:extLst>
      <p:ext uri="{BB962C8B-B14F-4D97-AF65-F5344CB8AC3E}">
        <p14:creationId xmlns:p14="http://schemas.microsoft.com/office/powerpoint/2010/main" val="29374194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286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291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r>
              <a:rPr lang="en-US"/>
              <a:t>Vincenzo Gulisano</a:t>
            </a:r>
          </a:p>
        </p:txBody>
      </p:sp>
      <p:sp>
        <p:nvSpPr>
          <p:cNvPr id="6" name="Footer Placeholder 5"/>
          <p:cNvSpPr>
            <a:spLocks noGrp="1"/>
          </p:cNvSpPr>
          <p:nvPr>
            <p:ph type="ftr" sz="quarter" idx="11"/>
          </p:nvPr>
        </p:nvSpPr>
        <p:spPr/>
        <p:txBody>
          <a:bodyPr/>
          <a:lstStyle/>
          <a:p>
            <a:r>
              <a:rPr lang="en-US"/>
              <a:t>Operating Systems - Processes</a:t>
            </a:r>
          </a:p>
        </p:txBody>
      </p:sp>
      <p:sp>
        <p:nvSpPr>
          <p:cNvPr id="7" name="Slide Number Placeholder 6"/>
          <p:cNvSpPr>
            <a:spLocks noGrp="1"/>
          </p:cNvSpPr>
          <p:nvPr>
            <p:ph type="sldNum" sz="quarter" idx="12"/>
          </p:nvPr>
        </p:nvSpPr>
        <p:spPr/>
        <p:txBody>
          <a:bodyPr/>
          <a:lstStyle/>
          <a:p>
            <a:fld id="{95AAEEEC-DCEC-4178-AB14-E7254A15A296}" type="slidenum">
              <a:rPr lang="en-US" smtClean="0"/>
              <a:t>‹#›</a:t>
            </a:fld>
            <a:endParaRPr lang="en-US"/>
          </a:p>
        </p:txBody>
      </p:sp>
    </p:spTree>
    <p:extLst>
      <p:ext uri="{BB962C8B-B14F-4D97-AF65-F5344CB8AC3E}">
        <p14:creationId xmlns:p14="http://schemas.microsoft.com/office/powerpoint/2010/main" val="19137527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p>
        </p:txBody>
      </p:sp>
      <p:sp>
        <p:nvSpPr>
          <p:cNvPr id="3" name="Text Placeholder 2"/>
          <p:cNvSpPr>
            <a:spLocks noGrp="1"/>
          </p:cNvSpPr>
          <p:nvPr>
            <p:ph type="body" idx="1"/>
          </p:nvPr>
        </p:nvSpPr>
        <p:spPr>
          <a:xfrm>
            <a:off x="629842" y="1681163"/>
            <a:ext cx="3868340"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r>
              <a:rPr lang="en-US"/>
              <a:t>Vincenzo Gulisano</a:t>
            </a:r>
          </a:p>
        </p:txBody>
      </p:sp>
      <p:sp>
        <p:nvSpPr>
          <p:cNvPr id="8" name="Footer Placeholder 7"/>
          <p:cNvSpPr>
            <a:spLocks noGrp="1"/>
          </p:cNvSpPr>
          <p:nvPr>
            <p:ph type="ftr" sz="quarter" idx="11"/>
          </p:nvPr>
        </p:nvSpPr>
        <p:spPr/>
        <p:txBody>
          <a:bodyPr/>
          <a:lstStyle/>
          <a:p>
            <a:r>
              <a:rPr lang="en-US"/>
              <a:t>Operating Systems - Processes</a:t>
            </a:r>
          </a:p>
        </p:txBody>
      </p:sp>
      <p:sp>
        <p:nvSpPr>
          <p:cNvPr id="9" name="Slide Number Placeholder 8"/>
          <p:cNvSpPr>
            <a:spLocks noGrp="1"/>
          </p:cNvSpPr>
          <p:nvPr>
            <p:ph type="sldNum" sz="quarter" idx="12"/>
          </p:nvPr>
        </p:nvSpPr>
        <p:spPr/>
        <p:txBody>
          <a:bodyPr/>
          <a:lstStyle/>
          <a:p>
            <a:fld id="{95AAEEEC-DCEC-4178-AB14-E7254A15A296}" type="slidenum">
              <a:rPr lang="en-US" smtClean="0"/>
              <a:t>‹#›</a:t>
            </a:fld>
            <a:endParaRPr lang="en-US"/>
          </a:p>
        </p:txBody>
      </p:sp>
    </p:spTree>
    <p:extLst>
      <p:ext uri="{BB962C8B-B14F-4D97-AF65-F5344CB8AC3E}">
        <p14:creationId xmlns:p14="http://schemas.microsoft.com/office/powerpoint/2010/main" val="34208021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r>
              <a:rPr lang="en-US"/>
              <a:t>Vincenzo Gulisano</a:t>
            </a:r>
          </a:p>
        </p:txBody>
      </p:sp>
      <p:sp>
        <p:nvSpPr>
          <p:cNvPr id="4" name="Footer Placeholder 3"/>
          <p:cNvSpPr>
            <a:spLocks noGrp="1"/>
          </p:cNvSpPr>
          <p:nvPr>
            <p:ph type="ftr" sz="quarter" idx="11"/>
          </p:nvPr>
        </p:nvSpPr>
        <p:spPr/>
        <p:txBody>
          <a:bodyPr/>
          <a:lstStyle/>
          <a:p>
            <a:r>
              <a:rPr lang="en-US"/>
              <a:t>Operating Systems - Processes</a:t>
            </a:r>
          </a:p>
        </p:txBody>
      </p:sp>
      <p:sp>
        <p:nvSpPr>
          <p:cNvPr id="5" name="Slide Number Placeholder 4"/>
          <p:cNvSpPr>
            <a:spLocks noGrp="1"/>
          </p:cNvSpPr>
          <p:nvPr>
            <p:ph type="sldNum" sz="quarter" idx="12"/>
          </p:nvPr>
        </p:nvSpPr>
        <p:spPr/>
        <p:txBody>
          <a:bodyPr/>
          <a:lstStyle/>
          <a:p>
            <a:fld id="{95AAEEEC-DCEC-4178-AB14-E7254A15A296}" type="slidenum">
              <a:rPr lang="en-US" smtClean="0"/>
              <a:t>‹#›</a:t>
            </a:fld>
            <a:endParaRPr lang="en-US"/>
          </a:p>
        </p:txBody>
      </p:sp>
    </p:spTree>
    <p:extLst>
      <p:ext uri="{BB962C8B-B14F-4D97-AF65-F5344CB8AC3E}">
        <p14:creationId xmlns:p14="http://schemas.microsoft.com/office/powerpoint/2010/main" val="382842792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en-US"/>
              <a:t>Vincenzo Gulisano</a:t>
            </a:r>
          </a:p>
        </p:txBody>
      </p:sp>
      <p:sp>
        <p:nvSpPr>
          <p:cNvPr id="3" name="Footer Placeholder 2"/>
          <p:cNvSpPr>
            <a:spLocks noGrp="1"/>
          </p:cNvSpPr>
          <p:nvPr>
            <p:ph type="ftr" sz="quarter" idx="11"/>
          </p:nvPr>
        </p:nvSpPr>
        <p:spPr/>
        <p:txBody>
          <a:bodyPr/>
          <a:lstStyle/>
          <a:p>
            <a:r>
              <a:rPr lang="en-US"/>
              <a:t>Operating Systems - Processes</a:t>
            </a:r>
          </a:p>
        </p:txBody>
      </p:sp>
      <p:sp>
        <p:nvSpPr>
          <p:cNvPr id="4" name="Slide Number Placeholder 3"/>
          <p:cNvSpPr>
            <a:spLocks noGrp="1"/>
          </p:cNvSpPr>
          <p:nvPr>
            <p:ph type="sldNum" sz="quarter" idx="12"/>
          </p:nvPr>
        </p:nvSpPr>
        <p:spPr/>
        <p:txBody>
          <a:bodyPr/>
          <a:lstStyle/>
          <a:p>
            <a:fld id="{95AAEEEC-DCEC-4178-AB14-E7254A15A296}" type="slidenum">
              <a:rPr lang="en-US" smtClean="0"/>
              <a:t>‹#›</a:t>
            </a:fld>
            <a:endParaRPr lang="en-US"/>
          </a:p>
        </p:txBody>
      </p:sp>
    </p:spTree>
    <p:extLst>
      <p:ext uri="{BB962C8B-B14F-4D97-AF65-F5344CB8AC3E}">
        <p14:creationId xmlns:p14="http://schemas.microsoft.com/office/powerpoint/2010/main" val="352251365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2400"/>
            </a:lvl1pPr>
          </a:lstStyle>
          <a:p>
            <a:r>
              <a:rPr lang="en-US"/>
              <a:t>Click to edit Master title style</a:t>
            </a:r>
          </a:p>
        </p:txBody>
      </p:sp>
      <p:sp>
        <p:nvSpPr>
          <p:cNvPr id="3" name="Content Placeholder 2"/>
          <p:cNvSpPr>
            <a:spLocks noGrp="1"/>
          </p:cNvSpPr>
          <p:nvPr>
            <p:ph idx="1"/>
          </p:nvPr>
        </p:nvSpPr>
        <p:spPr>
          <a:xfrm>
            <a:off x="3887391" y="987426"/>
            <a:ext cx="462915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r>
              <a:rPr lang="en-US"/>
              <a:t>Vincenzo Gulisano</a:t>
            </a:r>
          </a:p>
        </p:txBody>
      </p:sp>
      <p:sp>
        <p:nvSpPr>
          <p:cNvPr id="6" name="Footer Placeholder 5"/>
          <p:cNvSpPr>
            <a:spLocks noGrp="1"/>
          </p:cNvSpPr>
          <p:nvPr>
            <p:ph type="ftr" sz="quarter" idx="11"/>
          </p:nvPr>
        </p:nvSpPr>
        <p:spPr/>
        <p:txBody>
          <a:bodyPr/>
          <a:lstStyle/>
          <a:p>
            <a:r>
              <a:rPr lang="en-US"/>
              <a:t>Operating Systems - Processes</a:t>
            </a:r>
          </a:p>
        </p:txBody>
      </p:sp>
      <p:sp>
        <p:nvSpPr>
          <p:cNvPr id="7" name="Slide Number Placeholder 6"/>
          <p:cNvSpPr>
            <a:spLocks noGrp="1"/>
          </p:cNvSpPr>
          <p:nvPr>
            <p:ph type="sldNum" sz="quarter" idx="12"/>
          </p:nvPr>
        </p:nvSpPr>
        <p:spPr/>
        <p:txBody>
          <a:bodyPr/>
          <a:lstStyle/>
          <a:p>
            <a:fld id="{95AAEEEC-DCEC-4178-AB14-E7254A15A296}" type="slidenum">
              <a:rPr lang="en-US" smtClean="0"/>
              <a:t>‹#›</a:t>
            </a:fld>
            <a:endParaRPr lang="en-US"/>
          </a:p>
        </p:txBody>
      </p:sp>
    </p:spTree>
    <p:extLst>
      <p:ext uri="{BB962C8B-B14F-4D97-AF65-F5344CB8AC3E}">
        <p14:creationId xmlns:p14="http://schemas.microsoft.com/office/powerpoint/2010/main" val="110344491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2400"/>
            </a:lvl1pPr>
          </a:lstStyle>
          <a:p>
            <a:r>
              <a:rPr lang="en-US"/>
              <a:t>Click to edit Master title style</a:t>
            </a:r>
          </a:p>
        </p:txBody>
      </p:sp>
      <p:sp>
        <p:nvSpPr>
          <p:cNvPr id="3" name="Picture Placeholder 2"/>
          <p:cNvSpPr>
            <a:spLocks noGrp="1"/>
          </p:cNvSpPr>
          <p:nvPr>
            <p:ph type="pic" idx="1"/>
          </p:nvPr>
        </p:nvSpPr>
        <p:spPr>
          <a:xfrm>
            <a:off x="3887391" y="987426"/>
            <a:ext cx="462915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r>
              <a:rPr lang="en-US"/>
              <a:t>Vincenzo Gulisano</a:t>
            </a:r>
          </a:p>
        </p:txBody>
      </p:sp>
      <p:sp>
        <p:nvSpPr>
          <p:cNvPr id="6" name="Footer Placeholder 5"/>
          <p:cNvSpPr>
            <a:spLocks noGrp="1"/>
          </p:cNvSpPr>
          <p:nvPr>
            <p:ph type="ftr" sz="quarter" idx="11"/>
          </p:nvPr>
        </p:nvSpPr>
        <p:spPr/>
        <p:txBody>
          <a:bodyPr/>
          <a:lstStyle/>
          <a:p>
            <a:r>
              <a:rPr lang="en-US"/>
              <a:t>Operating Systems - Processes</a:t>
            </a:r>
            <a:endParaRPr lang="en-US" dirty="0"/>
          </a:p>
        </p:txBody>
      </p:sp>
      <p:sp>
        <p:nvSpPr>
          <p:cNvPr id="7" name="Slide Number Placeholder 6"/>
          <p:cNvSpPr>
            <a:spLocks noGrp="1"/>
          </p:cNvSpPr>
          <p:nvPr>
            <p:ph type="sldNum" sz="quarter" idx="12"/>
          </p:nvPr>
        </p:nvSpPr>
        <p:spPr/>
        <p:txBody>
          <a:bodyPr/>
          <a:lstStyle/>
          <a:p>
            <a:fld id="{95AAEEEC-DCEC-4178-AB14-E7254A15A296}" type="slidenum">
              <a:rPr lang="en-US" smtClean="0"/>
              <a:t>‹#›</a:t>
            </a:fld>
            <a:endParaRPr lang="en-US"/>
          </a:p>
        </p:txBody>
      </p:sp>
    </p:spTree>
    <p:extLst>
      <p:ext uri="{BB962C8B-B14F-4D97-AF65-F5344CB8AC3E}">
        <p14:creationId xmlns:p14="http://schemas.microsoft.com/office/powerpoint/2010/main" val="202571462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r>
              <a:rPr lang="en-US"/>
              <a:t>Vincenzo Gulisano</a:t>
            </a:r>
          </a:p>
        </p:txBody>
      </p:sp>
      <p:sp>
        <p:nvSpPr>
          <p:cNvPr id="5" name="Footer Placeholder 4"/>
          <p:cNvSpPr>
            <a:spLocks noGrp="1"/>
          </p:cNvSpPr>
          <p:nvPr>
            <p:ph type="ftr" sz="quarter" idx="11"/>
          </p:nvPr>
        </p:nvSpPr>
        <p:spPr/>
        <p:txBody>
          <a:bodyPr/>
          <a:lstStyle/>
          <a:p>
            <a:r>
              <a:rPr lang="en-US"/>
              <a:t>Operating Systems - Processes</a:t>
            </a:r>
          </a:p>
        </p:txBody>
      </p:sp>
      <p:sp>
        <p:nvSpPr>
          <p:cNvPr id="6" name="Slide Number Placeholder 5"/>
          <p:cNvSpPr>
            <a:spLocks noGrp="1"/>
          </p:cNvSpPr>
          <p:nvPr>
            <p:ph type="sldNum" sz="quarter" idx="12"/>
          </p:nvPr>
        </p:nvSpPr>
        <p:spPr/>
        <p:txBody>
          <a:bodyPr/>
          <a:lstStyle/>
          <a:p>
            <a:fld id="{95AAEEEC-DCEC-4178-AB14-E7254A15A296}" type="slidenum">
              <a:rPr lang="en-US" smtClean="0"/>
              <a:t>‹#›</a:t>
            </a:fld>
            <a:endParaRPr lang="en-US"/>
          </a:p>
        </p:txBody>
      </p:sp>
    </p:spTree>
    <p:extLst>
      <p:ext uri="{BB962C8B-B14F-4D97-AF65-F5344CB8AC3E}">
        <p14:creationId xmlns:p14="http://schemas.microsoft.com/office/powerpoint/2010/main" val="121746632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r>
              <a:rPr lang="en-US"/>
              <a:t>Vincenzo Gulisano</a:t>
            </a:r>
          </a:p>
        </p:txBody>
      </p:sp>
      <p:sp>
        <p:nvSpPr>
          <p:cNvPr id="5" name="Footer Placeholder 4"/>
          <p:cNvSpPr>
            <a:spLocks noGrp="1"/>
          </p:cNvSpPr>
          <p:nvPr>
            <p:ph type="ftr" sz="quarter" idx="11"/>
          </p:nvPr>
        </p:nvSpPr>
        <p:spPr/>
        <p:txBody>
          <a:bodyPr/>
          <a:lstStyle/>
          <a:p>
            <a:r>
              <a:rPr lang="en-US"/>
              <a:t>Operating Systems - Processes</a:t>
            </a:r>
          </a:p>
        </p:txBody>
      </p:sp>
      <p:sp>
        <p:nvSpPr>
          <p:cNvPr id="6" name="Slide Number Placeholder 5"/>
          <p:cNvSpPr>
            <a:spLocks noGrp="1"/>
          </p:cNvSpPr>
          <p:nvPr>
            <p:ph type="sldNum" sz="quarter" idx="12"/>
          </p:nvPr>
        </p:nvSpPr>
        <p:spPr/>
        <p:txBody>
          <a:bodyPr/>
          <a:lstStyle/>
          <a:p>
            <a:fld id="{95AAEEEC-DCEC-4178-AB14-E7254A15A296}" type="slidenum">
              <a:rPr lang="en-US" smtClean="0"/>
              <a:t>‹#›</a:t>
            </a:fld>
            <a:endParaRPr lang="en-US"/>
          </a:p>
        </p:txBody>
      </p:sp>
    </p:spTree>
    <p:extLst>
      <p:ext uri="{BB962C8B-B14F-4D97-AF65-F5344CB8AC3E}">
        <p14:creationId xmlns:p14="http://schemas.microsoft.com/office/powerpoint/2010/main" val="247051370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
        <p:nvSpPr>
          <p:cNvPr id="152578" name="Rectangle 2"/>
          <p:cNvSpPr>
            <a:spLocks noGrp="1" noChangeArrowheads="1"/>
          </p:cNvSpPr>
          <p:nvPr>
            <p:ph type="ctrTitle"/>
          </p:nvPr>
        </p:nvSpPr>
        <p:spPr>
          <a:xfrm>
            <a:off x="685800" y="685800"/>
            <a:ext cx="7772400" cy="2127250"/>
          </a:xfrm>
        </p:spPr>
        <p:txBody>
          <a:bodyPr/>
          <a:lstStyle>
            <a:lvl1pPr>
              <a:defRPr sz="4300"/>
            </a:lvl1pPr>
          </a:lstStyle>
          <a:p>
            <a:r>
              <a:rPr lang="en-US" dirty="0"/>
              <a:t>Click to edit Master title style</a:t>
            </a:r>
          </a:p>
        </p:txBody>
      </p:sp>
    </p:spTree>
    <p:extLst>
      <p:ext uri="{BB962C8B-B14F-4D97-AF65-F5344CB8AC3E}">
        <p14:creationId xmlns:p14="http://schemas.microsoft.com/office/powerpoint/2010/main" val="126946150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900">
                <a:solidFill>
                  <a:schemeClr val="tx1">
                    <a:tint val="75000"/>
                  </a:schemeClr>
                </a:solidFill>
              </a:defRPr>
            </a:lvl1pPr>
          </a:lstStyle>
          <a:p>
            <a:r>
              <a:rPr lang="en-US"/>
              <a:t>Vincenzo Gulisano</a:t>
            </a:r>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r>
              <a:rPr lang="en-US"/>
              <a:t>Operating Systems - Processes</a:t>
            </a:r>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95AAEEEC-DCEC-4178-AB14-E7254A15A296}" type="slidenum">
              <a:rPr lang="en-US" smtClean="0"/>
              <a:t>‹#›</a:t>
            </a:fld>
            <a:endParaRPr lang="en-US"/>
          </a:p>
        </p:txBody>
      </p:sp>
    </p:spTree>
    <p:extLst>
      <p:ext uri="{BB962C8B-B14F-4D97-AF65-F5344CB8AC3E}">
        <p14:creationId xmlns:p14="http://schemas.microsoft.com/office/powerpoint/2010/main" val="1278717492"/>
      </p:ext>
    </p:extLst>
  </p:cSld>
  <p:clrMap bg1="lt1" tx1="dk1" bg2="lt2" tx2="dk2" accent1="accent1" accent2="accent2" accent3="accent3" accent4="accent4" accent5="accent5" accent6="accent6" hlink="hlink" folHlink="folHlink"/>
  <p:sldLayoutIdLst>
    <p:sldLayoutId id="2147484507" r:id="rId1"/>
    <p:sldLayoutId id="2147484508" r:id="rId2"/>
    <p:sldLayoutId id="2147484509" r:id="rId3"/>
    <p:sldLayoutId id="2147484510" r:id="rId4"/>
    <p:sldLayoutId id="2147484511" r:id="rId5"/>
    <p:sldLayoutId id="2147484512" r:id="rId6"/>
    <p:sldLayoutId id="2147484513" r:id="rId7"/>
    <p:sldLayoutId id="2147484514" r:id="rId8"/>
    <p:sldLayoutId id="2147484515" r:id="rId9"/>
    <p:sldLayoutId id="2147484516" r:id="rId10"/>
    <p:sldLayoutId id="2147484517" r:id="rId11"/>
    <p:sldLayoutId id="2147484518" r:id="rId12"/>
  </p:sldLayoutIdLst>
  <p:hf hdr="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gif"/><Relationship Id="rId2" Type="http://schemas.openxmlformats.org/officeDocument/2006/relationships/notesSlide" Target="../notesSlides/notesSlide1.xml"/><Relationship Id="rId1" Type="http://schemas.openxmlformats.org/officeDocument/2006/relationships/slideLayout" Target="../slideLayouts/slideLayout12.xml"/><Relationship Id="rId4"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tiff"/><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6.tiff"/><Relationship Id="rId4" Type="http://schemas.openxmlformats.org/officeDocument/2006/relationships/image" Target="../media/image5.tiff"/></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3.emf"/><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14.jpeg"/></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47.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24.tiff"/><Relationship Id="rId2" Type="http://schemas.openxmlformats.org/officeDocument/2006/relationships/notesSlide" Target="../notesSlides/notesSlide55.xml"/><Relationship Id="rId1" Type="http://schemas.openxmlformats.org/officeDocument/2006/relationships/slideLayout" Target="../slideLayouts/slideLayout12.xml"/></Relationships>
</file>

<file path=ppt/slides/_rels/slide63.xml.rels><?xml version="1.0" encoding="UTF-8" standalone="yes"?>
<Relationships xmlns="http://schemas.openxmlformats.org/package/2006/relationships"><Relationship Id="rId3" Type="http://schemas.openxmlformats.org/officeDocument/2006/relationships/image" Target="../media/image25.tiff"/><Relationship Id="rId2" Type="http://schemas.openxmlformats.org/officeDocument/2006/relationships/notesSlide" Target="../notesSlides/notesSlide56.xml"/><Relationship Id="rId1" Type="http://schemas.openxmlformats.org/officeDocument/2006/relationships/slideLayout" Target="../slideLayouts/slideLayout1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Rectangle 4"/>
          <p:cNvSpPr>
            <a:spLocks noGrp="1" noChangeArrowheads="1"/>
          </p:cNvSpPr>
          <p:nvPr>
            <p:ph type="ctrTitle"/>
          </p:nvPr>
        </p:nvSpPr>
        <p:spPr>
          <a:xfrm>
            <a:off x="632460" y="1424940"/>
            <a:ext cx="7772400" cy="2127250"/>
          </a:xfrm>
        </p:spPr>
        <p:txBody>
          <a:bodyPr>
            <a:normAutofit fontScale="90000"/>
          </a:bodyPr>
          <a:lstStyle/>
          <a:p>
            <a:r>
              <a:rPr lang="en-US" altLang="en-US" sz="4000" dirty="0"/>
              <a:t>Processes</a:t>
            </a:r>
            <a:br>
              <a:rPr lang="en-US" altLang="en-US" sz="4000" dirty="0"/>
            </a:br>
            <a:r>
              <a:rPr lang="en-US" altLang="en-US" sz="4000" dirty="0"/>
              <a:t>Operating Systems – EDA093/DIT401</a:t>
            </a:r>
            <a:br>
              <a:rPr lang="en-US" altLang="en-US" dirty="0"/>
            </a:br>
            <a:br>
              <a:rPr lang="en-US" altLang="en-US" dirty="0"/>
            </a:br>
            <a:r>
              <a:rPr lang="en-US" altLang="en-US" sz="3200" dirty="0"/>
              <a:t>Vincenzo Gulisano</a:t>
            </a:r>
            <a:br>
              <a:rPr lang="en-US" altLang="en-US" sz="3200" dirty="0"/>
            </a:br>
            <a:r>
              <a:rPr lang="en-US" altLang="en-US" sz="2000" dirty="0"/>
              <a:t>vincenzo.gulisano@chalmers.se</a:t>
            </a:r>
            <a:endParaRPr lang="en-US" altLang="en-US" sz="2700" dirty="0"/>
          </a:p>
        </p:txBody>
      </p:sp>
      <p:grpSp>
        <p:nvGrpSpPr>
          <p:cNvPr id="3" name="Group 2">
            <a:extLst>
              <a:ext uri="{FF2B5EF4-FFF2-40B4-BE49-F238E27FC236}">
                <a16:creationId xmlns:a16="http://schemas.microsoft.com/office/drawing/2014/main" id="{2F0954AD-014F-D70D-D571-05ED1FF3D817}"/>
              </a:ext>
            </a:extLst>
          </p:cNvPr>
          <p:cNvGrpSpPr/>
          <p:nvPr/>
        </p:nvGrpSpPr>
        <p:grpSpPr>
          <a:xfrm>
            <a:off x="1019615" y="4793437"/>
            <a:ext cx="7104771" cy="1547400"/>
            <a:chOff x="777241" y="4793437"/>
            <a:chExt cx="7104771" cy="1547400"/>
          </a:xfrm>
        </p:grpSpPr>
        <p:pic>
          <p:nvPicPr>
            <p:cNvPr id="3080" name="Picture 8" descr="http://sgroup.be/sites/default/files/LOGUeng_cen2r.gif"/>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03022" y="4793437"/>
              <a:ext cx="2078990" cy="1547400"/>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1">
              <a:extLst>
                <a:ext uri="{FF2B5EF4-FFF2-40B4-BE49-F238E27FC236}">
                  <a16:creationId xmlns:a16="http://schemas.microsoft.com/office/drawing/2014/main" id="{EA8FDD09-4B79-4233-ADA9-FBA032D03856}"/>
                </a:ext>
              </a:extLst>
            </p:cNvPr>
            <p:cNvPicPr>
              <a:picLocks noChangeAspect="1"/>
            </p:cNvPicPr>
            <p:nvPr/>
          </p:nvPicPr>
          <p:blipFill>
            <a:blip r:embed="rId4"/>
            <a:stretch>
              <a:fillRect/>
            </a:stretch>
          </p:blipFill>
          <p:spPr>
            <a:xfrm>
              <a:off x="777241" y="4973870"/>
              <a:ext cx="4724632" cy="1186535"/>
            </a:xfrm>
            <a:prstGeom prst="rect">
              <a:avLst/>
            </a:prstGeom>
          </p:spPr>
        </p:pic>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What to read (Main textbook)</a:t>
            </a:r>
          </a:p>
        </p:txBody>
      </p:sp>
      <p:sp>
        <p:nvSpPr>
          <p:cNvPr id="3" name="Content Placeholder 2"/>
          <p:cNvSpPr>
            <a:spLocks noGrp="1"/>
          </p:cNvSpPr>
          <p:nvPr>
            <p:ph idx="1"/>
          </p:nvPr>
        </p:nvSpPr>
        <p:spPr/>
        <p:txBody>
          <a:bodyPr/>
          <a:lstStyle/>
          <a:p>
            <a:r>
              <a:rPr lang="en-US" dirty="0"/>
              <a:t>Chapter 2.1</a:t>
            </a:r>
            <a:br>
              <a:rPr lang="en-US" dirty="0"/>
            </a:br>
            <a:br>
              <a:rPr lang="en-US" dirty="0"/>
            </a:br>
            <a:r>
              <a:rPr lang="en-US" dirty="0"/>
              <a:t>(optional additional reading: 3.1-3.4, 3.5.3, 3.6.3 from Silberschatz Operating System Concepts)</a:t>
            </a:r>
          </a:p>
        </p:txBody>
      </p:sp>
      <p:sp>
        <p:nvSpPr>
          <p:cNvPr id="4" name="Date Placeholder 3"/>
          <p:cNvSpPr>
            <a:spLocks noGrp="1"/>
          </p:cNvSpPr>
          <p:nvPr>
            <p:ph type="dt" sz="half" idx="10"/>
          </p:nvPr>
        </p:nvSpPr>
        <p:spPr/>
        <p:txBody>
          <a:bodyPr/>
          <a:lstStyle/>
          <a:p>
            <a:r>
              <a:rPr lang="en-US"/>
              <a:t>Vincenzo Gulisano</a:t>
            </a:r>
          </a:p>
        </p:txBody>
      </p:sp>
      <p:sp>
        <p:nvSpPr>
          <p:cNvPr id="5" name="Footer Placeholder 4"/>
          <p:cNvSpPr>
            <a:spLocks noGrp="1"/>
          </p:cNvSpPr>
          <p:nvPr>
            <p:ph type="ftr" sz="quarter" idx="11"/>
          </p:nvPr>
        </p:nvSpPr>
        <p:spPr/>
        <p:txBody>
          <a:bodyPr/>
          <a:lstStyle/>
          <a:p>
            <a:r>
              <a:rPr lang="en-US"/>
              <a:t>Operating Systems - Processes</a:t>
            </a:r>
          </a:p>
        </p:txBody>
      </p:sp>
      <p:sp>
        <p:nvSpPr>
          <p:cNvPr id="6" name="Slide Number Placeholder 5"/>
          <p:cNvSpPr>
            <a:spLocks noGrp="1"/>
          </p:cNvSpPr>
          <p:nvPr>
            <p:ph type="sldNum" sz="quarter" idx="12"/>
          </p:nvPr>
        </p:nvSpPr>
        <p:spPr/>
        <p:txBody>
          <a:bodyPr/>
          <a:lstStyle/>
          <a:p>
            <a:fld id="{F08E1FC2-92BA-6B49-AE60-B1AE3118BF2A}" type="slidenum">
              <a:rPr lang="en-US" smtClean="0"/>
              <a:t>2</a:t>
            </a:fld>
            <a:endParaRPr lang="en-US"/>
          </a:p>
        </p:txBody>
      </p:sp>
    </p:spTree>
    <p:extLst>
      <p:ext uri="{BB962C8B-B14F-4D97-AF65-F5344CB8AC3E}">
        <p14:creationId xmlns:p14="http://schemas.microsoft.com/office/powerpoint/2010/main" val="178712807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Title 1"/>
          <p:cNvSpPr>
            <a:spLocks noGrp="1"/>
          </p:cNvSpPr>
          <p:nvPr>
            <p:ph type="title"/>
          </p:nvPr>
        </p:nvSpPr>
        <p:spPr/>
        <p:txBody>
          <a:bodyPr/>
          <a:lstStyle/>
          <a:p>
            <a:r>
              <a:rPr lang="en-US" altLang="en-US"/>
              <a:t>Objectives</a:t>
            </a:r>
          </a:p>
        </p:txBody>
      </p:sp>
      <p:sp>
        <p:nvSpPr>
          <p:cNvPr id="5123" name="Content Placeholder 2"/>
          <p:cNvSpPr>
            <a:spLocks noGrp="1"/>
          </p:cNvSpPr>
          <p:nvPr>
            <p:ph idx="1"/>
          </p:nvPr>
        </p:nvSpPr>
        <p:spPr>
          <a:xfrm>
            <a:off x="628650" y="1825625"/>
            <a:ext cx="4596493" cy="4351338"/>
          </a:xfrm>
        </p:spPr>
        <p:txBody>
          <a:bodyPr/>
          <a:lstStyle/>
          <a:p>
            <a:r>
              <a:rPr lang="en-US" altLang="en-US" dirty="0"/>
              <a:t>To introduce the notion of a process: a program in execution, which forms the basis of all computation</a:t>
            </a:r>
          </a:p>
          <a:p>
            <a:r>
              <a:rPr lang="en-US" altLang="en-US" dirty="0"/>
              <a:t>To describe the various features of processes, including scheduling, creation and termination, and communication</a:t>
            </a:r>
          </a:p>
          <a:p>
            <a:r>
              <a:rPr lang="en-US" altLang="en-US" dirty="0"/>
              <a:t>To explore </a:t>
            </a:r>
            <a:r>
              <a:rPr lang="en-US" altLang="en-US" dirty="0" err="1"/>
              <a:t>interprocess</a:t>
            </a:r>
            <a:r>
              <a:rPr lang="en-US" altLang="en-US" dirty="0"/>
              <a:t> communication using shared memory and message passing</a:t>
            </a:r>
          </a:p>
        </p:txBody>
      </p:sp>
      <p:sp>
        <p:nvSpPr>
          <p:cNvPr id="2" name="Footer Placeholder 1"/>
          <p:cNvSpPr>
            <a:spLocks noGrp="1"/>
          </p:cNvSpPr>
          <p:nvPr>
            <p:ph type="ftr" sz="quarter" idx="11"/>
          </p:nvPr>
        </p:nvSpPr>
        <p:spPr/>
        <p:txBody>
          <a:bodyPr/>
          <a:lstStyle/>
          <a:p>
            <a:r>
              <a:rPr lang="en-US"/>
              <a:t>Operating Systems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3</a:t>
            </a:fld>
            <a:endParaRPr lang="en-US"/>
          </a:p>
        </p:txBody>
      </p:sp>
      <p:sp>
        <p:nvSpPr>
          <p:cNvPr id="12" name="Date Placeholder 11"/>
          <p:cNvSpPr>
            <a:spLocks noGrp="1"/>
          </p:cNvSpPr>
          <p:nvPr>
            <p:ph type="dt" sz="half" idx="10"/>
          </p:nvPr>
        </p:nvSpPr>
        <p:spPr/>
        <p:txBody>
          <a:bodyPr/>
          <a:lstStyle/>
          <a:p>
            <a:r>
              <a:rPr lang="en-US"/>
              <a:t>Vincenzo Gulisano</a:t>
            </a:r>
          </a:p>
        </p:txBody>
      </p:sp>
      <p:pic>
        <p:nvPicPr>
          <p:cNvPr id="1026"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285647" y="1230085"/>
            <a:ext cx="3275338" cy="4746174"/>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AGENDA</a:t>
            </a:r>
            <a:endParaRPr lang="en-US" dirty="0"/>
          </a:p>
        </p:txBody>
      </p:sp>
      <p:sp>
        <p:nvSpPr>
          <p:cNvPr id="3" name="Content Placeholder 2"/>
          <p:cNvSpPr>
            <a:spLocks noGrp="1"/>
          </p:cNvSpPr>
          <p:nvPr>
            <p:ph idx="1"/>
          </p:nvPr>
        </p:nvSpPr>
        <p:spPr/>
        <p:txBody>
          <a:bodyPr/>
          <a:lstStyle/>
          <a:p>
            <a:r>
              <a:rPr lang="en-US" dirty="0"/>
              <a:t>Processes (Introduction)</a:t>
            </a:r>
          </a:p>
          <a:p>
            <a:r>
              <a:rPr lang="en-US" dirty="0"/>
              <a:t>Process Scheduling</a:t>
            </a:r>
          </a:p>
          <a:p>
            <a:r>
              <a:rPr lang="en-US" dirty="0"/>
              <a:t>Operations on Processes</a:t>
            </a:r>
          </a:p>
          <a:p>
            <a:r>
              <a:rPr lang="en-US" dirty="0"/>
              <a:t>Interprocess Communication (contains self-reading part)</a:t>
            </a:r>
          </a:p>
        </p:txBody>
      </p:sp>
      <p:sp>
        <p:nvSpPr>
          <p:cNvPr id="4" name="Footer Placeholder 3"/>
          <p:cNvSpPr>
            <a:spLocks noGrp="1"/>
          </p:cNvSpPr>
          <p:nvPr>
            <p:ph type="ftr" sz="quarter" idx="11"/>
          </p:nvPr>
        </p:nvSpPr>
        <p:spPr/>
        <p:txBody>
          <a:bodyPr/>
          <a:lstStyle/>
          <a:p>
            <a:r>
              <a:rPr lang="en-US"/>
              <a:t>Operating Systems - Processes</a:t>
            </a:r>
          </a:p>
        </p:txBody>
      </p:sp>
      <p:sp>
        <p:nvSpPr>
          <p:cNvPr id="5" name="Slide Number Placeholder 4"/>
          <p:cNvSpPr>
            <a:spLocks noGrp="1"/>
          </p:cNvSpPr>
          <p:nvPr>
            <p:ph type="sldNum" sz="quarter" idx="12"/>
          </p:nvPr>
        </p:nvSpPr>
        <p:spPr/>
        <p:txBody>
          <a:bodyPr/>
          <a:lstStyle/>
          <a:p>
            <a:fld id="{95AAEEEC-DCEC-4178-AB14-E7254A15A296}" type="slidenum">
              <a:rPr lang="en-US" smtClean="0"/>
              <a:pPr/>
              <a:t>4</a:t>
            </a:fld>
            <a:endParaRPr lang="en-US"/>
          </a:p>
        </p:txBody>
      </p:sp>
      <p:sp>
        <p:nvSpPr>
          <p:cNvPr id="10" name="Date Placeholder 9"/>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68679208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AGENDA</a:t>
            </a:r>
            <a:endParaRPr lang="en-US" dirty="0"/>
          </a:p>
        </p:txBody>
      </p:sp>
      <p:sp>
        <p:nvSpPr>
          <p:cNvPr id="3" name="Content Placeholder 2"/>
          <p:cNvSpPr>
            <a:spLocks noGrp="1"/>
          </p:cNvSpPr>
          <p:nvPr>
            <p:ph idx="1"/>
          </p:nvPr>
        </p:nvSpPr>
        <p:spPr/>
        <p:txBody>
          <a:bodyPr/>
          <a:lstStyle/>
          <a:p>
            <a:r>
              <a:rPr lang="en-US" dirty="0"/>
              <a:t>Processes (Introduction)</a:t>
            </a:r>
          </a:p>
          <a:p>
            <a:r>
              <a:rPr lang="en-US" dirty="0">
                <a:solidFill>
                  <a:schemeClr val="bg2">
                    <a:lumMod val="90000"/>
                  </a:schemeClr>
                </a:solidFill>
              </a:rPr>
              <a:t>Process Scheduling</a:t>
            </a:r>
          </a:p>
          <a:p>
            <a:r>
              <a:rPr lang="en-US" dirty="0">
                <a:solidFill>
                  <a:schemeClr val="bg2">
                    <a:lumMod val="90000"/>
                  </a:schemeClr>
                </a:solidFill>
              </a:rPr>
              <a:t>Operations on Processes</a:t>
            </a:r>
          </a:p>
          <a:p>
            <a:r>
              <a:rPr lang="en-US" dirty="0">
                <a:solidFill>
                  <a:schemeClr val="bg2">
                    <a:lumMod val="90000"/>
                  </a:schemeClr>
                </a:solidFill>
              </a:rPr>
              <a:t>Interprocess Communication (contains self-reading part)</a:t>
            </a:r>
          </a:p>
        </p:txBody>
      </p:sp>
      <p:sp>
        <p:nvSpPr>
          <p:cNvPr id="4" name="Footer Placeholder 3"/>
          <p:cNvSpPr>
            <a:spLocks noGrp="1"/>
          </p:cNvSpPr>
          <p:nvPr>
            <p:ph type="ftr" sz="quarter" idx="11"/>
          </p:nvPr>
        </p:nvSpPr>
        <p:spPr/>
        <p:txBody>
          <a:bodyPr/>
          <a:lstStyle/>
          <a:p>
            <a:r>
              <a:rPr lang="en-US"/>
              <a:t>Operating Systems - Processes</a:t>
            </a:r>
          </a:p>
        </p:txBody>
      </p:sp>
      <p:sp>
        <p:nvSpPr>
          <p:cNvPr id="5" name="Slide Number Placeholder 4"/>
          <p:cNvSpPr>
            <a:spLocks noGrp="1"/>
          </p:cNvSpPr>
          <p:nvPr>
            <p:ph type="sldNum" sz="quarter" idx="12"/>
          </p:nvPr>
        </p:nvSpPr>
        <p:spPr/>
        <p:txBody>
          <a:bodyPr/>
          <a:lstStyle/>
          <a:p>
            <a:fld id="{95AAEEEC-DCEC-4178-AB14-E7254A15A296}" type="slidenum">
              <a:rPr lang="en-US" smtClean="0"/>
              <a:pPr/>
              <a:t>5</a:t>
            </a:fld>
            <a:endParaRPr lang="en-US"/>
          </a:p>
        </p:txBody>
      </p:sp>
      <p:sp>
        <p:nvSpPr>
          <p:cNvPr id="10" name="Date Placeholder 9"/>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11736282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628650" y="1986803"/>
            <a:ext cx="7886700" cy="3503169"/>
          </a:xfrm>
        </p:spPr>
        <p:txBody>
          <a:bodyPr/>
          <a:lstStyle/>
          <a:p>
            <a:pPr marL="385763" indent="-385763">
              <a:buFont typeface="+mj-lt"/>
              <a:buAutoNum type="arabicPeriod"/>
            </a:pPr>
            <a:r>
              <a:rPr lang="en-US" dirty="0"/>
              <a:t>We run several programs at </a:t>
            </a:r>
            <a:br>
              <a:rPr lang="en-US" dirty="0"/>
            </a:br>
            <a:r>
              <a:rPr lang="en-US" dirty="0"/>
              <a:t>the same time </a:t>
            </a:r>
          </a:p>
          <a:p>
            <a:pPr marL="385763" indent="-385763">
              <a:buFont typeface="+mj-lt"/>
              <a:buAutoNum type="arabicPeriod"/>
            </a:pPr>
            <a:endParaRPr lang="en-US" dirty="0"/>
          </a:p>
          <a:p>
            <a:pPr marL="385763" indent="-385763">
              <a:buFont typeface="+mj-lt"/>
              <a:buAutoNum type="arabicPeriod"/>
            </a:pPr>
            <a:endParaRPr lang="en-US" dirty="0"/>
          </a:p>
          <a:p>
            <a:pPr marL="385763" indent="-385763">
              <a:buFont typeface="+mj-lt"/>
              <a:buAutoNum type="arabicPeriod"/>
            </a:pPr>
            <a:endParaRPr lang="en-US" dirty="0"/>
          </a:p>
          <a:p>
            <a:pPr marL="385763" indent="-385763">
              <a:buFont typeface="+mj-lt"/>
              <a:buAutoNum type="arabicPeriod"/>
            </a:pPr>
            <a:endParaRPr lang="en-US" dirty="0"/>
          </a:p>
          <a:p>
            <a:pPr marL="385763" indent="-385763">
              <a:buFont typeface="+mj-lt"/>
              <a:buAutoNum type="arabicPeriod"/>
            </a:pPr>
            <a:r>
              <a:rPr lang="en-US" dirty="0"/>
              <a:t>One CPU can only run one</a:t>
            </a:r>
            <a:br>
              <a:rPr lang="en-US" dirty="0"/>
            </a:br>
            <a:r>
              <a:rPr lang="en-US" dirty="0"/>
              <a:t> program at a time</a:t>
            </a:r>
          </a:p>
        </p:txBody>
      </p:sp>
      <p:pic>
        <p:nvPicPr>
          <p:cNvPr id="5" name="Picture 4"/>
          <p:cNvPicPr>
            <a:picLocks noChangeAspect="1"/>
          </p:cNvPicPr>
          <p:nvPr/>
        </p:nvPicPr>
        <p:blipFill>
          <a:blip r:embed="rId3"/>
          <a:stretch>
            <a:fillRect/>
          </a:stretch>
        </p:blipFill>
        <p:spPr>
          <a:xfrm>
            <a:off x="4978774" y="1279543"/>
            <a:ext cx="3133165" cy="2104670"/>
          </a:xfrm>
          <a:prstGeom prst="rect">
            <a:avLst/>
          </a:prstGeom>
        </p:spPr>
      </p:pic>
      <p:grpSp>
        <p:nvGrpSpPr>
          <p:cNvPr id="2" name="Group 1"/>
          <p:cNvGrpSpPr/>
          <p:nvPr/>
        </p:nvGrpSpPr>
        <p:grpSpPr>
          <a:xfrm>
            <a:off x="4680418" y="3770026"/>
            <a:ext cx="4187555" cy="1307063"/>
            <a:chOff x="6240556" y="3883700"/>
            <a:chExt cx="5583407" cy="1742751"/>
          </a:xfrm>
        </p:grpSpPr>
        <p:pic>
          <p:nvPicPr>
            <p:cNvPr id="6" name="Picture 5"/>
            <p:cNvPicPr>
              <a:picLocks noChangeAspect="1"/>
            </p:cNvPicPr>
            <p:nvPr/>
          </p:nvPicPr>
          <p:blipFill>
            <a:blip r:embed="rId4"/>
            <a:stretch>
              <a:fillRect/>
            </a:stretch>
          </p:blipFill>
          <p:spPr>
            <a:xfrm>
              <a:off x="6240556" y="3901747"/>
              <a:ext cx="1706656" cy="1706656"/>
            </a:xfrm>
            <a:prstGeom prst="rect">
              <a:avLst/>
            </a:prstGeom>
          </p:spPr>
        </p:pic>
        <p:pic>
          <p:nvPicPr>
            <p:cNvPr id="7" name="Picture 6"/>
            <p:cNvPicPr>
              <a:picLocks noChangeAspect="1"/>
            </p:cNvPicPr>
            <p:nvPr/>
          </p:nvPicPr>
          <p:blipFill>
            <a:blip r:embed="rId5"/>
            <a:stretch>
              <a:fillRect/>
            </a:stretch>
          </p:blipFill>
          <p:spPr>
            <a:xfrm>
              <a:off x="9507070" y="3883700"/>
              <a:ext cx="2316893" cy="1742751"/>
            </a:xfrm>
            <a:prstGeom prst="rect">
              <a:avLst/>
            </a:prstGeom>
          </p:spPr>
        </p:pic>
        <p:sp>
          <p:nvSpPr>
            <p:cNvPr id="8" name="Right Arrow 7"/>
            <p:cNvSpPr/>
            <p:nvPr/>
          </p:nvSpPr>
          <p:spPr>
            <a:xfrm>
              <a:off x="8237937" y="4512759"/>
              <a:ext cx="978408" cy="484632"/>
            </a:xfrm>
            <a:prstGeom prst="rightArrow">
              <a:avLst/>
            </a:prstGeom>
          </p:spPr>
          <p:style>
            <a:lnRef idx="1">
              <a:schemeClr val="accent4"/>
            </a:lnRef>
            <a:fillRef idx="2">
              <a:schemeClr val="accent4"/>
            </a:fillRef>
            <a:effectRef idx="1">
              <a:schemeClr val="accent4"/>
            </a:effectRef>
            <a:fontRef idx="minor">
              <a:schemeClr val="dk1"/>
            </a:fontRef>
          </p:style>
          <p:txBody>
            <a:bodyPr rtlCol="0" anchor="ctr"/>
            <a:lstStyle/>
            <a:p>
              <a:pPr algn="ctr"/>
              <a:endParaRPr lang="en-US"/>
            </a:p>
          </p:txBody>
        </p:sp>
      </p:grpSp>
      <p:sp>
        <p:nvSpPr>
          <p:cNvPr id="4" name="Date Placeholder 3">
            <a:extLst>
              <a:ext uri="{FF2B5EF4-FFF2-40B4-BE49-F238E27FC236}">
                <a16:creationId xmlns:a16="http://schemas.microsoft.com/office/drawing/2014/main" id="{0BC52FA6-1F52-9591-02CC-0AC305F5DD04}"/>
              </a:ext>
            </a:extLst>
          </p:cNvPr>
          <p:cNvSpPr>
            <a:spLocks noGrp="1"/>
          </p:cNvSpPr>
          <p:nvPr>
            <p:ph type="dt" sz="half" idx="10"/>
          </p:nvPr>
        </p:nvSpPr>
        <p:spPr/>
        <p:txBody>
          <a:bodyPr/>
          <a:lstStyle/>
          <a:p>
            <a:r>
              <a:rPr lang="en-US"/>
              <a:t>Vincenzo Gulisano</a:t>
            </a:r>
          </a:p>
        </p:txBody>
      </p:sp>
      <p:sp>
        <p:nvSpPr>
          <p:cNvPr id="9" name="Footer Placeholder 8">
            <a:extLst>
              <a:ext uri="{FF2B5EF4-FFF2-40B4-BE49-F238E27FC236}">
                <a16:creationId xmlns:a16="http://schemas.microsoft.com/office/drawing/2014/main" id="{3874AA1B-4FA7-A18C-1684-FE7594DA6D59}"/>
              </a:ext>
            </a:extLst>
          </p:cNvPr>
          <p:cNvSpPr>
            <a:spLocks noGrp="1"/>
          </p:cNvSpPr>
          <p:nvPr>
            <p:ph type="ftr" sz="quarter" idx="11"/>
          </p:nvPr>
        </p:nvSpPr>
        <p:spPr/>
        <p:txBody>
          <a:bodyPr/>
          <a:lstStyle/>
          <a:p>
            <a:r>
              <a:rPr lang="en-US"/>
              <a:t>Operating Systems - Processes</a:t>
            </a:r>
          </a:p>
        </p:txBody>
      </p:sp>
      <p:sp>
        <p:nvSpPr>
          <p:cNvPr id="10" name="Slide Number Placeholder 9">
            <a:extLst>
              <a:ext uri="{FF2B5EF4-FFF2-40B4-BE49-F238E27FC236}">
                <a16:creationId xmlns:a16="http://schemas.microsoft.com/office/drawing/2014/main" id="{7896DBD7-B0BF-050E-03CE-B3D0F8E453FF}"/>
              </a:ext>
            </a:extLst>
          </p:cNvPr>
          <p:cNvSpPr>
            <a:spLocks noGrp="1"/>
          </p:cNvSpPr>
          <p:nvPr>
            <p:ph type="sldNum" sz="quarter" idx="12"/>
          </p:nvPr>
        </p:nvSpPr>
        <p:spPr/>
        <p:txBody>
          <a:bodyPr/>
          <a:lstStyle/>
          <a:p>
            <a:fld id="{95AAEEEC-DCEC-4178-AB14-E7254A15A296}" type="slidenum">
              <a:rPr lang="en-US" smtClean="0"/>
              <a:t>6</a:t>
            </a:fld>
            <a:endParaRPr lang="en-US"/>
          </a:p>
        </p:txBody>
      </p:sp>
    </p:spTree>
    <p:extLst>
      <p:ext uri="{BB962C8B-B14F-4D97-AF65-F5344CB8AC3E}">
        <p14:creationId xmlns:p14="http://schemas.microsoft.com/office/powerpoint/2010/main" val="9035970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877920" y="2817156"/>
            <a:ext cx="3637430" cy="2723030"/>
          </a:xfrm>
        </p:spPr>
        <p:txBody>
          <a:bodyPr/>
          <a:lstStyle/>
          <a:p>
            <a:pPr marL="385763" indent="-385763">
              <a:buFont typeface="+mj-lt"/>
              <a:buAutoNum type="arabicPeriod"/>
            </a:pPr>
            <a:r>
              <a:rPr lang="en-US" dirty="0"/>
              <a:t>We feel several programs run at the same time </a:t>
            </a:r>
          </a:p>
          <a:p>
            <a:pPr marL="385763" indent="-385763">
              <a:buFont typeface="+mj-lt"/>
              <a:buAutoNum type="arabicPeriod"/>
            </a:pPr>
            <a:endParaRPr lang="en-US" dirty="0"/>
          </a:p>
          <a:p>
            <a:pPr marL="385763" indent="-385763">
              <a:buFont typeface="+mj-lt"/>
              <a:buAutoNum type="arabicPeriod"/>
            </a:pPr>
            <a:endParaRPr lang="en-US" dirty="0"/>
          </a:p>
          <a:p>
            <a:pPr marL="385763" indent="-385763">
              <a:buFont typeface="+mj-lt"/>
              <a:buAutoNum type="arabicPeriod"/>
            </a:pPr>
            <a:r>
              <a:rPr lang="en-US" dirty="0"/>
              <a:t>Each CPU core can only run one program at the time</a:t>
            </a:r>
          </a:p>
          <a:p>
            <a:pPr marL="385763" indent="-385763">
              <a:buFont typeface="+mj-lt"/>
              <a:buAutoNum type="arabicPeriod"/>
            </a:pPr>
            <a:endParaRPr lang="en-US" dirty="0"/>
          </a:p>
        </p:txBody>
      </p:sp>
      <p:sp>
        <p:nvSpPr>
          <p:cNvPr id="9" name="Title 1"/>
          <p:cNvSpPr>
            <a:spLocks noGrp="1"/>
          </p:cNvSpPr>
          <p:nvPr>
            <p:ph type="title"/>
          </p:nvPr>
        </p:nvSpPr>
        <p:spPr>
          <a:xfrm>
            <a:off x="628650" y="1131094"/>
            <a:ext cx="7886700" cy="994172"/>
          </a:xfrm>
        </p:spPr>
        <p:txBody>
          <a:bodyPr/>
          <a:lstStyle/>
          <a:p>
            <a:r>
              <a:rPr lang="en-US" dirty="0"/>
              <a:t>Concurrent vs Parallel execution</a:t>
            </a:r>
          </a:p>
        </p:txBody>
      </p:sp>
      <p:sp>
        <p:nvSpPr>
          <p:cNvPr id="10" name="Content Placeholder 2"/>
          <p:cNvSpPr txBox="1">
            <a:spLocks/>
          </p:cNvSpPr>
          <p:nvPr/>
        </p:nvSpPr>
        <p:spPr>
          <a:xfrm>
            <a:off x="742950" y="2817157"/>
            <a:ext cx="3637430" cy="2723030"/>
          </a:xfrm>
          <a:prstGeom prst="rect">
            <a:avLst/>
          </a:prstGeom>
        </p:spPr>
        <p:txBody>
          <a:bodyPr vert="horz" lIns="68580" tIns="34290" rIns="68580" bIns="3429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85763" indent="-385763">
              <a:buFont typeface="+mj-lt"/>
              <a:buAutoNum type="arabicPeriod"/>
            </a:pPr>
            <a:r>
              <a:rPr lang="en-US" sz="2100" dirty="0"/>
              <a:t>We run several programs at </a:t>
            </a:r>
            <a:br>
              <a:rPr lang="en-US" sz="2100" dirty="0"/>
            </a:br>
            <a:r>
              <a:rPr lang="en-US" sz="2100" dirty="0"/>
              <a:t>the same time </a:t>
            </a:r>
          </a:p>
          <a:p>
            <a:pPr marL="385763" indent="-385763">
              <a:buFont typeface="+mj-lt"/>
              <a:buAutoNum type="arabicPeriod"/>
            </a:pPr>
            <a:endParaRPr lang="en-US" sz="2100" dirty="0"/>
          </a:p>
          <a:p>
            <a:pPr marL="385763" indent="-385763">
              <a:buFont typeface="+mj-lt"/>
              <a:buAutoNum type="arabicPeriod"/>
            </a:pPr>
            <a:endParaRPr lang="en-US" sz="2100" dirty="0"/>
          </a:p>
          <a:p>
            <a:pPr marL="385763" indent="-385763">
              <a:buFont typeface="+mj-lt"/>
              <a:buAutoNum type="arabicPeriod"/>
            </a:pPr>
            <a:r>
              <a:rPr lang="en-US" sz="2100" dirty="0"/>
              <a:t>One CPU can only run one</a:t>
            </a:r>
            <a:br>
              <a:rPr lang="en-US" sz="2100" dirty="0"/>
            </a:br>
            <a:r>
              <a:rPr lang="en-US" sz="2100" dirty="0"/>
              <a:t> program at a time</a:t>
            </a:r>
          </a:p>
        </p:txBody>
      </p:sp>
      <p:grpSp>
        <p:nvGrpSpPr>
          <p:cNvPr id="13" name="Group 12"/>
          <p:cNvGrpSpPr/>
          <p:nvPr/>
        </p:nvGrpSpPr>
        <p:grpSpPr>
          <a:xfrm>
            <a:off x="1109382" y="2817156"/>
            <a:ext cx="2904565" cy="692527"/>
            <a:chOff x="1528482" y="2689407"/>
            <a:chExt cx="3872753" cy="923369"/>
          </a:xfrm>
        </p:grpSpPr>
        <p:cxnSp>
          <p:nvCxnSpPr>
            <p:cNvPr id="4" name="Straight Connector 3"/>
            <p:cNvCxnSpPr/>
            <p:nvPr/>
          </p:nvCxnSpPr>
          <p:spPr>
            <a:xfrm flipV="1">
              <a:off x="1528482" y="2689407"/>
              <a:ext cx="3872753" cy="923369"/>
            </a:xfrm>
            <a:prstGeom prst="line">
              <a:avLst/>
            </a:prstGeom>
            <a:ln w="38100">
              <a:solidFill>
                <a:srgbClr val="FF0000"/>
              </a:solidFill>
            </a:ln>
          </p:spPr>
          <p:style>
            <a:lnRef idx="3">
              <a:schemeClr val="accent2"/>
            </a:lnRef>
            <a:fillRef idx="0">
              <a:schemeClr val="accent2"/>
            </a:fillRef>
            <a:effectRef idx="2">
              <a:schemeClr val="accent2"/>
            </a:effectRef>
            <a:fontRef idx="minor">
              <a:schemeClr val="tx1"/>
            </a:fontRef>
          </p:style>
        </p:cxnSp>
        <p:cxnSp>
          <p:nvCxnSpPr>
            <p:cNvPr id="11" name="Straight Connector 10"/>
            <p:cNvCxnSpPr/>
            <p:nvPr/>
          </p:nvCxnSpPr>
          <p:spPr>
            <a:xfrm flipH="1" flipV="1">
              <a:off x="1528482" y="2689407"/>
              <a:ext cx="3872753" cy="923369"/>
            </a:xfrm>
            <a:prstGeom prst="line">
              <a:avLst/>
            </a:prstGeom>
            <a:ln w="38100">
              <a:solidFill>
                <a:srgbClr val="FF0000"/>
              </a:solidFill>
            </a:ln>
          </p:spPr>
          <p:style>
            <a:lnRef idx="3">
              <a:schemeClr val="accent2"/>
            </a:lnRef>
            <a:fillRef idx="0">
              <a:schemeClr val="accent2"/>
            </a:fillRef>
            <a:effectRef idx="2">
              <a:schemeClr val="accent2"/>
            </a:effectRef>
            <a:fontRef idx="minor">
              <a:schemeClr val="tx1"/>
            </a:fontRef>
          </p:style>
        </p:cxnSp>
      </p:grpSp>
      <p:sp>
        <p:nvSpPr>
          <p:cNvPr id="14" name="Right Arrow 13"/>
          <p:cNvSpPr/>
          <p:nvPr/>
        </p:nvSpPr>
        <p:spPr>
          <a:xfrm>
            <a:off x="4329718" y="2981681"/>
            <a:ext cx="467756" cy="363474"/>
          </a:xfrm>
          <a:prstGeom prst="rightArrow">
            <a:avLst/>
          </a:prstGeom>
        </p:spPr>
        <p:style>
          <a:lnRef idx="1">
            <a:schemeClr val="accent4"/>
          </a:lnRef>
          <a:fillRef idx="2">
            <a:schemeClr val="accent4"/>
          </a:fillRef>
          <a:effectRef idx="1">
            <a:schemeClr val="accent4"/>
          </a:effectRef>
          <a:fontRef idx="minor">
            <a:schemeClr val="dk1"/>
          </a:fontRef>
        </p:style>
        <p:txBody>
          <a:bodyPr rtlCol="0" anchor="ctr"/>
          <a:lstStyle/>
          <a:p>
            <a:pPr algn="ctr"/>
            <a:endParaRPr lang="en-US"/>
          </a:p>
        </p:txBody>
      </p:sp>
      <p:grpSp>
        <p:nvGrpSpPr>
          <p:cNvPr id="12" name="Group 11"/>
          <p:cNvGrpSpPr/>
          <p:nvPr/>
        </p:nvGrpSpPr>
        <p:grpSpPr>
          <a:xfrm>
            <a:off x="1109382" y="4201571"/>
            <a:ext cx="2904565" cy="692527"/>
            <a:chOff x="1528482" y="2689407"/>
            <a:chExt cx="3872753" cy="923369"/>
          </a:xfrm>
        </p:grpSpPr>
        <p:cxnSp>
          <p:nvCxnSpPr>
            <p:cNvPr id="15" name="Straight Connector 14"/>
            <p:cNvCxnSpPr/>
            <p:nvPr/>
          </p:nvCxnSpPr>
          <p:spPr>
            <a:xfrm flipV="1">
              <a:off x="1528482" y="2689407"/>
              <a:ext cx="3872753" cy="923369"/>
            </a:xfrm>
            <a:prstGeom prst="line">
              <a:avLst/>
            </a:prstGeom>
            <a:ln w="38100">
              <a:solidFill>
                <a:srgbClr val="FF0000"/>
              </a:solidFill>
            </a:ln>
          </p:spPr>
          <p:style>
            <a:lnRef idx="3">
              <a:schemeClr val="accent2"/>
            </a:lnRef>
            <a:fillRef idx="0">
              <a:schemeClr val="accent2"/>
            </a:fillRef>
            <a:effectRef idx="2">
              <a:schemeClr val="accent2"/>
            </a:effectRef>
            <a:fontRef idx="minor">
              <a:schemeClr val="tx1"/>
            </a:fontRef>
          </p:style>
        </p:cxnSp>
        <p:cxnSp>
          <p:nvCxnSpPr>
            <p:cNvPr id="16" name="Straight Connector 15"/>
            <p:cNvCxnSpPr/>
            <p:nvPr/>
          </p:nvCxnSpPr>
          <p:spPr>
            <a:xfrm flipH="1" flipV="1">
              <a:off x="1528482" y="2689407"/>
              <a:ext cx="3872753" cy="923369"/>
            </a:xfrm>
            <a:prstGeom prst="line">
              <a:avLst/>
            </a:prstGeom>
            <a:ln w="38100">
              <a:solidFill>
                <a:srgbClr val="FF0000"/>
              </a:solidFill>
            </a:ln>
          </p:spPr>
          <p:style>
            <a:lnRef idx="3">
              <a:schemeClr val="accent2"/>
            </a:lnRef>
            <a:fillRef idx="0">
              <a:schemeClr val="accent2"/>
            </a:fillRef>
            <a:effectRef idx="2">
              <a:schemeClr val="accent2"/>
            </a:effectRef>
            <a:fontRef idx="minor">
              <a:schemeClr val="tx1"/>
            </a:fontRef>
          </p:style>
        </p:cxnSp>
      </p:grpSp>
      <p:sp>
        <p:nvSpPr>
          <p:cNvPr id="17" name="Right Arrow 16"/>
          <p:cNvSpPr/>
          <p:nvPr/>
        </p:nvSpPr>
        <p:spPr>
          <a:xfrm>
            <a:off x="4329718" y="4366097"/>
            <a:ext cx="467756" cy="363474"/>
          </a:xfrm>
          <a:prstGeom prst="rightArrow">
            <a:avLst/>
          </a:prstGeom>
        </p:spPr>
        <p:style>
          <a:lnRef idx="1">
            <a:schemeClr val="accent4"/>
          </a:lnRef>
          <a:fillRef idx="2">
            <a:schemeClr val="accent4"/>
          </a:fillRef>
          <a:effectRef idx="1">
            <a:schemeClr val="accent4"/>
          </a:effectRef>
          <a:fontRef idx="minor">
            <a:schemeClr val="dk1"/>
          </a:fontRef>
        </p:style>
        <p:txBody>
          <a:bodyPr rtlCol="0" anchor="ctr"/>
          <a:lstStyle/>
          <a:p>
            <a:pPr algn="ctr"/>
            <a:endParaRPr lang="en-US"/>
          </a:p>
        </p:txBody>
      </p:sp>
      <p:sp>
        <p:nvSpPr>
          <p:cNvPr id="18" name="Content Placeholder 2"/>
          <p:cNvSpPr txBox="1">
            <a:spLocks/>
          </p:cNvSpPr>
          <p:nvPr/>
        </p:nvSpPr>
        <p:spPr>
          <a:xfrm>
            <a:off x="6049823" y="4977032"/>
            <a:ext cx="3637430" cy="375599"/>
          </a:xfrm>
          <a:prstGeom prst="rect">
            <a:avLst/>
          </a:prstGeom>
        </p:spPr>
        <p:txBody>
          <a:bodyPr vert="horz" lIns="91440" tIns="45720" rIns="91440" bIns="45720" rtlCol="0">
            <a:normAutofit fontScale="92500" lnSpcReduction="10000"/>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85763" marR="0" lvl="0" indent="-385763" defTabSz="914400" eaLnBrk="1" fontAlgn="auto" latinLnBrk="0" hangingPunct="1">
              <a:lnSpc>
                <a:spcPct val="100000"/>
              </a:lnSpc>
              <a:spcBef>
                <a:spcPts val="0"/>
              </a:spcBef>
              <a:spcAft>
                <a:spcPts val="0"/>
              </a:spcAft>
              <a:buClrTx/>
              <a:buSzTx/>
              <a:buFont typeface="+mj-lt"/>
              <a:buNone/>
              <a:tabLst/>
              <a:defRPr/>
            </a:pPr>
            <a:r>
              <a:rPr lang="en-US" dirty="0"/>
              <a:t>(</a:t>
            </a:r>
            <a:r>
              <a:rPr lang="en-US"/>
              <a:t>Next lecture)</a:t>
            </a:r>
            <a:endParaRPr lang="en-US" dirty="0"/>
          </a:p>
        </p:txBody>
      </p:sp>
      <p:sp>
        <p:nvSpPr>
          <p:cNvPr id="2" name="Date Placeholder 1">
            <a:extLst>
              <a:ext uri="{FF2B5EF4-FFF2-40B4-BE49-F238E27FC236}">
                <a16:creationId xmlns:a16="http://schemas.microsoft.com/office/drawing/2014/main" id="{6A5D00B1-54EF-875E-62F4-F172F416F32F}"/>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12AD7853-114B-37F0-62F5-BBB36DA5BAD2}"/>
              </a:ext>
            </a:extLst>
          </p:cNvPr>
          <p:cNvSpPr>
            <a:spLocks noGrp="1"/>
          </p:cNvSpPr>
          <p:nvPr>
            <p:ph type="ftr" sz="quarter" idx="11"/>
          </p:nvPr>
        </p:nvSpPr>
        <p:spPr/>
        <p:txBody>
          <a:bodyPr/>
          <a:lstStyle/>
          <a:p>
            <a:r>
              <a:rPr lang="en-US"/>
              <a:t>Operating Systems - Processes</a:t>
            </a:r>
          </a:p>
        </p:txBody>
      </p:sp>
      <p:sp>
        <p:nvSpPr>
          <p:cNvPr id="6" name="Slide Number Placeholder 5">
            <a:extLst>
              <a:ext uri="{FF2B5EF4-FFF2-40B4-BE49-F238E27FC236}">
                <a16:creationId xmlns:a16="http://schemas.microsoft.com/office/drawing/2014/main" id="{CBFA6326-5B96-8D03-7597-5C0BBFF70DEC}"/>
              </a:ext>
            </a:extLst>
          </p:cNvPr>
          <p:cNvSpPr>
            <a:spLocks noGrp="1"/>
          </p:cNvSpPr>
          <p:nvPr>
            <p:ph type="sldNum" sz="quarter" idx="12"/>
          </p:nvPr>
        </p:nvSpPr>
        <p:spPr/>
        <p:txBody>
          <a:bodyPr/>
          <a:lstStyle/>
          <a:p>
            <a:fld id="{95AAEEEC-DCEC-4178-AB14-E7254A15A296}" type="slidenum">
              <a:rPr lang="en-US" smtClean="0"/>
              <a:t>7</a:t>
            </a:fld>
            <a:endParaRPr lang="en-US"/>
          </a:p>
        </p:txBody>
      </p:sp>
    </p:spTree>
    <p:extLst>
      <p:ext uri="{BB962C8B-B14F-4D97-AF65-F5344CB8AC3E}">
        <p14:creationId xmlns:p14="http://schemas.microsoft.com/office/powerpoint/2010/main" val="153391135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9"/>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32611" y="1156138"/>
            <a:ext cx="7304418" cy="490510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19" name="Group 18"/>
          <p:cNvGrpSpPr/>
          <p:nvPr/>
        </p:nvGrpSpPr>
        <p:grpSpPr>
          <a:xfrm>
            <a:off x="433668" y="861305"/>
            <a:ext cx="2665410" cy="930905"/>
            <a:chOff x="1103113" y="1163749"/>
            <a:chExt cx="3553879" cy="1241205"/>
          </a:xfrm>
        </p:grpSpPr>
        <p:sp>
          <p:nvSpPr>
            <p:cNvPr id="3" name="Oval 2"/>
            <p:cNvSpPr/>
            <p:nvPr/>
          </p:nvSpPr>
          <p:spPr>
            <a:xfrm>
              <a:off x="3295095" y="1692260"/>
              <a:ext cx="1239837" cy="712694"/>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p:cNvSpPr txBox="1"/>
            <p:nvPr/>
          </p:nvSpPr>
          <p:spPr>
            <a:xfrm>
              <a:off x="1103113" y="1163749"/>
              <a:ext cx="3553879" cy="492442"/>
            </a:xfrm>
            <a:prstGeom prst="rect">
              <a:avLst/>
            </a:prstGeom>
            <a:noFill/>
          </p:spPr>
          <p:txBody>
            <a:bodyPr wrap="none" rtlCol="0">
              <a:spAutoFit/>
            </a:bodyPr>
            <a:lstStyle/>
            <a:p>
              <a:r>
                <a:rPr lang="en-US" dirty="0">
                  <a:solidFill>
                    <a:srgbClr val="FF0000"/>
                  </a:solidFill>
                </a:rPr>
                <a:t>Process, not program</a:t>
              </a:r>
            </a:p>
          </p:txBody>
        </p:sp>
      </p:grpSp>
      <p:sp>
        <p:nvSpPr>
          <p:cNvPr id="7" name="Oval 6"/>
          <p:cNvSpPr/>
          <p:nvPr/>
        </p:nvSpPr>
        <p:spPr>
          <a:xfrm>
            <a:off x="3610357" y="1726486"/>
            <a:ext cx="1897064" cy="332815"/>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p:cNvSpPr/>
          <p:nvPr/>
        </p:nvSpPr>
        <p:spPr>
          <a:xfrm>
            <a:off x="4954590" y="2256855"/>
            <a:ext cx="552831" cy="332815"/>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0" name="Group 19"/>
          <p:cNvGrpSpPr/>
          <p:nvPr/>
        </p:nvGrpSpPr>
        <p:grpSpPr>
          <a:xfrm>
            <a:off x="222322" y="2336648"/>
            <a:ext cx="2569498" cy="2822557"/>
            <a:chOff x="296429" y="1972532"/>
            <a:chExt cx="3425997" cy="3763408"/>
          </a:xfrm>
        </p:grpSpPr>
        <p:sp>
          <p:nvSpPr>
            <p:cNvPr id="9" name="TextBox 8"/>
            <p:cNvSpPr txBox="1"/>
            <p:nvPr/>
          </p:nvSpPr>
          <p:spPr>
            <a:xfrm>
              <a:off x="296429" y="3766170"/>
              <a:ext cx="2033214" cy="1969770"/>
            </a:xfrm>
            <a:prstGeom prst="rect">
              <a:avLst/>
            </a:prstGeom>
            <a:noFill/>
          </p:spPr>
          <p:txBody>
            <a:bodyPr wrap="square" rtlCol="0">
              <a:spAutoFit/>
            </a:bodyPr>
            <a:lstStyle/>
            <a:p>
              <a:pPr algn="r"/>
              <a:r>
                <a:rPr lang="en-US" dirty="0">
                  <a:solidFill>
                    <a:srgbClr val="FF0000"/>
                  </a:solidFill>
                </a:rPr>
                <a:t>A process can be </a:t>
              </a:r>
              <a:r>
                <a:rPr lang="en-US">
                  <a:solidFill>
                    <a:srgbClr val="FF0000"/>
                  </a:solidFill>
                </a:rPr>
                <a:t>in different states, how many?</a:t>
              </a:r>
            </a:p>
          </p:txBody>
        </p:sp>
        <p:cxnSp>
          <p:nvCxnSpPr>
            <p:cNvPr id="11" name="Straight Arrow Connector 10"/>
            <p:cNvCxnSpPr>
              <a:stCxn id="4" idx="1"/>
            </p:cNvCxnSpPr>
            <p:nvPr/>
          </p:nvCxnSpPr>
          <p:spPr>
            <a:xfrm flipV="1">
              <a:off x="1643481" y="1972532"/>
              <a:ext cx="1229347" cy="16960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p:nvPr/>
          </p:nvCxnSpPr>
          <p:spPr>
            <a:xfrm>
              <a:off x="2568686" y="4002790"/>
              <a:ext cx="1153740" cy="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1" name="Group 20"/>
          <p:cNvGrpSpPr/>
          <p:nvPr/>
        </p:nvGrpSpPr>
        <p:grpSpPr>
          <a:xfrm>
            <a:off x="2542594" y="4344435"/>
            <a:ext cx="6476210" cy="2201904"/>
            <a:chOff x="3390124" y="4649585"/>
            <a:chExt cx="8634947" cy="2935873"/>
          </a:xfrm>
        </p:grpSpPr>
        <p:cxnSp>
          <p:nvCxnSpPr>
            <p:cNvPr id="16" name="Straight Connector 15"/>
            <p:cNvCxnSpPr/>
            <p:nvPr/>
          </p:nvCxnSpPr>
          <p:spPr>
            <a:xfrm>
              <a:off x="3390124" y="4649585"/>
              <a:ext cx="5408968" cy="0"/>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p:cNvCxnSpPr/>
            <p:nvPr/>
          </p:nvCxnSpPr>
          <p:spPr>
            <a:xfrm>
              <a:off x="3390124" y="6205171"/>
              <a:ext cx="5408968" cy="0"/>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sp>
          <p:nvSpPr>
            <p:cNvPr id="18" name="TextBox 17"/>
            <p:cNvSpPr txBox="1"/>
            <p:nvPr/>
          </p:nvSpPr>
          <p:spPr>
            <a:xfrm>
              <a:off x="8648039" y="5615688"/>
              <a:ext cx="3377032" cy="1969770"/>
            </a:xfrm>
            <a:prstGeom prst="rect">
              <a:avLst/>
            </a:prstGeom>
            <a:noFill/>
          </p:spPr>
          <p:txBody>
            <a:bodyPr wrap="square" rtlCol="0">
              <a:spAutoFit/>
            </a:bodyPr>
            <a:lstStyle/>
            <a:p>
              <a:pPr algn="r"/>
              <a:r>
                <a:rPr lang="en-US" dirty="0">
                  <a:solidFill>
                    <a:srgbClr val="FF0000"/>
                  </a:solidFill>
                </a:rPr>
                <a:t>There are periods of time during which no process is running! Overheads should be minimal</a:t>
              </a:r>
            </a:p>
          </p:txBody>
        </p:sp>
      </p:grpSp>
      <p:sp>
        <p:nvSpPr>
          <p:cNvPr id="2" name="Date Placeholder 1">
            <a:extLst>
              <a:ext uri="{FF2B5EF4-FFF2-40B4-BE49-F238E27FC236}">
                <a16:creationId xmlns:a16="http://schemas.microsoft.com/office/drawing/2014/main" id="{25EFB340-F8A4-AD35-77C0-F2995A47D487}"/>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B2DE2AFE-CA11-9A3E-3FF0-A2707340E144}"/>
              </a:ext>
            </a:extLst>
          </p:cNvPr>
          <p:cNvSpPr>
            <a:spLocks noGrp="1"/>
          </p:cNvSpPr>
          <p:nvPr>
            <p:ph type="ftr" sz="quarter" idx="11"/>
          </p:nvPr>
        </p:nvSpPr>
        <p:spPr/>
        <p:txBody>
          <a:bodyPr/>
          <a:lstStyle/>
          <a:p>
            <a:r>
              <a:rPr lang="en-US"/>
              <a:t>Operating Systems - Processes</a:t>
            </a:r>
          </a:p>
        </p:txBody>
      </p:sp>
      <p:sp>
        <p:nvSpPr>
          <p:cNvPr id="10" name="Slide Number Placeholder 9">
            <a:extLst>
              <a:ext uri="{FF2B5EF4-FFF2-40B4-BE49-F238E27FC236}">
                <a16:creationId xmlns:a16="http://schemas.microsoft.com/office/drawing/2014/main" id="{8512CD30-0FFB-9D9A-3DB4-6B7183C53AB7}"/>
              </a:ext>
            </a:extLst>
          </p:cNvPr>
          <p:cNvSpPr>
            <a:spLocks noGrp="1"/>
          </p:cNvSpPr>
          <p:nvPr>
            <p:ph type="sldNum" sz="quarter" idx="12"/>
          </p:nvPr>
        </p:nvSpPr>
        <p:spPr/>
        <p:txBody>
          <a:bodyPr/>
          <a:lstStyle/>
          <a:p>
            <a:fld id="{95AAEEEC-DCEC-4178-AB14-E7254A15A296}" type="slidenum">
              <a:rPr lang="en-US" smtClean="0"/>
              <a:t>8</a:t>
            </a:fld>
            <a:endParaRPr lang="en-US"/>
          </a:p>
        </p:txBody>
      </p:sp>
    </p:spTree>
    <p:extLst>
      <p:ext uri="{BB962C8B-B14F-4D97-AF65-F5344CB8AC3E}">
        <p14:creationId xmlns:p14="http://schemas.microsoft.com/office/powerpoint/2010/main" val="14499665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Grp="1" noChangeArrowheads="1"/>
          </p:cNvSpPr>
          <p:nvPr>
            <p:ph type="title"/>
          </p:nvPr>
        </p:nvSpPr>
        <p:spPr/>
        <p:txBody>
          <a:bodyPr/>
          <a:lstStyle/>
          <a:p>
            <a:r>
              <a:rPr lang="en-US" altLang="en-US"/>
              <a:t>Process Concept</a:t>
            </a:r>
          </a:p>
        </p:txBody>
      </p:sp>
      <p:sp>
        <p:nvSpPr>
          <p:cNvPr id="6147" name="Rectangle 3"/>
          <p:cNvSpPr>
            <a:spLocks noGrp="1" noChangeArrowheads="1"/>
          </p:cNvSpPr>
          <p:nvPr>
            <p:ph idx="1"/>
          </p:nvPr>
        </p:nvSpPr>
        <p:spPr/>
        <p:txBody>
          <a:bodyPr>
            <a:normAutofit/>
          </a:bodyPr>
          <a:lstStyle/>
          <a:p>
            <a:r>
              <a:rPr lang="en-US" altLang="en-US" dirty="0"/>
              <a:t>Process (or job, task) – a program in execution; process execution must progress in sequential fashion</a:t>
            </a:r>
          </a:p>
          <a:p>
            <a:endParaRPr lang="en-US" altLang="en-US" dirty="0"/>
          </a:p>
          <a:p>
            <a:r>
              <a:rPr lang="en-US" altLang="en-US" dirty="0"/>
              <a:t>A program is passive entity stored on disk (executable file), process is active </a:t>
            </a:r>
          </a:p>
          <a:p>
            <a:r>
              <a:rPr lang="en-US" altLang="en-US" dirty="0"/>
              <a:t>A program becomes process when executable file loaded into memory</a:t>
            </a:r>
          </a:p>
          <a:p>
            <a:r>
              <a:rPr lang="en-US" altLang="en-US" dirty="0"/>
              <a:t>The execution of a program is started via GUI mouse clicks, command line entry of its name, …</a:t>
            </a:r>
          </a:p>
          <a:p>
            <a:r>
              <a:rPr lang="en-US" altLang="en-US" dirty="0"/>
              <a:t>One program can have several process instances (consider multiple users executing the same program)</a:t>
            </a:r>
          </a:p>
          <a:p>
            <a:r>
              <a:rPr lang="en-US" altLang="en-US" dirty="0"/>
              <a:t>A process can be the execution environment for other code (e.g., Java Virtual Machine)</a:t>
            </a:r>
          </a:p>
          <a:p>
            <a:endParaRPr lang="en-US" altLang="en-US" dirty="0"/>
          </a:p>
        </p:txBody>
      </p:sp>
      <p:sp>
        <p:nvSpPr>
          <p:cNvPr id="2" name="Footer Placeholder 1"/>
          <p:cNvSpPr>
            <a:spLocks noGrp="1"/>
          </p:cNvSpPr>
          <p:nvPr>
            <p:ph type="ftr" sz="quarter" idx="11"/>
          </p:nvPr>
        </p:nvSpPr>
        <p:spPr/>
        <p:txBody>
          <a:bodyPr/>
          <a:lstStyle/>
          <a:p>
            <a:r>
              <a:rPr lang="en-US"/>
              <a:t>Operating Systems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9</a:t>
            </a:fld>
            <a:endParaRPr lang="en-US"/>
          </a:p>
        </p:txBody>
      </p:sp>
      <p:sp>
        <p:nvSpPr>
          <p:cNvPr id="8" name="Date Placeholder 7"/>
          <p:cNvSpPr>
            <a:spLocks noGrp="1"/>
          </p:cNvSpPr>
          <p:nvPr>
            <p:ph type="dt" sz="half" idx="10"/>
          </p:nvPr>
        </p:nvSpPr>
        <p:spPr/>
        <p:txBody>
          <a:bodyPr/>
          <a:lstStyle/>
          <a:p>
            <a:r>
              <a:rPr lang="en-US"/>
              <a:t>Vincenzo Gulisano</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ChangeArrowheads="1"/>
          </p:cNvSpPr>
          <p:nvPr>
            <p:ph type="title"/>
          </p:nvPr>
        </p:nvSpPr>
        <p:spPr/>
        <p:txBody>
          <a:bodyPr/>
          <a:lstStyle/>
          <a:p>
            <a:r>
              <a:rPr lang="en-US" altLang="en-US"/>
              <a:t>Process in Memory</a:t>
            </a:r>
          </a:p>
        </p:txBody>
      </p:sp>
      <p:sp>
        <p:nvSpPr>
          <p:cNvPr id="2" name="Footer Placeholder 1"/>
          <p:cNvSpPr>
            <a:spLocks noGrp="1"/>
          </p:cNvSpPr>
          <p:nvPr>
            <p:ph type="ftr" sz="quarter" idx="11"/>
          </p:nvPr>
        </p:nvSpPr>
        <p:spPr/>
        <p:txBody>
          <a:bodyPr/>
          <a:lstStyle/>
          <a:p>
            <a:r>
              <a:rPr lang="en-US"/>
              <a:t>Operating Systems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10</a:t>
            </a:fld>
            <a:endParaRPr lang="en-US"/>
          </a:p>
        </p:txBody>
      </p:sp>
      <p:pic>
        <p:nvPicPr>
          <p:cNvPr id="8195" name="Picture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79988" y="1794185"/>
            <a:ext cx="2343462" cy="37017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 name="Rectangle 3"/>
          <p:cNvSpPr txBox="1">
            <a:spLocks noChangeArrowheads="1"/>
          </p:cNvSpPr>
          <p:nvPr/>
        </p:nvSpPr>
        <p:spPr>
          <a:xfrm>
            <a:off x="3450772" y="1629547"/>
            <a:ext cx="5519058" cy="4351338"/>
          </a:xfrm>
          <a:prstGeom prst="rect">
            <a:avLst/>
          </a:prstGeom>
        </p:spPr>
        <p:txBody>
          <a:bodyPr>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fontAlgn="auto">
              <a:spcAft>
                <a:spcPts val="0"/>
              </a:spcAft>
            </a:pPr>
            <a:r>
              <a:rPr lang="en-US" altLang="en-US" sz="2800" dirty="0"/>
              <a:t>Multiple parts:</a:t>
            </a:r>
          </a:p>
          <a:p>
            <a:pPr lvl="1" fontAlgn="auto">
              <a:spcAft>
                <a:spcPts val="0"/>
              </a:spcAft>
            </a:pPr>
            <a:r>
              <a:rPr lang="en-US" altLang="en-US" sz="2400" dirty="0"/>
              <a:t>The program code, also called text section</a:t>
            </a:r>
          </a:p>
          <a:p>
            <a:pPr lvl="1" fontAlgn="auto">
              <a:spcAft>
                <a:spcPts val="0"/>
              </a:spcAft>
            </a:pPr>
            <a:r>
              <a:rPr lang="en-US" altLang="en-US" sz="2400" dirty="0"/>
              <a:t>Data section containing global variables</a:t>
            </a:r>
          </a:p>
          <a:p>
            <a:pPr lvl="1" fontAlgn="auto">
              <a:spcAft>
                <a:spcPts val="0"/>
              </a:spcAft>
            </a:pPr>
            <a:r>
              <a:rPr lang="en-US" altLang="en-US" sz="2400" dirty="0"/>
              <a:t>Heap containing memory dynamically allocated during run time</a:t>
            </a:r>
          </a:p>
          <a:p>
            <a:pPr lvl="1" fontAlgn="auto">
              <a:spcAft>
                <a:spcPts val="0"/>
              </a:spcAft>
            </a:pPr>
            <a:r>
              <a:rPr lang="en-US" altLang="en-US" sz="2400" dirty="0"/>
              <a:t>Stack containing temporary data</a:t>
            </a:r>
          </a:p>
          <a:p>
            <a:pPr lvl="2" fontAlgn="auto">
              <a:spcAft>
                <a:spcPts val="0"/>
              </a:spcAft>
            </a:pPr>
            <a:r>
              <a:rPr lang="en-US" altLang="en-US" sz="1800" dirty="0"/>
              <a:t>Function parameters, return addresses, local variables</a:t>
            </a:r>
            <a:endParaRPr lang="en-US" altLang="en-US" sz="2400" dirty="0"/>
          </a:p>
          <a:p>
            <a:pPr fontAlgn="auto">
              <a:spcAft>
                <a:spcPts val="0"/>
              </a:spcAft>
            </a:pPr>
            <a:endParaRPr lang="en-US" altLang="en-US" sz="2800" dirty="0"/>
          </a:p>
          <a:p>
            <a:pPr fontAlgn="auto">
              <a:spcAft>
                <a:spcPts val="0"/>
              </a:spcAft>
            </a:pPr>
            <a:endParaRPr lang="en-US" altLang="en-US" sz="2800" dirty="0"/>
          </a:p>
        </p:txBody>
      </p:sp>
      <p:sp>
        <p:nvSpPr>
          <p:cNvPr id="7" name="Date Placeholder 6"/>
          <p:cNvSpPr>
            <a:spLocks noGrp="1"/>
          </p:cNvSpPr>
          <p:nvPr>
            <p:ph type="dt" sz="half" idx="10"/>
          </p:nvPr>
        </p:nvSpPr>
        <p:spPr/>
        <p:txBody>
          <a:bodyPr/>
          <a:lstStyle/>
          <a:p>
            <a:r>
              <a:rPr lang="en-US"/>
              <a:t>Vincenzo Gulisano</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Rectangle 2"/>
          <p:cNvSpPr>
            <a:spLocks noGrp="1" noChangeArrowheads="1"/>
          </p:cNvSpPr>
          <p:nvPr>
            <p:ph type="title"/>
          </p:nvPr>
        </p:nvSpPr>
        <p:spPr/>
        <p:txBody>
          <a:bodyPr/>
          <a:lstStyle/>
          <a:p>
            <a:r>
              <a:rPr lang="en-US" altLang="en-US" dirty="0">
                <a:latin typeface="Garamond" panose="02020404030301010803" pitchFamily="18" charset="0"/>
              </a:rPr>
              <a:t>Diagram of Process State</a:t>
            </a:r>
          </a:p>
        </p:txBody>
      </p:sp>
      <p:sp>
        <p:nvSpPr>
          <p:cNvPr id="2" name="Footer Placeholder 1"/>
          <p:cNvSpPr>
            <a:spLocks noGrp="1"/>
          </p:cNvSpPr>
          <p:nvPr>
            <p:ph type="ftr" sz="quarter" idx="11"/>
          </p:nvPr>
        </p:nvSpPr>
        <p:spPr/>
        <p:txBody>
          <a:bodyPr/>
          <a:lstStyle/>
          <a:p>
            <a:r>
              <a:rPr lang="en-US">
                <a:latin typeface="Garamond" panose="02020404030301010803" pitchFamily="18" charset="0"/>
              </a:rPr>
              <a:t>Operating Systems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latin typeface="Garamond" panose="02020404030301010803" pitchFamily="18" charset="0"/>
              </a:rPr>
              <a:pPr/>
              <a:t>11</a:t>
            </a:fld>
            <a:endParaRPr lang="en-US">
              <a:latin typeface="Garamond" panose="02020404030301010803" pitchFamily="18" charset="0"/>
            </a:endParaRPr>
          </a:p>
        </p:txBody>
      </p:sp>
      <p:pic>
        <p:nvPicPr>
          <p:cNvPr id="10243" name="Picture 9"/>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55750" y="1361440"/>
            <a:ext cx="6635750" cy="26463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Rectangle 3"/>
          <p:cNvSpPr>
            <a:spLocks noGrp="1" noChangeArrowheads="1"/>
          </p:cNvSpPr>
          <p:nvPr>
            <p:ph idx="1"/>
          </p:nvPr>
        </p:nvSpPr>
        <p:spPr>
          <a:xfrm>
            <a:off x="304801" y="4210593"/>
            <a:ext cx="6051394" cy="1955483"/>
          </a:xfrm>
        </p:spPr>
        <p:txBody>
          <a:bodyPr>
            <a:noAutofit/>
          </a:bodyPr>
          <a:lstStyle/>
          <a:p>
            <a:r>
              <a:rPr lang="en-US" altLang="en-US" sz="2000" dirty="0">
                <a:latin typeface="Garamond" panose="02020404030301010803" pitchFamily="18" charset="0"/>
              </a:rPr>
              <a:t>As a process executes, it changes state</a:t>
            </a:r>
          </a:p>
          <a:p>
            <a:pPr lvl="1"/>
            <a:r>
              <a:rPr lang="en-US" altLang="en-US" b="1" dirty="0">
                <a:latin typeface="Garamond" panose="02020404030301010803" pitchFamily="18" charset="0"/>
              </a:rPr>
              <a:t>new</a:t>
            </a:r>
            <a:r>
              <a:rPr lang="en-US" altLang="en-US" dirty="0">
                <a:latin typeface="Garamond" panose="02020404030301010803" pitchFamily="18" charset="0"/>
              </a:rPr>
              <a:t>:  The process is being created</a:t>
            </a:r>
          </a:p>
          <a:p>
            <a:pPr lvl="1"/>
            <a:r>
              <a:rPr lang="en-US" altLang="en-US" b="1" dirty="0">
                <a:latin typeface="Garamond" panose="02020404030301010803" pitchFamily="18" charset="0"/>
              </a:rPr>
              <a:t>ready</a:t>
            </a:r>
            <a:r>
              <a:rPr lang="en-US" altLang="en-US" dirty="0">
                <a:latin typeface="Garamond" panose="02020404030301010803" pitchFamily="18" charset="0"/>
              </a:rPr>
              <a:t>:  The process is waiting to be assigned to a processor</a:t>
            </a:r>
          </a:p>
          <a:p>
            <a:pPr lvl="1"/>
            <a:r>
              <a:rPr lang="en-US" altLang="en-US" b="1" dirty="0">
                <a:latin typeface="Garamond" panose="02020404030301010803" pitchFamily="18" charset="0"/>
              </a:rPr>
              <a:t>running</a:t>
            </a:r>
            <a:r>
              <a:rPr lang="en-US" altLang="en-US" dirty="0">
                <a:latin typeface="Garamond" panose="02020404030301010803" pitchFamily="18" charset="0"/>
              </a:rPr>
              <a:t>:  Instructions are being executed</a:t>
            </a:r>
          </a:p>
          <a:p>
            <a:pPr lvl="1"/>
            <a:r>
              <a:rPr lang="en-US" altLang="en-US" b="1" dirty="0">
                <a:latin typeface="Garamond" panose="02020404030301010803" pitchFamily="18" charset="0"/>
              </a:rPr>
              <a:t>waiting</a:t>
            </a:r>
            <a:r>
              <a:rPr lang="en-US" altLang="en-US" dirty="0">
                <a:latin typeface="Garamond" panose="02020404030301010803" pitchFamily="18" charset="0"/>
              </a:rPr>
              <a:t>:  The process is waiting for some event to occur</a:t>
            </a:r>
          </a:p>
          <a:p>
            <a:pPr lvl="1"/>
            <a:r>
              <a:rPr lang="en-US" altLang="en-US" b="1" dirty="0">
                <a:latin typeface="Garamond" panose="02020404030301010803" pitchFamily="18" charset="0"/>
              </a:rPr>
              <a:t>terminated</a:t>
            </a:r>
            <a:r>
              <a:rPr lang="en-US" altLang="en-US" dirty="0">
                <a:latin typeface="Garamond" panose="02020404030301010803" pitchFamily="18" charset="0"/>
              </a:rPr>
              <a:t>:  The process has finished execution</a:t>
            </a:r>
          </a:p>
        </p:txBody>
      </p:sp>
      <p:sp>
        <p:nvSpPr>
          <p:cNvPr id="8" name="Date Placeholder 7"/>
          <p:cNvSpPr>
            <a:spLocks noGrp="1"/>
          </p:cNvSpPr>
          <p:nvPr>
            <p:ph type="dt" sz="half" idx="10"/>
          </p:nvPr>
        </p:nvSpPr>
        <p:spPr/>
        <p:txBody>
          <a:bodyPr/>
          <a:lstStyle/>
          <a:p>
            <a:r>
              <a:rPr lang="en-US"/>
              <a:t>Vincenzo Gulisano</a:t>
            </a:r>
          </a:p>
        </p:txBody>
      </p:sp>
      <p:sp>
        <p:nvSpPr>
          <p:cNvPr id="4" name="TextBox 3"/>
          <p:cNvSpPr txBox="1"/>
          <p:nvPr/>
        </p:nvSpPr>
        <p:spPr>
          <a:xfrm>
            <a:off x="6311591" y="4640186"/>
            <a:ext cx="2687443" cy="1200329"/>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pPr algn="ctr"/>
            <a:r>
              <a:rPr lang="sv-SE" dirty="0" err="1">
                <a:latin typeface="+mj-lt"/>
              </a:rPr>
              <a:t>Important</a:t>
            </a:r>
            <a:r>
              <a:rPr lang="sv-SE" dirty="0">
                <a:latin typeface="+mj-lt"/>
              </a:rPr>
              <a:t>: </a:t>
            </a:r>
            <a:r>
              <a:rPr lang="sv-SE" dirty="0" err="1">
                <a:latin typeface="+mj-lt"/>
              </a:rPr>
              <a:t>only</a:t>
            </a:r>
            <a:r>
              <a:rPr lang="sv-SE" dirty="0">
                <a:latin typeface="+mj-lt"/>
              </a:rPr>
              <a:t> 1 process </a:t>
            </a:r>
            <a:r>
              <a:rPr lang="sv-SE" dirty="0" err="1">
                <a:latin typeface="+mj-lt"/>
              </a:rPr>
              <a:t>can</a:t>
            </a:r>
            <a:r>
              <a:rPr lang="sv-SE" dirty="0">
                <a:latin typeface="+mj-lt"/>
              </a:rPr>
              <a:t> be </a:t>
            </a:r>
            <a:r>
              <a:rPr lang="sv-SE" b="1" dirty="0" err="1">
                <a:latin typeface="+mj-lt"/>
              </a:rPr>
              <a:t>running</a:t>
            </a:r>
            <a:r>
              <a:rPr lang="sv-SE" dirty="0">
                <a:latin typeface="+mj-lt"/>
              </a:rPr>
              <a:t> on </a:t>
            </a:r>
            <a:r>
              <a:rPr lang="sv-SE" dirty="0" err="1">
                <a:latin typeface="+mj-lt"/>
              </a:rPr>
              <a:t>any</a:t>
            </a:r>
            <a:r>
              <a:rPr lang="sv-SE" dirty="0">
                <a:latin typeface="+mj-lt"/>
              </a:rPr>
              <a:t> CPU </a:t>
            </a:r>
            <a:r>
              <a:rPr lang="sv-SE" dirty="0" err="1">
                <a:latin typeface="+mj-lt"/>
              </a:rPr>
              <a:t>core</a:t>
            </a:r>
            <a:r>
              <a:rPr lang="sv-SE" dirty="0">
                <a:latin typeface="+mj-lt"/>
              </a:rPr>
              <a:t> / </a:t>
            </a:r>
            <a:r>
              <a:rPr lang="sv-SE" dirty="0" err="1">
                <a:latin typeface="+mj-lt"/>
              </a:rPr>
              <a:t>logical</a:t>
            </a:r>
            <a:r>
              <a:rPr lang="sv-SE" dirty="0">
                <a:latin typeface="+mj-lt"/>
              </a:rPr>
              <a:t> processor at </a:t>
            </a:r>
            <a:r>
              <a:rPr lang="sv-SE" dirty="0" err="1">
                <a:latin typeface="+mj-lt"/>
              </a:rPr>
              <a:t>any</a:t>
            </a:r>
            <a:r>
              <a:rPr lang="sv-SE" dirty="0">
                <a:latin typeface="+mj-lt"/>
              </a:rPr>
              <a:t> </a:t>
            </a:r>
            <a:r>
              <a:rPr lang="sv-SE" dirty="0" err="1">
                <a:latin typeface="+mj-lt"/>
              </a:rPr>
              <a:t>instant</a:t>
            </a:r>
            <a:r>
              <a:rPr lang="sv-SE" dirty="0">
                <a:latin typeface="+mj-lt"/>
              </a:rPr>
              <a: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2"/>
          <p:cNvSpPr>
            <a:spLocks noGrp="1" noChangeArrowheads="1"/>
          </p:cNvSpPr>
          <p:nvPr>
            <p:ph type="title"/>
          </p:nvPr>
        </p:nvSpPr>
        <p:spPr/>
        <p:txBody>
          <a:bodyPr/>
          <a:lstStyle/>
          <a:p>
            <a:r>
              <a:rPr lang="en-US" altLang="en-US"/>
              <a:t>Context Switch</a:t>
            </a:r>
          </a:p>
        </p:txBody>
      </p:sp>
      <p:sp>
        <p:nvSpPr>
          <p:cNvPr id="21507" name="Rectangle 3"/>
          <p:cNvSpPr>
            <a:spLocks noGrp="1" noChangeArrowheads="1"/>
          </p:cNvSpPr>
          <p:nvPr>
            <p:ph idx="1"/>
          </p:nvPr>
        </p:nvSpPr>
        <p:spPr/>
        <p:txBody>
          <a:bodyPr/>
          <a:lstStyle/>
          <a:p>
            <a:r>
              <a:rPr lang="en-US" altLang="en-US" dirty="0"/>
              <a:t>When CPU switches to another process, the system must save the state of the old process and load the saved state for the new process via a context switch</a:t>
            </a:r>
          </a:p>
          <a:p>
            <a:r>
              <a:rPr lang="en-US" altLang="en-US" dirty="0"/>
              <a:t>Context of a process represented in the PCB</a:t>
            </a:r>
          </a:p>
          <a:p>
            <a:r>
              <a:rPr lang="en-US" altLang="en-US" dirty="0"/>
              <a:t>Context-switch time is overhead; the system does no useful work while switching</a:t>
            </a:r>
          </a:p>
          <a:p>
            <a:pPr lvl="1"/>
            <a:r>
              <a:rPr lang="en-US" altLang="en-US" dirty="0"/>
              <a:t>The more complex the OS and the PCB </a:t>
            </a:r>
            <a:r>
              <a:rPr lang="en-US" altLang="en-US" dirty="0">
                <a:sym typeface="Wingdings" panose="05000000000000000000" pitchFamily="2" charset="2"/>
              </a:rPr>
              <a:t> the longer the context-switch time</a:t>
            </a:r>
            <a:endParaRPr lang="en-US" altLang="en-US" dirty="0"/>
          </a:p>
          <a:p>
            <a:r>
              <a:rPr lang="en-US" altLang="en-US" dirty="0"/>
              <a:t>Time dependent on hardware support</a:t>
            </a:r>
          </a:p>
          <a:p>
            <a:pPr lvl="1"/>
            <a:r>
              <a:rPr lang="en-US" altLang="en-US" dirty="0"/>
              <a:t>Some hardware provides multiple sets of registers per CPU </a:t>
            </a:r>
            <a:r>
              <a:rPr lang="en-US" altLang="en-US" dirty="0">
                <a:sym typeface="Wingdings" panose="05000000000000000000" pitchFamily="2" charset="2"/>
              </a:rPr>
              <a:t></a:t>
            </a:r>
            <a:r>
              <a:rPr lang="en-US" altLang="en-US" dirty="0"/>
              <a:t> multiple contexts loaded at once</a:t>
            </a:r>
          </a:p>
        </p:txBody>
      </p:sp>
      <p:sp>
        <p:nvSpPr>
          <p:cNvPr id="2" name="Footer Placeholder 1"/>
          <p:cNvSpPr>
            <a:spLocks noGrp="1"/>
          </p:cNvSpPr>
          <p:nvPr>
            <p:ph type="ftr" sz="quarter" idx="11"/>
          </p:nvPr>
        </p:nvSpPr>
        <p:spPr/>
        <p:txBody>
          <a:bodyPr/>
          <a:lstStyle/>
          <a:p>
            <a:r>
              <a:rPr lang="en-US"/>
              <a:t>Operating Systems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12</a:t>
            </a:fld>
            <a:endParaRPr lang="en-US"/>
          </a:p>
        </p:txBody>
      </p:sp>
      <p:sp>
        <p:nvSpPr>
          <p:cNvPr id="8" name="Date Placeholder 7"/>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158407102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2"/>
          <p:cNvSpPr>
            <a:spLocks noGrp="1" noChangeArrowheads="1"/>
          </p:cNvSpPr>
          <p:nvPr>
            <p:ph type="title"/>
          </p:nvPr>
        </p:nvSpPr>
        <p:spPr/>
        <p:txBody>
          <a:bodyPr/>
          <a:lstStyle/>
          <a:p>
            <a:r>
              <a:rPr lang="en-US" altLang="en-US">
                <a:latin typeface="Garamond" panose="02020404030301010803" pitchFamily="18" charset="0"/>
              </a:rPr>
              <a:t>Process Control Block (PCB)</a:t>
            </a:r>
          </a:p>
        </p:txBody>
      </p:sp>
      <p:sp>
        <p:nvSpPr>
          <p:cNvPr id="11267" name="Rectangle 3"/>
          <p:cNvSpPr>
            <a:spLocks noGrp="1" noChangeArrowheads="1"/>
          </p:cNvSpPr>
          <p:nvPr>
            <p:ph idx="1"/>
          </p:nvPr>
        </p:nvSpPr>
        <p:spPr>
          <a:xfrm>
            <a:off x="628649" y="1825625"/>
            <a:ext cx="5643867" cy="4351338"/>
          </a:xfrm>
        </p:spPr>
        <p:txBody>
          <a:bodyPr>
            <a:normAutofit fontScale="92500" lnSpcReduction="10000"/>
          </a:bodyPr>
          <a:lstStyle/>
          <a:p>
            <a:r>
              <a:rPr lang="en-US" altLang="en-US" dirty="0">
                <a:latin typeface="Garamond" panose="02020404030301010803" pitchFamily="18" charset="0"/>
              </a:rPr>
              <a:t>Information associated with each process in the OS</a:t>
            </a:r>
          </a:p>
          <a:p>
            <a:endParaRPr lang="en-US" altLang="en-US" dirty="0">
              <a:latin typeface="Garamond" panose="02020404030301010803" pitchFamily="18" charset="0"/>
            </a:endParaRPr>
          </a:p>
          <a:p>
            <a:r>
              <a:rPr lang="en-US" altLang="en-US" dirty="0">
                <a:latin typeface="Garamond" panose="02020404030301010803" pitchFamily="18" charset="0"/>
              </a:rPr>
              <a:t>Process state: running, waiting, etc.</a:t>
            </a:r>
          </a:p>
          <a:p>
            <a:r>
              <a:rPr lang="en-US" altLang="en-US" dirty="0">
                <a:latin typeface="Garamond" panose="02020404030301010803" pitchFamily="18" charset="0"/>
              </a:rPr>
              <a:t>Program counter: location of next instruction to execute</a:t>
            </a:r>
          </a:p>
          <a:p>
            <a:r>
              <a:rPr lang="en-US" altLang="en-US" dirty="0">
                <a:latin typeface="Garamond" panose="02020404030301010803" pitchFamily="18" charset="0"/>
              </a:rPr>
              <a:t>CPU registers: contents of all process-centric registers</a:t>
            </a:r>
          </a:p>
          <a:p>
            <a:r>
              <a:rPr lang="en-US" altLang="en-US" dirty="0">
                <a:latin typeface="Garamond" panose="02020404030301010803" pitchFamily="18" charset="0"/>
              </a:rPr>
              <a:t>CPU scheduling information: priorities, scheduling queue pointers</a:t>
            </a:r>
          </a:p>
          <a:p>
            <a:r>
              <a:rPr lang="en-US" altLang="en-US" dirty="0">
                <a:latin typeface="Garamond" panose="02020404030301010803" pitchFamily="18" charset="0"/>
              </a:rPr>
              <a:t>Memory-management information: memory allocated to the process</a:t>
            </a:r>
          </a:p>
          <a:p>
            <a:r>
              <a:rPr lang="en-US" altLang="en-US" dirty="0">
                <a:latin typeface="Garamond" panose="02020404030301010803" pitchFamily="18" charset="0"/>
              </a:rPr>
              <a:t>Accounting information: CPU time used, clock time elapsed since start, time limits</a:t>
            </a:r>
          </a:p>
          <a:p>
            <a:r>
              <a:rPr lang="en-US" altLang="en-US" dirty="0">
                <a:latin typeface="Garamond" panose="02020404030301010803" pitchFamily="18" charset="0"/>
              </a:rPr>
              <a:t>I/O status information: I/O devices allocated to the process, list of open files</a:t>
            </a:r>
          </a:p>
          <a:p>
            <a:endParaRPr lang="en-US" altLang="en-US" dirty="0">
              <a:latin typeface="Garamond" panose="02020404030301010803" pitchFamily="18" charset="0"/>
            </a:endParaRPr>
          </a:p>
        </p:txBody>
      </p:sp>
      <p:sp>
        <p:nvSpPr>
          <p:cNvPr id="2" name="Footer Placeholder 1"/>
          <p:cNvSpPr>
            <a:spLocks noGrp="1"/>
          </p:cNvSpPr>
          <p:nvPr>
            <p:ph type="ftr" sz="quarter" idx="11"/>
          </p:nvPr>
        </p:nvSpPr>
        <p:spPr/>
        <p:txBody>
          <a:bodyPr/>
          <a:lstStyle/>
          <a:p>
            <a:r>
              <a:rPr lang="en-US"/>
              <a:t>Operating Systems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13</a:t>
            </a:fld>
            <a:endParaRPr lang="en-US"/>
          </a:p>
        </p:txBody>
      </p:sp>
      <p:pic>
        <p:nvPicPr>
          <p:cNvPr id="11268" name="Picture 9"/>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272517" y="2068285"/>
            <a:ext cx="2253868" cy="3619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 name="Date Placeholder 7"/>
          <p:cNvSpPr>
            <a:spLocks noGrp="1"/>
          </p:cNvSpPr>
          <p:nvPr>
            <p:ph type="dt" sz="half" idx="10"/>
          </p:nvPr>
        </p:nvSpPr>
        <p:spPr/>
        <p:txBody>
          <a:bodyPr/>
          <a:lstStyle/>
          <a:p>
            <a:r>
              <a:rPr lang="en-US"/>
              <a:t>Vincenzo Gulisano</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AGENDA</a:t>
            </a:r>
            <a:endParaRPr lang="en-US" dirty="0"/>
          </a:p>
        </p:txBody>
      </p:sp>
      <p:sp>
        <p:nvSpPr>
          <p:cNvPr id="3" name="Content Placeholder 2"/>
          <p:cNvSpPr>
            <a:spLocks noGrp="1"/>
          </p:cNvSpPr>
          <p:nvPr>
            <p:ph idx="1"/>
          </p:nvPr>
        </p:nvSpPr>
        <p:spPr/>
        <p:txBody>
          <a:bodyPr/>
          <a:lstStyle/>
          <a:p>
            <a:r>
              <a:rPr lang="en-US" dirty="0">
                <a:solidFill>
                  <a:schemeClr val="bg2">
                    <a:lumMod val="90000"/>
                  </a:schemeClr>
                </a:solidFill>
              </a:rPr>
              <a:t>Processes (Introduction)</a:t>
            </a:r>
          </a:p>
          <a:p>
            <a:r>
              <a:rPr lang="en-US" dirty="0"/>
              <a:t>Process Scheduling</a:t>
            </a:r>
          </a:p>
          <a:p>
            <a:r>
              <a:rPr lang="en-US" dirty="0">
                <a:solidFill>
                  <a:schemeClr val="bg2">
                    <a:lumMod val="90000"/>
                  </a:schemeClr>
                </a:solidFill>
              </a:rPr>
              <a:t>Operations on Processes</a:t>
            </a:r>
          </a:p>
          <a:p>
            <a:r>
              <a:rPr lang="en-US" dirty="0">
                <a:solidFill>
                  <a:schemeClr val="bg2">
                    <a:lumMod val="90000"/>
                  </a:schemeClr>
                </a:solidFill>
              </a:rPr>
              <a:t>Interprocess Communication (contains self-reading part)</a:t>
            </a:r>
          </a:p>
        </p:txBody>
      </p:sp>
      <p:sp>
        <p:nvSpPr>
          <p:cNvPr id="4" name="Footer Placeholder 3"/>
          <p:cNvSpPr>
            <a:spLocks noGrp="1"/>
          </p:cNvSpPr>
          <p:nvPr>
            <p:ph type="ftr" sz="quarter" idx="11"/>
          </p:nvPr>
        </p:nvSpPr>
        <p:spPr/>
        <p:txBody>
          <a:bodyPr/>
          <a:lstStyle/>
          <a:p>
            <a:r>
              <a:rPr lang="en-US"/>
              <a:t>Operating Systems - Processes</a:t>
            </a:r>
          </a:p>
        </p:txBody>
      </p:sp>
      <p:sp>
        <p:nvSpPr>
          <p:cNvPr id="5" name="Slide Number Placeholder 4"/>
          <p:cNvSpPr>
            <a:spLocks noGrp="1"/>
          </p:cNvSpPr>
          <p:nvPr>
            <p:ph type="sldNum" sz="quarter" idx="12"/>
          </p:nvPr>
        </p:nvSpPr>
        <p:spPr/>
        <p:txBody>
          <a:bodyPr/>
          <a:lstStyle/>
          <a:p>
            <a:fld id="{95AAEEEC-DCEC-4178-AB14-E7254A15A296}" type="slidenum">
              <a:rPr lang="en-US" smtClean="0"/>
              <a:pPr/>
              <a:t>14</a:t>
            </a:fld>
            <a:endParaRPr lang="en-US"/>
          </a:p>
        </p:txBody>
      </p:sp>
      <p:sp>
        <p:nvSpPr>
          <p:cNvPr id="10" name="Date Placeholder 9"/>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101035355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Rectangle 2"/>
          <p:cNvSpPr>
            <a:spLocks noGrp="1" noChangeArrowheads="1"/>
          </p:cNvSpPr>
          <p:nvPr>
            <p:ph type="title"/>
          </p:nvPr>
        </p:nvSpPr>
        <p:spPr/>
        <p:txBody>
          <a:bodyPr/>
          <a:lstStyle/>
          <a:p>
            <a:r>
              <a:rPr lang="en-US" altLang="en-US"/>
              <a:t>Process Scheduling</a:t>
            </a:r>
          </a:p>
        </p:txBody>
      </p:sp>
      <p:sp>
        <p:nvSpPr>
          <p:cNvPr id="15363" name="Rectangle 3"/>
          <p:cNvSpPr>
            <a:spLocks noGrp="1" noChangeArrowheads="1"/>
          </p:cNvSpPr>
          <p:nvPr>
            <p:ph idx="1"/>
          </p:nvPr>
        </p:nvSpPr>
        <p:spPr/>
        <p:txBody>
          <a:bodyPr/>
          <a:lstStyle/>
          <a:p>
            <a:r>
              <a:rPr lang="en-US" altLang="en-US" dirty="0"/>
              <a:t>Maximize CPU use, quickly switch processes onto CPU for time sharing</a:t>
            </a:r>
          </a:p>
          <a:p>
            <a:r>
              <a:rPr lang="en-US" altLang="en-US" dirty="0"/>
              <a:t>Process scheduler selects among available processes for the next execution on CPU</a:t>
            </a:r>
          </a:p>
          <a:p>
            <a:r>
              <a:rPr lang="en-US" altLang="en-US" dirty="0"/>
              <a:t>Maintains scheduling queues of processes</a:t>
            </a:r>
          </a:p>
          <a:p>
            <a:pPr lvl="1"/>
            <a:r>
              <a:rPr lang="en-US" altLang="en-US" dirty="0"/>
              <a:t>Job queue – set of all processes in the system</a:t>
            </a:r>
          </a:p>
          <a:p>
            <a:pPr lvl="1"/>
            <a:r>
              <a:rPr lang="en-US" altLang="en-US" dirty="0"/>
              <a:t>Ready queue – set of all processes residing in main memory, ready and waiting to execute</a:t>
            </a:r>
          </a:p>
          <a:p>
            <a:pPr lvl="1"/>
            <a:r>
              <a:rPr lang="en-US" altLang="en-US" dirty="0"/>
              <a:t>Device queues – set of processes waiting for an I/O device</a:t>
            </a:r>
          </a:p>
          <a:p>
            <a:pPr lvl="1"/>
            <a:r>
              <a:rPr lang="en-US" altLang="en-US" dirty="0"/>
              <a:t>Processes migrate among the various queues</a:t>
            </a:r>
          </a:p>
        </p:txBody>
      </p:sp>
      <p:sp>
        <p:nvSpPr>
          <p:cNvPr id="2" name="Footer Placeholder 1"/>
          <p:cNvSpPr>
            <a:spLocks noGrp="1"/>
          </p:cNvSpPr>
          <p:nvPr>
            <p:ph type="ftr" sz="quarter" idx="11"/>
          </p:nvPr>
        </p:nvSpPr>
        <p:spPr/>
        <p:txBody>
          <a:bodyPr/>
          <a:lstStyle/>
          <a:p>
            <a:r>
              <a:rPr lang="en-US"/>
              <a:t>Operating Systems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15</a:t>
            </a:fld>
            <a:endParaRPr lang="en-US"/>
          </a:p>
        </p:txBody>
      </p:sp>
      <p:sp>
        <p:nvSpPr>
          <p:cNvPr id="8" name="Date Placeholder 7"/>
          <p:cNvSpPr>
            <a:spLocks noGrp="1"/>
          </p:cNvSpPr>
          <p:nvPr>
            <p:ph type="dt" sz="half" idx="10"/>
          </p:nvPr>
        </p:nvSpPr>
        <p:spPr/>
        <p:txBody>
          <a:bodyPr/>
          <a:lstStyle/>
          <a:p>
            <a:r>
              <a:rPr lang="en-US"/>
              <a:t>Vincenzo Gulisano</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2"/>
          <p:cNvSpPr>
            <a:spLocks noGrp="1" noChangeArrowheads="1"/>
          </p:cNvSpPr>
          <p:nvPr>
            <p:ph type="title"/>
          </p:nvPr>
        </p:nvSpPr>
        <p:spPr/>
        <p:txBody>
          <a:bodyPr/>
          <a:lstStyle/>
          <a:p>
            <a:r>
              <a:rPr lang="en-US" altLang="en-US"/>
              <a:t>Ready Queue And Various I/O Device Queues</a:t>
            </a:r>
          </a:p>
        </p:txBody>
      </p:sp>
      <p:sp>
        <p:nvSpPr>
          <p:cNvPr id="2" name="Footer Placeholder 1"/>
          <p:cNvSpPr>
            <a:spLocks noGrp="1"/>
          </p:cNvSpPr>
          <p:nvPr>
            <p:ph type="ftr" sz="quarter" idx="11"/>
          </p:nvPr>
        </p:nvSpPr>
        <p:spPr/>
        <p:txBody>
          <a:bodyPr/>
          <a:lstStyle/>
          <a:p>
            <a:r>
              <a:rPr lang="en-US"/>
              <a:t>Operating Systems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16</a:t>
            </a:fld>
            <a:endParaRPr lang="en-US"/>
          </a:p>
        </p:txBody>
      </p:sp>
      <p:pic>
        <p:nvPicPr>
          <p:cNvPr id="16387" name="Picture 7"/>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768475" y="1214438"/>
            <a:ext cx="5822950" cy="50212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Date Placeholder 6"/>
          <p:cNvSpPr>
            <a:spLocks noGrp="1"/>
          </p:cNvSpPr>
          <p:nvPr>
            <p:ph type="dt" sz="half" idx="10"/>
          </p:nvPr>
        </p:nvSpPr>
        <p:spPr/>
        <p:txBody>
          <a:bodyPr/>
          <a:lstStyle/>
          <a:p>
            <a:r>
              <a:rPr lang="en-US"/>
              <a:t>Vincenzo Gulisano</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Rectangle 2"/>
          <p:cNvSpPr>
            <a:spLocks noGrp="1" noChangeArrowheads="1"/>
          </p:cNvSpPr>
          <p:nvPr>
            <p:ph type="title"/>
          </p:nvPr>
        </p:nvSpPr>
        <p:spPr/>
        <p:txBody>
          <a:bodyPr/>
          <a:lstStyle/>
          <a:p>
            <a:r>
              <a:rPr lang="en-US" altLang="en-US"/>
              <a:t>Representation of Process Scheduling</a:t>
            </a:r>
          </a:p>
        </p:txBody>
      </p:sp>
      <p:sp>
        <p:nvSpPr>
          <p:cNvPr id="2" name="Footer Placeholder 1"/>
          <p:cNvSpPr>
            <a:spLocks noGrp="1"/>
          </p:cNvSpPr>
          <p:nvPr>
            <p:ph type="ftr" sz="quarter" idx="11"/>
          </p:nvPr>
        </p:nvSpPr>
        <p:spPr/>
        <p:txBody>
          <a:bodyPr/>
          <a:lstStyle/>
          <a:p>
            <a:r>
              <a:rPr lang="en-US"/>
              <a:t>Operating Systems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17</a:t>
            </a:fld>
            <a:endParaRPr lang="en-US"/>
          </a:p>
        </p:txBody>
      </p:sp>
      <p:pic>
        <p:nvPicPr>
          <p:cNvPr id="17411" name="Picture 4" descr="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87488" y="1966913"/>
            <a:ext cx="6546850" cy="37814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7412" name="Rectangle 3"/>
          <p:cNvSpPr txBox="1">
            <a:spLocks noChangeArrowheads="1"/>
          </p:cNvSpPr>
          <p:nvPr/>
        </p:nvSpPr>
        <p:spPr bwMode="auto">
          <a:xfrm>
            <a:off x="808038" y="1303338"/>
            <a:ext cx="6975475" cy="3981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4008" tIns="32004" rIns="64008" bIns="32004"/>
          <a:lstStyle>
            <a:lvl1pPr marL="488950" indent="-488950">
              <a:defRPr>
                <a:solidFill>
                  <a:schemeClr val="tx1"/>
                </a:solidFill>
                <a:latin typeface="Verdana" panose="020B0604030504040204" pitchFamily="34" charset="0"/>
                <a:ea typeface="MS PGothic" panose="020B0600070205080204" pitchFamily="34" charset="-128"/>
              </a:defRPr>
            </a:lvl1pPr>
            <a:lvl2pPr marL="742950" indent="-285750">
              <a:defRPr>
                <a:solidFill>
                  <a:schemeClr val="tx1"/>
                </a:solidFill>
                <a:latin typeface="Verdana" panose="020B0604030504040204" pitchFamily="34" charset="0"/>
                <a:ea typeface="MS PGothic" panose="020B0600070205080204" pitchFamily="34" charset="-128"/>
              </a:defRPr>
            </a:lvl2pPr>
            <a:lvl3pPr marL="1143000" indent="-228600">
              <a:defRPr>
                <a:solidFill>
                  <a:schemeClr val="tx1"/>
                </a:solidFill>
                <a:latin typeface="Verdana" panose="020B0604030504040204" pitchFamily="34" charset="0"/>
                <a:ea typeface="MS PGothic" panose="020B0600070205080204" pitchFamily="34" charset="-128"/>
              </a:defRPr>
            </a:lvl3pPr>
            <a:lvl4pPr marL="1600200" indent="-228600">
              <a:defRPr>
                <a:solidFill>
                  <a:schemeClr val="tx1"/>
                </a:solidFill>
                <a:latin typeface="Verdana" panose="020B0604030504040204" pitchFamily="34" charset="0"/>
                <a:ea typeface="MS PGothic" panose="020B0600070205080204" pitchFamily="34" charset="-128"/>
              </a:defRPr>
            </a:lvl4pPr>
            <a:lvl5pPr marL="2057400" indent="-228600">
              <a:defRPr>
                <a:solidFill>
                  <a:schemeClr val="tx1"/>
                </a:solidFill>
                <a:latin typeface="Verdana" panose="020B0604030504040204" pitchFamily="34"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pPr marL="0" indent="0">
              <a:spcBef>
                <a:spcPct val="35000"/>
              </a:spcBef>
              <a:buClr>
                <a:srgbClr val="993300"/>
              </a:buClr>
              <a:buSzPct val="90000"/>
            </a:pPr>
            <a:r>
              <a:rPr kumimoji="1" lang="en-US" altLang="en-US" b="1" dirty="0">
                <a:solidFill>
                  <a:srgbClr val="3366FF"/>
                </a:solidFill>
                <a:latin typeface="Helvetica" panose="020B0604020202020204" pitchFamily="34" charset="0"/>
              </a:rPr>
              <a:t>Queueing diagram </a:t>
            </a:r>
            <a:r>
              <a:rPr kumimoji="1" lang="en-US" altLang="en-US" dirty="0">
                <a:latin typeface="Helvetica" panose="020B0604020202020204" pitchFamily="34" charset="0"/>
              </a:rPr>
              <a:t>represents queues, resources, flows</a:t>
            </a:r>
          </a:p>
        </p:txBody>
      </p:sp>
      <p:sp>
        <p:nvSpPr>
          <p:cNvPr id="7" name="Date Placeholder 6"/>
          <p:cNvSpPr>
            <a:spLocks noGrp="1"/>
          </p:cNvSpPr>
          <p:nvPr>
            <p:ph type="dt" sz="half" idx="10"/>
          </p:nvPr>
        </p:nvSpPr>
        <p:spPr/>
        <p:txBody>
          <a:bodyPr/>
          <a:lstStyle/>
          <a:p>
            <a:r>
              <a:rPr lang="en-US"/>
              <a:t>Vincenzo Gulisano</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2"/>
          <p:cNvSpPr>
            <a:spLocks noGrp="1" noChangeArrowheads="1"/>
          </p:cNvSpPr>
          <p:nvPr>
            <p:ph type="title"/>
          </p:nvPr>
        </p:nvSpPr>
        <p:spPr/>
        <p:txBody>
          <a:bodyPr/>
          <a:lstStyle/>
          <a:p>
            <a:r>
              <a:rPr lang="en-US" altLang="en-US"/>
              <a:t>Schedulers</a:t>
            </a:r>
          </a:p>
        </p:txBody>
      </p:sp>
      <p:sp>
        <p:nvSpPr>
          <p:cNvPr id="18435" name="Rectangle 3"/>
          <p:cNvSpPr>
            <a:spLocks noGrp="1" noChangeArrowheads="1"/>
          </p:cNvSpPr>
          <p:nvPr>
            <p:ph idx="1"/>
          </p:nvPr>
        </p:nvSpPr>
        <p:spPr/>
        <p:txBody>
          <a:bodyPr>
            <a:normAutofit/>
          </a:bodyPr>
          <a:lstStyle/>
          <a:p>
            <a:r>
              <a:rPr lang="en-US" altLang="en-US" sz="2400" dirty="0"/>
              <a:t>Short-term scheduler  (or CPU scheduler) – selects which process should be executed next and allocates the CPU</a:t>
            </a:r>
          </a:p>
          <a:p>
            <a:pPr lvl="1"/>
            <a:r>
              <a:rPr lang="en-US" altLang="en-US" sz="2000" dirty="0"/>
              <a:t>Sometimes the only scheduler in a system</a:t>
            </a:r>
          </a:p>
          <a:p>
            <a:pPr lvl="1"/>
            <a:r>
              <a:rPr lang="en-US" altLang="en-US" sz="2000" dirty="0"/>
              <a:t>Short-term scheduler is invoked frequently (milliseconds) </a:t>
            </a:r>
            <a:r>
              <a:rPr lang="en-US" altLang="en-US" sz="2000" dirty="0">
                <a:sym typeface="Symbol" panose="05050102010706020507" pitchFamily="18" charset="2"/>
              </a:rPr>
              <a:t> (must be fast)</a:t>
            </a:r>
          </a:p>
          <a:p>
            <a:endParaRPr lang="en-US" altLang="en-US" sz="2400" dirty="0">
              <a:sym typeface="Symbol" panose="05050102010706020507" pitchFamily="18" charset="2"/>
            </a:endParaRPr>
          </a:p>
          <a:p>
            <a:r>
              <a:rPr lang="en-US" altLang="en-US" sz="2400" dirty="0"/>
              <a:t>Long-term scheduler  (or job scheduler) – selects which processes should be brought into the ready queue</a:t>
            </a:r>
          </a:p>
          <a:p>
            <a:pPr lvl="1"/>
            <a:r>
              <a:rPr lang="en-US" altLang="en-US" sz="2000" dirty="0">
                <a:sym typeface="Symbol" panose="05050102010706020507" pitchFamily="18" charset="2"/>
              </a:rPr>
              <a:t>Long-term scheduler is invoked  infrequently (seconds, minutes)  (may be slow)</a:t>
            </a:r>
          </a:p>
          <a:p>
            <a:pPr lvl="1"/>
            <a:r>
              <a:rPr lang="en-US" altLang="en-US" sz="2000" dirty="0">
                <a:sym typeface="Symbol" panose="05050102010706020507" pitchFamily="18" charset="2"/>
              </a:rPr>
              <a:t>The long-term scheduler controls the degree of multiprogramming</a:t>
            </a:r>
            <a:endParaRPr lang="en-US" altLang="en-US" sz="2000" dirty="0"/>
          </a:p>
          <a:p>
            <a:endParaRPr lang="en-US" altLang="en-US" sz="2400" dirty="0"/>
          </a:p>
        </p:txBody>
      </p:sp>
      <p:sp>
        <p:nvSpPr>
          <p:cNvPr id="2" name="Footer Placeholder 1"/>
          <p:cNvSpPr>
            <a:spLocks noGrp="1"/>
          </p:cNvSpPr>
          <p:nvPr>
            <p:ph type="ftr" sz="quarter" idx="11"/>
          </p:nvPr>
        </p:nvSpPr>
        <p:spPr/>
        <p:txBody>
          <a:bodyPr/>
          <a:lstStyle/>
          <a:p>
            <a:r>
              <a:rPr lang="en-US"/>
              <a:t>Operating Systems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18</a:t>
            </a:fld>
            <a:endParaRPr lang="en-US"/>
          </a:p>
        </p:txBody>
      </p:sp>
      <p:sp>
        <p:nvSpPr>
          <p:cNvPr id="8" name="Date Placeholder 7"/>
          <p:cNvSpPr>
            <a:spLocks noGrp="1"/>
          </p:cNvSpPr>
          <p:nvPr>
            <p:ph type="dt" sz="half" idx="10"/>
          </p:nvPr>
        </p:nvSpPr>
        <p:spPr/>
        <p:txBody>
          <a:bodyPr/>
          <a:lstStyle/>
          <a:p>
            <a:r>
              <a:rPr lang="en-US"/>
              <a:t>Vincenzo Gulisano</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AGENDA</a:t>
            </a:r>
            <a:endParaRPr lang="en-US" dirty="0"/>
          </a:p>
        </p:txBody>
      </p:sp>
      <p:sp>
        <p:nvSpPr>
          <p:cNvPr id="3" name="Content Placeholder 2"/>
          <p:cNvSpPr>
            <a:spLocks noGrp="1"/>
          </p:cNvSpPr>
          <p:nvPr>
            <p:ph idx="1"/>
          </p:nvPr>
        </p:nvSpPr>
        <p:spPr/>
        <p:txBody>
          <a:bodyPr/>
          <a:lstStyle/>
          <a:p>
            <a:r>
              <a:rPr lang="en-US" dirty="0">
                <a:solidFill>
                  <a:schemeClr val="bg2">
                    <a:lumMod val="90000"/>
                  </a:schemeClr>
                </a:solidFill>
              </a:rPr>
              <a:t>Processes (Introduction)</a:t>
            </a:r>
          </a:p>
          <a:p>
            <a:r>
              <a:rPr lang="en-US" dirty="0">
                <a:solidFill>
                  <a:schemeClr val="bg2">
                    <a:lumMod val="90000"/>
                  </a:schemeClr>
                </a:solidFill>
              </a:rPr>
              <a:t>Process Scheduling</a:t>
            </a:r>
          </a:p>
          <a:p>
            <a:r>
              <a:rPr lang="en-US" dirty="0"/>
              <a:t>Operations on Processes</a:t>
            </a:r>
          </a:p>
          <a:p>
            <a:r>
              <a:rPr lang="en-US" dirty="0">
                <a:solidFill>
                  <a:schemeClr val="bg2">
                    <a:lumMod val="90000"/>
                  </a:schemeClr>
                </a:solidFill>
              </a:rPr>
              <a:t>Interprocess Communication (contains self-reading part)</a:t>
            </a:r>
          </a:p>
        </p:txBody>
      </p:sp>
      <p:sp>
        <p:nvSpPr>
          <p:cNvPr id="4" name="Footer Placeholder 3"/>
          <p:cNvSpPr>
            <a:spLocks noGrp="1"/>
          </p:cNvSpPr>
          <p:nvPr>
            <p:ph type="ftr" sz="quarter" idx="11"/>
          </p:nvPr>
        </p:nvSpPr>
        <p:spPr/>
        <p:txBody>
          <a:bodyPr/>
          <a:lstStyle/>
          <a:p>
            <a:r>
              <a:rPr lang="en-US"/>
              <a:t>Operating Systems - Processes</a:t>
            </a:r>
          </a:p>
        </p:txBody>
      </p:sp>
      <p:sp>
        <p:nvSpPr>
          <p:cNvPr id="5" name="Slide Number Placeholder 4"/>
          <p:cNvSpPr>
            <a:spLocks noGrp="1"/>
          </p:cNvSpPr>
          <p:nvPr>
            <p:ph type="sldNum" sz="quarter" idx="12"/>
          </p:nvPr>
        </p:nvSpPr>
        <p:spPr/>
        <p:txBody>
          <a:bodyPr/>
          <a:lstStyle/>
          <a:p>
            <a:fld id="{95AAEEEC-DCEC-4178-AB14-E7254A15A296}" type="slidenum">
              <a:rPr lang="en-US" smtClean="0"/>
              <a:pPr/>
              <a:t>19</a:t>
            </a:fld>
            <a:endParaRPr lang="en-US"/>
          </a:p>
        </p:txBody>
      </p:sp>
      <p:sp>
        <p:nvSpPr>
          <p:cNvPr id="10" name="Date Placeholder 9"/>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401574682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p:cNvSpPr>
            <a:spLocks noGrp="1" noChangeArrowheads="1"/>
          </p:cNvSpPr>
          <p:nvPr>
            <p:ph type="title"/>
          </p:nvPr>
        </p:nvSpPr>
        <p:spPr/>
        <p:txBody>
          <a:bodyPr/>
          <a:lstStyle/>
          <a:p>
            <a:r>
              <a:rPr lang="en-US" altLang="en-US"/>
              <a:t>Operations on Processes</a:t>
            </a:r>
          </a:p>
        </p:txBody>
      </p:sp>
      <p:sp>
        <p:nvSpPr>
          <p:cNvPr id="22531" name="Rectangle 3"/>
          <p:cNvSpPr>
            <a:spLocks noGrp="1" noChangeArrowheads="1"/>
          </p:cNvSpPr>
          <p:nvPr>
            <p:ph idx="1"/>
          </p:nvPr>
        </p:nvSpPr>
        <p:spPr/>
        <p:txBody>
          <a:bodyPr>
            <a:normAutofit/>
          </a:bodyPr>
          <a:lstStyle/>
          <a:p>
            <a:r>
              <a:rPr lang="en-US" altLang="en-US" sz="2800" dirty="0"/>
              <a:t>The system must provide mechanisms for:</a:t>
            </a:r>
          </a:p>
          <a:p>
            <a:pPr lvl="1"/>
            <a:r>
              <a:rPr lang="en-US" altLang="en-US" sz="2400" dirty="0"/>
              <a:t> process creation, and</a:t>
            </a:r>
          </a:p>
          <a:p>
            <a:pPr lvl="1"/>
            <a:r>
              <a:rPr lang="en-US" altLang="en-US" sz="2400" dirty="0"/>
              <a:t> process termination (as detailed in the following slides).</a:t>
            </a:r>
          </a:p>
        </p:txBody>
      </p:sp>
      <p:sp>
        <p:nvSpPr>
          <p:cNvPr id="2" name="Footer Placeholder 1"/>
          <p:cNvSpPr>
            <a:spLocks noGrp="1"/>
          </p:cNvSpPr>
          <p:nvPr>
            <p:ph type="ftr" sz="quarter" idx="11"/>
          </p:nvPr>
        </p:nvSpPr>
        <p:spPr/>
        <p:txBody>
          <a:bodyPr/>
          <a:lstStyle/>
          <a:p>
            <a:r>
              <a:rPr lang="en-US"/>
              <a:t>Operating Systems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20</a:t>
            </a:fld>
            <a:endParaRPr lang="en-US"/>
          </a:p>
        </p:txBody>
      </p:sp>
      <p:sp>
        <p:nvSpPr>
          <p:cNvPr id="8" name="Date Placeholder 7"/>
          <p:cNvSpPr>
            <a:spLocks noGrp="1"/>
          </p:cNvSpPr>
          <p:nvPr>
            <p:ph type="dt" sz="half" idx="10"/>
          </p:nvPr>
        </p:nvSpPr>
        <p:spPr/>
        <p:txBody>
          <a:bodyPr/>
          <a:lstStyle/>
          <a:p>
            <a:r>
              <a:rPr lang="en-US"/>
              <a:t>Vincenzo Gulisano</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t>Process Creation</a:t>
            </a:r>
          </a:p>
        </p:txBody>
      </p:sp>
      <p:sp>
        <p:nvSpPr>
          <p:cNvPr id="23555" name="Rectangle 3"/>
          <p:cNvSpPr>
            <a:spLocks noGrp="1" noChangeArrowheads="1"/>
          </p:cNvSpPr>
          <p:nvPr>
            <p:ph idx="1"/>
          </p:nvPr>
        </p:nvSpPr>
        <p:spPr>
          <a:xfrm>
            <a:off x="628650" y="1825625"/>
            <a:ext cx="8123464" cy="4351338"/>
          </a:xfrm>
        </p:spPr>
        <p:txBody>
          <a:bodyPr>
            <a:normAutofit/>
          </a:bodyPr>
          <a:lstStyle/>
          <a:p>
            <a:r>
              <a:rPr lang="en-US" altLang="en-US" dirty="0"/>
              <a:t>A parent process creates children processes, which, in turn, create other processes, forming a tree of processes</a:t>
            </a:r>
          </a:p>
          <a:p>
            <a:r>
              <a:rPr lang="en-US" altLang="en-US" dirty="0"/>
              <a:t>Generally, a process is identified and managed via a process identifier (</a:t>
            </a:r>
            <a:r>
              <a:rPr lang="en-US" altLang="en-US" dirty="0" err="1"/>
              <a:t>pid</a:t>
            </a:r>
            <a:r>
              <a:rPr lang="en-US" altLang="en-US" dirty="0"/>
              <a:t>)</a:t>
            </a:r>
          </a:p>
          <a:p>
            <a:endParaRPr lang="en-US" altLang="en-US" dirty="0"/>
          </a:p>
          <a:p>
            <a:r>
              <a:rPr lang="en-US" altLang="en-US" dirty="0"/>
              <a:t>Resource sharing options</a:t>
            </a:r>
          </a:p>
          <a:p>
            <a:pPr lvl="1"/>
            <a:r>
              <a:rPr lang="en-US" altLang="en-US" dirty="0"/>
              <a:t>Parent and children share all resources</a:t>
            </a:r>
          </a:p>
          <a:p>
            <a:pPr lvl="1"/>
            <a:r>
              <a:rPr lang="en-US" altLang="en-US" dirty="0"/>
              <a:t>Children share a subset of parent</a:t>
            </a:r>
            <a:r>
              <a:rPr lang="ja-JP" altLang="en-US" dirty="0"/>
              <a:t>’</a:t>
            </a:r>
            <a:r>
              <a:rPr lang="en-US" altLang="ja-JP" dirty="0"/>
              <a:t>s resources</a:t>
            </a:r>
          </a:p>
          <a:p>
            <a:pPr lvl="1"/>
            <a:r>
              <a:rPr lang="en-US" altLang="en-US" dirty="0"/>
              <a:t>Parent and child share no resources</a:t>
            </a:r>
          </a:p>
          <a:p>
            <a:endParaRPr lang="en-US" altLang="en-US" dirty="0"/>
          </a:p>
          <a:p>
            <a:r>
              <a:rPr lang="en-US" altLang="en-US" dirty="0"/>
              <a:t>Execution options</a:t>
            </a:r>
          </a:p>
          <a:p>
            <a:pPr lvl="1"/>
            <a:r>
              <a:rPr lang="en-US" altLang="en-US" dirty="0"/>
              <a:t>Parent and children execute concurrently</a:t>
            </a:r>
          </a:p>
          <a:p>
            <a:pPr lvl="1"/>
            <a:r>
              <a:rPr lang="en-US" altLang="en-US" dirty="0"/>
              <a:t>Parent waits until children terminate</a:t>
            </a:r>
          </a:p>
          <a:p>
            <a:endParaRPr lang="en-US" altLang="en-US" dirty="0"/>
          </a:p>
        </p:txBody>
      </p:sp>
      <p:sp>
        <p:nvSpPr>
          <p:cNvPr id="2" name="Footer Placeholder 1"/>
          <p:cNvSpPr>
            <a:spLocks noGrp="1"/>
          </p:cNvSpPr>
          <p:nvPr>
            <p:ph type="ftr" sz="quarter" idx="11"/>
          </p:nvPr>
        </p:nvSpPr>
        <p:spPr/>
        <p:txBody>
          <a:bodyPr/>
          <a:lstStyle/>
          <a:p>
            <a:r>
              <a:rPr lang="en-US"/>
              <a:t>Operating Systems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21</a:t>
            </a:fld>
            <a:endParaRPr lang="en-US"/>
          </a:p>
        </p:txBody>
      </p:sp>
      <p:sp>
        <p:nvSpPr>
          <p:cNvPr id="8" name="Date Placeholder 7"/>
          <p:cNvSpPr>
            <a:spLocks noGrp="1"/>
          </p:cNvSpPr>
          <p:nvPr>
            <p:ph type="dt" sz="half" idx="10"/>
          </p:nvPr>
        </p:nvSpPr>
        <p:spPr/>
        <p:txBody>
          <a:bodyPr/>
          <a:lstStyle/>
          <a:p>
            <a:r>
              <a:rPr lang="en-US"/>
              <a:t>Vincenzo Gulisano</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2"/>
          <p:cNvSpPr>
            <a:spLocks noGrp="1" noChangeArrowheads="1"/>
          </p:cNvSpPr>
          <p:nvPr>
            <p:ph type="title"/>
          </p:nvPr>
        </p:nvSpPr>
        <p:spPr/>
        <p:txBody>
          <a:bodyPr/>
          <a:lstStyle/>
          <a:p>
            <a:r>
              <a:rPr lang="en-US" altLang="en-US"/>
              <a:t>A Tree of Processes in Linux</a:t>
            </a:r>
          </a:p>
        </p:txBody>
      </p:sp>
      <p:sp>
        <p:nvSpPr>
          <p:cNvPr id="2" name="Footer Placeholder 1"/>
          <p:cNvSpPr>
            <a:spLocks noGrp="1"/>
          </p:cNvSpPr>
          <p:nvPr>
            <p:ph type="ftr" sz="quarter" idx="11"/>
          </p:nvPr>
        </p:nvSpPr>
        <p:spPr/>
        <p:txBody>
          <a:bodyPr/>
          <a:lstStyle/>
          <a:p>
            <a:r>
              <a:rPr lang="en-US"/>
              <a:t>Operating Systems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22</a:t>
            </a:fld>
            <a:endParaRPr lang="en-US"/>
          </a:p>
        </p:txBody>
      </p:sp>
      <p:pic>
        <p:nvPicPr>
          <p:cNvPr id="24579" name="Picture 1" descr="3_08.pdf"/>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182688" y="1352550"/>
            <a:ext cx="7061200" cy="37417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Date Placeholder 6"/>
          <p:cNvSpPr>
            <a:spLocks noGrp="1"/>
          </p:cNvSpPr>
          <p:nvPr>
            <p:ph type="dt" sz="half" idx="10"/>
          </p:nvPr>
        </p:nvSpPr>
        <p:spPr/>
        <p:txBody>
          <a:bodyPr/>
          <a:lstStyle/>
          <a:p>
            <a:r>
              <a:rPr lang="en-US"/>
              <a:t>Vincenzo Gulisano</a:t>
            </a:r>
          </a:p>
        </p:txBody>
      </p:sp>
      <p:sp>
        <p:nvSpPr>
          <p:cNvPr id="4" name="TextBox 3"/>
          <p:cNvSpPr txBox="1"/>
          <p:nvPr/>
        </p:nvSpPr>
        <p:spPr>
          <a:xfrm>
            <a:off x="1749778" y="1352550"/>
            <a:ext cx="2838919" cy="369332"/>
          </a:xfrm>
          <a:prstGeom prst="rect">
            <a:avLst/>
          </a:prstGeom>
          <a:noFill/>
        </p:spPr>
        <p:txBody>
          <a:bodyPr wrap="none" rtlCol="0">
            <a:spAutoFit/>
          </a:bodyPr>
          <a:lstStyle/>
          <a:p>
            <a:r>
              <a:rPr lang="en-US" dirty="0" err="1">
                <a:latin typeface="+mj-lt"/>
              </a:rPr>
              <a:t>init</a:t>
            </a:r>
            <a:r>
              <a:rPr lang="en-US" dirty="0">
                <a:latin typeface="+mj-lt"/>
              </a:rPr>
              <a:t> process, always has </a:t>
            </a:r>
            <a:r>
              <a:rPr lang="en-US" dirty="0" err="1">
                <a:latin typeface="+mj-lt"/>
              </a:rPr>
              <a:t>pid</a:t>
            </a:r>
            <a:r>
              <a:rPr lang="en-US" dirty="0">
                <a:latin typeface="+mj-lt"/>
              </a:rPr>
              <a:t>=1</a:t>
            </a:r>
          </a:p>
        </p:txBody>
      </p:sp>
      <p:sp>
        <p:nvSpPr>
          <p:cNvPr id="8" name="TextBox 7"/>
          <p:cNvSpPr txBox="1"/>
          <p:nvPr/>
        </p:nvSpPr>
        <p:spPr>
          <a:xfrm>
            <a:off x="7422444" y="1866184"/>
            <a:ext cx="1879600" cy="646331"/>
          </a:xfrm>
          <a:prstGeom prst="rect">
            <a:avLst/>
          </a:prstGeom>
          <a:noFill/>
        </p:spPr>
        <p:txBody>
          <a:bodyPr wrap="square" rtlCol="0">
            <a:spAutoFit/>
          </a:bodyPr>
          <a:lstStyle/>
          <a:p>
            <a:r>
              <a:rPr lang="en-US" dirty="0">
                <a:latin typeface="+mj-lt"/>
              </a:rPr>
              <a:t>manages ssh connections</a:t>
            </a:r>
          </a:p>
        </p:txBody>
      </p:sp>
      <p:sp>
        <p:nvSpPr>
          <p:cNvPr id="9" name="TextBox 8"/>
          <p:cNvSpPr txBox="1"/>
          <p:nvPr/>
        </p:nvSpPr>
        <p:spPr>
          <a:xfrm>
            <a:off x="1027289" y="2189349"/>
            <a:ext cx="1879600" cy="923330"/>
          </a:xfrm>
          <a:prstGeom prst="rect">
            <a:avLst/>
          </a:prstGeom>
          <a:noFill/>
        </p:spPr>
        <p:txBody>
          <a:bodyPr wrap="square" rtlCol="0">
            <a:spAutoFit/>
          </a:bodyPr>
          <a:lstStyle/>
          <a:p>
            <a:pPr algn="r"/>
            <a:r>
              <a:rPr lang="en-US" dirty="0">
                <a:latin typeface="+mj-lt"/>
              </a:rPr>
              <a:t>manages clients logging into the system</a:t>
            </a:r>
          </a:p>
        </p:txBody>
      </p:sp>
      <p:sp>
        <p:nvSpPr>
          <p:cNvPr id="10" name="TextBox 9"/>
          <p:cNvSpPr txBox="1"/>
          <p:nvPr/>
        </p:nvSpPr>
        <p:spPr>
          <a:xfrm>
            <a:off x="2906889" y="5094288"/>
            <a:ext cx="1879600" cy="369332"/>
          </a:xfrm>
          <a:prstGeom prst="rect">
            <a:avLst/>
          </a:prstGeom>
          <a:noFill/>
        </p:spPr>
        <p:txBody>
          <a:bodyPr wrap="square" rtlCol="0">
            <a:spAutoFit/>
          </a:bodyPr>
          <a:lstStyle/>
          <a:p>
            <a:pPr algn="r"/>
            <a:r>
              <a:rPr lang="en-US" dirty="0">
                <a:latin typeface="+mj-lt"/>
              </a:rPr>
              <a:t>User process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pstree</a:t>
            </a:r>
            <a:r>
              <a:rPr lang="en-US" dirty="0"/>
              <a:t> -pl</a:t>
            </a:r>
          </a:p>
        </p:txBody>
      </p:sp>
      <p:sp>
        <p:nvSpPr>
          <p:cNvPr id="3" name="Date Placeholder 2"/>
          <p:cNvSpPr>
            <a:spLocks noGrp="1"/>
          </p:cNvSpPr>
          <p:nvPr>
            <p:ph type="dt" sz="half" idx="10"/>
          </p:nvPr>
        </p:nvSpPr>
        <p:spPr/>
        <p:txBody>
          <a:bodyPr/>
          <a:lstStyle/>
          <a:p>
            <a:r>
              <a:rPr lang="en-US"/>
              <a:t>Vincenzo Gulisano</a:t>
            </a:r>
          </a:p>
        </p:txBody>
      </p:sp>
      <p:sp>
        <p:nvSpPr>
          <p:cNvPr id="4" name="Footer Placeholder 3"/>
          <p:cNvSpPr>
            <a:spLocks noGrp="1"/>
          </p:cNvSpPr>
          <p:nvPr>
            <p:ph type="ftr" sz="quarter" idx="11"/>
          </p:nvPr>
        </p:nvSpPr>
        <p:spPr/>
        <p:txBody>
          <a:bodyPr/>
          <a:lstStyle/>
          <a:p>
            <a:r>
              <a:rPr lang="en-US"/>
              <a:t>Operating Systems - Processes</a:t>
            </a:r>
          </a:p>
        </p:txBody>
      </p:sp>
      <p:sp>
        <p:nvSpPr>
          <p:cNvPr id="5" name="Slide Number Placeholder 4"/>
          <p:cNvSpPr>
            <a:spLocks noGrp="1"/>
          </p:cNvSpPr>
          <p:nvPr>
            <p:ph type="sldNum" sz="quarter" idx="12"/>
          </p:nvPr>
        </p:nvSpPr>
        <p:spPr/>
        <p:txBody>
          <a:bodyPr/>
          <a:lstStyle/>
          <a:p>
            <a:fld id="{95AAEEEC-DCEC-4178-AB14-E7254A15A296}" type="slidenum">
              <a:rPr lang="en-US" smtClean="0"/>
              <a:t>23</a:t>
            </a:fld>
            <a:endParaRPr lang="en-US"/>
          </a:p>
        </p:txBody>
      </p:sp>
      <p:sp>
        <p:nvSpPr>
          <p:cNvPr id="6" name="Rectangle 5"/>
          <p:cNvSpPr/>
          <p:nvPr/>
        </p:nvSpPr>
        <p:spPr>
          <a:xfrm>
            <a:off x="149901" y="1419854"/>
            <a:ext cx="8874176" cy="5016758"/>
          </a:xfrm>
          <a:prstGeom prst="rect">
            <a:avLst/>
          </a:prstGeom>
        </p:spPr>
        <p:txBody>
          <a:bodyPr wrap="square">
            <a:spAutoFit/>
          </a:bodyPr>
          <a:lstStyle/>
          <a:p>
            <a:r>
              <a:rPr lang="en-US" sz="1600" dirty="0">
                <a:solidFill>
                  <a:srgbClr val="000000"/>
                </a:solidFill>
                <a:latin typeface="Menlo-Regular" charset="0"/>
              </a:rPr>
              <a:t>XXXXXXXXXX:~$ </a:t>
            </a:r>
            <a:r>
              <a:rPr lang="en-US" sz="1600" dirty="0" err="1">
                <a:solidFill>
                  <a:srgbClr val="000000"/>
                </a:solidFill>
                <a:latin typeface="Menlo-Regular" charset="0"/>
              </a:rPr>
              <a:t>pstree</a:t>
            </a:r>
            <a:r>
              <a:rPr lang="en-US" sz="1600" dirty="0">
                <a:solidFill>
                  <a:srgbClr val="000000"/>
                </a:solidFill>
                <a:latin typeface="Menlo-Regular" charset="0"/>
              </a:rPr>
              <a:t> -</a:t>
            </a:r>
            <a:r>
              <a:rPr lang="en-US" sz="1600" dirty="0" err="1">
                <a:solidFill>
                  <a:srgbClr val="000000"/>
                </a:solidFill>
                <a:latin typeface="Menlo-Regular" charset="0"/>
              </a:rPr>
              <a:t>pl</a:t>
            </a:r>
            <a:endParaRPr lang="en-US" sz="1600" dirty="0">
              <a:solidFill>
                <a:srgbClr val="000000"/>
              </a:solidFill>
              <a:latin typeface="Menlo-Regular" charset="0"/>
            </a:endParaRPr>
          </a:p>
          <a:p>
            <a:r>
              <a:rPr lang="en-US" sz="1600" dirty="0" err="1">
                <a:solidFill>
                  <a:srgbClr val="000000"/>
                </a:solidFill>
                <a:latin typeface="Menlo-Regular" charset="0"/>
              </a:rPr>
              <a:t>init</a:t>
            </a:r>
            <a:r>
              <a:rPr lang="en-US" sz="1600" dirty="0">
                <a:solidFill>
                  <a:srgbClr val="000000"/>
                </a:solidFill>
                <a:latin typeface="Menlo-Regular" charset="0"/>
              </a:rPr>
              <a:t>(1)-+-</a:t>
            </a:r>
            <a:r>
              <a:rPr lang="en-US" sz="1600" dirty="0" err="1">
                <a:solidFill>
                  <a:srgbClr val="000000"/>
                </a:solidFill>
                <a:latin typeface="Menlo-Regular" charset="0"/>
              </a:rPr>
              <a:t>NetworkManager</a:t>
            </a:r>
            <a:r>
              <a:rPr lang="en-US" sz="1600" dirty="0">
                <a:solidFill>
                  <a:srgbClr val="000000"/>
                </a:solidFill>
                <a:latin typeface="Menlo-Regular" charset="0"/>
              </a:rPr>
              <a:t>(1215)-+-</a:t>
            </a:r>
            <a:r>
              <a:rPr lang="en-US" sz="1600" dirty="0" err="1">
                <a:solidFill>
                  <a:srgbClr val="000000"/>
                </a:solidFill>
                <a:latin typeface="Menlo-Regular" charset="0"/>
              </a:rPr>
              <a:t>dhclient</a:t>
            </a:r>
            <a:r>
              <a:rPr lang="en-US" sz="1600" dirty="0">
                <a:solidFill>
                  <a:srgbClr val="000000"/>
                </a:solidFill>
                <a:latin typeface="Menlo-Regular" charset="0"/>
              </a:rPr>
              <a:t>(3386)</a:t>
            </a:r>
          </a:p>
          <a:p>
            <a:r>
              <a:rPr lang="fr-FR" sz="1600" dirty="0">
                <a:solidFill>
                  <a:srgbClr val="000000"/>
                </a:solidFill>
                <a:latin typeface="Menlo-Regular" charset="0"/>
              </a:rPr>
              <a:t>        |                      |-</a:t>
            </a:r>
            <a:r>
              <a:rPr lang="fr-FR" sz="1600" dirty="0" err="1">
                <a:solidFill>
                  <a:srgbClr val="000000"/>
                </a:solidFill>
                <a:latin typeface="Menlo-Regular" charset="0"/>
              </a:rPr>
              <a:t>dnsmasq</a:t>
            </a:r>
            <a:r>
              <a:rPr lang="fr-FR" sz="1600" dirty="0">
                <a:solidFill>
                  <a:srgbClr val="000000"/>
                </a:solidFill>
                <a:latin typeface="Menlo-Regular" charset="0"/>
              </a:rPr>
              <a:t>(3390)</a:t>
            </a:r>
          </a:p>
          <a:p>
            <a:r>
              <a:rPr lang="en-US" sz="1600" dirty="0">
                <a:solidFill>
                  <a:srgbClr val="000000"/>
                </a:solidFill>
                <a:latin typeface="Menlo-Regular" charset="0"/>
              </a:rPr>
              <a:t>        |                      |-{</a:t>
            </a:r>
            <a:r>
              <a:rPr lang="en-US" sz="1600" dirty="0" err="1">
                <a:solidFill>
                  <a:srgbClr val="000000"/>
                </a:solidFill>
                <a:latin typeface="Menlo-Regular" charset="0"/>
              </a:rPr>
              <a:t>NetworkManager</a:t>
            </a:r>
            <a:r>
              <a:rPr lang="en-US" sz="1600" dirty="0">
                <a:solidFill>
                  <a:srgbClr val="000000"/>
                </a:solidFill>
                <a:latin typeface="Menlo-Regular" charset="0"/>
              </a:rPr>
              <a:t>}(1224)</a:t>
            </a:r>
          </a:p>
          <a:p>
            <a:r>
              <a:rPr lang="en-US" sz="1600" dirty="0">
                <a:solidFill>
                  <a:srgbClr val="000000"/>
                </a:solidFill>
                <a:latin typeface="Menlo-Regular" charset="0"/>
              </a:rPr>
              <a:t>        |                      `-{</a:t>
            </a:r>
            <a:r>
              <a:rPr lang="en-US" sz="1600" dirty="0" err="1">
                <a:solidFill>
                  <a:srgbClr val="000000"/>
                </a:solidFill>
                <a:latin typeface="Menlo-Regular" charset="0"/>
              </a:rPr>
              <a:t>NetworkManager</a:t>
            </a:r>
            <a:r>
              <a:rPr lang="en-US" sz="1600" dirty="0">
                <a:solidFill>
                  <a:srgbClr val="000000"/>
                </a:solidFill>
                <a:latin typeface="Menlo-Regular" charset="0"/>
              </a:rPr>
              <a:t>}(2164)</a:t>
            </a:r>
          </a:p>
          <a:p>
            <a:r>
              <a:rPr lang="en-US" sz="1600" dirty="0">
                <a:solidFill>
                  <a:srgbClr val="000000"/>
                </a:solidFill>
                <a:latin typeface="Menlo-Regular" charset="0"/>
              </a:rPr>
              <a:t>        |-accounts-daemon(1527)---{accounts-daemon}(1530)</a:t>
            </a:r>
          </a:p>
          <a:p>
            <a:r>
              <a:rPr lang="en-US" sz="1600" dirty="0">
                <a:solidFill>
                  <a:srgbClr val="000000"/>
                </a:solidFill>
                <a:latin typeface="Menlo-Regular" charset="0"/>
              </a:rPr>
              <a:t>        |-</a:t>
            </a:r>
            <a:r>
              <a:rPr lang="en-US" sz="1600" dirty="0" err="1">
                <a:solidFill>
                  <a:srgbClr val="000000"/>
                </a:solidFill>
                <a:latin typeface="Menlo-Regular" charset="0"/>
              </a:rPr>
              <a:t>acpid</a:t>
            </a:r>
            <a:r>
              <a:rPr lang="en-US" sz="1600" dirty="0">
                <a:solidFill>
                  <a:srgbClr val="000000"/>
                </a:solidFill>
                <a:latin typeface="Menlo-Regular" charset="0"/>
              </a:rPr>
              <a:t>(1360)</a:t>
            </a:r>
          </a:p>
          <a:p>
            <a:r>
              <a:rPr lang="de-DE" sz="1600" dirty="0">
                <a:solidFill>
                  <a:srgbClr val="000000"/>
                </a:solidFill>
                <a:latin typeface="Menlo-Regular" charset="0"/>
              </a:rPr>
              <a:t>        |-apache2(16861)-+-apache2(2458)</a:t>
            </a:r>
          </a:p>
          <a:p>
            <a:r>
              <a:rPr lang="de-DE" sz="1600" dirty="0">
                <a:solidFill>
                  <a:srgbClr val="000000"/>
                </a:solidFill>
                <a:latin typeface="Menlo-Regular" charset="0"/>
              </a:rPr>
              <a:t>        |                |-apache2(2460)</a:t>
            </a:r>
          </a:p>
          <a:p>
            <a:r>
              <a:rPr lang="de-DE" sz="1600" dirty="0">
                <a:solidFill>
                  <a:srgbClr val="000000"/>
                </a:solidFill>
                <a:latin typeface="Menlo-Regular" charset="0"/>
              </a:rPr>
              <a:t>        |                |-apache2(2461)</a:t>
            </a:r>
          </a:p>
          <a:p>
            <a:r>
              <a:rPr lang="de-DE" sz="1600" dirty="0">
                <a:solidFill>
                  <a:srgbClr val="000000"/>
                </a:solidFill>
                <a:latin typeface="Menlo-Regular" charset="0"/>
              </a:rPr>
              <a:t>        |                |-apache2(2462)</a:t>
            </a:r>
          </a:p>
          <a:p>
            <a:r>
              <a:rPr lang="de-DE" sz="1600" dirty="0">
                <a:solidFill>
                  <a:srgbClr val="000000"/>
                </a:solidFill>
                <a:latin typeface="Menlo-Regular" charset="0"/>
              </a:rPr>
              <a:t>        |                |-apache2(2463)</a:t>
            </a:r>
          </a:p>
          <a:p>
            <a:r>
              <a:rPr lang="de-DE" sz="1600" dirty="0">
                <a:solidFill>
                  <a:srgbClr val="000000"/>
                </a:solidFill>
                <a:latin typeface="Menlo-Regular" charset="0"/>
              </a:rPr>
              <a:t>        |                |-apache2(2464)</a:t>
            </a:r>
          </a:p>
          <a:p>
            <a:r>
              <a:rPr lang="de-DE" sz="1600" dirty="0">
                <a:solidFill>
                  <a:srgbClr val="000000"/>
                </a:solidFill>
                <a:latin typeface="Menlo-Regular" charset="0"/>
              </a:rPr>
              <a:t>        |                |-apache2(4079)</a:t>
            </a:r>
          </a:p>
          <a:p>
            <a:r>
              <a:rPr lang="de-DE" sz="1600" dirty="0">
                <a:solidFill>
                  <a:srgbClr val="000000"/>
                </a:solidFill>
                <a:latin typeface="Menlo-Regular" charset="0"/>
              </a:rPr>
              <a:t>        |                |-apache2(4082)</a:t>
            </a:r>
          </a:p>
          <a:p>
            <a:r>
              <a:rPr lang="de-DE" sz="1600" dirty="0">
                <a:solidFill>
                  <a:srgbClr val="000000"/>
                </a:solidFill>
                <a:latin typeface="Menlo-Regular" charset="0"/>
              </a:rPr>
              <a:t>        |                |-apache2(5464)</a:t>
            </a:r>
          </a:p>
          <a:p>
            <a:r>
              <a:rPr lang="de-DE" sz="1600" dirty="0">
                <a:solidFill>
                  <a:srgbClr val="000000"/>
                </a:solidFill>
                <a:latin typeface="Menlo-Regular" charset="0"/>
              </a:rPr>
              <a:t>        |                |-apache2(5465)</a:t>
            </a:r>
          </a:p>
          <a:p>
            <a:r>
              <a:rPr lang="de-DE" sz="1600" dirty="0">
                <a:solidFill>
                  <a:srgbClr val="000000"/>
                </a:solidFill>
                <a:latin typeface="Menlo-Regular" charset="0"/>
              </a:rPr>
              <a:t>        |                `-apache2(5466)</a:t>
            </a:r>
          </a:p>
          <a:p>
            <a:r>
              <a:rPr lang="is-IS" sz="1600" dirty="0">
                <a:solidFill>
                  <a:srgbClr val="000000"/>
                </a:solidFill>
                <a:latin typeface="Menlo-Regular" charset="0"/>
              </a:rPr>
              <a:t>        |-at-spi-bus-laun(3570)-+-dbus-daemon(3576)</a:t>
            </a:r>
          </a:p>
          <a:p>
            <a:r>
              <a:rPr lang="is-IS" sz="1600" dirty="0">
                <a:solidFill>
                  <a:srgbClr val="000000"/>
                </a:solidFill>
                <a:latin typeface="Menlo-Regular" charset="0"/>
              </a:rPr>
              <a:t>	 ...</a:t>
            </a:r>
          </a:p>
        </p:txBody>
      </p:sp>
    </p:spTree>
    <p:extLst>
      <p:ext uri="{BB962C8B-B14F-4D97-AF65-F5344CB8AC3E}">
        <p14:creationId xmlns:p14="http://schemas.microsoft.com/office/powerpoint/2010/main" val="360561554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2"/>
          <p:cNvSpPr>
            <a:spLocks noGrp="1" noChangeArrowheads="1"/>
          </p:cNvSpPr>
          <p:nvPr>
            <p:ph type="title"/>
          </p:nvPr>
        </p:nvSpPr>
        <p:spPr/>
        <p:txBody>
          <a:bodyPr/>
          <a:lstStyle/>
          <a:p>
            <a:r>
              <a:rPr lang="en-US" altLang="en-US"/>
              <a:t>Process Creation (Cont.)</a:t>
            </a:r>
          </a:p>
        </p:txBody>
      </p:sp>
      <p:sp>
        <p:nvSpPr>
          <p:cNvPr id="25603" name="Rectangle 3"/>
          <p:cNvSpPr>
            <a:spLocks noGrp="1" noChangeArrowheads="1"/>
          </p:cNvSpPr>
          <p:nvPr>
            <p:ph idx="1"/>
          </p:nvPr>
        </p:nvSpPr>
        <p:spPr/>
        <p:txBody>
          <a:bodyPr/>
          <a:lstStyle/>
          <a:p>
            <a:r>
              <a:rPr lang="en-US" altLang="en-US" dirty="0"/>
              <a:t>Address space</a:t>
            </a:r>
          </a:p>
          <a:p>
            <a:pPr lvl="1"/>
            <a:r>
              <a:rPr lang="en-US" altLang="en-US" dirty="0"/>
              <a:t>The child is a duplicate of parent</a:t>
            </a:r>
          </a:p>
          <a:p>
            <a:pPr lvl="1"/>
            <a:r>
              <a:rPr lang="en-US" altLang="en-US" dirty="0"/>
              <a:t>The child has a program loaded into it</a:t>
            </a:r>
          </a:p>
          <a:p>
            <a:r>
              <a:rPr lang="en-US" altLang="en-US" dirty="0"/>
              <a:t>UNIX examples</a:t>
            </a:r>
          </a:p>
          <a:p>
            <a:pPr lvl="1"/>
            <a:r>
              <a:rPr lang="en-US" altLang="en-US" dirty="0"/>
              <a:t>fork() system call creates new process</a:t>
            </a:r>
          </a:p>
          <a:p>
            <a:pPr lvl="1"/>
            <a:r>
              <a:rPr lang="en-US" altLang="en-US" dirty="0"/>
              <a:t>exec() system call used after a fork() to replace the process</a:t>
            </a:r>
            <a:r>
              <a:rPr lang="ja-JP" altLang="en-US"/>
              <a:t>’</a:t>
            </a:r>
            <a:r>
              <a:rPr lang="en-US" altLang="ja-JP" dirty="0"/>
              <a:t> memory space with a new program</a:t>
            </a:r>
            <a:endParaRPr lang="en-US" altLang="en-US" dirty="0"/>
          </a:p>
        </p:txBody>
      </p:sp>
      <p:sp>
        <p:nvSpPr>
          <p:cNvPr id="2" name="Footer Placeholder 1"/>
          <p:cNvSpPr>
            <a:spLocks noGrp="1"/>
          </p:cNvSpPr>
          <p:nvPr>
            <p:ph type="ftr" sz="quarter" idx="11"/>
          </p:nvPr>
        </p:nvSpPr>
        <p:spPr/>
        <p:txBody>
          <a:bodyPr/>
          <a:lstStyle/>
          <a:p>
            <a:r>
              <a:rPr lang="en-US"/>
              <a:t>Operating Systems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24</a:t>
            </a:fld>
            <a:endParaRPr lang="en-US"/>
          </a:p>
        </p:txBody>
      </p:sp>
      <p:pic>
        <p:nvPicPr>
          <p:cNvPr id="25604" name="Picture 4" descr="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29280" y="4324703"/>
            <a:ext cx="6419850" cy="16160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 name="Date Placeholder 7"/>
          <p:cNvSpPr>
            <a:spLocks noGrp="1"/>
          </p:cNvSpPr>
          <p:nvPr>
            <p:ph type="dt" sz="half" idx="10"/>
          </p:nvPr>
        </p:nvSpPr>
        <p:spPr/>
        <p:txBody>
          <a:bodyPr/>
          <a:lstStyle/>
          <a:p>
            <a:r>
              <a:rPr lang="en-US"/>
              <a:t>Vincenzo Gulisano</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2"/>
          <p:cNvSpPr>
            <a:spLocks noGrp="1" noChangeArrowheads="1"/>
          </p:cNvSpPr>
          <p:nvPr>
            <p:ph type="title"/>
          </p:nvPr>
        </p:nvSpPr>
        <p:spPr/>
        <p:txBody>
          <a:bodyPr/>
          <a:lstStyle/>
          <a:p>
            <a:r>
              <a:rPr lang="en-US" altLang="en-US"/>
              <a:t>C Program Forking Separate Process</a:t>
            </a:r>
          </a:p>
        </p:txBody>
      </p:sp>
      <p:sp>
        <p:nvSpPr>
          <p:cNvPr id="2" name="Footer Placeholder 1"/>
          <p:cNvSpPr>
            <a:spLocks noGrp="1"/>
          </p:cNvSpPr>
          <p:nvPr>
            <p:ph type="ftr" sz="quarter" idx="11"/>
          </p:nvPr>
        </p:nvSpPr>
        <p:spPr/>
        <p:txBody>
          <a:bodyPr/>
          <a:lstStyle/>
          <a:p>
            <a:r>
              <a:rPr lang="en-US"/>
              <a:t>Operating Systems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25</a:t>
            </a:fld>
            <a:endParaRPr lang="en-US"/>
          </a:p>
        </p:txBody>
      </p:sp>
      <p:pic>
        <p:nvPicPr>
          <p:cNvPr id="26627" name="Picture 5" descr="Screen Shot 2012-12-04 at 11.21.10 AM.png"/>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794933" y="1382346"/>
            <a:ext cx="5448476" cy="5056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 name="Date Placeholder 7"/>
          <p:cNvSpPr>
            <a:spLocks noGrp="1"/>
          </p:cNvSpPr>
          <p:nvPr>
            <p:ph type="dt" sz="half" idx="10"/>
          </p:nvPr>
        </p:nvSpPr>
        <p:spPr/>
        <p:txBody>
          <a:bodyPr/>
          <a:lstStyle/>
          <a:p>
            <a:r>
              <a:rPr lang="en-US"/>
              <a:t>Vincenzo Gulisano</a:t>
            </a:r>
          </a:p>
        </p:txBody>
      </p:sp>
      <p:pic>
        <p:nvPicPr>
          <p:cNvPr id="7" name="Picture 4" descr="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572000" y="1690689"/>
            <a:ext cx="4309987" cy="108495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2"/>
          <p:cNvSpPr>
            <a:spLocks noGrp="1" noChangeArrowheads="1"/>
          </p:cNvSpPr>
          <p:nvPr>
            <p:ph type="title"/>
          </p:nvPr>
        </p:nvSpPr>
        <p:spPr/>
        <p:txBody>
          <a:bodyPr/>
          <a:lstStyle/>
          <a:p>
            <a:r>
              <a:rPr lang="en-US" altLang="en-US"/>
              <a:t>Process Termination</a:t>
            </a:r>
            <a:endParaRPr lang="en-US" altLang="en-US" dirty="0"/>
          </a:p>
        </p:txBody>
      </p:sp>
      <p:sp>
        <p:nvSpPr>
          <p:cNvPr id="28675" name="Rectangle 3"/>
          <p:cNvSpPr>
            <a:spLocks noGrp="1" noChangeArrowheads="1"/>
          </p:cNvSpPr>
          <p:nvPr>
            <p:ph idx="1"/>
          </p:nvPr>
        </p:nvSpPr>
        <p:spPr/>
        <p:txBody>
          <a:bodyPr/>
          <a:lstStyle/>
          <a:p>
            <a:r>
              <a:rPr lang="en-US" altLang="en-US" dirty="0"/>
              <a:t>Process executes last statement and then asks the operating system to delete it using the exit() system call.</a:t>
            </a:r>
          </a:p>
          <a:p>
            <a:pPr lvl="1"/>
            <a:r>
              <a:rPr lang="en-US" altLang="en-US" dirty="0"/>
              <a:t>The system call allows to return status data from the child to the parent (if parent used wait())</a:t>
            </a:r>
          </a:p>
          <a:p>
            <a:pPr lvl="1"/>
            <a:r>
              <a:rPr lang="en-US" altLang="en-US" dirty="0"/>
              <a:t>The process</a:t>
            </a:r>
            <a:r>
              <a:rPr lang="ja-JP" altLang="en-US"/>
              <a:t>’</a:t>
            </a:r>
            <a:r>
              <a:rPr lang="en-US" altLang="ja-JP" dirty="0"/>
              <a:t>resources are deallocated by the operating system</a:t>
            </a:r>
            <a:endParaRPr lang="en-US" altLang="en-US" dirty="0"/>
          </a:p>
          <a:p>
            <a:r>
              <a:rPr lang="en-US" altLang="en-US" dirty="0"/>
              <a:t>Parent may terminate the execution of children process using the kill() system call.  Some reasons for doing so:</a:t>
            </a:r>
          </a:p>
          <a:p>
            <a:pPr lvl="1"/>
            <a:r>
              <a:rPr lang="en-US" altLang="en-US" dirty="0"/>
              <a:t>Child has exceeded allocated resources</a:t>
            </a:r>
          </a:p>
          <a:p>
            <a:pPr lvl="1"/>
            <a:r>
              <a:rPr lang="en-US" altLang="en-US" dirty="0"/>
              <a:t>Task assigned to child is no longer required</a:t>
            </a:r>
          </a:p>
          <a:p>
            <a:pPr lvl="1"/>
            <a:r>
              <a:rPr lang="en-US" altLang="en-US" dirty="0"/>
              <a:t>The parent is exiting and the operating systems does not allow  a child to continue if its parent terminates</a:t>
            </a:r>
          </a:p>
        </p:txBody>
      </p:sp>
      <p:sp>
        <p:nvSpPr>
          <p:cNvPr id="2" name="Footer Placeholder 1"/>
          <p:cNvSpPr>
            <a:spLocks noGrp="1"/>
          </p:cNvSpPr>
          <p:nvPr>
            <p:ph type="ftr" sz="quarter" idx="11"/>
          </p:nvPr>
        </p:nvSpPr>
        <p:spPr/>
        <p:txBody>
          <a:bodyPr/>
          <a:lstStyle/>
          <a:p>
            <a:r>
              <a:rPr lang="en-US"/>
              <a:t>Operating Systems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26</a:t>
            </a:fld>
            <a:endParaRPr lang="en-US"/>
          </a:p>
        </p:txBody>
      </p:sp>
      <p:sp>
        <p:nvSpPr>
          <p:cNvPr id="8" name="Date Placeholder 7"/>
          <p:cNvSpPr>
            <a:spLocks noGrp="1"/>
          </p:cNvSpPr>
          <p:nvPr>
            <p:ph type="dt" sz="half" idx="10"/>
          </p:nvPr>
        </p:nvSpPr>
        <p:spPr/>
        <p:txBody>
          <a:bodyPr/>
          <a:lstStyle/>
          <a:p>
            <a:r>
              <a:rPr lang="en-US"/>
              <a:t>Vincenzo Gulisano</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Rectangle 2"/>
          <p:cNvSpPr>
            <a:spLocks noGrp="1" noChangeArrowheads="1"/>
          </p:cNvSpPr>
          <p:nvPr>
            <p:ph type="title"/>
          </p:nvPr>
        </p:nvSpPr>
        <p:spPr/>
        <p:txBody>
          <a:bodyPr/>
          <a:lstStyle/>
          <a:p>
            <a:r>
              <a:rPr lang="en-US" altLang="en-US"/>
              <a:t>Process Termination</a:t>
            </a:r>
          </a:p>
        </p:txBody>
      </p:sp>
      <p:sp>
        <p:nvSpPr>
          <p:cNvPr id="29699" name="Rectangle 3"/>
          <p:cNvSpPr>
            <a:spLocks noGrp="1" noChangeArrowheads="1"/>
          </p:cNvSpPr>
          <p:nvPr>
            <p:ph idx="1"/>
          </p:nvPr>
        </p:nvSpPr>
        <p:spPr>
          <a:xfrm>
            <a:off x="628649" y="1825625"/>
            <a:ext cx="8319407" cy="4351338"/>
          </a:xfrm>
        </p:spPr>
        <p:txBody>
          <a:bodyPr>
            <a:normAutofit/>
          </a:bodyPr>
          <a:lstStyle/>
          <a:p>
            <a:pPr lvl="1"/>
            <a:endParaRPr lang="en-US" altLang="en-US" dirty="0"/>
          </a:p>
          <a:p>
            <a:r>
              <a:rPr lang="en-US" altLang="en-US" dirty="0"/>
              <a:t>Some operating systems do not allow a child to exist if its parent has terminated.  If a process terminates, then all its children must also be terminated.</a:t>
            </a:r>
          </a:p>
          <a:p>
            <a:pPr lvl="1"/>
            <a:r>
              <a:rPr lang="en-US" altLang="en-US" dirty="0"/>
              <a:t>Cascading termination.  All children, grandchildren, etc.  are  terminated.</a:t>
            </a:r>
          </a:p>
          <a:p>
            <a:pPr lvl="1"/>
            <a:r>
              <a:rPr lang="en-US" altLang="en-US" dirty="0"/>
              <a:t>The termination is initiated by the operating system.</a:t>
            </a:r>
          </a:p>
          <a:p>
            <a:r>
              <a:rPr lang="en-US" altLang="en-US" dirty="0"/>
              <a:t>The parent process may wait for termination of a child process by using the wait() system call. The call returns status information and the </a:t>
            </a:r>
            <a:r>
              <a:rPr lang="en-US" altLang="en-US" dirty="0" err="1"/>
              <a:t>pid</a:t>
            </a:r>
            <a:r>
              <a:rPr lang="en-US" altLang="en-US" dirty="0"/>
              <a:t> of the terminated process</a:t>
            </a:r>
          </a:p>
          <a:p>
            <a:r>
              <a:rPr lang="en-US" altLang="en-US" dirty="0" err="1"/>
              <a:t>pid</a:t>
            </a:r>
            <a:r>
              <a:rPr lang="en-US" altLang="en-US" dirty="0"/>
              <a:t> = wait(&amp;status); </a:t>
            </a:r>
          </a:p>
          <a:p>
            <a:r>
              <a:rPr lang="en-US" altLang="en-US" dirty="0"/>
              <a:t>A terminated child becomes a zombie when its status has not yet been collected by its parent</a:t>
            </a:r>
          </a:p>
          <a:p>
            <a:r>
              <a:rPr lang="en-US" altLang="en-US" dirty="0"/>
              <a:t>If the parent has terminated without invoking wait, the process is an orphan</a:t>
            </a:r>
          </a:p>
        </p:txBody>
      </p:sp>
      <p:sp>
        <p:nvSpPr>
          <p:cNvPr id="2" name="Footer Placeholder 1"/>
          <p:cNvSpPr>
            <a:spLocks noGrp="1"/>
          </p:cNvSpPr>
          <p:nvPr>
            <p:ph type="ftr" sz="quarter" idx="11"/>
          </p:nvPr>
        </p:nvSpPr>
        <p:spPr/>
        <p:txBody>
          <a:bodyPr/>
          <a:lstStyle/>
          <a:p>
            <a:r>
              <a:rPr lang="en-US"/>
              <a:t>Operating Systems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27</a:t>
            </a:fld>
            <a:endParaRPr lang="en-US"/>
          </a:p>
        </p:txBody>
      </p:sp>
      <p:sp>
        <p:nvSpPr>
          <p:cNvPr id="8" name="Date Placeholder 7"/>
          <p:cNvSpPr>
            <a:spLocks noGrp="1"/>
          </p:cNvSpPr>
          <p:nvPr>
            <p:ph type="dt" sz="half" idx="10"/>
          </p:nvPr>
        </p:nvSpPr>
        <p:spPr/>
        <p:txBody>
          <a:bodyPr/>
          <a:lstStyle/>
          <a:p>
            <a:r>
              <a:rPr lang="en-US"/>
              <a:t>Vincenzo Gulisano</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Title 1"/>
          <p:cNvSpPr>
            <a:spLocks noGrp="1"/>
          </p:cNvSpPr>
          <p:nvPr>
            <p:ph type="title"/>
          </p:nvPr>
        </p:nvSpPr>
        <p:spPr/>
        <p:txBody>
          <a:bodyPr/>
          <a:lstStyle/>
          <a:p>
            <a:r>
              <a:rPr lang="en-US" altLang="en-US" dirty="0"/>
              <a:t>Multiprocess Architecture – Chrome Browser</a:t>
            </a:r>
          </a:p>
        </p:txBody>
      </p:sp>
      <p:sp>
        <p:nvSpPr>
          <p:cNvPr id="30723" name="Content Placeholder 2"/>
          <p:cNvSpPr>
            <a:spLocks noGrp="1"/>
          </p:cNvSpPr>
          <p:nvPr>
            <p:ph idx="1"/>
          </p:nvPr>
        </p:nvSpPr>
        <p:spPr/>
        <p:txBody>
          <a:bodyPr/>
          <a:lstStyle/>
          <a:p>
            <a:r>
              <a:rPr lang="en-US" altLang="en-US" dirty="0"/>
              <a:t>Many web browsers ran as single process (some still do)</a:t>
            </a:r>
          </a:p>
          <a:p>
            <a:pPr lvl="1"/>
            <a:r>
              <a:rPr lang="en-US" altLang="en-US" dirty="0"/>
              <a:t>If one website causes trouble, the entire browser can hang or crash</a:t>
            </a:r>
          </a:p>
          <a:p>
            <a:r>
              <a:rPr lang="en-US" altLang="en-US" dirty="0"/>
              <a:t>Google Chrome Browser is multiprocess, with 3 different types of processes: </a:t>
            </a:r>
          </a:p>
          <a:p>
            <a:pPr lvl="1"/>
            <a:r>
              <a:rPr lang="en-US" altLang="en-US" dirty="0"/>
              <a:t>Browser process manages user interface, disk and network I/O</a:t>
            </a:r>
          </a:p>
          <a:p>
            <a:pPr lvl="1"/>
            <a:r>
              <a:rPr lang="en-US" altLang="en-US" dirty="0"/>
              <a:t>Renderer process renders web pages, deals with HTML, JavaScript. A new renderer is created for each website opened</a:t>
            </a:r>
          </a:p>
          <a:p>
            <a:pPr lvl="2"/>
            <a:r>
              <a:rPr lang="en-US" altLang="en-US" dirty="0"/>
              <a:t>Runs in a sandbox to restrict disk and network I/O and minimize risks of security exploits</a:t>
            </a:r>
          </a:p>
          <a:p>
            <a:pPr lvl="1"/>
            <a:r>
              <a:rPr lang="en-US" altLang="en-US" dirty="0"/>
              <a:t>Plug-in process for each type of plug-in</a:t>
            </a:r>
          </a:p>
          <a:p>
            <a:pPr lvl="1"/>
            <a:endParaRPr lang="en-US" altLang="en-US" dirty="0"/>
          </a:p>
          <a:p>
            <a:pPr lvl="1"/>
            <a:endParaRPr lang="en-US" altLang="en-US" dirty="0"/>
          </a:p>
          <a:p>
            <a:pPr lvl="1"/>
            <a:endParaRPr lang="en-US" altLang="en-US" dirty="0"/>
          </a:p>
        </p:txBody>
      </p:sp>
      <p:sp>
        <p:nvSpPr>
          <p:cNvPr id="2" name="Footer Placeholder 1"/>
          <p:cNvSpPr>
            <a:spLocks noGrp="1"/>
          </p:cNvSpPr>
          <p:nvPr>
            <p:ph type="ftr" sz="quarter" idx="11"/>
          </p:nvPr>
        </p:nvSpPr>
        <p:spPr/>
        <p:txBody>
          <a:bodyPr/>
          <a:lstStyle/>
          <a:p>
            <a:r>
              <a:rPr lang="en-US"/>
              <a:t>Operating Systems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28</a:t>
            </a:fld>
            <a:endParaRPr lang="en-US"/>
          </a:p>
        </p:txBody>
      </p:sp>
      <p:sp>
        <p:nvSpPr>
          <p:cNvPr id="8" name="Date Placeholder 7"/>
          <p:cNvSpPr>
            <a:spLocks noGrp="1"/>
          </p:cNvSpPr>
          <p:nvPr>
            <p:ph type="dt" sz="half" idx="10"/>
          </p:nvPr>
        </p:nvSpPr>
        <p:spPr/>
        <p:txBody>
          <a:bodyPr/>
          <a:lstStyle/>
          <a:p>
            <a:r>
              <a:rPr lang="en-US"/>
              <a:t>Vincenzo Gulisano</a:t>
            </a:r>
          </a:p>
        </p:txBody>
      </p:sp>
      <p:pic>
        <p:nvPicPr>
          <p:cNvPr id="5122"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15324" y="4840324"/>
            <a:ext cx="7626596" cy="97042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AGENDA</a:t>
            </a:r>
            <a:endParaRPr lang="en-US" dirty="0"/>
          </a:p>
        </p:txBody>
      </p:sp>
      <p:sp>
        <p:nvSpPr>
          <p:cNvPr id="3" name="Content Placeholder 2"/>
          <p:cNvSpPr>
            <a:spLocks noGrp="1"/>
          </p:cNvSpPr>
          <p:nvPr>
            <p:ph idx="1"/>
          </p:nvPr>
        </p:nvSpPr>
        <p:spPr/>
        <p:txBody>
          <a:bodyPr/>
          <a:lstStyle/>
          <a:p>
            <a:r>
              <a:rPr lang="en-US" dirty="0">
                <a:solidFill>
                  <a:schemeClr val="bg2">
                    <a:lumMod val="90000"/>
                  </a:schemeClr>
                </a:solidFill>
              </a:rPr>
              <a:t>Processes (Introduction)</a:t>
            </a:r>
          </a:p>
          <a:p>
            <a:r>
              <a:rPr lang="en-US" dirty="0">
                <a:solidFill>
                  <a:schemeClr val="bg2">
                    <a:lumMod val="90000"/>
                  </a:schemeClr>
                </a:solidFill>
              </a:rPr>
              <a:t>Process Scheduling</a:t>
            </a:r>
          </a:p>
          <a:p>
            <a:r>
              <a:rPr lang="en-US" dirty="0">
                <a:solidFill>
                  <a:schemeClr val="bg2">
                    <a:lumMod val="90000"/>
                  </a:schemeClr>
                </a:solidFill>
              </a:rPr>
              <a:t>Operations on Processes</a:t>
            </a:r>
          </a:p>
          <a:p>
            <a:r>
              <a:rPr lang="en-US" dirty="0"/>
              <a:t>Interprocess Communication (contains self-reading part)</a:t>
            </a:r>
          </a:p>
        </p:txBody>
      </p:sp>
      <p:sp>
        <p:nvSpPr>
          <p:cNvPr id="4" name="Footer Placeholder 3"/>
          <p:cNvSpPr>
            <a:spLocks noGrp="1"/>
          </p:cNvSpPr>
          <p:nvPr>
            <p:ph type="ftr" sz="quarter" idx="11"/>
          </p:nvPr>
        </p:nvSpPr>
        <p:spPr/>
        <p:txBody>
          <a:bodyPr/>
          <a:lstStyle/>
          <a:p>
            <a:r>
              <a:rPr lang="en-US"/>
              <a:t>Operating Systems - Processes</a:t>
            </a:r>
          </a:p>
        </p:txBody>
      </p:sp>
      <p:sp>
        <p:nvSpPr>
          <p:cNvPr id="5" name="Slide Number Placeholder 4"/>
          <p:cNvSpPr>
            <a:spLocks noGrp="1"/>
          </p:cNvSpPr>
          <p:nvPr>
            <p:ph type="sldNum" sz="quarter" idx="12"/>
          </p:nvPr>
        </p:nvSpPr>
        <p:spPr/>
        <p:txBody>
          <a:bodyPr/>
          <a:lstStyle/>
          <a:p>
            <a:fld id="{95AAEEEC-DCEC-4178-AB14-E7254A15A296}" type="slidenum">
              <a:rPr lang="en-US" smtClean="0"/>
              <a:pPr/>
              <a:t>29</a:t>
            </a:fld>
            <a:endParaRPr lang="en-US"/>
          </a:p>
        </p:txBody>
      </p:sp>
      <p:sp>
        <p:nvSpPr>
          <p:cNvPr id="10" name="Date Placeholder 9"/>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225215154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Title 1"/>
          <p:cNvSpPr>
            <a:spLocks noGrp="1"/>
          </p:cNvSpPr>
          <p:nvPr>
            <p:ph type="title"/>
          </p:nvPr>
        </p:nvSpPr>
        <p:spPr/>
        <p:txBody>
          <a:bodyPr/>
          <a:lstStyle/>
          <a:p>
            <a:r>
              <a:rPr lang="en-US" altLang="en-US" dirty="0"/>
              <a:t>Interprocess Communication</a:t>
            </a:r>
          </a:p>
        </p:txBody>
      </p:sp>
      <p:sp>
        <p:nvSpPr>
          <p:cNvPr id="31747" name="Content Placeholder 2"/>
          <p:cNvSpPr>
            <a:spLocks noGrp="1"/>
          </p:cNvSpPr>
          <p:nvPr>
            <p:ph idx="1"/>
          </p:nvPr>
        </p:nvSpPr>
        <p:spPr/>
        <p:txBody>
          <a:bodyPr/>
          <a:lstStyle/>
          <a:p>
            <a:r>
              <a:rPr lang="en-US" altLang="en-US" dirty="0"/>
              <a:t>Processes within a system may be independent or cooperating</a:t>
            </a:r>
          </a:p>
          <a:p>
            <a:r>
              <a:rPr lang="en-US" altLang="en-US" dirty="0"/>
              <a:t>Cooperating processes can affect or be affected by other processes, including sharing data</a:t>
            </a:r>
          </a:p>
          <a:p>
            <a:r>
              <a:rPr lang="en-US" altLang="en-US" dirty="0"/>
              <a:t>Reasons for cooperating processes:</a:t>
            </a:r>
          </a:p>
          <a:p>
            <a:pPr lvl="1"/>
            <a:r>
              <a:rPr lang="en-US" altLang="en-US" dirty="0"/>
              <a:t>Information sharing</a:t>
            </a:r>
          </a:p>
          <a:p>
            <a:pPr lvl="1"/>
            <a:r>
              <a:rPr lang="en-US" altLang="en-US" dirty="0"/>
              <a:t>Computation speedup</a:t>
            </a:r>
          </a:p>
          <a:p>
            <a:pPr lvl="1"/>
            <a:r>
              <a:rPr lang="en-US" altLang="en-US" dirty="0"/>
              <a:t>Modularity</a:t>
            </a:r>
          </a:p>
          <a:p>
            <a:pPr lvl="1"/>
            <a:endParaRPr lang="en-US" altLang="en-US" dirty="0"/>
          </a:p>
          <a:p>
            <a:r>
              <a:rPr lang="en-US" altLang="en-US" dirty="0"/>
              <a:t>Cooperating processes need interprocess communication (IPC)</a:t>
            </a:r>
          </a:p>
          <a:p>
            <a:r>
              <a:rPr lang="en-US" altLang="en-US" dirty="0"/>
              <a:t>Two models of IPC</a:t>
            </a:r>
          </a:p>
          <a:p>
            <a:pPr lvl="1"/>
            <a:r>
              <a:rPr lang="en-US" altLang="en-US" dirty="0"/>
              <a:t>Shared memory</a:t>
            </a:r>
          </a:p>
          <a:p>
            <a:pPr lvl="1"/>
            <a:r>
              <a:rPr lang="en-US" altLang="en-US" dirty="0"/>
              <a:t>Message passing</a:t>
            </a:r>
          </a:p>
          <a:p>
            <a:pPr lvl="1"/>
            <a:endParaRPr lang="en-US" altLang="en-US" dirty="0"/>
          </a:p>
        </p:txBody>
      </p:sp>
      <p:sp>
        <p:nvSpPr>
          <p:cNvPr id="2" name="Footer Placeholder 1"/>
          <p:cNvSpPr>
            <a:spLocks noGrp="1"/>
          </p:cNvSpPr>
          <p:nvPr>
            <p:ph type="ftr" sz="quarter" idx="11"/>
          </p:nvPr>
        </p:nvSpPr>
        <p:spPr/>
        <p:txBody>
          <a:bodyPr/>
          <a:lstStyle/>
          <a:p>
            <a:r>
              <a:rPr lang="en-US"/>
              <a:t>Operating Systems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30</a:t>
            </a:fld>
            <a:endParaRPr lang="en-US"/>
          </a:p>
        </p:txBody>
      </p:sp>
      <p:sp>
        <p:nvSpPr>
          <p:cNvPr id="8" name="Date Placeholder 7"/>
          <p:cNvSpPr>
            <a:spLocks noGrp="1"/>
          </p:cNvSpPr>
          <p:nvPr>
            <p:ph type="dt" sz="half" idx="10"/>
          </p:nvPr>
        </p:nvSpPr>
        <p:spPr/>
        <p:txBody>
          <a:bodyPr/>
          <a:lstStyle/>
          <a:p>
            <a:r>
              <a:rPr lang="en-US"/>
              <a:t>Vincenzo Gulisano</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2"/>
          <p:cNvSpPr>
            <a:spLocks noGrp="1" noChangeArrowheads="1"/>
          </p:cNvSpPr>
          <p:nvPr>
            <p:ph type="title"/>
          </p:nvPr>
        </p:nvSpPr>
        <p:spPr/>
        <p:txBody>
          <a:bodyPr/>
          <a:lstStyle/>
          <a:p>
            <a:r>
              <a:rPr lang="en-US" altLang="en-US" dirty="0"/>
              <a:t>Communication Models </a:t>
            </a:r>
          </a:p>
        </p:txBody>
      </p:sp>
      <p:sp>
        <p:nvSpPr>
          <p:cNvPr id="2" name="Footer Placeholder 1"/>
          <p:cNvSpPr>
            <a:spLocks noGrp="1"/>
          </p:cNvSpPr>
          <p:nvPr>
            <p:ph type="ftr" sz="quarter" idx="11"/>
          </p:nvPr>
        </p:nvSpPr>
        <p:spPr/>
        <p:txBody>
          <a:bodyPr/>
          <a:lstStyle/>
          <a:p>
            <a:r>
              <a:rPr lang="en-US"/>
              <a:t>Operating Systems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31</a:t>
            </a:fld>
            <a:endParaRPr lang="en-US"/>
          </a:p>
        </p:txBody>
      </p:sp>
      <p:pic>
        <p:nvPicPr>
          <p:cNvPr id="32771" name="Picture 1" descr="3_12.pdf"/>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624013" y="1725613"/>
            <a:ext cx="6100762" cy="4324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2772" name="Rectangle 3"/>
          <p:cNvSpPr>
            <a:spLocks noChangeArrowheads="1"/>
          </p:cNvSpPr>
          <p:nvPr/>
        </p:nvSpPr>
        <p:spPr bwMode="auto">
          <a:xfrm>
            <a:off x="969963" y="1143000"/>
            <a:ext cx="6372225"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Verdana" panose="020B0604030504040204" pitchFamily="34" charset="0"/>
                <a:ea typeface="MS PGothic" panose="020B0600070205080204" pitchFamily="34" charset="-128"/>
              </a:defRPr>
            </a:lvl1pPr>
            <a:lvl2pPr marL="742950" indent="-285750">
              <a:defRPr>
                <a:solidFill>
                  <a:schemeClr val="tx1"/>
                </a:solidFill>
                <a:latin typeface="Verdana" panose="020B0604030504040204" pitchFamily="34" charset="0"/>
                <a:ea typeface="MS PGothic" panose="020B0600070205080204" pitchFamily="34" charset="-128"/>
              </a:defRPr>
            </a:lvl2pPr>
            <a:lvl3pPr marL="1143000" indent="-228600">
              <a:defRPr>
                <a:solidFill>
                  <a:schemeClr val="tx1"/>
                </a:solidFill>
                <a:latin typeface="Verdana" panose="020B0604030504040204" pitchFamily="34" charset="0"/>
                <a:ea typeface="MS PGothic" panose="020B0600070205080204" pitchFamily="34" charset="-128"/>
              </a:defRPr>
            </a:lvl3pPr>
            <a:lvl4pPr marL="1600200" indent="-228600">
              <a:defRPr>
                <a:solidFill>
                  <a:schemeClr val="tx1"/>
                </a:solidFill>
                <a:latin typeface="Verdana" panose="020B0604030504040204" pitchFamily="34" charset="0"/>
                <a:ea typeface="MS PGothic" panose="020B0600070205080204" pitchFamily="34" charset="-128"/>
              </a:defRPr>
            </a:lvl4pPr>
            <a:lvl5pPr marL="2057400" indent="-228600">
              <a:defRPr>
                <a:solidFill>
                  <a:schemeClr val="tx1"/>
                </a:solidFill>
                <a:latin typeface="Verdana" panose="020B0604030504040204" pitchFamily="34"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r>
              <a:rPr lang="en-US" altLang="en-US" b="1" dirty="0">
                <a:solidFill>
                  <a:srgbClr val="000000"/>
                </a:solidFill>
                <a:latin typeface="Courier New" panose="02070309020205020404" pitchFamily="49" charset="0"/>
                <a:cs typeface="Courier New" panose="02070309020205020404" pitchFamily="49" charset="0"/>
              </a:rPr>
              <a:t>(</a:t>
            </a:r>
            <a:r>
              <a:rPr lang="en-US" altLang="en-US" dirty="0">
                <a:solidFill>
                  <a:srgbClr val="000000"/>
                </a:solidFill>
                <a:latin typeface="Courier New" panose="02070309020205020404" pitchFamily="49" charset="0"/>
                <a:cs typeface="Courier New" panose="02070309020205020404" pitchFamily="49" charset="0"/>
              </a:rPr>
              <a:t>a) Message passing.  (b) Shared memory. </a:t>
            </a:r>
            <a:r>
              <a:rPr lang="en-US" altLang="en-US" dirty="0">
                <a:cs typeface="Courier New" panose="02070309020205020404" pitchFamily="49" charset="0"/>
              </a:rPr>
              <a:t> </a:t>
            </a:r>
          </a:p>
        </p:txBody>
      </p:sp>
      <p:sp>
        <p:nvSpPr>
          <p:cNvPr id="7" name="Date Placeholder 6"/>
          <p:cNvSpPr>
            <a:spLocks noGrp="1"/>
          </p:cNvSpPr>
          <p:nvPr>
            <p:ph type="dt" sz="half" idx="10"/>
          </p:nvPr>
        </p:nvSpPr>
        <p:spPr/>
        <p:txBody>
          <a:bodyPr/>
          <a:lstStyle/>
          <a:p>
            <a:r>
              <a:rPr lang="en-US"/>
              <a:t>Vincenzo Gulisano</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2"/>
          <p:cNvSpPr>
            <a:spLocks noGrp="1" noChangeArrowheads="1"/>
          </p:cNvSpPr>
          <p:nvPr>
            <p:ph type="title"/>
          </p:nvPr>
        </p:nvSpPr>
        <p:spPr/>
        <p:txBody>
          <a:bodyPr>
            <a:normAutofit/>
          </a:bodyPr>
          <a:lstStyle/>
          <a:p>
            <a:r>
              <a:rPr lang="en-US" altLang="en-US" sz="2900" dirty="0"/>
              <a:t>Cooperating processes: Producer-Consumer Problem</a:t>
            </a:r>
          </a:p>
        </p:txBody>
      </p:sp>
      <p:sp>
        <p:nvSpPr>
          <p:cNvPr id="34819" name="Rectangle 3"/>
          <p:cNvSpPr>
            <a:spLocks noGrp="1" noChangeArrowheads="1"/>
          </p:cNvSpPr>
          <p:nvPr>
            <p:ph idx="1"/>
          </p:nvPr>
        </p:nvSpPr>
        <p:spPr/>
        <p:txBody>
          <a:bodyPr/>
          <a:lstStyle/>
          <a:p>
            <a:r>
              <a:rPr lang="en-US" altLang="en-US" dirty="0"/>
              <a:t>Paradigm for cooperating processes: a producer process produces information that is consumed by a consumer process</a:t>
            </a:r>
          </a:p>
          <a:p>
            <a:pPr lvl="1"/>
            <a:endParaRPr lang="en-US" altLang="en-US" dirty="0"/>
          </a:p>
          <a:p>
            <a:r>
              <a:rPr lang="en-US" altLang="en-US" b="1" dirty="0"/>
              <a:t>Unbounded-buffer:</a:t>
            </a:r>
            <a:r>
              <a:rPr lang="en-US" altLang="en-US" dirty="0"/>
              <a:t> places no practical limit on the size of the buffer</a:t>
            </a:r>
          </a:p>
          <a:p>
            <a:pPr lvl="1"/>
            <a:endParaRPr lang="en-US" altLang="en-US" dirty="0"/>
          </a:p>
          <a:p>
            <a:r>
              <a:rPr lang="en-US" altLang="en-US" b="1" dirty="0"/>
              <a:t>Bounded-buffer:</a:t>
            </a:r>
            <a:r>
              <a:rPr lang="en-US" altLang="en-US" dirty="0"/>
              <a:t> assumes that there is a fixed buffer size</a:t>
            </a:r>
          </a:p>
        </p:txBody>
      </p:sp>
      <p:sp>
        <p:nvSpPr>
          <p:cNvPr id="2" name="Footer Placeholder 1"/>
          <p:cNvSpPr>
            <a:spLocks noGrp="1"/>
          </p:cNvSpPr>
          <p:nvPr>
            <p:ph type="ftr" sz="quarter" idx="11"/>
          </p:nvPr>
        </p:nvSpPr>
        <p:spPr/>
        <p:txBody>
          <a:bodyPr/>
          <a:lstStyle/>
          <a:p>
            <a:r>
              <a:rPr lang="en-US"/>
              <a:t>Operating Systems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32</a:t>
            </a:fld>
            <a:endParaRPr lang="en-US"/>
          </a:p>
        </p:txBody>
      </p:sp>
      <p:sp>
        <p:nvSpPr>
          <p:cNvPr id="8" name="Date Placeholder 7"/>
          <p:cNvSpPr>
            <a:spLocks noGrp="1"/>
          </p:cNvSpPr>
          <p:nvPr>
            <p:ph type="dt" sz="half" idx="10"/>
          </p:nvPr>
        </p:nvSpPr>
        <p:spPr/>
        <p:txBody>
          <a:bodyPr/>
          <a:lstStyle/>
          <a:p>
            <a:r>
              <a:rPr lang="en-US"/>
              <a:t>Vincenzo Gulisano</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Rectangle 2"/>
          <p:cNvSpPr>
            <a:spLocks noGrp="1" noChangeArrowheads="1"/>
          </p:cNvSpPr>
          <p:nvPr>
            <p:ph type="title"/>
          </p:nvPr>
        </p:nvSpPr>
        <p:spPr/>
        <p:txBody>
          <a:bodyPr>
            <a:normAutofit/>
          </a:bodyPr>
          <a:lstStyle/>
          <a:p>
            <a:r>
              <a:rPr lang="en-US" altLang="en-US" sz="3200" dirty="0"/>
              <a:t>Interprocess Communication –  Shared Memory</a:t>
            </a:r>
          </a:p>
        </p:txBody>
      </p:sp>
      <p:sp>
        <p:nvSpPr>
          <p:cNvPr id="38915" name="Rectangle 3"/>
          <p:cNvSpPr>
            <a:spLocks noGrp="1" noChangeArrowheads="1"/>
          </p:cNvSpPr>
          <p:nvPr>
            <p:ph idx="1"/>
          </p:nvPr>
        </p:nvSpPr>
        <p:spPr>
          <a:xfrm>
            <a:off x="4708634" y="1825625"/>
            <a:ext cx="3806716" cy="4351338"/>
          </a:xfrm>
        </p:spPr>
        <p:txBody>
          <a:bodyPr/>
          <a:lstStyle/>
          <a:p>
            <a:r>
              <a:rPr lang="en-US" altLang="en-US" dirty="0"/>
              <a:t>The major issue is to provide a mechanism that will allow the user processes to synchronize their actions when they access shared memory. </a:t>
            </a:r>
          </a:p>
          <a:p>
            <a:r>
              <a:rPr lang="en-US" altLang="en-US" dirty="0"/>
              <a:t>Synchronization is discussed in detail in the following lessons</a:t>
            </a:r>
          </a:p>
        </p:txBody>
      </p:sp>
      <p:sp>
        <p:nvSpPr>
          <p:cNvPr id="2" name="Footer Placeholder 1"/>
          <p:cNvSpPr>
            <a:spLocks noGrp="1"/>
          </p:cNvSpPr>
          <p:nvPr>
            <p:ph type="ftr" sz="quarter" idx="11"/>
          </p:nvPr>
        </p:nvSpPr>
        <p:spPr/>
        <p:txBody>
          <a:bodyPr/>
          <a:lstStyle/>
          <a:p>
            <a:r>
              <a:rPr lang="en-US"/>
              <a:t>Operating Systems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33</a:t>
            </a:fld>
            <a:endParaRPr lang="en-US"/>
          </a:p>
        </p:txBody>
      </p:sp>
      <p:sp>
        <p:nvSpPr>
          <p:cNvPr id="8" name="Date Placeholder 7"/>
          <p:cNvSpPr>
            <a:spLocks noGrp="1"/>
          </p:cNvSpPr>
          <p:nvPr>
            <p:ph type="dt" sz="half" idx="10"/>
          </p:nvPr>
        </p:nvSpPr>
        <p:spPr/>
        <p:txBody>
          <a:bodyPr/>
          <a:lstStyle/>
          <a:p>
            <a:r>
              <a:rPr lang="en-US"/>
              <a:t>Vincenzo Gulisano</a:t>
            </a:r>
          </a:p>
        </p:txBody>
      </p:sp>
      <p:pic>
        <p:nvPicPr>
          <p:cNvPr id="9" name="Picture 8" descr="3_12.pdf"/>
          <p:cNvPicPr>
            <a:picLocks noChangeAspect="1"/>
          </p:cNvPicPr>
          <p:nvPr/>
        </p:nvPicPr>
        <p:blipFill rotWithShape="1">
          <a:blip r:embed="rId3">
            <a:extLst>
              <a:ext uri="{28A0092B-C50C-407E-A947-70E740481C1C}">
                <a14:useLocalDpi xmlns:a14="http://schemas.microsoft.com/office/drawing/2010/main" val="0"/>
              </a:ext>
            </a:extLst>
          </a:blip>
          <a:srcRect l="50561" b="6956"/>
          <a:stretch/>
        </p:blipFill>
        <p:spPr bwMode="auto">
          <a:xfrm>
            <a:off x="1177979" y="1870077"/>
            <a:ext cx="3016141" cy="40235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Grp="1" noChangeArrowheads="1"/>
          </p:cNvSpPr>
          <p:nvPr>
            <p:ph type="title"/>
          </p:nvPr>
        </p:nvSpPr>
        <p:spPr/>
        <p:txBody>
          <a:bodyPr>
            <a:normAutofit/>
          </a:bodyPr>
          <a:lstStyle/>
          <a:p>
            <a:r>
              <a:rPr lang="en-US" altLang="en-US" sz="3200"/>
              <a:t>Interprocess Communication – Message Passing</a:t>
            </a:r>
          </a:p>
        </p:txBody>
      </p:sp>
      <p:sp>
        <p:nvSpPr>
          <p:cNvPr id="40963" name="Rectangle 3"/>
          <p:cNvSpPr>
            <a:spLocks noGrp="1" noChangeArrowheads="1"/>
          </p:cNvSpPr>
          <p:nvPr>
            <p:ph idx="1"/>
          </p:nvPr>
        </p:nvSpPr>
        <p:spPr>
          <a:xfrm>
            <a:off x="3857296" y="1825625"/>
            <a:ext cx="4658053" cy="4351338"/>
          </a:xfrm>
        </p:spPr>
        <p:txBody>
          <a:bodyPr>
            <a:normAutofit lnSpcReduction="10000"/>
          </a:bodyPr>
          <a:lstStyle/>
          <a:p>
            <a:pPr lvl="1"/>
            <a:endParaRPr lang="en-US" altLang="en-US" dirty="0"/>
          </a:p>
          <a:p>
            <a:r>
              <a:rPr lang="en-US" altLang="en-US" dirty="0"/>
              <a:t>If processes P and Q wish to communicate, they need to:</a:t>
            </a:r>
          </a:p>
          <a:p>
            <a:pPr lvl="1"/>
            <a:r>
              <a:rPr lang="en-US" altLang="en-US" dirty="0"/>
              <a:t>Establish a communication link between them</a:t>
            </a:r>
          </a:p>
          <a:p>
            <a:pPr lvl="1"/>
            <a:r>
              <a:rPr lang="en-US" altLang="en-US" dirty="0"/>
              <a:t>Exchange messages via send/receive</a:t>
            </a:r>
          </a:p>
          <a:p>
            <a:r>
              <a:rPr lang="en-US" altLang="en-US" dirty="0"/>
              <a:t>Implementation issues:</a:t>
            </a:r>
          </a:p>
          <a:p>
            <a:pPr lvl="1"/>
            <a:r>
              <a:rPr lang="en-US" altLang="en-US" dirty="0"/>
              <a:t>How are links established?</a:t>
            </a:r>
          </a:p>
          <a:p>
            <a:pPr lvl="1"/>
            <a:r>
              <a:rPr lang="en-US" altLang="en-US" dirty="0"/>
              <a:t>Can a link be associated with more than two processes?</a:t>
            </a:r>
          </a:p>
          <a:p>
            <a:pPr lvl="1"/>
            <a:r>
              <a:rPr lang="en-US" altLang="en-US" dirty="0"/>
              <a:t>How many links can there be between every pair of communicating processes?</a:t>
            </a:r>
          </a:p>
          <a:p>
            <a:pPr lvl="1"/>
            <a:r>
              <a:rPr lang="en-US" altLang="en-US" dirty="0"/>
              <a:t>What is the capacity of a link?</a:t>
            </a:r>
          </a:p>
          <a:p>
            <a:pPr lvl="1"/>
            <a:r>
              <a:rPr lang="en-US" altLang="en-US" dirty="0"/>
              <a:t>Is the size of a message that the link can accommodate fixed or variable?</a:t>
            </a:r>
          </a:p>
          <a:p>
            <a:pPr lvl="1"/>
            <a:r>
              <a:rPr lang="en-US" altLang="en-US" dirty="0"/>
              <a:t>Is a link unidirectional or bidirectional?</a:t>
            </a:r>
          </a:p>
          <a:p>
            <a:endParaRPr lang="en-US" altLang="en-US" dirty="0"/>
          </a:p>
        </p:txBody>
      </p:sp>
      <p:sp>
        <p:nvSpPr>
          <p:cNvPr id="2" name="Footer Placeholder 1"/>
          <p:cNvSpPr>
            <a:spLocks noGrp="1"/>
          </p:cNvSpPr>
          <p:nvPr>
            <p:ph type="ftr" sz="quarter" idx="11"/>
          </p:nvPr>
        </p:nvSpPr>
        <p:spPr/>
        <p:txBody>
          <a:bodyPr/>
          <a:lstStyle/>
          <a:p>
            <a:r>
              <a:rPr lang="en-US"/>
              <a:t>Operating Systems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34</a:t>
            </a:fld>
            <a:endParaRPr lang="en-US"/>
          </a:p>
        </p:txBody>
      </p:sp>
      <p:sp>
        <p:nvSpPr>
          <p:cNvPr id="8" name="Date Placeholder 7"/>
          <p:cNvSpPr>
            <a:spLocks noGrp="1"/>
          </p:cNvSpPr>
          <p:nvPr>
            <p:ph type="dt" sz="half" idx="10"/>
          </p:nvPr>
        </p:nvSpPr>
        <p:spPr/>
        <p:txBody>
          <a:bodyPr/>
          <a:lstStyle/>
          <a:p>
            <a:r>
              <a:rPr lang="en-US"/>
              <a:t>Vincenzo Gulisano</a:t>
            </a:r>
          </a:p>
        </p:txBody>
      </p:sp>
      <p:pic>
        <p:nvPicPr>
          <p:cNvPr id="9" name="Picture 8" descr="3_12.pdf"/>
          <p:cNvPicPr>
            <a:picLocks noChangeAspect="1"/>
          </p:cNvPicPr>
          <p:nvPr/>
        </p:nvPicPr>
        <p:blipFill rotWithShape="1">
          <a:blip r:embed="rId3">
            <a:extLst>
              <a:ext uri="{28A0092B-C50C-407E-A947-70E740481C1C}">
                <a14:useLocalDpi xmlns:a14="http://schemas.microsoft.com/office/drawing/2010/main" val="0"/>
              </a:ext>
            </a:extLst>
          </a:blip>
          <a:srcRect r="50645" b="6713"/>
          <a:stretch/>
        </p:blipFill>
        <p:spPr bwMode="auto">
          <a:xfrm>
            <a:off x="846247" y="1870077"/>
            <a:ext cx="3011049" cy="4034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Rectangle 2"/>
          <p:cNvSpPr>
            <a:spLocks noGrp="1" noChangeArrowheads="1"/>
          </p:cNvSpPr>
          <p:nvPr>
            <p:ph type="title"/>
          </p:nvPr>
        </p:nvSpPr>
        <p:spPr/>
        <p:txBody>
          <a:bodyPr>
            <a:normAutofit/>
          </a:bodyPr>
          <a:lstStyle/>
          <a:p>
            <a:r>
              <a:rPr lang="en-US" altLang="en-US" sz="2800" dirty="0"/>
              <a:t>Logical implementation – Issues [Self-reading section]</a:t>
            </a:r>
          </a:p>
        </p:txBody>
      </p:sp>
      <p:sp>
        <p:nvSpPr>
          <p:cNvPr id="41987" name="Rectangle 3"/>
          <p:cNvSpPr>
            <a:spLocks noGrp="1" noChangeArrowheads="1"/>
          </p:cNvSpPr>
          <p:nvPr>
            <p:ph idx="1"/>
          </p:nvPr>
        </p:nvSpPr>
        <p:spPr/>
        <p:txBody>
          <a:bodyPr/>
          <a:lstStyle/>
          <a:p>
            <a:r>
              <a:rPr lang="en-US" altLang="en-US" dirty="0"/>
              <a:t>Naming, Direct or indirect communication</a:t>
            </a:r>
          </a:p>
          <a:p>
            <a:r>
              <a:rPr lang="en-US" altLang="en-US" dirty="0"/>
              <a:t>Synchronous or asynchronous communication</a:t>
            </a:r>
          </a:p>
          <a:p>
            <a:r>
              <a:rPr lang="en-US" altLang="en-US" dirty="0"/>
              <a:t>Automatic or explicit buffering</a:t>
            </a:r>
          </a:p>
        </p:txBody>
      </p:sp>
      <p:sp>
        <p:nvSpPr>
          <p:cNvPr id="2" name="Footer Placeholder 1"/>
          <p:cNvSpPr>
            <a:spLocks noGrp="1"/>
          </p:cNvSpPr>
          <p:nvPr>
            <p:ph type="ftr" sz="quarter" idx="11"/>
          </p:nvPr>
        </p:nvSpPr>
        <p:spPr/>
        <p:txBody>
          <a:bodyPr/>
          <a:lstStyle/>
          <a:p>
            <a:r>
              <a:rPr lang="en-US"/>
              <a:t>Operating Systems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35</a:t>
            </a:fld>
            <a:endParaRPr lang="en-US"/>
          </a:p>
        </p:txBody>
      </p:sp>
      <p:sp>
        <p:nvSpPr>
          <p:cNvPr id="8" name="Date Placeholder 7"/>
          <p:cNvSpPr>
            <a:spLocks noGrp="1"/>
          </p:cNvSpPr>
          <p:nvPr>
            <p:ph type="dt" sz="half" idx="10"/>
          </p:nvPr>
        </p:nvSpPr>
        <p:spPr/>
        <p:txBody>
          <a:bodyPr/>
          <a:lstStyle/>
          <a:p>
            <a:r>
              <a:rPr lang="en-US"/>
              <a:t>Vincenzo Gulisano</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Rectangle 2"/>
          <p:cNvSpPr>
            <a:spLocks noGrp="1" noChangeArrowheads="1"/>
          </p:cNvSpPr>
          <p:nvPr>
            <p:ph type="title"/>
          </p:nvPr>
        </p:nvSpPr>
        <p:spPr/>
        <p:txBody>
          <a:bodyPr/>
          <a:lstStyle/>
          <a:p>
            <a:r>
              <a:rPr lang="en-US" altLang="en-US" dirty="0"/>
              <a:t>Logical implementation</a:t>
            </a:r>
            <a:r>
              <a:rPr lang="en-US" altLang="en-US" sz="3600" dirty="0"/>
              <a:t> – </a:t>
            </a:r>
            <a:r>
              <a:rPr lang="en-US" altLang="en-US" dirty="0"/>
              <a:t>Issues</a:t>
            </a:r>
          </a:p>
        </p:txBody>
      </p:sp>
      <p:sp>
        <p:nvSpPr>
          <p:cNvPr id="41987" name="Rectangle 3"/>
          <p:cNvSpPr>
            <a:spLocks noGrp="1" noChangeArrowheads="1"/>
          </p:cNvSpPr>
          <p:nvPr>
            <p:ph idx="1"/>
          </p:nvPr>
        </p:nvSpPr>
        <p:spPr/>
        <p:txBody>
          <a:bodyPr/>
          <a:lstStyle/>
          <a:p>
            <a:r>
              <a:rPr lang="en-US" altLang="en-US" dirty="0"/>
              <a:t>Naming: direct or indirect communication</a:t>
            </a:r>
          </a:p>
          <a:p>
            <a:r>
              <a:rPr lang="en-US" altLang="en-US" dirty="0">
                <a:solidFill>
                  <a:schemeClr val="bg1">
                    <a:lumMod val="50000"/>
                  </a:schemeClr>
                </a:solidFill>
              </a:rPr>
              <a:t>Synchronous or asynchronous communication</a:t>
            </a:r>
          </a:p>
          <a:p>
            <a:r>
              <a:rPr lang="en-US" altLang="en-US" dirty="0">
                <a:solidFill>
                  <a:schemeClr val="bg1">
                    <a:lumMod val="50000"/>
                  </a:schemeClr>
                </a:solidFill>
              </a:rPr>
              <a:t>Automatic or explicit buffering</a:t>
            </a:r>
          </a:p>
        </p:txBody>
      </p:sp>
      <p:sp>
        <p:nvSpPr>
          <p:cNvPr id="2" name="Footer Placeholder 1"/>
          <p:cNvSpPr>
            <a:spLocks noGrp="1"/>
          </p:cNvSpPr>
          <p:nvPr>
            <p:ph type="ftr" sz="quarter" idx="11"/>
          </p:nvPr>
        </p:nvSpPr>
        <p:spPr/>
        <p:txBody>
          <a:bodyPr/>
          <a:lstStyle/>
          <a:p>
            <a:r>
              <a:rPr lang="en-US"/>
              <a:t>Operating Systems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36</a:t>
            </a:fld>
            <a:endParaRPr lang="en-US"/>
          </a:p>
        </p:txBody>
      </p:sp>
      <p:sp>
        <p:nvSpPr>
          <p:cNvPr id="8" name="Date Placeholder 7"/>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162734154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Rectangle 2"/>
          <p:cNvSpPr>
            <a:spLocks noGrp="1" noChangeArrowheads="1"/>
          </p:cNvSpPr>
          <p:nvPr>
            <p:ph type="title"/>
          </p:nvPr>
        </p:nvSpPr>
        <p:spPr/>
        <p:txBody>
          <a:bodyPr/>
          <a:lstStyle/>
          <a:p>
            <a:r>
              <a:rPr lang="en-US" altLang="en-US"/>
              <a:t>Direct Communication</a:t>
            </a:r>
          </a:p>
        </p:txBody>
      </p:sp>
      <p:sp>
        <p:nvSpPr>
          <p:cNvPr id="43011" name="Rectangle 3"/>
          <p:cNvSpPr>
            <a:spLocks noGrp="1" noChangeArrowheads="1"/>
          </p:cNvSpPr>
          <p:nvPr>
            <p:ph idx="1"/>
          </p:nvPr>
        </p:nvSpPr>
        <p:spPr/>
        <p:txBody>
          <a:bodyPr/>
          <a:lstStyle/>
          <a:p>
            <a:r>
              <a:rPr lang="en-US" altLang="en-US" dirty="0"/>
              <a:t>Processes must name each other explicitly:</a:t>
            </a:r>
          </a:p>
          <a:p>
            <a:pPr lvl="1"/>
            <a:r>
              <a:rPr lang="en-US" altLang="en-US" dirty="0"/>
              <a:t>send (P, message) – send a message to process P</a:t>
            </a:r>
          </a:p>
          <a:p>
            <a:pPr lvl="1"/>
            <a:r>
              <a:rPr lang="en-US" altLang="en-US" dirty="0"/>
              <a:t>receive(Q, message) – receive a message from process Q</a:t>
            </a:r>
          </a:p>
          <a:p>
            <a:r>
              <a:rPr lang="en-US" altLang="en-US" dirty="0"/>
              <a:t>Properties of communication link</a:t>
            </a:r>
          </a:p>
          <a:p>
            <a:pPr lvl="1"/>
            <a:r>
              <a:rPr lang="en-US" altLang="en-US" dirty="0"/>
              <a:t>Links are established automatically</a:t>
            </a:r>
          </a:p>
          <a:p>
            <a:pPr lvl="1"/>
            <a:r>
              <a:rPr lang="en-US" altLang="en-US" dirty="0"/>
              <a:t>A link is associated with exactly one pair of communicating processes</a:t>
            </a:r>
          </a:p>
          <a:p>
            <a:pPr lvl="1"/>
            <a:r>
              <a:rPr lang="en-US" altLang="en-US" dirty="0"/>
              <a:t>Between each pair there exists exactly one link</a:t>
            </a:r>
          </a:p>
          <a:p>
            <a:pPr lvl="1"/>
            <a:r>
              <a:rPr lang="en-US" altLang="en-US" dirty="0"/>
              <a:t>The link may be unidirectional, but is usually bidirectional</a:t>
            </a:r>
          </a:p>
        </p:txBody>
      </p:sp>
      <p:sp>
        <p:nvSpPr>
          <p:cNvPr id="2" name="Footer Placeholder 1"/>
          <p:cNvSpPr>
            <a:spLocks noGrp="1"/>
          </p:cNvSpPr>
          <p:nvPr>
            <p:ph type="ftr" sz="quarter" idx="11"/>
          </p:nvPr>
        </p:nvSpPr>
        <p:spPr/>
        <p:txBody>
          <a:bodyPr/>
          <a:lstStyle/>
          <a:p>
            <a:r>
              <a:rPr lang="en-US"/>
              <a:t>Operating Systems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37</a:t>
            </a:fld>
            <a:endParaRPr lang="en-US"/>
          </a:p>
        </p:txBody>
      </p:sp>
      <p:sp>
        <p:nvSpPr>
          <p:cNvPr id="8" name="Date Placeholder 7"/>
          <p:cNvSpPr>
            <a:spLocks noGrp="1"/>
          </p:cNvSpPr>
          <p:nvPr>
            <p:ph type="dt" sz="half" idx="10"/>
          </p:nvPr>
        </p:nvSpPr>
        <p:spPr/>
        <p:txBody>
          <a:bodyPr/>
          <a:lstStyle/>
          <a:p>
            <a:r>
              <a:rPr lang="en-US"/>
              <a:t>Vincenzo Gulisano</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ChangeArrowheads="1"/>
          </p:cNvSpPr>
          <p:nvPr>
            <p:ph type="title"/>
          </p:nvPr>
        </p:nvSpPr>
        <p:spPr/>
        <p:txBody>
          <a:bodyPr/>
          <a:lstStyle/>
          <a:p>
            <a:r>
              <a:rPr lang="en-US" altLang="en-US"/>
              <a:t>Indirect Communication</a:t>
            </a:r>
          </a:p>
        </p:txBody>
      </p:sp>
      <p:sp>
        <p:nvSpPr>
          <p:cNvPr id="44035" name="Rectangle 3"/>
          <p:cNvSpPr>
            <a:spLocks noGrp="1" noChangeArrowheads="1"/>
          </p:cNvSpPr>
          <p:nvPr>
            <p:ph idx="1"/>
          </p:nvPr>
        </p:nvSpPr>
        <p:spPr/>
        <p:txBody>
          <a:bodyPr/>
          <a:lstStyle/>
          <a:p>
            <a:r>
              <a:rPr lang="en-US" altLang="en-US" dirty="0"/>
              <a:t>Messages are sent to and received from mailboxes (also referred to as ports)</a:t>
            </a:r>
          </a:p>
          <a:p>
            <a:pPr lvl="1"/>
            <a:r>
              <a:rPr lang="en-US" altLang="en-US" dirty="0"/>
              <a:t>Each mailbox has a unique ID</a:t>
            </a:r>
          </a:p>
          <a:p>
            <a:pPr lvl="1"/>
            <a:r>
              <a:rPr lang="en-US" altLang="en-US" dirty="0"/>
              <a:t>Processes can communicate only if they share a mailbox</a:t>
            </a:r>
          </a:p>
          <a:p>
            <a:r>
              <a:rPr lang="en-US" altLang="en-US" dirty="0"/>
              <a:t>Properties of a communication link</a:t>
            </a:r>
          </a:p>
          <a:p>
            <a:pPr lvl="1"/>
            <a:r>
              <a:rPr lang="en-US" altLang="en-US" dirty="0"/>
              <a:t>A link is established only if processes share a common mailbox</a:t>
            </a:r>
          </a:p>
          <a:p>
            <a:pPr lvl="1"/>
            <a:r>
              <a:rPr lang="en-US" altLang="en-US" dirty="0"/>
              <a:t>A link may be associated with many processes</a:t>
            </a:r>
          </a:p>
          <a:p>
            <a:pPr lvl="1"/>
            <a:r>
              <a:rPr lang="en-US" altLang="en-US" dirty="0"/>
              <a:t>Each pair of processes may share several communication links</a:t>
            </a:r>
          </a:p>
          <a:p>
            <a:pPr lvl="1"/>
            <a:r>
              <a:rPr lang="en-US" altLang="en-US" dirty="0"/>
              <a:t>A link may be unidirectional or bidirectional</a:t>
            </a:r>
          </a:p>
        </p:txBody>
      </p:sp>
      <p:sp>
        <p:nvSpPr>
          <p:cNvPr id="2" name="Footer Placeholder 1"/>
          <p:cNvSpPr>
            <a:spLocks noGrp="1"/>
          </p:cNvSpPr>
          <p:nvPr>
            <p:ph type="ftr" sz="quarter" idx="11"/>
          </p:nvPr>
        </p:nvSpPr>
        <p:spPr/>
        <p:txBody>
          <a:bodyPr/>
          <a:lstStyle/>
          <a:p>
            <a:r>
              <a:rPr lang="en-US"/>
              <a:t>Operating Systems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38</a:t>
            </a:fld>
            <a:endParaRPr lang="en-US"/>
          </a:p>
        </p:txBody>
      </p:sp>
      <p:sp>
        <p:nvSpPr>
          <p:cNvPr id="8" name="Date Placeholder 7"/>
          <p:cNvSpPr>
            <a:spLocks noGrp="1"/>
          </p:cNvSpPr>
          <p:nvPr>
            <p:ph type="dt" sz="half" idx="10"/>
          </p:nvPr>
        </p:nvSpPr>
        <p:spPr/>
        <p:txBody>
          <a:bodyPr/>
          <a:lstStyle/>
          <a:p>
            <a:r>
              <a:rPr lang="en-US"/>
              <a:t>Vincenzo Gulisano</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Rectangle 2"/>
          <p:cNvSpPr>
            <a:spLocks noGrp="1" noChangeArrowheads="1"/>
          </p:cNvSpPr>
          <p:nvPr>
            <p:ph type="title"/>
          </p:nvPr>
        </p:nvSpPr>
        <p:spPr/>
        <p:txBody>
          <a:bodyPr/>
          <a:lstStyle/>
          <a:p>
            <a:r>
              <a:rPr lang="en-US" altLang="en-US"/>
              <a:t>Indirect Communication</a:t>
            </a:r>
          </a:p>
        </p:txBody>
      </p:sp>
      <p:sp>
        <p:nvSpPr>
          <p:cNvPr id="45059" name="Rectangle 3"/>
          <p:cNvSpPr>
            <a:spLocks noGrp="1" noChangeArrowheads="1"/>
          </p:cNvSpPr>
          <p:nvPr>
            <p:ph idx="1"/>
          </p:nvPr>
        </p:nvSpPr>
        <p:spPr/>
        <p:txBody>
          <a:bodyPr/>
          <a:lstStyle/>
          <a:p>
            <a:r>
              <a:rPr lang="en-US" altLang="en-US" dirty="0"/>
              <a:t>Operations</a:t>
            </a:r>
          </a:p>
          <a:p>
            <a:pPr lvl="1"/>
            <a:r>
              <a:rPr lang="en-US" altLang="en-US" dirty="0"/>
              <a:t>create a new mailbox (port)</a:t>
            </a:r>
          </a:p>
          <a:p>
            <a:pPr lvl="1"/>
            <a:r>
              <a:rPr lang="en-US" altLang="en-US" dirty="0"/>
              <a:t>send and receive messages through mailbox</a:t>
            </a:r>
          </a:p>
          <a:p>
            <a:pPr lvl="1"/>
            <a:r>
              <a:rPr lang="en-US" altLang="en-US" dirty="0"/>
              <a:t>destroy a mailbox</a:t>
            </a:r>
          </a:p>
          <a:p>
            <a:r>
              <a:rPr lang="en-US" altLang="en-US" dirty="0"/>
              <a:t>Primitives are defined as:</a:t>
            </a:r>
          </a:p>
          <a:p>
            <a:pPr lvl="1"/>
            <a:r>
              <a:rPr lang="en-US" altLang="en-US" dirty="0"/>
              <a:t>send(A, message) – send a message to mailbox A</a:t>
            </a:r>
          </a:p>
          <a:p>
            <a:pPr lvl="1"/>
            <a:r>
              <a:rPr lang="en-US" altLang="en-US" dirty="0"/>
              <a:t>receive(A, message) – receive a message from mailbox A</a:t>
            </a:r>
          </a:p>
        </p:txBody>
      </p:sp>
      <p:sp>
        <p:nvSpPr>
          <p:cNvPr id="2" name="Footer Placeholder 1"/>
          <p:cNvSpPr>
            <a:spLocks noGrp="1"/>
          </p:cNvSpPr>
          <p:nvPr>
            <p:ph type="ftr" sz="quarter" idx="11"/>
          </p:nvPr>
        </p:nvSpPr>
        <p:spPr/>
        <p:txBody>
          <a:bodyPr/>
          <a:lstStyle/>
          <a:p>
            <a:r>
              <a:rPr lang="en-US"/>
              <a:t>Operating Systems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39</a:t>
            </a:fld>
            <a:endParaRPr lang="en-US"/>
          </a:p>
        </p:txBody>
      </p:sp>
      <p:sp>
        <p:nvSpPr>
          <p:cNvPr id="8" name="Date Placeholder 7"/>
          <p:cNvSpPr>
            <a:spLocks noGrp="1"/>
          </p:cNvSpPr>
          <p:nvPr>
            <p:ph type="dt" sz="half" idx="10"/>
          </p:nvPr>
        </p:nvSpPr>
        <p:spPr/>
        <p:txBody>
          <a:bodyPr/>
          <a:lstStyle/>
          <a:p>
            <a:r>
              <a:rPr lang="en-US"/>
              <a:t>Vincenzo Gulisano</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Rectangle 2"/>
          <p:cNvSpPr>
            <a:spLocks noGrp="1" noChangeArrowheads="1"/>
          </p:cNvSpPr>
          <p:nvPr>
            <p:ph type="title"/>
          </p:nvPr>
        </p:nvSpPr>
        <p:spPr/>
        <p:txBody>
          <a:bodyPr/>
          <a:lstStyle/>
          <a:p>
            <a:r>
              <a:rPr lang="en-US" altLang="en-US" dirty="0"/>
              <a:t>Logical implementation</a:t>
            </a:r>
            <a:r>
              <a:rPr lang="en-US" altLang="en-US" sz="3600" dirty="0"/>
              <a:t> – </a:t>
            </a:r>
            <a:r>
              <a:rPr lang="en-US" altLang="en-US" dirty="0"/>
              <a:t>Issues</a:t>
            </a:r>
          </a:p>
        </p:txBody>
      </p:sp>
      <p:sp>
        <p:nvSpPr>
          <p:cNvPr id="41987" name="Rectangle 3"/>
          <p:cNvSpPr>
            <a:spLocks noGrp="1" noChangeArrowheads="1"/>
          </p:cNvSpPr>
          <p:nvPr>
            <p:ph idx="1"/>
          </p:nvPr>
        </p:nvSpPr>
        <p:spPr/>
        <p:txBody>
          <a:bodyPr/>
          <a:lstStyle/>
          <a:p>
            <a:r>
              <a:rPr lang="en-US" altLang="en-US" dirty="0">
                <a:solidFill>
                  <a:schemeClr val="bg1">
                    <a:lumMod val="50000"/>
                  </a:schemeClr>
                </a:solidFill>
              </a:rPr>
              <a:t>Naming: direct or indirect communication</a:t>
            </a:r>
          </a:p>
          <a:p>
            <a:r>
              <a:rPr lang="en-US" altLang="en-US" dirty="0"/>
              <a:t>Synchronous or asynchronous communication</a:t>
            </a:r>
          </a:p>
          <a:p>
            <a:r>
              <a:rPr lang="en-US" altLang="en-US" dirty="0">
                <a:solidFill>
                  <a:schemeClr val="bg1">
                    <a:lumMod val="50000"/>
                  </a:schemeClr>
                </a:solidFill>
              </a:rPr>
              <a:t>Automatic or explicit buffering</a:t>
            </a:r>
          </a:p>
        </p:txBody>
      </p:sp>
      <p:sp>
        <p:nvSpPr>
          <p:cNvPr id="2" name="Footer Placeholder 1"/>
          <p:cNvSpPr>
            <a:spLocks noGrp="1"/>
          </p:cNvSpPr>
          <p:nvPr>
            <p:ph type="ftr" sz="quarter" idx="11"/>
          </p:nvPr>
        </p:nvSpPr>
        <p:spPr/>
        <p:txBody>
          <a:bodyPr/>
          <a:lstStyle/>
          <a:p>
            <a:r>
              <a:rPr lang="en-US"/>
              <a:t>Operating Systems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40</a:t>
            </a:fld>
            <a:endParaRPr lang="en-US"/>
          </a:p>
        </p:txBody>
      </p:sp>
      <p:sp>
        <p:nvSpPr>
          <p:cNvPr id="8" name="Date Placeholder 7"/>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70959786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Rectangle 2"/>
          <p:cNvSpPr>
            <a:spLocks noGrp="1" noChangeArrowheads="1"/>
          </p:cNvSpPr>
          <p:nvPr>
            <p:ph type="title"/>
          </p:nvPr>
        </p:nvSpPr>
        <p:spPr/>
        <p:txBody>
          <a:bodyPr/>
          <a:lstStyle/>
          <a:p>
            <a:r>
              <a:rPr lang="en-US" altLang="en-US"/>
              <a:t>Synchronization</a:t>
            </a:r>
          </a:p>
        </p:txBody>
      </p:sp>
      <p:sp>
        <p:nvSpPr>
          <p:cNvPr id="44035" name="Rectangle 3"/>
          <p:cNvSpPr>
            <a:spLocks noGrp="1" noChangeArrowheads="1"/>
          </p:cNvSpPr>
          <p:nvPr>
            <p:ph idx="1"/>
          </p:nvPr>
        </p:nvSpPr>
        <p:spPr/>
        <p:txBody>
          <a:bodyPr>
            <a:normAutofit/>
          </a:bodyPr>
          <a:lstStyle/>
          <a:p>
            <a:r>
              <a:rPr lang="en-US" sz="2400" dirty="0"/>
              <a:t>Message passing may be either blocking or non-blocking</a:t>
            </a:r>
          </a:p>
          <a:p>
            <a:r>
              <a:rPr lang="en-US" sz="2400" dirty="0"/>
              <a:t>Blocking is considered synchronous</a:t>
            </a:r>
          </a:p>
          <a:p>
            <a:pPr lvl="1"/>
            <a:r>
              <a:rPr lang="en-US" sz="2000" dirty="0"/>
              <a:t>Blocking send - the sender is blocked until the message is received</a:t>
            </a:r>
          </a:p>
          <a:p>
            <a:pPr lvl="1"/>
            <a:r>
              <a:rPr lang="en-US" sz="2000" dirty="0"/>
              <a:t>Blocking receive - the receiver is blocked until a message is available</a:t>
            </a:r>
          </a:p>
          <a:p>
            <a:r>
              <a:rPr lang="en-US" sz="2400" dirty="0"/>
              <a:t>Non-blocking is considered asynchronous</a:t>
            </a:r>
          </a:p>
          <a:p>
            <a:pPr lvl="1"/>
            <a:r>
              <a:rPr lang="en-US" sz="2000" dirty="0"/>
              <a:t>Non-blocking send - the sender sends the message and continues</a:t>
            </a:r>
          </a:p>
          <a:p>
            <a:pPr lvl="1"/>
            <a:r>
              <a:rPr lang="en-US" sz="2000" dirty="0"/>
              <a:t>Non-blocking receive - the receiver receives:</a:t>
            </a:r>
          </a:p>
          <a:p>
            <a:pPr lvl="2"/>
            <a:r>
              <a:rPr lang="en-US" sz="1600" dirty="0"/>
              <a:t> A valid message, or </a:t>
            </a:r>
          </a:p>
          <a:p>
            <a:pPr lvl="2"/>
            <a:r>
              <a:rPr lang="en-US" sz="1600" dirty="0"/>
              <a:t> A Null message</a:t>
            </a:r>
          </a:p>
          <a:p>
            <a:r>
              <a:rPr lang="en-US" sz="2400" dirty="0"/>
              <a:t>Different combinations possible</a:t>
            </a:r>
          </a:p>
          <a:p>
            <a:pPr lvl="1"/>
            <a:r>
              <a:rPr lang="en-US" sz="2000" dirty="0"/>
              <a:t>If both send and receive are blocking, we have a rendezvous</a:t>
            </a:r>
          </a:p>
          <a:p>
            <a:endParaRPr lang="en-US" sz="2400" dirty="0"/>
          </a:p>
          <a:p>
            <a:pPr lvl="2"/>
            <a:endParaRPr lang="en-US" sz="1600" dirty="0"/>
          </a:p>
        </p:txBody>
      </p:sp>
      <p:sp>
        <p:nvSpPr>
          <p:cNvPr id="2" name="Footer Placeholder 1"/>
          <p:cNvSpPr>
            <a:spLocks noGrp="1"/>
          </p:cNvSpPr>
          <p:nvPr>
            <p:ph type="ftr" sz="quarter" idx="11"/>
          </p:nvPr>
        </p:nvSpPr>
        <p:spPr/>
        <p:txBody>
          <a:bodyPr/>
          <a:lstStyle/>
          <a:p>
            <a:r>
              <a:rPr lang="en-US"/>
              <a:t>Operating Systems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41</a:t>
            </a:fld>
            <a:endParaRPr lang="en-US"/>
          </a:p>
        </p:txBody>
      </p:sp>
      <p:sp>
        <p:nvSpPr>
          <p:cNvPr id="8" name="Date Placeholder 7"/>
          <p:cNvSpPr>
            <a:spLocks noGrp="1"/>
          </p:cNvSpPr>
          <p:nvPr>
            <p:ph type="dt" sz="half" idx="10"/>
          </p:nvPr>
        </p:nvSpPr>
        <p:spPr/>
        <p:txBody>
          <a:bodyPr/>
          <a:lstStyle/>
          <a:p>
            <a:r>
              <a:rPr lang="en-US"/>
              <a:t>Vincenzo Gulisano</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Rectangle 2"/>
          <p:cNvSpPr>
            <a:spLocks noGrp="1" noChangeArrowheads="1"/>
          </p:cNvSpPr>
          <p:nvPr>
            <p:ph type="title"/>
          </p:nvPr>
        </p:nvSpPr>
        <p:spPr/>
        <p:txBody>
          <a:bodyPr/>
          <a:lstStyle/>
          <a:p>
            <a:r>
              <a:rPr lang="en-US" altLang="en-US"/>
              <a:t>Synchronization (Cont.)</a:t>
            </a:r>
          </a:p>
        </p:txBody>
      </p:sp>
      <p:sp>
        <p:nvSpPr>
          <p:cNvPr id="41987" name="Rectangle 3"/>
          <p:cNvSpPr>
            <a:spLocks noGrp="1" noChangeArrowheads="1"/>
          </p:cNvSpPr>
          <p:nvPr>
            <p:ph idx="1"/>
          </p:nvPr>
        </p:nvSpPr>
        <p:spPr>
          <a:xfrm>
            <a:off x="1299280" y="1509537"/>
            <a:ext cx="7886700" cy="4351338"/>
          </a:xfrm>
        </p:spPr>
        <p:txBody>
          <a:bodyPr/>
          <a:lstStyle/>
          <a:p>
            <a:r>
              <a:rPr lang="en-US" dirty="0"/>
              <a:t>Producer-consumer becomes trivial for blocking send/receive:</a:t>
            </a:r>
          </a:p>
        </p:txBody>
      </p:sp>
      <p:sp>
        <p:nvSpPr>
          <p:cNvPr id="2" name="Footer Placeholder 1"/>
          <p:cNvSpPr>
            <a:spLocks noGrp="1"/>
          </p:cNvSpPr>
          <p:nvPr>
            <p:ph type="ftr" sz="quarter" idx="11"/>
          </p:nvPr>
        </p:nvSpPr>
        <p:spPr/>
        <p:txBody>
          <a:bodyPr/>
          <a:lstStyle/>
          <a:p>
            <a:r>
              <a:rPr lang="en-US"/>
              <a:t>Operating Systems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42</a:t>
            </a:fld>
            <a:endParaRPr lang="en-US"/>
          </a:p>
        </p:txBody>
      </p:sp>
      <p:sp>
        <p:nvSpPr>
          <p:cNvPr id="48132" name="TextBox 1"/>
          <p:cNvSpPr txBox="1">
            <a:spLocks noChangeArrowheads="1"/>
          </p:cNvSpPr>
          <p:nvPr/>
        </p:nvSpPr>
        <p:spPr bwMode="auto">
          <a:xfrm>
            <a:off x="689680" y="4208463"/>
            <a:ext cx="6370638" cy="1635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4008" tIns="32004" rIns="64008" bIns="32004">
            <a:spAutoFit/>
          </a:bodyPr>
          <a:lstStyle>
            <a:lvl1pPr>
              <a:defRPr>
                <a:solidFill>
                  <a:schemeClr val="tx1"/>
                </a:solidFill>
                <a:latin typeface="Verdana" panose="020B0604030504040204" pitchFamily="34" charset="0"/>
                <a:ea typeface="MS PGothic" panose="020B0600070205080204" pitchFamily="34" charset="-128"/>
              </a:defRPr>
            </a:lvl1pPr>
            <a:lvl2pPr marL="742950" indent="-285750">
              <a:defRPr>
                <a:solidFill>
                  <a:schemeClr val="tx1"/>
                </a:solidFill>
                <a:latin typeface="Verdana" panose="020B0604030504040204" pitchFamily="34" charset="0"/>
                <a:ea typeface="MS PGothic" panose="020B0600070205080204" pitchFamily="34" charset="-128"/>
              </a:defRPr>
            </a:lvl2pPr>
            <a:lvl3pPr marL="1143000" indent="-228600">
              <a:defRPr>
                <a:solidFill>
                  <a:schemeClr val="tx1"/>
                </a:solidFill>
                <a:latin typeface="Verdana" panose="020B0604030504040204" pitchFamily="34" charset="0"/>
                <a:ea typeface="MS PGothic" panose="020B0600070205080204" pitchFamily="34" charset="-128"/>
              </a:defRPr>
            </a:lvl3pPr>
            <a:lvl4pPr marL="1600200" indent="-228600">
              <a:defRPr>
                <a:solidFill>
                  <a:schemeClr val="tx1"/>
                </a:solidFill>
                <a:latin typeface="Verdana" panose="020B0604030504040204" pitchFamily="34" charset="0"/>
                <a:ea typeface="MS PGothic" panose="020B0600070205080204" pitchFamily="34" charset="-128"/>
              </a:defRPr>
            </a:lvl4pPr>
            <a:lvl5pPr marL="2057400" indent="-228600">
              <a:defRPr>
                <a:solidFill>
                  <a:schemeClr val="tx1"/>
                </a:solidFill>
                <a:latin typeface="Verdana" panose="020B0604030504040204" pitchFamily="34"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r>
              <a:rPr kumimoji="1" lang="en-US" altLang="en-US" sz="1700" dirty="0">
                <a:latin typeface="Courier New" panose="02070309020205020404" pitchFamily="49" charset="0"/>
                <a:cs typeface="Courier New" panose="02070309020205020404" pitchFamily="49" charset="0"/>
              </a:rPr>
              <a:t>m</a:t>
            </a:r>
            <a:r>
              <a:rPr kumimoji="1" lang="en-US" altLang="en-US" sz="1600" dirty="0">
                <a:latin typeface="Courier New" panose="02070309020205020404" pitchFamily="49" charset="0"/>
                <a:cs typeface="Courier New" panose="02070309020205020404" pitchFamily="49" charset="0"/>
              </a:rPr>
              <a:t>essage </a:t>
            </a:r>
            <a:r>
              <a:rPr kumimoji="1" lang="en-US" altLang="en-US" sz="1600" dirty="0" err="1">
                <a:latin typeface="Courier New" panose="02070309020205020404" pitchFamily="49" charset="0"/>
                <a:cs typeface="Courier New" panose="02070309020205020404" pitchFamily="49" charset="0"/>
              </a:rPr>
              <a:t>next_consumed</a:t>
            </a:r>
            <a:r>
              <a:rPr kumimoji="1" lang="en-US" altLang="en-US" sz="1600" dirty="0">
                <a:latin typeface="Courier New" panose="02070309020205020404" pitchFamily="49" charset="0"/>
                <a:cs typeface="Courier New" panose="02070309020205020404" pitchFamily="49" charset="0"/>
              </a:rPr>
              <a:t>;</a:t>
            </a:r>
          </a:p>
          <a:p>
            <a:r>
              <a:rPr kumimoji="1" lang="en-US" altLang="en-US" sz="1600" dirty="0">
                <a:latin typeface="Courier New" panose="02070309020205020404" pitchFamily="49" charset="0"/>
                <a:cs typeface="Courier New" panose="02070309020205020404" pitchFamily="49" charset="0"/>
              </a:rPr>
              <a:t>while (true) {</a:t>
            </a:r>
          </a:p>
          <a:p>
            <a:r>
              <a:rPr kumimoji="1" lang="en-US" altLang="en-US" sz="1600" dirty="0">
                <a:latin typeface="Courier New" panose="02070309020205020404" pitchFamily="49" charset="0"/>
                <a:cs typeface="Courier New" panose="02070309020205020404" pitchFamily="49" charset="0"/>
              </a:rPr>
              <a:t>   receive(</a:t>
            </a:r>
            <a:r>
              <a:rPr kumimoji="1" lang="en-US" altLang="en-US" sz="1600" dirty="0" err="1">
                <a:latin typeface="Courier New" panose="02070309020205020404" pitchFamily="49" charset="0"/>
                <a:cs typeface="Courier New" panose="02070309020205020404" pitchFamily="49" charset="0"/>
              </a:rPr>
              <a:t>next_consumed</a:t>
            </a:r>
            <a:r>
              <a:rPr kumimoji="1" lang="en-US" altLang="en-US" sz="1600" dirty="0">
                <a:latin typeface="Courier New" panose="02070309020205020404" pitchFamily="49" charset="0"/>
                <a:cs typeface="Courier New" panose="02070309020205020404" pitchFamily="49" charset="0"/>
              </a:rPr>
              <a:t>);</a:t>
            </a:r>
          </a:p>
          <a:p>
            <a:r>
              <a:rPr kumimoji="1" lang="en-US" altLang="en-US" sz="1600" dirty="0">
                <a:latin typeface="Courier New" panose="02070309020205020404" pitchFamily="49" charset="0"/>
                <a:cs typeface="Courier New" panose="02070309020205020404" pitchFamily="49" charset="0"/>
              </a:rPr>
              <a:t>   </a:t>
            </a:r>
          </a:p>
          <a:p>
            <a:r>
              <a:rPr kumimoji="1" lang="en-US" altLang="en-US" sz="1600" dirty="0">
                <a:latin typeface="Courier New" panose="02070309020205020404" pitchFamily="49" charset="0"/>
                <a:cs typeface="Courier New" panose="02070309020205020404" pitchFamily="49" charset="0"/>
              </a:rPr>
              <a:t>   /* consume the item in next consumed */</a:t>
            </a:r>
          </a:p>
          <a:p>
            <a:r>
              <a:rPr kumimoji="1" lang="en-US" altLang="en-US" sz="1700" dirty="0">
                <a:latin typeface="Courier New" panose="02070309020205020404" pitchFamily="49" charset="0"/>
                <a:cs typeface="Courier New" panose="02070309020205020404" pitchFamily="49" charset="0"/>
              </a:rPr>
              <a:t>}</a:t>
            </a:r>
          </a:p>
        </p:txBody>
      </p:sp>
      <p:sp>
        <p:nvSpPr>
          <p:cNvPr id="8" name="Date Placeholder 7"/>
          <p:cNvSpPr>
            <a:spLocks noGrp="1"/>
          </p:cNvSpPr>
          <p:nvPr>
            <p:ph type="dt" sz="half" idx="10"/>
          </p:nvPr>
        </p:nvSpPr>
        <p:spPr/>
        <p:txBody>
          <a:bodyPr/>
          <a:lstStyle/>
          <a:p>
            <a:r>
              <a:rPr lang="en-US"/>
              <a:t>Vincenzo Gulisano</a:t>
            </a:r>
          </a:p>
        </p:txBody>
      </p:sp>
      <p:sp>
        <p:nvSpPr>
          <p:cNvPr id="4" name="Rectangle 3"/>
          <p:cNvSpPr/>
          <p:nvPr/>
        </p:nvSpPr>
        <p:spPr>
          <a:xfrm>
            <a:off x="689680" y="2280904"/>
            <a:ext cx="7258755" cy="1477328"/>
          </a:xfrm>
          <a:prstGeom prst="rect">
            <a:avLst/>
          </a:prstGeom>
        </p:spPr>
        <p:txBody>
          <a:bodyPr wrap="square">
            <a:spAutoFit/>
          </a:bodyPr>
          <a:lstStyle/>
          <a:p>
            <a:r>
              <a:rPr kumimoji="1" lang="en-US" dirty="0">
                <a:latin typeface="Courier New" panose="02070309020205020404" pitchFamily="49" charset="0"/>
                <a:cs typeface="Courier New" panose="02070309020205020404" pitchFamily="49" charset="0"/>
              </a:rPr>
              <a:t>message </a:t>
            </a:r>
            <a:r>
              <a:rPr kumimoji="1" lang="en-US" dirty="0" err="1">
                <a:latin typeface="Courier New" panose="02070309020205020404" pitchFamily="49" charset="0"/>
                <a:cs typeface="Courier New" panose="02070309020205020404" pitchFamily="49" charset="0"/>
              </a:rPr>
              <a:t>next_produced</a:t>
            </a:r>
            <a:r>
              <a:rPr kumimoji="1" lang="en-US" dirty="0">
                <a:latin typeface="Courier New" panose="02070309020205020404" pitchFamily="49" charset="0"/>
                <a:cs typeface="Courier New" panose="02070309020205020404" pitchFamily="49" charset="0"/>
              </a:rPr>
              <a:t>; </a:t>
            </a:r>
          </a:p>
          <a:p>
            <a:r>
              <a:rPr kumimoji="1" lang="en-US" dirty="0">
                <a:latin typeface="Courier New" panose="02070309020205020404" pitchFamily="49" charset="0"/>
                <a:cs typeface="Courier New" panose="02070309020205020404" pitchFamily="49" charset="0"/>
              </a:rPr>
              <a:t>while (true) {</a:t>
            </a:r>
            <a:br>
              <a:rPr kumimoji="1" lang="en-US" dirty="0">
                <a:latin typeface="Courier New" panose="02070309020205020404" pitchFamily="49" charset="0"/>
                <a:cs typeface="Courier New" panose="02070309020205020404" pitchFamily="49" charset="0"/>
              </a:rPr>
            </a:br>
            <a:r>
              <a:rPr kumimoji="1" lang="en-US" dirty="0">
                <a:latin typeface="Courier New" panose="02070309020205020404" pitchFamily="49" charset="0"/>
                <a:cs typeface="Courier New" panose="02070309020205020404" pitchFamily="49" charset="0"/>
              </a:rPr>
              <a:t>   /* produce an item in next produced */ </a:t>
            </a:r>
          </a:p>
          <a:p>
            <a:r>
              <a:rPr kumimoji="1" lang="en-US" dirty="0">
                <a:latin typeface="Courier New" panose="02070309020205020404" pitchFamily="49" charset="0"/>
                <a:cs typeface="Courier New" panose="02070309020205020404" pitchFamily="49" charset="0"/>
              </a:rPr>
              <a:t>   send(</a:t>
            </a:r>
            <a:r>
              <a:rPr kumimoji="1" lang="en-US" dirty="0" err="1">
                <a:latin typeface="Courier New" panose="02070309020205020404" pitchFamily="49" charset="0"/>
                <a:cs typeface="Courier New" panose="02070309020205020404" pitchFamily="49" charset="0"/>
              </a:rPr>
              <a:t>next_produced</a:t>
            </a:r>
            <a:r>
              <a:rPr kumimoji="1" lang="en-US" dirty="0">
                <a:latin typeface="Courier New" panose="02070309020205020404" pitchFamily="49" charset="0"/>
                <a:cs typeface="Courier New" panose="02070309020205020404" pitchFamily="49" charset="0"/>
              </a:rPr>
              <a:t>); </a:t>
            </a:r>
          </a:p>
          <a:p>
            <a:r>
              <a:rPr kumimoji="1" lang="en-US" dirty="0">
                <a:latin typeface="Courier New" panose="02070309020205020404" pitchFamily="49" charset="0"/>
                <a:cs typeface="Courier New" panose="02070309020205020404" pitchFamily="49" charset="0"/>
              </a:rPr>
              <a:t>} </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Rectangle 2"/>
          <p:cNvSpPr>
            <a:spLocks noGrp="1" noChangeArrowheads="1"/>
          </p:cNvSpPr>
          <p:nvPr>
            <p:ph type="title"/>
          </p:nvPr>
        </p:nvSpPr>
        <p:spPr/>
        <p:txBody>
          <a:bodyPr/>
          <a:lstStyle/>
          <a:p>
            <a:r>
              <a:rPr lang="en-US" altLang="en-US" dirty="0"/>
              <a:t>Logical implementation</a:t>
            </a:r>
            <a:r>
              <a:rPr lang="en-US" altLang="en-US" sz="3600" dirty="0"/>
              <a:t> – </a:t>
            </a:r>
            <a:r>
              <a:rPr lang="en-US" altLang="en-US" dirty="0"/>
              <a:t>Issues</a:t>
            </a:r>
          </a:p>
        </p:txBody>
      </p:sp>
      <p:sp>
        <p:nvSpPr>
          <p:cNvPr id="41987" name="Rectangle 3"/>
          <p:cNvSpPr>
            <a:spLocks noGrp="1" noChangeArrowheads="1"/>
          </p:cNvSpPr>
          <p:nvPr>
            <p:ph idx="1"/>
          </p:nvPr>
        </p:nvSpPr>
        <p:spPr/>
        <p:txBody>
          <a:bodyPr/>
          <a:lstStyle/>
          <a:p>
            <a:r>
              <a:rPr lang="en-US" altLang="en-US" dirty="0">
                <a:solidFill>
                  <a:schemeClr val="bg1">
                    <a:lumMod val="50000"/>
                  </a:schemeClr>
                </a:solidFill>
              </a:rPr>
              <a:t>Naming: direct or indirect communication</a:t>
            </a:r>
          </a:p>
          <a:p>
            <a:r>
              <a:rPr lang="en-US" altLang="en-US" dirty="0">
                <a:solidFill>
                  <a:schemeClr val="bg1">
                    <a:lumMod val="50000"/>
                  </a:schemeClr>
                </a:solidFill>
              </a:rPr>
              <a:t>Synchronous or asynchronous communication</a:t>
            </a:r>
          </a:p>
          <a:p>
            <a:r>
              <a:rPr lang="en-US" altLang="en-US" dirty="0"/>
              <a:t>Automatic or explicit buffering</a:t>
            </a:r>
          </a:p>
        </p:txBody>
      </p:sp>
      <p:sp>
        <p:nvSpPr>
          <p:cNvPr id="2" name="Footer Placeholder 1"/>
          <p:cNvSpPr>
            <a:spLocks noGrp="1"/>
          </p:cNvSpPr>
          <p:nvPr>
            <p:ph type="ftr" sz="quarter" idx="11"/>
          </p:nvPr>
        </p:nvSpPr>
        <p:spPr/>
        <p:txBody>
          <a:bodyPr/>
          <a:lstStyle/>
          <a:p>
            <a:r>
              <a:rPr lang="en-US"/>
              <a:t>Operating Systems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43</a:t>
            </a:fld>
            <a:endParaRPr lang="en-US"/>
          </a:p>
        </p:txBody>
      </p:sp>
      <p:sp>
        <p:nvSpPr>
          <p:cNvPr id="8" name="Date Placeholder 7"/>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237359743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4" name="Rectangle 2"/>
          <p:cNvSpPr>
            <a:spLocks noGrp="1" noChangeArrowheads="1"/>
          </p:cNvSpPr>
          <p:nvPr>
            <p:ph type="title"/>
          </p:nvPr>
        </p:nvSpPr>
        <p:spPr/>
        <p:txBody>
          <a:bodyPr/>
          <a:lstStyle/>
          <a:p>
            <a:r>
              <a:rPr lang="en-US" altLang="en-US"/>
              <a:t>Buffering</a:t>
            </a:r>
          </a:p>
        </p:txBody>
      </p:sp>
      <p:sp>
        <p:nvSpPr>
          <p:cNvPr id="49155" name="Rectangle 3"/>
          <p:cNvSpPr>
            <a:spLocks noGrp="1" noChangeArrowheads="1"/>
          </p:cNvSpPr>
          <p:nvPr>
            <p:ph idx="1"/>
          </p:nvPr>
        </p:nvSpPr>
        <p:spPr/>
        <p:txBody>
          <a:bodyPr>
            <a:normAutofit/>
          </a:bodyPr>
          <a:lstStyle/>
          <a:p>
            <a:r>
              <a:rPr lang="en-US" altLang="en-US" sz="2400" dirty="0"/>
              <a:t>A queue of messages is attached to the link, and is implemented in one of three ways:</a:t>
            </a:r>
          </a:p>
          <a:p>
            <a:pPr marL="457200" indent="-457200">
              <a:buFont typeface="+mj-lt"/>
              <a:buAutoNum type="arabicPeriod"/>
            </a:pPr>
            <a:r>
              <a:rPr lang="en-US" altLang="en-US" sz="2400" dirty="0"/>
              <a:t>Zero capacity – no messages are queued on a link: the sender must wait for receiver (rendezvous)</a:t>
            </a:r>
          </a:p>
          <a:p>
            <a:pPr marL="457200" indent="-457200">
              <a:buFont typeface="+mj-lt"/>
              <a:buAutoNum type="arabicPeriod"/>
            </a:pPr>
            <a:r>
              <a:rPr lang="en-US" altLang="en-US" sz="2400" dirty="0"/>
              <a:t>Bounded capacity – finite length of n messages: the sender must wait if the link is full</a:t>
            </a:r>
          </a:p>
          <a:p>
            <a:pPr marL="457200" indent="-457200">
              <a:buFont typeface="+mj-lt"/>
              <a:buAutoNum type="arabicPeriod"/>
            </a:pPr>
            <a:r>
              <a:rPr lang="en-US" altLang="en-US" sz="2400" dirty="0"/>
              <a:t>Unbounded capacity – infinite length: the sender never waits</a:t>
            </a:r>
          </a:p>
        </p:txBody>
      </p:sp>
      <p:sp>
        <p:nvSpPr>
          <p:cNvPr id="2" name="Footer Placeholder 1"/>
          <p:cNvSpPr>
            <a:spLocks noGrp="1"/>
          </p:cNvSpPr>
          <p:nvPr>
            <p:ph type="ftr" sz="quarter" idx="11"/>
          </p:nvPr>
        </p:nvSpPr>
        <p:spPr/>
        <p:txBody>
          <a:bodyPr/>
          <a:lstStyle/>
          <a:p>
            <a:r>
              <a:rPr lang="en-US"/>
              <a:t>Operating Systems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44</a:t>
            </a:fld>
            <a:endParaRPr lang="en-US"/>
          </a:p>
        </p:txBody>
      </p:sp>
      <p:sp>
        <p:nvSpPr>
          <p:cNvPr id="8" name="Date Placeholder 7"/>
          <p:cNvSpPr>
            <a:spLocks noGrp="1"/>
          </p:cNvSpPr>
          <p:nvPr>
            <p:ph type="dt" sz="half" idx="10"/>
          </p:nvPr>
        </p:nvSpPr>
        <p:spPr/>
        <p:txBody>
          <a:bodyPr/>
          <a:lstStyle/>
          <a:p>
            <a:r>
              <a:rPr lang="en-US"/>
              <a:t>Vincenzo Gulisano</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Title 1"/>
          <p:cNvSpPr>
            <a:spLocks noGrp="1"/>
          </p:cNvSpPr>
          <p:nvPr>
            <p:ph type="title"/>
          </p:nvPr>
        </p:nvSpPr>
        <p:spPr/>
        <p:txBody>
          <a:bodyPr/>
          <a:lstStyle/>
          <a:p>
            <a:r>
              <a:rPr lang="en-US" altLang="en-US" dirty="0"/>
              <a:t>Examples of IPC Systems – Windows</a:t>
            </a:r>
          </a:p>
        </p:txBody>
      </p:sp>
      <p:sp>
        <p:nvSpPr>
          <p:cNvPr id="54275" name="Content Placeholder 2"/>
          <p:cNvSpPr>
            <a:spLocks noGrp="1"/>
          </p:cNvSpPr>
          <p:nvPr>
            <p:ph idx="1"/>
          </p:nvPr>
        </p:nvSpPr>
        <p:spPr/>
        <p:txBody>
          <a:bodyPr/>
          <a:lstStyle/>
          <a:p>
            <a:r>
              <a:rPr lang="en-US" altLang="en-US" dirty="0"/>
              <a:t>Message-passing centric via advanced local procedure call (ALPC) facility</a:t>
            </a:r>
          </a:p>
          <a:p>
            <a:pPr lvl="1"/>
            <a:endParaRPr lang="en-US" altLang="en-US" dirty="0"/>
          </a:p>
          <a:p>
            <a:r>
              <a:rPr lang="en-US" altLang="en-US" dirty="0"/>
              <a:t>Only works between processes on the same system</a:t>
            </a:r>
          </a:p>
          <a:p>
            <a:pPr lvl="1"/>
            <a:endParaRPr lang="en-US" altLang="en-US" dirty="0"/>
          </a:p>
          <a:p>
            <a:r>
              <a:rPr lang="en-US" altLang="en-US" dirty="0"/>
              <a:t>Uses ports (like mailboxes) to establish and maintain communication channels</a:t>
            </a:r>
          </a:p>
        </p:txBody>
      </p:sp>
      <p:sp>
        <p:nvSpPr>
          <p:cNvPr id="2" name="Footer Placeholder 1"/>
          <p:cNvSpPr>
            <a:spLocks noGrp="1"/>
          </p:cNvSpPr>
          <p:nvPr>
            <p:ph type="ftr" sz="quarter" idx="11"/>
          </p:nvPr>
        </p:nvSpPr>
        <p:spPr/>
        <p:txBody>
          <a:bodyPr/>
          <a:lstStyle/>
          <a:p>
            <a:r>
              <a:rPr lang="en-US"/>
              <a:t>Operating Systems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45</a:t>
            </a:fld>
            <a:endParaRPr lang="en-US"/>
          </a:p>
        </p:txBody>
      </p:sp>
      <p:sp>
        <p:nvSpPr>
          <p:cNvPr id="8" name="Date Placeholder 7"/>
          <p:cNvSpPr>
            <a:spLocks noGrp="1"/>
          </p:cNvSpPr>
          <p:nvPr>
            <p:ph type="dt" sz="half" idx="10"/>
          </p:nvPr>
        </p:nvSpPr>
        <p:spPr/>
        <p:txBody>
          <a:bodyPr/>
          <a:lstStyle/>
          <a:p>
            <a:r>
              <a:rPr lang="en-US"/>
              <a:t>Vincenzo Gulisano</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Title 1"/>
          <p:cNvSpPr>
            <a:spLocks noGrp="1"/>
          </p:cNvSpPr>
          <p:nvPr>
            <p:ph type="title"/>
          </p:nvPr>
        </p:nvSpPr>
        <p:spPr/>
        <p:txBody>
          <a:bodyPr/>
          <a:lstStyle/>
          <a:p>
            <a:r>
              <a:rPr lang="en-US" altLang="en-US"/>
              <a:t>Local Procedure Calls in Windows</a:t>
            </a:r>
          </a:p>
        </p:txBody>
      </p:sp>
      <p:sp>
        <p:nvSpPr>
          <p:cNvPr id="2" name="Footer Placeholder 1"/>
          <p:cNvSpPr>
            <a:spLocks noGrp="1"/>
          </p:cNvSpPr>
          <p:nvPr>
            <p:ph type="ftr" sz="quarter" idx="11"/>
          </p:nvPr>
        </p:nvSpPr>
        <p:spPr/>
        <p:txBody>
          <a:bodyPr/>
          <a:lstStyle/>
          <a:p>
            <a:r>
              <a:rPr lang="en-US"/>
              <a:t>Operating Systems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46</a:t>
            </a:fld>
            <a:endParaRPr lang="en-US"/>
          </a:p>
        </p:txBody>
      </p:sp>
      <p:pic>
        <p:nvPicPr>
          <p:cNvPr id="55299" name="Picture 4" descr="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79538" y="1830388"/>
            <a:ext cx="6567487" cy="3381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 name="Date Placeholder 7"/>
          <p:cNvSpPr>
            <a:spLocks noGrp="1"/>
          </p:cNvSpPr>
          <p:nvPr>
            <p:ph type="dt" sz="half" idx="10"/>
          </p:nvPr>
        </p:nvSpPr>
        <p:spPr/>
        <p:txBody>
          <a:bodyPr/>
          <a:lstStyle/>
          <a:p>
            <a:r>
              <a:rPr lang="en-US"/>
              <a:t>Vincenzo Gulisano</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Rectangle 2"/>
          <p:cNvSpPr>
            <a:spLocks noGrp="1" noChangeArrowheads="1"/>
          </p:cNvSpPr>
          <p:nvPr>
            <p:ph type="title"/>
          </p:nvPr>
        </p:nvSpPr>
        <p:spPr/>
        <p:txBody>
          <a:bodyPr/>
          <a:lstStyle/>
          <a:p>
            <a:r>
              <a:rPr lang="en-US" altLang="en-US"/>
              <a:t>Pipes</a:t>
            </a:r>
          </a:p>
        </p:txBody>
      </p:sp>
      <p:sp>
        <p:nvSpPr>
          <p:cNvPr id="63491" name="Rectangle 3"/>
          <p:cNvSpPr>
            <a:spLocks noGrp="1" noChangeArrowheads="1"/>
          </p:cNvSpPr>
          <p:nvPr>
            <p:ph type="body" idx="1"/>
          </p:nvPr>
        </p:nvSpPr>
        <p:spPr/>
        <p:txBody>
          <a:bodyPr/>
          <a:lstStyle/>
          <a:p>
            <a:r>
              <a:rPr lang="en-US" altLang="en-US" dirty="0"/>
              <a:t>Pipes act as a conduit allowing two processes to communicate</a:t>
            </a:r>
          </a:p>
          <a:p>
            <a:endParaRPr lang="en-US" altLang="en-US" dirty="0"/>
          </a:p>
          <a:p>
            <a:r>
              <a:rPr lang="en-US" altLang="en-US" dirty="0"/>
              <a:t>Ordinary pipes – usually used by a parent process to communicate with a child process that it created. </a:t>
            </a:r>
          </a:p>
          <a:p>
            <a:pPr lvl="1"/>
            <a:r>
              <a:rPr lang="en-US" altLang="en-US" dirty="0"/>
              <a:t>They can also be shared with grandchildren or other related processes that inherit those descriptors. On UNIX, a process may also pass a pipe file descriptor to another process through a UNIX-domain socket.</a:t>
            </a:r>
          </a:p>
          <a:p>
            <a:endParaRPr lang="en-US" altLang="en-US" dirty="0"/>
          </a:p>
          <a:p>
            <a:r>
              <a:rPr lang="en-US" altLang="en-US" dirty="0"/>
              <a:t>Named pipes – can be accessed in cases not covered by ordinary pipes (by name).</a:t>
            </a:r>
          </a:p>
          <a:p>
            <a:endParaRPr lang="en-US" altLang="en-US" dirty="0"/>
          </a:p>
          <a:p>
            <a:pPr lvl="1"/>
            <a:endParaRPr lang="en-US" altLang="en-US" dirty="0"/>
          </a:p>
        </p:txBody>
      </p:sp>
      <p:sp>
        <p:nvSpPr>
          <p:cNvPr id="2" name="Date Placeholder 1"/>
          <p:cNvSpPr>
            <a:spLocks noGrp="1"/>
          </p:cNvSpPr>
          <p:nvPr>
            <p:ph type="dt" sz="half" idx="10"/>
          </p:nvPr>
        </p:nvSpPr>
        <p:spPr/>
        <p:txBody>
          <a:bodyPr/>
          <a:lstStyle/>
          <a:p>
            <a:r>
              <a:rPr lang="en-US"/>
              <a:t>Vincenzo Gulisano</a:t>
            </a:r>
          </a:p>
        </p:txBody>
      </p:sp>
      <p:sp>
        <p:nvSpPr>
          <p:cNvPr id="3" name="Footer Placeholder 2"/>
          <p:cNvSpPr>
            <a:spLocks noGrp="1"/>
          </p:cNvSpPr>
          <p:nvPr>
            <p:ph type="ftr" sz="quarter" idx="11"/>
          </p:nvPr>
        </p:nvSpPr>
        <p:spPr/>
        <p:txBody>
          <a:bodyPr/>
          <a:lstStyle/>
          <a:p>
            <a:r>
              <a:rPr lang="en-US"/>
              <a:t>Operating Systems - Processes</a:t>
            </a:r>
          </a:p>
        </p:txBody>
      </p:sp>
      <p:sp>
        <p:nvSpPr>
          <p:cNvPr id="4" name="Slide Number Placeholder 3"/>
          <p:cNvSpPr>
            <a:spLocks noGrp="1"/>
          </p:cNvSpPr>
          <p:nvPr>
            <p:ph type="sldNum" sz="quarter" idx="12"/>
          </p:nvPr>
        </p:nvSpPr>
        <p:spPr/>
        <p:txBody>
          <a:bodyPr/>
          <a:lstStyle/>
          <a:p>
            <a:fld id="{95AAEEEC-DCEC-4178-AB14-E7254A15A296}" type="slidenum">
              <a:rPr lang="en-US" smtClean="0"/>
              <a:t>47</a:t>
            </a:fld>
            <a:endParaRPr lang="en-US"/>
          </a:p>
        </p:txBody>
      </p:sp>
    </p:spTree>
    <p:extLst>
      <p:ext uri="{BB962C8B-B14F-4D97-AF65-F5344CB8AC3E}">
        <p14:creationId xmlns:p14="http://schemas.microsoft.com/office/powerpoint/2010/main" val="335123939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Title 6"/>
          <p:cNvSpPr>
            <a:spLocks noGrp="1"/>
          </p:cNvSpPr>
          <p:nvPr>
            <p:ph type="title"/>
          </p:nvPr>
        </p:nvSpPr>
        <p:spPr>
          <a:xfrm>
            <a:off x="457200" y="130175"/>
            <a:ext cx="8229600" cy="576263"/>
          </a:xfrm>
        </p:spPr>
        <p:txBody>
          <a:bodyPr/>
          <a:lstStyle/>
          <a:p>
            <a:r>
              <a:rPr lang="en-US" altLang="en-US" dirty="0"/>
              <a:t>Ordinary Pipes</a:t>
            </a:r>
          </a:p>
        </p:txBody>
      </p:sp>
      <p:sp>
        <p:nvSpPr>
          <p:cNvPr id="54275" name="Content Placeholder 7"/>
          <p:cNvSpPr>
            <a:spLocks noGrp="1"/>
          </p:cNvSpPr>
          <p:nvPr>
            <p:ph idx="1"/>
          </p:nvPr>
        </p:nvSpPr>
        <p:spPr>
          <a:xfrm>
            <a:off x="822325" y="1138238"/>
            <a:ext cx="7612063" cy="4930775"/>
          </a:xfrm>
        </p:spPr>
        <p:txBody>
          <a:bodyPr>
            <a:normAutofit lnSpcReduction="10000"/>
          </a:bodyPr>
          <a:lstStyle/>
          <a:p>
            <a:pPr>
              <a:defRPr/>
            </a:pPr>
            <a:r>
              <a:rPr lang="en-US" dirty="0">
                <a:ea typeface="ＭＳ Ｐゴシック" charset="0"/>
                <a:cs typeface="ＭＳ Ｐゴシック" charset="0"/>
              </a:rPr>
              <a:t>Ordinary Pipes</a:t>
            </a:r>
            <a:r>
              <a:rPr lang="en-US" b="1" dirty="0">
                <a:ea typeface="ＭＳ Ｐゴシック" charset="0"/>
                <a:cs typeface="ＭＳ Ｐゴシック" charset="0"/>
              </a:rPr>
              <a:t> </a:t>
            </a:r>
            <a:r>
              <a:rPr lang="en-US" dirty="0">
                <a:ea typeface="ＭＳ Ｐゴシック" charset="0"/>
                <a:cs typeface="ＭＳ Ｐゴシック" charset="0"/>
              </a:rPr>
              <a:t>allow communication in standard producer-consumer style</a:t>
            </a:r>
          </a:p>
          <a:p>
            <a:pPr>
              <a:defRPr/>
            </a:pPr>
            <a:r>
              <a:rPr lang="en-US" dirty="0">
                <a:ea typeface="ＭＳ Ｐゴシック" charset="0"/>
                <a:cs typeface="ＭＳ Ｐゴシック" charset="0"/>
              </a:rPr>
              <a:t>Producer writes to one end (the </a:t>
            </a:r>
            <a:r>
              <a:rPr lang="en-US" b="1" dirty="0">
                <a:solidFill>
                  <a:srgbClr val="0000FF"/>
                </a:solidFill>
                <a:ea typeface="ＭＳ Ｐゴシック" charset="0"/>
                <a:cs typeface="ＭＳ Ｐゴシック" charset="0"/>
              </a:rPr>
              <a:t>write-end </a:t>
            </a:r>
            <a:r>
              <a:rPr lang="en-US" dirty="0">
                <a:ea typeface="ＭＳ Ｐゴシック" charset="0"/>
                <a:cs typeface="ＭＳ Ｐゴシック" charset="0"/>
              </a:rPr>
              <a:t>of the pipe)</a:t>
            </a:r>
          </a:p>
          <a:p>
            <a:pPr>
              <a:defRPr/>
            </a:pPr>
            <a:r>
              <a:rPr lang="en-US" dirty="0">
                <a:ea typeface="ＭＳ Ｐゴシック" charset="0"/>
                <a:cs typeface="ＭＳ Ｐゴシック" charset="0"/>
              </a:rPr>
              <a:t>Consumer reads from the other end (the </a:t>
            </a:r>
            <a:r>
              <a:rPr lang="en-US" b="1" dirty="0">
                <a:solidFill>
                  <a:srgbClr val="0000FF"/>
                </a:solidFill>
                <a:ea typeface="ＭＳ Ｐゴシック" charset="0"/>
                <a:cs typeface="ＭＳ Ｐゴシック" charset="0"/>
              </a:rPr>
              <a:t>read-end</a:t>
            </a:r>
            <a:r>
              <a:rPr lang="en-US" i="1" dirty="0">
                <a:ea typeface="ＭＳ Ｐゴシック" charset="0"/>
                <a:cs typeface="ＭＳ Ｐゴシック" charset="0"/>
              </a:rPr>
              <a:t> </a:t>
            </a:r>
            <a:r>
              <a:rPr lang="en-US" dirty="0">
                <a:ea typeface="ＭＳ Ｐゴシック" charset="0"/>
                <a:cs typeface="ＭＳ Ｐゴシック" charset="0"/>
              </a:rPr>
              <a:t>of the pipe)</a:t>
            </a:r>
          </a:p>
          <a:p>
            <a:pPr>
              <a:defRPr/>
            </a:pPr>
            <a:r>
              <a:rPr lang="en-US" dirty="0">
                <a:ea typeface="ＭＳ Ｐゴシック" charset="0"/>
                <a:cs typeface="ＭＳ Ｐゴシック" charset="0"/>
              </a:rPr>
              <a:t>Ordinary pipes are therefore unidirectional</a:t>
            </a:r>
          </a:p>
          <a:p>
            <a:pPr>
              <a:defRPr/>
            </a:pPr>
            <a:r>
              <a:rPr lang="en-US" dirty="0">
                <a:ea typeface="ＭＳ Ｐゴシック" charset="0"/>
                <a:cs typeface="ＭＳ Ｐゴシック" charset="0"/>
              </a:rPr>
              <a:t>Require parent-child relationship between communicating processes</a:t>
            </a:r>
          </a:p>
          <a:p>
            <a:pPr>
              <a:defRPr/>
            </a:pPr>
            <a:endParaRPr lang="en-US" dirty="0">
              <a:ea typeface="ＭＳ Ｐゴシック" charset="0"/>
              <a:cs typeface="ＭＳ Ｐゴシック" charset="0"/>
            </a:endParaRPr>
          </a:p>
          <a:p>
            <a:pPr>
              <a:defRPr/>
            </a:pPr>
            <a:endParaRPr lang="en-US" dirty="0">
              <a:ea typeface="ＭＳ Ｐゴシック" charset="0"/>
              <a:cs typeface="ＭＳ Ｐゴシック" charset="0"/>
            </a:endParaRPr>
          </a:p>
          <a:p>
            <a:pPr>
              <a:defRPr/>
            </a:pPr>
            <a:endParaRPr lang="en-US" dirty="0">
              <a:ea typeface="ＭＳ Ｐゴシック" charset="0"/>
              <a:cs typeface="ＭＳ Ｐゴシック" charset="0"/>
            </a:endParaRPr>
          </a:p>
          <a:p>
            <a:pPr>
              <a:defRPr/>
            </a:pPr>
            <a:endParaRPr lang="en-US" dirty="0">
              <a:ea typeface="ＭＳ Ｐゴシック" charset="0"/>
              <a:cs typeface="ＭＳ Ｐゴシック" charset="0"/>
            </a:endParaRPr>
          </a:p>
          <a:p>
            <a:pPr>
              <a:defRPr/>
            </a:pPr>
            <a:endParaRPr lang="en-US" dirty="0">
              <a:ea typeface="ＭＳ Ｐゴシック" charset="0"/>
              <a:cs typeface="ＭＳ Ｐゴシック" charset="0"/>
            </a:endParaRPr>
          </a:p>
          <a:p>
            <a:pPr>
              <a:defRPr/>
            </a:pPr>
            <a:endParaRPr lang="en-US" sz="800" dirty="0">
              <a:ea typeface="ＭＳ Ｐゴシック" charset="0"/>
              <a:cs typeface="ＭＳ Ｐゴシック" charset="0"/>
            </a:endParaRPr>
          </a:p>
          <a:p>
            <a:pPr>
              <a:defRPr/>
            </a:pPr>
            <a:r>
              <a:rPr lang="en-US" dirty="0">
                <a:ea typeface="ＭＳ Ｐゴシック" charset="0"/>
                <a:cs typeface="ＭＳ Ｐゴシック" charset="0"/>
              </a:rPr>
              <a:t>Windows calls these </a:t>
            </a:r>
            <a:r>
              <a:rPr lang="en-US" b="1" dirty="0">
                <a:solidFill>
                  <a:srgbClr val="0000FF"/>
                </a:solidFill>
                <a:ea typeface="ＭＳ Ｐゴシック" charset="0"/>
                <a:cs typeface="ＭＳ Ｐゴシック" charset="0"/>
              </a:rPr>
              <a:t>anonymous pipes</a:t>
            </a:r>
          </a:p>
          <a:p>
            <a:pPr>
              <a:defRPr/>
            </a:pPr>
            <a:r>
              <a:rPr lang="en-US" dirty="0">
                <a:ea typeface="ＭＳ Ｐゴシック" charset="0"/>
                <a:cs typeface="ＭＳ Ｐゴシック" charset="0"/>
              </a:rPr>
              <a:t>See Unix and Windows code samples in textbook</a:t>
            </a:r>
          </a:p>
          <a:p>
            <a:pPr>
              <a:defRPr/>
            </a:pPr>
            <a:endParaRPr lang="en-US" dirty="0">
              <a:ea typeface="ＭＳ Ｐゴシック" charset="0"/>
              <a:cs typeface="ＭＳ Ｐゴシック" charset="0"/>
            </a:endParaRPr>
          </a:p>
        </p:txBody>
      </p:sp>
      <p:pic>
        <p:nvPicPr>
          <p:cNvPr id="64516" name="Picture 4"/>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792288" y="3313113"/>
            <a:ext cx="5592762" cy="17033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Date Placeholder 1"/>
          <p:cNvSpPr>
            <a:spLocks noGrp="1"/>
          </p:cNvSpPr>
          <p:nvPr>
            <p:ph type="dt" sz="half" idx="10"/>
          </p:nvPr>
        </p:nvSpPr>
        <p:spPr/>
        <p:txBody>
          <a:bodyPr/>
          <a:lstStyle/>
          <a:p>
            <a:r>
              <a:rPr lang="en-US"/>
              <a:t>Vincenzo Gulisano</a:t>
            </a:r>
          </a:p>
        </p:txBody>
      </p:sp>
      <p:sp>
        <p:nvSpPr>
          <p:cNvPr id="3" name="Footer Placeholder 2"/>
          <p:cNvSpPr>
            <a:spLocks noGrp="1"/>
          </p:cNvSpPr>
          <p:nvPr>
            <p:ph type="ftr" sz="quarter" idx="11"/>
          </p:nvPr>
        </p:nvSpPr>
        <p:spPr/>
        <p:txBody>
          <a:bodyPr/>
          <a:lstStyle/>
          <a:p>
            <a:r>
              <a:rPr lang="en-US"/>
              <a:t>Operating Systems - Processes</a:t>
            </a:r>
          </a:p>
        </p:txBody>
      </p:sp>
      <p:sp>
        <p:nvSpPr>
          <p:cNvPr id="4" name="Slide Number Placeholder 3"/>
          <p:cNvSpPr>
            <a:spLocks noGrp="1"/>
          </p:cNvSpPr>
          <p:nvPr>
            <p:ph type="sldNum" sz="quarter" idx="12"/>
          </p:nvPr>
        </p:nvSpPr>
        <p:spPr/>
        <p:txBody>
          <a:bodyPr/>
          <a:lstStyle/>
          <a:p>
            <a:fld id="{95AAEEEC-DCEC-4178-AB14-E7254A15A296}" type="slidenum">
              <a:rPr lang="en-US" smtClean="0"/>
              <a:t>48</a:t>
            </a:fld>
            <a:endParaRPr lang="en-US"/>
          </a:p>
        </p:txBody>
      </p:sp>
    </p:spTree>
    <p:extLst>
      <p:ext uri="{BB962C8B-B14F-4D97-AF65-F5344CB8AC3E}">
        <p14:creationId xmlns:p14="http://schemas.microsoft.com/office/powerpoint/2010/main" val="124575600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Title 6"/>
          <p:cNvSpPr>
            <a:spLocks noGrp="1"/>
          </p:cNvSpPr>
          <p:nvPr>
            <p:ph type="title"/>
          </p:nvPr>
        </p:nvSpPr>
        <p:spPr>
          <a:xfrm>
            <a:off x="473075" y="152400"/>
            <a:ext cx="8229600" cy="576263"/>
          </a:xfrm>
        </p:spPr>
        <p:txBody>
          <a:bodyPr/>
          <a:lstStyle/>
          <a:p>
            <a:r>
              <a:rPr lang="en-US" altLang="en-US"/>
              <a:t>Named Pipes</a:t>
            </a:r>
          </a:p>
        </p:txBody>
      </p:sp>
      <p:sp>
        <p:nvSpPr>
          <p:cNvPr id="65539" name="Content Placeholder 7"/>
          <p:cNvSpPr>
            <a:spLocks noGrp="1"/>
          </p:cNvSpPr>
          <p:nvPr>
            <p:ph idx="1"/>
          </p:nvPr>
        </p:nvSpPr>
        <p:spPr>
          <a:xfrm>
            <a:off x="806450" y="1233488"/>
            <a:ext cx="7061200" cy="4530725"/>
          </a:xfrm>
        </p:spPr>
        <p:txBody>
          <a:bodyPr/>
          <a:lstStyle/>
          <a:p>
            <a:r>
              <a:rPr lang="en-US" altLang="en-US" dirty="0"/>
              <a:t>Named Pipes are more powerful than ordinary pipes</a:t>
            </a:r>
          </a:p>
          <a:p>
            <a:r>
              <a:rPr lang="en-US" altLang="en-US" dirty="0"/>
              <a:t>Communication is bidirectional</a:t>
            </a:r>
          </a:p>
          <a:p>
            <a:r>
              <a:rPr lang="en-US" altLang="en-US" dirty="0"/>
              <a:t>No parent-child relationship is necessary between the communicating processes</a:t>
            </a:r>
          </a:p>
          <a:p>
            <a:r>
              <a:rPr lang="en-US" altLang="en-US" dirty="0"/>
              <a:t>Several processes can use the named pipe for communication</a:t>
            </a:r>
          </a:p>
          <a:p>
            <a:r>
              <a:rPr lang="en-US" altLang="en-US" dirty="0"/>
              <a:t>Named pipes are provided on both UNIX and Windows systems</a:t>
            </a:r>
          </a:p>
          <a:p>
            <a:endParaRPr lang="en-US" altLang="en-US" dirty="0"/>
          </a:p>
        </p:txBody>
      </p:sp>
      <p:sp>
        <p:nvSpPr>
          <p:cNvPr id="2" name="Date Placeholder 1"/>
          <p:cNvSpPr>
            <a:spLocks noGrp="1"/>
          </p:cNvSpPr>
          <p:nvPr>
            <p:ph type="dt" sz="half" idx="10"/>
          </p:nvPr>
        </p:nvSpPr>
        <p:spPr/>
        <p:txBody>
          <a:bodyPr/>
          <a:lstStyle/>
          <a:p>
            <a:r>
              <a:rPr lang="en-US"/>
              <a:t>Vincenzo Gulisano</a:t>
            </a:r>
          </a:p>
        </p:txBody>
      </p:sp>
      <p:sp>
        <p:nvSpPr>
          <p:cNvPr id="3" name="Footer Placeholder 2"/>
          <p:cNvSpPr>
            <a:spLocks noGrp="1"/>
          </p:cNvSpPr>
          <p:nvPr>
            <p:ph type="ftr" sz="quarter" idx="11"/>
          </p:nvPr>
        </p:nvSpPr>
        <p:spPr/>
        <p:txBody>
          <a:bodyPr/>
          <a:lstStyle/>
          <a:p>
            <a:r>
              <a:rPr lang="en-US"/>
              <a:t>Operating Systems - Processes</a:t>
            </a:r>
          </a:p>
        </p:txBody>
      </p:sp>
      <p:sp>
        <p:nvSpPr>
          <p:cNvPr id="4" name="Slide Number Placeholder 3"/>
          <p:cNvSpPr>
            <a:spLocks noGrp="1"/>
          </p:cNvSpPr>
          <p:nvPr>
            <p:ph type="sldNum" sz="quarter" idx="12"/>
          </p:nvPr>
        </p:nvSpPr>
        <p:spPr/>
        <p:txBody>
          <a:bodyPr/>
          <a:lstStyle/>
          <a:p>
            <a:fld id="{95AAEEEC-DCEC-4178-AB14-E7254A15A296}" type="slidenum">
              <a:rPr lang="en-US" smtClean="0"/>
              <a:t>49</a:t>
            </a:fld>
            <a:endParaRPr lang="en-US"/>
          </a:p>
        </p:txBody>
      </p:sp>
    </p:spTree>
    <p:extLst>
      <p:ext uri="{BB962C8B-B14F-4D97-AF65-F5344CB8AC3E}">
        <p14:creationId xmlns:p14="http://schemas.microsoft.com/office/powerpoint/2010/main" val="63901241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Pipes in UNIX</a:t>
            </a:r>
          </a:p>
        </p:txBody>
      </p:sp>
      <p:sp>
        <p:nvSpPr>
          <p:cNvPr id="3" name="Content Placeholder 2"/>
          <p:cNvSpPr>
            <a:spLocks noGrp="1"/>
          </p:cNvSpPr>
          <p:nvPr>
            <p:ph idx="1"/>
          </p:nvPr>
        </p:nvSpPr>
        <p:spPr/>
        <p:txBody>
          <a:bodyPr/>
          <a:lstStyle/>
          <a:p>
            <a:r>
              <a:rPr lang="en-US" dirty="0"/>
              <a:t>Send the output of one command to the input of another command</a:t>
            </a:r>
          </a:p>
        </p:txBody>
      </p:sp>
      <p:sp>
        <p:nvSpPr>
          <p:cNvPr id="4" name="Date Placeholder 3"/>
          <p:cNvSpPr>
            <a:spLocks noGrp="1"/>
          </p:cNvSpPr>
          <p:nvPr>
            <p:ph type="dt" sz="half" idx="10"/>
          </p:nvPr>
        </p:nvSpPr>
        <p:spPr/>
        <p:txBody>
          <a:bodyPr/>
          <a:lstStyle/>
          <a:p>
            <a:r>
              <a:rPr lang="en-US"/>
              <a:t>Vincenzo Gulisano</a:t>
            </a:r>
          </a:p>
        </p:txBody>
      </p:sp>
      <p:sp>
        <p:nvSpPr>
          <p:cNvPr id="5" name="Footer Placeholder 4"/>
          <p:cNvSpPr>
            <a:spLocks noGrp="1"/>
          </p:cNvSpPr>
          <p:nvPr>
            <p:ph type="ftr" sz="quarter" idx="11"/>
          </p:nvPr>
        </p:nvSpPr>
        <p:spPr/>
        <p:txBody>
          <a:bodyPr/>
          <a:lstStyle/>
          <a:p>
            <a:r>
              <a:rPr lang="en-US"/>
              <a:t>Operating Systems - Processes</a:t>
            </a:r>
          </a:p>
        </p:txBody>
      </p:sp>
      <p:sp>
        <p:nvSpPr>
          <p:cNvPr id="6" name="Slide Number Placeholder 5"/>
          <p:cNvSpPr>
            <a:spLocks noGrp="1"/>
          </p:cNvSpPr>
          <p:nvPr>
            <p:ph type="sldNum" sz="quarter" idx="12"/>
          </p:nvPr>
        </p:nvSpPr>
        <p:spPr/>
        <p:txBody>
          <a:bodyPr/>
          <a:lstStyle/>
          <a:p>
            <a:fld id="{95AAEEEC-DCEC-4178-AB14-E7254A15A296}" type="slidenum">
              <a:rPr lang="en-US" smtClean="0"/>
              <a:t>50</a:t>
            </a:fld>
            <a:endParaRPr lang="en-US"/>
          </a:p>
        </p:txBody>
      </p:sp>
      <p:sp>
        <p:nvSpPr>
          <p:cNvPr id="7" name="Rectangle 6"/>
          <p:cNvSpPr/>
          <p:nvPr/>
        </p:nvSpPr>
        <p:spPr>
          <a:xfrm>
            <a:off x="3557138" y="3244334"/>
            <a:ext cx="2855269" cy="369332"/>
          </a:xfrm>
          <a:prstGeom prst="rect">
            <a:avLst/>
          </a:prstGeom>
        </p:spPr>
        <p:txBody>
          <a:bodyPr wrap="none">
            <a:spAutoFit/>
          </a:bodyPr>
          <a:lstStyle/>
          <a:p>
            <a:r>
              <a:rPr lang="en-US" dirty="0" err="1"/>
              <a:t>ls</a:t>
            </a:r>
            <a:r>
              <a:rPr lang="en-US" dirty="0"/>
              <a:t> -la | </a:t>
            </a:r>
            <a:r>
              <a:rPr lang="en-US" dirty="0" err="1"/>
              <a:t>grep</a:t>
            </a:r>
            <a:r>
              <a:rPr lang="en-US" dirty="0"/>
              <a:t> &lt;pattern&gt;</a:t>
            </a:r>
          </a:p>
        </p:txBody>
      </p:sp>
      <p:sp>
        <p:nvSpPr>
          <p:cNvPr id="8" name="Rectangle 7"/>
          <p:cNvSpPr/>
          <p:nvPr/>
        </p:nvSpPr>
        <p:spPr>
          <a:xfrm>
            <a:off x="765987" y="4120449"/>
            <a:ext cx="2791149" cy="369332"/>
          </a:xfrm>
          <a:prstGeom prst="rect">
            <a:avLst/>
          </a:prstGeom>
        </p:spPr>
        <p:txBody>
          <a:bodyPr wrap="none">
            <a:spAutoFit/>
          </a:bodyPr>
          <a:lstStyle/>
          <a:p>
            <a:r>
              <a:rPr lang="en-US" dirty="0"/>
              <a:t> list directory contents</a:t>
            </a:r>
          </a:p>
        </p:txBody>
      </p:sp>
      <p:sp>
        <p:nvSpPr>
          <p:cNvPr id="9" name="Rectangle 8"/>
          <p:cNvSpPr/>
          <p:nvPr/>
        </p:nvSpPr>
        <p:spPr>
          <a:xfrm>
            <a:off x="1464599" y="4790912"/>
            <a:ext cx="4408579" cy="369332"/>
          </a:xfrm>
          <a:prstGeom prst="rect">
            <a:avLst/>
          </a:prstGeom>
        </p:spPr>
        <p:txBody>
          <a:bodyPr wrap="none">
            <a:spAutoFit/>
          </a:bodyPr>
          <a:lstStyle/>
          <a:p>
            <a:r>
              <a:rPr lang="en-US" dirty="0"/>
              <a:t> do not ignore entries starting with .</a:t>
            </a:r>
          </a:p>
        </p:txBody>
      </p:sp>
      <p:sp>
        <p:nvSpPr>
          <p:cNvPr id="10" name="Rectangle 9"/>
          <p:cNvSpPr/>
          <p:nvPr/>
        </p:nvSpPr>
        <p:spPr>
          <a:xfrm>
            <a:off x="1558032" y="2465401"/>
            <a:ext cx="3013967" cy="369332"/>
          </a:xfrm>
          <a:prstGeom prst="rect">
            <a:avLst/>
          </a:prstGeom>
        </p:spPr>
        <p:txBody>
          <a:bodyPr wrap="none">
            <a:spAutoFit/>
          </a:bodyPr>
          <a:lstStyle/>
          <a:p>
            <a:r>
              <a:rPr lang="en-US" dirty="0"/>
              <a:t>use a long listing format</a:t>
            </a:r>
          </a:p>
        </p:txBody>
      </p:sp>
      <p:sp>
        <p:nvSpPr>
          <p:cNvPr id="11" name="Rectangle 10"/>
          <p:cNvSpPr/>
          <p:nvPr/>
        </p:nvSpPr>
        <p:spPr>
          <a:xfrm>
            <a:off x="4875816" y="4202289"/>
            <a:ext cx="3727302" cy="369332"/>
          </a:xfrm>
          <a:prstGeom prst="rect">
            <a:avLst/>
          </a:prstGeom>
        </p:spPr>
        <p:txBody>
          <a:bodyPr wrap="none">
            <a:spAutoFit/>
          </a:bodyPr>
          <a:lstStyle/>
          <a:p>
            <a:r>
              <a:rPr lang="en-US" dirty="0"/>
              <a:t> print lines matching a pattern</a:t>
            </a:r>
          </a:p>
        </p:txBody>
      </p:sp>
      <p:cxnSp>
        <p:nvCxnSpPr>
          <p:cNvPr id="13" name="Straight Arrow Connector 12"/>
          <p:cNvCxnSpPr/>
          <p:nvPr/>
        </p:nvCxnSpPr>
        <p:spPr>
          <a:xfrm flipV="1">
            <a:off x="3307644" y="3613666"/>
            <a:ext cx="361245" cy="506783"/>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p:nvPr/>
        </p:nvCxnSpPr>
        <p:spPr>
          <a:xfrm>
            <a:off x="3716866" y="2834733"/>
            <a:ext cx="256823" cy="409601"/>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flipV="1">
            <a:off x="3973689" y="3613666"/>
            <a:ext cx="169333" cy="117724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2" name="Straight Arrow Connector 21"/>
          <p:cNvCxnSpPr/>
          <p:nvPr/>
        </p:nvCxnSpPr>
        <p:spPr>
          <a:xfrm flipH="1" flipV="1">
            <a:off x="4875816" y="3613666"/>
            <a:ext cx="317071" cy="659183"/>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5" name="Straight Arrow Connector 24"/>
          <p:cNvCxnSpPr/>
          <p:nvPr/>
        </p:nvCxnSpPr>
        <p:spPr>
          <a:xfrm flipH="1">
            <a:off x="4316588" y="2834733"/>
            <a:ext cx="668184" cy="40960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27" name="Rectangle 26"/>
          <p:cNvSpPr/>
          <p:nvPr/>
        </p:nvSpPr>
        <p:spPr>
          <a:xfrm>
            <a:off x="4822433" y="2465401"/>
            <a:ext cx="740908" cy="369332"/>
          </a:xfrm>
          <a:prstGeom prst="rect">
            <a:avLst/>
          </a:prstGeom>
        </p:spPr>
        <p:txBody>
          <a:bodyPr wrap="none">
            <a:spAutoFit/>
          </a:bodyPr>
          <a:lstStyle/>
          <a:p>
            <a:r>
              <a:rPr lang="en-US" b="1" dirty="0">
                <a:solidFill>
                  <a:srgbClr val="FF0000"/>
                </a:solidFill>
              </a:rPr>
              <a:t>pipe</a:t>
            </a:r>
          </a:p>
        </p:txBody>
      </p:sp>
    </p:spTree>
    <p:extLst>
      <p:ext uri="{BB962C8B-B14F-4D97-AF65-F5344CB8AC3E}">
        <p14:creationId xmlns:p14="http://schemas.microsoft.com/office/powerpoint/2010/main" val="375927933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Pipes in UNIX</a:t>
            </a:r>
          </a:p>
        </p:txBody>
      </p:sp>
      <p:sp>
        <p:nvSpPr>
          <p:cNvPr id="4" name="Date Placeholder 3"/>
          <p:cNvSpPr>
            <a:spLocks noGrp="1"/>
          </p:cNvSpPr>
          <p:nvPr>
            <p:ph type="dt" sz="half" idx="10"/>
          </p:nvPr>
        </p:nvSpPr>
        <p:spPr/>
        <p:txBody>
          <a:bodyPr/>
          <a:lstStyle/>
          <a:p>
            <a:r>
              <a:rPr lang="en-US"/>
              <a:t>Vincenzo Gulisano</a:t>
            </a:r>
          </a:p>
        </p:txBody>
      </p:sp>
      <p:sp>
        <p:nvSpPr>
          <p:cNvPr id="5" name="Footer Placeholder 4"/>
          <p:cNvSpPr>
            <a:spLocks noGrp="1"/>
          </p:cNvSpPr>
          <p:nvPr>
            <p:ph type="ftr" sz="quarter" idx="11"/>
          </p:nvPr>
        </p:nvSpPr>
        <p:spPr/>
        <p:txBody>
          <a:bodyPr/>
          <a:lstStyle/>
          <a:p>
            <a:r>
              <a:rPr lang="en-US"/>
              <a:t>Operating Systems - Processes</a:t>
            </a:r>
          </a:p>
        </p:txBody>
      </p:sp>
      <p:sp>
        <p:nvSpPr>
          <p:cNvPr id="6" name="Slide Number Placeholder 5"/>
          <p:cNvSpPr>
            <a:spLocks noGrp="1"/>
          </p:cNvSpPr>
          <p:nvPr>
            <p:ph type="sldNum" sz="quarter" idx="12"/>
          </p:nvPr>
        </p:nvSpPr>
        <p:spPr/>
        <p:txBody>
          <a:bodyPr/>
          <a:lstStyle/>
          <a:p>
            <a:fld id="{95AAEEEC-DCEC-4178-AB14-E7254A15A296}" type="slidenum">
              <a:rPr lang="en-US" smtClean="0"/>
              <a:t>51</a:t>
            </a:fld>
            <a:endParaRPr lang="en-US"/>
          </a:p>
        </p:txBody>
      </p:sp>
      <p:pic>
        <p:nvPicPr>
          <p:cNvPr id="7171"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5800" y="2330097"/>
            <a:ext cx="3886200" cy="33718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9" name="Rectangle 8"/>
          <p:cNvSpPr/>
          <p:nvPr/>
        </p:nvSpPr>
        <p:spPr>
          <a:xfrm>
            <a:off x="685800" y="1933928"/>
            <a:ext cx="756938" cy="369332"/>
          </a:xfrm>
          <a:prstGeom prst="rect">
            <a:avLst/>
          </a:prstGeom>
        </p:spPr>
        <p:txBody>
          <a:bodyPr wrap="none">
            <a:spAutoFit/>
          </a:bodyPr>
          <a:lstStyle/>
          <a:p>
            <a:r>
              <a:rPr lang="en-US" dirty="0" err="1"/>
              <a:t>ls</a:t>
            </a:r>
            <a:r>
              <a:rPr lang="en-US" dirty="0"/>
              <a:t> -la</a:t>
            </a:r>
          </a:p>
        </p:txBody>
      </p:sp>
      <p:pic>
        <p:nvPicPr>
          <p:cNvPr id="7172" name="Picture 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909255" y="2330097"/>
            <a:ext cx="3886200" cy="46672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7" name="Rectangle 6"/>
          <p:cNvSpPr/>
          <p:nvPr/>
        </p:nvSpPr>
        <p:spPr>
          <a:xfrm>
            <a:off x="4909255" y="1933928"/>
            <a:ext cx="2029723" cy="369332"/>
          </a:xfrm>
          <a:prstGeom prst="rect">
            <a:avLst/>
          </a:prstGeom>
        </p:spPr>
        <p:txBody>
          <a:bodyPr wrap="none">
            <a:spAutoFit/>
          </a:bodyPr>
          <a:lstStyle/>
          <a:p>
            <a:r>
              <a:rPr lang="en-US" dirty="0" err="1"/>
              <a:t>ls</a:t>
            </a:r>
            <a:r>
              <a:rPr lang="en-US" dirty="0"/>
              <a:t> -la | </a:t>
            </a:r>
            <a:r>
              <a:rPr lang="en-US" dirty="0" err="1"/>
              <a:t>grep</a:t>
            </a:r>
            <a:r>
              <a:rPr lang="en-US" dirty="0"/>
              <a:t> Apr</a:t>
            </a:r>
          </a:p>
        </p:txBody>
      </p:sp>
    </p:spTree>
    <p:extLst>
      <p:ext uri="{BB962C8B-B14F-4D97-AF65-F5344CB8AC3E}">
        <p14:creationId xmlns:p14="http://schemas.microsoft.com/office/powerpoint/2010/main" val="158783878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Ordinary Pipes - example</a:t>
            </a:r>
          </a:p>
        </p:txBody>
      </p:sp>
      <p:sp>
        <p:nvSpPr>
          <p:cNvPr id="4" name="Date Placeholder 3"/>
          <p:cNvSpPr>
            <a:spLocks noGrp="1"/>
          </p:cNvSpPr>
          <p:nvPr>
            <p:ph type="dt" sz="half" idx="10"/>
          </p:nvPr>
        </p:nvSpPr>
        <p:spPr/>
        <p:txBody>
          <a:bodyPr/>
          <a:lstStyle/>
          <a:p>
            <a:r>
              <a:rPr lang="en-US"/>
              <a:t>Vincenzo Gulisano</a:t>
            </a:r>
          </a:p>
        </p:txBody>
      </p:sp>
      <p:sp>
        <p:nvSpPr>
          <p:cNvPr id="5" name="Footer Placeholder 4"/>
          <p:cNvSpPr>
            <a:spLocks noGrp="1"/>
          </p:cNvSpPr>
          <p:nvPr>
            <p:ph type="ftr" sz="quarter" idx="11"/>
          </p:nvPr>
        </p:nvSpPr>
        <p:spPr/>
        <p:txBody>
          <a:bodyPr/>
          <a:lstStyle/>
          <a:p>
            <a:r>
              <a:rPr lang="en-US"/>
              <a:t>Operating Systems - Processes</a:t>
            </a:r>
          </a:p>
        </p:txBody>
      </p:sp>
      <p:sp>
        <p:nvSpPr>
          <p:cNvPr id="6" name="Slide Number Placeholder 5"/>
          <p:cNvSpPr>
            <a:spLocks noGrp="1"/>
          </p:cNvSpPr>
          <p:nvPr>
            <p:ph type="sldNum" sz="quarter" idx="12"/>
          </p:nvPr>
        </p:nvSpPr>
        <p:spPr/>
        <p:txBody>
          <a:bodyPr/>
          <a:lstStyle/>
          <a:p>
            <a:fld id="{95AAEEEC-DCEC-4178-AB14-E7254A15A296}" type="slidenum">
              <a:rPr lang="en-US" smtClean="0"/>
              <a:t>52</a:t>
            </a:fld>
            <a:endParaRPr lang="en-US"/>
          </a:p>
        </p:txBody>
      </p:sp>
      <p:sp>
        <p:nvSpPr>
          <p:cNvPr id="9" name="Rectangle 8"/>
          <p:cNvSpPr/>
          <p:nvPr/>
        </p:nvSpPr>
        <p:spPr>
          <a:xfrm>
            <a:off x="0" y="1541753"/>
            <a:ext cx="9144000" cy="2650726"/>
          </a:xfrm>
          <a:prstGeom prst="rect">
            <a:avLst/>
          </a:prstGeom>
        </p:spPr>
        <p:txBody>
          <a:bodyPr wrap="square">
            <a:spAutoFit/>
          </a:bodyPr>
          <a:lstStyle/>
          <a:p>
            <a:pPr marL="685800">
              <a:lnSpc>
                <a:spcPct val="150000"/>
              </a:lnSpc>
            </a:pPr>
            <a:r>
              <a:rPr lang="en-US" sz="1400" dirty="0">
                <a:latin typeface="Courier New" panose="02070309020205020404" pitchFamily="49" charset="0"/>
              </a:rPr>
              <a:t>#include &lt;</a:t>
            </a:r>
            <a:r>
              <a:rPr lang="en-US" sz="1400" dirty="0" err="1">
                <a:latin typeface="Courier New" panose="02070309020205020404" pitchFamily="49" charset="0"/>
              </a:rPr>
              <a:t>stdio.h</a:t>
            </a:r>
            <a:r>
              <a:rPr lang="en-US" sz="1400" dirty="0">
                <a:latin typeface="Courier New" panose="02070309020205020404" pitchFamily="49" charset="0"/>
              </a:rPr>
              <a:t>&gt;</a:t>
            </a:r>
          </a:p>
          <a:p>
            <a:pPr marL="685800">
              <a:lnSpc>
                <a:spcPct val="150000"/>
              </a:lnSpc>
            </a:pPr>
            <a:r>
              <a:rPr lang="en-US" sz="1400" dirty="0">
                <a:latin typeface="Courier New" panose="02070309020205020404" pitchFamily="49" charset="0"/>
              </a:rPr>
              <a:t>#include &lt;</a:t>
            </a:r>
            <a:r>
              <a:rPr lang="en-US" sz="1400" dirty="0" err="1">
                <a:latin typeface="Courier New" panose="02070309020205020404" pitchFamily="49" charset="0"/>
              </a:rPr>
              <a:t>unistd.h</a:t>
            </a:r>
            <a:r>
              <a:rPr lang="en-US" sz="1400" dirty="0">
                <a:latin typeface="Courier New" panose="02070309020205020404" pitchFamily="49" charset="0"/>
              </a:rPr>
              <a:t>&gt;</a:t>
            </a:r>
          </a:p>
          <a:p>
            <a:pPr marL="685800">
              <a:lnSpc>
                <a:spcPct val="150000"/>
              </a:lnSpc>
            </a:pPr>
            <a:r>
              <a:rPr lang="en-US" sz="1400" dirty="0">
                <a:latin typeface="Courier New" panose="02070309020205020404" pitchFamily="49" charset="0"/>
              </a:rPr>
              <a:t>#include &lt;sys/</a:t>
            </a:r>
            <a:r>
              <a:rPr lang="en-US" sz="1400" dirty="0" err="1">
                <a:latin typeface="Courier New" panose="02070309020205020404" pitchFamily="49" charset="0"/>
              </a:rPr>
              <a:t>types.h</a:t>
            </a:r>
            <a:r>
              <a:rPr lang="en-US" sz="1400" dirty="0">
                <a:latin typeface="Courier New" panose="02070309020205020404" pitchFamily="49" charset="0"/>
              </a:rPr>
              <a:t>&gt;</a:t>
            </a:r>
          </a:p>
          <a:p>
            <a:pPr marL="685800">
              <a:lnSpc>
                <a:spcPct val="150000"/>
              </a:lnSpc>
            </a:pPr>
            <a:r>
              <a:rPr lang="en-US" sz="1400" dirty="0">
                <a:latin typeface="Courier New" panose="02070309020205020404" pitchFamily="49" charset="0"/>
              </a:rPr>
              <a:t>#include &lt;</a:t>
            </a:r>
            <a:r>
              <a:rPr lang="en-US" sz="1400" dirty="0" err="1">
                <a:latin typeface="Courier New" panose="02070309020205020404" pitchFamily="49" charset="0"/>
              </a:rPr>
              <a:t>string.h</a:t>
            </a:r>
            <a:r>
              <a:rPr lang="en-US" sz="1400" dirty="0">
                <a:latin typeface="Courier New" panose="02070309020205020404" pitchFamily="49" charset="0"/>
              </a:rPr>
              <a:t>&gt;</a:t>
            </a:r>
          </a:p>
          <a:p>
            <a:pPr marL="685800">
              <a:lnSpc>
                <a:spcPct val="150000"/>
              </a:lnSpc>
            </a:pPr>
            <a:endParaRPr lang="en-US" sz="1400" dirty="0">
              <a:latin typeface="Courier New" panose="02070309020205020404" pitchFamily="49" charset="0"/>
            </a:endParaRPr>
          </a:p>
          <a:p>
            <a:pPr marL="685800">
              <a:lnSpc>
                <a:spcPct val="150000"/>
              </a:lnSpc>
            </a:pPr>
            <a:r>
              <a:rPr lang="en-US" sz="1400" dirty="0">
                <a:latin typeface="Courier New" panose="02070309020205020404" pitchFamily="49" charset="0"/>
              </a:rPr>
              <a:t>#define BUFFER_SIZE 25</a:t>
            </a:r>
          </a:p>
          <a:p>
            <a:pPr marL="685800">
              <a:lnSpc>
                <a:spcPct val="150000"/>
              </a:lnSpc>
            </a:pPr>
            <a:r>
              <a:rPr lang="en-US" sz="1400" dirty="0">
                <a:latin typeface="Courier New" panose="02070309020205020404" pitchFamily="49" charset="0"/>
              </a:rPr>
              <a:t>#define READ_END	0</a:t>
            </a:r>
          </a:p>
          <a:p>
            <a:pPr marL="685800">
              <a:lnSpc>
                <a:spcPct val="150000"/>
              </a:lnSpc>
            </a:pPr>
            <a:r>
              <a:rPr lang="en-US" sz="1400" dirty="0">
                <a:latin typeface="Courier New" panose="02070309020205020404" pitchFamily="49" charset="0"/>
              </a:rPr>
              <a:t>#define WRITE_END	1</a:t>
            </a:r>
          </a:p>
        </p:txBody>
      </p:sp>
    </p:spTree>
    <p:extLst>
      <p:ext uri="{BB962C8B-B14F-4D97-AF65-F5344CB8AC3E}">
        <p14:creationId xmlns:p14="http://schemas.microsoft.com/office/powerpoint/2010/main" val="363296240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Ordinary Pipes - example</a:t>
            </a:r>
          </a:p>
        </p:txBody>
      </p:sp>
      <p:sp>
        <p:nvSpPr>
          <p:cNvPr id="4" name="Date Placeholder 3"/>
          <p:cNvSpPr>
            <a:spLocks noGrp="1"/>
          </p:cNvSpPr>
          <p:nvPr>
            <p:ph type="dt" sz="half" idx="10"/>
          </p:nvPr>
        </p:nvSpPr>
        <p:spPr/>
        <p:txBody>
          <a:bodyPr/>
          <a:lstStyle/>
          <a:p>
            <a:r>
              <a:rPr lang="en-US"/>
              <a:t>Vincenzo Gulisano</a:t>
            </a:r>
          </a:p>
        </p:txBody>
      </p:sp>
      <p:sp>
        <p:nvSpPr>
          <p:cNvPr id="5" name="Footer Placeholder 4"/>
          <p:cNvSpPr>
            <a:spLocks noGrp="1"/>
          </p:cNvSpPr>
          <p:nvPr>
            <p:ph type="ftr" sz="quarter" idx="11"/>
          </p:nvPr>
        </p:nvSpPr>
        <p:spPr/>
        <p:txBody>
          <a:bodyPr/>
          <a:lstStyle/>
          <a:p>
            <a:r>
              <a:rPr lang="en-US"/>
              <a:t>Operating Systems - Processes</a:t>
            </a:r>
          </a:p>
        </p:txBody>
      </p:sp>
      <p:sp>
        <p:nvSpPr>
          <p:cNvPr id="6" name="Slide Number Placeholder 5"/>
          <p:cNvSpPr>
            <a:spLocks noGrp="1"/>
          </p:cNvSpPr>
          <p:nvPr>
            <p:ph type="sldNum" sz="quarter" idx="12"/>
          </p:nvPr>
        </p:nvSpPr>
        <p:spPr/>
        <p:txBody>
          <a:bodyPr/>
          <a:lstStyle/>
          <a:p>
            <a:fld id="{95AAEEEC-DCEC-4178-AB14-E7254A15A296}" type="slidenum">
              <a:rPr lang="en-US" smtClean="0"/>
              <a:t>53</a:t>
            </a:fld>
            <a:endParaRPr lang="en-US"/>
          </a:p>
        </p:txBody>
      </p:sp>
      <p:sp>
        <p:nvSpPr>
          <p:cNvPr id="9" name="Rectangle 8"/>
          <p:cNvSpPr/>
          <p:nvPr/>
        </p:nvSpPr>
        <p:spPr>
          <a:xfrm>
            <a:off x="1" y="1562831"/>
            <a:ext cx="9143999" cy="3877985"/>
          </a:xfrm>
          <a:prstGeom prst="rect">
            <a:avLst/>
          </a:prstGeom>
        </p:spPr>
        <p:txBody>
          <a:bodyPr wrap="square">
            <a:spAutoFit/>
          </a:bodyPr>
          <a:lstStyle/>
          <a:p>
            <a:pPr marL="1028700" indent="-342900">
              <a:buFont typeface="+mj-lt"/>
              <a:buAutoNum type="arabicPeriod"/>
            </a:pPr>
            <a:r>
              <a:rPr lang="en-US" sz="1600" dirty="0" err="1">
                <a:latin typeface="Courier New" panose="02070309020205020404" pitchFamily="49" charset="0"/>
              </a:rPr>
              <a:t>int</a:t>
            </a:r>
            <a:r>
              <a:rPr lang="en-US" sz="1600" dirty="0">
                <a:latin typeface="Courier New" panose="02070309020205020404" pitchFamily="49" charset="0"/>
              </a:rPr>
              <a:t> main(void)</a:t>
            </a:r>
          </a:p>
          <a:p>
            <a:pPr marL="1028700" indent="-342900">
              <a:buFont typeface="+mj-lt"/>
              <a:buAutoNum type="arabicPeriod"/>
            </a:pPr>
            <a:r>
              <a:rPr lang="en-US" sz="1600" dirty="0">
                <a:latin typeface="Courier New" panose="02070309020205020404" pitchFamily="49" charset="0"/>
              </a:rPr>
              <a:t>{</a:t>
            </a:r>
          </a:p>
          <a:p>
            <a:pPr marL="1028700" indent="-342900">
              <a:buFont typeface="+mj-lt"/>
              <a:buAutoNum type="arabicPeriod"/>
            </a:pPr>
            <a:r>
              <a:rPr lang="en-US" sz="1600" dirty="0">
                <a:latin typeface="Courier New" panose="02070309020205020404" pitchFamily="49" charset="0"/>
              </a:rPr>
              <a:t>	char </a:t>
            </a:r>
            <a:r>
              <a:rPr lang="en-US" sz="1600" dirty="0" err="1">
                <a:latin typeface="Courier New" panose="02070309020205020404" pitchFamily="49" charset="0"/>
              </a:rPr>
              <a:t>write_msg</a:t>
            </a:r>
            <a:r>
              <a:rPr lang="en-US" sz="1600" dirty="0">
                <a:latin typeface="Courier New" panose="02070309020205020404" pitchFamily="49" charset="0"/>
              </a:rPr>
              <a:t>[BUFFER_SIZE] = "Greetings";</a:t>
            </a:r>
          </a:p>
          <a:p>
            <a:pPr marL="1028700" indent="-342900">
              <a:buFont typeface="+mj-lt"/>
              <a:buAutoNum type="arabicPeriod"/>
            </a:pPr>
            <a:r>
              <a:rPr lang="en-US" sz="1600" dirty="0">
                <a:latin typeface="Courier New" panose="02070309020205020404" pitchFamily="49" charset="0"/>
              </a:rPr>
              <a:t>	char </a:t>
            </a:r>
            <a:r>
              <a:rPr lang="en-US" sz="1600" dirty="0" err="1">
                <a:latin typeface="Courier New" panose="02070309020205020404" pitchFamily="49" charset="0"/>
              </a:rPr>
              <a:t>read_msg</a:t>
            </a:r>
            <a:r>
              <a:rPr lang="en-US" sz="1600" dirty="0">
                <a:latin typeface="Courier New" panose="02070309020205020404" pitchFamily="49" charset="0"/>
              </a:rPr>
              <a:t>[BUFFER_SIZE];</a:t>
            </a:r>
          </a:p>
          <a:p>
            <a:pPr marL="1028700" indent="-342900">
              <a:buFont typeface="+mj-lt"/>
              <a:buAutoNum type="arabicPeriod"/>
            </a:pPr>
            <a:r>
              <a:rPr lang="en-US" sz="1600" dirty="0">
                <a:latin typeface="Courier New" panose="02070309020205020404" pitchFamily="49" charset="0"/>
              </a:rPr>
              <a:t>	</a:t>
            </a:r>
            <a:r>
              <a:rPr lang="en-US" sz="1600" dirty="0" err="1">
                <a:latin typeface="Courier New" panose="02070309020205020404" pitchFamily="49" charset="0"/>
              </a:rPr>
              <a:t>pid_t</a:t>
            </a:r>
            <a:r>
              <a:rPr lang="en-US" sz="1600" dirty="0">
                <a:latin typeface="Courier New" panose="02070309020205020404" pitchFamily="49" charset="0"/>
              </a:rPr>
              <a:t> </a:t>
            </a:r>
            <a:r>
              <a:rPr lang="en-US" sz="1600" dirty="0" err="1">
                <a:latin typeface="Courier New" panose="02070309020205020404" pitchFamily="49" charset="0"/>
              </a:rPr>
              <a:t>pid</a:t>
            </a:r>
            <a:r>
              <a:rPr lang="en-US" sz="1600" dirty="0">
                <a:latin typeface="Courier New" panose="02070309020205020404" pitchFamily="49" charset="0"/>
              </a:rPr>
              <a:t>;</a:t>
            </a:r>
          </a:p>
          <a:p>
            <a:pPr marL="1028700" indent="-342900">
              <a:buFont typeface="+mj-lt"/>
              <a:buAutoNum type="arabicPeriod"/>
            </a:pPr>
            <a:r>
              <a:rPr lang="en-US" sz="1600" dirty="0">
                <a:latin typeface="Courier New" panose="02070309020205020404" pitchFamily="49" charset="0"/>
              </a:rPr>
              <a:t>	</a:t>
            </a:r>
            <a:r>
              <a:rPr lang="en-US" sz="1600" dirty="0" err="1">
                <a:latin typeface="Courier New" panose="02070309020205020404" pitchFamily="49" charset="0"/>
              </a:rPr>
              <a:t>int</a:t>
            </a:r>
            <a:r>
              <a:rPr lang="en-US" sz="1600" dirty="0">
                <a:latin typeface="Courier New" panose="02070309020205020404" pitchFamily="49" charset="0"/>
              </a:rPr>
              <a:t> </a:t>
            </a:r>
            <a:r>
              <a:rPr lang="en-US" sz="1600" dirty="0" err="1">
                <a:latin typeface="Courier New" panose="02070309020205020404" pitchFamily="49" charset="0"/>
              </a:rPr>
              <a:t>fd</a:t>
            </a:r>
            <a:r>
              <a:rPr lang="en-US" sz="1600" dirty="0">
                <a:latin typeface="Courier New" panose="02070309020205020404" pitchFamily="49" charset="0"/>
              </a:rPr>
              <a:t>[2];</a:t>
            </a:r>
          </a:p>
          <a:p>
            <a:pPr marL="1028700" indent="-342900">
              <a:buFont typeface="+mj-lt"/>
              <a:buAutoNum type="arabicPeriod"/>
            </a:pPr>
            <a:endParaRPr lang="en-US" sz="1600" dirty="0">
              <a:latin typeface="Courier New" panose="02070309020205020404" pitchFamily="49" charset="0"/>
            </a:endParaRPr>
          </a:p>
          <a:p>
            <a:pPr marL="1028700" indent="-342900">
              <a:buFont typeface="+mj-lt"/>
              <a:buAutoNum type="arabicPeriod"/>
            </a:pPr>
            <a:r>
              <a:rPr lang="en-US" sz="1600" dirty="0">
                <a:latin typeface="Courier New" panose="02070309020205020404" pitchFamily="49" charset="0"/>
              </a:rPr>
              <a:t>	/* create the pipe */</a:t>
            </a:r>
          </a:p>
          <a:p>
            <a:pPr marL="1028700" indent="-342900">
              <a:buFont typeface="+mj-lt"/>
              <a:buAutoNum type="arabicPeriod"/>
            </a:pPr>
            <a:r>
              <a:rPr lang="en-US" sz="1600" dirty="0">
                <a:latin typeface="Courier New" panose="02070309020205020404" pitchFamily="49" charset="0"/>
              </a:rPr>
              <a:t>	if (pipe(</a:t>
            </a:r>
            <a:r>
              <a:rPr lang="en-US" sz="1600" dirty="0" err="1">
                <a:latin typeface="Courier New" panose="02070309020205020404" pitchFamily="49" charset="0"/>
              </a:rPr>
              <a:t>fd</a:t>
            </a:r>
            <a:r>
              <a:rPr lang="en-US" sz="1600" dirty="0">
                <a:latin typeface="Courier New" panose="02070309020205020404" pitchFamily="49" charset="0"/>
              </a:rPr>
              <a:t>) == -1) {</a:t>
            </a:r>
          </a:p>
          <a:p>
            <a:pPr marL="1028700" indent="-342900">
              <a:buFont typeface="+mj-lt"/>
              <a:buAutoNum type="arabicPeriod"/>
            </a:pPr>
            <a:r>
              <a:rPr lang="en-US" sz="1600" dirty="0">
                <a:latin typeface="Courier New" panose="02070309020205020404" pitchFamily="49" charset="0"/>
              </a:rPr>
              <a:t>		</a:t>
            </a:r>
            <a:r>
              <a:rPr lang="en-US" sz="1600" dirty="0" err="1">
                <a:latin typeface="Courier New" panose="02070309020205020404" pitchFamily="49" charset="0"/>
              </a:rPr>
              <a:t>fprintf</a:t>
            </a:r>
            <a:r>
              <a:rPr lang="en-US" sz="1600" dirty="0">
                <a:latin typeface="Courier New" panose="02070309020205020404" pitchFamily="49" charset="0"/>
              </a:rPr>
              <a:t>(</a:t>
            </a:r>
            <a:r>
              <a:rPr lang="en-US" sz="1600" dirty="0" err="1">
                <a:latin typeface="Courier New" panose="02070309020205020404" pitchFamily="49" charset="0"/>
              </a:rPr>
              <a:t>stderr</a:t>
            </a:r>
            <a:r>
              <a:rPr lang="en-US" sz="1600" dirty="0">
                <a:latin typeface="Courier New" panose="02070309020205020404" pitchFamily="49" charset="0"/>
              </a:rPr>
              <a:t>,"Pipe failed");</a:t>
            </a:r>
          </a:p>
          <a:p>
            <a:pPr marL="1028700" indent="-342900">
              <a:buFont typeface="+mj-lt"/>
              <a:buAutoNum type="arabicPeriod"/>
            </a:pPr>
            <a:r>
              <a:rPr lang="en-US" sz="1600" dirty="0">
                <a:latin typeface="Courier New" panose="02070309020205020404" pitchFamily="49" charset="0"/>
              </a:rPr>
              <a:t>		return 1;</a:t>
            </a:r>
          </a:p>
          <a:p>
            <a:pPr marL="1028700" indent="-342900">
              <a:buFont typeface="+mj-lt"/>
              <a:buAutoNum type="arabicPeriod"/>
            </a:pPr>
            <a:r>
              <a:rPr lang="en-US" sz="1600" dirty="0">
                <a:latin typeface="Courier New" panose="02070309020205020404" pitchFamily="49" charset="0"/>
              </a:rPr>
              <a:t>	}</a:t>
            </a:r>
          </a:p>
          <a:p>
            <a:pPr marL="1028700" indent="-342900">
              <a:buFont typeface="+mj-lt"/>
              <a:buAutoNum type="arabicPeriod"/>
            </a:pPr>
            <a:endParaRPr lang="en-US" sz="1600" dirty="0">
              <a:latin typeface="Courier New" panose="02070309020205020404" pitchFamily="49" charset="0"/>
            </a:endParaRPr>
          </a:p>
          <a:p>
            <a:pPr marL="1028700" indent="-342900">
              <a:buFont typeface="+mj-lt"/>
              <a:buAutoNum type="arabicPeriod"/>
            </a:pPr>
            <a:r>
              <a:rPr lang="en-US" sz="1600" dirty="0">
                <a:latin typeface="Courier New" panose="02070309020205020404" pitchFamily="49" charset="0"/>
              </a:rPr>
              <a:t>	/* now fork a child process */</a:t>
            </a:r>
          </a:p>
          <a:p>
            <a:pPr marL="1028700" indent="-342900">
              <a:buFont typeface="+mj-lt"/>
              <a:buAutoNum type="arabicPeriod"/>
            </a:pPr>
            <a:r>
              <a:rPr lang="en-US" sz="1600" dirty="0">
                <a:latin typeface="Courier New" panose="02070309020205020404" pitchFamily="49" charset="0"/>
              </a:rPr>
              <a:t>	</a:t>
            </a:r>
            <a:r>
              <a:rPr lang="en-US" sz="1600" dirty="0" err="1">
                <a:latin typeface="Courier New" panose="02070309020205020404" pitchFamily="49" charset="0"/>
              </a:rPr>
              <a:t>pid</a:t>
            </a:r>
            <a:r>
              <a:rPr lang="en-US" sz="1600" dirty="0">
                <a:latin typeface="Courier New" panose="02070309020205020404" pitchFamily="49" charset="0"/>
              </a:rPr>
              <a:t> = fork();</a:t>
            </a:r>
            <a:endParaRPr lang="en-US" sz="1600" dirty="0"/>
          </a:p>
        </p:txBody>
      </p:sp>
    </p:spTree>
    <p:extLst>
      <p:ext uri="{BB962C8B-B14F-4D97-AF65-F5344CB8AC3E}">
        <p14:creationId xmlns:p14="http://schemas.microsoft.com/office/powerpoint/2010/main" val="72691469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r>
              <a:rPr lang="en-US"/>
              <a:t>Vincenzo Gulisano</a:t>
            </a:r>
          </a:p>
        </p:txBody>
      </p:sp>
      <p:sp>
        <p:nvSpPr>
          <p:cNvPr id="5" name="Footer Placeholder 4"/>
          <p:cNvSpPr>
            <a:spLocks noGrp="1"/>
          </p:cNvSpPr>
          <p:nvPr>
            <p:ph type="ftr" sz="quarter" idx="11"/>
          </p:nvPr>
        </p:nvSpPr>
        <p:spPr/>
        <p:txBody>
          <a:bodyPr/>
          <a:lstStyle/>
          <a:p>
            <a:r>
              <a:rPr lang="en-US"/>
              <a:t>Operating Systems - Processes</a:t>
            </a:r>
          </a:p>
        </p:txBody>
      </p:sp>
      <p:sp>
        <p:nvSpPr>
          <p:cNvPr id="6" name="Slide Number Placeholder 5"/>
          <p:cNvSpPr>
            <a:spLocks noGrp="1"/>
          </p:cNvSpPr>
          <p:nvPr>
            <p:ph type="sldNum" sz="quarter" idx="12"/>
          </p:nvPr>
        </p:nvSpPr>
        <p:spPr/>
        <p:txBody>
          <a:bodyPr/>
          <a:lstStyle/>
          <a:p>
            <a:fld id="{95AAEEEC-DCEC-4178-AB14-E7254A15A296}" type="slidenum">
              <a:rPr lang="en-US" smtClean="0"/>
              <a:t>54</a:t>
            </a:fld>
            <a:endParaRPr lang="en-US"/>
          </a:p>
        </p:txBody>
      </p:sp>
      <p:sp>
        <p:nvSpPr>
          <p:cNvPr id="9" name="Rectangle 8"/>
          <p:cNvSpPr/>
          <p:nvPr/>
        </p:nvSpPr>
        <p:spPr>
          <a:xfrm>
            <a:off x="-628" y="379025"/>
            <a:ext cx="9144000" cy="6247864"/>
          </a:xfrm>
          <a:prstGeom prst="rect">
            <a:avLst/>
          </a:prstGeom>
        </p:spPr>
        <p:txBody>
          <a:bodyPr wrap="square">
            <a:spAutoFit/>
          </a:bodyPr>
          <a:lstStyle/>
          <a:p>
            <a:pPr marL="1028700" indent="-342900">
              <a:buFont typeface="+mj-lt"/>
              <a:buAutoNum type="arabicPeriod" startAt="14"/>
            </a:pPr>
            <a:r>
              <a:rPr lang="en-US" sz="1600" dirty="0">
                <a:latin typeface="Courier New" panose="02070309020205020404" pitchFamily="49" charset="0"/>
              </a:rPr>
              <a:t>if (</a:t>
            </a:r>
            <a:r>
              <a:rPr lang="en-US" sz="1600" dirty="0" err="1">
                <a:latin typeface="Courier New" panose="02070309020205020404" pitchFamily="49" charset="0"/>
              </a:rPr>
              <a:t>pid</a:t>
            </a:r>
            <a:r>
              <a:rPr lang="en-US" sz="1600" dirty="0">
                <a:latin typeface="Courier New" panose="02070309020205020404" pitchFamily="49" charset="0"/>
              </a:rPr>
              <a:t> &lt; 0) {</a:t>
            </a:r>
          </a:p>
          <a:p>
            <a:pPr marL="1028700" indent="-342900">
              <a:buFont typeface="+mj-lt"/>
              <a:buAutoNum type="arabicPeriod" startAt="14"/>
            </a:pPr>
            <a:r>
              <a:rPr lang="en-US" sz="1600" dirty="0">
                <a:latin typeface="Courier New" panose="02070309020205020404" pitchFamily="49" charset="0"/>
              </a:rPr>
              <a:t>		</a:t>
            </a:r>
            <a:r>
              <a:rPr lang="en-US" sz="1600" dirty="0" err="1">
                <a:latin typeface="Courier New" panose="02070309020205020404" pitchFamily="49" charset="0"/>
              </a:rPr>
              <a:t>fprintf</a:t>
            </a:r>
            <a:r>
              <a:rPr lang="en-US" sz="1600" dirty="0">
                <a:latin typeface="Courier New" panose="02070309020205020404" pitchFamily="49" charset="0"/>
              </a:rPr>
              <a:t>(</a:t>
            </a:r>
            <a:r>
              <a:rPr lang="en-US" sz="1600" dirty="0" err="1">
                <a:latin typeface="Courier New" panose="02070309020205020404" pitchFamily="49" charset="0"/>
              </a:rPr>
              <a:t>stderr</a:t>
            </a:r>
            <a:r>
              <a:rPr lang="en-US" sz="1600" dirty="0">
                <a:latin typeface="Courier New" panose="02070309020205020404" pitchFamily="49" charset="0"/>
              </a:rPr>
              <a:t>, "Fork failed");</a:t>
            </a:r>
          </a:p>
          <a:p>
            <a:pPr marL="1028700" indent="-342900">
              <a:buFont typeface="+mj-lt"/>
              <a:buAutoNum type="arabicPeriod" startAt="14"/>
            </a:pPr>
            <a:r>
              <a:rPr lang="en-US" sz="1600" dirty="0">
                <a:latin typeface="Courier New" panose="02070309020205020404" pitchFamily="49" charset="0"/>
              </a:rPr>
              <a:t>		return 1;</a:t>
            </a:r>
          </a:p>
          <a:p>
            <a:pPr marL="1028700" indent="-342900">
              <a:buFont typeface="+mj-lt"/>
              <a:buAutoNum type="arabicPeriod" startAt="14"/>
            </a:pPr>
            <a:r>
              <a:rPr lang="en-US" sz="1600" dirty="0">
                <a:latin typeface="Courier New" panose="02070309020205020404" pitchFamily="49" charset="0"/>
              </a:rPr>
              <a:t>	}</a:t>
            </a:r>
          </a:p>
          <a:p>
            <a:pPr marL="1028700" indent="-342900">
              <a:buFont typeface="+mj-lt"/>
              <a:buAutoNum type="arabicPeriod" startAt="14"/>
            </a:pPr>
            <a:endParaRPr lang="en-US" sz="1600" dirty="0">
              <a:latin typeface="Courier New" panose="02070309020205020404" pitchFamily="49" charset="0"/>
            </a:endParaRPr>
          </a:p>
          <a:p>
            <a:pPr marL="1028700" indent="-342900">
              <a:buFont typeface="+mj-lt"/>
              <a:buAutoNum type="arabicPeriod" startAt="14"/>
            </a:pPr>
            <a:r>
              <a:rPr lang="en-US" sz="1600" dirty="0">
                <a:latin typeface="Courier New" panose="02070309020205020404" pitchFamily="49" charset="0"/>
              </a:rPr>
              <a:t>	if (</a:t>
            </a:r>
            <a:r>
              <a:rPr lang="en-US" sz="1600" dirty="0" err="1">
                <a:latin typeface="Courier New" panose="02070309020205020404" pitchFamily="49" charset="0"/>
              </a:rPr>
              <a:t>pid</a:t>
            </a:r>
            <a:r>
              <a:rPr lang="en-US" sz="1600" dirty="0">
                <a:latin typeface="Courier New" panose="02070309020205020404" pitchFamily="49" charset="0"/>
              </a:rPr>
              <a:t> &gt; 0) {  /* parent process */</a:t>
            </a:r>
          </a:p>
          <a:p>
            <a:pPr marL="1028700" indent="-342900">
              <a:buFont typeface="+mj-lt"/>
              <a:buAutoNum type="arabicPeriod" startAt="14"/>
            </a:pPr>
            <a:r>
              <a:rPr lang="en-US" sz="1600" dirty="0">
                <a:latin typeface="Courier New" panose="02070309020205020404" pitchFamily="49" charset="0"/>
              </a:rPr>
              <a:t>		/* close the unused end of the pipe */</a:t>
            </a:r>
          </a:p>
          <a:p>
            <a:pPr marL="1028700" indent="-342900">
              <a:buFont typeface="+mj-lt"/>
              <a:buAutoNum type="arabicPeriod" startAt="14"/>
            </a:pPr>
            <a:r>
              <a:rPr lang="en-US" sz="1600" dirty="0">
                <a:latin typeface="Courier New" panose="02070309020205020404" pitchFamily="49" charset="0"/>
              </a:rPr>
              <a:t>		close(</a:t>
            </a:r>
            <a:r>
              <a:rPr lang="en-US" sz="1600" dirty="0" err="1">
                <a:latin typeface="Courier New" panose="02070309020205020404" pitchFamily="49" charset="0"/>
              </a:rPr>
              <a:t>fd</a:t>
            </a:r>
            <a:r>
              <a:rPr lang="en-US" sz="1600" dirty="0">
                <a:latin typeface="Courier New" panose="02070309020205020404" pitchFamily="49" charset="0"/>
              </a:rPr>
              <a:t>[READ_END]);</a:t>
            </a:r>
          </a:p>
          <a:p>
            <a:pPr marL="1028700" indent="-342900">
              <a:buFont typeface="+mj-lt"/>
              <a:buAutoNum type="arabicPeriod" startAt="14"/>
            </a:pPr>
            <a:r>
              <a:rPr lang="en-US" sz="1600" dirty="0">
                <a:latin typeface="Courier New" panose="02070309020205020404" pitchFamily="49" charset="0"/>
              </a:rPr>
              <a:t>		/* write to the pipe */</a:t>
            </a:r>
          </a:p>
          <a:p>
            <a:pPr marL="1028700" indent="-342900">
              <a:buFont typeface="+mj-lt"/>
              <a:buAutoNum type="arabicPeriod" startAt="14"/>
            </a:pPr>
            <a:r>
              <a:rPr lang="en-US" sz="1600" dirty="0">
                <a:latin typeface="Courier New" panose="02070309020205020404" pitchFamily="49" charset="0"/>
              </a:rPr>
              <a:t>		write(</a:t>
            </a:r>
            <a:r>
              <a:rPr lang="en-US" sz="1600" dirty="0" err="1">
                <a:latin typeface="Courier New" panose="02070309020205020404" pitchFamily="49" charset="0"/>
              </a:rPr>
              <a:t>fd</a:t>
            </a:r>
            <a:r>
              <a:rPr lang="en-US" sz="1600" dirty="0">
                <a:latin typeface="Courier New" panose="02070309020205020404" pitchFamily="49" charset="0"/>
              </a:rPr>
              <a:t>[WRITE_END], </a:t>
            </a:r>
            <a:r>
              <a:rPr lang="en-US" sz="1600" dirty="0" err="1">
                <a:latin typeface="Courier New" panose="02070309020205020404" pitchFamily="49" charset="0"/>
              </a:rPr>
              <a:t>write_msg</a:t>
            </a:r>
            <a:r>
              <a:rPr lang="en-US" sz="1600" dirty="0">
                <a:latin typeface="Courier New" panose="02070309020205020404" pitchFamily="49" charset="0"/>
              </a:rPr>
              <a:t>, </a:t>
            </a:r>
            <a:r>
              <a:rPr lang="en-US" sz="1600" dirty="0" err="1">
                <a:latin typeface="Courier New" panose="02070309020205020404" pitchFamily="49" charset="0"/>
              </a:rPr>
              <a:t>strlen</a:t>
            </a:r>
            <a:r>
              <a:rPr lang="en-US" sz="1600" dirty="0">
                <a:latin typeface="Courier New" panose="02070309020205020404" pitchFamily="49" charset="0"/>
              </a:rPr>
              <a:t>(</a:t>
            </a:r>
            <a:r>
              <a:rPr lang="en-US" sz="1600" dirty="0" err="1">
                <a:latin typeface="Courier New" panose="02070309020205020404" pitchFamily="49" charset="0"/>
              </a:rPr>
              <a:t>write_msg</a:t>
            </a:r>
            <a:r>
              <a:rPr lang="en-US" sz="1600" dirty="0">
                <a:latin typeface="Courier New" panose="02070309020205020404" pitchFamily="49" charset="0"/>
              </a:rPr>
              <a:t>)+1); </a:t>
            </a:r>
          </a:p>
          <a:p>
            <a:pPr marL="1028700" indent="-342900">
              <a:buFont typeface="+mj-lt"/>
              <a:buAutoNum type="arabicPeriod" startAt="14"/>
            </a:pPr>
            <a:r>
              <a:rPr lang="en-US" sz="1600" dirty="0">
                <a:latin typeface="Courier New" panose="02070309020205020404" pitchFamily="49" charset="0"/>
              </a:rPr>
              <a:t>		/* close the write end of the pipe */</a:t>
            </a:r>
          </a:p>
          <a:p>
            <a:pPr marL="1028700" indent="-342900">
              <a:buFont typeface="+mj-lt"/>
              <a:buAutoNum type="arabicPeriod" startAt="14"/>
            </a:pPr>
            <a:r>
              <a:rPr lang="en-US" sz="1600" dirty="0">
                <a:latin typeface="Courier New" panose="02070309020205020404" pitchFamily="49" charset="0"/>
              </a:rPr>
              <a:t>		close(</a:t>
            </a:r>
            <a:r>
              <a:rPr lang="en-US" sz="1600" dirty="0" err="1">
                <a:latin typeface="Courier New" panose="02070309020205020404" pitchFamily="49" charset="0"/>
              </a:rPr>
              <a:t>fd</a:t>
            </a:r>
            <a:r>
              <a:rPr lang="en-US" sz="1600" dirty="0">
                <a:latin typeface="Courier New" panose="02070309020205020404" pitchFamily="49" charset="0"/>
              </a:rPr>
              <a:t>[WRITE_END]);</a:t>
            </a:r>
          </a:p>
          <a:p>
            <a:pPr marL="1028700" indent="-342900">
              <a:buFont typeface="+mj-lt"/>
              <a:buAutoNum type="arabicPeriod" startAt="14"/>
            </a:pPr>
            <a:r>
              <a:rPr lang="en-US" sz="1600" dirty="0">
                <a:latin typeface="Courier New" panose="02070309020205020404" pitchFamily="49" charset="0"/>
              </a:rPr>
              <a:t>	}</a:t>
            </a:r>
          </a:p>
          <a:p>
            <a:pPr marL="1028700" indent="-342900">
              <a:buFont typeface="+mj-lt"/>
              <a:buAutoNum type="arabicPeriod" startAt="14"/>
            </a:pPr>
            <a:r>
              <a:rPr lang="en-US" sz="1600" dirty="0">
                <a:latin typeface="Courier New" panose="02070309020205020404" pitchFamily="49" charset="0"/>
              </a:rPr>
              <a:t>	else { /* child process */</a:t>
            </a:r>
          </a:p>
          <a:p>
            <a:pPr marL="1028700" indent="-342900">
              <a:buFont typeface="+mj-lt"/>
              <a:buAutoNum type="arabicPeriod" startAt="14"/>
            </a:pPr>
            <a:r>
              <a:rPr lang="en-US" sz="1600" dirty="0">
                <a:latin typeface="Courier New" panose="02070309020205020404" pitchFamily="49" charset="0"/>
              </a:rPr>
              <a:t>		/* close the unused end of the pipe */</a:t>
            </a:r>
          </a:p>
          <a:p>
            <a:pPr marL="1028700" indent="-342900">
              <a:buFont typeface="+mj-lt"/>
              <a:buAutoNum type="arabicPeriod" startAt="14"/>
            </a:pPr>
            <a:r>
              <a:rPr lang="en-US" sz="1600" dirty="0">
                <a:latin typeface="Courier New" panose="02070309020205020404" pitchFamily="49" charset="0"/>
              </a:rPr>
              <a:t>		close(</a:t>
            </a:r>
            <a:r>
              <a:rPr lang="en-US" sz="1600" dirty="0" err="1">
                <a:latin typeface="Courier New" panose="02070309020205020404" pitchFamily="49" charset="0"/>
              </a:rPr>
              <a:t>fd</a:t>
            </a:r>
            <a:r>
              <a:rPr lang="en-US" sz="1600" dirty="0">
                <a:latin typeface="Courier New" panose="02070309020205020404" pitchFamily="49" charset="0"/>
              </a:rPr>
              <a:t>[WRITE_END]);</a:t>
            </a:r>
          </a:p>
          <a:p>
            <a:pPr marL="1028700" indent="-342900">
              <a:buFont typeface="+mj-lt"/>
              <a:buAutoNum type="arabicPeriod" startAt="14"/>
            </a:pPr>
            <a:r>
              <a:rPr lang="en-US" sz="1600" dirty="0">
                <a:latin typeface="Courier New" panose="02070309020205020404" pitchFamily="49" charset="0"/>
              </a:rPr>
              <a:t>		/* read from the pipe */</a:t>
            </a:r>
          </a:p>
          <a:p>
            <a:pPr marL="1028700" indent="-342900">
              <a:buFont typeface="+mj-lt"/>
              <a:buAutoNum type="arabicPeriod" startAt="14"/>
            </a:pPr>
            <a:r>
              <a:rPr lang="en-US" sz="1600" dirty="0">
                <a:latin typeface="Courier New" panose="02070309020205020404" pitchFamily="49" charset="0"/>
              </a:rPr>
              <a:t>		read(</a:t>
            </a:r>
            <a:r>
              <a:rPr lang="en-US" sz="1600" dirty="0" err="1">
                <a:latin typeface="Courier New" panose="02070309020205020404" pitchFamily="49" charset="0"/>
              </a:rPr>
              <a:t>fd</a:t>
            </a:r>
            <a:r>
              <a:rPr lang="en-US" sz="1600" dirty="0">
                <a:latin typeface="Courier New" panose="02070309020205020404" pitchFamily="49" charset="0"/>
              </a:rPr>
              <a:t>[READ_END], </a:t>
            </a:r>
            <a:r>
              <a:rPr lang="en-US" sz="1600" dirty="0" err="1">
                <a:latin typeface="Courier New" panose="02070309020205020404" pitchFamily="49" charset="0"/>
              </a:rPr>
              <a:t>read_msg</a:t>
            </a:r>
            <a:r>
              <a:rPr lang="en-US" sz="1600" dirty="0">
                <a:latin typeface="Courier New" panose="02070309020205020404" pitchFamily="49" charset="0"/>
              </a:rPr>
              <a:t>, BUFFER_SIZE);</a:t>
            </a:r>
          </a:p>
          <a:p>
            <a:pPr marL="1028700" indent="-342900">
              <a:buFont typeface="+mj-lt"/>
              <a:buAutoNum type="arabicPeriod" startAt="14"/>
            </a:pPr>
            <a:r>
              <a:rPr lang="en-US" sz="1600" dirty="0">
                <a:latin typeface="Courier New" panose="02070309020205020404" pitchFamily="49" charset="0"/>
              </a:rPr>
              <a:t>		</a:t>
            </a:r>
            <a:r>
              <a:rPr lang="en-US" sz="1600" dirty="0" err="1">
                <a:latin typeface="Courier New" panose="02070309020205020404" pitchFamily="49" charset="0"/>
              </a:rPr>
              <a:t>printf</a:t>
            </a:r>
            <a:r>
              <a:rPr lang="en-US" sz="1600" dirty="0">
                <a:latin typeface="Courier New" panose="02070309020205020404" pitchFamily="49" charset="0"/>
              </a:rPr>
              <a:t>("child read %s\n",</a:t>
            </a:r>
            <a:r>
              <a:rPr lang="en-US" sz="1600" dirty="0" err="1">
                <a:latin typeface="Courier New" panose="02070309020205020404" pitchFamily="49" charset="0"/>
              </a:rPr>
              <a:t>read_msg</a:t>
            </a:r>
            <a:r>
              <a:rPr lang="en-US" sz="1600" dirty="0">
                <a:latin typeface="Courier New" panose="02070309020205020404" pitchFamily="49" charset="0"/>
              </a:rPr>
              <a:t>);</a:t>
            </a:r>
          </a:p>
          <a:p>
            <a:pPr marL="1028700" indent="-342900">
              <a:buFont typeface="+mj-lt"/>
              <a:buAutoNum type="arabicPeriod" startAt="14"/>
            </a:pPr>
            <a:r>
              <a:rPr lang="en-US" sz="1600" dirty="0">
                <a:latin typeface="Courier New" panose="02070309020205020404" pitchFamily="49" charset="0"/>
              </a:rPr>
              <a:t>		/* close the read end of the pipe */</a:t>
            </a:r>
          </a:p>
          <a:p>
            <a:pPr marL="1028700" indent="-342900">
              <a:buFont typeface="+mj-lt"/>
              <a:buAutoNum type="arabicPeriod" startAt="14"/>
            </a:pPr>
            <a:r>
              <a:rPr lang="en-US" sz="1600" dirty="0">
                <a:latin typeface="Courier New" panose="02070309020205020404" pitchFamily="49" charset="0"/>
              </a:rPr>
              <a:t>		close(</a:t>
            </a:r>
            <a:r>
              <a:rPr lang="en-US" sz="1600" dirty="0" err="1">
                <a:latin typeface="Courier New" panose="02070309020205020404" pitchFamily="49" charset="0"/>
              </a:rPr>
              <a:t>fd</a:t>
            </a:r>
            <a:r>
              <a:rPr lang="en-US" sz="1600" dirty="0">
                <a:latin typeface="Courier New" panose="02070309020205020404" pitchFamily="49" charset="0"/>
              </a:rPr>
              <a:t>[READ_END]);</a:t>
            </a:r>
          </a:p>
          <a:p>
            <a:pPr marL="1028700" indent="-342900">
              <a:buFont typeface="+mj-lt"/>
              <a:buAutoNum type="arabicPeriod" startAt="14"/>
            </a:pPr>
            <a:r>
              <a:rPr lang="en-US" sz="1600" dirty="0">
                <a:latin typeface="Courier New" panose="02070309020205020404" pitchFamily="49" charset="0"/>
              </a:rPr>
              <a:t>	}</a:t>
            </a:r>
          </a:p>
          <a:p>
            <a:pPr marL="1028700" indent="-342900">
              <a:buFont typeface="+mj-lt"/>
              <a:buAutoNum type="arabicPeriod" startAt="14"/>
            </a:pPr>
            <a:r>
              <a:rPr lang="en-US" sz="1600" dirty="0">
                <a:latin typeface="Courier New" panose="02070309020205020404" pitchFamily="49" charset="0"/>
              </a:rPr>
              <a:t>	return 0;</a:t>
            </a:r>
          </a:p>
          <a:p>
            <a:pPr marL="1028700" indent="-342900">
              <a:buFont typeface="+mj-lt"/>
              <a:buAutoNum type="arabicPeriod" startAt="14"/>
            </a:pPr>
            <a:r>
              <a:rPr lang="en-US" sz="1600" dirty="0">
                <a:latin typeface="Courier New" panose="02070309020205020404" pitchFamily="49" charset="0"/>
              </a:rPr>
              <a:t>}</a:t>
            </a:r>
            <a:endParaRPr lang="en-US" sz="1600" dirty="0"/>
          </a:p>
        </p:txBody>
      </p:sp>
    </p:spTree>
    <p:extLst>
      <p:ext uri="{BB962C8B-B14F-4D97-AF65-F5344CB8AC3E}">
        <p14:creationId xmlns:p14="http://schemas.microsoft.com/office/powerpoint/2010/main" val="214581146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934F1179-B481-4F9E-BCA3-AFB972070F8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Triangle 8">
            <a:extLst>
              <a:ext uri="{FF2B5EF4-FFF2-40B4-BE49-F238E27FC236}">
                <a16:creationId xmlns:a16="http://schemas.microsoft.com/office/drawing/2014/main" id="{827DC2C4-B485-428A-BF4A-472D2967F4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432540" y="3335867"/>
            <a:ext cx="246888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Rectangle 10">
            <a:extLst>
              <a:ext uri="{FF2B5EF4-FFF2-40B4-BE49-F238E27FC236}">
                <a16:creationId xmlns:a16="http://schemas.microsoft.com/office/drawing/2014/main" id="{EE04B5EB-F158-4507-90DD-BD23620C7C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330" y="623275"/>
            <a:ext cx="8178790"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DE59AC3-12A8-FDCB-9131-00A43318B574}"/>
              </a:ext>
            </a:extLst>
          </p:cNvPr>
          <p:cNvSpPr>
            <a:spLocks noGrp="1"/>
          </p:cNvSpPr>
          <p:nvPr>
            <p:ph type="title"/>
          </p:nvPr>
        </p:nvSpPr>
        <p:spPr>
          <a:xfrm>
            <a:off x="963930" y="1008993"/>
            <a:ext cx="6923558" cy="3542045"/>
          </a:xfrm>
        </p:spPr>
        <p:txBody>
          <a:bodyPr vert="horz" lIns="91440" tIns="45720" rIns="91440" bIns="45720" rtlCol="0" anchor="b">
            <a:normAutofit/>
          </a:bodyPr>
          <a:lstStyle/>
          <a:p>
            <a:pPr defTabSz="914400"/>
            <a:r>
              <a:rPr lang="en-US" sz="10000" kern="1200">
                <a:solidFill>
                  <a:schemeClr val="tx1"/>
                </a:solidFill>
                <a:latin typeface="+mj-lt"/>
                <a:ea typeface="+mj-ea"/>
                <a:cs typeface="+mj-cs"/>
              </a:rPr>
              <a:t>Questions</a:t>
            </a:r>
          </a:p>
        </p:txBody>
      </p:sp>
      <p:sp>
        <p:nvSpPr>
          <p:cNvPr id="3" name="Date Placeholder 2">
            <a:extLst>
              <a:ext uri="{FF2B5EF4-FFF2-40B4-BE49-F238E27FC236}">
                <a16:creationId xmlns:a16="http://schemas.microsoft.com/office/drawing/2014/main" id="{CBEB3DD1-3C6D-EC88-D98D-B9996992F81A}"/>
              </a:ext>
            </a:extLst>
          </p:cNvPr>
          <p:cNvSpPr>
            <a:spLocks noGrp="1"/>
          </p:cNvSpPr>
          <p:nvPr>
            <p:ph type="dt" sz="half" idx="10"/>
          </p:nvPr>
        </p:nvSpPr>
        <p:spPr/>
        <p:txBody>
          <a:bodyPr/>
          <a:lstStyle/>
          <a:p>
            <a:r>
              <a:rPr lang="en-US"/>
              <a:t>Vincenzo Gulisano</a:t>
            </a:r>
          </a:p>
        </p:txBody>
      </p:sp>
      <p:sp>
        <p:nvSpPr>
          <p:cNvPr id="4" name="Footer Placeholder 3">
            <a:extLst>
              <a:ext uri="{FF2B5EF4-FFF2-40B4-BE49-F238E27FC236}">
                <a16:creationId xmlns:a16="http://schemas.microsoft.com/office/drawing/2014/main" id="{564DBAEA-6B43-ECC3-AD74-5067BCEEECDF}"/>
              </a:ext>
            </a:extLst>
          </p:cNvPr>
          <p:cNvSpPr>
            <a:spLocks noGrp="1"/>
          </p:cNvSpPr>
          <p:nvPr>
            <p:ph type="ftr" sz="quarter" idx="11"/>
          </p:nvPr>
        </p:nvSpPr>
        <p:spPr/>
        <p:txBody>
          <a:bodyPr/>
          <a:lstStyle/>
          <a:p>
            <a:r>
              <a:rPr lang="en-US"/>
              <a:t>Operating Systems - Processes</a:t>
            </a:r>
          </a:p>
        </p:txBody>
      </p:sp>
      <p:sp>
        <p:nvSpPr>
          <p:cNvPr id="5" name="Slide Number Placeholder 4">
            <a:extLst>
              <a:ext uri="{FF2B5EF4-FFF2-40B4-BE49-F238E27FC236}">
                <a16:creationId xmlns:a16="http://schemas.microsoft.com/office/drawing/2014/main" id="{6A6197B8-E5A9-12D1-240C-0B03B2DD07E2}"/>
              </a:ext>
            </a:extLst>
          </p:cNvPr>
          <p:cNvSpPr>
            <a:spLocks noGrp="1"/>
          </p:cNvSpPr>
          <p:nvPr>
            <p:ph type="sldNum" sz="quarter" idx="12"/>
          </p:nvPr>
        </p:nvSpPr>
        <p:spPr/>
        <p:txBody>
          <a:bodyPr/>
          <a:lstStyle/>
          <a:p>
            <a:fld id="{95AAEEEC-DCEC-4178-AB14-E7254A15A296}" type="slidenum">
              <a:rPr lang="en-US" smtClean="0"/>
              <a:t>55</a:t>
            </a:fld>
            <a:endParaRPr lang="en-US"/>
          </a:p>
        </p:txBody>
      </p:sp>
    </p:spTree>
    <p:extLst>
      <p:ext uri="{BB962C8B-B14F-4D97-AF65-F5344CB8AC3E}">
        <p14:creationId xmlns:p14="http://schemas.microsoft.com/office/powerpoint/2010/main" val="383118705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091C9A-BAFF-02BB-5A57-0CC8A07F316D}"/>
              </a:ext>
            </a:extLst>
          </p:cNvPr>
          <p:cNvSpPr>
            <a:spLocks noGrp="1"/>
          </p:cNvSpPr>
          <p:nvPr>
            <p:ph type="title"/>
          </p:nvPr>
        </p:nvSpPr>
        <p:spPr/>
        <p:txBody>
          <a:bodyPr>
            <a:normAutofit/>
          </a:bodyPr>
          <a:lstStyle/>
          <a:p>
            <a:pPr fontAlgn="base"/>
            <a:r>
              <a:rPr lang="en-GB" b="1" i="0" dirty="0">
                <a:solidFill>
                  <a:srgbClr val="333333"/>
                </a:solidFill>
                <a:effectLst/>
                <a:latin typeface="inherit"/>
              </a:rPr>
              <a:t>The instruction to be run next when process X is scheduled is maintained in ...</a:t>
            </a:r>
            <a:endParaRPr lang="en-SE" dirty="0"/>
          </a:p>
        </p:txBody>
      </p:sp>
      <p:sp>
        <p:nvSpPr>
          <p:cNvPr id="3" name="Content Placeholder 2">
            <a:extLst>
              <a:ext uri="{FF2B5EF4-FFF2-40B4-BE49-F238E27FC236}">
                <a16:creationId xmlns:a16="http://schemas.microsoft.com/office/drawing/2014/main" id="{3F77609B-674F-D00B-A50C-091A06357DE2}"/>
              </a:ext>
            </a:extLst>
          </p:cNvPr>
          <p:cNvSpPr>
            <a:spLocks noGrp="1"/>
          </p:cNvSpPr>
          <p:nvPr>
            <p:ph idx="1"/>
          </p:nvPr>
        </p:nvSpPr>
        <p:spPr/>
        <p:txBody>
          <a:bodyPr/>
          <a:lstStyle/>
          <a:p>
            <a:pPr marL="457200" indent="-457200" algn="l" fontAlgn="base">
              <a:buFont typeface="+mj-lt"/>
              <a:buAutoNum type="arabicPeriod"/>
            </a:pPr>
            <a:r>
              <a:rPr lang="en-GB" b="0" i="0" dirty="0">
                <a:solidFill>
                  <a:srgbClr val="333333"/>
                </a:solidFill>
                <a:effectLst/>
                <a:latin typeface="Montserrat" pitchFamily="2" charset="77"/>
              </a:rPr>
              <a:t>its text section</a:t>
            </a:r>
          </a:p>
          <a:p>
            <a:pPr marL="457200" indent="-457200" algn="l" fontAlgn="base">
              <a:buFont typeface="+mj-lt"/>
              <a:buAutoNum type="arabicPeriod"/>
            </a:pPr>
            <a:r>
              <a:rPr lang="en-GB" b="0" i="0" dirty="0">
                <a:solidFill>
                  <a:srgbClr val="333333"/>
                </a:solidFill>
                <a:effectLst/>
                <a:latin typeface="Montserrat" pitchFamily="2" charset="77"/>
              </a:rPr>
              <a:t>its data section</a:t>
            </a:r>
          </a:p>
          <a:p>
            <a:pPr marL="457200" indent="-457200" algn="l" fontAlgn="base">
              <a:buFont typeface="+mj-lt"/>
              <a:buAutoNum type="arabicPeriod"/>
            </a:pPr>
            <a:r>
              <a:rPr lang="en-GB" b="0" i="0" dirty="0">
                <a:solidFill>
                  <a:srgbClr val="333333"/>
                </a:solidFill>
                <a:effectLst/>
                <a:latin typeface="Montserrat" pitchFamily="2" charset="77"/>
              </a:rPr>
              <a:t>its process control block</a:t>
            </a:r>
          </a:p>
        </p:txBody>
      </p:sp>
      <p:sp>
        <p:nvSpPr>
          <p:cNvPr id="4" name="Date Placeholder 3">
            <a:extLst>
              <a:ext uri="{FF2B5EF4-FFF2-40B4-BE49-F238E27FC236}">
                <a16:creationId xmlns:a16="http://schemas.microsoft.com/office/drawing/2014/main" id="{C42E0809-471D-1005-EED8-2AE939C95247}"/>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FC5824AD-4023-094C-E6A9-06FF0A8B26D1}"/>
              </a:ext>
            </a:extLst>
          </p:cNvPr>
          <p:cNvSpPr>
            <a:spLocks noGrp="1"/>
          </p:cNvSpPr>
          <p:nvPr>
            <p:ph type="ftr" sz="quarter" idx="11"/>
          </p:nvPr>
        </p:nvSpPr>
        <p:spPr/>
        <p:txBody>
          <a:bodyPr/>
          <a:lstStyle/>
          <a:p>
            <a:r>
              <a:rPr lang="en-US"/>
              <a:t>Operating Systems - Processes</a:t>
            </a:r>
          </a:p>
        </p:txBody>
      </p:sp>
      <p:sp>
        <p:nvSpPr>
          <p:cNvPr id="6" name="Slide Number Placeholder 5">
            <a:extLst>
              <a:ext uri="{FF2B5EF4-FFF2-40B4-BE49-F238E27FC236}">
                <a16:creationId xmlns:a16="http://schemas.microsoft.com/office/drawing/2014/main" id="{441EFD30-DC4A-2DCF-C182-68C9E4F5FF5A}"/>
              </a:ext>
            </a:extLst>
          </p:cNvPr>
          <p:cNvSpPr>
            <a:spLocks noGrp="1"/>
          </p:cNvSpPr>
          <p:nvPr>
            <p:ph type="sldNum" sz="quarter" idx="12"/>
          </p:nvPr>
        </p:nvSpPr>
        <p:spPr/>
        <p:txBody>
          <a:bodyPr/>
          <a:lstStyle/>
          <a:p>
            <a:fld id="{95AAEEEC-DCEC-4178-AB14-E7254A15A296}" type="slidenum">
              <a:rPr lang="en-US" smtClean="0"/>
              <a:t>56</a:t>
            </a:fld>
            <a:endParaRPr lang="en-US"/>
          </a:p>
        </p:txBody>
      </p:sp>
    </p:spTree>
    <p:extLst>
      <p:ext uri="{BB962C8B-B14F-4D97-AF65-F5344CB8AC3E}">
        <p14:creationId xmlns:p14="http://schemas.microsoft.com/office/powerpoint/2010/main" val="278705362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EF702E-3F9F-4171-45B6-26956E437F3A}"/>
              </a:ext>
            </a:extLst>
          </p:cNvPr>
          <p:cNvSpPr>
            <a:spLocks noGrp="1"/>
          </p:cNvSpPr>
          <p:nvPr>
            <p:ph type="title"/>
          </p:nvPr>
        </p:nvSpPr>
        <p:spPr/>
        <p:txBody>
          <a:bodyPr>
            <a:normAutofit/>
          </a:bodyPr>
          <a:lstStyle/>
          <a:p>
            <a:pPr fontAlgn="base"/>
            <a:r>
              <a:rPr lang="en-GB" b="1" i="0" dirty="0">
                <a:solidFill>
                  <a:srgbClr val="333333"/>
                </a:solidFill>
                <a:effectLst/>
                <a:latin typeface="inherit"/>
              </a:rPr>
              <a:t>Which of the following state transitions is not valid?</a:t>
            </a:r>
            <a:endParaRPr lang="en-SE" dirty="0"/>
          </a:p>
        </p:txBody>
      </p:sp>
      <p:sp>
        <p:nvSpPr>
          <p:cNvPr id="3" name="Content Placeholder 2">
            <a:extLst>
              <a:ext uri="{FF2B5EF4-FFF2-40B4-BE49-F238E27FC236}">
                <a16:creationId xmlns:a16="http://schemas.microsoft.com/office/drawing/2014/main" id="{E9DA11F3-528A-4E7A-D81C-F4C4AC9E307F}"/>
              </a:ext>
            </a:extLst>
          </p:cNvPr>
          <p:cNvSpPr>
            <a:spLocks noGrp="1"/>
          </p:cNvSpPr>
          <p:nvPr>
            <p:ph idx="1"/>
          </p:nvPr>
        </p:nvSpPr>
        <p:spPr/>
        <p:txBody>
          <a:bodyPr/>
          <a:lstStyle/>
          <a:p>
            <a:pPr marL="457200" indent="-457200" algn="l" fontAlgn="base">
              <a:buFont typeface="+mj-lt"/>
              <a:buAutoNum type="arabicPeriod"/>
            </a:pPr>
            <a:r>
              <a:rPr lang="en-GB" b="0" i="0" dirty="0">
                <a:solidFill>
                  <a:srgbClr val="333333"/>
                </a:solidFill>
                <a:effectLst/>
                <a:latin typeface="Montserrat" pitchFamily="2" charset="77"/>
              </a:rPr>
              <a:t>ready --&gt; running</a:t>
            </a:r>
          </a:p>
          <a:p>
            <a:pPr marL="457200" indent="-457200" algn="l" fontAlgn="base">
              <a:buFont typeface="+mj-lt"/>
              <a:buAutoNum type="arabicPeriod"/>
            </a:pPr>
            <a:r>
              <a:rPr lang="en-GB" b="0" i="0" dirty="0">
                <a:solidFill>
                  <a:srgbClr val="333333"/>
                </a:solidFill>
                <a:effectLst/>
                <a:latin typeface="Montserrat" pitchFamily="2" charset="77"/>
              </a:rPr>
              <a:t>running --&gt; ready</a:t>
            </a:r>
          </a:p>
          <a:p>
            <a:pPr marL="457200" indent="-457200" algn="l" fontAlgn="base">
              <a:buFont typeface="+mj-lt"/>
              <a:buAutoNum type="arabicPeriod"/>
            </a:pPr>
            <a:r>
              <a:rPr lang="en-GB" b="0" i="0" dirty="0">
                <a:solidFill>
                  <a:srgbClr val="333333"/>
                </a:solidFill>
                <a:effectLst/>
                <a:latin typeface="Montserrat" pitchFamily="2" charset="77"/>
              </a:rPr>
              <a:t>running --&gt; waiting</a:t>
            </a:r>
          </a:p>
          <a:p>
            <a:pPr marL="457200" indent="-457200" algn="l" fontAlgn="base">
              <a:buFont typeface="+mj-lt"/>
              <a:buAutoNum type="arabicPeriod"/>
            </a:pPr>
            <a:r>
              <a:rPr lang="en-GB" b="0" i="0" dirty="0">
                <a:solidFill>
                  <a:srgbClr val="333333"/>
                </a:solidFill>
                <a:effectLst/>
                <a:latin typeface="Montserrat" pitchFamily="2" charset="77"/>
              </a:rPr>
              <a:t>ready --&gt; waiting</a:t>
            </a:r>
          </a:p>
        </p:txBody>
      </p:sp>
      <p:sp>
        <p:nvSpPr>
          <p:cNvPr id="4" name="Date Placeholder 3">
            <a:extLst>
              <a:ext uri="{FF2B5EF4-FFF2-40B4-BE49-F238E27FC236}">
                <a16:creationId xmlns:a16="http://schemas.microsoft.com/office/drawing/2014/main" id="{678186A7-E4AA-2505-4479-27A922DAD14B}"/>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B32E0C2F-05FE-9640-9318-24718ACEF7CF}"/>
              </a:ext>
            </a:extLst>
          </p:cNvPr>
          <p:cNvSpPr>
            <a:spLocks noGrp="1"/>
          </p:cNvSpPr>
          <p:nvPr>
            <p:ph type="ftr" sz="quarter" idx="11"/>
          </p:nvPr>
        </p:nvSpPr>
        <p:spPr/>
        <p:txBody>
          <a:bodyPr/>
          <a:lstStyle/>
          <a:p>
            <a:r>
              <a:rPr lang="en-US"/>
              <a:t>Operating Systems - Processes</a:t>
            </a:r>
          </a:p>
        </p:txBody>
      </p:sp>
      <p:sp>
        <p:nvSpPr>
          <p:cNvPr id="6" name="Slide Number Placeholder 5">
            <a:extLst>
              <a:ext uri="{FF2B5EF4-FFF2-40B4-BE49-F238E27FC236}">
                <a16:creationId xmlns:a16="http://schemas.microsoft.com/office/drawing/2014/main" id="{F20AB62C-540B-4274-13BC-7B016FBE6053}"/>
              </a:ext>
            </a:extLst>
          </p:cNvPr>
          <p:cNvSpPr>
            <a:spLocks noGrp="1"/>
          </p:cNvSpPr>
          <p:nvPr>
            <p:ph type="sldNum" sz="quarter" idx="12"/>
          </p:nvPr>
        </p:nvSpPr>
        <p:spPr/>
        <p:txBody>
          <a:bodyPr/>
          <a:lstStyle/>
          <a:p>
            <a:fld id="{95AAEEEC-DCEC-4178-AB14-E7254A15A296}" type="slidenum">
              <a:rPr lang="en-US" smtClean="0"/>
              <a:t>57</a:t>
            </a:fld>
            <a:endParaRPr lang="en-US"/>
          </a:p>
        </p:txBody>
      </p:sp>
    </p:spTree>
    <p:extLst>
      <p:ext uri="{BB962C8B-B14F-4D97-AF65-F5344CB8AC3E}">
        <p14:creationId xmlns:p14="http://schemas.microsoft.com/office/powerpoint/2010/main" val="166735649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32CFF6-FD1A-F5B0-2D42-1802F6540779}"/>
              </a:ext>
            </a:extLst>
          </p:cNvPr>
          <p:cNvSpPr>
            <a:spLocks noGrp="1"/>
          </p:cNvSpPr>
          <p:nvPr>
            <p:ph type="title"/>
          </p:nvPr>
        </p:nvSpPr>
        <p:spPr/>
        <p:txBody>
          <a:bodyPr>
            <a:normAutofit/>
          </a:bodyPr>
          <a:lstStyle/>
          <a:p>
            <a:pPr fontAlgn="base"/>
            <a:r>
              <a:rPr lang="en-GB" b="1" i="0" dirty="0">
                <a:solidFill>
                  <a:srgbClr val="333333"/>
                </a:solidFill>
                <a:effectLst/>
                <a:latin typeface="inherit"/>
              </a:rPr>
              <a:t>During a context switch, what is saved by the OS (to be later re-loaded) is ...</a:t>
            </a:r>
            <a:endParaRPr lang="en-SE" dirty="0"/>
          </a:p>
        </p:txBody>
      </p:sp>
      <p:sp>
        <p:nvSpPr>
          <p:cNvPr id="3" name="Content Placeholder 2">
            <a:extLst>
              <a:ext uri="{FF2B5EF4-FFF2-40B4-BE49-F238E27FC236}">
                <a16:creationId xmlns:a16="http://schemas.microsoft.com/office/drawing/2014/main" id="{4B5C34E7-3ABB-2F96-27EC-3591B28EC1EF}"/>
              </a:ext>
            </a:extLst>
          </p:cNvPr>
          <p:cNvSpPr>
            <a:spLocks noGrp="1"/>
          </p:cNvSpPr>
          <p:nvPr>
            <p:ph idx="1"/>
          </p:nvPr>
        </p:nvSpPr>
        <p:spPr/>
        <p:txBody>
          <a:bodyPr/>
          <a:lstStyle/>
          <a:p>
            <a:pPr marL="457200" indent="-457200" algn="l" fontAlgn="base">
              <a:buFont typeface="+mj-lt"/>
              <a:buAutoNum type="arabicPeriod"/>
            </a:pPr>
            <a:r>
              <a:rPr lang="en-GB" b="0" i="0" dirty="0">
                <a:solidFill>
                  <a:srgbClr val="333333"/>
                </a:solidFill>
                <a:effectLst/>
                <a:latin typeface="Montserrat" pitchFamily="2" charset="77"/>
              </a:rPr>
              <a:t>the CPU context into the PCB of the process</a:t>
            </a:r>
          </a:p>
          <a:p>
            <a:pPr marL="457200" indent="-457200" fontAlgn="base">
              <a:buFont typeface="+mj-lt"/>
              <a:buAutoNum type="arabicPeriod"/>
            </a:pPr>
            <a:r>
              <a:rPr lang="en-GB" dirty="0">
                <a:solidFill>
                  <a:srgbClr val="333333"/>
                </a:solidFill>
                <a:latin typeface="Montserrat" pitchFamily="2" charset="77"/>
              </a:rPr>
              <a:t>the CPU context into the </a:t>
            </a:r>
            <a:r>
              <a:rPr lang="en-GB" b="0" i="0" dirty="0">
                <a:solidFill>
                  <a:srgbClr val="333333"/>
                </a:solidFill>
                <a:effectLst/>
                <a:latin typeface="Montserrat" pitchFamily="2" charset="77"/>
              </a:rPr>
              <a:t>PCB of the process + the memory of the process</a:t>
            </a:r>
          </a:p>
          <a:p>
            <a:pPr marL="457200" indent="-457200" algn="l" fontAlgn="base">
              <a:buFont typeface="+mj-lt"/>
              <a:buAutoNum type="arabicPeriod"/>
            </a:pPr>
            <a:r>
              <a:rPr lang="en-GB" b="0" i="0" dirty="0">
                <a:solidFill>
                  <a:srgbClr val="333333"/>
                </a:solidFill>
                <a:effectLst/>
                <a:latin typeface="Montserrat" pitchFamily="2" charset="77"/>
              </a:rPr>
              <a:t>the memory of the process</a:t>
            </a:r>
          </a:p>
        </p:txBody>
      </p:sp>
      <p:sp>
        <p:nvSpPr>
          <p:cNvPr id="4" name="Date Placeholder 3">
            <a:extLst>
              <a:ext uri="{FF2B5EF4-FFF2-40B4-BE49-F238E27FC236}">
                <a16:creationId xmlns:a16="http://schemas.microsoft.com/office/drawing/2014/main" id="{83F2ECAB-0889-9A12-A9E8-2EFF22D20575}"/>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AF2D0EA7-B6B4-158B-730F-644FBE5C98E9}"/>
              </a:ext>
            </a:extLst>
          </p:cNvPr>
          <p:cNvSpPr>
            <a:spLocks noGrp="1"/>
          </p:cNvSpPr>
          <p:nvPr>
            <p:ph type="ftr" sz="quarter" idx="11"/>
          </p:nvPr>
        </p:nvSpPr>
        <p:spPr/>
        <p:txBody>
          <a:bodyPr/>
          <a:lstStyle/>
          <a:p>
            <a:r>
              <a:rPr lang="en-US"/>
              <a:t>Operating Systems - Processes</a:t>
            </a:r>
          </a:p>
        </p:txBody>
      </p:sp>
      <p:sp>
        <p:nvSpPr>
          <p:cNvPr id="6" name="Slide Number Placeholder 5">
            <a:extLst>
              <a:ext uri="{FF2B5EF4-FFF2-40B4-BE49-F238E27FC236}">
                <a16:creationId xmlns:a16="http://schemas.microsoft.com/office/drawing/2014/main" id="{FF8FCB76-F827-C65D-940C-393A0255FCBC}"/>
              </a:ext>
            </a:extLst>
          </p:cNvPr>
          <p:cNvSpPr>
            <a:spLocks noGrp="1"/>
          </p:cNvSpPr>
          <p:nvPr>
            <p:ph type="sldNum" sz="quarter" idx="12"/>
          </p:nvPr>
        </p:nvSpPr>
        <p:spPr/>
        <p:txBody>
          <a:bodyPr/>
          <a:lstStyle/>
          <a:p>
            <a:fld id="{95AAEEEC-DCEC-4178-AB14-E7254A15A296}" type="slidenum">
              <a:rPr lang="en-US" smtClean="0"/>
              <a:t>58</a:t>
            </a:fld>
            <a:endParaRPr lang="en-US"/>
          </a:p>
        </p:txBody>
      </p:sp>
    </p:spTree>
    <p:extLst>
      <p:ext uri="{BB962C8B-B14F-4D97-AF65-F5344CB8AC3E}">
        <p14:creationId xmlns:p14="http://schemas.microsoft.com/office/powerpoint/2010/main" val="375426615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7B57D7-5802-228E-2D5F-778BCF9BBAF5}"/>
              </a:ext>
            </a:extLst>
          </p:cNvPr>
          <p:cNvSpPr>
            <a:spLocks noGrp="1"/>
          </p:cNvSpPr>
          <p:nvPr>
            <p:ph type="title"/>
          </p:nvPr>
        </p:nvSpPr>
        <p:spPr/>
        <p:txBody>
          <a:bodyPr/>
          <a:lstStyle/>
          <a:p>
            <a:r>
              <a:rPr lang="en-SE" dirty="0"/>
              <a:t>Which of the </a:t>
            </a:r>
            <a:r>
              <a:rPr lang="en-SE"/>
              <a:t>following </a:t>
            </a:r>
            <a:r>
              <a:rPr lang="en-US" dirty="0"/>
              <a:t>statements</a:t>
            </a:r>
            <a:r>
              <a:rPr lang="en-SE"/>
              <a:t> </a:t>
            </a:r>
            <a:r>
              <a:rPr lang="en-SE" dirty="0"/>
              <a:t>is false?</a:t>
            </a:r>
          </a:p>
        </p:txBody>
      </p:sp>
      <p:sp>
        <p:nvSpPr>
          <p:cNvPr id="3" name="Content Placeholder 2">
            <a:extLst>
              <a:ext uri="{FF2B5EF4-FFF2-40B4-BE49-F238E27FC236}">
                <a16:creationId xmlns:a16="http://schemas.microsoft.com/office/drawing/2014/main" id="{E2E84E5F-F8B8-44A6-5D92-AA66B2B04BB1}"/>
              </a:ext>
            </a:extLst>
          </p:cNvPr>
          <p:cNvSpPr>
            <a:spLocks noGrp="1"/>
          </p:cNvSpPr>
          <p:nvPr>
            <p:ph idx="1"/>
          </p:nvPr>
        </p:nvSpPr>
        <p:spPr>
          <a:xfrm>
            <a:off x="628651" y="2226469"/>
            <a:ext cx="3702326" cy="3263504"/>
          </a:xfrm>
        </p:spPr>
        <p:txBody>
          <a:bodyPr/>
          <a:lstStyle/>
          <a:p>
            <a:pPr marL="457200" indent="-457200" fontAlgn="base">
              <a:buFont typeface="+mj-lt"/>
              <a:buAutoNum type="arabicPeriod"/>
            </a:pPr>
            <a:r>
              <a:rPr lang="en-GB" b="0" dirty="0">
                <a:effectLst/>
                <a:latin typeface="inherit"/>
              </a:rPr>
              <a:t>Line 4 can be executed by the parent AND the child process</a:t>
            </a:r>
            <a:endParaRPr lang="en-GB" dirty="0">
              <a:latin typeface="inherit"/>
            </a:endParaRPr>
          </a:p>
          <a:p>
            <a:pPr marL="457200" indent="-457200" fontAlgn="base">
              <a:buFont typeface="+mj-lt"/>
              <a:buAutoNum type="arabicPeriod"/>
            </a:pPr>
            <a:r>
              <a:rPr lang="en-GB" b="0" dirty="0">
                <a:effectLst/>
                <a:latin typeface="inherit"/>
              </a:rPr>
              <a:t>Line 7 is executed by the parent process</a:t>
            </a:r>
          </a:p>
          <a:p>
            <a:pPr marL="457200" indent="-457200" algn="l" fontAlgn="base">
              <a:buFont typeface="+mj-lt"/>
              <a:buAutoNum type="arabicPeriod"/>
            </a:pPr>
            <a:r>
              <a:rPr lang="en-GB" b="0" i="0" dirty="0">
                <a:solidFill>
                  <a:srgbClr val="333333"/>
                </a:solidFill>
                <a:effectLst/>
                <a:latin typeface="inherit"/>
              </a:rPr>
              <a:t>Line 7 is executed by the child process</a:t>
            </a:r>
          </a:p>
        </p:txBody>
      </p:sp>
      <p:pic>
        <p:nvPicPr>
          <p:cNvPr id="1028" name="Picture 4">
            <a:extLst>
              <a:ext uri="{FF2B5EF4-FFF2-40B4-BE49-F238E27FC236}">
                <a16:creationId xmlns:a16="http://schemas.microsoft.com/office/drawing/2014/main" id="{1A6D0F76-469F-5F98-F4DD-88D6D1AB0BD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72000" y="2022872"/>
            <a:ext cx="3867150" cy="3467100"/>
          </a:xfrm>
          <a:prstGeom prst="rect">
            <a:avLst/>
          </a:prstGeom>
          <a:noFill/>
          <a:extLst>
            <a:ext uri="{909E8E84-426E-40DD-AFC4-6F175D3DCCD1}">
              <a14:hiddenFill xmlns:a14="http://schemas.microsoft.com/office/drawing/2010/main">
                <a:solidFill>
                  <a:srgbClr val="FFFFFF"/>
                </a:solidFill>
              </a14:hiddenFill>
            </a:ext>
          </a:extLst>
        </p:spPr>
      </p:pic>
      <p:sp>
        <p:nvSpPr>
          <p:cNvPr id="4" name="Date Placeholder 3">
            <a:extLst>
              <a:ext uri="{FF2B5EF4-FFF2-40B4-BE49-F238E27FC236}">
                <a16:creationId xmlns:a16="http://schemas.microsoft.com/office/drawing/2014/main" id="{96779C27-ECFC-ECB8-ACAF-B49D6DBD971B}"/>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C7091BCE-EBA3-5184-1293-E87236D8FEFB}"/>
              </a:ext>
            </a:extLst>
          </p:cNvPr>
          <p:cNvSpPr>
            <a:spLocks noGrp="1"/>
          </p:cNvSpPr>
          <p:nvPr>
            <p:ph type="ftr" sz="quarter" idx="11"/>
          </p:nvPr>
        </p:nvSpPr>
        <p:spPr/>
        <p:txBody>
          <a:bodyPr/>
          <a:lstStyle/>
          <a:p>
            <a:r>
              <a:rPr lang="en-US"/>
              <a:t>Operating Systems - Processes</a:t>
            </a:r>
          </a:p>
        </p:txBody>
      </p:sp>
      <p:sp>
        <p:nvSpPr>
          <p:cNvPr id="6" name="Slide Number Placeholder 5">
            <a:extLst>
              <a:ext uri="{FF2B5EF4-FFF2-40B4-BE49-F238E27FC236}">
                <a16:creationId xmlns:a16="http://schemas.microsoft.com/office/drawing/2014/main" id="{7D47DBA6-2633-7ED6-95D1-F2D5287A3525}"/>
              </a:ext>
            </a:extLst>
          </p:cNvPr>
          <p:cNvSpPr>
            <a:spLocks noGrp="1"/>
          </p:cNvSpPr>
          <p:nvPr>
            <p:ph type="sldNum" sz="quarter" idx="12"/>
          </p:nvPr>
        </p:nvSpPr>
        <p:spPr/>
        <p:txBody>
          <a:bodyPr/>
          <a:lstStyle/>
          <a:p>
            <a:fld id="{95AAEEEC-DCEC-4178-AB14-E7254A15A296}" type="slidenum">
              <a:rPr lang="en-US" smtClean="0"/>
              <a:t>59</a:t>
            </a:fld>
            <a:endParaRPr lang="en-US"/>
          </a:p>
        </p:txBody>
      </p:sp>
    </p:spTree>
    <p:extLst>
      <p:ext uri="{BB962C8B-B14F-4D97-AF65-F5344CB8AC3E}">
        <p14:creationId xmlns:p14="http://schemas.microsoft.com/office/powerpoint/2010/main" val="270411024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B1B074-1AB2-B430-9B70-CC524206E8AA}"/>
              </a:ext>
            </a:extLst>
          </p:cNvPr>
          <p:cNvSpPr>
            <a:spLocks noGrp="1"/>
          </p:cNvSpPr>
          <p:nvPr>
            <p:ph type="title"/>
          </p:nvPr>
        </p:nvSpPr>
        <p:spPr/>
        <p:txBody>
          <a:bodyPr>
            <a:normAutofit/>
          </a:bodyPr>
          <a:lstStyle/>
          <a:p>
            <a:pPr fontAlgn="base"/>
            <a:r>
              <a:rPr lang="en-GB" b="1" i="0" dirty="0">
                <a:solidFill>
                  <a:srgbClr val="333333"/>
                </a:solidFill>
                <a:effectLst/>
                <a:latin typeface="inherit"/>
              </a:rPr>
              <a:t>Which type of pipes require a parent-child relationship between two processes?</a:t>
            </a:r>
            <a:endParaRPr lang="en-SE" dirty="0"/>
          </a:p>
        </p:txBody>
      </p:sp>
      <p:sp>
        <p:nvSpPr>
          <p:cNvPr id="3" name="Content Placeholder 2">
            <a:extLst>
              <a:ext uri="{FF2B5EF4-FFF2-40B4-BE49-F238E27FC236}">
                <a16:creationId xmlns:a16="http://schemas.microsoft.com/office/drawing/2014/main" id="{8B1770C3-FFDA-3789-97B6-28B388F1173D}"/>
              </a:ext>
            </a:extLst>
          </p:cNvPr>
          <p:cNvSpPr>
            <a:spLocks noGrp="1"/>
          </p:cNvSpPr>
          <p:nvPr>
            <p:ph idx="1"/>
          </p:nvPr>
        </p:nvSpPr>
        <p:spPr/>
        <p:txBody>
          <a:bodyPr/>
          <a:lstStyle/>
          <a:p>
            <a:pPr marL="457200" indent="-457200">
              <a:buFont typeface="+mj-lt"/>
              <a:buAutoNum type="arabicPeriod"/>
            </a:pPr>
            <a:r>
              <a:rPr lang="en-SE"/>
              <a:t>Ordinary</a:t>
            </a:r>
            <a:endParaRPr lang="en-SE" dirty="0"/>
          </a:p>
          <a:p>
            <a:pPr marL="457200" indent="-457200">
              <a:buFont typeface="+mj-lt"/>
              <a:buAutoNum type="arabicPeriod"/>
            </a:pPr>
            <a:r>
              <a:rPr lang="en-SE"/>
              <a:t>Named</a:t>
            </a:r>
            <a:endParaRPr lang="en-US" dirty="0"/>
          </a:p>
          <a:p>
            <a:pPr marL="457200" indent="-457200">
              <a:buFont typeface="+mj-lt"/>
              <a:buAutoNum type="arabicPeriod"/>
            </a:pPr>
            <a:r>
              <a:rPr lang="en-US" dirty="0"/>
              <a:t>None of the above</a:t>
            </a:r>
            <a:endParaRPr lang="en-SE" dirty="0"/>
          </a:p>
        </p:txBody>
      </p:sp>
      <p:sp>
        <p:nvSpPr>
          <p:cNvPr id="4" name="Date Placeholder 3">
            <a:extLst>
              <a:ext uri="{FF2B5EF4-FFF2-40B4-BE49-F238E27FC236}">
                <a16:creationId xmlns:a16="http://schemas.microsoft.com/office/drawing/2014/main" id="{8ADAA9EF-4FBF-ED2A-B58B-5DECB45D7E7C}"/>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CF0BF00D-93E2-CC00-F681-221B5CC470DA}"/>
              </a:ext>
            </a:extLst>
          </p:cNvPr>
          <p:cNvSpPr>
            <a:spLocks noGrp="1"/>
          </p:cNvSpPr>
          <p:nvPr>
            <p:ph type="ftr" sz="quarter" idx="11"/>
          </p:nvPr>
        </p:nvSpPr>
        <p:spPr/>
        <p:txBody>
          <a:bodyPr/>
          <a:lstStyle/>
          <a:p>
            <a:r>
              <a:rPr lang="en-US"/>
              <a:t>Operating Systems - Processes</a:t>
            </a:r>
          </a:p>
        </p:txBody>
      </p:sp>
      <p:sp>
        <p:nvSpPr>
          <p:cNvPr id="6" name="Slide Number Placeholder 5">
            <a:extLst>
              <a:ext uri="{FF2B5EF4-FFF2-40B4-BE49-F238E27FC236}">
                <a16:creationId xmlns:a16="http://schemas.microsoft.com/office/drawing/2014/main" id="{33203F15-C140-C894-AB14-0E239A5B9BBF}"/>
              </a:ext>
            </a:extLst>
          </p:cNvPr>
          <p:cNvSpPr>
            <a:spLocks noGrp="1"/>
          </p:cNvSpPr>
          <p:nvPr>
            <p:ph type="sldNum" sz="quarter" idx="12"/>
          </p:nvPr>
        </p:nvSpPr>
        <p:spPr/>
        <p:txBody>
          <a:bodyPr/>
          <a:lstStyle/>
          <a:p>
            <a:fld id="{95AAEEEC-DCEC-4178-AB14-E7254A15A296}" type="slidenum">
              <a:rPr lang="en-US" smtClean="0"/>
              <a:t>60</a:t>
            </a:fld>
            <a:endParaRPr lang="en-US"/>
          </a:p>
        </p:txBody>
      </p:sp>
    </p:spTree>
    <p:extLst>
      <p:ext uri="{BB962C8B-B14F-4D97-AF65-F5344CB8AC3E}">
        <p14:creationId xmlns:p14="http://schemas.microsoft.com/office/powerpoint/2010/main" val="246302019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B1A0A-758B-F067-B711-BD7B842B34EE}"/>
              </a:ext>
            </a:extLst>
          </p:cNvPr>
          <p:cNvSpPr>
            <a:spLocks noGrp="1"/>
          </p:cNvSpPr>
          <p:nvPr>
            <p:ph type="title"/>
          </p:nvPr>
        </p:nvSpPr>
        <p:spPr/>
        <p:txBody>
          <a:bodyPr>
            <a:normAutofit/>
          </a:bodyPr>
          <a:lstStyle/>
          <a:p>
            <a:pPr fontAlgn="base"/>
            <a:r>
              <a:rPr lang="en-GB" b="1" i="0" dirty="0">
                <a:solidFill>
                  <a:srgbClr val="333333"/>
                </a:solidFill>
                <a:effectLst/>
                <a:latin typeface="inherit"/>
              </a:rPr>
              <a:t>Including the initial parent process, how many processes are created by this code?</a:t>
            </a:r>
            <a:endParaRPr lang="en-SE" dirty="0"/>
          </a:p>
        </p:txBody>
      </p:sp>
      <p:sp>
        <p:nvSpPr>
          <p:cNvPr id="3" name="Content Placeholder 2">
            <a:extLst>
              <a:ext uri="{FF2B5EF4-FFF2-40B4-BE49-F238E27FC236}">
                <a16:creationId xmlns:a16="http://schemas.microsoft.com/office/drawing/2014/main" id="{5FD8BA12-3D20-9783-9193-DA13A29C2994}"/>
              </a:ext>
            </a:extLst>
          </p:cNvPr>
          <p:cNvSpPr>
            <a:spLocks noGrp="1"/>
          </p:cNvSpPr>
          <p:nvPr>
            <p:ph idx="1"/>
          </p:nvPr>
        </p:nvSpPr>
        <p:spPr>
          <a:xfrm>
            <a:off x="628650" y="2226469"/>
            <a:ext cx="3381789" cy="3263504"/>
          </a:xfrm>
        </p:spPr>
        <p:txBody>
          <a:bodyPr/>
          <a:lstStyle/>
          <a:p>
            <a:pPr marL="457200" indent="-457200">
              <a:buFont typeface="+mj-lt"/>
              <a:buAutoNum type="arabicPeriod"/>
            </a:pPr>
            <a:r>
              <a:rPr lang="en-SE" dirty="0"/>
              <a:t>4</a:t>
            </a:r>
          </a:p>
          <a:p>
            <a:pPr marL="457200" indent="-457200">
              <a:buFont typeface="+mj-lt"/>
              <a:buAutoNum type="arabicPeriod"/>
            </a:pPr>
            <a:r>
              <a:rPr lang="en-SE" dirty="0"/>
              <a:t>5</a:t>
            </a:r>
          </a:p>
          <a:p>
            <a:pPr marL="457200" indent="-457200">
              <a:buFont typeface="+mj-lt"/>
              <a:buAutoNum type="arabicPeriod"/>
            </a:pPr>
            <a:r>
              <a:rPr lang="en-SE"/>
              <a:t>16</a:t>
            </a:r>
            <a:endParaRPr lang="en-SE" dirty="0"/>
          </a:p>
          <a:p>
            <a:pPr marL="457200" indent="-457200">
              <a:buFont typeface="+mj-lt"/>
              <a:buAutoNum type="arabicPeriod"/>
            </a:pPr>
            <a:r>
              <a:rPr lang="en-SE" dirty="0"/>
              <a:t>31</a:t>
            </a:r>
          </a:p>
        </p:txBody>
      </p:sp>
      <p:pic>
        <p:nvPicPr>
          <p:cNvPr id="2050" name="Picture 2">
            <a:extLst>
              <a:ext uri="{FF2B5EF4-FFF2-40B4-BE49-F238E27FC236}">
                <a16:creationId xmlns:a16="http://schemas.microsoft.com/office/drawing/2014/main" id="{F9DAA37A-3F4F-0CFB-7953-56ADF42CBF3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393069" y="2226469"/>
            <a:ext cx="3952875" cy="3429000"/>
          </a:xfrm>
          <a:prstGeom prst="rect">
            <a:avLst/>
          </a:prstGeom>
          <a:noFill/>
          <a:extLst>
            <a:ext uri="{909E8E84-426E-40DD-AFC4-6F175D3DCCD1}">
              <a14:hiddenFill xmlns:a14="http://schemas.microsoft.com/office/drawing/2010/main">
                <a:solidFill>
                  <a:srgbClr val="FFFFFF"/>
                </a:solidFill>
              </a14:hiddenFill>
            </a:ext>
          </a:extLst>
        </p:spPr>
      </p:pic>
      <p:sp>
        <p:nvSpPr>
          <p:cNvPr id="4" name="Date Placeholder 3">
            <a:extLst>
              <a:ext uri="{FF2B5EF4-FFF2-40B4-BE49-F238E27FC236}">
                <a16:creationId xmlns:a16="http://schemas.microsoft.com/office/drawing/2014/main" id="{34B9AA4F-DEDE-7726-6A0C-992FA1BE3EE7}"/>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BA689420-0423-FB1D-B775-5CBACF904FF5}"/>
              </a:ext>
            </a:extLst>
          </p:cNvPr>
          <p:cNvSpPr>
            <a:spLocks noGrp="1"/>
          </p:cNvSpPr>
          <p:nvPr>
            <p:ph type="ftr" sz="quarter" idx="11"/>
          </p:nvPr>
        </p:nvSpPr>
        <p:spPr/>
        <p:txBody>
          <a:bodyPr/>
          <a:lstStyle/>
          <a:p>
            <a:r>
              <a:rPr lang="en-US"/>
              <a:t>Operating Systems - Processes</a:t>
            </a:r>
          </a:p>
        </p:txBody>
      </p:sp>
      <p:sp>
        <p:nvSpPr>
          <p:cNvPr id="6" name="Slide Number Placeholder 5">
            <a:extLst>
              <a:ext uri="{FF2B5EF4-FFF2-40B4-BE49-F238E27FC236}">
                <a16:creationId xmlns:a16="http://schemas.microsoft.com/office/drawing/2014/main" id="{5245AB76-873F-7A24-834B-F64DE3677BCC}"/>
              </a:ext>
            </a:extLst>
          </p:cNvPr>
          <p:cNvSpPr>
            <a:spLocks noGrp="1"/>
          </p:cNvSpPr>
          <p:nvPr>
            <p:ph type="sldNum" sz="quarter" idx="12"/>
          </p:nvPr>
        </p:nvSpPr>
        <p:spPr/>
        <p:txBody>
          <a:bodyPr/>
          <a:lstStyle/>
          <a:p>
            <a:fld id="{95AAEEEC-DCEC-4178-AB14-E7254A15A296}" type="slidenum">
              <a:rPr lang="en-US" smtClean="0"/>
              <a:t>61</a:t>
            </a:fld>
            <a:endParaRPr lang="en-US"/>
          </a:p>
        </p:txBody>
      </p:sp>
    </p:spTree>
    <p:extLst>
      <p:ext uri="{BB962C8B-B14F-4D97-AF65-F5344CB8AC3E}">
        <p14:creationId xmlns:p14="http://schemas.microsoft.com/office/powerpoint/2010/main" val="343216954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dirty="0"/>
              <a:t>Question 2</a:t>
            </a:r>
          </a:p>
        </p:txBody>
      </p:sp>
      <p:pic>
        <p:nvPicPr>
          <p:cNvPr id="6" name="Picture 5"/>
          <p:cNvPicPr>
            <a:picLocks noChangeAspect="1"/>
          </p:cNvPicPr>
          <p:nvPr/>
        </p:nvPicPr>
        <p:blipFill>
          <a:blip r:embed="rId3"/>
          <a:stretch>
            <a:fillRect/>
          </a:stretch>
        </p:blipFill>
        <p:spPr>
          <a:xfrm>
            <a:off x="4322202" y="1007752"/>
            <a:ext cx="4486043" cy="4842979"/>
          </a:xfrm>
          <a:prstGeom prst="rect">
            <a:avLst/>
          </a:prstGeom>
        </p:spPr>
      </p:pic>
      <p:sp>
        <p:nvSpPr>
          <p:cNvPr id="7" name="Rectangle 6"/>
          <p:cNvSpPr/>
          <p:nvPr/>
        </p:nvSpPr>
        <p:spPr>
          <a:xfrm>
            <a:off x="685800" y="2482289"/>
            <a:ext cx="2956560" cy="553998"/>
          </a:xfrm>
          <a:prstGeom prst="rect">
            <a:avLst/>
          </a:prstGeom>
        </p:spPr>
        <p:txBody>
          <a:bodyPr wrap="square">
            <a:spAutoFit/>
          </a:bodyPr>
          <a:lstStyle/>
          <a:p>
            <a:r>
              <a:rPr lang="en-US" sz="1500" dirty="0"/>
              <a:t>What is printed by this program?</a:t>
            </a:r>
          </a:p>
        </p:txBody>
      </p:sp>
    </p:spTree>
    <p:extLst>
      <p:ext uri="{BB962C8B-B14F-4D97-AF65-F5344CB8AC3E}">
        <p14:creationId xmlns:p14="http://schemas.microsoft.com/office/powerpoint/2010/main" val="170410921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dirty="0"/>
              <a:t>Question 3</a:t>
            </a:r>
          </a:p>
        </p:txBody>
      </p:sp>
      <p:pic>
        <p:nvPicPr>
          <p:cNvPr id="5" name="Picture 4"/>
          <p:cNvPicPr>
            <a:picLocks noChangeAspect="1"/>
          </p:cNvPicPr>
          <p:nvPr/>
        </p:nvPicPr>
        <p:blipFill>
          <a:blip r:embed="rId3"/>
          <a:stretch>
            <a:fillRect/>
          </a:stretch>
        </p:blipFill>
        <p:spPr>
          <a:xfrm>
            <a:off x="4269365" y="1071562"/>
            <a:ext cx="4681754" cy="4822031"/>
          </a:xfrm>
          <a:prstGeom prst="rect">
            <a:avLst/>
          </a:prstGeom>
        </p:spPr>
      </p:pic>
      <p:sp>
        <p:nvSpPr>
          <p:cNvPr id="6" name="Rectangle 5"/>
          <p:cNvSpPr/>
          <p:nvPr/>
        </p:nvSpPr>
        <p:spPr>
          <a:xfrm>
            <a:off x="685800" y="2413709"/>
            <a:ext cx="3413760" cy="323165"/>
          </a:xfrm>
          <a:prstGeom prst="rect">
            <a:avLst/>
          </a:prstGeom>
        </p:spPr>
        <p:txBody>
          <a:bodyPr wrap="square">
            <a:spAutoFit/>
          </a:bodyPr>
          <a:lstStyle/>
          <a:p>
            <a:r>
              <a:rPr lang="en-US" sz="1500" dirty="0"/>
              <a:t>What is printed by this program?</a:t>
            </a:r>
          </a:p>
        </p:txBody>
      </p:sp>
    </p:spTree>
    <p:extLst>
      <p:ext uri="{BB962C8B-B14F-4D97-AF65-F5344CB8AC3E}">
        <p14:creationId xmlns:p14="http://schemas.microsoft.com/office/powerpoint/2010/main" val="138942204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dirty="0"/>
              <a:t>Question 4</a:t>
            </a:r>
          </a:p>
        </p:txBody>
      </p:sp>
      <p:sp>
        <p:nvSpPr>
          <p:cNvPr id="3" name="Rectangle 2"/>
          <p:cNvSpPr/>
          <p:nvPr/>
        </p:nvSpPr>
        <p:spPr>
          <a:xfrm>
            <a:off x="685800" y="2482290"/>
            <a:ext cx="7881257" cy="1708160"/>
          </a:xfrm>
          <a:prstGeom prst="rect">
            <a:avLst/>
          </a:prstGeom>
        </p:spPr>
        <p:txBody>
          <a:bodyPr wrap="square">
            <a:spAutoFit/>
          </a:bodyPr>
          <a:lstStyle/>
          <a:p>
            <a:r>
              <a:rPr lang="en-US" sz="2100" dirty="0"/>
              <a:t>Consider a </a:t>
            </a:r>
            <a:r>
              <a:rPr lang="en-US" sz="2100" dirty="0" err="1"/>
              <a:t>multiprogrammed</a:t>
            </a:r>
            <a:r>
              <a:rPr lang="en-US" sz="2100" dirty="0"/>
              <a:t> system with a degree of multiprogramming of 5 (i.e., five processes are present in memory and competing for CPU time). If each process spends 40% of its time waiting for I/O (independently of others), what will the CPU utilization be?</a:t>
            </a:r>
          </a:p>
        </p:txBody>
      </p:sp>
    </p:spTree>
    <p:extLst>
      <p:ext uri="{BB962C8B-B14F-4D97-AF65-F5344CB8AC3E}">
        <p14:creationId xmlns:p14="http://schemas.microsoft.com/office/powerpoint/2010/main" val="103322752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Garamond">
      <a:majorFont>
        <a:latin typeface="Garamond" panose="02020404030301010803"/>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Garamond" panose="02020404030301010803"/>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
  <TotalTime>17134</TotalTime>
  <Words>4927</Words>
  <Application>Microsoft Macintosh PowerPoint</Application>
  <PresentationFormat>On-screen Show (4:3)</PresentationFormat>
  <Paragraphs>760</Paragraphs>
  <Slides>64</Slides>
  <Notes>57</Notes>
  <HiddenSlides>0</HiddenSlides>
  <MMClips>0</MMClips>
  <ScaleCrop>false</ScaleCrop>
  <HeadingPairs>
    <vt:vector size="6" baseType="variant">
      <vt:variant>
        <vt:lpstr>Fonts Used</vt:lpstr>
      </vt:variant>
      <vt:variant>
        <vt:i4>12</vt:i4>
      </vt:variant>
      <vt:variant>
        <vt:lpstr>Theme</vt:lpstr>
      </vt:variant>
      <vt:variant>
        <vt:i4>1</vt:i4>
      </vt:variant>
      <vt:variant>
        <vt:lpstr>Slide Titles</vt:lpstr>
      </vt:variant>
      <vt:variant>
        <vt:i4>64</vt:i4>
      </vt:variant>
    </vt:vector>
  </HeadingPairs>
  <TitlesOfParts>
    <vt:vector size="77" baseType="lpstr">
      <vt:lpstr>ＭＳ Ｐゴシック</vt:lpstr>
      <vt:lpstr>Arial</vt:lpstr>
      <vt:lpstr>Courier New</vt:lpstr>
      <vt:lpstr>Garamond</vt:lpstr>
      <vt:lpstr>Helvetica</vt:lpstr>
      <vt:lpstr>inherit</vt:lpstr>
      <vt:lpstr>Menlo-Regular</vt:lpstr>
      <vt:lpstr>Montserrat</vt:lpstr>
      <vt:lpstr>Symbol</vt:lpstr>
      <vt:lpstr>Times New Roman</vt:lpstr>
      <vt:lpstr>Verdana</vt:lpstr>
      <vt:lpstr>Wingdings</vt:lpstr>
      <vt:lpstr>Office Theme</vt:lpstr>
      <vt:lpstr>Processes Operating Systems – EDA093/DIT401  Vincenzo Gulisano vincenzo.gulisano@chalmers.se</vt:lpstr>
      <vt:lpstr>What to read (Main textbook)</vt:lpstr>
      <vt:lpstr>Objectives</vt:lpstr>
      <vt:lpstr>AGENDA</vt:lpstr>
      <vt:lpstr>AGENDA</vt:lpstr>
      <vt:lpstr>PowerPoint Presentation</vt:lpstr>
      <vt:lpstr>Concurrent vs Parallel execution</vt:lpstr>
      <vt:lpstr>PowerPoint Presentation</vt:lpstr>
      <vt:lpstr>Process Concept</vt:lpstr>
      <vt:lpstr>Process in Memory</vt:lpstr>
      <vt:lpstr>Diagram of Process State</vt:lpstr>
      <vt:lpstr>Context Switch</vt:lpstr>
      <vt:lpstr>Process Control Block (PCB)</vt:lpstr>
      <vt:lpstr>AGENDA</vt:lpstr>
      <vt:lpstr>Process Scheduling</vt:lpstr>
      <vt:lpstr>Ready Queue And Various I/O Device Queues</vt:lpstr>
      <vt:lpstr>Representation of Process Scheduling</vt:lpstr>
      <vt:lpstr>Schedulers</vt:lpstr>
      <vt:lpstr>AGENDA</vt:lpstr>
      <vt:lpstr>Operations on Processes</vt:lpstr>
      <vt:lpstr>Process Creation</vt:lpstr>
      <vt:lpstr>A Tree of Processes in Linux</vt:lpstr>
      <vt:lpstr>pstree -pl</vt:lpstr>
      <vt:lpstr>Process Creation (Cont.)</vt:lpstr>
      <vt:lpstr>C Program Forking Separate Process</vt:lpstr>
      <vt:lpstr>Process Termination</vt:lpstr>
      <vt:lpstr>Process Termination</vt:lpstr>
      <vt:lpstr>Multiprocess Architecture – Chrome Browser</vt:lpstr>
      <vt:lpstr>AGENDA</vt:lpstr>
      <vt:lpstr>Interprocess Communication</vt:lpstr>
      <vt:lpstr>Communication Models </vt:lpstr>
      <vt:lpstr>Cooperating processes: Producer-Consumer Problem</vt:lpstr>
      <vt:lpstr>Interprocess Communication –  Shared Memory</vt:lpstr>
      <vt:lpstr>Interprocess Communication – Message Passing</vt:lpstr>
      <vt:lpstr>Logical implementation – Issues [Self-reading section]</vt:lpstr>
      <vt:lpstr>Logical implementation – Issues</vt:lpstr>
      <vt:lpstr>Direct Communication</vt:lpstr>
      <vt:lpstr>Indirect Communication</vt:lpstr>
      <vt:lpstr>Indirect Communication</vt:lpstr>
      <vt:lpstr>Logical implementation – Issues</vt:lpstr>
      <vt:lpstr>Synchronization</vt:lpstr>
      <vt:lpstr>Synchronization (Cont.)</vt:lpstr>
      <vt:lpstr>Logical implementation – Issues</vt:lpstr>
      <vt:lpstr>Buffering</vt:lpstr>
      <vt:lpstr>Examples of IPC Systems – Windows</vt:lpstr>
      <vt:lpstr>Local Procedure Calls in Windows</vt:lpstr>
      <vt:lpstr>Pipes</vt:lpstr>
      <vt:lpstr>Ordinary Pipes</vt:lpstr>
      <vt:lpstr>Named Pipes</vt:lpstr>
      <vt:lpstr>Pipes in UNIX</vt:lpstr>
      <vt:lpstr>Pipes in UNIX</vt:lpstr>
      <vt:lpstr>Ordinary Pipes - example</vt:lpstr>
      <vt:lpstr>Ordinary Pipes - example</vt:lpstr>
      <vt:lpstr>PowerPoint Presentation</vt:lpstr>
      <vt:lpstr>Questions</vt:lpstr>
      <vt:lpstr>The instruction to be run next when process X is scheduled is maintained in ...</vt:lpstr>
      <vt:lpstr>Which of the following state transitions is not valid?</vt:lpstr>
      <vt:lpstr>During a context switch, what is saved by the OS (to be later re-loaded) is ...</vt:lpstr>
      <vt:lpstr>Which of the following statements is false?</vt:lpstr>
      <vt:lpstr>Which type of pipes require a parent-child relationship between two processes?</vt:lpstr>
      <vt:lpstr>Including the initial parent process, how many processes are created by this code?</vt:lpstr>
      <vt:lpstr>Question 2</vt:lpstr>
      <vt:lpstr>Question 3</vt:lpstr>
      <vt:lpstr>Question 4</vt:lpstr>
    </vt:vector>
  </TitlesOfParts>
  <Company>Lucent Technologies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2.01</dc:title>
  <dc:creator>Lucent End User</dc:creator>
  <cp:lastModifiedBy>Vincenzo Gulisano</cp:lastModifiedBy>
  <cp:revision>467</cp:revision>
  <cp:lastPrinted>2019-09-09T06:24:30Z</cp:lastPrinted>
  <dcterms:created xsi:type="dcterms:W3CDTF">2011-01-13T23:43:38Z</dcterms:created>
  <dcterms:modified xsi:type="dcterms:W3CDTF">2026-09-06T16:20:15Z</dcterms:modified>
</cp:coreProperties>
</file>