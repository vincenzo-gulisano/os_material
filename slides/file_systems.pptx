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  <p:sldMasterId id="2147483750" r:id="rId2"/>
  </p:sldMasterIdLst>
  <p:notesMasterIdLst>
    <p:notesMasterId r:id="rId64"/>
  </p:notesMasterIdLst>
  <p:handoutMasterIdLst>
    <p:handoutMasterId r:id="rId65"/>
  </p:handoutMasterIdLst>
  <p:sldIdLst>
    <p:sldId id="319" r:id="rId3"/>
    <p:sldId id="353" r:id="rId4"/>
    <p:sldId id="258" r:id="rId5"/>
    <p:sldId id="320" r:id="rId6"/>
    <p:sldId id="321" r:id="rId7"/>
    <p:sldId id="355" r:id="rId8"/>
    <p:sldId id="259" r:id="rId9"/>
    <p:sldId id="261" r:id="rId10"/>
    <p:sldId id="267" r:id="rId11"/>
    <p:sldId id="263" r:id="rId12"/>
    <p:sldId id="262" r:id="rId13"/>
    <p:sldId id="323" r:id="rId14"/>
    <p:sldId id="324" r:id="rId15"/>
    <p:sldId id="356" r:id="rId16"/>
    <p:sldId id="268" r:id="rId17"/>
    <p:sldId id="363" r:id="rId18"/>
    <p:sldId id="332" r:id="rId19"/>
    <p:sldId id="333" r:id="rId20"/>
    <p:sldId id="357" r:id="rId21"/>
    <p:sldId id="378" r:id="rId22"/>
    <p:sldId id="327" r:id="rId23"/>
    <p:sldId id="328" r:id="rId24"/>
    <p:sldId id="329" r:id="rId25"/>
    <p:sldId id="330" r:id="rId26"/>
    <p:sldId id="331" r:id="rId27"/>
    <p:sldId id="379" r:id="rId28"/>
    <p:sldId id="380" r:id="rId29"/>
    <p:sldId id="381" r:id="rId30"/>
    <p:sldId id="383" r:id="rId31"/>
    <p:sldId id="382" r:id="rId32"/>
    <p:sldId id="265" r:id="rId33"/>
    <p:sldId id="266" r:id="rId34"/>
    <p:sldId id="376" r:id="rId35"/>
    <p:sldId id="358" r:id="rId36"/>
    <p:sldId id="275" r:id="rId37"/>
    <p:sldId id="277" r:id="rId38"/>
    <p:sldId id="278" r:id="rId39"/>
    <p:sldId id="279" r:id="rId40"/>
    <p:sldId id="335" r:id="rId41"/>
    <p:sldId id="282" r:id="rId42"/>
    <p:sldId id="373" r:id="rId43"/>
    <p:sldId id="359" r:id="rId44"/>
    <p:sldId id="339" r:id="rId45"/>
    <p:sldId id="352" r:id="rId46"/>
    <p:sldId id="341" r:id="rId47"/>
    <p:sldId id="360" r:id="rId48"/>
    <p:sldId id="342" r:id="rId49"/>
    <p:sldId id="343" r:id="rId50"/>
    <p:sldId id="344" r:id="rId51"/>
    <p:sldId id="345" r:id="rId52"/>
    <p:sldId id="361" r:id="rId53"/>
    <p:sldId id="347" r:id="rId54"/>
    <p:sldId id="375" r:id="rId55"/>
    <p:sldId id="362" r:id="rId56"/>
    <p:sldId id="294" r:id="rId57"/>
    <p:sldId id="295" r:id="rId58"/>
    <p:sldId id="297" r:id="rId59"/>
    <p:sldId id="298" r:id="rId60"/>
    <p:sldId id="377" r:id="rId61"/>
    <p:sldId id="269" r:id="rId62"/>
    <p:sldId id="270" r:id="rId63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8">
          <p15:clr>
            <a:srgbClr val="A4A3A4"/>
          </p15:clr>
        </p15:guide>
        <p15:guide id="2" pos="5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8B4E3-EF3E-2B48-8162-9893AB32770A}" v="17" dt="2025-10-02T05:56:55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5"/>
    <p:restoredTop sz="81222"/>
  </p:normalViewPr>
  <p:slideViewPr>
    <p:cSldViewPr snapToGrid="0">
      <p:cViewPr varScale="1">
        <p:scale>
          <a:sx n="93" d="100"/>
          <a:sy n="93" d="100"/>
        </p:scale>
        <p:origin x="2544" y="200"/>
      </p:cViewPr>
      <p:guideLst>
        <p:guide orient="horz" pos="788"/>
        <p:guide pos="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6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8EA10870-6395-588A-9409-E8E4CA631CF7}"/>
    <pc:docChg chg="custSel addSld modSld">
      <pc:chgData name="Vincenzo Massimiliano Gulisano" userId="887d7398-9e41-4331-abd4-9c23f064ea90" providerId="ADAL" clId="{8EA10870-6395-588A-9409-E8E4CA631CF7}" dt="2025-10-02T05:57:09.255" v="1376" actId="20577"/>
      <pc:docMkLst>
        <pc:docMk/>
      </pc:docMkLst>
      <pc:sldChg chg="modNotesTx">
        <pc:chgData name="Vincenzo Massimiliano Gulisano" userId="887d7398-9e41-4331-abd4-9c23f064ea90" providerId="ADAL" clId="{8EA10870-6395-588A-9409-E8E4CA631CF7}" dt="2025-10-02T05:57:09.255" v="1376" actId="20577"/>
        <pc:sldMkLst>
          <pc:docMk/>
          <pc:sldMk cId="0" sldId="259"/>
        </pc:sldMkLst>
      </pc:sldChg>
      <pc:sldChg chg="modSp add mod modNotesTx">
        <pc:chgData name="Vincenzo Massimiliano Gulisano" userId="887d7398-9e41-4331-abd4-9c23f064ea90" providerId="ADAL" clId="{8EA10870-6395-588A-9409-E8E4CA631CF7}" dt="2025-09-26T07:38:33.643" v="4" actId="20577"/>
        <pc:sldMkLst>
          <pc:docMk/>
          <pc:sldMk cId="549538568" sldId="265"/>
        </pc:sldMkLst>
        <pc:spChg chg="mod">
          <ac:chgData name="Vincenzo Massimiliano Gulisano" userId="887d7398-9e41-4331-abd4-9c23f064ea90" providerId="ADAL" clId="{8EA10870-6395-588A-9409-E8E4CA631CF7}" dt="2025-09-26T07:38:33.643" v="4" actId="20577"/>
          <ac:spMkLst>
            <pc:docMk/>
            <pc:sldMk cId="549538568" sldId="265"/>
            <ac:spMk id="3" creationId="{54A1E2FB-05F5-4470-76D7-892058CD1A97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8:45.520" v="8" actId="20577"/>
        <pc:sldMkLst>
          <pc:docMk/>
          <pc:sldMk cId="2856659632" sldId="266"/>
        </pc:sldMkLst>
        <pc:spChg chg="mod">
          <ac:chgData name="Vincenzo Massimiliano Gulisano" userId="887d7398-9e41-4331-abd4-9c23f064ea90" providerId="ADAL" clId="{8EA10870-6395-588A-9409-E8E4CA631CF7}" dt="2025-09-26T07:38:44.176" v="7" actId="20577"/>
          <ac:spMkLst>
            <pc:docMk/>
            <pc:sldMk cId="2856659632" sldId="266"/>
            <ac:spMk id="3" creationId="{2CB75B28-E666-DEDF-214F-50C81A65E852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9:30.437" v="21" actId="20577"/>
        <pc:sldMkLst>
          <pc:docMk/>
          <pc:sldMk cId="306250959" sldId="269"/>
        </pc:sldMkLst>
        <pc:spChg chg="mod">
          <ac:chgData name="Vincenzo Massimiliano Gulisano" userId="887d7398-9e41-4331-abd4-9c23f064ea90" providerId="ADAL" clId="{8EA10870-6395-588A-9409-E8E4CA631CF7}" dt="2025-09-26T07:39:30.437" v="21" actId="20577"/>
          <ac:spMkLst>
            <pc:docMk/>
            <pc:sldMk cId="306250959" sldId="269"/>
            <ac:spMk id="3" creationId="{DCB607D1-7081-B741-69AF-21E23FFC8212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9:41.539" v="25" actId="20577"/>
        <pc:sldMkLst>
          <pc:docMk/>
          <pc:sldMk cId="175550149" sldId="270"/>
        </pc:sldMkLst>
        <pc:spChg chg="mod">
          <ac:chgData name="Vincenzo Massimiliano Gulisano" userId="887d7398-9e41-4331-abd4-9c23f064ea90" providerId="ADAL" clId="{8EA10870-6395-588A-9409-E8E4CA631CF7}" dt="2025-09-26T07:39:39.973" v="24" actId="20577"/>
          <ac:spMkLst>
            <pc:docMk/>
            <pc:sldMk cId="175550149" sldId="270"/>
            <ac:spMk id="3" creationId="{AFEFA584-4745-E7DA-4108-DF92B41F7C03}"/>
          </ac:spMkLst>
        </pc:spChg>
      </pc:sldChg>
      <pc:sldChg chg="modSp mod">
        <pc:chgData name="Vincenzo Massimiliano Gulisano" userId="887d7398-9e41-4331-abd4-9c23f064ea90" providerId="ADAL" clId="{8EA10870-6395-588A-9409-E8E4CA631CF7}" dt="2025-10-01T05:44:04.731" v="160" actId="1038"/>
        <pc:sldMkLst>
          <pc:docMk/>
          <pc:sldMk cId="687374152" sldId="321"/>
        </pc:sldMkLst>
        <pc:spChg chg="mod">
          <ac:chgData name="Vincenzo Massimiliano Gulisano" userId="887d7398-9e41-4331-abd4-9c23f064ea90" providerId="ADAL" clId="{8EA10870-6395-588A-9409-E8E4CA631CF7}" dt="2025-10-01T05:43:30.375" v="115" actId="27636"/>
          <ac:spMkLst>
            <pc:docMk/>
            <pc:sldMk cId="687374152" sldId="321"/>
            <ac:spMk id="3" creationId="{00000000-0000-0000-0000-000000000000}"/>
          </ac:spMkLst>
        </pc:spChg>
        <pc:grpChg chg="mod">
          <ac:chgData name="Vincenzo Massimiliano Gulisano" userId="887d7398-9e41-4331-abd4-9c23f064ea90" providerId="ADAL" clId="{8EA10870-6395-588A-9409-E8E4CA631CF7}" dt="2025-10-01T05:44:04.731" v="160" actId="1038"/>
          <ac:grpSpMkLst>
            <pc:docMk/>
            <pc:sldMk cId="687374152" sldId="321"/>
            <ac:grpSpMk id="14" creationId="{00000000-0000-0000-0000-000000000000}"/>
          </ac:grpSpMkLst>
        </pc:grpChg>
        <pc:grpChg chg="mod">
          <ac:chgData name="Vincenzo Massimiliano Gulisano" userId="887d7398-9e41-4331-abd4-9c23f064ea90" providerId="ADAL" clId="{8EA10870-6395-588A-9409-E8E4CA631CF7}" dt="2025-10-01T05:43:46.159" v="139" actId="1038"/>
          <ac:grpSpMkLst>
            <pc:docMk/>
            <pc:sldMk cId="687374152" sldId="321"/>
            <ac:grpSpMk id="23" creationId="{00000000-0000-0000-0000-000000000000}"/>
          </ac:grpSpMkLst>
        </pc:grpChg>
        <pc:grpChg chg="mod">
          <ac:chgData name="Vincenzo Massimiliano Gulisano" userId="887d7398-9e41-4331-abd4-9c23f064ea90" providerId="ADAL" clId="{8EA10870-6395-588A-9409-E8E4CA631CF7}" dt="2025-10-01T05:43:56.134" v="151" actId="1035"/>
          <ac:grpSpMkLst>
            <pc:docMk/>
            <pc:sldMk cId="687374152" sldId="321"/>
            <ac:grpSpMk id="26" creationId="{00000000-0000-0000-0000-000000000000}"/>
          </ac:grpSpMkLst>
        </pc:grpChg>
      </pc:sldChg>
      <pc:sldChg chg="modSp mod">
        <pc:chgData name="Vincenzo Massimiliano Gulisano" userId="887d7398-9e41-4331-abd4-9c23f064ea90" providerId="ADAL" clId="{8EA10870-6395-588A-9409-E8E4CA631CF7}" dt="2025-10-01T05:45:25.134" v="288" actId="20577"/>
        <pc:sldMkLst>
          <pc:docMk/>
          <pc:sldMk cId="3416762753" sldId="327"/>
        </pc:sldMkLst>
        <pc:spChg chg="mod">
          <ac:chgData name="Vincenzo Massimiliano Gulisano" userId="887d7398-9e41-4331-abd4-9c23f064ea90" providerId="ADAL" clId="{8EA10870-6395-588A-9409-E8E4CA631CF7}" dt="2025-10-01T05:45:25.134" v="288" actId="20577"/>
          <ac:spMkLst>
            <pc:docMk/>
            <pc:sldMk cId="3416762753" sldId="327"/>
            <ac:spMk id="2" creationId="{00000000-0000-0000-0000-000000000000}"/>
          </ac:spMkLst>
        </pc:spChg>
      </pc:sldChg>
      <pc:sldChg chg="modSp">
        <pc:chgData name="Vincenzo Massimiliano Gulisano" userId="887d7398-9e41-4331-abd4-9c23f064ea90" providerId="ADAL" clId="{8EA10870-6395-588A-9409-E8E4CA631CF7}" dt="2025-10-01T05:45:30.843" v="289"/>
        <pc:sldMkLst>
          <pc:docMk/>
          <pc:sldMk cId="3370649023" sldId="328"/>
        </pc:sldMkLst>
        <pc:spChg chg="mod">
          <ac:chgData name="Vincenzo Massimiliano Gulisano" userId="887d7398-9e41-4331-abd4-9c23f064ea90" providerId="ADAL" clId="{8EA10870-6395-588A-9409-E8E4CA631CF7}" dt="2025-10-01T05:45:30.843" v="289"/>
          <ac:spMkLst>
            <pc:docMk/>
            <pc:sldMk cId="3370649023" sldId="328"/>
            <ac:spMk id="2" creationId="{00000000-0000-0000-0000-000000000000}"/>
          </ac:spMkLst>
        </pc:spChg>
      </pc:sldChg>
      <pc:sldChg chg="modSp">
        <pc:chgData name="Vincenzo Massimiliano Gulisano" userId="887d7398-9e41-4331-abd4-9c23f064ea90" providerId="ADAL" clId="{8EA10870-6395-588A-9409-E8E4CA631CF7}" dt="2025-10-01T05:45:34.550" v="290"/>
        <pc:sldMkLst>
          <pc:docMk/>
          <pc:sldMk cId="3584296897" sldId="329"/>
        </pc:sldMkLst>
        <pc:spChg chg="mod">
          <ac:chgData name="Vincenzo Massimiliano Gulisano" userId="887d7398-9e41-4331-abd4-9c23f064ea90" providerId="ADAL" clId="{8EA10870-6395-588A-9409-E8E4CA631CF7}" dt="2025-10-01T05:45:34.550" v="290"/>
          <ac:spMkLst>
            <pc:docMk/>
            <pc:sldMk cId="3584296897" sldId="329"/>
            <ac:spMk id="2" creationId="{00000000-0000-0000-0000-000000000000}"/>
          </ac:spMkLst>
        </pc:spChg>
      </pc:sldChg>
      <pc:sldChg chg="modSp">
        <pc:chgData name="Vincenzo Massimiliano Gulisano" userId="887d7398-9e41-4331-abd4-9c23f064ea90" providerId="ADAL" clId="{8EA10870-6395-588A-9409-E8E4CA631CF7}" dt="2025-10-01T05:45:37.756" v="291"/>
        <pc:sldMkLst>
          <pc:docMk/>
          <pc:sldMk cId="1800828271" sldId="330"/>
        </pc:sldMkLst>
        <pc:spChg chg="mod">
          <ac:chgData name="Vincenzo Massimiliano Gulisano" userId="887d7398-9e41-4331-abd4-9c23f064ea90" providerId="ADAL" clId="{8EA10870-6395-588A-9409-E8E4CA631CF7}" dt="2025-10-01T05:45:37.756" v="291"/>
          <ac:spMkLst>
            <pc:docMk/>
            <pc:sldMk cId="1800828271" sldId="330"/>
            <ac:spMk id="2" creationId="{00000000-0000-0000-0000-000000000000}"/>
          </ac:spMkLst>
        </pc:spChg>
      </pc:sldChg>
      <pc:sldChg chg="modSp">
        <pc:chgData name="Vincenzo Massimiliano Gulisano" userId="887d7398-9e41-4331-abd4-9c23f064ea90" providerId="ADAL" clId="{8EA10870-6395-588A-9409-E8E4CA631CF7}" dt="2025-10-01T05:45:40.982" v="292"/>
        <pc:sldMkLst>
          <pc:docMk/>
          <pc:sldMk cId="3028322644" sldId="331"/>
        </pc:sldMkLst>
        <pc:spChg chg="mod">
          <ac:chgData name="Vincenzo Massimiliano Gulisano" userId="887d7398-9e41-4331-abd4-9c23f064ea90" providerId="ADAL" clId="{8EA10870-6395-588A-9409-E8E4CA631CF7}" dt="2025-10-01T05:45:40.982" v="292"/>
          <ac:spMkLst>
            <pc:docMk/>
            <pc:sldMk cId="3028322644" sldId="331"/>
            <ac:spMk id="2" creationId="{00000000-0000-0000-0000-000000000000}"/>
          </ac:spMkLst>
        </pc:spChg>
      </pc:sldChg>
      <pc:sldChg chg="modSp mod">
        <pc:chgData name="Vincenzo Massimiliano Gulisano" userId="887d7398-9e41-4331-abd4-9c23f064ea90" providerId="ADAL" clId="{8EA10870-6395-588A-9409-E8E4CA631CF7}" dt="2025-10-01T05:39:10.534" v="109" actId="20577"/>
        <pc:sldMkLst>
          <pc:docMk/>
          <pc:sldMk cId="2556154540" sldId="353"/>
        </pc:sldMkLst>
        <pc:spChg chg="mod">
          <ac:chgData name="Vincenzo Massimiliano Gulisano" userId="887d7398-9e41-4331-abd4-9c23f064ea90" providerId="ADAL" clId="{8EA10870-6395-588A-9409-E8E4CA631CF7}" dt="2025-10-01T05:39:10.534" v="109" actId="20577"/>
          <ac:spMkLst>
            <pc:docMk/>
            <pc:sldMk cId="2556154540" sldId="353"/>
            <ac:spMk id="3" creationId="{00000000-0000-0000-0000-000000000000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8:58.929" v="12" actId="12"/>
        <pc:sldMkLst>
          <pc:docMk/>
          <pc:sldMk cId="639921881" sldId="376"/>
        </pc:sldMkLst>
        <pc:spChg chg="mod">
          <ac:chgData name="Vincenzo Massimiliano Gulisano" userId="887d7398-9e41-4331-abd4-9c23f064ea90" providerId="ADAL" clId="{8EA10870-6395-588A-9409-E8E4CA631CF7}" dt="2025-09-26T07:38:58.929" v="12" actId="12"/>
          <ac:spMkLst>
            <pc:docMk/>
            <pc:sldMk cId="639921881" sldId="376"/>
            <ac:spMk id="3" creationId="{F12CF526-50E0-9D82-C777-E53A97E5D2DD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6T07:39:22.280" v="17" actId="20577"/>
        <pc:sldMkLst>
          <pc:docMk/>
          <pc:sldMk cId="3916629974" sldId="377"/>
        </pc:sldMkLst>
        <pc:spChg chg="mod">
          <ac:chgData name="Vincenzo Massimiliano Gulisano" userId="887d7398-9e41-4331-abd4-9c23f064ea90" providerId="ADAL" clId="{8EA10870-6395-588A-9409-E8E4CA631CF7}" dt="2025-09-26T07:39:21.497" v="16" actId="20577"/>
          <ac:spMkLst>
            <pc:docMk/>
            <pc:sldMk cId="3916629974" sldId="377"/>
            <ac:spMk id="3" creationId="{E49E17F6-4F93-5389-7B03-9F9D21ADE4B3}"/>
          </ac:spMkLst>
        </pc:spChg>
      </pc:sldChg>
      <pc:sldChg chg="modSp new mod">
        <pc:chgData name="Vincenzo Massimiliano Gulisano" userId="887d7398-9e41-4331-abd4-9c23f064ea90" providerId="ADAL" clId="{8EA10870-6395-588A-9409-E8E4CA631CF7}" dt="2025-10-01T05:45:14.236" v="268" actId="20577"/>
        <pc:sldMkLst>
          <pc:docMk/>
          <pc:sldMk cId="133574550" sldId="378"/>
        </pc:sldMkLst>
        <pc:spChg chg="mod">
          <ac:chgData name="Vincenzo Massimiliano Gulisano" userId="887d7398-9e41-4331-abd4-9c23f064ea90" providerId="ADAL" clId="{8EA10870-6395-588A-9409-E8E4CA631CF7}" dt="2025-10-01T05:44:53.758" v="189" actId="20577"/>
          <ac:spMkLst>
            <pc:docMk/>
            <pc:sldMk cId="133574550" sldId="378"/>
            <ac:spMk id="2" creationId="{26F8CAF0-74AD-BAD3-0A76-1DE73A35CC30}"/>
          </ac:spMkLst>
        </pc:spChg>
        <pc:spChg chg="mod">
          <ac:chgData name="Vincenzo Massimiliano Gulisano" userId="887d7398-9e41-4331-abd4-9c23f064ea90" providerId="ADAL" clId="{8EA10870-6395-588A-9409-E8E4CA631CF7}" dt="2025-10-01T05:45:14.236" v="268" actId="20577"/>
          <ac:spMkLst>
            <pc:docMk/>
            <pc:sldMk cId="133574550" sldId="378"/>
            <ac:spMk id="3" creationId="{7CFA44F3-BF71-3074-76D8-8F188B640534}"/>
          </ac:spMkLst>
        </pc:spChg>
      </pc:sldChg>
      <pc:sldChg chg="modSp new mod">
        <pc:chgData name="Vincenzo Massimiliano Gulisano" userId="887d7398-9e41-4331-abd4-9c23f064ea90" providerId="ADAL" clId="{8EA10870-6395-588A-9409-E8E4CA631CF7}" dt="2025-10-01T05:54:27.891" v="817" actId="20577"/>
        <pc:sldMkLst>
          <pc:docMk/>
          <pc:sldMk cId="1875832141" sldId="379"/>
        </pc:sldMkLst>
        <pc:spChg chg="mod">
          <ac:chgData name="Vincenzo Massimiliano Gulisano" userId="887d7398-9e41-4331-abd4-9c23f064ea90" providerId="ADAL" clId="{8EA10870-6395-588A-9409-E8E4CA631CF7}" dt="2025-10-01T05:46:05.423" v="315" actId="20577"/>
          <ac:spMkLst>
            <pc:docMk/>
            <pc:sldMk cId="1875832141" sldId="379"/>
            <ac:spMk id="2" creationId="{6B5F4306-6B91-75F1-C00C-FE100C8C5D69}"/>
          </ac:spMkLst>
        </pc:spChg>
        <pc:spChg chg="mod">
          <ac:chgData name="Vincenzo Massimiliano Gulisano" userId="887d7398-9e41-4331-abd4-9c23f064ea90" providerId="ADAL" clId="{8EA10870-6395-588A-9409-E8E4CA631CF7}" dt="2025-10-01T05:54:27.891" v="817" actId="20577"/>
          <ac:spMkLst>
            <pc:docMk/>
            <pc:sldMk cId="1875832141" sldId="379"/>
            <ac:spMk id="3" creationId="{14EEC81E-9EC4-6F57-1538-BB275E6AF5A6}"/>
          </ac:spMkLst>
        </pc:spChg>
      </pc:sldChg>
      <pc:sldChg chg="addSp delSp modSp new mod">
        <pc:chgData name="Vincenzo Massimiliano Gulisano" userId="887d7398-9e41-4331-abd4-9c23f064ea90" providerId="ADAL" clId="{8EA10870-6395-588A-9409-E8E4CA631CF7}" dt="2025-10-01T05:56:44.334" v="952" actId="1582"/>
        <pc:sldMkLst>
          <pc:docMk/>
          <pc:sldMk cId="2523769717" sldId="380"/>
        </pc:sldMkLst>
        <pc:spChg chg="mod">
          <ac:chgData name="Vincenzo Massimiliano Gulisano" userId="887d7398-9e41-4331-abd4-9c23f064ea90" providerId="ADAL" clId="{8EA10870-6395-588A-9409-E8E4CA631CF7}" dt="2025-10-01T05:55:03.524" v="868" actId="20577"/>
          <ac:spMkLst>
            <pc:docMk/>
            <pc:sldMk cId="2523769717" sldId="380"/>
            <ac:spMk id="2" creationId="{8B5749F8-5B2D-1A9D-8626-0DF5E822CCD1}"/>
          </ac:spMkLst>
        </pc:spChg>
        <pc:spChg chg="del">
          <ac:chgData name="Vincenzo Massimiliano Gulisano" userId="887d7398-9e41-4331-abd4-9c23f064ea90" providerId="ADAL" clId="{8EA10870-6395-588A-9409-E8E4CA631CF7}" dt="2025-10-01T05:55:32.811" v="870" actId="478"/>
          <ac:spMkLst>
            <pc:docMk/>
            <pc:sldMk cId="2523769717" sldId="380"/>
            <ac:spMk id="3" creationId="{D3CCD936-2D8E-D8BF-211A-413FFDC73250}"/>
          </ac:spMkLst>
        </pc:spChg>
        <pc:spChg chg="add mod">
          <ac:chgData name="Vincenzo Massimiliano Gulisano" userId="887d7398-9e41-4331-abd4-9c23f064ea90" providerId="ADAL" clId="{8EA10870-6395-588A-9409-E8E4CA631CF7}" dt="2025-10-01T05:56:30.912" v="949" actId="1076"/>
          <ac:spMkLst>
            <pc:docMk/>
            <pc:sldMk cId="2523769717" sldId="380"/>
            <ac:spMk id="8" creationId="{B8F594F3-8797-9F7D-0560-F810A7D3AAB8}"/>
          </ac:spMkLst>
        </pc:spChg>
        <pc:picChg chg="add mod">
          <ac:chgData name="Vincenzo Massimiliano Gulisano" userId="887d7398-9e41-4331-abd4-9c23f064ea90" providerId="ADAL" clId="{8EA10870-6395-588A-9409-E8E4CA631CF7}" dt="2025-10-01T05:55:28.017" v="869"/>
          <ac:picMkLst>
            <pc:docMk/>
            <pc:sldMk cId="2523769717" sldId="380"/>
            <ac:picMk id="7" creationId="{FC022386-F45A-2FA3-264C-1FF0D52C0E9F}"/>
          </ac:picMkLst>
        </pc:picChg>
        <pc:cxnChg chg="add mod">
          <ac:chgData name="Vincenzo Massimiliano Gulisano" userId="887d7398-9e41-4331-abd4-9c23f064ea90" providerId="ADAL" clId="{8EA10870-6395-588A-9409-E8E4CA631CF7}" dt="2025-10-01T05:56:44.334" v="952" actId="1582"/>
          <ac:cxnSpMkLst>
            <pc:docMk/>
            <pc:sldMk cId="2523769717" sldId="380"/>
            <ac:cxnSpMk id="10" creationId="{092BECA2-ECD1-285D-010C-2E6F7920DE23}"/>
          </ac:cxnSpMkLst>
        </pc:cxnChg>
      </pc:sldChg>
      <pc:sldChg chg="modSp add mod">
        <pc:chgData name="Vincenzo Massimiliano Gulisano" userId="887d7398-9e41-4331-abd4-9c23f064ea90" providerId="ADAL" clId="{8EA10870-6395-588A-9409-E8E4CA631CF7}" dt="2025-10-01T05:57:49.909" v="1012" actId="1076"/>
        <pc:sldMkLst>
          <pc:docMk/>
          <pc:sldMk cId="4221043808" sldId="381"/>
        </pc:sldMkLst>
        <pc:spChg chg="mod">
          <ac:chgData name="Vincenzo Massimiliano Gulisano" userId="887d7398-9e41-4331-abd4-9c23f064ea90" providerId="ADAL" clId="{8EA10870-6395-588A-9409-E8E4CA631CF7}" dt="2025-10-01T05:57:49.909" v="1012" actId="1076"/>
          <ac:spMkLst>
            <pc:docMk/>
            <pc:sldMk cId="4221043808" sldId="381"/>
            <ac:spMk id="8" creationId="{71108096-F6EE-BD56-2898-C85EAA86FDD4}"/>
          </ac:spMkLst>
        </pc:spChg>
        <pc:cxnChg chg="mod">
          <ac:chgData name="Vincenzo Massimiliano Gulisano" userId="887d7398-9e41-4331-abd4-9c23f064ea90" providerId="ADAL" clId="{8EA10870-6395-588A-9409-E8E4CA631CF7}" dt="2025-10-01T05:57:47.725" v="1011" actId="1038"/>
          <ac:cxnSpMkLst>
            <pc:docMk/>
            <pc:sldMk cId="4221043808" sldId="381"/>
            <ac:cxnSpMk id="10" creationId="{C7D777FD-B08D-7FD9-1E0A-34B38479F2D2}"/>
          </ac:cxnSpMkLst>
        </pc:cxnChg>
      </pc:sldChg>
      <pc:sldChg chg="modSp new mod">
        <pc:chgData name="Vincenzo Massimiliano Gulisano" userId="887d7398-9e41-4331-abd4-9c23f064ea90" providerId="ADAL" clId="{8EA10870-6395-588A-9409-E8E4CA631CF7}" dt="2025-10-01T06:12:26.209" v="1327" actId="20577"/>
        <pc:sldMkLst>
          <pc:docMk/>
          <pc:sldMk cId="2195199527" sldId="382"/>
        </pc:sldMkLst>
        <pc:spChg chg="mod">
          <ac:chgData name="Vincenzo Massimiliano Gulisano" userId="887d7398-9e41-4331-abd4-9c23f064ea90" providerId="ADAL" clId="{8EA10870-6395-588A-9409-E8E4CA631CF7}" dt="2025-10-01T06:04:05.019" v="1014"/>
          <ac:spMkLst>
            <pc:docMk/>
            <pc:sldMk cId="2195199527" sldId="382"/>
            <ac:spMk id="2" creationId="{D034E5CE-E31E-98F8-26A3-E1F1A948E57B}"/>
          </ac:spMkLst>
        </pc:spChg>
        <pc:spChg chg="mod">
          <ac:chgData name="Vincenzo Massimiliano Gulisano" userId="887d7398-9e41-4331-abd4-9c23f064ea90" providerId="ADAL" clId="{8EA10870-6395-588A-9409-E8E4CA631CF7}" dt="2025-10-01T06:12:26.209" v="1327" actId="20577"/>
          <ac:spMkLst>
            <pc:docMk/>
            <pc:sldMk cId="2195199527" sldId="382"/>
            <ac:spMk id="3" creationId="{9A5EA9DE-E6C6-F792-C250-7DE1E28FB50D}"/>
          </ac:spMkLst>
        </pc:spChg>
      </pc:sldChg>
      <pc:sldChg chg="modSp add mod">
        <pc:chgData name="Vincenzo Massimiliano Gulisano" userId="887d7398-9e41-4331-abd4-9c23f064ea90" providerId="ADAL" clId="{8EA10870-6395-588A-9409-E8E4CA631CF7}" dt="2025-10-01T06:06:03.792" v="1297" actId="1076"/>
        <pc:sldMkLst>
          <pc:docMk/>
          <pc:sldMk cId="113069858" sldId="383"/>
        </pc:sldMkLst>
        <pc:spChg chg="mod">
          <ac:chgData name="Vincenzo Massimiliano Gulisano" userId="887d7398-9e41-4331-abd4-9c23f064ea90" providerId="ADAL" clId="{8EA10870-6395-588A-9409-E8E4CA631CF7}" dt="2025-10-01T06:06:03.792" v="1297" actId="1076"/>
          <ac:spMkLst>
            <pc:docMk/>
            <pc:sldMk cId="113069858" sldId="383"/>
            <ac:spMk id="8" creationId="{3EB95219-D641-BD68-717A-CF5352A5FA7C}"/>
          </ac:spMkLst>
        </pc:spChg>
        <pc:cxnChg chg="mod">
          <ac:chgData name="Vincenzo Massimiliano Gulisano" userId="887d7398-9e41-4331-abd4-9c23f064ea90" providerId="ADAL" clId="{8EA10870-6395-588A-9409-E8E4CA631CF7}" dt="2025-10-01T06:06:03.792" v="1297" actId="1076"/>
          <ac:cxnSpMkLst>
            <pc:docMk/>
            <pc:sldMk cId="113069858" sldId="383"/>
            <ac:cxnSpMk id="10" creationId="{E9495F8A-56BD-C8BD-E4CF-A75736CFA57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79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79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D12805BB-E6CA-4199-87A6-F35DB6614D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6269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9112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CAE0ABF5-7690-4623-B971-046A51D617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0056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757A2C-8941-40A3-B23F-9B6C8A580B0A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204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518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34DB69-2DAB-4848-B66D-931351AE32DF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4272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98200C3-F588-4B46-AB57-9BFB2B000FA3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285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164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5931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4F28C0-3DD9-45A9-9FFE-CA7C0CDDC3AD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You should feel there are parallelism with processes and memory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And interdependencies (think </a:t>
            </a:r>
            <a:r>
              <a:rPr lang="en-US" altLang="en-US"/>
              <a:t>about page size)</a:t>
            </a:r>
          </a:p>
          <a:p>
            <a:pPr eaLnBrk="1" hangingPunct="1"/>
            <a:endParaRPr lang="en-US" altLang="en-US" dirty="0"/>
          </a:p>
          <a:p>
            <a:r>
              <a:rPr lang="en-US" dirty="0"/>
              <a:t>E.g., common Linux config:</a:t>
            </a:r>
          </a:p>
          <a:p>
            <a:r>
              <a:rPr lang="en-US" dirty="0"/>
              <a:t>Page size = 4096 bytes</a:t>
            </a:r>
          </a:p>
          <a:p>
            <a:r>
              <a:rPr lang="en-US" dirty="0"/>
              <a:t>Disk sector = 512 bytes</a:t>
            </a:r>
          </a:p>
          <a:p>
            <a:r>
              <a:rPr lang="en-US" dirty="0"/>
              <a:t>Filesystem block = 4096 bytes</a:t>
            </a:r>
            <a:br>
              <a:rPr lang="en-US" dirty="0"/>
            </a:br>
            <a:r>
              <a:rPr lang="en-US" dirty="0"/>
              <a:t>→ Each page matches one FS block nicely.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88440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165D02-80D0-4527-ABB5-6556C9D11CC4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2240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C40ED4-77D2-4BA3-BE95-31D6C5C4B73E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381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9DA564-8714-4595-94F5-0F130C1F3674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2160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5E3B5E-5EF8-4A15-BA66-53755D55AAEF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5810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883BA9-7D68-41BE-AA83-C5E1FF42CDD7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1098131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439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give hints, there’s a question later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8919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530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65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901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3940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753A3D-1B93-4C61-AD40-6D3DDE54932A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564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1ECA4A7-BC25-4844-A19F-534D35A6113C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913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7A13DDA-9CA8-4AE6-948C-F2D6D91DD053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879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8E2A61-7116-4526-90DA-8DA2FD642289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4263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E31E4-C513-4D0A-AA76-C1514DD89C25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8372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E31E4-C513-4D0A-AA76-C1514DD89C25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AutoNum type="arabicParenR"/>
            </a:pPr>
            <a:r>
              <a:rPr lang="en-US" altLang="en-US" baseline="0" dirty="0"/>
              <a:t>1 – yes… well depends, maybe w/list was created before or by another user</a:t>
            </a:r>
          </a:p>
          <a:p>
            <a:pPr marL="228600" indent="-228600" eaLnBrk="1" hangingPunct="1">
              <a:buAutoNum type="arabicParenR"/>
            </a:pPr>
            <a:r>
              <a:rPr lang="en-US" altLang="en-US" baseline="0" dirty="0"/>
              <a:t>1 – no… well depends, maybe it was created by this user</a:t>
            </a:r>
          </a:p>
          <a:p>
            <a:pPr marL="228600" indent="-228600" eaLnBrk="1" hangingPunct="1">
              <a:buAutoNum type="arabicParenR"/>
            </a:pPr>
            <a:r>
              <a:rPr lang="en-US" altLang="en-US" baseline="0" dirty="0"/>
              <a:t>2 – yes… but then the other folder might not notice at all</a:t>
            </a:r>
          </a:p>
          <a:p>
            <a:pPr marL="228600" indent="-228600" eaLnBrk="1" hangingPunct="1">
              <a:buAutoNum type="arabicParenR"/>
            </a:pPr>
            <a:r>
              <a:rPr lang="en-US" altLang="en-US" baseline="0" dirty="0"/>
              <a:t>2 – no… other folders will notice, we will save time, but users will get an error</a:t>
            </a:r>
          </a:p>
          <a:p>
            <a:pPr marL="228600" indent="-228600" eaLnBrk="1" hangingPunct="1">
              <a:buAutoNum type="arabicParenR"/>
            </a:pPr>
            <a:r>
              <a:rPr lang="en-US" altLang="en-US" baseline="0" dirty="0"/>
              <a:t>3 – we can keep track of them… extra info to maintain</a:t>
            </a:r>
          </a:p>
          <a:p>
            <a:pPr marL="228600" indent="-228600" eaLnBrk="1" hangingPunct="1">
              <a:buAutoNum type="arabicParenR"/>
            </a:pPr>
            <a:r>
              <a:rPr lang="en-US" altLang="en-US" baseline="0" dirty="0"/>
              <a:t>3 – we can look for them… might take forever…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8755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2E0F78-D4D3-433B-8D40-C98934B24EFF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8781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3332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you agree with me that the size we cannot use in the block depends on how many blocks in total we have? This depends on</a:t>
            </a:r>
            <a:r>
              <a:rPr lang="en-US" baseline="0" dirty="0"/>
              <a:t> the size of the disk and the block size...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B1D134-850A-4179-8AB5-27314B993335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07098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940149-BF14-45B4-82CA-B38D8EAF2464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60951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CDB1EE-CC89-4FB6-A722-3BDC79779409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4037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F1B1A2-C3C1-4054-A7B9-667F21ADB782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2191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2364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7317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33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4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03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8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7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1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0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4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6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4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067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6080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9812-7922-F572-FBF4-DD8EA42A7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DCA14-D8CD-7EC4-4379-8F747B154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1525-4B3B-62BB-AEC4-3717A8D7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5C6B-C68A-2246-B76C-47CEEB7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0407D-879E-F928-BEB7-EF923141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82563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FBF7-5873-10B0-9757-E649F2C5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E676-6F6B-F88F-8188-716C9949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73FE5-95F9-28B1-736D-8595BFD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F0D8-4BC6-B5DD-8742-1139CAC1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186D-B6F3-BA3E-B41B-3ED60670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59159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CB8A-3B4C-FD93-4189-DBE9A57D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525E-4244-E2FB-46D6-5C464D83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DD53-BEAA-0F2B-D537-033D2CF9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B11E0-3D79-7837-9C0C-1DA40974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0861-D42C-A73A-D630-B6B7BFB2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01379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A19E-845B-1661-6821-DF21819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2967-9105-9FE1-17C9-9F2A19E4E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5FB82-CD83-312A-4471-42A43250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9E22-737E-2E7C-E3DA-8CA1801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04B9-175B-6B12-2F8E-A61C886B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6A131-949B-8DCD-F714-9206330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70919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652-8B98-9526-560D-70865BE4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88DE9-A5B0-990E-BB8B-A31D61E40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54AB7-F18E-95A9-03A1-98F4030C8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ED570-D069-9521-D4CF-AEBD9630D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92C33-3C07-678D-88B9-1615C8718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27F4A-7354-3CB0-5B9B-1FFD762A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7CABA-3CE2-733D-2E38-1A95A389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D0B67-9A9C-FD36-D4AF-5606F241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16877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FD02-C951-2E5A-76C7-5AD87510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EE3E6-1578-7FFA-392B-40975533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4A12A-450B-ED62-D0EB-D539A22A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9527-1330-18FB-012C-9A2B1E0B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0024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8DAA-258A-EB1C-D3D6-394B9257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B1676-85F6-2216-F0C7-7AE6D31D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80289-5B94-C267-05E1-354B788D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56223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8B85-D958-749C-9116-203D9B65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1DD2-68AE-7E77-D7EA-B111BEF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4BBE9-7271-908B-0204-B2B47ADD5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95D6-4FCE-3CE4-23C7-CAB7BDB1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8C22-87DC-2299-6204-65D186D7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E40D-4572-3D5A-9C0E-67B04AC1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39878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F4D2-E977-38C0-C4D6-7D8B4E06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48638-1DF6-AB77-87DB-AA1DE982A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8019C-1380-F34C-35D3-58CBA0B8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CFD3B-3CF6-314F-F0BB-DE9D4B76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F8E86-733B-9A0D-B37F-6CB5147F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532F0-C700-8BE6-7D00-C7F1B767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82488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7387-51E0-FC74-B175-161E2B8B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668C1-69AC-4367-6A8A-9EE60604C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F18E-27A7-F9B0-28F8-17C0D478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AF4E-3016-B845-88C5-561A60CC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DC10-0C07-A92A-B10C-3391C19E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392767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003F2-C044-A65C-BBEB-8E25B16A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C09FE-D623-7D09-AB88-15D3DF879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6A8B-0060-B490-615E-03E460A3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B895-5930-D4D2-7DF5-C2143383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876F0-760A-D2BB-53A6-0C9BDAB6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81459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08A73-CD14-71D4-6762-D4270425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6A26D-F8DF-E1B7-C797-1B953F065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8A65-F014-0AA3-2291-081A9AE26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84849-4810-414A-ACFE-FE33101D47E1}" type="datetimeFigureOut">
              <a:rPr lang="en-SE" smtClean="0"/>
              <a:t>10/2/25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45CC-3E41-464B-DC9B-B736B5A40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FE334-C90F-ECAC-73FF-C31C66E5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3124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tiff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69975" y="1647826"/>
            <a:ext cx="6908800" cy="1890183"/>
          </a:xfrm>
          <a:prstGeom prst="rect">
            <a:avLst/>
          </a:prstGeom>
        </p:spPr>
        <p:txBody>
          <a:bodyPr lIns="81280" tIns="40640" rIns="81280" bIns="4064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556" dirty="0"/>
              <a:t>File Systems</a:t>
            </a:r>
            <a:br>
              <a:rPr lang="en-US" altLang="en-US" sz="3556" dirty="0"/>
            </a:br>
            <a:r>
              <a:rPr lang="en-US" altLang="en-US" sz="3556" dirty="0"/>
              <a:t>Operating Systems – EDA093/DIT401</a:t>
            </a:r>
            <a:br>
              <a:rPr lang="en-US" altLang="en-US" sz="3822" dirty="0"/>
            </a:br>
            <a:br>
              <a:rPr lang="en-US" altLang="en-US" sz="3822" dirty="0"/>
            </a:br>
            <a:r>
              <a:rPr lang="en-US" altLang="en-US" sz="2845" dirty="0"/>
              <a:t>Vincenzo Gulisano</a:t>
            </a:r>
            <a:br>
              <a:rPr lang="en-US" altLang="en-US" sz="2845" dirty="0"/>
            </a:br>
            <a:r>
              <a:rPr lang="en-US" altLang="en-US" sz="1778" dirty="0"/>
              <a:t>vincenzo.gulisano@chalmers.se</a:t>
            </a:r>
            <a:endParaRPr lang="en-US" altLang="en-US" sz="2400" dirty="0"/>
          </a:p>
        </p:txBody>
      </p:sp>
      <p:pic>
        <p:nvPicPr>
          <p:cNvPr id="5123" name="Picture 6" descr="http://upload.wikimedia.org/wikipedia/en/5/5c/Chalmers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233" y="4392084"/>
            <a:ext cx="1672167" cy="155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8" descr="http://sgroup.be/sites/default/files/LOGUeng_cen2r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792" y="4480984"/>
            <a:ext cx="1847850" cy="1375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7898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Reading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sz="2400" dirty="0"/>
              <a:t>Chapter 4.1 to 4.4 </a:t>
            </a:r>
          </a:p>
          <a:p>
            <a:pPr lvl="1">
              <a:defRPr/>
            </a:pPr>
            <a:r>
              <a:rPr lang="en-US" sz="2100" dirty="0"/>
              <a:t>Please notice: UEFI only in 5</a:t>
            </a:r>
            <a:r>
              <a:rPr lang="en-US" sz="2100" baseline="30000" dirty="0"/>
              <a:t>th</a:t>
            </a:r>
            <a:r>
              <a:rPr lang="en-US" sz="2100" dirty="0"/>
              <a:t> edition (4.3.1) but slides are enough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(extra facultative reading: 10.1-10.3.6,10.4-10.6,11.1-11.2,11.4-11.5 from Silberschatz Operating System Concepts)</a:t>
            </a:r>
            <a:endParaRPr lang="en-US" sz="17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Systems - File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4570F-528B-41C8-95DC-75649D9B5A34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5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Which are the most visible aspects of a File System?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74520" y="216229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3040" y="2162294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Directories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28650" y="2701967"/>
            <a:ext cx="7845424" cy="3484043"/>
            <a:chOff x="628650" y="2701967"/>
            <a:chExt cx="7845424" cy="3484043"/>
          </a:xfrm>
        </p:grpSpPr>
        <p:pic>
          <p:nvPicPr>
            <p:cNvPr id="5125" name="Picture 5" descr="http://www.conifersystems.com/images/cf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50" y="2765225"/>
              <a:ext cx="3039110" cy="227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7" name="Picture 7" descr="http://i.stack.imgur.com/01rdM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050" y="3146756"/>
              <a:ext cx="4237354" cy="30392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9" name="Picture 9" descr="http://deliveryimages.acm.org/10.1145/1240000/1230003/9449f1.gif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3937" y="2701967"/>
              <a:ext cx="3960137" cy="2714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1" name="Picture 11" descr="http://upload.wikimedia.org/wikipedia/commons/0/08/Filesystem_Hierarchy_Standard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0759" y="3904383"/>
              <a:ext cx="2840990" cy="2129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explain the function of file systems</a:t>
            </a:r>
          </a:p>
          <a:p>
            <a:endParaRPr lang="en-US" altLang="en-US" dirty="0"/>
          </a:p>
          <a:p>
            <a:r>
              <a:rPr lang="en-US" altLang="en-US" dirty="0"/>
              <a:t>To describe the interfaces to file systems</a:t>
            </a:r>
          </a:p>
          <a:p>
            <a:endParaRPr lang="en-US" altLang="en-US" dirty="0"/>
          </a:p>
          <a:p>
            <a:r>
              <a:rPr lang="en-US" altLang="en-US" dirty="0"/>
              <a:t>To discuss file-system design tradeoffs, including access methods, file sharing, file locking, and directory structures</a:t>
            </a:r>
          </a:p>
          <a:p>
            <a:endParaRPr lang="en-US" altLang="en-US" dirty="0"/>
          </a:p>
          <a:p>
            <a:r>
              <a:rPr lang="en-US" altLang="en-US" dirty="0"/>
              <a:t>To explore file-system protection</a:t>
            </a:r>
          </a:p>
          <a:p>
            <a:endParaRPr lang="en-US" altLang="en-US" dirty="0"/>
          </a:p>
          <a:p>
            <a:r>
              <a:rPr lang="en-US" altLang="en-US" dirty="0"/>
              <a:t>To discuss block allocation and free-block algorithms and trade-offs</a:t>
            </a:r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77391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86683"/>
            <a:ext cx="7886700" cy="47902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File concept</a:t>
            </a:r>
          </a:p>
          <a:p>
            <a:endParaRPr lang="en-US" dirty="0"/>
          </a:p>
          <a:p>
            <a:r>
              <a:rPr lang="en-US" dirty="0"/>
              <a:t>Access methods</a:t>
            </a:r>
          </a:p>
          <a:p>
            <a:endParaRPr lang="en-US" dirty="0"/>
          </a:p>
          <a:p>
            <a:r>
              <a:rPr lang="en-US" dirty="0"/>
              <a:t>Disk structure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Directory structure</a:t>
            </a:r>
            <a:br>
              <a:rPr lang="en-US" dirty="0"/>
            </a:br>
            <a:r>
              <a:rPr lang="en-US" dirty="0"/>
              <a:t>(Self reading)</a:t>
            </a:r>
          </a:p>
          <a:p>
            <a:r>
              <a:rPr lang="en-US" dirty="0"/>
              <a:t>File-system structure</a:t>
            </a:r>
          </a:p>
          <a:p>
            <a:r>
              <a:rPr lang="en-US" dirty="0"/>
              <a:t>Allocation methods</a:t>
            </a:r>
          </a:p>
          <a:p>
            <a:r>
              <a:rPr lang="en-US" dirty="0"/>
              <a:t>Free-space management</a:t>
            </a:r>
          </a:p>
          <a:p>
            <a:r>
              <a:rPr lang="en-US" dirty="0"/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277961" y="1041599"/>
            <a:ext cx="4588078" cy="1021557"/>
            <a:chOff x="4754165" y="5334000"/>
            <a:chExt cx="5914033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510976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What extra information / overheads / interfaces does the OS need to provide file and directory abstractions to users?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6949" y="1951808"/>
            <a:ext cx="5803868" cy="630100"/>
            <a:chOff x="4864330" y="5342413"/>
            <a:chExt cx="5803868" cy="63010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4330" y="5342413"/>
              <a:ext cx="630100" cy="6301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5558432" y="5432227"/>
              <a:ext cx="5109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How to we access files and which is the minimum unit we can read/write from secondary storage?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406994" y="2658483"/>
            <a:ext cx="5914033" cy="1021557"/>
            <a:chOff x="4754165" y="5334000"/>
            <a:chExt cx="5914033" cy="1021557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5558432" y="5432227"/>
              <a:ext cx="5109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How is the physical disk organized in order to maintain 1 (or more) file systems?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028950" y="3612534"/>
            <a:ext cx="6354213" cy="668800"/>
            <a:chOff x="4754166" y="5334001"/>
            <a:chExt cx="6354213" cy="668800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166" y="5334001"/>
              <a:ext cx="668800" cy="6688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5288319" y="5432228"/>
              <a:ext cx="58200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How can we organize directories (and files) in a file system?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80595" y="4095167"/>
            <a:ext cx="4948117" cy="668799"/>
            <a:chOff x="4754165" y="5334000"/>
            <a:chExt cx="4948117" cy="668799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165" y="5334000"/>
              <a:ext cx="668799" cy="66879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5249203" y="5514510"/>
              <a:ext cx="4453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How is a file </a:t>
              </a:r>
              <a:r>
                <a:rPr lang="en-US" sz="1400" i="1"/>
                <a:t>system organized in layers?</a:t>
              </a:r>
              <a:endParaRPr lang="en-US" sz="1400" i="1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900643" y="5386195"/>
            <a:ext cx="4653509" cy="1021557"/>
            <a:chOff x="4754165" y="5334000"/>
            <a:chExt cx="4653509" cy="1021557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5558432" y="5432227"/>
              <a:ext cx="38492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How do we share and protect files among different users?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066783" y="4843729"/>
            <a:ext cx="4856532" cy="552088"/>
            <a:chOff x="5039501" y="5403359"/>
            <a:chExt cx="4368173" cy="552088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9501" y="5403359"/>
              <a:ext cx="518931" cy="518931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5558432" y="5432227"/>
              <a:ext cx="38492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How do we know what portions of a file systems are free?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968883" y="4576004"/>
            <a:ext cx="4880025" cy="343932"/>
            <a:chOff x="5156299" y="5432227"/>
            <a:chExt cx="4880025" cy="343932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6299" y="5441759"/>
              <a:ext cx="334400" cy="3344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5558432" y="5432227"/>
              <a:ext cx="4477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How do we </a:t>
              </a:r>
              <a:r>
                <a:rPr lang="en-US" sz="1400" i="1"/>
                <a:t>know where each file is?</a:t>
              </a:r>
              <a:endParaRPr lang="en-US" sz="14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8737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concept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Access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Disk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Directory structure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(Self reading)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File-system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Allocation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Free-space management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98800" y="1359298"/>
            <a:ext cx="5914033" cy="1021557"/>
            <a:chOff x="4754165" y="5334000"/>
            <a:chExt cx="5914033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51097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What extra information / overheads / interfaces does the OS needs to provide file and </a:t>
              </a:r>
              <a:r>
                <a:rPr lang="en-US" i="1"/>
                <a:t>directory abstractions to users?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9196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File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en-US" dirty="0"/>
          </a:p>
          <a:p>
            <a:r>
              <a:rPr lang="en-US" altLang="en-US" dirty="0"/>
              <a:t>Minimum allocation unit for the user</a:t>
            </a:r>
          </a:p>
          <a:p>
            <a:endParaRPr lang="en-US" altLang="en-US" dirty="0"/>
          </a:p>
          <a:p>
            <a:r>
              <a:rPr lang="en-US" altLang="en-US" dirty="0"/>
              <a:t>File system abstracts how they are mapped into secondary storage</a:t>
            </a:r>
          </a:p>
          <a:p>
            <a:endParaRPr lang="en-US" altLang="en-US" dirty="0"/>
          </a:p>
          <a:p>
            <a:r>
              <a:rPr lang="en-US" altLang="en-US" dirty="0"/>
              <a:t>Similarly to processes, files have contiguous logical address space (but not physical)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Different types: Data files (numeric, character, binary) and Program files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Contents defined by file’s creator! (Consider </a:t>
            </a:r>
            <a:r>
              <a:rPr lang="en-US" altLang="en-US" b="1" dirty="0">
                <a:solidFill>
                  <a:srgbClr val="3366FF"/>
                </a:solidFill>
              </a:rPr>
              <a:t>text file, source file, executable file)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541498" y="250466"/>
            <a:ext cx="4491508" cy="2620678"/>
            <a:chOff x="1828800" y="3505200"/>
            <a:chExt cx="5817882" cy="3394583"/>
          </a:xfrm>
        </p:grpSpPr>
        <p:pic>
          <p:nvPicPr>
            <p:cNvPr id="7" name="Picture 4" descr="C:\Program Files (x86)\Microsoft Office\MEDIA\CAGCAT10\j0195384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28800" y="4038600"/>
              <a:ext cx="1795882" cy="18333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/>
            <p:cNvGrpSpPr/>
            <p:nvPr/>
          </p:nvGrpSpPr>
          <p:grpSpPr>
            <a:xfrm>
              <a:off x="3726180" y="3505200"/>
              <a:ext cx="3920502" cy="3394583"/>
              <a:chOff x="3726180" y="3505200"/>
              <a:chExt cx="3920502" cy="3394583"/>
            </a:xfrm>
          </p:grpSpPr>
          <p:pic>
            <p:nvPicPr>
              <p:cNvPr id="9" name="Picture 2" descr="C:\Users\vinmas\AppData\Local\Microsoft\Windows\Temporary Internet Files\Content.IE5\XYI7055M\MC900389764[1].wmf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43400" y="3505200"/>
                <a:ext cx="1461582" cy="14181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C:\Users\vinmas\AppData\Local\Microsoft\Windows\Temporary Internet Files\Content.IE5\XYI7055M\MC900389764[1].wmf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 flipH="1">
                <a:off x="6343940" y="5597041"/>
                <a:ext cx="1322375" cy="12831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5357245" y="4405332"/>
                <a:ext cx="1752882" cy="15547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How are files: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Named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Structured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Protected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Accessed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…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 flipV="1">
                <a:off x="3733800" y="3810000"/>
                <a:ext cx="609600" cy="404291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726180" y="4923384"/>
                <a:ext cx="1226820" cy="948588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Attributes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597025"/>
            <a:ext cx="4606290" cy="4351338"/>
          </a:xfrm>
        </p:spPr>
        <p:txBody>
          <a:bodyPr>
            <a:normAutofit lnSpcReduction="10000"/>
          </a:bodyPr>
          <a:lstStyle/>
          <a:p>
            <a:r>
              <a:rPr lang="en-US" altLang="en-US" b="1" dirty="0"/>
              <a:t>Name</a:t>
            </a:r>
            <a:r>
              <a:rPr lang="en-US" altLang="en-US" dirty="0"/>
              <a:t> – only information kept in human-readable form</a:t>
            </a:r>
          </a:p>
          <a:p>
            <a:r>
              <a:rPr lang="en-US" altLang="en-US" b="1" dirty="0"/>
              <a:t>Identifier</a:t>
            </a:r>
            <a:r>
              <a:rPr lang="en-US" altLang="en-US" dirty="0"/>
              <a:t> – unique tag (number) identifies file within file system</a:t>
            </a:r>
          </a:p>
          <a:p>
            <a:r>
              <a:rPr lang="en-US" altLang="en-US" b="1" dirty="0"/>
              <a:t>Type</a:t>
            </a:r>
            <a:r>
              <a:rPr lang="en-US" altLang="en-US" dirty="0"/>
              <a:t> – needed for systems that support different types</a:t>
            </a:r>
          </a:p>
          <a:p>
            <a:r>
              <a:rPr lang="en-US" altLang="en-US" b="1" dirty="0"/>
              <a:t>Location</a:t>
            </a:r>
            <a:r>
              <a:rPr lang="en-US" altLang="en-US" dirty="0"/>
              <a:t> – pointer to file location on device</a:t>
            </a:r>
          </a:p>
          <a:p>
            <a:r>
              <a:rPr lang="en-US" altLang="en-US" b="1" dirty="0"/>
              <a:t>Size</a:t>
            </a:r>
            <a:r>
              <a:rPr lang="en-US" altLang="en-US" dirty="0"/>
              <a:t> – current file size</a:t>
            </a:r>
          </a:p>
          <a:p>
            <a:r>
              <a:rPr lang="en-US" altLang="en-US" b="1" dirty="0"/>
              <a:t>Protection</a:t>
            </a:r>
            <a:r>
              <a:rPr lang="en-US" altLang="en-US" dirty="0"/>
              <a:t> – controls who can do reading, writing, executing</a:t>
            </a:r>
          </a:p>
          <a:p>
            <a:r>
              <a:rPr lang="en-US" altLang="en-US" b="1" dirty="0"/>
              <a:t>Time, date, and user identification</a:t>
            </a:r>
            <a:r>
              <a:rPr lang="en-US" altLang="en-US" dirty="0"/>
              <a:t> – data for protection, security, and usage monitoring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4" descr="11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180" y="883920"/>
            <a:ext cx="1936680" cy="520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68363" y="277813"/>
            <a:ext cx="7818437" cy="576262"/>
          </a:xfrm>
        </p:spPr>
        <p:txBody>
          <a:bodyPr/>
          <a:lstStyle/>
          <a:p>
            <a:pPr eaLnBrk="1" hangingPunct="1"/>
            <a:r>
              <a:rPr lang="en-US" altLang="en-US"/>
              <a:t>File Types – Name, Extension</a:t>
            </a:r>
          </a:p>
        </p:txBody>
      </p:sp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4394981" y="1466056"/>
            <a:ext cx="4291819" cy="4583113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1165" y="1726287"/>
            <a:ext cx="3830435" cy="30008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Garamond" panose="02020404030301010803" pitchFamily="18" charset="0"/>
              </a:rPr>
              <a:t>Operating System, Processes and File System are dependent on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Garamond" panose="02020404030301010803" pitchFamily="18" charset="0"/>
              </a:rPr>
              <a:t>Extensions</a:t>
            </a:r>
            <a:r>
              <a:rPr lang="en-US" sz="2100" b="1" dirty="0">
                <a:latin typeface="Garamond" panose="02020404030301010803" pitchFamily="18" charset="0"/>
              </a:rPr>
              <a:t> </a:t>
            </a:r>
            <a:r>
              <a:rPr lang="en-US" sz="2100" dirty="0">
                <a:latin typeface="Garamond" panose="02020404030301010803" pitchFamily="18" charset="0"/>
              </a:rPr>
              <a:t>provide hints to the Operating System about which program to load in order to present the content to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Garamond" panose="02020404030301010803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Open Files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27950" cy="4530725"/>
          </a:xfrm>
        </p:spPr>
        <p:txBody>
          <a:bodyPr/>
          <a:lstStyle/>
          <a:p>
            <a:r>
              <a:rPr lang="en-US" altLang="en-US" dirty="0"/>
              <a:t>Providing a File System implies that the OS needs to maintain information. For instance, information about the open files:</a:t>
            </a:r>
          </a:p>
          <a:p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Open-file table</a:t>
            </a:r>
            <a:r>
              <a:rPr lang="en-US" altLang="en-US" dirty="0"/>
              <a:t>: tracks open files</a:t>
            </a:r>
          </a:p>
          <a:p>
            <a:pPr lvl="1"/>
            <a:r>
              <a:rPr lang="en-US" altLang="en-US" dirty="0"/>
              <a:t>File pointer:  pointer to last read/write location, per process that has the file open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File-open count</a:t>
            </a:r>
            <a:r>
              <a:rPr lang="en-US" altLang="en-US" dirty="0"/>
              <a:t>: counter of number of times a file is open – to allow removal of data from open-file table when last processes closes it</a:t>
            </a:r>
          </a:p>
          <a:p>
            <a:pPr lvl="1"/>
            <a:r>
              <a:rPr lang="en-US" altLang="en-US" dirty="0"/>
              <a:t>Disk location of the file: cache of data access information</a:t>
            </a:r>
          </a:p>
          <a:p>
            <a:pPr lvl="1"/>
            <a:r>
              <a:rPr lang="en-US" altLang="en-US" dirty="0"/>
              <a:t>Access rights: per-process access mode information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24265" y="4675287"/>
            <a:ext cx="234464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information is specific to a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5625" y="4675287"/>
            <a:ext cx="234464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information is global, </a:t>
            </a:r>
            <a:br>
              <a:rPr lang="en-US" dirty="0"/>
            </a:br>
            <a:r>
              <a:rPr lang="en-US" dirty="0"/>
              <a:t>system-wide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File Operations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27950" cy="4530725"/>
          </a:xfrm>
        </p:spPr>
        <p:txBody>
          <a:bodyPr/>
          <a:lstStyle/>
          <a:p>
            <a:r>
              <a:rPr lang="en-US" altLang="en-US" dirty="0"/>
              <a:t>File is an </a:t>
            </a:r>
            <a:r>
              <a:rPr lang="en-US" altLang="en-US" b="1" dirty="0"/>
              <a:t>abstract data type</a:t>
            </a:r>
            <a:r>
              <a:rPr lang="en-US" altLang="en-US" dirty="0"/>
              <a:t>, we need ways to operate on them:</a:t>
            </a:r>
          </a:p>
          <a:p>
            <a:pPr lvl="1"/>
            <a:r>
              <a:rPr lang="en-US" altLang="en-US" b="1" dirty="0"/>
              <a:t>Create</a:t>
            </a:r>
          </a:p>
          <a:p>
            <a:pPr lvl="1"/>
            <a:r>
              <a:rPr lang="en-US" altLang="en-US" b="1" dirty="0"/>
              <a:t>Write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write pointer </a:t>
            </a:r>
            <a:r>
              <a:rPr lang="en-US" altLang="en-US" dirty="0"/>
              <a:t>location</a:t>
            </a:r>
          </a:p>
          <a:p>
            <a:pPr lvl="1"/>
            <a:r>
              <a:rPr lang="en-US" altLang="en-US" b="1" dirty="0"/>
              <a:t>Read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read pointer </a:t>
            </a:r>
            <a:r>
              <a:rPr lang="en-US" altLang="en-US" dirty="0"/>
              <a:t>location</a:t>
            </a:r>
          </a:p>
          <a:p>
            <a:pPr lvl="1"/>
            <a:r>
              <a:rPr lang="en-US" altLang="en-US" b="1" dirty="0"/>
              <a:t>Reposition within file - </a:t>
            </a:r>
            <a:r>
              <a:rPr lang="en-US" altLang="en-US" b="1" dirty="0">
                <a:solidFill>
                  <a:srgbClr val="3366FF"/>
                </a:solidFill>
              </a:rPr>
              <a:t>seek</a:t>
            </a:r>
          </a:p>
          <a:p>
            <a:pPr lvl="1"/>
            <a:r>
              <a:rPr lang="en-US" altLang="en-US" b="1" dirty="0"/>
              <a:t>Delete</a:t>
            </a:r>
          </a:p>
          <a:p>
            <a:pPr lvl="1"/>
            <a:r>
              <a:rPr lang="en-US" altLang="en-US" b="1" dirty="0"/>
              <a:t>Truncate</a:t>
            </a:r>
          </a:p>
          <a:p>
            <a:r>
              <a:rPr lang="en-US" altLang="en-US" dirty="0"/>
              <a:t>We can combine these basic operations into complex operations</a:t>
            </a:r>
          </a:p>
          <a:p>
            <a:r>
              <a:rPr lang="en-US" altLang="en-US" dirty="0"/>
              <a:t>Example:</a:t>
            </a:r>
          </a:p>
          <a:p>
            <a:pPr lvl="1"/>
            <a:r>
              <a:rPr lang="en-US" altLang="en-US" b="1" i="1" dirty="0"/>
              <a:t>Open(F</a:t>
            </a:r>
            <a:r>
              <a:rPr lang="en-US" altLang="en-US" b="1" i="1" baseline="-25000" dirty="0"/>
              <a:t>i</a:t>
            </a:r>
            <a:r>
              <a:rPr lang="en-US" altLang="en-US" b="1" i="1" dirty="0"/>
              <a:t>)</a:t>
            </a:r>
            <a:r>
              <a:rPr lang="en-US" altLang="en-US" b="1" dirty="0"/>
              <a:t> </a:t>
            </a:r>
            <a:r>
              <a:rPr lang="en-US" altLang="en-US" dirty="0"/>
              <a:t>– search the directory structure on disk for entry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, and move the content of entry to memory</a:t>
            </a:r>
          </a:p>
          <a:p>
            <a:pPr lvl="1"/>
            <a:r>
              <a:rPr lang="en-US" altLang="en-US" b="1" i="1" dirty="0"/>
              <a:t>Close (F</a:t>
            </a:r>
            <a:r>
              <a:rPr lang="en-US" altLang="en-US" b="1" i="1" baseline="-25000" dirty="0"/>
              <a:t>i</a:t>
            </a:r>
            <a:r>
              <a:rPr lang="en-US" altLang="en-US" b="1" i="1" dirty="0"/>
              <a:t>)</a:t>
            </a:r>
            <a:r>
              <a:rPr lang="en-US" altLang="en-US" b="1" dirty="0"/>
              <a:t> </a:t>
            </a:r>
            <a:r>
              <a:rPr lang="en-US" altLang="en-US" dirty="0"/>
              <a:t>– move the content of entry</a:t>
            </a:r>
            <a:r>
              <a:rPr lang="en-US" altLang="en-US" b="1" dirty="0"/>
              <a:t>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dirty="0"/>
              <a:t>in memory to directory structure on disk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calls - Example program – 1/2 </a:t>
            </a:r>
          </a:p>
        </p:txBody>
      </p:sp>
      <p:pic>
        <p:nvPicPr>
          <p:cNvPr id="4" name="Picture 102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6003925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85800" y="6047601"/>
            <a:ext cx="3124200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Fig. Tanenbaum, Modern Operating Systems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2350670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calls - Example program – 2/2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5800" y="2133600"/>
            <a:ext cx="6705600" cy="4015740"/>
            <a:chOff x="685800" y="2133600"/>
            <a:chExt cx="6705600" cy="4015740"/>
          </a:xfrm>
        </p:grpSpPr>
        <p:sp>
          <p:nvSpPr>
            <p:cNvPr id="5" name="Rectangle 4"/>
            <p:cNvSpPr/>
            <p:nvPr/>
          </p:nvSpPr>
          <p:spPr>
            <a:xfrm>
              <a:off x="4038600" y="2133600"/>
              <a:ext cx="2895600" cy="2895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191000" y="2286000"/>
              <a:ext cx="2895600" cy="274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91000" y="5234940"/>
              <a:ext cx="28956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495800" y="5029200"/>
              <a:ext cx="28956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" name="Object 2"/>
            <p:cNvGraphicFramePr>
              <a:graphicFrameLocks noChangeAspect="1"/>
            </p:cNvGraphicFramePr>
            <p:nvPr/>
          </p:nvGraphicFramePr>
          <p:xfrm>
            <a:off x="685800" y="2133600"/>
            <a:ext cx="6572250" cy="2988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19959995" imgH="9072920" progId="Photoshop.Image.9">
                    <p:embed/>
                  </p:oleObj>
                </mc:Choice>
                <mc:Fallback>
                  <p:oleObj name="Image" r:id="rId2" imgW="19959995" imgH="9072920" progId="Photoshop.Image.9">
                    <p:embed/>
                    <p:pic>
                      <p:nvPicPr>
                        <p:cNvPr id="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800" y="2133600"/>
                          <a:ext cx="6572250" cy="2988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Box 12"/>
          <p:cNvSpPr txBox="1"/>
          <p:nvPr/>
        </p:nvSpPr>
        <p:spPr>
          <a:xfrm>
            <a:off x="685800" y="5181600"/>
            <a:ext cx="3124200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Fig. Tanenbaum, Modern Operating Systems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13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988854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concept</a:t>
            </a:r>
          </a:p>
          <a:p>
            <a:r>
              <a:rPr lang="en-US" dirty="0"/>
              <a:t>Access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Disk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Directory structure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(Self reading)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File-system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Allocation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Free-space management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158033" y="1870077"/>
            <a:ext cx="5914033" cy="1021557"/>
            <a:chOff x="4754165" y="5334000"/>
            <a:chExt cx="5914033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51097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How to we access files and which is the minimum unit we can read/write from secondary storage?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423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 Methods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955675" y="1365250"/>
            <a:ext cx="7370763" cy="4768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 b="1" dirty="0"/>
              <a:t>Sequential Access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>
                <a:solidFill>
                  <a:srgbClr val="000000"/>
                </a:solidFill>
              </a:rPr>
              <a:t>	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reset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>
                <a:solidFill>
                  <a:srgbClr val="000000"/>
                </a:solidFill>
              </a:rPr>
              <a:t>		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</a:rPr>
              <a:t>Direct Access – </a:t>
            </a:r>
            <a:r>
              <a:rPr lang="en-US" altLang="en-US" sz="1600" dirty="0">
                <a:solidFill>
                  <a:srgbClr val="000000"/>
                </a:solidFill>
              </a:rPr>
              <a:t>file is fixed length </a:t>
            </a:r>
            <a:r>
              <a:rPr lang="en-US" altLang="en-US" sz="1600" dirty="0">
                <a:solidFill>
                  <a:srgbClr val="0033CC"/>
                </a:solidFill>
              </a:rPr>
              <a:t>logical records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>
                <a:solidFill>
                  <a:srgbClr val="000000"/>
                </a:solidFill>
              </a:rPr>
              <a:t>		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read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write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position to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rewrite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/>
              <a:t>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000" i="1" dirty="0"/>
              <a:t>n</a:t>
            </a:r>
            <a:r>
              <a:rPr lang="en-US" altLang="en-US" sz="2000" dirty="0"/>
              <a:t> = </a:t>
            </a:r>
            <a:r>
              <a:rPr lang="en-US" altLang="en-US" sz="2000" dirty="0">
                <a:solidFill>
                  <a:srgbClr val="0033CC"/>
                </a:solidFill>
              </a:rPr>
              <a:t>relative block number</a:t>
            </a:r>
            <a:br>
              <a:rPr lang="en-US" altLang="en-US" sz="2000" dirty="0">
                <a:solidFill>
                  <a:srgbClr val="0033CC"/>
                </a:solidFill>
              </a:rPr>
            </a:br>
            <a:r>
              <a:rPr lang="en-US" altLang="en-US" sz="2000" dirty="0"/>
              <a:t>(0 being the beginning of the file)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341" y="1365250"/>
            <a:ext cx="4038097" cy="1291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4754165" y="4572000"/>
            <a:ext cx="4389835" cy="1021557"/>
            <a:chOff x="4754165" y="5334000"/>
            <a:chExt cx="4389835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37199" y="5593677"/>
              <a:ext cx="36068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Why do we read blocks and not just bytes?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/ Writing blocks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3" descr="C:\Users\as668\Desktop\1_0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12" y="1690689"/>
            <a:ext cx="3094119" cy="2575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3440498" y="1690690"/>
            <a:ext cx="4856835" cy="2949044"/>
            <a:chOff x="3440498" y="1690690"/>
            <a:chExt cx="4856835" cy="294904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440498" y="2978444"/>
              <a:ext cx="546100" cy="647700"/>
            </a:xfrm>
            <a:prstGeom prst="rect">
              <a:avLst/>
            </a:prstGeom>
          </p:spPr>
        </p:pic>
        <p:sp>
          <p:nvSpPr>
            <p:cNvPr id="9" name="Rounded Rectangular Callout 8"/>
            <p:cNvSpPr/>
            <p:nvPr/>
          </p:nvSpPr>
          <p:spPr>
            <a:xfrm>
              <a:off x="4724400" y="1690690"/>
              <a:ext cx="3572933" cy="2949044"/>
            </a:xfrm>
            <a:prstGeom prst="wedgeRoundRectCallout">
              <a:avLst>
                <a:gd name="adj1" fmla="val -70122"/>
                <a:gd name="adj2" fmla="val -535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  <a:p>
              <a:r>
                <a:rPr lang="en-US" dirty="0"/>
                <a:t>I need the byte at position X from the disk!</a:t>
              </a:r>
            </a:p>
            <a:p>
              <a:endParaRPr lang="en-US" dirty="0"/>
            </a:p>
            <a:p>
              <a:r>
                <a:rPr lang="en-US" dirty="0"/>
                <a:t>System call…</a:t>
              </a:r>
            </a:p>
            <a:p>
              <a:r>
                <a:rPr lang="en-US" dirty="0"/>
                <a:t>Context switch…</a:t>
              </a:r>
            </a:p>
            <a:p>
              <a:r>
                <a:rPr lang="en-US" dirty="0"/>
                <a:t>Moving to waiting queue…</a:t>
              </a:r>
            </a:p>
            <a:p>
              <a:r>
                <a:rPr lang="en-US" dirty="0"/>
                <a:t>I/O disk…</a:t>
              </a:r>
            </a:p>
            <a:p>
              <a:r>
                <a:rPr lang="en-US" dirty="0"/>
                <a:t>Interrupts…</a:t>
              </a:r>
            </a:p>
            <a:p>
              <a:r>
                <a:rPr lang="en-US" dirty="0"/>
                <a:t>More context switch…</a:t>
              </a:r>
            </a:p>
            <a:p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246033" y="2457744"/>
            <a:ext cx="4897967" cy="3020264"/>
            <a:chOff x="4246033" y="2457744"/>
            <a:chExt cx="4897967" cy="3020264"/>
          </a:xfrm>
        </p:grpSpPr>
        <p:sp>
          <p:nvSpPr>
            <p:cNvPr id="10" name="Oval 9"/>
            <p:cNvSpPr/>
            <p:nvPr/>
          </p:nvSpPr>
          <p:spPr>
            <a:xfrm>
              <a:off x="4246033" y="2457744"/>
              <a:ext cx="3462410" cy="23368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37199" y="4831677"/>
              <a:ext cx="36068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If we pay this price for each bytes it does not pay off…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8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Size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is the appropriate size of a block?</a:t>
            </a:r>
          </a:p>
          <a:p>
            <a:r>
              <a:rPr lang="en-US" sz="2800" dirty="0"/>
              <a:t>Large block</a:t>
            </a:r>
          </a:p>
          <a:p>
            <a:pPr lvl="1">
              <a:buFont typeface="Arial" panose="020B0604020202020204" pitchFamily="34" charset="0"/>
              <a:buChar char="+"/>
            </a:pPr>
            <a:r>
              <a:rPr lang="en-US" sz="2400" dirty="0"/>
              <a:t>: Less blocks to read (</a:t>
            </a:r>
            <a:r>
              <a:rPr lang="en-US" sz="2400" dirty="0">
                <a:sym typeface="Wingdings" panose="05000000000000000000" pitchFamily="2" charset="2"/>
              </a:rPr>
              <a:t>faster reading)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: More wasted space if files are small</a:t>
            </a:r>
          </a:p>
          <a:p>
            <a:r>
              <a:rPr lang="en-US" sz="2800" dirty="0"/>
              <a:t>Small block</a:t>
            </a:r>
          </a:p>
          <a:p>
            <a:pPr lvl="1">
              <a:buFont typeface="Arial" panose="020B0604020202020204" pitchFamily="34" charset="0"/>
              <a:buChar char="+"/>
            </a:pPr>
            <a:r>
              <a:rPr lang="en-US" sz="2400" dirty="0"/>
              <a:t>: Less space wasted</a:t>
            </a:r>
            <a:endParaRPr lang="en-US" sz="2400" dirty="0">
              <a:sym typeface="Wingdings" panose="05000000000000000000" pitchFamily="2" charset="2"/>
            </a:endParaRP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: More blocks to read (slower reading)</a:t>
            </a:r>
            <a:endParaRPr lang="en-US" sz="2400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60280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Size 2/2</a:t>
            </a:r>
          </a:p>
        </p:txBody>
      </p:sp>
      <p:pic>
        <p:nvPicPr>
          <p:cNvPr id="7" name="Picture 6" descr="04-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1368425"/>
            <a:ext cx="7572375" cy="396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169583" y="2911094"/>
            <a:ext cx="1032933" cy="1383233"/>
            <a:chOff x="1295399" y="1828800"/>
            <a:chExt cx="3056187" cy="4092635"/>
          </a:xfrm>
        </p:grpSpPr>
        <p:pic>
          <p:nvPicPr>
            <p:cNvPr id="9" name="Picture 2" descr="http://4.bp.blogspot.com/-Kc_jYOMfj-g/UCakbvK3gyI/AAAAAAAAGTo/8Fa5sfZjQkI/s1600/coperta_corta.jpe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399" y="1828800"/>
              <a:ext cx="3056187" cy="4092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Up Arrow 9"/>
            <p:cNvSpPr/>
            <p:nvPr/>
          </p:nvSpPr>
          <p:spPr>
            <a:xfrm rot="1459553">
              <a:off x="3380403" y="2723383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" name="Up Arrow 11"/>
            <p:cNvSpPr/>
            <p:nvPr/>
          </p:nvSpPr>
          <p:spPr>
            <a:xfrm rot="12307406">
              <a:off x="2530992" y="4552399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143000" y="5316678"/>
            <a:ext cx="31242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Fig. Tanenbaum, Modern Operating Systems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2680" y="2027104"/>
            <a:ext cx="1462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Disk Space</a:t>
            </a:r>
          </a:p>
          <a:p>
            <a:r>
              <a:rPr lang="en-US" dirty="0"/>
              <a:t>Data Rate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56752" y="2214390"/>
            <a:ext cx="60592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756752" y="2487975"/>
            <a:ext cx="605928" cy="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4754165" y="5334000"/>
            <a:ext cx="4389835" cy="1021557"/>
            <a:chOff x="4754165" y="5334000"/>
            <a:chExt cx="4389835" cy="1021557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5537199" y="5593677"/>
              <a:ext cx="36068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Why is it so challenging to chose the right block size?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075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concept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Access methods</a:t>
            </a:r>
          </a:p>
          <a:p>
            <a:r>
              <a:rPr lang="en-US" dirty="0"/>
              <a:t>Disk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Directory structure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(Self reading)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File-system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Allocation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Free-space management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229967" y="2225677"/>
            <a:ext cx="5914033" cy="1021557"/>
            <a:chOff x="4754165" y="5334000"/>
            <a:chExt cx="5914033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51097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How is the physical disk organized in order to maintain 1 (or more</a:t>
              </a:r>
              <a:r>
                <a:rPr lang="en-US" i="1"/>
                <a:t>) file systems?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69223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CAF0-74AD-BAD3-0A76-1DE73A35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layout on 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44F3-BF71-3074-76D8-8F188B640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Master Boot Record (MBR) – Legacy</a:t>
            </a:r>
          </a:p>
          <a:p>
            <a:r>
              <a:rPr lang="en-US" dirty="0"/>
              <a:t>Unified Extensible Firmware Interface (UEFI)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517B0-2E2B-AED6-7057-E7AD21C5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11790-29C2-7FFD-FEFD-8BC66FF5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4AC34-853A-5BCD-30C0-A46D720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4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layout – MBR/Legacy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90613" y="2090738"/>
            <a:ext cx="6975475" cy="2635894"/>
            <a:chOff x="1090613" y="2090738"/>
            <a:chExt cx="6975475" cy="2635894"/>
          </a:xfrm>
        </p:grpSpPr>
        <p:pic>
          <p:nvPicPr>
            <p:cNvPr id="4" name="Picture 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2090738"/>
              <a:ext cx="6975475" cy="2505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172200" y="4495800"/>
              <a:ext cx="278313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Fig. Tanenbaum, Modern Operating Systems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075373" y="2438400"/>
            <a:ext cx="5694188" cy="3310354"/>
            <a:chOff x="1075373" y="2438400"/>
            <a:chExt cx="5694188" cy="3310354"/>
          </a:xfrm>
        </p:grpSpPr>
        <p:sp>
          <p:nvSpPr>
            <p:cNvPr id="7" name="Oval 6"/>
            <p:cNvSpPr/>
            <p:nvPr/>
          </p:nvSpPr>
          <p:spPr>
            <a:xfrm>
              <a:off x="4419600" y="2438400"/>
              <a:ext cx="1295400" cy="42957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75373" y="5410200"/>
              <a:ext cx="5694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Disk partitions: 1 (or more) independent file systems</a:t>
              </a: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21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341676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layout – MBR/Legacy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90613" y="2090738"/>
            <a:ext cx="6975475" cy="2635894"/>
            <a:chOff x="1090613" y="2090738"/>
            <a:chExt cx="6975475" cy="2635894"/>
          </a:xfrm>
        </p:grpSpPr>
        <p:pic>
          <p:nvPicPr>
            <p:cNvPr id="4" name="Picture 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2090738"/>
              <a:ext cx="6975475" cy="2505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172200" y="4495800"/>
              <a:ext cx="278313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Fig. Tanenbaum, Modern Operating Systems</a:t>
              </a:r>
            </a:p>
          </p:txBody>
        </p:sp>
      </p:grpSp>
      <p:sp>
        <p:nvSpPr>
          <p:cNvPr id="7" name="Oval 6"/>
          <p:cNvSpPr/>
          <p:nvPr/>
        </p:nvSpPr>
        <p:spPr>
          <a:xfrm>
            <a:off x="1409700" y="2916555"/>
            <a:ext cx="647700" cy="4295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56323" y="5160705"/>
            <a:ext cx="73050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MBR: Master Boot Record. Starts at sector 0 and is used to boot the </a:t>
            </a:r>
            <a:br>
              <a:rPr lang="en-US" sz="1600" dirty="0"/>
            </a:br>
            <a:r>
              <a:rPr lang="en-US" sz="1600" dirty="0"/>
              <a:t>computer. At the end, it contains the partition table.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22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3370649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layout – MBR/Legacy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90613" y="2090738"/>
            <a:ext cx="6975475" cy="2635894"/>
            <a:chOff x="1090613" y="2090738"/>
            <a:chExt cx="6975475" cy="2635894"/>
          </a:xfrm>
        </p:grpSpPr>
        <p:pic>
          <p:nvPicPr>
            <p:cNvPr id="4" name="Picture 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2090738"/>
              <a:ext cx="6975475" cy="2505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172200" y="4495800"/>
              <a:ext cx="278313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Fig. Tanenbaum, Modern Operating Systems</a:t>
              </a:r>
            </a:p>
          </p:txBody>
        </p:sp>
      </p:grpSp>
      <p:sp>
        <p:nvSpPr>
          <p:cNvPr id="7" name="Oval 6"/>
          <p:cNvSpPr/>
          <p:nvPr/>
        </p:nvSpPr>
        <p:spPr>
          <a:xfrm>
            <a:off x="1409700" y="2438400"/>
            <a:ext cx="1233800" cy="4295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75373" y="5029200"/>
            <a:ext cx="67471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Partition table: starting and ending addresses of each partition.</a:t>
            </a:r>
          </a:p>
          <a:p>
            <a:r>
              <a:rPr lang="en-US" sz="1600" dirty="0"/>
              <a:t>One of the partitions is marked as active. Boot sequence: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Read the MBR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Locate the active partition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Read Boot block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23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3584296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layout – MBR/Legacy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90613" y="2090738"/>
            <a:ext cx="6975475" cy="2635894"/>
            <a:chOff x="1090613" y="2090738"/>
            <a:chExt cx="6975475" cy="2635894"/>
          </a:xfrm>
        </p:grpSpPr>
        <p:pic>
          <p:nvPicPr>
            <p:cNvPr id="4" name="Picture 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2090738"/>
              <a:ext cx="6975475" cy="2505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172200" y="4495800"/>
              <a:ext cx="278313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Fig. Tanenbaum, Modern Operating Systems</a:t>
              </a:r>
            </a:p>
          </p:txBody>
        </p:sp>
      </p:grpSp>
      <p:sp>
        <p:nvSpPr>
          <p:cNvPr id="7" name="Oval 6"/>
          <p:cNvSpPr/>
          <p:nvPr/>
        </p:nvSpPr>
        <p:spPr>
          <a:xfrm>
            <a:off x="1156960" y="4076700"/>
            <a:ext cx="1233800" cy="4295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75373" y="5029200"/>
            <a:ext cx="7171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Boot block is used to load the operating system of the partition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24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1800828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layout – MBR/Legacy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90613" y="2090738"/>
            <a:ext cx="6975475" cy="2635894"/>
            <a:chOff x="1090613" y="2090738"/>
            <a:chExt cx="6975475" cy="2635894"/>
          </a:xfrm>
        </p:grpSpPr>
        <p:pic>
          <p:nvPicPr>
            <p:cNvPr id="4" name="Picture 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2090738"/>
              <a:ext cx="6975475" cy="2505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172200" y="4495800"/>
              <a:ext cx="278313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Fig. Tanenbaum, Modern Operating Systems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09600" y="5083314"/>
            <a:ext cx="8243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What there is after the boot block depends on the operating system.</a:t>
            </a:r>
          </a:p>
          <a:p>
            <a:r>
              <a:rPr lang="en-US" sz="1600" dirty="0"/>
              <a:t>Superblock usually contain key information specific to each operating system.</a:t>
            </a:r>
          </a:p>
        </p:txBody>
      </p:sp>
      <p:sp>
        <p:nvSpPr>
          <p:cNvPr id="3" name="Left Brace 2"/>
          <p:cNvSpPr/>
          <p:nvPr/>
        </p:nvSpPr>
        <p:spPr>
          <a:xfrm rot="16200000">
            <a:off x="4905280" y="2085879"/>
            <a:ext cx="247841" cy="5638801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25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3028322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4306-6B91-75F1-C00C-FE100C8C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MBR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EC81E-9EC4-6F57-1538-BB275E6AF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Slow</a:t>
            </a:r>
          </a:p>
          <a:p>
            <a:pPr lvl="1"/>
            <a:r>
              <a:rPr lang="en-US" dirty="0"/>
              <a:t>512 bytes in total…</a:t>
            </a:r>
          </a:p>
          <a:p>
            <a:pPr lvl="2"/>
            <a:r>
              <a:rPr lang="en-US" dirty="0"/>
              <a:t>Cannot really have much in those 512 (needs to include partition table too) which means it usually is something that loads more stuff to alter load the OS</a:t>
            </a:r>
          </a:p>
          <a:p>
            <a:pPr lvl="2"/>
            <a:r>
              <a:rPr lang="en-US" dirty="0"/>
              <a:t>Multiple disk accesses </a:t>
            </a:r>
            <a:r>
              <a:rPr lang="en-US" dirty="0">
                <a:sym typeface="Wingdings" pitchFamily="2" charset="2"/>
              </a:rPr>
              <a:t> slow</a:t>
            </a:r>
            <a:endParaRPr lang="en-US" dirty="0"/>
          </a:p>
          <a:p>
            <a:r>
              <a:rPr lang="en-US" dirty="0"/>
              <a:t>Architecture dependent</a:t>
            </a:r>
          </a:p>
          <a:p>
            <a:pPr lvl="1"/>
            <a:r>
              <a:rPr lang="en-US" dirty="0"/>
              <a:t>Wants 16-bit real mode on start up (legacy)</a:t>
            </a:r>
          </a:p>
          <a:p>
            <a:pPr lvl="2"/>
            <a:r>
              <a:rPr lang="en-US" dirty="0"/>
              <a:t>16 bit registers/instructions (Word size)</a:t>
            </a:r>
          </a:p>
          <a:p>
            <a:pPr lvl="2"/>
            <a:r>
              <a:rPr lang="en-US" dirty="0"/>
              <a:t>No paging</a:t>
            </a:r>
          </a:p>
          <a:p>
            <a:r>
              <a:rPr lang="en-US" dirty="0"/>
              <a:t>Max 2TB</a:t>
            </a:r>
          </a:p>
          <a:p>
            <a:pPr lvl="1"/>
            <a:r>
              <a:rPr lang="en-US" dirty="0"/>
              <a:t>32 bits for start address, 32 for size, sector of 512 bytes</a:t>
            </a:r>
          </a:p>
          <a:p>
            <a:pPr lvl="2"/>
            <a:r>
              <a:rPr lang="en-US" dirty="0"/>
              <a:t>2^32*512*10^-12=2.2 TB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72D5-BC66-DC86-0A47-8AB3024AF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E99D-8D9B-5FF6-7872-5B9FF280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2EA51-8C82-919B-21B5-35FD7969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32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49F8-5B2D-1A9D-8626-0DF5E822C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Extensible Firmware Interface (UEFI)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CAD5B-5F0B-1E63-212F-A698678C9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20259-19B5-961C-4C99-5723B112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43008-09B6-ED9A-6899-53264E12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 descr="The figure illustrates Layout for UEFI with partition table.&#10;Long description is available in notes, Press F6.">
            <a:extLst>
              <a:ext uri="{FF2B5EF4-FFF2-40B4-BE49-F238E27FC236}">
                <a16:creationId xmlns:a16="http://schemas.microsoft.com/office/drawing/2014/main" id="{FC022386-F45A-2FA3-264C-1FF0D52C0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13" y="2710837"/>
            <a:ext cx="8148174" cy="1436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F594F3-8797-9F7D-0560-F810A7D3AAB8}"/>
              </a:ext>
            </a:extLst>
          </p:cNvPr>
          <p:cNvSpPr txBox="1"/>
          <p:nvPr/>
        </p:nvSpPr>
        <p:spPr>
          <a:xfrm>
            <a:off x="497913" y="4697759"/>
            <a:ext cx="7560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case a legacy system expects MBR (there’s no MBR, though)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2BECA2-ECD1-285D-010C-2E6F7920DE23}"/>
              </a:ext>
            </a:extLst>
          </p:cNvPr>
          <p:cNvCxnSpPr/>
          <p:nvPr/>
        </p:nvCxnSpPr>
        <p:spPr>
          <a:xfrm flipV="1">
            <a:off x="846161" y="3848669"/>
            <a:ext cx="0" cy="8490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769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6045-FF06-D329-52E2-B12242C8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D684-7575-54B0-1764-B174C609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Extensible Firmware Interface (UEFI)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54D83-3F3B-53C6-F5D8-B496BA31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E6081-488D-E2F3-EDC9-AF1FB04A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D0A87-9AAE-8962-A070-24EF8BBA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 descr="The figure illustrates Layout for UEFI with partition table.&#10;Long description is available in notes, Press F6.">
            <a:extLst>
              <a:ext uri="{FF2B5EF4-FFF2-40B4-BE49-F238E27FC236}">
                <a16:creationId xmlns:a16="http://schemas.microsoft.com/office/drawing/2014/main" id="{278BF50C-B999-00B9-7FEC-AADDB607C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13" y="2710837"/>
            <a:ext cx="8148174" cy="1436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108096-F6EE-BD56-2898-C85EAA86FDD4}"/>
              </a:ext>
            </a:extLst>
          </p:cNvPr>
          <p:cNvSpPr txBox="1"/>
          <p:nvPr/>
        </p:nvSpPr>
        <p:spPr>
          <a:xfrm>
            <a:off x="1889362" y="5190835"/>
            <a:ext cx="5909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GUID (Globally Unique Identifiers) Partition Table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D777FD-B08D-7FD9-1E0A-34B38479F2D2}"/>
              </a:ext>
            </a:extLst>
          </p:cNvPr>
          <p:cNvCxnSpPr/>
          <p:nvPr/>
        </p:nvCxnSpPr>
        <p:spPr>
          <a:xfrm flipV="1">
            <a:off x="2767936" y="4244454"/>
            <a:ext cx="0" cy="8490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043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C975-5850-3F87-B0E4-CD29BFFE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F274-6A4E-D66A-8867-9B487D21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Extensible Firmware Interface (UEFI)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BB45D-8267-260F-E176-FC7B6DD6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34E2A-DF0C-281C-A2D1-F0AAFC09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B9233-DF72-3EF6-382E-F4873588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6" descr="The figure illustrates Layout for UEFI with partition table.&#10;Long description is available in notes, Press F6.">
            <a:extLst>
              <a:ext uri="{FF2B5EF4-FFF2-40B4-BE49-F238E27FC236}">
                <a16:creationId xmlns:a16="http://schemas.microsoft.com/office/drawing/2014/main" id="{AEA4785F-C228-4495-0164-46C712F0B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13" y="2710837"/>
            <a:ext cx="8148174" cy="1436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B95219-D641-BD68-717A-CF5352A5FA7C}"/>
              </a:ext>
            </a:extLst>
          </p:cNvPr>
          <p:cNvSpPr txBox="1"/>
          <p:nvPr/>
        </p:nvSpPr>
        <p:spPr>
          <a:xfrm>
            <a:off x="7044378" y="5167311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Backup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495F8A-56BD-C8BD-E4CF-A75736CFA57B}"/>
              </a:ext>
            </a:extLst>
          </p:cNvPr>
          <p:cNvCxnSpPr/>
          <p:nvPr/>
        </p:nvCxnSpPr>
        <p:spPr>
          <a:xfrm flipV="1">
            <a:off x="7558301" y="4220930"/>
            <a:ext cx="0" cy="8490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69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E5CE-E31E-98F8-26A3-E1F1A948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Extensible Firmware Interface (UEFI)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EA9DE-E6C6-F792-C250-7DE1E28FB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UEFI firmware is powerful enough to read a specific partition, called EFI System Partition  (ESP)</a:t>
            </a:r>
          </a:p>
          <a:p>
            <a:pPr lvl="1"/>
            <a:r>
              <a:rPr lang="en-US" dirty="0"/>
              <a:t>It’s one of the partitions</a:t>
            </a:r>
          </a:p>
          <a:p>
            <a:r>
              <a:rPr lang="en-US" dirty="0"/>
              <a:t>This is a proper file system with programs, configurations files</a:t>
            </a:r>
          </a:p>
          <a:p>
            <a:r>
              <a:rPr lang="en-US" dirty="0"/>
              <a:t>Can load and execute programs in a specific format (PE – Portable executable).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AD158-9AB3-8100-E9E5-FFD1404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520E9-3EA3-5671-2819-1E675ED4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1B58F-0560-A1E1-9B59-E8D81B4C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99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A079-F7EA-5988-036C-42836F02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Disk space utilization is most likely maximized by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1E2FB-05F5-4470-76D7-892058CD1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decreasing the block size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increasing the block size</a:t>
            </a:r>
          </a:p>
        </p:txBody>
      </p:sp>
    </p:spTree>
    <p:extLst>
      <p:ext uri="{BB962C8B-B14F-4D97-AF65-F5344CB8AC3E}">
        <p14:creationId xmlns:p14="http://schemas.microsoft.com/office/powerpoint/2010/main" val="549538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5C0C-CBC9-98D7-CA00-7F1B5457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This figure shows...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75B28-E666-DEDF-214F-50C81A65E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4455729" cy="3263504"/>
          </a:xfrm>
        </p:spPr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rate goes up when internal frag. is small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hints about the average size of the files stored on disk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disk utilization must be sacrificed to speed up rate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AC5EB4-EBD4-6C16-3E52-85DD9384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702" y="3506610"/>
            <a:ext cx="3978494" cy="208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659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9131-810B-C0B7-6F68-5C2DB2B5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The part that is OS-specific is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CF526-50E0-9D82-C777-E53A97E5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2226469"/>
            <a:ext cx="3328601" cy="3263504"/>
          </a:xfrm>
        </p:spPr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MBR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Partition table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Boot block X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Free space management X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1BC2668-2154-299F-F635-AF19EA82A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368" y="2783668"/>
            <a:ext cx="5098148" cy="194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921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concept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Access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Disk structure</a:t>
            </a:r>
          </a:p>
          <a:p>
            <a:r>
              <a:rPr lang="en-US" dirty="0"/>
              <a:t>Directory structure</a:t>
            </a:r>
            <a:br>
              <a:rPr lang="en-US" dirty="0"/>
            </a:br>
            <a:r>
              <a:rPr lang="en-US" dirty="0"/>
              <a:t>(Self reading)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File-system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Allocation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Free-space management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34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500933" y="2649010"/>
            <a:ext cx="5014417" cy="1021557"/>
            <a:chOff x="4754165" y="5334000"/>
            <a:chExt cx="5014417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42101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How can we organize directories (and files) in a </a:t>
              </a:r>
              <a:r>
                <a:rPr lang="en-US" i="1"/>
                <a:t>file system?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09179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39428" y="365126"/>
            <a:ext cx="7375922" cy="1325563"/>
          </a:xfrm>
        </p:spPr>
        <p:txBody>
          <a:bodyPr/>
          <a:lstStyle/>
          <a:p>
            <a:r>
              <a:rPr lang="en-US" altLang="en-US" dirty="0"/>
              <a:t>What should directories allow us to do?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6"/>
            <a:ext cx="7886700" cy="3282333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sz="3100" dirty="0"/>
              <a:t>Search for a file (</a:t>
            </a:r>
            <a:r>
              <a:rPr lang="en-US" altLang="en-US" sz="2300" dirty="0"/>
              <a:t>or search all the files with a given extension)</a:t>
            </a:r>
          </a:p>
          <a:p>
            <a:r>
              <a:rPr lang="en-US" altLang="en-US" sz="3100" dirty="0"/>
              <a:t>Create a file</a:t>
            </a:r>
          </a:p>
          <a:p>
            <a:r>
              <a:rPr lang="en-US" altLang="en-US" sz="3100" dirty="0"/>
              <a:t>Delete a file</a:t>
            </a:r>
          </a:p>
          <a:p>
            <a:r>
              <a:rPr lang="en-US" altLang="en-US" sz="3100" dirty="0"/>
              <a:t>List a directory</a:t>
            </a:r>
          </a:p>
          <a:p>
            <a:r>
              <a:rPr lang="en-US" altLang="en-US" sz="3100" dirty="0"/>
              <a:t>Rename a file</a:t>
            </a:r>
          </a:p>
          <a:p>
            <a:r>
              <a:rPr lang="en-US" altLang="en-US" sz="3100" dirty="0"/>
              <a:t>Traverse the file system</a:t>
            </a:r>
          </a:p>
          <a:p>
            <a:r>
              <a:rPr lang="en-US" altLang="en-US" sz="3100" dirty="0"/>
              <a:t>Locate a file quickly</a:t>
            </a:r>
          </a:p>
          <a:p>
            <a:r>
              <a:rPr lang="en-US" altLang="en-US" sz="3100" dirty="0"/>
              <a:t>Provide convenient naming (</a:t>
            </a:r>
            <a:r>
              <a:rPr lang="en-US" altLang="en-US" dirty="0"/>
              <a:t>Two users can have same name for different files)</a:t>
            </a:r>
          </a:p>
          <a:p>
            <a:r>
              <a:rPr lang="en-US" altLang="en-US" sz="3100" dirty="0"/>
              <a:t>logical grouping of files by properties, (e.g., all Java programs, all games, …)</a:t>
            </a:r>
          </a:p>
          <a:p>
            <a:pPr marL="0" indent="0">
              <a:buNone/>
            </a:pPr>
            <a:endParaRPr lang="en-US" altLang="en-US" sz="3100" dirty="0"/>
          </a:p>
          <a:p>
            <a:pPr lvl="1"/>
            <a:endParaRPr lang="en-US" altLang="en-US" dirty="0"/>
          </a:p>
          <a:p>
            <a:endParaRPr lang="en-US" altLang="en-US" sz="31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1" y="517128"/>
            <a:ext cx="1021557" cy="1021557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2458163" y="4742787"/>
            <a:ext cx="5754503" cy="1406946"/>
            <a:chOff x="2458163" y="4742787"/>
            <a:chExt cx="5754503" cy="1406946"/>
          </a:xfrm>
        </p:grpSpPr>
        <p:grpSp>
          <p:nvGrpSpPr>
            <p:cNvPr id="8" name="Group 7"/>
            <p:cNvGrpSpPr/>
            <p:nvPr/>
          </p:nvGrpSpPr>
          <p:grpSpPr>
            <a:xfrm>
              <a:off x="2458163" y="4971540"/>
              <a:ext cx="879819" cy="1178193"/>
              <a:chOff x="1295399" y="1828800"/>
              <a:chExt cx="3056187" cy="4092635"/>
            </a:xfrm>
          </p:grpSpPr>
          <p:pic>
            <p:nvPicPr>
              <p:cNvPr id="9" name="Picture 8" descr="http://4.bp.blogspot.com/-Kc_jYOMfj-g/UCakbvK3gyI/AAAAAAAAGTo/8Fa5sfZjQkI/s1600/coperta_corta.jpe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5399" y="1828800"/>
                <a:ext cx="3056187" cy="40926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Up Arrow 9"/>
              <p:cNvSpPr/>
              <p:nvPr/>
            </p:nvSpPr>
            <p:spPr>
              <a:xfrm rot="1459553">
                <a:off x="3380403" y="2723383"/>
                <a:ext cx="484632" cy="978408"/>
              </a:xfrm>
              <a:prstGeom prst="up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12" name="Up Arrow 11"/>
              <p:cNvSpPr/>
              <p:nvPr/>
            </p:nvSpPr>
            <p:spPr>
              <a:xfrm rot="12307406">
                <a:off x="2530992" y="4552399"/>
                <a:ext cx="484632" cy="978408"/>
              </a:xfrm>
              <a:prstGeom prst="up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3640666" y="4742787"/>
              <a:ext cx="4572000" cy="12003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endParaRPr lang="en-US" altLang="en-US" dirty="0"/>
            </a:p>
            <a:p>
              <a:pPr marL="0" indent="0">
                <a:buNone/>
              </a:pPr>
              <a:r>
                <a:rPr lang="en-US" altLang="en-US" dirty="0"/>
                <a:t>The following is a list of common schemes for the </a:t>
              </a:r>
              <a:r>
                <a:rPr lang="en-US" altLang="en-US" u="sng" dirty="0"/>
                <a:t>logical structure</a:t>
              </a:r>
              <a:r>
                <a:rPr lang="en-US" altLang="en-US" dirty="0"/>
                <a:t> of a directory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Single-Level Directory</a:t>
            </a:r>
            <a:endParaRPr lang="en-US" altLang="en-US" sz="24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771525" y="1482725"/>
            <a:ext cx="7029450" cy="561975"/>
          </a:xfrm>
        </p:spPr>
        <p:txBody>
          <a:bodyPr/>
          <a:lstStyle/>
          <a:p>
            <a:r>
              <a:rPr lang="en-US" altLang="en-US"/>
              <a:t>A single directory for all users</a:t>
            </a:r>
          </a:p>
        </p:txBody>
      </p:sp>
      <p:pic>
        <p:nvPicPr>
          <p:cNvPr id="2765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0263"/>
            <a:ext cx="7077075" cy="172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36</a:t>
            </a:fld>
            <a:endParaRPr lang="en-US"/>
          </a:p>
        </p:txBody>
      </p:sp>
      <p:sp>
        <p:nvSpPr>
          <p:cNvPr id="10" name="Plus 9"/>
          <p:cNvSpPr/>
          <p:nvPr/>
        </p:nvSpPr>
        <p:spPr>
          <a:xfrm>
            <a:off x="2474179" y="4480909"/>
            <a:ext cx="722241" cy="722241"/>
          </a:xfrm>
          <a:prstGeom prst="mathPlu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88579" y="4549642"/>
            <a:ext cx="4589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Simple (good for small devices)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Easy to locate files</a:t>
            </a:r>
          </a:p>
        </p:txBody>
      </p:sp>
      <p:sp>
        <p:nvSpPr>
          <p:cNvPr id="12" name="Minus 11"/>
          <p:cNvSpPr/>
          <p:nvPr/>
        </p:nvSpPr>
        <p:spPr>
          <a:xfrm>
            <a:off x="2474179" y="5404239"/>
            <a:ext cx="722241" cy="722241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388579" y="5596082"/>
            <a:ext cx="5755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Different users / same file name?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Two-Level Directory</a:t>
            </a:r>
            <a:endParaRPr lang="en-US" altLang="en-US" sz="24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869238" cy="555625"/>
          </a:xfrm>
        </p:spPr>
        <p:txBody>
          <a:bodyPr/>
          <a:lstStyle/>
          <a:p>
            <a:r>
              <a:rPr lang="en-US" altLang="en-US"/>
              <a:t>Separate directory for each user</a:t>
            </a:r>
          </a:p>
        </p:txBody>
      </p:sp>
      <p:pic>
        <p:nvPicPr>
          <p:cNvPr id="2867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887538"/>
            <a:ext cx="7102475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37</a:t>
            </a:fld>
            <a:endParaRPr lang="en-US"/>
          </a:p>
        </p:txBody>
      </p:sp>
      <p:sp>
        <p:nvSpPr>
          <p:cNvPr id="9" name="Plus 8"/>
          <p:cNvSpPr/>
          <p:nvPr/>
        </p:nvSpPr>
        <p:spPr>
          <a:xfrm>
            <a:off x="2474179" y="4480909"/>
            <a:ext cx="722241" cy="722241"/>
          </a:xfrm>
          <a:prstGeom prst="mathPlu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388579" y="4549642"/>
            <a:ext cx="4589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Same file for different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searching </a:t>
            </a:r>
          </a:p>
        </p:txBody>
      </p:sp>
      <p:sp>
        <p:nvSpPr>
          <p:cNvPr id="11" name="Minus 10"/>
          <p:cNvSpPr/>
          <p:nvPr/>
        </p:nvSpPr>
        <p:spPr>
          <a:xfrm>
            <a:off x="2474179" y="5600530"/>
            <a:ext cx="722241" cy="722241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388579" y="5423041"/>
            <a:ext cx="5755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Will require a sort of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 convenient for large number of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Will require a path name (the file name is not enough to access it)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Tree-Structured Directories</a:t>
            </a:r>
          </a:p>
        </p:txBody>
      </p:sp>
      <p:pic>
        <p:nvPicPr>
          <p:cNvPr id="2969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741" y="1401129"/>
            <a:ext cx="4826000" cy="3072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38</a:t>
            </a:fld>
            <a:endParaRPr lang="en-US"/>
          </a:p>
        </p:txBody>
      </p:sp>
      <p:sp>
        <p:nvSpPr>
          <p:cNvPr id="7" name="Plus 6"/>
          <p:cNvSpPr/>
          <p:nvPr/>
        </p:nvSpPr>
        <p:spPr>
          <a:xfrm>
            <a:off x="1586448" y="4468148"/>
            <a:ext cx="722241" cy="722241"/>
          </a:xfrm>
          <a:prstGeom prst="mathPlu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500848" y="4536881"/>
            <a:ext cx="4589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Users decide how to organize their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Even better searching</a:t>
            </a:r>
          </a:p>
        </p:txBody>
      </p:sp>
      <p:sp>
        <p:nvSpPr>
          <p:cNvPr id="9" name="Minus 8"/>
          <p:cNvSpPr/>
          <p:nvPr/>
        </p:nvSpPr>
        <p:spPr>
          <a:xfrm>
            <a:off x="1586448" y="5456622"/>
            <a:ext cx="722241" cy="722241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500848" y="5279133"/>
            <a:ext cx="5755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Arbitrary numbers of directories 	(in practice, each directory becomes a file…)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Introduces </a:t>
            </a:r>
            <a:r>
              <a:rPr lang="en-US" sz="1600" b="1" dirty="0"/>
              <a:t>current directory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Introduces more operations on directories</a:t>
            </a:r>
            <a:endParaRPr lang="en-US" sz="16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Absolute path name</a:t>
            </a:r>
          </a:p>
          <a:p>
            <a:r>
              <a:rPr lang="en-US" sz="2400" dirty="0"/>
              <a:t>Relative path name (given working directory)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5780" y="2866072"/>
            <a:ext cx="352006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cd /bin</a:t>
            </a:r>
          </a:p>
          <a:p>
            <a:endParaRPr lang="en-US" dirty="0"/>
          </a:p>
          <a:p>
            <a:r>
              <a:rPr lang="en-US" dirty="0" err="1"/>
              <a:t>ls</a:t>
            </a:r>
            <a:r>
              <a:rPr lang="en-US" dirty="0"/>
              <a:t> .</a:t>
            </a:r>
          </a:p>
          <a:p>
            <a:endParaRPr lang="en-US" dirty="0"/>
          </a:p>
          <a:p>
            <a:r>
              <a:rPr lang="en-US" dirty="0" err="1"/>
              <a:t>ls</a:t>
            </a:r>
            <a:r>
              <a:rPr lang="en-US" dirty="0"/>
              <a:t> ..</a:t>
            </a:r>
          </a:p>
          <a:p>
            <a:endParaRPr lang="en-US" dirty="0"/>
          </a:p>
          <a:p>
            <a:r>
              <a:rPr lang="en-US" dirty="0"/>
              <a:t>cd ../lib</a:t>
            </a:r>
          </a:p>
          <a:p>
            <a:endParaRPr lang="en-US" dirty="0"/>
          </a:p>
          <a:p>
            <a:r>
              <a:rPr lang="en-US" dirty="0" err="1"/>
              <a:t>cp</a:t>
            </a:r>
            <a:r>
              <a:rPr lang="en-US" dirty="0"/>
              <a:t> ../</a:t>
            </a:r>
            <a:r>
              <a:rPr lang="en-US" dirty="0" err="1"/>
              <a:t>usr</a:t>
            </a:r>
            <a:r>
              <a:rPr lang="en-US" dirty="0"/>
              <a:t>/lib/hello.txt /</a:t>
            </a:r>
            <a:r>
              <a:rPr lang="en-US" dirty="0" err="1"/>
              <a:t>tmp</a:t>
            </a:r>
            <a:r>
              <a:rPr lang="en-US" dirty="0"/>
              <a:t>/hello.txt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715000" y="2819400"/>
            <a:ext cx="2611766" cy="523220"/>
            <a:chOff x="5715000" y="2819400"/>
            <a:chExt cx="2611766" cy="523220"/>
          </a:xfrm>
        </p:grpSpPr>
        <p:cxnSp>
          <p:nvCxnSpPr>
            <p:cNvPr id="8" name="Straight Arrow Connector 7"/>
            <p:cNvCxnSpPr>
              <a:stCxn id="9" idx="1"/>
            </p:cNvCxnSpPr>
            <p:nvPr/>
          </p:nvCxnSpPr>
          <p:spPr>
            <a:xfrm flipH="1">
              <a:off x="5715000" y="3081010"/>
              <a:ext cx="53869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253698" y="2819400"/>
              <a:ext cx="20730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70C0"/>
                  </a:solidFill>
                </a:rPr>
                <a:t>absolute path name</a:t>
              </a:r>
              <a:br>
                <a:rPr lang="en-US" sz="1400" b="1" dirty="0">
                  <a:solidFill>
                    <a:srgbClr val="0070C0"/>
                  </a:solidFill>
                </a:rPr>
              </a:br>
              <a:r>
                <a:rPr lang="en-US" sz="1400" b="1" dirty="0">
                  <a:solidFill>
                    <a:srgbClr val="0070C0"/>
                  </a:solidFill>
                </a:rPr>
                <a:t>change working directory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257800" y="3426023"/>
            <a:ext cx="3079673" cy="307777"/>
            <a:chOff x="5257800" y="3426023"/>
            <a:chExt cx="3079673" cy="307777"/>
          </a:xfrm>
        </p:grpSpPr>
        <p:sp>
          <p:nvSpPr>
            <p:cNvPr id="10" name="TextBox 9"/>
            <p:cNvSpPr txBox="1"/>
            <p:nvPr/>
          </p:nvSpPr>
          <p:spPr>
            <a:xfrm>
              <a:off x="6389376" y="3426023"/>
              <a:ext cx="19480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70C0"/>
                  </a:solidFill>
                </a:rPr>
                <a:t>list files of this folder (.)</a:t>
              </a:r>
            </a:p>
          </p:txBody>
        </p:sp>
        <p:cxnSp>
          <p:nvCxnSpPr>
            <p:cNvPr id="16" name="Straight Arrow Connector 15"/>
            <p:cNvCxnSpPr>
              <a:stCxn id="10" idx="1"/>
            </p:cNvCxnSpPr>
            <p:nvPr/>
          </p:nvCxnSpPr>
          <p:spPr>
            <a:xfrm flipH="1" flipV="1">
              <a:off x="5257800" y="3579911"/>
              <a:ext cx="1131576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334000" y="3962400"/>
            <a:ext cx="3003857" cy="307777"/>
            <a:chOff x="5334000" y="3962400"/>
            <a:chExt cx="3003857" cy="307777"/>
          </a:xfrm>
        </p:grpSpPr>
        <p:sp>
          <p:nvSpPr>
            <p:cNvPr id="11" name="TextBox 10"/>
            <p:cNvSpPr txBox="1"/>
            <p:nvPr/>
          </p:nvSpPr>
          <p:spPr>
            <a:xfrm>
              <a:off x="6172200" y="3962400"/>
              <a:ext cx="2165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70C0"/>
                  </a:solidFill>
                </a:rPr>
                <a:t>list files of parent folder (.)</a:t>
              </a:r>
            </a:p>
          </p:txBody>
        </p:sp>
        <p:cxnSp>
          <p:nvCxnSpPr>
            <p:cNvPr id="19" name="Straight Arrow Connector 18"/>
            <p:cNvCxnSpPr>
              <a:stCxn id="11" idx="1"/>
            </p:cNvCxnSpPr>
            <p:nvPr/>
          </p:nvCxnSpPr>
          <p:spPr>
            <a:xfrm flipH="1" flipV="1">
              <a:off x="5334000" y="4116288"/>
              <a:ext cx="83820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5715000" y="4437447"/>
            <a:ext cx="2611766" cy="523220"/>
            <a:chOff x="5715000" y="4437447"/>
            <a:chExt cx="2611766" cy="523220"/>
          </a:xfrm>
        </p:grpSpPr>
        <p:sp>
          <p:nvSpPr>
            <p:cNvPr id="13" name="TextBox 12"/>
            <p:cNvSpPr txBox="1"/>
            <p:nvPr/>
          </p:nvSpPr>
          <p:spPr>
            <a:xfrm>
              <a:off x="6253698" y="4437447"/>
              <a:ext cx="20730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70C0"/>
                  </a:solidFill>
                </a:rPr>
                <a:t>relative path name</a:t>
              </a:r>
              <a:br>
                <a:rPr lang="en-US" sz="1400" b="1" dirty="0">
                  <a:solidFill>
                    <a:srgbClr val="0070C0"/>
                  </a:solidFill>
                </a:rPr>
              </a:br>
              <a:r>
                <a:rPr lang="en-US" sz="1400" b="1" dirty="0">
                  <a:solidFill>
                    <a:srgbClr val="0070C0"/>
                  </a:solidFill>
                </a:rPr>
                <a:t>change working directory</a:t>
              </a:r>
            </a:p>
          </p:txBody>
        </p:sp>
        <p:cxnSp>
          <p:nvCxnSpPr>
            <p:cNvPr id="22" name="Straight Arrow Connector 21"/>
            <p:cNvCxnSpPr>
              <a:stCxn id="13" idx="1"/>
            </p:cNvCxnSpPr>
            <p:nvPr/>
          </p:nvCxnSpPr>
          <p:spPr>
            <a:xfrm flipH="1">
              <a:off x="5715000" y="4699057"/>
              <a:ext cx="53869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172200" y="5638800"/>
            <a:ext cx="2143087" cy="523220"/>
            <a:chOff x="6172200" y="5638800"/>
            <a:chExt cx="2143087" cy="523220"/>
          </a:xfrm>
        </p:grpSpPr>
        <p:sp>
          <p:nvSpPr>
            <p:cNvPr id="14" name="TextBox 13"/>
            <p:cNvSpPr txBox="1"/>
            <p:nvPr/>
          </p:nvSpPr>
          <p:spPr>
            <a:xfrm>
              <a:off x="6646176" y="5638800"/>
              <a:ext cx="16691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70C0"/>
                  </a:solidFill>
                </a:rPr>
                <a:t>relative path name</a:t>
              </a:r>
              <a:br>
                <a:rPr lang="en-US" sz="1400" b="1" dirty="0">
                  <a:solidFill>
                    <a:srgbClr val="0070C0"/>
                  </a:solidFill>
                </a:rPr>
              </a:br>
              <a:r>
                <a:rPr lang="en-US" sz="1400" b="1" dirty="0">
                  <a:solidFill>
                    <a:srgbClr val="0070C0"/>
                  </a:solidFill>
                </a:rPr>
                <a:t>absolute path name</a:t>
              </a:r>
            </a:p>
          </p:txBody>
        </p:sp>
        <p:cxnSp>
          <p:nvCxnSpPr>
            <p:cNvPr id="25" name="Straight Arrow Connector 24"/>
            <p:cNvCxnSpPr>
              <a:stCxn id="14" idx="1"/>
            </p:cNvCxnSpPr>
            <p:nvPr/>
          </p:nvCxnSpPr>
          <p:spPr>
            <a:xfrm flipH="1" flipV="1">
              <a:off x="6172200" y="5638800"/>
              <a:ext cx="473976" cy="2616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856966" y="2842307"/>
            <a:ext cx="3227354" cy="3226433"/>
            <a:chOff x="533400" y="2590800"/>
            <a:chExt cx="4052615" cy="4051459"/>
          </a:xfrm>
        </p:grpSpPr>
        <p:pic>
          <p:nvPicPr>
            <p:cNvPr id="4" name="Picture 1030" descr="04-0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590800"/>
              <a:ext cx="3779837" cy="369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533400" y="6352401"/>
              <a:ext cx="4052615" cy="28985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Fig. Tanenbaum, Modern Operating Systems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1556802" y="2667000"/>
              <a:ext cx="53869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39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108050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Acyclic-Graph Directories</a:t>
            </a:r>
            <a:endParaRPr lang="en-US" altLang="en-US" sz="240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262063"/>
            <a:ext cx="7029450" cy="522287"/>
          </a:xfrm>
        </p:spPr>
        <p:txBody>
          <a:bodyPr/>
          <a:lstStyle/>
          <a:p>
            <a:r>
              <a:rPr lang="en-US" altLang="en-US"/>
              <a:t>Have shared subdirectories and files</a:t>
            </a:r>
          </a:p>
        </p:txBody>
      </p:sp>
      <p:pic>
        <p:nvPicPr>
          <p:cNvPr id="32772" name="Picture 7" descr="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168997"/>
            <a:ext cx="4474104" cy="3615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40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2754" y="1894655"/>
            <a:ext cx="35560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In this case, we have a new type of file, the </a:t>
            </a:r>
            <a:r>
              <a:rPr lang="en-US" altLang="en-US" b="1" u="sng"/>
              <a:t>link</a:t>
            </a:r>
            <a:r>
              <a:rPr lang="en-US" altLang="en-US"/>
              <a:t> </a:t>
            </a:r>
            <a:br>
              <a:rPr lang="en-US" altLang="en-US"/>
            </a:br>
            <a:r>
              <a:rPr lang="en-US" altLang="en-US"/>
              <a:t>(</a:t>
            </a:r>
            <a:r>
              <a:rPr lang="en-US" altLang="en-US" dirty="0"/>
              <a:t>a pointer to an existing file)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Acyclic-Graph Directories bring trade-offs…</a:t>
            </a:r>
            <a:endParaRPr lang="en-US" altLang="en-US" sz="2400" dirty="0"/>
          </a:p>
        </p:txBody>
      </p:sp>
      <p:pic>
        <p:nvPicPr>
          <p:cNvPr id="32772" name="Picture 7" descr="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98" y="1690689"/>
            <a:ext cx="4474104" cy="3615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41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923102" y="1690689"/>
            <a:ext cx="4220898" cy="1325563"/>
            <a:chOff x="3773492" y="4321838"/>
            <a:chExt cx="4220898" cy="132556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4747736" y="4397238"/>
              <a:ext cx="3246654" cy="12501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000" i="1" dirty="0"/>
                <a:t>Suppose we are in spell/words and we delete list. Should we delete it from </a:t>
              </a:r>
              <a:r>
                <a:rPr lang="en-US" sz="2000" i="1" dirty="0" err="1"/>
                <a:t>dict</a:t>
              </a:r>
              <a:r>
                <a:rPr lang="en-US" sz="2000" i="1" dirty="0"/>
                <a:t>/w too? 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923102" y="3091652"/>
            <a:ext cx="4220898" cy="1325563"/>
            <a:chOff x="3773492" y="4321838"/>
            <a:chExt cx="4220898" cy="132556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4" name="Content Placeholder 2"/>
            <p:cNvSpPr txBox="1">
              <a:spLocks/>
            </p:cNvSpPr>
            <p:nvPr/>
          </p:nvSpPr>
          <p:spPr>
            <a:xfrm>
              <a:off x="4747736" y="4397238"/>
              <a:ext cx="3246654" cy="12501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000" i="1" dirty="0"/>
                <a:t>Let’s say we remove it, should we update the links of other references or not?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923102" y="4568015"/>
            <a:ext cx="4220898" cy="1325563"/>
            <a:chOff x="3773492" y="4321838"/>
            <a:chExt cx="4220898" cy="1325563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7" name="Content Placeholder 2"/>
            <p:cNvSpPr txBox="1">
              <a:spLocks/>
            </p:cNvSpPr>
            <p:nvPr/>
          </p:nvSpPr>
          <p:spPr>
            <a:xfrm>
              <a:off x="4747736" y="4397238"/>
              <a:ext cx="3246654" cy="12501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000" i="1" dirty="0"/>
                <a:t>Let’s say we remove it and update the links of other references, how do we know how many references we have?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076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concept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Access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Disk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Directory structure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(Self reading)</a:t>
            </a:r>
          </a:p>
          <a:p>
            <a:r>
              <a:rPr lang="en-US" dirty="0"/>
              <a:t>File-system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Allocation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Free-space management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42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675935" y="3222929"/>
            <a:ext cx="3504159" cy="1021557"/>
            <a:chOff x="4754165" y="5334000"/>
            <a:chExt cx="3504159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26998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How is a file </a:t>
              </a:r>
              <a:r>
                <a:rPr lang="en-US" i="1"/>
                <a:t>system organized in layers?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75235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Layered File System</a:t>
            </a:r>
          </a:p>
        </p:txBody>
      </p:sp>
      <p:pic>
        <p:nvPicPr>
          <p:cNvPr id="717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690689"/>
            <a:ext cx="2476500" cy="40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2659380" y="4607123"/>
            <a:ext cx="6370320" cy="615553"/>
            <a:chOff x="2659380" y="4607123"/>
            <a:chExt cx="6370320" cy="615553"/>
          </a:xfrm>
        </p:grpSpPr>
        <p:sp>
          <p:nvSpPr>
            <p:cNvPr id="2" name="Rectangle 1"/>
            <p:cNvSpPr/>
            <p:nvPr/>
          </p:nvSpPr>
          <p:spPr>
            <a:xfrm>
              <a:off x="2941320" y="4607123"/>
              <a:ext cx="6088380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Garamond" panose="02020404030301010803" pitchFamily="18" charset="0"/>
                </a:rPr>
                <a:t>manage I/O devices at the I/O control layer</a:t>
              </a:r>
              <a:br>
                <a:rPr lang="en-US" altLang="en-US" dirty="0">
                  <a:latin typeface="Garamond" panose="02020404030301010803" pitchFamily="18" charset="0"/>
                </a:rPr>
              </a:br>
              <a:r>
                <a:rPr lang="en-US" altLang="en-US" sz="1600" dirty="0">
                  <a:latin typeface="Garamond" panose="02020404030301010803" pitchFamily="18" charset="0"/>
                </a:rPr>
                <a:t>“read drive1, cylinder 72, track 2, sector 10, into memory location 1060”</a:t>
              </a:r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H="1">
              <a:off x="2659380" y="4914900"/>
              <a:ext cx="2819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2907030" y="3875603"/>
            <a:ext cx="3763086" cy="615553"/>
            <a:chOff x="2907030" y="3875603"/>
            <a:chExt cx="3763086" cy="615553"/>
          </a:xfrm>
        </p:grpSpPr>
        <p:sp>
          <p:nvSpPr>
            <p:cNvPr id="5" name="Rectangle 4"/>
            <p:cNvSpPr/>
            <p:nvPr/>
          </p:nvSpPr>
          <p:spPr>
            <a:xfrm>
              <a:off x="3188970" y="3875603"/>
              <a:ext cx="3481146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Garamond" panose="02020404030301010803" pitchFamily="18" charset="0"/>
                </a:rPr>
                <a:t>manages memory buffers and caches</a:t>
              </a:r>
              <a:br>
                <a:rPr lang="en-US" altLang="en-US" dirty="0">
                  <a:latin typeface="Garamond" panose="02020404030301010803" pitchFamily="18" charset="0"/>
                </a:rPr>
              </a:br>
              <a:r>
                <a:rPr lang="en-US" altLang="en-US" sz="1600" dirty="0">
                  <a:latin typeface="Garamond" panose="02020404030301010803" pitchFamily="18" charset="0"/>
                </a:rPr>
                <a:t>“retrieve block 123”</a:t>
              </a:r>
              <a:endParaRPr lang="en-US" dirty="0">
                <a:latin typeface="Garamond" panose="02020404030301010803" pitchFamily="18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>
              <a:off x="2907030" y="4183380"/>
              <a:ext cx="2819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3188970" y="3048179"/>
            <a:ext cx="5996940" cy="923330"/>
            <a:chOff x="3188970" y="3048179"/>
            <a:chExt cx="5996940" cy="923330"/>
          </a:xfrm>
        </p:grpSpPr>
        <p:sp>
          <p:nvSpPr>
            <p:cNvPr id="6" name="Rectangle 5"/>
            <p:cNvSpPr/>
            <p:nvPr/>
          </p:nvSpPr>
          <p:spPr>
            <a:xfrm>
              <a:off x="3188970" y="3048179"/>
              <a:ext cx="59969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en-US" altLang="en-US" dirty="0">
                  <a:latin typeface="Garamond" panose="02020404030301010803" pitchFamily="18" charset="0"/>
                </a:rPr>
                <a:t>Understands files, logical address, and physical blocks</a:t>
              </a:r>
              <a:br>
                <a:rPr lang="en-US" altLang="en-US" dirty="0">
                  <a:latin typeface="Garamond" panose="02020404030301010803" pitchFamily="18" charset="0"/>
                </a:rPr>
              </a:br>
              <a:r>
                <a:rPr lang="en-US" altLang="en-US" dirty="0">
                  <a:latin typeface="Garamond" panose="02020404030301010803" pitchFamily="18" charset="0"/>
                </a:rPr>
                <a:t>Manages free space, disk allocation</a:t>
              </a:r>
            </a:p>
            <a:p>
              <a:pPr lvl="1"/>
              <a:r>
                <a:rPr lang="en-US" altLang="en-US" dirty="0">
                  <a:latin typeface="Garamond" panose="02020404030301010803" pitchFamily="18" charset="0"/>
                </a:rPr>
                <a:t>Translates logical block # to physical block #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45180" y="3451859"/>
              <a:ext cx="2819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907030" y="1512868"/>
            <a:ext cx="6606540" cy="1477328"/>
            <a:chOff x="2907030" y="1512868"/>
            <a:chExt cx="6606540" cy="1477328"/>
          </a:xfrm>
        </p:grpSpPr>
        <p:sp>
          <p:nvSpPr>
            <p:cNvPr id="7" name="Rectangle 6"/>
            <p:cNvSpPr/>
            <p:nvPr/>
          </p:nvSpPr>
          <p:spPr>
            <a:xfrm>
              <a:off x="3486150" y="1512868"/>
              <a:ext cx="6027420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buClr>
                  <a:srgbClr val="993300"/>
                </a:buClr>
                <a:buSzPct val="90000"/>
              </a:pPr>
              <a:r>
                <a:rPr lang="en-US" altLang="en-US" dirty="0">
                  <a:latin typeface="Garamond" panose="02020404030301010803" pitchFamily="18" charset="0"/>
                </a:rPr>
                <a:t>Manages metadata information</a:t>
              </a:r>
              <a:br>
                <a:rPr lang="en-US" altLang="en-US" dirty="0">
                  <a:latin typeface="Garamond" panose="02020404030301010803" pitchFamily="18" charset="0"/>
                </a:rPr>
              </a:br>
              <a:r>
                <a:rPr lang="en-US" altLang="en-US" dirty="0">
                  <a:latin typeface="Garamond" panose="02020404030301010803" pitchFamily="18" charset="0"/>
                </a:rPr>
                <a:t>Translates file name into file number, file handle, location by maintaining file control blocks (</a:t>
              </a:r>
              <a:r>
                <a:rPr lang="en-US" altLang="en-US" b="1" dirty="0" err="1">
                  <a:solidFill>
                    <a:srgbClr val="3366FF"/>
                  </a:solidFill>
                  <a:latin typeface="Garamond" panose="02020404030301010803" pitchFamily="18" charset="0"/>
                </a:rPr>
                <a:t>inodes</a:t>
              </a:r>
              <a:r>
                <a:rPr lang="en-US" altLang="en-US" dirty="0">
                  <a:latin typeface="Garamond" panose="02020404030301010803" pitchFamily="18" charset="0"/>
                </a:rPr>
                <a:t> in Unix)</a:t>
              </a:r>
              <a:br>
                <a:rPr lang="en-US" altLang="en-US" dirty="0">
                  <a:latin typeface="Garamond" panose="02020404030301010803" pitchFamily="18" charset="0"/>
                </a:rPr>
              </a:br>
              <a:r>
                <a:rPr lang="en-US" altLang="en-US" dirty="0">
                  <a:latin typeface="Garamond" panose="02020404030301010803" pitchFamily="18" charset="0"/>
                </a:rPr>
                <a:t>Directory management</a:t>
              </a:r>
              <a:br>
                <a:rPr lang="en-US" altLang="en-US" dirty="0">
                  <a:latin typeface="Garamond" panose="02020404030301010803" pitchFamily="18" charset="0"/>
                </a:rPr>
              </a:br>
              <a:r>
                <a:rPr lang="en-US" altLang="en-US" dirty="0">
                  <a:latin typeface="Garamond" panose="02020404030301010803" pitchFamily="18" charset="0"/>
                </a:rPr>
                <a:t>Protection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>
              <a:off x="2907030" y="2362200"/>
              <a:ext cx="521970" cy="373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43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112846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a system has multiple partitions with different file systems, how can you integrate all of them?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38200" y="2819400"/>
            <a:ext cx="7882066" cy="3002723"/>
            <a:chOff x="838200" y="2819400"/>
            <a:chExt cx="7882066" cy="3002723"/>
          </a:xfrm>
        </p:grpSpPr>
        <p:grpSp>
          <p:nvGrpSpPr>
            <p:cNvPr id="6" name="Group 5"/>
            <p:cNvGrpSpPr/>
            <p:nvPr/>
          </p:nvGrpSpPr>
          <p:grpSpPr>
            <a:xfrm>
              <a:off x="838200" y="2819400"/>
              <a:ext cx="5470525" cy="3002723"/>
              <a:chOff x="930275" y="2517789"/>
              <a:chExt cx="5470525" cy="3002723"/>
            </a:xfrm>
          </p:grpSpPr>
          <p:pic>
            <p:nvPicPr>
              <p:cNvPr id="4" name="Picture 6" descr="04-1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0275" y="2517789"/>
                <a:ext cx="5470525" cy="27257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3276600" y="5243513"/>
                <a:ext cx="312420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Fig. Tanenbaum, Modern Operating Systems</a:t>
                </a:r>
              </a:p>
            </p:txBody>
          </p:sp>
        </p:grpSp>
        <p:cxnSp>
          <p:nvCxnSpPr>
            <p:cNvPr id="8" name="Straight Arrow Connector 7"/>
            <p:cNvCxnSpPr/>
            <p:nvPr/>
          </p:nvCxnSpPr>
          <p:spPr>
            <a:xfrm flipH="1">
              <a:off x="2514600" y="3429000"/>
              <a:ext cx="4343400" cy="1524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934200" y="3200400"/>
              <a:ext cx="1786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Interface to the user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19900" y="4343400"/>
              <a:ext cx="18101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Interfaces to the</a:t>
              </a:r>
              <a:br>
                <a:rPr lang="en-US" sz="1200" dirty="0"/>
              </a:br>
              <a:r>
                <a:rPr lang="en-US" sz="1200" dirty="0"/>
                <a:t>different file systems</a:t>
              </a:r>
            </a:p>
          </p:txBody>
        </p:sp>
        <p:cxnSp>
          <p:nvCxnSpPr>
            <p:cNvPr id="11" name="Straight Arrow Connector 10"/>
            <p:cNvCxnSpPr>
              <a:stCxn id="10" idx="1"/>
            </p:cNvCxnSpPr>
            <p:nvPr/>
          </p:nvCxnSpPr>
          <p:spPr>
            <a:xfrm flipH="1" flipV="1">
              <a:off x="2667000" y="4267201"/>
              <a:ext cx="4152900" cy="30703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1"/>
            </p:cNvCxnSpPr>
            <p:nvPr/>
          </p:nvCxnSpPr>
          <p:spPr>
            <a:xfrm flipH="1" flipV="1">
              <a:off x="3657600" y="4267200"/>
              <a:ext cx="3162300" cy="30703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0" idx="1"/>
            </p:cNvCxnSpPr>
            <p:nvPr/>
          </p:nvCxnSpPr>
          <p:spPr>
            <a:xfrm flipH="1" flipV="1">
              <a:off x="4572000" y="4267200"/>
              <a:ext cx="2247900" cy="30703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Date Placeholder 10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r>
              <a:rPr lang="sv-SE"/>
              <a:t>Vincenzo Gulisano</a:t>
            </a:r>
            <a:endParaRPr lang="en-US" dirty="0"/>
          </a:p>
        </p:txBody>
      </p:sp>
      <p:sp>
        <p:nvSpPr>
          <p:cNvPr id="18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r>
              <a:rPr lang="en-US" dirty="0"/>
              <a:t>41</a:t>
            </a:r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339063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Files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3669268"/>
            <a:ext cx="1300356" cy="1283732"/>
            <a:chOff x="914400" y="3669268"/>
            <a:chExt cx="1300356" cy="1283732"/>
          </a:xfrm>
        </p:grpSpPr>
        <p:sp>
          <p:nvSpPr>
            <p:cNvPr id="4" name="Rectangle 3"/>
            <p:cNvSpPr/>
            <p:nvPr/>
          </p:nvSpPr>
          <p:spPr>
            <a:xfrm>
              <a:off x="1107378" y="3669268"/>
              <a:ext cx="9144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4583668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Disk block n</a:t>
              </a:r>
            </a:p>
          </p:txBody>
        </p:sp>
      </p:grpSp>
      <p:sp>
        <p:nvSpPr>
          <p:cNvPr id="6" name="Cloud Callout 5"/>
          <p:cNvSpPr/>
          <p:nvPr/>
        </p:nvSpPr>
        <p:spPr>
          <a:xfrm>
            <a:off x="2402778" y="2061511"/>
            <a:ext cx="2133600" cy="1305741"/>
          </a:xfrm>
          <a:prstGeom prst="cloudCallout">
            <a:avLst>
              <a:gd name="adj1" fmla="val -76087"/>
              <a:gd name="adj2" fmla="val 872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Which file is this?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724400" y="2061510"/>
            <a:ext cx="3461935" cy="1200330"/>
            <a:chOff x="4724400" y="2061510"/>
            <a:chExt cx="3461935" cy="1200330"/>
          </a:xfrm>
        </p:grpSpPr>
        <p:sp>
          <p:nvSpPr>
            <p:cNvPr id="7" name="TextBox 6"/>
            <p:cNvSpPr txBox="1"/>
            <p:nvPr/>
          </p:nvSpPr>
          <p:spPr>
            <a:xfrm>
              <a:off x="4800600" y="2061511"/>
              <a:ext cx="338573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Contiguous allocation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Linked List allocation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FAT (File Allocation Table)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I-nodes (Index-nodes)</a:t>
              </a:r>
            </a:p>
          </p:txBody>
        </p:sp>
        <p:sp>
          <p:nvSpPr>
            <p:cNvPr id="8" name="Left Brace 7"/>
            <p:cNvSpPr/>
            <p:nvPr/>
          </p:nvSpPr>
          <p:spPr>
            <a:xfrm>
              <a:off x="4724400" y="2061510"/>
              <a:ext cx="228600" cy="1138889"/>
            </a:xfrm>
            <a:prstGeom prst="leftBrace">
              <a:avLst>
                <a:gd name="adj1" fmla="val 8333"/>
                <a:gd name="adj2" fmla="val 5245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45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213030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concept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Access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Disk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Directory structure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(Self reading)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File-system structure</a:t>
            </a:r>
          </a:p>
          <a:p>
            <a:r>
              <a:rPr lang="en-US" dirty="0"/>
              <a:t>Allocation methods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Free-space management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46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61841" y="3490515"/>
            <a:ext cx="5282159" cy="1021557"/>
            <a:chOff x="4754165" y="5334000"/>
            <a:chExt cx="5282159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4477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How do we </a:t>
              </a:r>
              <a:r>
                <a:rPr lang="en-US" i="1"/>
                <a:t>know where each file is?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59908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allocation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843318" y="1524000"/>
            <a:ext cx="5457365" cy="3089472"/>
            <a:chOff x="386668" y="1981200"/>
            <a:chExt cx="5457365" cy="3089472"/>
          </a:xfrm>
        </p:grpSpPr>
        <p:pic>
          <p:nvPicPr>
            <p:cNvPr id="4" name="Picture 6" descr="04-1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668" y="1981200"/>
              <a:ext cx="5457365" cy="2819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86668" y="4793673"/>
              <a:ext cx="2942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Fig. Tanenbaum, Modern Operating Systems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50274" y="4885730"/>
            <a:ext cx="4662542" cy="914400"/>
            <a:chOff x="350274" y="4885730"/>
            <a:chExt cx="4662542" cy="914400"/>
          </a:xfrm>
        </p:grpSpPr>
        <p:sp>
          <p:nvSpPr>
            <p:cNvPr id="7" name="Plus 6"/>
            <p:cNvSpPr/>
            <p:nvPr/>
          </p:nvSpPr>
          <p:spPr>
            <a:xfrm>
              <a:off x="350274" y="4885730"/>
              <a:ext cx="914400" cy="914400"/>
            </a:xfrm>
            <a:prstGeom prst="mathPlus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64674" y="4885730"/>
              <a:ext cx="3748142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Need to maintain 2 numbers per file</a:t>
              </a:r>
              <a:br>
                <a:rPr lang="en-US" sz="1400" dirty="0"/>
              </a:br>
              <a:r>
                <a:rPr lang="en-US" sz="1400" dirty="0"/>
                <a:t>(first address, number of blocks).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Read performance (single scan).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303274" y="4885730"/>
            <a:ext cx="3410430" cy="914400"/>
            <a:chOff x="5303274" y="4885730"/>
            <a:chExt cx="3410430" cy="914400"/>
          </a:xfrm>
        </p:grpSpPr>
        <p:sp>
          <p:nvSpPr>
            <p:cNvPr id="10" name="Minus 9"/>
            <p:cNvSpPr/>
            <p:nvPr/>
          </p:nvSpPr>
          <p:spPr>
            <a:xfrm>
              <a:off x="5303274" y="4885730"/>
              <a:ext cx="914400" cy="914400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3874" y="4885730"/>
              <a:ext cx="241983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Fragmentation.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New file size required</a:t>
              </a:r>
              <a:br>
                <a:rPr lang="en-US" sz="1400" dirty="0"/>
              </a:br>
              <a:r>
                <a:rPr lang="en-US" sz="1400" dirty="0"/>
                <a:t>in advance.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56917" y="6093069"/>
            <a:ext cx="5843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In which support is contiguous allocation actually a good idea?</a:t>
            </a:r>
            <a:endParaRPr lang="en-US" sz="14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47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62212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allocation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86300" y="1371600"/>
            <a:ext cx="4771400" cy="3366471"/>
            <a:chOff x="1828800" y="1524000"/>
            <a:chExt cx="4771400" cy="3366471"/>
          </a:xfrm>
        </p:grpSpPr>
        <p:pic>
          <p:nvPicPr>
            <p:cNvPr id="4" name="Picture 6" descr="04-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1524000"/>
              <a:ext cx="4419600" cy="3177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657600" y="4613472"/>
              <a:ext cx="2942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Fig. Tanenbaum, Modern Operating Systems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50274" y="5020270"/>
            <a:ext cx="4662542" cy="914400"/>
            <a:chOff x="350274" y="5020270"/>
            <a:chExt cx="4662542" cy="914400"/>
          </a:xfrm>
        </p:grpSpPr>
        <p:sp>
          <p:nvSpPr>
            <p:cNvPr id="8" name="Plus 7"/>
            <p:cNvSpPr/>
            <p:nvPr/>
          </p:nvSpPr>
          <p:spPr>
            <a:xfrm>
              <a:off x="350274" y="5020270"/>
              <a:ext cx="914400" cy="914400"/>
            </a:xfrm>
            <a:prstGeom prst="mathPlus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64674" y="5020270"/>
              <a:ext cx="37481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Need to maintain 1 number per file</a:t>
              </a:r>
              <a:br>
                <a:rPr lang="en-US" sz="1400" dirty="0"/>
              </a:br>
              <a:r>
                <a:rPr lang="en-US" sz="1400" dirty="0"/>
                <a:t>(first address).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303274" y="5020270"/>
            <a:ext cx="3348810" cy="914400"/>
            <a:chOff x="5303274" y="5020270"/>
            <a:chExt cx="3348810" cy="914400"/>
          </a:xfrm>
        </p:grpSpPr>
        <p:sp>
          <p:nvSpPr>
            <p:cNvPr id="11" name="Minus 10"/>
            <p:cNvSpPr/>
            <p:nvPr/>
          </p:nvSpPr>
          <p:spPr>
            <a:xfrm>
              <a:off x="5303274" y="5020270"/>
              <a:ext cx="914400" cy="914400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93874" y="5020270"/>
              <a:ext cx="235821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Get block n?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Less space available </a:t>
              </a:r>
              <a:br>
                <a:rPr lang="en-US" sz="1400" dirty="0"/>
              </a:br>
              <a:r>
                <a:rPr lang="en-US" sz="1400" dirty="0"/>
                <a:t>per block.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48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309740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800600" y="18288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Disk: 40 GB</a:t>
            </a:r>
          </a:p>
          <a:p>
            <a:r>
              <a:rPr lang="en-US" dirty="0"/>
              <a:t>Block size: 1 KB</a:t>
            </a:r>
            <a:br>
              <a:rPr lang="en-US" dirty="0"/>
            </a:br>
            <a:r>
              <a:rPr lang="en-US" dirty="0"/>
              <a:t>Table entry: 3 B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43000" y="1219200"/>
            <a:ext cx="3105150" cy="3778394"/>
            <a:chOff x="1143000" y="1219200"/>
            <a:chExt cx="3105150" cy="3778394"/>
          </a:xfrm>
        </p:grpSpPr>
        <p:pic>
          <p:nvPicPr>
            <p:cNvPr id="4" name="Picture 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1219200"/>
              <a:ext cx="2800350" cy="3524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143000" y="4720595"/>
              <a:ext cx="2942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Fig. Tanenbaum, Modern Operating Systems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50274" y="5370514"/>
            <a:ext cx="4070392" cy="914400"/>
            <a:chOff x="350274" y="5370514"/>
            <a:chExt cx="4070392" cy="914400"/>
          </a:xfrm>
        </p:grpSpPr>
        <p:sp>
          <p:nvSpPr>
            <p:cNvPr id="8" name="Plus 7"/>
            <p:cNvSpPr/>
            <p:nvPr/>
          </p:nvSpPr>
          <p:spPr>
            <a:xfrm>
              <a:off x="350274" y="5370514"/>
              <a:ext cx="914400" cy="914400"/>
            </a:xfrm>
            <a:prstGeom prst="mathPlus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64674" y="5370514"/>
              <a:ext cx="3155992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When loaded in memory, disk</a:t>
              </a:r>
              <a:br>
                <a:rPr lang="en-US" sz="1400" dirty="0"/>
              </a:br>
              <a:r>
                <a:rPr lang="en-US" sz="1400" dirty="0"/>
                <a:t>blocks used only for data.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Faster random access.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303274" y="5370514"/>
            <a:ext cx="3525140" cy="914400"/>
            <a:chOff x="5303274" y="5370514"/>
            <a:chExt cx="3525140" cy="914400"/>
          </a:xfrm>
        </p:grpSpPr>
        <p:sp>
          <p:nvSpPr>
            <p:cNvPr id="10" name="Minus 9"/>
            <p:cNvSpPr/>
            <p:nvPr/>
          </p:nvSpPr>
          <p:spPr>
            <a:xfrm>
              <a:off x="5303274" y="5370514"/>
              <a:ext cx="914400" cy="914400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3874" y="5370514"/>
              <a:ext cx="25345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Need to keep the table</a:t>
              </a:r>
              <a:br>
                <a:rPr lang="en-US" sz="1400" dirty="0"/>
              </a:br>
              <a:r>
                <a:rPr lang="en-US" sz="1400" dirty="0"/>
                <a:t>in memory.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Linked List allocation using FAT</a:t>
            </a:r>
          </a:p>
        </p:txBody>
      </p:sp>
      <p:sp>
        <p:nvSpPr>
          <p:cNvPr id="13" name="Right Brace 12"/>
          <p:cNvSpPr/>
          <p:nvPr/>
        </p:nvSpPr>
        <p:spPr>
          <a:xfrm>
            <a:off x="7002051" y="1828800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244506" y="21013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much memory?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0480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40 x 1024 x 1024 blocks * 3 bytes/block</a:t>
            </a:r>
          </a:p>
          <a:p>
            <a:r>
              <a:rPr lang="en-US" dirty="0"/>
              <a:t>120 MB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49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153326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I-nodes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684181" y="1295400"/>
            <a:ext cx="3775639" cy="3814447"/>
            <a:chOff x="2438400" y="1143000"/>
            <a:chExt cx="3775639" cy="3814447"/>
          </a:xfrm>
        </p:grpSpPr>
        <p:pic>
          <p:nvPicPr>
            <p:cNvPr id="4" name="Picture 6" descr="04-1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1143000"/>
              <a:ext cx="3775639" cy="3497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2854919" y="4680448"/>
              <a:ext cx="2942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Fig. Tanenbaum, Modern Operating Systems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50274" y="5370514"/>
            <a:ext cx="4768340" cy="954107"/>
            <a:chOff x="350274" y="5370514"/>
            <a:chExt cx="4768340" cy="954107"/>
          </a:xfrm>
        </p:grpSpPr>
        <p:sp>
          <p:nvSpPr>
            <p:cNvPr id="8" name="Plus 7"/>
            <p:cNvSpPr/>
            <p:nvPr/>
          </p:nvSpPr>
          <p:spPr>
            <a:xfrm>
              <a:off x="350274" y="5370514"/>
              <a:ext cx="914400" cy="914400"/>
            </a:xfrm>
            <a:prstGeom prst="mathPlus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64674" y="5370514"/>
              <a:ext cx="385394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If loading I-nodes only for</a:t>
              </a:r>
              <a:br>
                <a:rPr lang="en-US" sz="1400" dirty="0"/>
              </a:br>
              <a:r>
                <a:rPr lang="en-US" sz="1400" dirty="0"/>
                <a:t>opened files </a:t>
              </a:r>
              <a:r>
                <a:rPr lang="en-US" sz="1400" dirty="0">
                  <a:sym typeface="Wingdings" panose="05000000000000000000" pitchFamily="2" charset="2"/>
                </a:rPr>
                <a:t> Less memory needed.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ym typeface="Wingdings" panose="05000000000000000000" pitchFamily="2" charset="2"/>
                </a:rPr>
                <a:t>Memory needed proportional to the</a:t>
              </a:r>
              <a:br>
                <a:rPr lang="en-US" sz="1400" dirty="0">
                  <a:sym typeface="Wingdings" panose="05000000000000000000" pitchFamily="2" charset="2"/>
                </a:rPr>
              </a:br>
              <a:r>
                <a:rPr lang="en-US" sz="1400" dirty="0">
                  <a:sym typeface="Wingdings" panose="05000000000000000000" pitchFamily="2" charset="2"/>
                </a:rPr>
                <a:t>maximum number of open files.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303274" y="5370514"/>
            <a:ext cx="3355350" cy="914400"/>
            <a:chOff x="5303274" y="5370514"/>
            <a:chExt cx="3355350" cy="914400"/>
          </a:xfrm>
        </p:grpSpPr>
        <p:sp>
          <p:nvSpPr>
            <p:cNvPr id="10" name="Minus 9"/>
            <p:cNvSpPr/>
            <p:nvPr/>
          </p:nvSpPr>
          <p:spPr>
            <a:xfrm>
              <a:off x="5303274" y="5370514"/>
              <a:ext cx="914400" cy="914400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3874" y="5370514"/>
              <a:ext cx="236475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Complex if file grows</a:t>
              </a:r>
              <a:br>
                <a:rPr lang="en-US" sz="1400" dirty="0"/>
              </a:br>
              <a:r>
                <a:rPr lang="en-US" sz="1400" dirty="0"/>
                <a:t>beyond number</a:t>
              </a:r>
              <a:br>
                <a:rPr lang="en-US" sz="1400" dirty="0"/>
              </a:br>
              <a:r>
                <a:rPr lang="en-US" sz="1400" dirty="0"/>
                <a:t>of addresses.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50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273345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concept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Access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Disk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Directory structure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(Self reading)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File-system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Allocation methods</a:t>
            </a:r>
          </a:p>
          <a:p>
            <a:r>
              <a:rPr lang="en-US" dirty="0"/>
              <a:t>Free-space management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51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61841" y="3900518"/>
            <a:ext cx="4653509" cy="1021557"/>
            <a:chOff x="4754165" y="5334000"/>
            <a:chExt cx="4653509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38492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How do we know what portions of a </a:t>
              </a:r>
              <a:r>
                <a:rPr lang="en-US" i="1"/>
                <a:t>file systems are free?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460469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track of free blocks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62001" y="1371600"/>
            <a:ext cx="4800600" cy="4953000"/>
            <a:chOff x="762001" y="1371600"/>
            <a:chExt cx="4800600" cy="4953000"/>
          </a:xfrm>
        </p:grpSpPr>
        <p:pic>
          <p:nvPicPr>
            <p:cNvPr id="4" name="Picture 5"/>
            <p:cNvPicPr>
              <a:picLocks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729" b="7203"/>
            <a:stretch/>
          </p:blipFill>
          <p:spPr bwMode="auto">
            <a:xfrm>
              <a:off x="762001" y="1371600"/>
              <a:ext cx="4800600" cy="4549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2582848" y="5955268"/>
              <a:ext cx="1158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Linked List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33183" y="1371601"/>
            <a:ext cx="3124200" cy="4952999"/>
            <a:chOff x="5133183" y="1371601"/>
            <a:chExt cx="3124200" cy="4952999"/>
          </a:xfrm>
        </p:grpSpPr>
        <p:pic>
          <p:nvPicPr>
            <p:cNvPr id="5" name="Picture 5"/>
            <p:cNvPicPr>
              <a:picLocks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654" b="16373"/>
            <a:stretch/>
          </p:blipFill>
          <p:spPr bwMode="auto">
            <a:xfrm>
              <a:off x="6042660" y="1371601"/>
              <a:ext cx="2158365" cy="4099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6695283" y="5955268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bitmap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33183" y="5486821"/>
              <a:ext cx="31242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Fig. Tanenbaum, Modern Operating Systems</a:t>
              </a:r>
            </a:p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52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355862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track of free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Designing the right way of keeping free blocks is not trivial…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807849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Linked List. Keep only 1 block of pointers to free blocks in memory, others are stored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out of free blocks? Read the following one from disk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free blocks? Add them to block in memory, if full </a:t>
            </a:r>
            <a:r>
              <a:rPr lang="en-US" dirty="0">
                <a:sym typeface="Wingdings" panose="05000000000000000000" pitchFamily="2" charset="2"/>
              </a:rPr>
              <a:t> store it.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895368" y="3352800"/>
            <a:ext cx="5800832" cy="3394028"/>
            <a:chOff x="1332746" y="3352800"/>
            <a:chExt cx="5800832" cy="3394028"/>
          </a:xfrm>
        </p:grpSpPr>
        <p:pic>
          <p:nvPicPr>
            <p:cNvPr id="5" name="Picture 6" descr="04-2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964" b="8850"/>
            <a:stretch/>
          </p:blipFill>
          <p:spPr bwMode="auto">
            <a:xfrm>
              <a:off x="1332746" y="3730914"/>
              <a:ext cx="1981200" cy="2092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3505200" y="3352800"/>
              <a:ext cx="14920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Free temp file</a:t>
              </a:r>
              <a:br>
                <a:rPr lang="en-US" dirty="0"/>
              </a:br>
              <a:r>
                <a:rPr lang="en-US" dirty="0"/>
                <a:t>( 3 blocks)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404916" y="6100497"/>
              <a:ext cx="16925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Create temp file</a:t>
              </a:r>
              <a:br>
                <a:rPr lang="en-US" dirty="0"/>
              </a:br>
              <a:r>
                <a:rPr lang="en-US" dirty="0"/>
                <a:t>( 3 blocks)</a:t>
              </a:r>
            </a:p>
          </p:txBody>
        </p:sp>
        <p:pic>
          <p:nvPicPr>
            <p:cNvPr id="8" name="Picture 6" descr="04-2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78" r="33928" b="8850"/>
            <a:stretch/>
          </p:blipFill>
          <p:spPr bwMode="auto">
            <a:xfrm>
              <a:off x="5105400" y="3730914"/>
              <a:ext cx="2028178" cy="2092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Arc 8"/>
            <p:cNvSpPr/>
            <p:nvPr/>
          </p:nvSpPr>
          <p:spPr>
            <a:xfrm>
              <a:off x="3097152" y="3966896"/>
              <a:ext cx="2362200" cy="685800"/>
            </a:xfrm>
            <a:prstGeom prst="arc">
              <a:avLst>
                <a:gd name="adj1" fmla="val 11178770"/>
                <a:gd name="adj2" fmla="val 21036453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/>
            <p:cNvSpPr/>
            <p:nvPr/>
          </p:nvSpPr>
          <p:spPr>
            <a:xfrm rot="10800000">
              <a:off x="3097153" y="5414696"/>
              <a:ext cx="2362200" cy="685800"/>
            </a:xfrm>
            <a:prstGeom prst="arc">
              <a:avLst>
                <a:gd name="adj1" fmla="val 11178770"/>
                <a:gd name="adj2" fmla="val 21036453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611884" y="4572000"/>
            <a:ext cx="217931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if a program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creates a lot of these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temp files?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AA995-8088-4483-B288-4EF0DDBD577A}" type="slidenum">
              <a:rPr lang="en-US" smtClean="0"/>
              <a:t>53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  <p:extLst>
      <p:ext uri="{BB962C8B-B14F-4D97-AF65-F5344CB8AC3E}">
        <p14:creationId xmlns:p14="http://schemas.microsoft.com/office/powerpoint/2010/main" val="104649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 concept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Access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Disk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Directory structure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(Self reading)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File-system structure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Allocation methods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Free-space management</a:t>
            </a:r>
          </a:p>
          <a:p>
            <a:r>
              <a:rPr lang="en-US" dirty="0"/>
              <a:t>File sharing and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54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61841" y="4371048"/>
            <a:ext cx="4653509" cy="1021557"/>
            <a:chOff x="4754165" y="5334000"/>
            <a:chExt cx="4653509" cy="102155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165" y="5334000"/>
              <a:ext cx="1021557" cy="102155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58432" y="5432227"/>
              <a:ext cx="38492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How do we share and protect files among different users?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9552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Protection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File owner/creator should be able to control:</a:t>
            </a:r>
          </a:p>
          <a:p>
            <a:pPr lvl="1"/>
            <a:r>
              <a:rPr lang="en-US" altLang="en-US" dirty="0"/>
              <a:t>what can be done</a:t>
            </a:r>
          </a:p>
          <a:p>
            <a:pPr lvl="1"/>
            <a:r>
              <a:rPr lang="en-US" altLang="en-US" dirty="0"/>
              <a:t>by whom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Types of access</a:t>
            </a:r>
          </a:p>
          <a:p>
            <a:pPr lvl="1"/>
            <a:r>
              <a:rPr lang="en-US" altLang="en-US" b="1" dirty="0"/>
              <a:t>Read</a:t>
            </a:r>
          </a:p>
          <a:p>
            <a:pPr lvl="1"/>
            <a:r>
              <a:rPr lang="en-US" altLang="en-US" b="1" dirty="0"/>
              <a:t>Write</a:t>
            </a:r>
          </a:p>
          <a:p>
            <a:pPr lvl="1"/>
            <a:r>
              <a:rPr lang="en-US" altLang="en-US" b="1" dirty="0"/>
              <a:t>Execute</a:t>
            </a:r>
          </a:p>
          <a:p>
            <a:pPr lvl="1"/>
            <a:r>
              <a:rPr lang="en-US" altLang="en-US" b="1" dirty="0"/>
              <a:t>Append</a:t>
            </a:r>
          </a:p>
          <a:p>
            <a:pPr lvl="1"/>
            <a:r>
              <a:rPr lang="en-US" altLang="en-US" b="1" dirty="0"/>
              <a:t>Delete</a:t>
            </a:r>
          </a:p>
          <a:p>
            <a:pPr lvl="1"/>
            <a:r>
              <a:rPr lang="en-US" altLang="en-US" b="1" dirty="0"/>
              <a:t>List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55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 Lists and Groups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342188" cy="357505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Mode of access:  read, write, execute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Three classes of users on Unix / Linux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/>
              <a:t>	</a:t>
            </a:r>
            <a:r>
              <a:rPr lang="en-US" altLang="en-US" sz="800"/>
              <a:t>	</a:t>
            </a:r>
            <a:r>
              <a:rPr lang="en-US" altLang="en-US" sz="1600"/>
              <a:t>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/>
              <a:t>		a) </a:t>
            </a:r>
            <a:r>
              <a:rPr lang="en-US" altLang="en-US" sz="1600" b="1"/>
              <a:t>owner access</a:t>
            </a:r>
            <a:r>
              <a:rPr lang="en-US" altLang="en-US" sz="1600"/>
              <a:t> 	7	</a:t>
            </a:r>
            <a:r>
              <a:rPr lang="en-US" altLang="en-US" sz="1600">
                <a:sym typeface="Symbol" panose="05050102010706020507" pitchFamily="18" charset="2"/>
              </a:rPr>
              <a:t>	1 1 1</a:t>
            </a:r>
            <a:br>
              <a:rPr lang="en-US" altLang="en-US" sz="1600">
                <a:sym typeface="Symbol" panose="05050102010706020507" pitchFamily="18" charset="2"/>
              </a:rPr>
            </a:br>
            <a:r>
              <a:rPr lang="en-US" altLang="en-US" sz="1600">
                <a:sym typeface="Symbol" panose="05050102010706020507" pitchFamily="18" charset="2"/>
              </a:rPr>
              <a:t>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>
                <a:sym typeface="Symbol" panose="05050102010706020507" pitchFamily="18" charset="2"/>
              </a:rPr>
              <a:t>		b) </a:t>
            </a:r>
            <a:r>
              <a:rPr lang="en-US" altLang="en-US" sz="1600" b="1">
                <a:sym typeface="Symbol" panose="05050102010706020507" pitchFamily="18" charset="2"/>
              </a:rPr>
              <a:t>group access</a:t>
            </a:r>
            <a:r>
              <a:rPr lang="en-US" altLang="en-US" sz="1600">
                <a:sym typeface="Symbol" panose="05050102010706020507" pitchFamily="18" charset="2"/>
              </a:rPr>
              <a:t> 	6	 	1 1 0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>
                <a:sym typeface="Symbol" panose="05050102010706020507" pitchFamily="18" charset="2"/>
              </a:rPr>
              <a:t>	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>
                <a:sym typeface="Symbol" panose="05050102010706020507" pitchFamily="18" charset="2"/>
              </a:rPr>
              <a:t>		c) </a:t>
            </a:r>
            <a:r>
              <a:rPr lang="en-US" altLang="en-US" sz="1600" b="1">
                <a:sym typeface="Symbol" panose="05050102010706020507" pitchFamily="18" charset="2"/>
              </a:rPr>
              <a:t>public access</a:t>
            </a:r>
            <a:r>
              <a:rPr lang="en-US" altLang="en-US" sz="1600">
                <a:sym typeface="Symbol" panose="05050102010706020507" pitchFamily="18" charset="2"/>
              </a:rPr>
              <a:t>	1	 	0 0 1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Ask manager to create a group (unique name), say G, and add some users to the group.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For a particular file (say </a:t>
            </a:r>
            <a:r>
              <a:rPr lang="en-US" altLang="en-US" i="1">
                <a:sym typeface="Symbol" panose="05050102010706020507" pitchFamily="18" charset="2"/>
              </a:rPr>
              <a:t>game</a:t>
            </a:r>
            <a:r>
              <a:rPr lang="en-US" altLang="en-US">
                <a:sym typeface="Symbol" panose="05050102010706020507" pitchFamily="18" charset="2"/>
              </a:rPr>
              <a:t>) or subdirectory, define an appropriate access.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3397250" y="4884738"/>
            <a:ext cx="63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latin typeface="Helvetica" panose="020B0604020202020204" pitchFamily="34" charset="0"/>
              </a:rPr>
              <a:t>owner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4049713" y="4884738"/>
            <a:ext cx="6175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latin typeface="Helvetica" panose="020B0604020202020204" pitchFamily="34" charset="0"/>
              </a:rPr>
              <a:t>group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4787900" y="4884738"/>
            <a:ext cx="63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latin typeface="Helvetica" panose="020B0604020202020204" pitchFamily="34" charset="0"/>
              </a:rPr>
              <a:t>public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3452813" y="5399088"/>
            <a:ext cx="6842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latin typeface="Helvetica" panose="020B0604020202020204" pitchFamily="34" charset="0"/>
              </a:rPr>
              <a:t>chmod</a:t>
            </a:r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4108450" y="5399088"/>
            <a:ext cx="436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latin typeface="Helvetica" panose="020B0604020202020204" pitchFamily="34" charset="0"/>
              </a:rPr>
              <a:t>761</a:t>
            </a: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4583113" y="5399088"/>
            <a:ext cx="5810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latin typeface="Helvetica" panose="020B0604020202020204" pitchFamily="34" charset="0"/>
              </a:rPr>
              <a:t>game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3736975" y="5065713"/>
            <a:ext cx="461963" cy="33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>
            <a:off x="4343400" y="5108575"/>
            <a:ext cx="0" cy="274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 flipH="1">
            <a:off x="4494213" y="5080000"/>
            <a:ext cx="600075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798513" y="5643563"/>
            <a:ext cx="7029450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Monotype Sorts" pitchFamily="-84" charset="2"/>
              <a:buNone/>
            </a:pPr>
            <a:r>
              <a:rPr kumimoji="1" lang="en-US" altLang="en-US">
                <a:latin typeface="Arial" panose="020B0604020202020204" pitchFamily="34" charset="0"/>
                <a:sym typeface="Symbol" panose="05050102010706020507" pitchFamily="18" charset="2"/>
              </a:rPr>
              <a:t>Attach a group to a file</a:t>
            </a:r>
            <a:br>
              <a:rPr kumimoji="1" lang="en-US" altLang="en-US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kumimoji="1" lang="en-US" altLang="en-US">
                <a:latin typeface="Arial" panose="020B0604020202020204" pitchFamily="34" charset="0"/>
                <a:sym typeface="Symbol" panose="05050102010706020507" pitchFamily="18" charset="2"/>
              </a:rPr>
              <a:t>	         </a:t>
            </a:r>
            <a:r>
              <a:rPr kumimoji="1" lang="en-US" altLang="en-US" b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chgrp     G    game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56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258763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sz="2800"/>
              <a:t>Windows 7 Access-Control List Management</a:t>
            </a:r>
          </a:p>
        </p:txBody>
      </p:sp>
      <p:pic>
        <p:nvPicPr>
          <p:cNvPr id="45059" name="Picture 2" descr="11_1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433" y="1164590"/>
            <a:ext cx="3289617" cy="452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57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49325" y="277813"/>
            <a:ext cx="7737475" cy="576262"/>
          </a:xfrm>
        </p:spPr>
        <p:txBody>
          <a:bodyPr/>
          <a:lstStyle/>
          <a:p>
            <a:pPr eaLnBrk="1" hangingPunct="1"/>
            <a:r>
              <a:rPr lang="en-US" altLang="en-US"/>
              <a:t>A Sample UNIX Directory Listing</a:t>
            </a:r>
          </a:p>
        </p:txBody>
      </p:sp>
      <p:pic>
        <p:nvPicPr>
          <p:cNvPr id="4608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1079500" y="2003425"/>
            <a:ext cx="7350125" cy="3360738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Vincenzo Gulisano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58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DF87-A38C-A29A-E1C2-6CAE26A0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Contiguous allocation for a disk leads to...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17F6-4F93-5389-7B03-9F9D21ADE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External fragmentation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Internal fragmentation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Both of them</a:t>
            </a:r>
          </a:p>
        </p:txBody>
      </p:sp>
    </p:spTree>
    <p:extLst>
      <p:ext uri="{BB962C8B-B14F-4D97-AF65-F5344CB8AC3E}">
        <p14:creationId xmlns:p14="http://schemas.microsoft.com/office/powerpoint/2010/main" val="39166299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ACB7-AAAA-A623-42E9-E49EE846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What requires more space to keep track of free blocks?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607D1-7081-B741-69AF-21E23FFC8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SE" dirty="0"/>
              <a:t>L</a:t>
            </a: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inked list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Bitmap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who knows...</a:t>
            </a:r>
          </a:p>
        </p:txBody>
      </p:sp>
    </p:spTree>
    <p:extLst>
      <p:ext uri="{BB962C8B-B14F-4D97-AF65-F5344CB8AC3E}">
        <p14:creationId xmlns:p14="http://schemas.microsoft.com/office/powerpoint/2010/main" val="3062509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C20E-39C2-4D3E-DDDD-363C872B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FA584-4745-E7DA-4108-DF92B41F7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3346911"/>
            <a:ext cx="3943350" cy="2143061"/>
          </a:xfrm>
        </p:spPr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Yes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Who knows...</a:t>
            </a:r>
          </a:p>
          <a:p>
            <a:endParaRPr lang="en-SE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2B0CA51-D8E2-994E-D4C7-54E5F3D2A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64" y="1368028"/>
            <a:ext cx="5209601" cy="197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50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7859</TotalTime>
  <Words>3339</Words>
  <Application>Microsoft Macintosh PowerPoint</Application>
  <PresentationFormat>On-screen Show (4:3)</PresentationFormat>
  <Paragraphs>645</Paragraphs>
  <Slides>61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7" baseType="lpstr">
      <vt:lpstr>Arial</vt:lpstr>
      <vt:lpstr>Calibri</vt:lpstr>
      <vt:lpstr>Calibri Light</vt:lpstr>
      <vt:lpstr>Courier New</vt:lpstr>
      <vt:lpstr>Garamond</vt:lpstr>
      <vt:lpstr>Helvetica</vt:lpstr>
      <vt:lpstr>inherit</vt:lpstr>
      <vt:lpstr>Monotype Sorts</vt:lpstr>
      <vt:lpstr>Montserrat</vt:lpstr>
      <vt:lpstr>Symbol</vt:lpstr>
      <vt:lpstr>Times New Roman</vt:lpstr>
      <vt:lpstr>Verdana</vt:lpstr>
      <vt:lpstr>Wingdings</vt:lpstr>
      <vt:lpstr>Office Theme</vt:lpstr>
      <vt:lpstr>1_Office Theme</vt:lpstr>
      <vt:lpstr>Image</vt:lpstr>
      <vt:lpstr>PowerPoint Presentation</vt:lpstr>
      <vt:lpstr>Reading instructions</vt:lpstr>
      <vt:lpstr>Which are the most visible aspects of a File System?</vt:lpstr>
      <vt:lpstr>Objectives</vt:lpstr>
      <vt:lpstr>AGENDA</vt:lpstr>
      <vt:lpstr>AGENDA</vt:lpstr>
      <vt:lpstr>File Concept</vt:lpstr>
      <vt:lpstr>File Attributes</vt:lpstr>
      <vt:lpstr>File Types – Name, Extension</vt:lpstr>
      <vt:lpstr>Open Files</vt:lpstr>
      <vt:lpstr>File Operations</vt:lpstr>
      <vt:lpstr>System calls - Example program – 1/2 </vt:lpstr>
      <vt:lpstr>System calls - Example program – 2/2 </vt:lpstr>
      <vt:lpstr>AGENDA</vt:lpstr>
      <vt:lpstr>Access Methods</vt:lpstr>
      <vt:lpstr>Reading / Writing blocks</vt:lpstr>
      <vt:lpstr>Block Size 1/2</vt:lpstr>
      <vt:lpstr>Block Size 2/2</vt:lpstr>
      <vt:lpstr>AGENDA</vt:lpstr>
      <vt:lpstr>File System layout on disk</vt:lpstr>
      <vt:lpstr>File system layout – MBR/Legacy</vt:lpstr>
      <vt:lpstr>File system layout – MBR/Legacy</vt:lpstr>
      <vt:lpstr>File system layout – MBR/Legacy</vt:lpstr>
      <vt:lpstr>File system layout – MBR/Legacy</vt:lpstr>
      <vt:lpstr>File system layout – MBR/Legacy</vt:lpstr>
      <vt:lpstr>Limitations of MBR</vt:lpstr>
      <vt:lpstr>Unified Extensible Firmware Interface (UEFI)</vt:lpstr>
      <vt:lpstr>Unified Extensible Firmware Interface (UEFI)</vt:lpstr>
      <vt:lpstr>Unified Extensible Firmware Interface (UEFI)</vt:lpstr>
      <vt:lpstr>Unified Extensible Firmware Interface (UEFI)</vt:lpstr>
      <vt:lpstr>Disk space utilization is most likely maximized by</vt:lpstr>
      <vt:lpstr>This figure shows...</vt:lpstr>
      <vt:lpstr>The part that is OS-specific is</vt:lpstr>
      <vt:lpstr>AGENDA</vt:lpstr>
      <vt:lpstr>What should directories allow us to do?</vt:lpstr>
      <vt:lpstr>Single-Level Directory</vt:lpstr>
      <vt:lpstr>Two-Level Directory</vt:lpstr>
      <vt:lpstr>Tree-Structured Directories</vt:lpstr>
      <vt:lpstr>Path names</vt:lpstr>
      <vt:lpstr>Acyclic-Graph Directories</vt:lpstr>
      <vt:lpstr>Acyclic-Graph Directories bring trade-offs…</vt:lpstr>
      <vt:lpstr>AGENDA</vt:lpstr>
      <vt:lpstr>Layered File System</vt:lpstr>
      <vt:lpstr>Virtual File Systems</vt:lpstr>
      <vt:lpstr>Implementing Files</vt:lpstr>
      <vt:lpstr>AGENDA</vt:lpstr>
      <vt:lpstr>Contiguous allocation</vt:lpstr>
      <vt:lpstr>Linked List allocation</vt:lpstr>
      <vt:lpstr>Linked List allocation using FAT</vt:lpstr>
      <vt:lpstr>I-nodes</vt:lpstr>
      <vt:lpstr>AGENDA</vt:lpstr>
      <vt:lpstr>Keeping track of free blocks </vt:lpstr>
      <vt:lpstr>Keeping track of free blocks</vt:lpstr>
      <vt:lpstr>AGENDA</vt:lpstr>
      <vt:lpstr>Protection</vt:lpstr>
      <vt:lpstr>Access Lists and Groups</vt:lpstr>
      <vt:lpstr>Windows 7 Access-Control List Management</vt:lpstr>
      <vt:lpstr>A Sample UNIX Directory Listing</vt:lpstr>
      <vt:lpstr>Contiguous allocation for a disk leads to...</vt:lpstr>
      <vt:lpstr>What requires more space to keep track of free blocks?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Vincenzo Gulisano</cp:lastModifiedBy>
  <cp:revision>187</cp:revision>
  <dcterms:created xsi:type="dcterms:W3CDTF">2004-10-07T18:29:30Z</dcterms:created>
  <dcterms:modified xsi:type="dcterms:W3CDTF">2025-10-02T05:57:09Z</dcterms:modified>
</cp:coreProperties>
</file>