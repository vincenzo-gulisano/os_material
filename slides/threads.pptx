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4048" r:id="rId1"/>
  </p:sldMasterIdLst>
  <p:notesMasterIdLst>
    <p:notesMasterId r:id="rId57"/>
  </p:notesMasterIdLst>
  <p:handoutMasterIdLst>
    <p:handoutMasterId r:id="rId58"/>
  </p:handoutMasterIdLst>
  <p:sldIdLst>
    <p:sldId id="331" r:id="rId2"/>
    <p:sldId id="394" r:id="rId3"/>
    <p:sldId id="333" r:id="rId4"/>
    <p:sldId id="378" r:id="rId5"/>
    <p:sldId id="379" r:id="rId6"/>
    <p:sldId id="395" r:id="rId7"/>
    <p:sldId id="396" r:id="rId8"/>
    <p:sldId id="397" r:id="rId9"/>
    <p:sldId id="398" r:id="rId10"/>
    <p:sldId id="387" r:id="rId11"/>
    <p:sldId id="388" r:id="rId12"/>
    <p:sldId id="339" r:id="rId13"/>
    <p:sldId id="334" r:id="rId14"/>
    <p:sldId id="335" r:id="rId15"/>
    <p:sldId id="336" r:id="rId16"/>
    <p:sldId id="337" r:id="rId17"/>
    <p:sldId id="338" r:id="rId18"/>
    <p:sldId id="374" r:id="rId19"/>
    <p:sldId id="390" r:id="rId20"/>
    <p:sldId id="340" r:id="rId21"/>
    <p:sldId id="380" r:id="rId22"/>
    <p:sldId id="341" r:id="rId23"/>
    <p:sldId id="342" r:id="rId24"/>
    <p:sldId id="343" r:id="rId25"/>
    <p:sldId id="344" r:id="rId26"/>
    <p:sldId id="345" r:id="rId27"/>
    <p:sldId id="346" r:id="rId28"/>
    <p:sldId id="261" r:id="rId29"/>
    <p:sldId id="262" r:id="rId30"/>
    <p:sldId id="263" r:id="rId31"/>
    <p:sldId id="264" r:id="rId32"/>
    <p:sldId id="265" r:id="rId33"/>
    <p:sldId id="266" r:id="rId34"/>
    <p:sldId id="347" r:id="rId35"/>
    <p:sldId id="348" r:id="rId36"/>
    <p:sldId id="349" r:id="rId37"/>
    <p:sldId id="350" r:id="rId38"/>
    <p:sldId id="351" r:id="rId39"/>
    <p:sldId id="381" r:id="rId40"/>
    <p:sldId id="357" r:id="rId41"/>
    <p:sldId id="358" r:id="rId42"/>
    <p:sldId id="359" r:id="rId43"/>
    <p:sldId id="391" r:id="rId44"/>
    <p:sldId id="361" r:id="rId45"/>
    <p:sldId id="393" r:id="rId46"/>
    <p:sldId id="362" r:id="rId47"/>
    <p:sldId id="363" r:id="rId48"/>
    <p:sldId id="375" r:id="rId49"/>
    <p:sldId id="364" r:id="rId50"/>
    <p:sldId id="365" r:id="rId51"/>
    <p:sldId id="260" r:id="rId52"/>
    <p:sldId id="267" r:id="rId53"/>
    <p:sldId id="268" r:id="rId54"/>
    <p:sldId id="269" r:id="rId55"/>
    <p:sldId id="270" r:id="rId56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16">
          <p15:clr>
            <a:srgbClr val="A4A3A4"/>
          </p15:clr>
        </p15:guide>
        <p15:guide id="2" pos="4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CECFF"/>
    <a:srgbClr val="66CCFF"/>
    <a:srgbClr val="CCFFFF"/>
    <a:srgbClr val="F8F8F8"/>
    <a:srgbClr val="EAEAEA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612E1-4B3E-7745-82D0-C0F5A6910F13}" v="3" dt="2025-09-03T08:29:28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78390" autoAdjust="0"/>
  </p:normalViewPr>
  <p:slideViewPr>
    <p:cSldViewPr snapToGrid="0">
      <p:cViewPr varScale="1">
        <p:scale>
          <a:sx n="90" d="100"/>
          <a:sy n="90" d="100"/>
        </p:scale>
        <p:origin x="2992" y="184"/>
      </p:cViewPr>
      <p:guideLst>
        <p:guide orient="horz" pos="816"/>
        <p:guide pos="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2826"/>
    </p:cViewPr>
  </p:sorterViewPr>
  <p:notesViewPr>
    <p:cSldViewPr snapToGrid="0">
      <p:cViewPr varScale="1">
        <p:scale>
          <a:sx n="55" d="100"/>
          <a:sy n="55" d="100"/>
        </p:scale>
        <p:origin x="1812" y="9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8EA10870-6395-588A-9409-E8E4CA631CF7}"/>
    <pc:docChg chg="custSel addSld delSld modSld">
      <pc:chgData name="Vincenzo Massimiliano Gulisano" userId="887d7398-9e41-4331-abd4-9c23f064ea90" providerId="ADAL" clId="{8EA10870-6395-588A-9409-E8E4CA631CF7}" dt="2025-09-11T05:51:38.391" v="128" actId="12"/>
      <pc:docMkLst>
        <pc:docMk/>
      </pc:docMkLst>
      <pc:sldChg chg="modSp add mod">
        <pc:chgData name="Vincenzo Massimiliano Gulisano" userId="887d7398-9e41-4331-abd4-9c23f064ea90" providerId="ADAL" clId="{8EA10870-6395-588A-9409-E8E4CA631CF7}" dt="2025-09-03T08:28:18.490" v="84" actId="20577"/>
        <pc:sldMkLst>
          <pc:docMk/>
          <pc:sldMk cId="108351970" sldId="260"/>
        </pc:sldMkLst>
        <pc:spChg chg="mod">
          <ac:chgData name="Vincenzo Massimiliano Gulisano" userId="887d7398-9e41-4331-abd4-9c23f064ea90" providerId="ADAL" clId="{8EA10870-6395-588A-9409-E8E4CA631CF7}" dt="2025-09-03T08:28:18.490" v="84" actId="20577"/>
          <ac:spMkLst>
            <pc:docMk/>
            <pc:sldMk cId="108351970" sldId="260"/>
            <ac:spMk id="2" creationId="{2C4EBB15-5B3B-5910-2C6D-B11C9840B253}"/>
          </ac:spMkLst>
        </pc:spChg>
      </pc:sldChg>
      <pc:sldChg chg="delSp modSp add del mod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2306672857" sldId="261"/>
        </pc:sldMkLst>
      </pc:sldChg>
      <pc:sldChg chg="add">
        <pc:chgData name="Vincenzo Massimiliano Gulisano" userId="887d7398-9e41-4331-abd4-9c23f064ea90" providerId="ADAL" clId="{8EA10870-6395-588A-9409-E8E4CA631CF7}" dt="2025-09-03T08:29:28.055" v="86"/>
        <pc:sldMkLst>
          <pc:docMk/>
          <pc:sldMk cId="4222933608" sldId="261"/>
        </pc:sldMkLst>
      </pc:sldChg>
      <pc:sldChg chg="add del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998844177" sldId="262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23.090" v="124" actId="12"/>
        <pc:sldMkLst>
          <pc:docMk/>
          <pc:sldMk cId="1882495627" sldId="262"/>
        </pc:sldMkLst>
        <pc:spChg chg="mod">
          <ac:chgData name="Vincenzo Massimiliano Gulisano" userId="887d7398-9e41-4331-abd4-9c23f064ea90" providerId="ADAL" clId="{8EA10870-6395-588A-9409-E8E4CA631CF7}" dt="2025-09-11T05:51:23.090" v="124" actId="12"/>
          <ac:spMkLst>
            <pc:docMk/>
            <pc:sldMk cId="1882495627" sldId="262"/>
            <ac:spMk id="3" creationId="{A7BF74E8-3525-0D6E-4CC9-1AB74B782D3A}"/>
          </ac:spMkLst>
        </pc:spChg>
      </pc:sldChg>
      <pc:sldChg chg="add del">
        <pc:chgData name="Vincenzo Massimiliano Gulisano" userId="887d7398-9e41-4331-abd4-9c23f064ea90" providerId="ADAL" clId="{8EA10870-6395-588A-9409-E8E4CA631CF7}" dt="2025-09-03T08:27:35.414" v="48" actId="2696"/>
        <pc:sldMkLst>
          <pc:docMk/>
          <pc:sldMk cId="2692520298" sldId="262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26.551" v="125" actId="12"/>
        <pc:sldMkLst>
          <pc:docMk/>
          <pc:sldMk cId="525327480" sldId="263"/>
        </pc:sldMkLst>
        <pc:spChg chg="mod">
          <ac:chgData name="Vincenzo Massimiliano Gulisano" userId="887d7398-9e41-4331-abd4-9c23f064ea90" providerId="ADAL" clId="{8EA10870-6395-588A-9409-E8E4CA631CF7}" dt="2025-09-11T05:51:26.551" v="125" actId="12"/>
          <ac:spMkLst>
            <pc:docMk/>
            <pc:sldMk cId="525327480" sldId="263"/>
            <ac:spMk id="3" creationId="{A7BF74E8-3525-0D6E-4CC9-1AB74B782D3A}"/>
          </ac:spMkLst>
        </pc:spChg>
      </pc:sldChg>
      <pc:sldChg chg="add del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1933282682" sldId="263"/>
        </pc:sldMkLst>
      </pc:sldChg>
      <pc:sldChg chg="modSp add del mod">
        <pc:chgData name="Vincenzo Massimiliano Gulisano" userId="887d7398-9e41-4331-abd4-9c23f064ea90" providerId="ADAL" clId="{8EA10870-6395-588A-9409-E8E4CA631CF7}" dt="2025-09-03T08:27:35.422" v="49" actId="2696"/>
        <pc:sldMkLst>
          <pc:docMk/>
          <pc:sldMk cId="3405648984" sldId="263"/>
        </pc:sldMkLst>
      </pc:sldChg>
      <pc:sldChg chg="add del">
        <pc:chgData name="Vincenzo Massimiliano Gulisano" userId="887d7398-9e41-4331-abd4-9c23f064ea90" providerId="ADAL" clId="{8EA10870-6395-588A-9409-E8E4CA631CF7}" dt="2025-09-03T08:27:35.409" v="45" actId="2696"/>
        <pc:sldMkLst>
          <pc:docMk/>
          <pc:sldMk cId="281120591" sldId="264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30.262" v="126" actId="12"/>
        <pc:sldMkLst>
          <pc:docMk/>
          <pc:sldMk cId="2263105878" sldId="264"/>
        </pc:sldMkLst>
        <pc:spChg chg="mod">
          <ac:chgData name="Vincenzo Massimiliano Gulisano" userId="887d7398-9e41-4331-abd4-9c23f064ea90" providerId="ADAL" clId="{8EA10870-6395-588A-9409-E8E4CA631CF7}" dt="2025-09-11T05:51:30.262" v="126" actId="12"/>
          <ac:spMkLst>
            <pc:docMk/>
            <pc:sldMk cId="2263105878" sldId="264"/>
            <ac:spMk id="3" creationId="{A7BF74E8-3525-0D6E-4CC9-1AB74B782D3A}"/>
          </ac:spMkLst>
        </pc:spChg>
      </pc:sldChg>
      <pc:sldChg chg="add del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3403753779" sldId="264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34.982" v="127" actId="12"/>
        <pc:sldMkLst>
          <pc:docMk/>
          <pc:sldMk cId="333272466" sldId="265"/>
        </pc:sldMkLst>
        <pc:spChg chg="mod">
          <ac:chgData name="Vincenzo Massimiliano Gulisano" userId="887d7398-9e41-4331-abd4-9c23f064ea90" providerId="ADAL" clId="{8EA10870-6395-588A-9409-E8E4CA631CF7}" dt="2025-09-11T05:51:34.982" v="127" actId="12"/>
          <ac:spMkLst>
            <pc:docMk/>
            <pc:sldMk cId="333272466" sldId="265"/>
            <ac:spMk id="3" creationId="{A7BF74E8-3525-0D6E-4CC9-1AB74B782D3A}"/>
          </ac:spMkLst>
        </pc:spChg>
      </pc:sldChg>
      <pc:sldChg chg="add del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2169157443" sldId="265"/>
        </pc:sldMkLst>
      </pc:sldChg>
      <pc:sldChg chg="add del">
        <pc:chgData name="Vincenzo Massimiliano Gulisano" userId="887d7398-9e41-4331-abd4-9c23f064ea90" providerId="ADAL" clId="{8EA10870-6395-588A-9409-E8E4CA631CF7}" dt="2025-09-03T08:27:35.408" v="44" actId="2696"/>
        <pc:sldMkLst>
          <pc:docMk/>
          <pc:sldMk cId="3476550487" sldId="265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38.391" v="128" actId="12"/>
        <pc:sldMkLst>
          <pc:docMk/>
          <pc:sldMk cId="58772254" sldId="266"/>
        </pc:sldMkLst>
        <pc:spChg chg="mod">
          <ac:chgData name="Vincenzo Massimiliano Gulisano" userId="887d7398-9e41-4331-abd4-9c23f064ea90" providerId="ADAL" clId="{8EA10870-6395-588A-9409-E8E4CA631CF7}" dt="2025-09-11T05:51:38.391" v="128" actId="12"/>
          <ac:spMkLst>
            <pc:docMk/>
            <pc:sldMk cId="58772254" sldId="266"/>
            <ac:spMk id="3" creationId="{A7BF74E8-3525-0D6E-4CC9-1AB74B782D3A}"/>
          </ac:spMkLst>
        </pc:spChg>
      </pc:sldChg>
      <pc:sldChg chg="add del">
        <pc:chgData name="Vincenzo Massimiliano Gulisano" userId="887d7398-9e41-4331-abd4-9c23f064ea90" providerId="ADAL" clId="{8EA10870-6395-588A-9409-E8E4CA631CF7}" dt="2025-09-03T08:27:35.409" v="46" actId="2696"/>
        <pc:sldMkLst>
          <pc:docMk/>
          <pc:sldMk cId="385493818" sldId="266"/>
        </pc:sldMkLst>
      </pc:sldChg>
      <pc:sldChg chg="add del">
        <pc:chgData name="Vincenzo Massimiliano Gulisano" userId="887d7398-9e41-4331-abd4-9c23f064ea90" providerId="ADAL" clId="{8EA10870-6395-588A-9409-E8E4CA631CF7}" dt="2025-09-03T08:28:25.023" v="85" actId="2696"/>
        <pc:sldMkLst>
          <pc:docMk/>
          <pc:sldMk cId="2417353857" sldId="266"/>
        </pc:sldMkLst>
      </pc:sldChg>
      <pc:sldChg chg="add del">
        <pc:chgData name="Vincenzo Massimiliano Gulisano" userId="887d7398-9e41-4331-abd4-9c23f064ea90" providerId="ADAL" clId="{8EA10870-6395-588A-9409-E8E4CA631CF7}" dt="2025-09-03T08:27:35.410" v="47" actId="2696"/>
        <pc:sldMkLst>
          <pc:docMk/>
          <pc:sldMk cId="556692231" sldId="267"/>
        </pc:sldMkLst>
      </pc:sldChg>
      <pc:sldChg chg="modSp add mod modNotesTx">
        <pc:chgData name="Vincenzo Massimiliano Gulisano" userId="887d7398-9e41-4331-abd4-9c23f064ea90" providerId="ADAL" clId="{8EA10870-6395-588A-9409-E8E4CA631CF7}" dt="2025-09-11T05:51:09.941" v="123" actId="12"/>
        <pc:sldMkLst>
          <pc:docMk/>
          <pc:sldMk cId="3606887328" sldId="267"/>
        </pc:sldMkLst>
        <pc:spChg chg="mod">
          <ac:chgData name="Vincenzo Massimiliano Gulisano" userId="887d7398-9e41-4331-abd4-9c23f064ea90" providerId="ADAL" clId="{8EA10870-6395-588A-9409-E8E4CA631CF7}" dt="2025-09-11T05:51:09.941" v="123" actId="12"/>
          <ac:spMkLst>
            <pc:docMk/>
            <pc:sldMk cId="3606887328" sldId="267"/>
            <ac:spMk id="3" creationId="{2ACCD949-72EF-9D7B-AF73-4ABA9B201F07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11T05:51:04.415" v="122" actId="12"/>
        <pc:sldMkLst>
          <pc:docMk/>
          <pc:sldMk cId="365801728" sldId="268"/>
        </pc:sldMkLst>
        <pc:spChg chg="mod">
          <ac:chgData name="Vincenzo Massimiliano Gulisano" userId="887d7398-9e41-4331-abd4-9c23f064ea90" providerId="ADAL" clId="{8EA10870-6395-588A-9409-E8E4CA631CF7}" dt="2025-09-03T08:28:03.944" v="51" actId="27636"/>
          <ac:spMkLst>
            <pc:docMk/>
            <pc:sldMk cId="365801728" sldId="268"/>
            <ac:spMk id="2" creationId="{888DD86D-DC2B-6CAA-CABA-281BF5C41495}"/>
          </ac:spMkLst>
        </pc:spChg>
        <pc:spChg chg="mod">
          <ac:chgData name="Vincenzo Massimiliano Gulisano" userId="887d7398-9e41-4331-abd4-9c23f064ea90" providerId="ADAL" clId="{8EA10870-6395-588A-9409-E8E4CA631CF7}" dt="2025-09-11T05:51:04.415" v="122" actId="12"/>
          <ac:spMkLst>
            <pc:docMk/>
            <pc:sldMk cId="365801728" sldId="268"/>
            <ac:spMk id="3" creationId="{2ACCD949-72EF-9D7B-AF73-4ABA9B201F07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11T05:51:01.211" v="121" actId="12"/>
        <pc:sldMkLst>
          <pc:docMk/>
          <pc:sldMk cId="1154214324" sldId="269"/>
        </pc:sldMkLst>
        <pc:spChg chg="mod">
          <ac:chgData name="Vincenzo Massimiliano Gulisano" userId="887d7398-9e41-4331-abd4-9c23f064ea90" providerId="ADAL" clId="{8EA10870-6395-588A-9409-E8E4CA631CF7}" dt="2025-09-11T05:51:01.211" v="121" actId="12"/>
          <ac:spMkLst>
            <pc:docMk/>
            <pc:sldMk cId="1154214324" sldId="269"/>
            <ac:spMk id="3" creationId="{2ACCD949-72EF-9D7B-AF73-4ABA9B201F07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11T05:50:56.740" v="120" actId="12"/>
        <pc:sldMkLst>
          <pc:docMk/>
          <pc:sldMk cId="1869450233" sldId="270"/>
        </pc:sldMkLst>
        <pc:spChg chg="mod">
          <ac:chgData name="Vincenzo Massimiliano Gulisano" userId="887d7398-9e41-4331-abd4-9c23f064ea90" providerId="ADAL" clId="{8EA10870-6395-588A-9409-E8E4CA631CF7}" dt="2025-09-11T05:50:56.740" v="120" actId="12"/>
          <ac:spMkLst>
            <pc:docMk/>
            <pc:sldMk cId="1869450233" sldId="270"/>
            <ac:spMk id="3" creationId="{2ACCD949-72EF-9D7B-AF73-4ABA9B201F0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3400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ctr" anchorCtr="0" compatLnSpc="1">
            <a:prstTxWarp prst="textNoShape">
              <a:avLst/>
            </a:prstTxWarp>
          </a:bodyPr>
          <a:lstStyle>
            <a:lvl1pPr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51288" y="0"/>
            <a:ext cx="3071812" cy="442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ctr" anchorCtr="0" compatLnSpc="1">
            <a:prstTxWarp prst="textNoShape">
              <a:avLst/>
            </a:prstTxWarp>
          </a:bodyPr>
          <a:lstStyle>
            <a:lvl1pPr algn="r"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66188"/>
            <a:ext cx="3073400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b" anchorCtr="0" compatLnSpc="1">
            <a:prstTxWarp prst="textNoShape">
              <a:avLst/>
            </a:prstTxWarp>
          </a:bodyPr>
          <a:lstStyle>
            <a:lvl1pPr defTabSz="883169">
              <a:defRPr sz="1100">
                <a:latin typeface="Helvetica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0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51288" y="8866188"/>
            <a:ext cx="3071812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261" tIns="44132" rIns="88261" bIns="44132" numCol="1" anchor="b" anchorCtr="0" compatLnSpc="1">
            <a:prstTxWarp prst="textNoShape">
              <a:avLst/>
            </a:prstTxWarp>
          </a:bodyPr>
          <a:lstStyle>
            <a:lvl1pPr algn="r" defTabSz="882650">
              <a:defRPr sz="1100">
                <a:latin typeface="Helvetica" panose="020B0604020202020204" pitchFamily="34" charset="0"/>
              </a:defRPr>
            </a:lvl1pPr>
          </a:lstStyle>
          <a:p>
            <a:fld id="{85DEE06E-38F1-4ACC-915E-97CE063EBA0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35923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>
            <a:lvl1pPr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3513" y="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>
            <a:lvl1pPr algn="r"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2688" y="698500"/>
            <a:ext cx="4646612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5038" y="4416425"/>
            <a:ext cx="5140325" cy="418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2850"/>
            <a:ext cx="303688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>
              <a:avLst/>
            </a:prstTxWarp>
          </a:bodyPr>
          <a:lstStyle>
            <a:lvl1pPr defTabSz="931168">
              <a:defRPr sz="1200">
                <a:latin typeface="Times New Roman" charset="0"/>
                <a:ea typeface="ＭＳ Ｐゴシック" charset="-128"/>
                <a:cs typeface="ＭＳ Ｐゴシック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3513" y="8832850"/>
            <a:ext cx="303688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160" tIns="46580" rIns="93160" bIns="46580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Times New Roman" panose="02020603050405020304" pitchFamily="18" charset="0"/>
              </a:defRPr>
            </a:lvl1pPr>
          </a:lstStyle>
          <a:p>
            <a:fld id="{0462CD46-9D15-4C57-8A80-C2E5019E2E0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37720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F3E4C2E7-4533-4390-8AEE-E02702433286}" type="slidenum">
              <a:rPr lang="en-US" altLang="en-US">
                <a:latin typeface="Helvetica" panose="020B0604020202020204" pitchFamily="34" charset="0"/>
              </a:rPr>
              <a:pPr/>
              <a:t>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0686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148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E1CAB-13BE-4BE1-8D6B-122846198519}" type="slidenum">
              <a:rPr lang="en-US" altLang="en-US" smtClean="0"/>
              <a:pPr/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9772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process monolithic bad --&gt; 1 core</a:t>
            </a:r>
          </a:p>
          <a:p>
            <a:r>
              <a:rPr lang="en-US" dirty="0"/>
              <a:t>multiple processes inefficient (e.g., spell checker and text</a:t>
            </a:r>
            <a:r>
              <a:rPr lang="en-US" baseline="0" dirty="0"/>
              <a:t> being input are shared)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E1CAB-13BE-4BE1-8D6B-122846198519}" type="slidenum">
              <a:rPr lang="en-US" altLang="en-US" smtClean="0"/>
              <a:pPr/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543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39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E49C56FA-2BC4-40EA-A03D-6AE391F74D9F}" type="slidenum">
              <a:rPr lang="en-US" altLang="en-US">
                <a:latin typeface="Helvetica" panose="020B0604020202020204" pitchFamily="34" charset="0"/>
              </a:rPr>
              <a:pPr/>
              <a:t>12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712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332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E07EF533-B5FE-4786-81D4-36FB1A9B1F0E}" type="slidenum">
              <a:rPr lang="en-US" altLang="en-US">
                <a:latin typeface="Helvetica" panose="020B0604020202020204" pitchFamily="34" charset="0"/>
              </a:rPr>
              <a:pPr/>
              <a:t>15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Example</a:t>
            </a:r>
            <a:r>
              <a:rPr lang="en-US" altLang="en-US" baseline="0" dirty="0">
                <a:latin typeface="Times New Roman" panose="02020603050405020304" pitchFamily="18" charset="0"/>
              </a:rPr>
              <a:t> of responsiveness: click button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5705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example of SUM vs median</a:t>
            </a:r>
          </a:p>
        </p:txBody>
      </p:sp>
    </p:spTree>
    <p:extLst>
      <p:ext uri="{BB962C8B-B14F-4D97-AF65-F5344CB8AC3E}">
        <p14:creationId xmlns:p14="http://schemas.microsoft.com/office/powerpoint/2010/main" val="7960747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******* HERE FOR KAHOOT</a:t>
            </a:r>
          </a:p>
        </p:txBody>
      </p:sp>
    </p:spTree>
    <p:extLst>
      <p:ext uri="{BB962C8B-B14F-4D97-AF65-F5344CB8AC3E}">
        <p14:creationId xmlns:p14="http://schemas.microsoft.com/office/powerpoint/2010/main" val="12916629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task</a:t>
            </a:r>
            <a:r>
              <a:rPr lang="en-US" altLang="en-US" baseline="0" dirty="0">
                <a:latin typeface="Times New Roman" panose="02020603050405020304" pitchFamily="18" charset="0"/>
              </a:rPr>
              <a:t> parallelism --&gt; back to word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61511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serial portion --&gt; get</a:t>
            </a:r>
            <a:r>
              <a:rPr lang="en-US" baseline="0" dirty="0"/>
              <a:t> back to example with array</a:t>
            </a:r>
            <a:endParaRPr lang="en-US" dirty="0"/>
          </a:p>
          <a:p>
            <a:r>
              <a:rPr lang="en-US" dirty="0"/>
              <a:t>3.88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525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2EFD7E44-AEC4-4157-8E7D-F40F0ED96DDD}" type="slidenum">
              <a:rPr lang="en-US" altLang="en-US">
                <a:latin typeface="Helvetica" panose="020B0604020202020204" pitchFamily="34" charset="0"/>
              </a:rPr>
              <a:pPr/>
              <a:t>20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0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joke about the company</a:t>
            </a:r>
          </a:p>
        </p:txBody>
      </p:sp>
    </p:spTree>
    <p:extLst>
      <p:ext uri="{BB962C8B-B14F-4D97-AF65-F5344CB8AC3E}">
        <p14:creationId xmlns:p14="http://schemas.microsoft.com/office/powerpoint/2010/main" val="21566890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5474E90B-94F4-47DD-A75F-4633AAE4E39F}" type="slidenum">
              <a:rPr lang="en-US" altLang="en-US">
                <a:latin typeface="Helvetica" panose="020B0604020202020204" pitchFamily="34" charset="0"/>
              </a:rPr>
              <a:pPr/>
              <a:t>22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User-threads means</a:t>
            </a:r>
            <a:r>
              <a:rPr lang="en-US" altLang="en-US" baseline="0" dirty="0">
                <a:latin typeface="Times New Roman" panose="02020603050405020304" pitchFamily="18" charset="0"/>
              </a:rPr>
              <a:t> there’s a library that manages the threads above the kernel, the kernel sees a single process. It can be good but also might be useless depending on the system call being called.</a:t>
            </a:r>
          </a:p>
          <a:p>
            <a:r>
              <a:rPr lang="en-US" altLang="en-US" baseline="0" dirty="0">
                <a:latin typeface="Times New Roman" panose="02020603050405020304" pitchFamily="18" charset="0"/>
              </a:rPr>
              <a:t>Kernel threads is the kernel that manages.</a:t>
            </a:r>
          </a:p>
          <a:p>
            <a:endParaRPr lang="en-US" altLang="en-US" baseline="0" dirty="0">
              <a:latin typeface="Times New Roman" panose="02020603050405020304" pitchFamily="18" charset="0"/>
            </a:endParaRPr>
          </a:p>
          <a:p>
            <a:r>
              <a:rPr lang="en-US" altLang="en-US" baseline="0" dirty="0">
                <a:latin typeface="Times New Roman" panose="02020603050405020304" pitchFamily="18" charset="0"/>
              </a:rPr>
              <a:t>Ready queue could have entries that are </a:t>
            </a:r>
            <a:r>
              <a:rPr lang="en-US" altLang="en-US" baseline="0">
                <a:latin typeface="Times New Roman" panose="02020603050405020304" pitchFamily="18" charset="0"/>
              </a:rPr>
              <a:t>queues themselves about ready threads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8551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7D40D20E-B766-4BC0-8BCB-AE9827BF643B}" type="slidenum">
              <a:rPr lang="en-US" altLang="en-US">
                <a:latin typeface="Helvetica" panose="020B0604020202020204" pitchFamily="34" charset="0"/>
              </a:rPr>
              <a:pPr/>
              <a:t>23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0700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55F50226-F105-4878-8A49-6B19CA6D045E}" type="slidenum">
              <a:rPr lang="en-US" altLang="en-US">
                <a:latin typeface="Helvetica" panose="020B0604020202020204" pitchFamily="34" charset="0"/>
              </a:rPr>
              <a:pPr/>
              <a:t>24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789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A724E85D-5133-4E31-A78E-E49E0C101F7C}" type="slidenum">
              <a:rPr lang="en-US" altLang="en-US">
                <a:latin typeface="Helvetica" panose="020B0604020202020204" pitchFamily="34" charset="0"/>
              </a:rPr>
              <a:pPr/>
              <a:t>25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6678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6E68164C-A893-4C1D-B647-95F285884F5B}" type="slidenum">
              <a:rPr lang="en-US" altLang="en-US">
                <a:latin typeface="Helvetica" panose="020B0604020202020204" pitchFamily="34" charset="0"/>
              </a:rPr>
              <a:pPr/>
              <a:t>26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16153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76A1C86D-A071-4C2D-8A3F-157391E88EDA}" type="slidenum">
              <a:rPr lang="en-US" altLang="en-US">
                <a:latin typeface="Helvetica" panose="020B0604020202020204" pitchFamily="34" charset="0"/>
              </a:rPr>
              <a:pPr/>
              <a:t>27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0856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1~,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97333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72892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81094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776329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154368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845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8B4EBE88-DEAF-4F1E-9992-C074A67E47BC}" type="slidenum">
              <a:rPr lang="en-US" altLang="en-US">
                <a:latin typeface="Helvetica" panose="020B0604020202020204" pitchFamily="34" charset="0"/>
              </a:rPr>
              <a:pPr/>
              <a:t>35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Application Programming Interface</a:t>
            </a:r>
          </a:p>
        </p:txBody>
      </p:sp>
    </p:spTree>
    <p:extLst>
      <p:ext uri="{BB962C8B-B14F-4D97-AF65-F5344CB8AC3E}">
        <p14:creationId xmlns:p14="http://schemas.microsoft.com/office/powerpoint/2010/main" val="10702370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before what</a:t>
            </a:r>
            <a:r>
              <a:rPr lang="en-US" baseline="0" dirty="0"/>
              <a:t> is: similar to process fork`</a:t>
            </a:r>
            <a:endParaRPr lang="en-US" dirty="0"/>
          </a:p>
          <a:p>
            <a:r>
              <a:rPr lang="en-US" dirty="0"/>
              <a:t>Thread attribute: stack size, scheduling info…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650474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1EA7A35F-B565-4BE1-82C6-54D7AE9C6992}" type="slidenum">
              <a:rPr lang="en-US" altLang="en-US">
                <a:latin typeface="Helvetica" panose="020B0604020202020204" pitchFamily="34" charset="0"/>
              </a:rPr>
              <a:pPr/>
              <a:t>40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0464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A533DC8E-18C2-4137-85B7-5F66EFE67318}" type="slidenum">
              <a:rPr lang="en-US" altLang="en-US">
                <a:latin typeface="Helvetica" panose="020B0604020202020204" pitchFamily="34" charset="0"/>
              </a:rPr>
              <a:pPr/>
              <a:t>41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8389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9252CD60-F5B4-48F7-889D-0084C2D2EF3F}" type="slidenum">
              <a:rPr lang="en-US" altLang="en-US">
                <a:latin typeface="Helvetica" panose="020B0604020202020204" pitchFamily="34" charset="0"/>
              </a:rPr>
              <a:pPr/>
              <a:t>42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Make drawing here</a:t>
            </a:r>
          </a:p>
        </p:txBody>
      </p:sp>
    </p:spTree>
    <p:extLst>
      <p:ext uri="{BB962C8B-B14F-4D97-AF65-F5344CB8AC3E}">
        <p14:creationId xmlns:p14="http://schemas.microsoft.com/office/powerpoint/2010/main" val="16097448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67D56D84-AA08-446F-9906-B1C39D60C877}" type="slidenum">
              <a:rPr lang="en-US" altLang="en-US">
                <a:latin typeface="Helvetica" panose="020B0604020202020204" pitchFamily="34" charset="0"/>
              </a:rPr>
              <a:pPr/>
              <a:t>44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09000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0357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ED5E1F5F-6598-4765-A4D3-E444A7D0FE4E}" type="slidenum">
              <a:rPr lang="en-US" altLang="en-US">
                <a:latin typeface="Helvetica" panose="020B0604020202020204" pitchFamily="34" charset="0"/>
              </a:rPr>
              <a:pPr/>
              <a:t>46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Which combination does not really make a lot of sense?</a:t>
            </a:r>
          </a:p>
        </p:txBody>
      </p:sp>
    </p:spTree>
    <p:extLst>
      <p:ext uri="{BB962C8B-B14F-4D97-AF65-F5344CB8AC3E}">
        <p14:creationId xmlns:p14="http://schemas.microsoft.com/office/powerpoint/2010/main" val="3431228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45A8E78D-0FB8-4C5E-B8B8-79A179969E6F}" type="slidenum">
              <a:rPr lang="en-US" altLang="en-US">
                <a:latin typeface="Helvetica" panose="020B0604020202020204" pitchFamily="34" charset="0"/>
              </a:rPr>
              <a:pPr/>
              <a:t>47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Interrupts can be viewed as a mean of communication between the CPU and the OS kernel. Signals can be viewed as a mean of communication between the OS kernel and OS processes.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Interrupts may be initiated by the CPU (exceptions - e.g.: divide by zero, page fault), devices (hardware interrupts 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e.g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: input available), or by a CPU instruction (traps 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e.g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syscalls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, breakpoints). They are eventually managed by the CPU, which "interrupts" the current task, and invokes an OS-kernel provided ISR/interrupt handler.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Signals may be initiated by the OS kernel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e.g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: SIGFPE, SIGSEGV, SIGIO), or by a process(kill()). 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Times New Roman" charset="0"/>
                <a:ea typeface="MS PGothic" pitchFamily="34" charset="-128"/>
                <a:cs typeface="ＭＳ Ｐゴシック" charset="-128"/>
              </a:rPr>
              <a:t>They are eventually managed by the OS kernel, which delivers them to the target thread/process, invoking either a generic action (ignore, terminate, terminate and dump core) or a process-provided signal handler.</a:t>
            </a:r>
          </a:p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6654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45FDC009-22A6-4C4F-9002-6F302BAF5AAF}" type="slidenum">
              <a:rPr lang="en-US" altLang="en-US">
                <a:latin typeface="Helvetica" panose="020B0604020202020204" pitchFamily="34" charset="0"/>
              </a:rPr>
              <a:pPr/>
              <a:t>48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Times New Roman" panose="02020603050405020304" pitchFamily="18" charset="0"/>
              </a:rPr>
              <a:t>Example: ctrl + c</a:t>
            </a:r>
          </a:p>
        </p:txBody>
      </p:sp>
    </p:spTree>
    <p:extLst>
      <p:ext uri="{BB962C8B-B14F-4D97-AF65-F5344CB8AC3E}">
        <p14:creationId xmlns:p14="http://schemas.microsoft.com/office/powerpoint/2010/main" val="41362438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B5BE969D-8C10-4ED3-AF0F-E3A061F73210}" type="slidenum">
              <a:rPr lang="en-US" altLang="en-US">
                <a:latin typeface="Helvetica" panose="020B0604020202020204" pitchFamily="34" charset="0"/>
              </a:rPr>
              <a:pPr/>
              <a:t>49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0613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B25CE766-1A3B-4E81-9870-C4E44B02447F}" type="slidenum">
              <a:rPr lang="en-US" altLang="en-US">
                <a:latin typeface="Helvetica" panose="020B0604020202020204" pitchFamily="34" charset="0"/>
              </a:rPr>
              <a:pPr/>
              <a:t>50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886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52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524776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53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64943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54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23989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1, 2, 3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2CD46-9D15-4C57-8A80-C2E5019E2E04}" type="slidenum">
              <a:rPr lang="en-US" altLang="en-US" smtClean="0"/>
              <a:pPr/>
              <a:t>55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78380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21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13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983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5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20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592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48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02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492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686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5800"/>
            <a:ext cx="7772400" cy="2127250"/>
          </a:xfrm>
        </p:spPr>
        <p:txBody>
          <a:bodyPr/>
          <a:lstStyle>
            <a:lvl1pPr>
              <a:defRPr sz="43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811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69D4BF-17B8-4416-83AD-33398895A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05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  <p:sldLayoutId id="2147484051" r:id="rId3"/>
    <p:sldLayoutId id="2147484052" r:id="rId4"/>
    <p:sldLayoutId id="2147484053" r:id="rId5"/>
    <p:sldLayoutId id="2147484054" r:id="rId6"/>
    <p:sldLayoutId id="2147484055" r:id="rId7"/>
    <p:sldLayoutId id="2147484056" r:id="rId8"/>
    <p:sldLayoutId id="2147484057" r:id="rId9"/>
    <p:sldLayoutId id="2147484058" r:id="rId10"/>
    <p:sldLayoutId id="2147484059" r:id="rId11"/>
    <p:sldLayoutId id="2147484060" r:id="rId12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gi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w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w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632460" y="1424940"/>
            <a:ext cx="7772400" cy="212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altLang="en-US" sz="4000" dirty="0"/>
              <a:t>Lecture 3:  </a:t>
            </a:r>
            <a:r>
              <a:rPr lang="en-US" sz="4000" dirty="0"/>
              <a:t>Multithreaded Programming</a:t>
            </a:r>
            <a:br>
              <a:rPr lang="en-US" altLang="en-US" sz="4000" dirty="0"/>
            </a:br>
            <a:r>
              <a:rPr lang="en-US" altLang="en-US" sz="4000" dirty="0"/>
              <a:t>Operating Systems – EDA093/DIT401</a:t>
            </a:r>
            <a:br>
              <a:rPr lang="en-US" altLang="en-US" dirty="0"/>
            </a:br>
            <a:br>
              <a:rPr lang="en-US" altLang="en-US" dirty="0"/>
            </a:br>
            <a:r>
              <a:rPr lang="en-US" altLang="en-US" sz="3200" dirty="0"/>
              <a:t>Vincenzo Gulisano</a:t>
            </a:r>
            <a:br>
              <a:rPr lang="en-US" altLang="en-US" sz="3200" dirty="0"/>
            </a:br>
            <a:r>
              <a:rPr lang="en-US" altLang="en-US" sz="2000" dirty="0"/>
              <a:t>vincenzo.gulisano@chalmers.se</a:t>
            </a:r>
            <a:endParaRPr lang="en-US" altLang="en-US" sz="2700" dirty="0"/>
          </a:p>
        </p:txBody>
      </p:sp>
      <p:pic>
        <p:nvPicPr>
          <p:cNvPr id="5" name="Picture 6" descr="http://upload.wikimedia.org/wikipedia/en/5/5c/Chalmers_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831" y="4512849"/>
            <a:ext cx="1880870" cy="174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http://sgroup.be/sites/default/files/LOGUeng_cen2r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9471" y="4613005"/>
            <a:ext cx="2078990" cy="154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read (main textbook)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</a:t>
            </a:fld>
            <a:endParaRPr lang="en-US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806450" y="1233488"/>
            <a:ext cx="6940550" cy="4530725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n-US" altLang="en-US" dirty="0"/>
          </a:p>
          <a:p>
            <a:pPr fontAlgn="auto">
              <a:spcAft>
                <a:spcPts val="0"/>
              </a:spcAft>
            </a:pPr>
            <a:r>
              <a:rPr lang="en-US" altLang="en-US" dirty="0"/>
              <a:t>Chapter 2.2, 10.3.3*</a:t>
            </a:r>
            <a:br>
              <a:rPr lang="en-US" dirty="0"/>
            </a:br>
            <a:endParaRPr lang="en-US" dirty="0"/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800" dirty="0"/>
              <a:t>*Some concepts will be covered later on (e.g., Copy-on-Write)</a:t>
            </a:r>
          </a:p>
          <a:p>
            <a:pPr marL="0" indent="0" fontAlgn="auto">
              <a:spcAft>
                <a:spcPts val="0"/>
              </a:spcAft>
              <a:buNone/>
            </a:pPr>
            <a:br>
              <a:rPr lang="en-US" dirty="0"/>
            </a:br>
            <a:r>
              <a:rPr lang="en-US" dirty="0"/>
              <a:t>(extra facultative reading: 4.1-4.3, 4.4.1, 4.5-4.6 from </a:t>
            </a:r>
            <a:r>
              <a:rPr lang="en-US" dirty="0" err="1"/>
              <a:t>Silberschatz</a:t>
            </a:r>
            <a:r>
              <a:rPr lang="en-US" dirty="0"/>
              <a:t> Operating System Concepts)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5369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Objectives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6940550" cy="4530725"/>
          </a:xfrm>
        </p:spPr>
        <p:txBody>
          <a:bodyPr/>
          <a:lstStyle/>
          <a:p>
            <a:r>
              <a:rPr lang="en-US" altLang="en-US" dirty="0"/>
              <a:t>To introduce the notion of a thread—a fundamental unit of CPU utilization that forms the basis of multithreaded computer systems</a:t>
            </a:r>
          </a:p>
          <a:p>
            <a:r>
              <a:rPr lang="en-US" altLang="en-US" dirty="0"/>
              <a:t>To discuss the APIs for the </a:t>
            </a:r>
            <a:r>
              <a:rPr lang="en-US" altLang="en-US" dirty="0" err="1"/>
              <a:t>Pthreads</a:t>
            </a:r>
            <a:endParaRPr lang="en-US" altLang="en-US" dirty="0"/>
          </a:p>
          <a:p>
            <a:r>
              <a:rPr lang="en-US" altLang="en-US" dirty="0"/>
              <a:t>To explore several strategies that provide implicit threading</a:t>
            </a:r>
          </a:p>
          <a:p>
            <a:r>
              <a:rPr lang="en-US" altLang="en-US" dirty="0"/>
              <a:t>To examine issues related to multithreaded programming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(Introduction)</a:t>
            </a:r>
          </a:p>
          <a:p>
            <a:r>
              <a:rPr lang="en-US" dirty="0"/>
              <a:t>Multithreading models</a:t>
            </a:r>
          </a:p>
          <a:p>
            <a:r>
              <a:rPr lang="en-US" dirty="0"/>
              <a:t>Implicit threading</a:t>
            </a:r>
          </a:p>
          <a:p>
            <a:r>
              <a:rPr lang="en-US" dirty="0"/>
              <a:t>Threading issues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491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(Introduction)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Multithreading models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Implicit threading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Threading issues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73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86803"/>
            <a:ext cx="7886700" cy="3503169"/>
          </a:xfrm>
        </p:spPr>
        <p:txBody>
          <a:bodyPr/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We run several programs at </a:t>
            </a:r>
            <a:br>
              <a:rPr lang="en-US" dirty="0"/>
            </a:br>
            <a:r>
              <a:rPr lang="en-US" dirty="0"/>
              <a:t>the same time 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One CPU can only run one</a:t>
            </a:r>
            <a:br>
              <a:rPr lang="en-US" dirty="0"/>
            </a:br>
            <a:r>
              <a:rPr lang="en-US" dirty="0"/>
              <a:t> program at the time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774" y="1279543"/>
            <a:ext cx="3133165" cy="2104670"/>
          </a:xfrm>
          <a:prstGeom prst="rect">
            <a:avLst/>
          </a:prstGeom>
        </p:spPr>
      </p:pic>
      <p:grpSp>
        <p:nvGrpSpPr>
          <p:cNvPr id="2" name="Group 1"/>
          <p:cNvGrpSpPr/>
          <p:nvPr/>
        </p:nvGrpSpPr>
        <p:grpSpPr>
          <a:xfrm>
            <a:off x="4680418" y="3770026"/>
            <a:ext cx="4187555" cy="1307063"/>
            <a:chOff x="6240556" y="3883700"/>
            <a:chExt cx="5583407" cy="1742751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40556" y="3901747"/>
              <a:ext cx="1706656" cy="1706656"/>
            </a:xfrm>
            <a:prstGeom prst="rect">
              <a:avLst/>
            </a:prstGeom>
          </p:spPr>
        </p:pic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07070" y="3883700"/>
              <a:ext cx="2316893" cy="1742751"/>
            </a:xfrm>
            <a:prstGeom prst="rect">
              <a:avLst/>
            </a:prstGeom>
          </p:spPr>
        </p:pic>
        <p:sp>
          <p:nvSpPr>
            <p:cNvPr id="8" name="Right Arrow 7"/>
            <p:cNvSpPr/>
            <p:nvPr/>
          </p:nvSpPr>
          <p:spPr>
            <a:xfrm>
              <a:off x="8237937" y="4512759"/>
              <a:ext cx="978408" cy="484632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51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7920" y="2817156"/>
            <a:ext cx="3637430" cy="2723030"/>
          </a:xfrm>
        </p:spPr>
        <p:txBody>
          <a:bodyPr/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We feel several programs run at the same time 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endParaRPr lang="en-US" dirty="0"/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Each CPU core can only run one program at the time</a:t>
            </a:r>
          </a:p>
          <a:p>
            <a:pPr marL="385763" indent="-385763">
              <a:buFont typeface="+mj-lt"/>
              <a:buAutoNum type="arabicPeriod"/>
            </a:pPr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628650" y="1131094"/>
            <a:ext cx="7886700" cy="994172"/>
          </a:xfrm>
        </p:spPr>
        <p:txBody>
          <a:bodyPr/>
          <a:lstStyle/>
          <a:p>
            <a:r>
              <a:rPr lang="en-US" dirty="0"/>
              <a:t>Concurrent vs Parallel execution</a:t>
            </a: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742950" y="2817157"/>
            <a:ext cx="3637430" cy="272303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5763" indent="-385763">
              <a:buFont typeface="+mj-lt"/>
              <a:buAutoNum type="arabicPeriod"/>
            </a:pPr>
            <a:r>
              <a:rPr lang="en-US" sz="2100" dirty="0"/>
              <a:t>We run several programs at </a:t>
            </a:r>
            <a:br>
              <a:rPr lang="en-US" sz="2100" dirty="0"/>
            </a:br>
            <a:r>
              <a:rPr lang="en-US" sz="2100" dirty="0"/>
              <a:t>the same time </a:t>
            </a:r>
          </a:p>
          <a:p>
            <a:pPr marL="385763" indent="-385763">
              <a:buFont typeface="+mj-lt"/>
              <a:buAutoNum type="arabicPeriod"/>
            </a:pPr>
            <a:endParaRPr lang="en-US" sz="2100" dirty="0"/>
          </a:p>
          <a:p>
            <a:pPr marL="385763" indent="-385763">
              <a:buFont typeface="+mj-lt"/>
              <a:buAutoNum type="arabicPeriod"/>
            </a:pPr>
            <a:endParaRPr lang="en-US" sz="2100" dirty="0"/>
          </a:p>
          <a:p>
            <a:pPr marL="385763" indent="-385763">
              <a:buFont typeface="+mj-lt"/>
              <a:buAutoNum type="arabicPeriod"/>
            </a:pPr>
            <a:r>
              <a:rPr lang="en-US" sz="2100" dirty="0"/>
              <a:t>One CPU can only run one</a:t>
            </a:r>
            <a:br>
              <a:rPr lang="en-US" sz="2100" dirty="0"/>
            </a:br>
            <a:r>
              <a:rPr lang="en-US" sz="2100" dirty="0"/>
              <a:t> program at the time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1109382" y="2817156"/>
            <a:ext cx="2904565" cy="692527"/>
            <a:chOff x="1528482" y="2689407"/>
            <a:chExt cx="3872753" cy="923369"/>
          </a:xfrm>
        </p:grpSpPr>
        <p:cxnSp>
          <p:nvCxnSpPr>
            <p:cNvPr id="4" name="Straight Connector 3"/>
            <p:cNvCxnSpPr/>
            <p:nvPr/>
          </p:nvCxnSpPr>
          <p:spPr>
            <a:xfrm flipV="1">
              <a:off x="1528482" y="2689407"/>
              <a:ext cx="3872753" cy="92336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 flipV="1">
              <a:off x="1528482" y="2689407"/>
              <a:ext cx="3872753" cy="92336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4" name="Right Arrow 13"/>
          <p:cNvSpPr/>
          <p:nvPr/>
        </p:nvSpPr>
        <p:spPr>
          <a:xfrm>
            <a:off x="4329718" y="2981681"/>
            <a:ext cx="467756" cy="363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109382" y="4201571"/>
            <a:ext cx="2904565" cy="692527"/>
            <a:chOff x="1528482" y="2689407"/>
            <a:chExt cx="3872753" cy="923369"/>
          </a:xfrm>
        </p:grpSpPr>
        <p:cxnSp>
          <p:nvCxnSpPr>
            <p:cNvPr id="15" name="Straight Connector 14"/>
            <p:cNvCxnSpPr/>
            <p:nvPr/>
          </p:nvCxnSpPr>
          <p:spPr>
            <a:xfrm flipV="1">
              <a:off x="1528482" y="2689407"/>
              <a:ext cx="3872753" cy="92336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flipH="1" flipV="1">
              <a:off x="1528482" y="2689407"/>
              <a:ext cx="3872753" cy="92336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7" name="Right Arrow 16"/>
          <p:cNvSpPr/>
          <p:nvPr/>
        </p:nvSpPr>
        <p:spPr>
          <a:xfrm>
            <a:off x="4329718" y="4366097"/>
            <a:ext cx="467756" cy="363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/>
          <p:cNvSpPr txBox="1">
            <a:spLocks/>
          </p:cNvSpPr>
          <p:nvPr/>
        </p:nvSpPr>
        <p:spPr>
          <a:xfrm>
            <a:off x="6049823" y="4977032"/>
            <a:ext cx="3637430" cy="3755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5763" marR="0" lvl="0" indent="-38576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dirty="0"/>
              <a:t>(This lecture)</a:t>
            </a:r>
          </a:p>
        </p:txBody>
      </p:sp>
      <p:sp>
        <p:nvSpPr>
          <p:cNvPr id="19" name="Content Placeholder 2"/>
          <p:cNvSpPr txBox="1">
            <a:spLocks/>
          </p:cNvSpPr>
          <p:nvPr/>
        </p:nvSpPr>
        <p:spPr>
          <a:xfrm>
            <a:off x="6049823" y="3509681"/>
            <a:ext cx="3637430" cy="3755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5763" marR="0" lvl="0" indent="-385763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dirty="0"/>
              <a:t>(Previous lecture)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22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CPU cycle</a:t>
            </a:r>
          </a:p>
        </p:txBody>
      </p:sp>
      <p:pic>
        <p:nvPicPr>
          <p:cNvPr id="5" name="Picture 4" descr="1_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095500" y="2560638"/>
            <a:ext cx="4953000" cy="1160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58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/>
        </p:blipFill>
        <p:spPr>
          <a:xfrm>
            <a:off x="277813" y="2970213"/>
            <a:ext cx="5591175" cy="2847975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 flipV="1">
            <a:off x="2692400" y="2495550"/>
            <a:ext cx="0" cy="1016001"/>
          </a:xfrm>
          <a:prstGeom prst="line">
            <a:avLst/>
          </a:prstGeom>
          <a:ln w="5715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3238501" y="2381250"/>
            <a:ext cx="1104899" cy="1130302"/>
          </a:xfrm>
          <a:prstGeom prst="line">
            <a:avLst/>
          </a:prstGeom>
          <a:ln w="5715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3825342" y="2381250"/>
            <a:ext cx="3185059" cy="1130302"/>
          </a:xfrm>
          <a:prstGeom prst="line">
            <a:avLst/>
          </a:prstGeom>
          <a:ln w="5715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099300" y="1873249"/>
            <a:ext cx="56457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/>
              <a:t>...</a:t>
            </a:r>
          </a:p>
        </p:txBody>
      </p:sp>
      <p:pic>
        <p:nvPicPr>
          <p:cNvPr id="9" name="Picture 8" descr="1_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68111" y="1513261"/>
            <a:ext cx="2570390" cy="602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9" descr="1_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599089" y="1513260"/>
            <a:ext cx="2570390" cy="602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18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t>10</a:t>
            </a:fld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97" y="1388533"/>
            <a:ext cx="5632460" cy="29238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792713" y="2591981"/>
            <a:ext cx="3628798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 keyboard input…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Spell checker…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Printing a document…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Discussion: parallel/concurrent execution of processes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0248" y="4758644"/>
            <a:ext cx="2687443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sv-SE" dirty="0" err="1">
                <a:latin typeface="+mj-lt"/>
              </a:rPr>
              <a:t>Important</a:t>
            </a:r>
            <a:r>
              <a:rPr lang="sv-SE" dirty="0">
                <a:latin typeface="+mj-lt"/>
              </a:rPr>
              <a:t>: </a:t>
            </a:r>
            <a:r>
              <a:rPr lang="sv-SE" dirty="0" err="1">
                <a:latin typeface="+mj-lt"/>
              </a:rPr>
              <a:t>only</a:t>
            </a:r>
            <a:r>
              <a:rPr lang="sv-SE" dirty="0">
                <a:latin typeface="+mj-lt"/>
              </a:rPr>
              <a:t> 1 process </a:t>
            </a:r>
            <a:r>
              <a:rPr lang="sv-SE" dirty="0" err="1">
                <a:latin typeface="+mj-lt"/>
              </a:rPr>
              <a:t>can</a:t>
            </a:r>
            <a:r>
              <a:rPr lang="sv-SE" dirty="0">
                <a:latin typeface="+mj-lt"/>
              </a:rPr>
              <a:t> be </a:t>
            </a:r>
            <a:r>
              <a:rPr lang="sv-SE" b="1" dirty="0" err="1">
                <a:latin typeface="+mj-lt"/>
              </a:rPr>
              <a:t>running</a:t>
            </a:r>
            <a:r>
              <a:rPr lang="sv-SE" dirty="0">
                <a:latin typeface="+mj-lt"/>
              </a:rPr>
              <a:t> on </a:t>
            </a:r>
            <a:r>
              <a:rPr lang="sv-SE" dirty="0" err="1">
                <a:latin typeface="+mj-lt"/>
              </a:rPr>
              <a:t>any</a:t>
            </a:r>
            <a:r>
              <a:rPr lang="sv-SE" dirty="0">
                <a:latin typeface="+mj-lt"/>
              </a:rPr>
              <a:t> processor at </a:t>
            </a:r>
            <a:r>
              <a:rPr lang="sv-SE" dirty="0" err="1">
                <a:latin typeface="+mj-lt"/>
              </a:rPr>
              <a:t>any</a:t>
            </a:r>
            <a:r>
              <a:rPr lang="sv-SE" dirty="0">
                <a:latin typeface="+mj-lt"/>
              </a:rPr>
              <a:t> </a:t>
            </a:r>
            <a:r>
              <a:rPr lang="sv-SE" dirty="0" err="1">
                <a:latin typeface="+mj-lt"/>
              </a:rPr>
              <a:t>instant</a:t>
            </a:r>
            <a:r>
              <a:rPr lang="sv-SE" dirty="0">
                <a:latin typeface="+mj-lt"/>
              </a:rPr>
              <a:t>.</a:t>
            </a:r>
          </a:p>
        </p:txBody>
      </p:sp>
      <p:pic>
        <p:nvPicPr>
          <p:cNvPr id="2051" name="Picture 3" descr="D:\Users\chalmers.CSE-924108\AppData\Local\Microsoft\Windows\Temporary Internet Files\Content.IE5\5W1ZCW1M\MC900078622[1].wm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383" y="4552434"/>
            <a:ext cx="778158" cy="167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http://sharpreflections.com/wp-content/uploads/2012/06/multi_core_cpu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1228" y="4642908"/>
            <a:ext cx="1985884" cy="1493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 descr="D:\Users\chalmers.CSE-924108\AppData\Local\Microsoft\Windows\Temporary Internet Files\Content.IE5\5W1ZCW1M\MC900078622[1].wm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2149" y="4596761"/>
            <a:ext cx="778158" cy="1674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1481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Threads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sz="2400" dirty="0"/>
              <a:t>One process </a:t>
            </a:r>
            <a:r>
              <a:rPr lang="en-US" altLang="en-US" sz="2400" dirty="0">
                <a:sym typeface="Wingdings" panose="05000000000000000000" pitchFamily="2" charset="2"/>
              </a:rPr>
              <a:t> </a:t>
            </a:r>
            <a:r>
              <a:rPr lang="en-US" altLang="en-US" sz="2400" dirty="0"/>
              <a:t>multiple threads of execution</a:t>
            </a:r>
          </a:p>
          <a:p>
            <a:r>
              <a:rPr lang="en-US" altLang="en-US" sz="2400" dirty="0"/>
              <a:t>Consider having multiple program counters per process</a:t>
            </a:r>
          </a:p>
          <a:p>
            <a:pPr lvl="1"/>
            <a:r>
              <a:rPr lang="en-US" altLang="en-US" sz="2000" dirty="0"/>
              <a:t>Multiple locations can execute at once</a:t>
            </a:r>
          </a:p>
          <a:p>
            <a:pPr lvl="1"/>
            <a:r>
              <a:rPr lang="en-US" altLang="en-US" sz="2000" dirty="0"/>
              <a:t>Multiple threads of control -&gt; threads</a:t>
            </a:r>
          </a:p>
          <a:p>
            <a:r>
              <a:rPr lang="en-US" altLang="en-US" sz="2400" dirty="0"/>
              <a:t>Must then have storage for thread details, multiple program counters in PCB</a:t>
            </a:r>
            <a:endParaRPr lang="en-US" altLang="en-US" sz="2000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04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019175" y="1635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Single and Multithreaded Processes</a:t>
            </a:r>
          </a:p>
        </p:txBody>
      </p:sp>
      <p:pic>
        <p:nvPicPr>
          <p:cNvPr id="12291" name="Picture 1" descr="4_0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295400"/>
            <a:ext cx="6884988" cy="446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457200" y="176213"/>
            <a:ext cx="8229600" cy="576262"/>
          </a:xfrm>
        </p:spPr>
        <p:txBody>
          <a:bodyPr/>
          <a:lstStyle/>
          <a:p>
            <a:r>
              <a:rPr lang="en-US" altLang="en-US"/>
              <a:t>Motivation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6813550" cy="4530725"/>
          </a:xfrm>
        </p:spPr>
        <p:txBody>
          <a:bodyPr/>
          <a:lstStyle/>
          <a:p>
            <a:r>
              <a:rPr lang="en-US" altLang="en-US" dirty="0"/>
              <a:t>Most modern applications are multithreaded</a:t>
            </a:r>
          </a:p>
          <a:p>
            <a:r>
              <a:rPr lang="en-US" altLang="en-US" dirty="0"/>
              <a:t>Threads run within application</a:t>
            </a:r>
          </a:p>
          <a:p>
            <a:r>
              <a:rPr lang="en-US" altLang="en-US" dirty="0"/>
              <a:t>Multiple tasks with the application can be implemented by separate threads</a:t>
            </a:r>
          </a:p>
          <a:p>
            <a:pPr lvl="1"/>
            <a:r>
              <a:rPr lang="en-US" altLang="en-US" dirty="0"/>
              <a:t>Update display</a:t>
            </a:r>
          </a:p>
          <a:p>
            <a:pPr lvl="1"/>
            <a:r>
              <a:rPr lang="en-US" altLang="en-US" dirty="0"/>
              <a:t>Fetch data</a:t>
            </a:r>
          </a:p>
          <a:p>
            <a:pPr lvl="1"/>
            <a:r>
              <a:rPr lang="en-US" altLang="en-US" dirty="0"/>
              <a:t>Spell checking</a:t>
            </a:r>
          </a:p>
          <a:p>
            <a:pPr lvl="1"/>
            <a:r>
              <a:rPr lang="en-US" altLang="en-US" dirty="0"/>
              <a:t>Answer a network request</a:t>
            </a:r>
          </a:p>
          <a:p>
            <a:r>
              <a:rPr lang="en-US" altLang="en-US" u="sng" dirty="0"/>
              <a:t>Process creation is heavy-weight while thread creation is light-weight</a:t>
            </a:r>
          </a:p>
          <a:p>
            <a:r>
              <a:rPr lang="en-US" altLang="en-US" u="sng" dirty="0"/>
              <a:t>Can simplify code, increase efficiency</a:t>
            </a:r>
          </a:p>
          <a:p>
            <a:r>
              <a:rPr lang="en-US" altLang="en-US" dirty="0"/>
              <a:t>Kernels are generally multithreaded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885825" y="1635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Multithreaded Server Architecture</a:t>
            </a:r>
          </a:p>
        </p:txBody>
      </p:sp>
      <p:pic>
        <p:nvPicPr>
          <p:cNvPr id="7171" name="Picture 1" descr="4_0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1138" y="1443038"/>
            <a:ext cx="6397625" cy="258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862013" y="415925"/>
            <a:ext cx="6951662" cy="312738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Benefits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7207250" cy="4530725"/>
          </a:xfrm>
        </p:spPr>
        <p:txBody>
          <a:bodyPr/>
          <a:lstStyle/>
          <a:p>
            <a:r>
              <a:rPr lang="en-US" altLang="en-US" b="1"/>
              <a:t>Responsiveness – </a:t>
            </a:r>
            <a:r>
              <a:rPr lang="en-US" altLang="en-US"/>
              <a:t>may allow continued execution if part of process is blocked, especially important for user interfaces</a:t>
            </a:r>
          </a:p>
          <a:p>
            <a:r>
              <a:rPr lang="en-US" altLang="en-US" b="1"/>
              <a:t>Resource Sharing – </a:t>
            </a:r>
            <a:r>
              <a:rPr lang="en-US" altLang="en-US"/>
              <a:t>threads share resources of process, easier than shared memory or message passing</a:t>
            </a:r>
          </a:p>
          <a:p>
            <a:r>
              <a:rPr lang="en-US" altLang="en-US" b="1"/>
              <a:t>Economy – </a:t>
            </a:r>
            <a:r>
              <a:rPr lang="en-US" altLang="en-US"/>
              <a:t>cheaper than process creation, thread switching lower overhead than context switching</a:t>
            </a:r>
          </a:p>
          <a:p>
            <a:r>
              <a:rPr lang="en-US" altLang="en-US" b="1"/>
              <a:t>Scalability – </a:t>
            </a:r>
            <a:r>
              <a:rPr lang="en-US" altLang="en-US"/>
              <a:t>process can take advantage of multiprocessor architectures</a:t>
            </a:r>
            <a:br>
              <a:rPr lang="en-US" altLang="en-US"/>
            </a:br>
            <a:endParaRPr lang="en-US" altLang="en-US"/>
          </a:p>
          <a:p>
            <a:endParaRPr lang="en-US" altLang="en-US" b="1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1012825" y="176213"/>
            <a:ext cx="7673975" cy="576262"/>
          </a:xfrm>
        </p:spPr>
        <p:txBody>
          <a:bodyPr/>
          <a:lstStyle/>
          <a:p>
            <a:pPr eaLnBrk="1" hangingPunct="1"/>
            <a:r>
              <a:rPr lang="en-US" altLang="en-US"/>
              <a:t>Multicore Programming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882650" y="1208088"/>
            <a:ext cx="7723188" cy="4530725"/>
          </a:xfrm>
        </p:spPr>
        <p:txBody>
          <a:bodyPr/>
          <a:lstStyle/>
          <a:p>
            <a:r>
              <a:rPr lang="en-US" altLang="en-US" b="1">
                <a:solidFill>
                  <a:srgbClr val="3366FF"/>
                </a:solidFill>
              </a:rPr>
              <a:t>Multicore</a:t>
            </a:r>
            <a:r>
              <a:rPr lang="en-US" altLang="en-US"/>
              <a:t> or </a:t>
            </a:r>
            <a:r>
              <a:rPr lang="en-US" altLang="en-US" b="1">
                <a:solidFill>
                  <a:srgbClr val="3366FF"/>
                </a:solidFill>
              </a:rPr>
              <a:t>multiprocessor</a:t>
            </a:r>
            <a:r>
              <a:rPr lang="en-US" altLang="en-US"/>
              <a:t> systems putting pressure on programmers, challenges include:</a:t>
            </a:r>
          </a:p>
          <a:p>
            <a:pPr lvl="1"/>
            <a:r>
              <a:rPr lang="en-US" altLang="en-US" b="1"/>
              <a:t>Dividing activities</a:t>
            </a:r>
          </a:p>
          <a:p>
            <a:pPr lvl="1"/>
            <a:r>
              <a:rPr lang="en-US" altLang="en-US" b="1"/>
              <a:t>Balance</a:t>
            </a:r>
          </a:p>
          <a:p>
            <a:pPr lvl="1"/>
            <a:r>
              <a:rPr lang="en-US" altLang="en-US" b="1"/>
              <a:t>Data splitting</a:t>
            </a:r>
          </a:p>
          <a:p>
            <a:pPr lvl="1"/>
            <a:r>
              <a:rPr lang="en-US" altLang="en-US" b="1"/>
              <a:t>Data dependency</a:t>
            </a:r>
          </a:p>
          <a:p>
            <a:pPr lvl="1"/>
            <a:r>
              <a:rPr lang="en-US" altLang="en-US" b="1"/>
              <a:t>Testing and debugging</a:t>
            </a:r>
          </a:p>
          <a:p>
            <a:r>
              <a:rPr lang="en-US" altLang="en-US" b="1" i="1"/>
              <a:t>Parallelism</a:t>
            </a:r>
            <a:r>
              <a:rPr lang="en-US" altLang="en-US"/>
              <a:t> implies a system can perform more than one task simultaneously</a:t>
            </a:r>
          </a:p>
          <a:p>
            <a:r>
              <a:rPr lang="en-US" altLang="en-US" b="1" i="1"/>
              <a:t>Concurrency</a:t>
            </a:r>
            <a:r>
              <a:rPr lang="en-US" altLang="en-US"/>
              <a:t> supports more than one task making progress</a:t>
            </a:r>
          </a:p>
          <a:p>
            <a:pPr lvl="1"/>
            <a:r>
              <a:rPr lang="en-US" altLang="en-US"/>
              <a:t>Single processor / core, scheduler providing concurrency</a:t>
            </a:r>
          </a:p>
          <a:p>
            <a:pPr lvl="1">
              <a:buFont typeface="Monotype Sorts" pitchFamily="-84" charset="2"/>
              <a:buNone/>
            </a:pPr>
            <a:endParaRPr lang="en-US" altLang="en-US"/>
          </a:p>
          <a:p>
            <a:pPr lvl="1">
              <a:buFont typeface="Monotype Sorts" pitchFamily="-84" charset="2"/>
              <a:buNone/>
            </a:pPr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676275" y="29686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Concurrency vs. Parallelism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/>
        </p:nvSpPr>
        <p:spPr bwMode="auto">
          <a:xfrm>
            <a:off x="457200" y="1163638"/>
            <a:ext cx="8229600" cy="453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35" tIns="45718" rIns="91435" bIns="45718"/>
          <a:lstStyle>
            <a:lvl1pPr marL="488950" indent="-48895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pPr marL="0" indent="0">
              <a:spcBef>
                <a:spcPct val="35000"/>
              </a:spcBef>
              <a:buClr>
                <a:srgbClr val="993300"/>
              </a:buClr>
              <a:buSzPct val="90000"/>
            </a:pPr>
            <a:r>
              <a:rPr kumimoji="1" lang="en-US" altLang="en-US" b="1" dirty="0">
                <a:latin typeface="Helvetica" panose="020B0604020202020204" pitchFamily="34" charset="0"/>
              </a:rPr>
              <a:t>Concurrent execution on single-core system:</a:t>
            </a: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 b="1" dirty="0">
              <a:latin typeface="Helvetica" panose="020B0604020202020204" pitchFamily="34" charset="0"/>
            </a:endParaRP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 b="1" dirty="0">
              <a:latin typeface="Helvetica" panose="020B0604020202020204" pitchFamily="34" charset="0"/>
            </a:endParaRP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 b="1" dirty="0">
              <a:latin typeface="Helvetica" panose="020B0604020202020204" pitchFamily="34" charset="0"/>
            </a:endParaRP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</a:pPr>
            <a:endParaRPr kumimoji="1" lang="en-US" altLang="en-US" b="1" dirty="0">
              <a:latin typeface="Helvetica" panose="020B0604020202020204" pitchFamily="34" charset="0"/>
            </a:endParaRPr>
          </a:p>
          <a:p>
            <a:pPr marL="0" indent="0">
              <a:spcBef>
                <a:spcPct val="35000"/>
              </a:spcBef>
              <a:buClr>
                <a:srgbClr val="993300"/>
              </a:buClr>
              <a:buSzPct val="90000"/>
            </a:pPr>
            <a:r>
              <a:rPr kumimoji="1" lang="en-US" altLang="en-US" b="1" dirty="0">
                <a:latin typeface="Helvetica" panose="020B0604020202020204" pitchFamily="34" charset="0"/>
              </a:rPr>
              <a:t>Parallelism on a multi-core system:</a:t>
            </a:r>
          </a:p>
          <a:p>
            <a: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-84" charset="2"/>
              <a:buChar char="n"/>
            </a:pPr>
            <a:endParaRPr kumimoji="1" lang="en-US" altLang="en-US" b="1" dirty="0">
              <a:latin typeface="Helvetica" panose="020B0604020202020204" pitchFamily="34" charset="0"/>
            </a:endParaRPr>
          </a:p>
        </p:txBody>
      </p:sp>
      <p:pic>
        <p:nvPicPr>
          <p:cNvPr id="11268" name="Picture 1" descr="4_03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9900" y="1814513"/>
            <a:ext cx="6259513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9" name="Picture 2" descr="4_04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5575" y="3771900"/>
            <a:ext cx="3946525" cy="155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1012825" y="176213"/>
            <a:ext cx="7673975" cy="576262"/>
          </a:xfrm>
        </p:spPr>
        <p:txBody>
          <a:bodyPr/>
          <a:lstStyle/>
          <a:p>
            <a:pPr eaLnBrk="1" hangingPunct="1"/>
            <a:r>
              <a:rPr lang="en-US" altLang="en-US"/>
              <a:t>Multicore Programming (Cont.)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7156450" cy="4530725"/>
          </a:xfrm>
        </p:spPr>
        <p:txBody>
          <a:bodyPr/>
          <a:lstStyle/>
          <a:p>
            <a:r>
              <a:rPr lang="en-US" altLang="en-US" dirty="0"/>
              <a:t>Types of parallelism </a:t>
            </a:r>
          </a:p>
          <a:p>
            <a:pPr lvl="1"/>
            <a:r>
              <a:rPr lang="en-US" altLang="en-US" b="1" dirty="0">
                <a:solidFill>
                  <a:srgbClr val="3366FF"/>
                </a:solidFill>
              </a:rPr>
              <a:t>Data parallelism</a:t>
            </a:r>
            <a:r>
              <a:rPr lang="en-US" altLang="en-US" dirty="0"/>
              <a:t> – distributes subsets of the same data across multiple cores, same operation on each</a:t>
            </a:r>
            <a:endParaRPr lang="en-US" altLang="en-US" b="1" dirty="0">
              <a:solidFill>
                <a:srgbClr val="3366FF"/>
              </a:solidFill>
            </a:endParaRPr>
          </a:p>
          <a:p>
            <a:pPr lvl="1"/>
            <a:r>
              <a:rPr lang="en-US" altLang="en-US" b="1" dirty="0">
                <a:solidFill>
                  <a:srgbClr val="3366FF"/>
                </a:solidFill>
              </a:rPr>
              <a:t>Task parallelism </a:t>
            </a:r>
            <a:r>
              <a:rPr lang="en-US" altLang="en-US" dirty="0"/>
              <a:t>– distributing threads across cores, each thread performing unique operation</a:t>
            </a:r>
          </a:p>
          <a:p>
            <a:r>
              <a:rPr lang="en-US" altLang="en-US" dirty="0"/>
              <a:t>As # of threads grows, so does architectural support for threading</a:t>
            </a:r>
          </a:p>
          <a:p>
            <a:pPr lvl="1"/>
            <a:r>
              <a:rPr lang="en-US" altLang="en-US" dirty="0"/>
              <a:t>CPUs have cores as well as </a:t>
            </a:r>
            <a:r>
              <a:rPr lang="en-US" altLang="en-US" b="1" i="1" dirty="0"/>
              <a:t>hardware threads</a:t>
            </a:r>
          </a:p>
          <a:p>
            <a:pPr lvl="1"/>
            <a:r>
              <a:rPr lang="en-US" altLang="en-US" dirty="0"/>
              <a:t>Consider Oracle SPARC T4 with 8 cores, and 8 hardware threads per core</a:t>
            </a:r>
          </a:p>
          <a:p>
            <a:pPr lvl="1"/>
            <a:endParaRPr lang="en-US" altLang="en-US" dirty="0"/>
          </a:p>
          <a:p>
            <a:pPr lvl="1">
              <a:buFont typeface="Monotype Sorts" pitchFamily="-84" charset="2"/>
              <a:buNone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+mj-lt"/>
              </a:rPr>
              <a:t>We have a program: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19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628651" y="2456924"/>
            <a:ext cx="826265" cy="25008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8650" y="3239121"/>
            <a:ext cx="826265" cy="63897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sp>
        <p:nvSpPr>
          <p:cNvPr id="9" name="Right Brace 8"/>
          <p:cNvSpPr/>
          <p:nvPr/>
        </p:nvSpPr>
        <p:spPr>
          <a:xfrm>
            <a:off x="1609152" y="3228105"/>
            <a:ext cx="165253" cy="638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28641" y="3220752"/>
            <a:ext cx="21698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</a:rPr>
              <a:t>Serial portion S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(25% of the program)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580" y="5305748"/>
            <a:ext cx="2901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+mj-lt"/>
              </a:rPr>
              <a:t>1 core </a:t>
            </a:r>
            <a:r>
              <a:rPr lang="en-US" sz="2800" dirty="0">
                <a:latin typeface="+mj-lt"/>
                <a:sym typeface="Wingdings" panose="05000000000000000000" pitchFamily="2" charset="2"/>
              </a:rPr>
              <a:t> 100 cores</a:t>
            </a:r>
            <a:endParaRPr lang="en-US" sz="280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40709" y="2307381"/>
            <a:ext cx="353410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+mj-lt"/>
              </a:rPr>
              <a:t>How many times (X) faster?</a:t>
            </a:r>
          </a:p>
          <a:p>
            <a:pPr algn="ctr"/>
            <a:r>
              <a:rPr lang="en-US" sz="2400" dirty="0">
                <a:latin typeface="+mj-lt"/>
              </a:rPr>
              <a:t>1&lt;X≤10</a:t>
            </a:r>
          </a:p>
          <a:p>
            <a:pPr algn="ctr"/>
            <a:r>
              <a:rPr lang="en-US" sz="2400" dirty="0">
                <a:latin typeface="+mj-lt"/>
              </a:rPr>
              <a:t>10&lt;X≤30</a:t>
            </a:r>
          </a:p>
          <a:p>
            <a:pPr algn="ctr"/>
            <a:r>
              <a:rPr lang="en-US" sz="2400" dirty="0">
                <a:latin typeface="+mj-lt"/>
              </a:rPr>
              <a:t>30&lt;X≤60</a:t>
            </a:r>
          </a:p>
          <a:p>
            <a:pPr algn="ctr"/>
            <a:r>
              <a:rPr lang="en-US" sz="2400" dirty="0">
                <a:latin typeface="+mj-lt"/>
              </a:rPr>
              <a:t>60&lt;X≤100</a:t>
            </a:r>
            <a:endParaRPr lang="sv-SE" sz="2400" dirty="0">
              <a:latin typeface="+mj-lt"/>
            </a:endParaRPr>
          </a:p>
          <a:p>
            <a:pPr algn="ctr"/>
            <a:endParaRPr lang="en-US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0673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016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Amdahl’s Law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869950" y="1106488"/>
            <a:ext cx="7900988" cy="45307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en-US" dirty="0"/>
              <a:t>Identifies performance gains from adding additional cores to an application that has both serial and parallel components</a:t>
            </a:r>
          </a:p>
          <a:p>
            <a:pPr>
              <a:defRPr/>
            </a:pPr>
            <a:r>
              <a:rPr lang="en-US" altLang="en-US" i="1" dirty="0"/>
              <a:t>S</a:t>
            </a:r>
            <a:r>
              <a:rPr lang="en-US" altLang="en-US" dirty="0"/>
              <a:t> is serial portion</a:t>
            </a:r>
          </a:p>
          <a:p>
            <a:pPr>
              <a:defRPr/>
            </a:pPr>
            <a:r>
              <a:rPr lang="en-US" altLang="en-US" i="1" dirty="0"/>
              <a:t>N</a:t>
            </a:r>
            <a:r>
              <a:rPr lang="en-US" altLang="en-US" dirty="0"/>
              <a:t> processing cores</a:t>
            </a:r>
          </a:p>
          <a:p>
            <a:pPr>
              <a:defRPr/>
            </a:pPr>
            <a:endParaRPr lang="en-US" altLang="en-US" dirty="0"/>
          </a:p>
          <a:p>
            <a:pPr>
              <a:defRPr/>
            </a:pPr>
            <a:endParaRPr lang="en-US" altLang="en-US" dirty="0"/>
          </a:p>
          <a:p>
            <a:pPr marL="0" indent="0">
              <a:buFont typeface="Monotype Sorts" pitchFamily="-84" charset="2"/>
              <a:buNone/>
              <a:defRPr/>
            </a:pPr>
            <a:endParaRPr lang="en-US" altLang="en-US" dirty="0"/>
          </a:p>
          <a:p>
            <a:pPr>
              <a:defRPr/>
            </a:pPr>
            <a:r>
              <a:rPr lang="en-US" altLang="en-US" dirty="0"/>
              <a:t>That is, if application is 75% parallel / 25% serial, moving from 1 to 2 cores results in speedup of 1.6 times</a:t>
            </a:r>
          </a:p>
          <a:p>
            <a:pPr>
              <a:defRPr/>
            </a:pPr>
            <a:r>
              <a:rPr lang="en-US" altLang="en-US" dirty="0"/>
              <a:t>As </a:t>
            </a:r>
            <a:r>
              <a:rPr lang="en-US" altLang="en-US" i="1" dirty="0"/>
              <a:t>N</a:t>
            </a:r>
            <a:r>
              <a:rPr lang="en-US" altLang="en-US" dirty="0"/>
              <a:t> approaches infinity, speedup approaches 1 / </a:t>
            </a:r>
            <a:r>
              <a:rPr lang="en-US" altLang="en-US" i="1" dirty="0"/>
              <a:t>S</a:t>
            </a:r>
          </a:p>
          <a:p>
            <a:pPr>
              <a:buFont typeface="Monotype Sorts" pitchFamily="-84" charset="2"/>
              <a:buNone/>
              <a:defRPr/>
            </a:pPr>
            <a:br>
              <a:rPr lang="en-US" altLang="en-US" b="1" dirty="0"/>
            </a:br>
            <a:r>
              <a:rPr lang="en-US" altLang="en-US" b="1" dirty="0"/>
              <a:t>Serial portion of an application has disproportionate  effect on performance gained by adding additional cores</a:t>
            </a:r>
          </a:p>
        </p:txBody>
      </p:sp>
      <p:pic>
        <p:nvPicPr>
          <p:cNvPr id="13316" name="Picture 1" descr="Screen Shot 2012-12-04 at 7.54.07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4903" y="2323985"/>
            <a:ext cx="2430463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Threads (Introduction)</a:t>
            </a:r>
          </a:p>
          <a:p>
            <a:r>
              <a:rPr lang="en-US" dirty="0"/>
              <a:t>Multithreading models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Implicit threading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Threading issues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34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6625" y="201613"/>
            <a:ext cx="7826375" cy="576262"/>
          </a:xfrm>
        </p:spPr>
        <p:txBody>
          <a:bodyPr/>
          <a:lstStyle/>
          <a:p>
            <a:pPr eaLnBrk="1" hangingPunct="1"/>
            <a:r>
              <a:rPr lang="en-US" altLang="en-US"/>
              <a:t>User Threads and Kernel Threads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b="1">
                <a:solidFill>
                  <a:srgbClr val="3366FF"/>
                </a:solidFill>
              </a:rPr>
              <a:t>User threads</a:t>
            </a:r>
            <a:r>
              <a:rPr lang="en-US" altLang="en-US"/>
              <a:t> - management done by user-level threads library</a:t>
            </a:r>
          </a:p>
          <a:p>
            <a:r>
              <a:rPr lang="en-US" altLang="en-US"/>
              <a:t>Three primary thread libraries:</a:t>
            </a:r>
          </a:p>
          <a:p>
            <a:pPr lvl="1"/>
            <a:r>
              <a:rPr lang="en-US" altLang="en-US"/>
              <a:t> POSIX </a:t>
            </a:r>
            <a:r>
              <a:rPr lang="en-US" altLang="en-US" b="1">
                <a:solidFill>
                  <a:srgbClr val="3366FF"/>
                </a:solidFill>
              </a:rPr>
              <a:t>Pthreads</a:t>
            </a:r>
            <a:endParaRPr lang="en-US" altLang="en-US" b="1" i="1">
              <a:solidFill>
                <a:srgbClr val="3366FF"/>
              </a:solidFill>
            </a:endParaRPr>
          </a:p>
          <a:p>
            <a:pPr lvl="1"/>
            <a:r>
              <a:rPr lang="en-US" altLang="en-US"/>
              <a:t> Windows threads</a:t>
            </a:r>
          </a:p>
          <a:p>
            <a:pPr lvl="1"/>
            <a:r>
              <a:rPr lang="en-US" altLang="en-US"/>
              <a:t> Java threads</a:t>
            </a:r>
          </a:p>
          <a:p>
            <a:r>
              <a:rPr lang="en-US" altLang="en-US" b="1">
                <a:solidFill>
                  <a:srgbClr val="3366FF"/>
                </a:solidFill>
              </a:rPr>
              <a:t>Kernel threads </a:t>
            </a:r>
            <a:r>
              <a:rPr lang="en-US" altLang="en-US"/>
              <a:t>- Supported by the Kernel</a:t>
            </a:r>
          </a:p>
          <a:p>
            <a:r>
              <a:rPr lang="en-US" altLang="en-US"/>
              <a:t>Examples – virtually all general purpose operating systems, including:</a:t>
            </a:r>
          </a:p>
          <a:p>
            <a:pPr lvl="1"/>
            <a:r>
              <a:rPr lang="en-US" altLang="en-US"/>
              <a:t>Windows </a:t>
            </a:r>
          </a:p>
          <a:p>
            <a:pPr lvl="1"/>
            <a:r>
              <a:rPr lang="en-US" altLang="en-US"/>
              <a:t>Solaris</a:t>
            </a:r>
          </a:p>
          <a:p>
            <a:pPr lvl="1"/>
            <a:r>
              <a:rPr lang="en-US" altLang="en-US"/>
              <a:t>Linux</a:t>
            </a:r>
          </a:p>
          <a:p>
            <a:pPr lvl="1"/>
            <a:r>
              <a:rPr lang="en-US" altLang="en-US"/>
              <a:t>Tru64 UNIX</a:t>
            </a:r>
          </a:p>
          <a:p>
            <a:pPr lvl="1"/>
            <a:r>
              <a:rPr lang="en-US" altLang="en-US"/>
              <a:t>Mac OS X</a:t>
            </a:r>
          </a:p>
          <a:p>
            <a:pPr lvl="1"/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Multithreading Models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Many-to-One</a:t>
            </a:r>
            <a:br>
              <a:rPr lang="en-US" altLang="en-US"/>
            </a:br>
            <a:endParaRPr lang="en-US" altLang="en-US"/>
          </a:p>
          <a:p>
            <a:r>
              <a:rPr lang="en-US" altLang="en-US"/>
              <a:t>One-to-One</a:t>
            </a:r>
            <a:br>
              <a:rPr lang="en-US" altLang="en-US"/>
            </a:br>
            <a:endParaRPr lang="en-US" altLang="en-US"/>
          </a:p>
          <a:p>
            <a:r>
              <a:rPr lang="en-US" altLang="en-US"/>
              <a:t>Many-to-Many</a:t>
            </a:r>
          </a:p>
          <a:p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62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Many-to-One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4654550" cy="4530725"/>
          </a:xfrm>
        </p:spPr>
        <p:txBody>
          <a:bodyPr/>
          <a:lstStyle/>
          <a:p>
            <a:r>
              <a:rPr lang="en-US" altLang="en-US"/>
              <a:t>Many user-level threads mapped to single kernel thread</a:t>
            </a:r>
          </a:p>
          <a:p>
            <a:r>
              <a:rPr lang="en-US" altLang="en-US"/>
              <a:t>One thread blocking causes all to block</a:t>
            </a:r>
          </a:p>
          <a:p>
            <a:r>
              <a:rPr lang="en-US" altLang="en-US"/>
              <a:t>Multiple threads may not run in parallel on muticore system because only one may be in kernel at a time</a:t>
            </a:r>
          </a:p>
          <a:p>
            <a:r>
              <a:rPr lang="en-US" altLang="en-US"/>
              <a:t>Few systems currently use this model</a:t>
            </a:r>
          </a:p>
          <a:p>
            <a:r>
              <a:rPr lang="en-US" altLang="en-US"/>
              <a:t>Examples: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Solaris Green Threads</a:t>
            </a:r>
          </a:p>
          <a:p>
            <a:pPr lvl="1"/>
            <a:r>
              <a:rPr lang="en-US" altLang="en-US" b="1">
                <a:solidFill>
                  <a:srgbClr val="3366FF"/>
                </a:solidFill>
              </a:rPr>
              <a:t>GNU Portable Threads</a:t>
            </a:r>
          </a:p>
        </p:txBody>
      </p:sp>
      <p:pic>
        <p:nvPicPr>
          <p:cNvPr id="16388" name="Picture 1" descr="4_05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0" y="2339975"/>
            <a:ext cx="2743200" cy="305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One-to-One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5772150" cy="4530725"/>
          </a:xfrm>
        </p:spPr>
        <p:txBody>
          <a:bodyPr/>
          <a:lstStyle/>
          <a:p>
            <a:r>
              <a:rPr lang="en-US" altLang="en-US"/>
              <a:t>Each user-level thread maps to kernel thread</a:t>
            </a:r>
          </a:p>
          <a:p>
            <a:r>
              <a:rPr lang="en-US" altLang="en-US"/>
              <a:t>Creating a user-level thread creates a kernel thread</a:t>
            </a:r>
          </a:p>
          <a:p>
            <a:r>
              <a:rPr lang="en-US" altLang="en-US"/>
              <a:t>More concurrency than many-to-one</a:t>
            </a:r>
          </a:p>
          <a:p>
            <a:r>
              <a:rPr lang="en-US" altLang="en-US"/>
              <a:t>Number of threads per process sometimes restricted due to overhead</a:t>
            </a:r>
          </a:p>
          <a:p>
            <a:r>
              <a:rPr lang="en-US" altLang="en-US"/>
              <a:t>Examples</a:t>
            </a:r>
          </a:p>
          <a:p>
            <a:pPr lvl="1"/>
            <a:r>
              <a:rPr lang="en-US" altLang="en-US"/>
              <a:t>Windows</a:t>
            </a:r>
          </a:p>
          <a:p>
            <a:pPr lvl="1"/>
            <a:r>
              <a:rPr lang="en-US" altLang="en-US"/>
              <a:t>Linux</a:t>
            </a:r>
          </a:p>
          <a:p>
            <a:pPr lvl="1"/>
            <a:r>
              <a:rPr lang="en-US" altLang="en-US"/>
              <a:t>Solaris 9 and later</a:t>
            </a:r>
          </a:p>
        </p:txBody>
      </p:sp>
      <p:pic>
        <p:nvPicPr>
          <p:cNvPr id="17412" name="Picture 1" descr="4_06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00" y="3048000"/>
            <a:ext cx="4475163" cy="191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Many-to-Many Model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827088" y="1155700"/>
            <a:ext cx="4448175" cy="4445000"/>
          </a:xfrm>
        </p:spPr>
        <p:txBody>
          <a:bodyPr/>
          <a:lstStyle/>
          <a:p>
            <a:r>
              <a:rPr lang="en-US" altLang="en-US"/>
              <a:t>Allows many user level threads to be mapped to many kernel threads</a:t>
            </a:r>
          </a:p>
          <a:p>
            <a:r>
              <a:rPr lang="en-US" altLang="en-US"/>
              <a:t>Allows the  operating system to create a sufficient number of kernel threads</a:t>
            </a:r>
          </a:p>
          <a:p>
            <a:r>
              <a:rPr lang="en-US" altLang="en-US"/>
              <a:t>Solaris prior to version 9</a:t>
            </a:r>
          </a:p>
          <a:p>
            <a:r>
              <a:rPr lang="en-US" altLang="en-US"/>
              <a:t>Windows  with the </a:t>
            </a:r>
            <a:r>
              <a:rPr lang="en-US" altLang="en-US" i="1"/>
              <a:t>ThreadFiber</a:t>
            </a:r>
            <a:r>
              <a:rPr lang="en-US" altLang="en-US"/>
              <a:t> package</a:t>
            </a:r>
          </a:p>
        </p:txBody>
      </p:sp>
      <p:pic>
        <p:nvPicPr>
          <p:cNvPr id="18436" name="Picture 1" descr="4_07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338" y="2451100"/>
            <a:ext cx="3159125" cy="303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635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Two-level Model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839788" y="1155700"/>
            <a:ext cx="6450012" cy="4456113"/>
          </a:xfrm>
        </p:spPr>
        <p:txBody>
          <a:bodyPr/>
          <a:lstStyle/>
          <a:p>
            <a:r>
              <a:rPr lang="en-US" altLang="en-US"/>
              <a:t>Similar to M:M, except that it allows a user thread to be </a:t>
            </a:r>
            <a:r>
              <a:rPr lang="en-US" altLang="en-US" b="1"/>
              <a:t>bound</a:t>
            </a:r>
            <a:r>
              <a:rPr lang="en-US" altLang="en-US"/>
              <a:t> to kernel thread</a:t>
            </a:r>
          </a:p>
          <a:p>
            <a:r>
              <a:rPr lang="en-US" altLang="en-US"/>
              <a:t>Examples</a:t>
            </a:r>
          </a:p>
          <a:p>
            <a:pPr lvl="1"/>
            <a:r>
              <a:rPr lang="en-US" altLang="en-US"/>
              <a:t>IRIX</a:t>
            </a:r>
          </a:p>
          <a:p>
            <a:pPr lvl="1"/>
            <a:r>
              <a:rPr lang="en-US" altLang="en-US"/>
              <a:t>HP-UX</a:t>
            </a:r>
          </a:p>
          <a:p>
            <a:pPr lvl="1"/>
            <a:r>
              <a:rPr lang="en-US" altLang="en-US"/>
              <a:t>Tru64 UNIX</a:t>
            </a:r>
          </a:p>
          <a:p>
            <a:pPr lvl="1"/>
            <a:r>
              <a:rPr lang="en-US" altLang="en-US"/>
              <a:t>Solaris 8 and earlier</a:t>
            </a:r>
          </a:p>
        </p:txBody>
      </p:sp>
      <p:pic>
        <p:nvPicPr>
          <p:cNvPr id="19460" name="Picture 1" descr="4_08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1976438"/>
            <a:ext cx="3778250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59AC3-12A8-FDCB-9131-00A43318B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 - P</a:t>
            </a:r>
            <a:r>
              <a:rPr lang="en-SE" dirty="0"/>
              <a:t>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0E6D-1871-962A-6580-A598CEC9B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229336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7757-2110-5866-D9EC-5159F581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processes running in the figure, how many cores does the CPU has?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F74E8-3525-0D6E-4CC9-1AB74B782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exactly 4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at least 4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 more than 4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9E1D5E-342C-D23C-2B1F-DB97C78F7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09" y="2052766"/>
            <a:ext cx="5528715" cy="37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2495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7757-2110-5866-D9EC-5159F581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processes running in the figure, why P2 gets switched at slot 2?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F74E8-3525-0D6E-4CC9-1AB74B782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To run another </a:t>
            </a:r>
            <a:b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</a:b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process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9E1D5E-342C-D23C-2B1F-DB97C78F7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09" y="2052766"/>
            <a:ext cx="5528715" cy="37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53274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7757-2110-5866-D9EC-5159F581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processes running in the figure, why P3 gets switched at slot 5?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F74E8-3525-0D6E-4CC9-1AB74B782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To run another </a:t>
            </a:r>
            <a:b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</a:b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process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9E1D5E-342C-D23C-2B1F-DB97C78F7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09" y="2052766"/>
            <a:ext cx="5528715" cy="37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105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7757-2110-5866-D9EC-5159F581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processes running in the figure, do P2 and P3 run in parallel?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F74E8-3525-0D6E-4CC9-1AB74B782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Yes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9E1D5E-342C-D23C-2B1F-DB97C78F7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09" y="2052766"/>
            <a:ext cx="5528715" cy="37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24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D7757-2110-5866-D9EC-5159F581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processes running in the figure, do P2 and P3 run concurrently?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F74E8-3525-0D6E-4CC9-1AB74B782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Yes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9E1D5E-342C-D23C-2B1F-DB97C78F7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09" y="2052766"/>
            <a:ext cx="5528715" cy="376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772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Thread Libraries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>
          <a:xfrm>
            <a:off x="806450" y="1233488"/>
            <a:ext cx="6559550" cy="4530725"/>
          </a:xfrm>
        </p:spPr>
        <p:txBody>
          <a:bodyPr/>
          <a:lstStyle/>
          <a:p>
            <a:r>
              <a:rPr lang="en-US" altLang="en-US" b="1">
                <a:solidFill>
                  <a:srgbClr val="3366FF"/>
                </a:solidFill>
              </a:rPr>
              <a:t>Thread library</a:t>
            </a:r>
            <a:r>
              <a:rPr lang="en-US" altLang="en-US">
                <a:solidFill>
                  <a:srgbClr val="3366FF"/>
                </a:solidFill>
              </a:rPr>
              <a:t> </a:t>
            </a:r>
            <a:r>
              <a:rPr lang="en-US" altLang="en-US"/>
              <a:t>provides programmer with API for creating and managing threads</a:t>
            </a:r>
          </a:p>
          <a:p>
            <a:r>
              <a:rPr lang="en-US" altLang="en-US"/>
              <a:t>Two primary ways of implementing</a:t>
            </a:r>
          </a:p>
          <a:p>
            <a:pPr lvl="1"/>
            <a:r>
              <a:rPr lang="en-US" altLang="en-US"/>
              <a:t>Library entirely in user space</a:t>
            </a:r>
          </a:p>
          <a:p>
            <a:pPr lvl="1"/>
            <a:r>
              <a:rPr lang="en-US" altLang="en-US"/>
              <a:t>Kernel-level library supported by the OS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016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Pthreads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7016750" cy="4465637"/>
          </a:xfrm>
        </p:spPr>
        <p:txBody>
          <a:bodyPr/>
          <a:lstStyle/>
          <a:p>
            <a:r>
              <a:rPr lang="en-US" altLang="en-US"/>
              <a:t>May be provided either as user-level or kernel-level</a:t>
            </a:r>
          </a:p>
          <a:p>
            <a:r>
              <a:rPr lang="en-US" altLang="en-US"/>
              <a:t>A POSIX standard (IEEE 1003.1c) API for thread creation and synchronization</a:t>
            </a:r>
          </a:p>
          <a:p>
            <a:r>
              <a:rPr lang="en-US" altLang="en-US" b="1" i="1"/>
              <a:t>Specification</a:t>
            </a:r>
            <a:r>
              <a:rPr lang="en-US" altLang="en-US"/>
              <a:t>, not </a:t>
            </a:r>
            <a:r>
              <a:rPr lang="en-US" altLang="en-US" b="1" i="1"/>
              <a:t>implementation</a:t>
            </a:r>
            <a:endParaRPr lang="en-US" altLang="en-US"/>
          </a:p>
          <a:p>
            <a:r>
              <a:rPr lang="en-US" altLang="en-US"/>
              <a:t>API specifies behavior of the thread library, implementation is up to development of the library</a:t>
            </a:r>
          </a:p>
          <a:p>
            <a:r>
              <a:rPr lang="en-US" altLang="en-US"/>
              <a:t>Common in UNIX operating systems (Solaris, Linux, Mac OS X)</a:t>
            </a:r>
          </a:p>
          <a:p>
            <a:pPr>
              <a:buFont typeface="Monotype Sorts" pitchFamily="-84" charset="2"/>
              <a:buNone/>
            </a:pPr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01613"/>
            <a:ext cx="8229600" cy="576262"/>
          </a:xfrm>
        </p:spPr>
        <p:txBody>
          <a:bodyPr/>
          <a:lstStyle/>
          <a:p>
            <a:r>
              <a:rPr lang="en-US" altLang="en-US"/>
              <a:t>Pthreads Example</a:t>
            </a:r>
          </a:p>
        </p:txBody>
      </p:sp>
      <p:pic>
        <p:nvPicPr>
          <p:cNvPr id="22531" name="Picture 1" descr="Screen Shot 2012-12-04 at 8.50.38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654" y="1090613"/>
            <a:ext cx="6529388" cy="4868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208444" y="714703"/>
            <a:ext cx="249138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+mj-lt"/>
              </a:rPr>
              <a:t>Summing 0 … 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457200" y="176213"/>
            <a:ext cx="8229600" cy="576262"/>
          </a:xfrm>
        </p:spPr>
        <p:txBody>
          <a:bodyPr/>
          <a:lstStyle/>
          <a:p>
            <a:r>
              <a:rPr lang="en-US" altLang="en-US"/>
              <a:t>Pthreads Example (Cont.)</a:t>
            </a:r>
          </a:p>
        </p:txBody>
      </p:sp>
      <p:pic>
        <p:nvPicPr>
          <p:cNvPr id="23555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63" y="995363"/>
            <a:ext cx="5795962" cy="533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1023938" y="176213"/>
            <a:ext cx="7793037" cy="576262"/>
          </a:xfrm>
        </p:spPr>
        <p:txBody>
          <a:bodyPr/>
          <a:lstStyle/>
          <a:p>
            <a:r>
              <a:rPr lang="en-US" altLang="en-US" sz="2800"/>
              <a:t>Pthreads Code for Joining 10 Threads</a:t>
            </a:r>
          </a:p>
        </p:txBody>
      </p:sp>
      <p:pic>
        <p:nvPicPr>
          <p:cNvPr id="24579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2613" y="1447800"/>
            <a:ext cx="5438775" cy="213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Threads (Introduction)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Multithreading models</a:t>
            </a:r>
          </a:p>
          <a:p>
            <a:r>
              <a:rPr lang="en-US" dirty="0"/>
              <a:t>Implicit threading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Threading Issues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4319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635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Implicit Threading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6889750" cy="4478337"/>
          </a:xfrm>
        </p:spPr>
        <p:txBody>
          <a:bodyPr/>
          <a:lstStyle/>
          <a:p>
            <a:r>
              <a:rPr lang="en-US" altLang="en-US" dirty="0"/>
              <a:t>Growing in popularity as numbers of threads increase, program correctness more difficult with explicit threads</a:t>
            </a:r>
          </a:p>
          <a:p>
            <a:r>
              <a:rPr lang="en-US" altLang="en-US" dirty="0"/>
              <a:t>Creation and management of threads done by compilers and run-time libraries rather than programmers</a:t>
            </a:r>
          </a:p>
          <a:p>
            <a:r>
              <a:rPr lang="en-US" altLang="en-US" dirty="0"/>
              <a:t>Two methods explored</a:t>
            </a:r>
          </a:p>
          <a:p>
            <a:pPr lvl="1"/>
            <a:r>
              <a:rPr lang="en-US" altLang="en-US" dirty="0"/>
              <a:t>Thread Pools</a:t>
            </a:r>
          </a:p>
          <a:p>
            <a:pPr lvl="1"/>
            <a:r>
              <a:rPr lang="en-US" altLang="en-US" dirty="0" err="1"/>
              <a:t>OpenMP</a:t>
            </a: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08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Thread Pools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869950" y="1081088"/>
            <a:ext cx="6889750" cy="4478337"/>
          </a:xfrm>
        </p:spPr>
        <p:txBody>
          <a:bodyPr/>
          <a:lstStyle/>
          <a:p>
            <a:r>
              <a:rPr lang="en-US" altLang="en-US" dirty="0"/>
              <a:t>Create a number of threads in a pool where they await work</a:t>
            </a:r>
          </a:p>
          <a:p>
            <a:r>
              <a:rPr lang="en-US" altLang="en-US" dirty="0"/>
              <a:t>Advantages:</a:t>
            </a:r>
          </a:p>
          <a:p>
            <a:pPr lvl="1"/>
            <a:r>
              <a:rPr lang="en-US" altLang="en-US" dirty="0"/>
              <a:t>Usually slightly faster to service a request with an existing thread than create a new thread</a:t>
            </a:r>
          </a:p>
          <a:p>
            <a:pPr lvl="1"/>
            <a:r>
              <a:rPr lang="en-US" altLang="en-US" dirty="0"/>
              <a:t>Allows the number of threads in the application(s) to be bound to the size of the pool</a:t>
            </a:r>
          </a:p>
          <a:p>
            <a:pPr lvl="1"/>
            <a:r>
              <a:rPr lang="en-US" altLang="en-US" dirty="0"/>
              <a:t>Separating task to be performed from mechanics of creating task allows different strategies for running task</a:t>
            </a:r>
          </a:p>
          <a:p>
            <a:pPr lvl="2"/>
            <a:r>
              <a:rPr lang="en-US" altLang="en-US" dirty="0" err="1"/>
              <a:t>i.e.Tasks</a:t>
            </a:r>
            <a:r>
              <a:rPr lang="en-US" altLang="en-US" dirty="0"/>
              <a:t> could be scheduled to run periodically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381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OpenMP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992188"/>
            <a:ext cx="3560763" cy="4478337"/>
          </a:xfrm>
        </p:spPr>
        <p:txBody>
          <a:bodyPr/>
          <a:lstStyle/>
          <a:p>
            <a:r>
              <a:rPr lang="en-US" altLang="en-US" sz="1600" dirty="0"/>
              <a:t>Set of compiler directives and an API for C, C++, FORTRAN </a:t>
            </a:r>
          </a:p>
          <a:p>
            <a:r>
              <a:rPr lang="en-US" altLang="en-US" sz="1600" dirty="0"/>
              <a:t>Provides support for parallel programming in shared-memory environments</a:t>
            </a:r>
          </a:p>
          <a:p>
            <a:r>
              <a:rPr lang="en-US" altLang="en-US" sz="1600" dirty="0"/>
              <a:t>Identifies </a:t>
            </a:r>
            <a:r>
              <a:rPr lang="en-US" altLang="en-US" sz="1600" b="1" dirty="0">
                <a:solidFill>
                  <a:srgbClr val="3366FF"/>
                </a:solidFill>
              </a:rPr>
              <a:t>parallel regions </a:t>
            </a:r>
            <a:r>
              <a:rPr lang="en-US" altLang="en-US" sz="1600" dirty="0"/>
              <a:t>– blocks of code that can run in parallel</a:t>
            </a:r>
          </a:p>
          <a:p>
            <a:pPr>
              <a:buFont typeface="Monotype Sorts" pitchFamily="-84" charset="2"/>
              <a:buNone/>
            </a:pPr>
            <a:r>
              <a:rPr lang="en-US" alt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alt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alt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parallel </a:t>
            </a:r>
          </a:p>
          <a:p>
            <a:pPr>
              <a:buFont typeface="Monotype Sorts" pitchFamily="-84" charset="2"/>
              <a:buNone/>
            </a:pPr>
            <a:r>
              <a:rPr lang="en-US" altLang="en-US" sz="1600" dirty="0"/>
              <a:t>Create as many threads as there are cores</a:t>
            </a:r>
          </a:p>
          <a:p>
            <a:pPr>
              <a:buFont typeface="Monotype Sorts" pitchFamily="-84" charset="2"/>
              <a:buNone/>
            </a:pPr>
            <a:r>
              <a:rPr lang="da-DK" alt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#pragma omp parallel for for(i=0;i&lt;N;i++) { </a:t>
            </a:r>
          </a:p>
          <a:p>
            <a:pPr>
              <a:buFont typeface="Monotype Sorts" pitchFamily="-84" charset="2"/>
              <a:buNone/>
            </a:pPr>
            <a:r>
              <a:rPr lang="da-DK" alt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c[i] = a[i] + b[i]; </a:t>
            </a:r>
          </a:p>
          <a:p>
            <a:pPr>
              <a:buFont typeface="Monotype Sorts" pitchFamily="-84" charset="2"/>
              <a:buNone/>
            </a:pPr>
            <a:r>
              <a:rPr lang="da-DK" alt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buFont typeface="Monotype Sorts" pitchFamily="-84" charset="2"/>
              <a:buNone/>
            </a:pPr>
            <a:r>
              <a:rPr lang="en-US" altLang="en-US" sz="1600" dirty="0"/>
              <a:t>Run for loop in parallel</a:t>
            </a:r>
          </a:p>
          <a:p>
            <a:endParaRPr lang="en-US" altLang="en-US" dirty="0"/>
          </a:p>
        </p:txBody>
      </p:sp>
      <p:pic>
        <p:nvPicPr>
          <p:cNvPr id="32772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8500" y="1473200"/>
            <a:ext cx="4483100" cy="399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Threads (Introduction)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Multithreading models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Implicit threading</a:t>
            </a:r>
          </a:p>
          <a:p>
            <a:r>
              <a:rPr lang="en-US" dirty="0"/>
              <a:t>Threading Issues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1369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0813"/>
            <a:ext cx="8229600" cy="576262"/>
          </a:xfrm>
        </p:spPr>
        <p:txBody>
          <a:bodyPr/>
          <a:lstStyle/>
          <a:p>
            <a:pPr eaLnBrk="1" hangingPunct="1"/>
            <a:r>
              <a:rPr lang="en-US" altLang="en-US"/>
              <a:t>Threading Issues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928688" y="1143000"/>
            <a:ext cx="7351712" cy="4483100"/>
          </a:xfrm>
        </p:spPr>
        <p:txBody>
          <a:bodyPr/>
          <a:lstStyle/>
          <a:p>
            <a:r>
              <a:rPr lang="en-US" altLang="en-US" dirty="0"/>
              <a:t>Semantics of </a:t>
            </a:r>
            <a:r>
              <a:rPr lang="en-US" altLang="en-US" b="1" dirty="0"/>
              <a:t>fork()</a:t>
            </a:r>
            <a:r>
              <a:rPr lang="en-US" altLang="en-US" dirty="0"/>
              <a:t> and </a:t>
            </a:r>
            <a:r>
              <a:rPr lang="en-US" altLang="en-US" b="1" dirty="0"/>
              <a:t>exec()</a:t>
            </a:r>
            <a:r>
              <a:rPr lang="en-US" altLang="en-US" dirty="0"/>
              <a:t> system calls</a:t>
            </a:r>
            <a:endParaRPr lang="en-US" altLang="en-US" sz="800" dirty="0"/>
          </a:p>
          <a:p>
            <a:r>
              <a:rPr lang="en-US" altLang="en-US" dirty="0"/>
              <a:t>Signal handling</a:t>
            </a:r>
          </a:p>
          <a:p>
            <a:pPr lvl="1"/>
            <a:r>
              <a:rPr lang="en-US" altLang="en-US" dirty="0"/>
              <a:t>Synchronous and asynchronous</a:t>
            </a:r>
            <a:endParaRPr lang="en-US" altLang="en-US" sz="800" dirty="0"/>
          </a:p>
          <a:p>
            <a:r>
              <a:rPr lang="en-US" altLang="en-US" dirty="0"/>
              <a:t>Thread cancellation of target thread</a:t>
            </a:r>
          </a:p>
          <a:p>
            <a:pPr lvl="1"/>
            <a:r>
              <a:rPr lang="en-US" altLang="en-US" dirty="0"/>
              <a:t>Asynchronous or deferred</a:t>
            </a:r>
            <a:endParaRPr lang="en-US" altLang="en-US" sz="800" dirty="0"/>
          </a:p>
          <a:p>
            <a:pPr lvl="1">
              <a:buFont typeface="Monotype Sorts" pitchFamily="-84" charset="2"/>
              <a:buNone/>
            </a:pPr>
            <a:endParaRPr lang="en-US" altLang="en-US" sz="8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 Program Forking Separate Process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AEEEC-DCEC-4178-AB14-E7254A15A296}" type="slidenum">
              <a:rPr lang="en-US" smtClean="0"/>
              <a:pPr/>
              <a:t>45</a:t>
            </a:fld>
            <a:endParaRPr lang="en-US"/>
          </a:p>
        </p:txBody>
      </p:sp>
      <p:pic>
        <p:nvPicPr>
          <p:cNvPr id="26627" name="Picture 5" descr="Screen Shot 2012-12-04 at 11.21.10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4933" y="1382346"/>
            <a:ext cx="5448476" cy="505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pic>
        <p:nvPicPr>
          <p:cNvPr id="7" name="Picture 4" descr="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690689"/>
            <a:ext cx="4309987" cy="1084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601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1117600" y="176213"/>
            <a:ext cx="7569200" cy="576262"/>
          </a:xfrm>
        </p:spPr>
        <p:txBody>
          <a:bodyPr/>
          <a:lstStyle/>
          <a:p>
            <a:pPr eaLnBrk="1" hangingPunct="1"/>
            <a:r>
              <a:rPr lang="en-US" altLang="en-US"/>
              <a:t>Semantics of fork() and exec()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06450" y="1233488"/>
            <a:ext cx="6597650" cy="4530725"/>
          </a:xfrm>
        </p:spPr>
        <p:txBody>
          <a:bodyPr/>
          <a:lstStyle/>
          <a:p>
            <a:r>
              <a:rPr lang="en-US" altLang="en-US"/>
              <a:t>Does </a:t>
            </a:r>
            <a:r>
              <a:rPr lang="en-US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fork()</a:t>
            </a:r>
            <a:r>
              <a:rPr lang="en-US" altLang="en-US"/>
              <a:t>duplicate only the calling thread or all threads?</a:t>
            </a:r>
          </a:p>
          <a:p>
            <a:pPr lvl="1"/>
            <a:r>
              <a:rPr lang="en-US" altLang="en-US"/>
              <a:t>Some UNIXes have two versions of fork</a:t>
            </a:r>
          </a:p>
          <a:p>
            <a:r>
              <a:rPr lang="en-US" altLang="en-US" b="1">
                <a:latin typeface="Courier New" panose="02070309020205020404" pitchFamily="49" charset="0"/>
                <a:cs typeface="Courier New" panose="02070309020205020404" pitchFamily="49" charset="0"/>
              </a:rPr>
              <a:t>exec() </a:t>
            </a:r>
            <a:r>
              <a:rPr lang="en-US" altLang="en-US"/>
              <a:t>usually works as normal – replace the running process including all threads</a:t>
            </a:r>
          </a:p>
          <a:p>
            <a:pPr lvl="1"/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Signal Handling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Signals are used in UNIX systems to notify a process that a particular event has occurred.</a:t>
            </a:r>
          </a:p>
          <a:p>
            <a:r>
              <a:rPr lang="en-US"/>
              <a:t>A signal handler is used to process signals</a:t>
            </a:r>
          </a:p>
          <a:p>
            <a:pPr lvl="1"/>
            <a:r>
              <a:rPr lang="en-US"/>
              <a:t>Signal is generated by particular event</a:t>
            </a:r>
          </a:p>
          <a:p>
            <a:pPr lvl="1"/>
            <a:r>
              <a:rPr lang="en-US"/>
              <a:t>Signal is delivered to a process</a:t>
            </a:r>
          </a:p>
          <a:p>
            <a:pPr lvl="1"/>
            <a:r>
              <a:rPr lang="en-US"/>
              <a:t>Signal is handled by one of two signal handlers:</a:t>
            </a:r>
          </a:p>
          <a:p>
            <a:pPr lvl="2"/>
            <a:r>
              <a:rPr lang="en-US"/>
              <a:t>default</a:t>
            </a:r>
          </a:p>
          <a:p>
            <a:pPr lvl="2"/>
            <a:r>
              <a:rPr lang="en-US"/>
              <a:t>user-defined</a:t>
            </a:r>
          </a:p>
          <a:p>
            <a:r>
              <a:rPr lang="en-US"/>
              <a:t>Every signal has default handler that kernel runs when handling signal</a:t>
            </a:r>
          </a:p>
          <a:p>
            <a:pPr lvl="1"/>
            <a:r>
              <a:rPr lang="en-US"/>
              <a:t>User-defined signal handler can override default</a:t>
            </a:r>
          </a:p>
          <a:p>
            <a:pPr lvl="1"/>
            <a:r>
              <a:rPr lang="en-US"/>
              <a:t>For single-threaded, signal delivered to process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pPr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Signal Handling (Cont.)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Where should a signal be delivered for multi-threaded? </a:t>
            </a:r>
          </a:p>
          <a:p>
            <a:pPr lvl="1"/>
            <a:r>
              <a:rPr lang="en-US"/>
              <a:t>Deliver the signal to the thread to which the signal applies</a:t>
            </a:r>
          </a:p>
          <a:p>
            <a:pPr lvl="1"/>
            <a:r>
              <a:rPr lang="en-US"/>
              <a:t>Deliver the signal to every thread in the process</a:t>
            </a:r>
          </a:p>
          <a:p>
            <a:pPr lvl="1"/>
            <a:r>
              <a:rPr lang="en-US"/>
              <a:t>Deliver the signal to certain threads in the process</a:t>
            </a:r>
          </a:p>
          <a:p>
            <a:pPr lvl="1"/>
            <a:r>
              <a:rPr lang="en-US"/>
              <a:t>Assign a specific thread to receive all signals for the process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pPr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81088" y="188913"/>
            <a:ext cx="7605712" cy="576262"/>
          </a:xfrm>
        </p:spPr>
        <p:txBody>
          <a:bodyPr/>
          <a:lstStyle/>
          <a:p>
            <a:pPr eaLnBrk="1" hangingPunct="1"/>
            <a:r>
              <a:rPr lang="en-US" altLang="en-US"/>
              <a:t>Thread Cancellation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>
          <a:xfrm>
            <a:off x="887413" y="1146175"/>
            <a:ext cx="7405687" cy="4430713"/>
          </a:xfrm>
        </p:spPr>
        <p:txBody>
          <a:bodyPr/>
          <a:lstStyle/>
          <a:p>
            <a:r>
              <a:rPr lang="en-US" altLang="en-US"/>
              <a:t>Terminating a thread before it has finished</a:t>
            </a:r>
          </a:p>
          <a:p>
            <a:r>
              <a:rPr lang="en-US" altLang="en-US"/>
              <a:t>Thread to be canceled is </a:t>
            </a:r>
            <a:r>
              <a:rPr lang="en-US" altLang="en-US" b="1">
                <a:solidFill>
                  <a:srgbClr val="3366FF"/>
                </a:solidFill>
              </a:rPr>
              <a:t>target thread</a:t>
            </a:r>
            <a:endParaRPr lang="en-US" altLang="en-US"/>
          </a:p>
          <a:p>
            <a:r>
              <a:rPr lang="en-US" altLang="en-US"/>
              <a:t>Two general approaches:</a:t>
            </a:r>
          </a:p>
          <a:p>
            <a:pPr lvl="1"/>
            <a:r>
              <a:rPr lang="en-US" altLang="en-US" b="1"/>
              <a:t>Asynchronous cancellation</a:t>
            </a:r>
            <a:r>
              <a:rPr lang="en-US" altLang="en-US"/>
              <a:t> terminates the target thread immediately</a:t>
            </a:r>
          </a:p>
          <a:p>
            <a:pPr lvl="1"/>
            <a:r>
              <a:rPr lang="en-US" altLang="en-US" b="1"/>
              <a:t>Deferred cancellation</a:t>
            </a:r>
            <a:r>
              <a:rPr lang="en-US" altLang="en-US"/>
              <a:t> allows the target thread to periodically check if it should be cancelled</a:t>
            </a:r>
          </a:p>
          <a:p>
            <a:r>
              <a:rPr lang="en-US" altLang="en-US"/>
              <a:t>Pthread code to create and cancel a thread:</a:t>
            </a:r>
          </a:p>
          <a:p>
            <a:pPr>
              <a:buFont typeface="Monotype Sorts" pitchFamily="-84" charset="2"/>
              <a:buNone/>
            </a:pPr>
            <a:endParaRPr lang="en-US" altLang="en-US"/>
          </a:p>
          <a:p>
            <a:pPr lvl="1"/>
            <a:endParaRPr lang="en-US" altLang="en-US"/>
          </a:p>
        </p:txBody>
      </p:sp>
      <p:pic>
        <p:nvPicPr>
          <p:cNvPr id="39940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8550" y="4017963"/>
            <a:ext cx="3878263" cy="200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1081088" y="176213"/>
            <a:ext cx="7605712" cy="576262"/>
          </a:xfrm>
        </p:spPr>
        <p:txBody>
          <a:bodyPr/>
          <a:lstStyle/>
          <a:p>
            <a:pPr eaLnBrk="1" hangingPunct="1"/>
            <a:r>
              <a:rPr lang="en-US" altLang="en-US"/>
              <a:t>Thread Cancellation (Cont.)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919163" y="1057275"/>
            <a:ext cx="7208837" cy="4962525"/>
          </a:xfrm>
        </p:spPr>
        <p:txBody>
          <a:bodyPr/>
          <a:lstStyle/>
          <a:p>
            <a:pPr>
              <a:defRPr/>
            </a:pPr>
            <a:r>
              <a:rPr lang="en-US" altLang="en-US"/>
              <a:t>Invoking thread cancellation requests cancellation, but actual cancellation depends on thread state</a:t>
            </a: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/>
          </a:p>
          <a:p>
            <a:pPr marL="0" indent="0">
              <a:buFont typeface="Monotype Sorts" pitchFamily="-84" charset="2"/>
              <a:buNone/>
              <a:defRPr/>
            </a:pPr>
            <a:endParaRPr lang="en-US" altLang="en-US"/>
          </a:p>
          <a:p>
            <a:pPr marL="0" indent="0">
              <a:buFont typeface="Monotype Sorts" pitchFamily="-84" charset="2"/>
              <a:buNone/>
              <a:defRPr/>
            </a:pPr>
            <a:endParaRPr lang="en-US" altLang="en-US"/>
          </a:p>
          <a:p>
            <a:pPr>
              <a:defRPr/>
            </a:pPr>
            <a:r>
              <a:rPr lang="en-US" altLang="en-US"/>
              <a:t>If thread has cancellation disabled, cancellation remains pending until thread enables it</a:t>
            </a:r>
          </a:p>
          <a:p>
            <a:pPr>
              <a:defRPr/>
            </a:pPr>
            <a:r>
              <a:rPr lang="en-US" altLang="en-US"/>
              <a:t>Default type is deferred</a:t>
            </a:r>
          </a:p>
          <a:p>
            <a:pPr lvl="1">
              <a:defRPr/>
            </a:pPr>
            <a:r>
              <a:rPr lang="en-US" altLang="en-US"/>
              <a:t>Cancellation only occurs when thread reaches </a:t>
            </a:r>
            <a:r>
              <a:rPr lang="en-US" altLang="en-US" b="1">
                <a:solidFill>
                  <a:srgbClr val="3366FF"/>
                </a:solidFill>
              </a:rPr>
              <a:t>cancellation point</a:t>
            </a:r>
          </a:p>
          <a:p>
            <a:pPr lvl="2">
              <a:defRPr/>
            </a:pPr>
            <a:r>
              <a:rPr lang="en-US" altLang="en-US"/>
              <a:t>I.e. </a:t>
            </a:r>
            <a:r>
              <a:rPr lang="en-US" altLang="en-US" b="1">
                <a:latin typeface="Courier New" pitchFamily="49" charset="0"/>
                <a:cs typeface="Courier New" pitchFamily="49" charset="0"/>
              </a:rPr>
              <a:t>pthread_testcancel()</a:t>
            </a:r>
          </a:p>
          <a:p>
            <a:pPr lvl="2">
              <a:defRPr/>
            </a:pPr>
            <a:r>
              <a:rPr lang="en-US" altLang="en-US"/>
              <a:t>Then </a:t>
            </a:r>
            <a:r>
              <a:rPr lang="en-US" altLang="en-US" b="1">
                <a:solidFill>
                  <a:srgbClr val="3366FF"/>
                </a:solidFill>
              </a:rPr>
              <a:t>cleanup handler </a:t>
            </a:r>
            <a:r>
              <a:rPr lang="en-US" altLang="en-US"/>
              <a:t>is invoked</a:t>
            </a:r>
          </a:p>
          <a:p>
            <a:pPr>
              <a:defRPr/>
            </a:pPr>
            <a:r>
              <a:rPr lang="en-US" altLang="en-US"/>
              <a:t>On Linux systems, thread cancellation is handled through signals</a:t>
            </a:r>
            <a:endParaRPr lang="en-US" altLang="en-US" dirty="0"/>
          </a:p>
        </p:txBody>
      </p:sp>
      <p:pic>
        <p:nvPicPr>
          <p:cNvPr id="40964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4713" y="1825625"/>
            <a:ext cx="5054600" cy="117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3 - Threads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9D4BF-17B8-4416-83AD-33398895AAF4}" type="slidenum">
              <a:rPr lang="en-US" smtClean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EBB15-5B3B-5910-2C6D-B11C9840B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 - P</a:t>
            </a:r>
            <a:r>
              <a:rPr lang="en-SE" dirty="0"/>
              <a:t>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7243A-8888-5988-823C-434E6CC07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83519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D86D-DC2B-6CAA-CABA-281BF5C41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code, the variable sum is not shared between threads.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CD949-72EF-9D7B-AF73-4ABA9B201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True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False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cannot say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DC752F2-766B-4641-18C2-E223A28AB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1409" y="2086936"/>
            <a:ext cx="5486076" cy="3639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68873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D86D-DC2B-6CAA-CABA-281BF5C41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code, the main function can complete before the created thread completes.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CD949-72EF-9D7B-AF73-4ABA9B201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False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True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DC752F2-766B-4641-18C2-E223A28AB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1409" y="2086936"/>
            <a:ext cx="5486076" cy="3639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8017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D86D-DC2B-6CAA-CABA-281BF5C41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Given the code, </a:t>
            </a:r>
            <a:r>
              <a:rPr lang="en-GB" dirty="0" err="1"/>
              <a:t>pthread_join</a:t>
            </a:r>
            <a:r>
              <a:rPr lang="en-GB" dirty="0"/>
              <a:t> might find the created thread has already completed when run.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CD949-72EF-9D7B-AF73-4ABA9B201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True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False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DC752F2-766B-4641-18C2-E223A28AB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1409" y="2086936"/>
            <a:ext cx="5486076" cy="3639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42143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D86D-DC2B-6CAA-CABA-281BF5C41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Given the code, the final value of sum can change at different executions.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CD949-72EF-9D7B-AF73-4ABA9B201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en-GB" dirty="0">
                <a:solidFill>
                  <a:srgbClr val="333333"/>
                </a:solidFill>
                <a:latin typeface="Montserrat" pitchFamily="2" charset="77"/>
              </a:rPr>
              <a:t>Yes</a:t>
            </a:r>
            <a:endParaRPr lang="en-GB" b="0" i="0" dirty="0">
              <a:solidFill>
                <a:srgbClr val="333333"/>
              </a:solidFill>
              <a:effectLst/>
              <a:latin typeface="Montserrat" pitchFamily="2" charset="77"/>
            </a:endParaRP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question</a:t>
            </a:r>
            <a:b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</a:b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is ambiguous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DC752F2-766B-4641-18C2-E223A28AB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1409" y="2086936"/>
            <a:ext cx="5486076" cy="3639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9450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11725</TotalTime>
  <Words>2545</Words>
  <Application>Microsoft Macintosh PowerPoint</Application>
  <PresentationFormat>On-screen Show (4:3)</PresentationFormat>
  <Paragraphs>486</Paragraphs>
  <Slides>55</Slides>
  <Notes>41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5" baseType="lpstr">
      <vt:lpstr>Arial</vt:lpstr>
      <vt:lpstr>Courier New</vt:lpstr>
      <vt:lpstr>Garamond</vt:lpstr>
      <vt:lpstr>Helvetica</vt:lpstr>
      <vt:lpstr>Monotype Sorts</vt:lpstr>
      <vt:lpstr>Montserrat</vt:lpstr>
      <vt:lpstr>Times New Roman</vt:lpstr>
      <vt:lpstr>Verdana</vt:lpstr>
      <vt:lpstr>Wingdings</vt:lpstr>
      <vt:lpstr>Office Theme</vt:lpstr>
      <vt:lpstr>PowerPoint Presentation</vt:lpstr>
      <vt:lpstr>What to read (main textbook)</vt:lpstr>
      <vt:lpstr>Objectives</vt:lpstr>
      <vt:lpstr>AGENDA</vt:lpstr>
      <vt:lpstr>AGENDA</vt:lpstr>
      <vt:lpstr>PowerPoint Presentation</vt:lpstr>
      <vt:lpstr>Concurrent vs Parallel execution</vt:lpstr>
      <vt:lpstr>The basic CPU cycle</vt:lpstr>
      <vt:lpstr>PowerPoint Presentation</vt:lpstr>
      <vt:lpstr>Discussion: parallel/concurrent execution of processes</vt:lpstr>
      <vt:lpstr>Threads</vt:lpstr>
      <vt:lpstr>Single and Multithreaded Processes</vt:lpstr>
      <vt:lpstr>Motivation</vt:lpstr>
      <vt:lpstr>Multithreaded Server Architecture</vt:lpstr>
      <vt:lpstr>Benefits</vt:lpstr>
      <vt:lpstr>Multicore Programming</vt:lpstr>
      <vt:lpstr>Concurrency vs. Parallelism</vt:lpstr>
      <vt:lpstr>Multicore Programming (Cont.)</vt:lpstr>
      <vt:lpstr>Question</vt:lpstr>
      <vt:lpstr>Amdahl’s Law</vt:lpstr>
      <vt:lpstr>AGENDA</vt:lpstr>
      <vt:lpstr>User Threads and Kernel Threads</vt:lpstr>
      <vt:lpstr>Multithreading Models</vt:lpstr>
      <vt:lpstr>Many-to-One</vt:lpstr>
      <vt:lpstr>One-to-One</vt:lpstr>
      <vt:lpstr>Many-to-Many Model</vt:lpstr>
      <vt:lpstr>Two-level Model</vt:lpstr>
      <vt:lpstr>Questions - Part 1</vt:lpstr>
      <vt:lpstr>Given the processes running in the figure, how many cores does the CPU has?</vt:lpstr>
      <vt:lpstr>Given the processes running in the figure, why P2 gets switched at slot 2?</vt:lpstr>
      <vt:lpstr>Given the processes running in the figure, why P3 gets switched at slot 5?</vt:lpstr>
      <vt:lpstr>Given the processes running in the figure, do P2 and P3 run in parallel?</vt:lpstr>
      <vt:lpstr>Given the processes running in the figure, do P2 and P3 run concurrently?</vt:lpstr>
      <vt:lpstr>Thread Libraries</vt:lpstr>
      <vt:lpstr>Pthreads</vt:lpstr>
      <vt:lpstr>Pthreads Example</vt:lpstr>
      <vt:lpstr>Pthreads Example (Cont.)</vt:lpstr>
      <vt:lpstr>Pthreads Code for Joining 10 Threads</vt:lpstr>
      <vt:lpstr>AGENDA</vt:lpstr>
      <vt:lpstr>Implicit Threading</vt:lpstr>
      <vt:lpstr>Thread Pools</vt:lpstr>
      <vt:lpstr>OpenMP</vt:lpstr>
      <vt:lpstr>AGENDA</vt:lpstr>
      <vt:lpstr>Threading Issues</vt:lpstr>
      <vt:lpstr>C Program Forking Separate Process</vt:lpstr>
      <vt:lpstr>Semantics of fork() and exec()</vt:lpstr>
      <vt:lpstr>Signal Handling</vt:lpstr>
      <vt:lpstr>Signal Handling (Cont.)</vt:lpstr>
      <vt:lpstr>Thread Cancellation</vt:lpstr>
      <vt:lpstr>Thread Cancellation (Cont.)</vt:lpstr>
      <vt:lpstr>Questions - Part 2</vt:lpstr>
      <vt:lpstr>Given the code, the variable sum is not shared between threads.</vt:lpstr>
      <vt:lpstr>Given the code, the main function can complete before the created thread completes.</vt:lpstr>
      <vt:lpstr>Given the code, pthread_join might find the created thread has already completed when run.</vt:lpstr>
      <vt:lpstr>Given the code, the final value of sum can change at different executions.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2.01</dc:title>
  <dc:creator>Lucent End User</dc:creator>
  <cp:lastModifiedBy>Vincenzo Massimiliano Gulisano</cp:lastModifiedBy>
  <cp:revision>243</cp:revision>
  <cp:lastPrinted>2016-11-13T10:04:32Z</cp:lastPrinted>
  <dcterms:created xsi:type="dcterms:W3CDTF">2011-01-13T23:43:38Z</dcterms:created>
  <dcterms:modified xsi:type="dcterms:W3CDTF">2025-09-11T05:51:39Z</dcterms:modified>
</cp:coreProperties>
</file>