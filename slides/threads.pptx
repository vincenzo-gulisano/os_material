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048" r:id="rId1"/>
  </p:sldMasterIdLst>
  <p:notesMasterIdLst>
    <p:notesMasterId r:id="rId59"/>
  </p:notesMasterIdLst>
  <p:handoutMasterIdLst>
    <p:handoutMasterId r:id="rId60"/>
  </p:handoutMasterIdLst>
  <p:sldIdLst>
    <p:sldId id="331" r:id="rId2"/>
    <p:sldId id="394" r:id="rId3"/>
    <p:sldId id="333" r:id="rId4"/>
    <p:sldId id="378" r:id="rId5"/>
    <p:sldId id="379" r:id="rId6"/>
    <p:sldId id="395" r:id="rId7"/>
    <p:sldId id="396" r:id="rId8"/>
    <p:sldId id="397" r:id="rId9"/>
    <p:sldId id="398" r:id="rId10"/>
    <p:sldId id="387" r:id="rId11"/>
    <p:sldId id="388" r:id="rId12"/>
    <p:sldId id="339" r:id="rId13"/>
    <p:sldId id="334" r:id="rId14"/>
    <p:sldId id="335" r:id="rId15"/>
    <p:sldId id="336" r:id="rId16"/>
    <p:sldId id="337" r:id="rId17"/>
    <p:sldId id="338" r:id="rId18"/>
    <p:sldId id="374" r:id="rId19"/>
    <p:sldId id="390" r:id="rId20"/>
    <p:sldId id="340" r:id="rId21"/>
    <p:sldId id="380" r:id="rId22"/>
    <p:sldId id="341" r:id="rId23"/>
    <p:sldId id="342" r:id="rId24"/>
    <p:sldId id="343" r:id="rId25"/>
    <p:sldId id="344" r:id="rId26"/>
    <p:sldId id="345" r:id="rId27"/>
    <p:sldId id="346" r:id="rId28"/>
    <p:sldId id="347" r:id="rId29"/>
    <p:sldId id="348" r:id="rId30"/>
    <p:sldId id="349" r:id="rId31"/>
    <p:sldId id="350" r:id="rId32"/>
    <p:sldId id="351" r:id="rId33"/>
    <p:sldId id="381" r:id="rId34"/>
    <p:sldId id="357" r:id="rId35"/>
    <p:sldId id="358" r:id="rId36"/>
    <p:sldId id="359" r:id="rId37"/>
    <p:sldId id="391" r:id="rId38"/>
    <p:sldId id="361" r:id="rId39"/>
    <p:sldId id="393" r:id="rId40"/>
    <p:sldId id="362" r:id="rId41"/>
    <p:sldId id="363" r:id="rId42"/>
    <p:sldId id="375" r:id="rId43"/>
    <p:sldId id="364" r:id="rId44"/>
    <p:sldId id="365" r:id="rId45"/>
    <p:sldId id="261" r:id="rId46"/>
    <p:sldId id="262" r:id="rId47"/>
    <p:sldId id="263" r:id="rId48"/>
    <p:sldId id="264" r:id="rId49"/>
    <p:sldId id="265" r:id="rId50"/>
    <p:sldId id="266" r:id="rId51"/>
    <p:sldId id="267" r:id="rId52"/>
    <p:sldId id="268" r:id="rId53"/>
    <p:sldId id="269" r:id="rId54"/>
    <p:sldId id="270" r:id="rId55"/>
    <p:sldId id="399" r:id="rId56"/>
    <p:sldId id="400" r:id="rId57"/>
    <p:sldId id="401" r:id="rId58"/>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0612E1-4B3E-7745-82D0-C0F5A6910F13}" v="3" dt="2025-09-03T08:29:28.0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82" autoAdjust="0"/>
    <p:restoredTop sz="78384" autoAdjust="0"/>
  </p:normalViewPr>
  <p:slideViewPr>
    <p:cSldViewPr snapToGrid="0">
      <p:cViewPr varScale="1">
        <p:scale>
          <a:sx n="92" d="100"/>
          <a:sy n="92" d="100"/>
        </p:scale>
        <p:origin x="2728" y="176"/>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5" d="100"/>
        <a:sy n="85" d="100"/>
      </p:scale>
      <p:origin x="0" y="2826"/>
    </p:cViewPr>
  </p:sorterViewPr>
  <p:notesViewPr>
    <p:cSldViewPr snapToGrid="0">
      <p:cViewPr varScale="1">
        <p:scale>
          <a:sx n="55" d="100"/>
          <a:sy n="55" d="100"/>
        </p:scale>
        <p:origin x="1812" y="9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similiano Gulisano" userId="887d7398-9e41-4331-abd4-9c23f064ea90" providerId="ADAL" clId="{8EA10870-6395-588A-9409-E8E4CA631CF7}"/>
    <pc:docChg chg="custSel addSld delSld modSld">
      <pc:chgData name="Vincenzo Massimiliano Gulisano" userId="887d7398-9e41-4331-abd4-9c23f064ea90" providerId="ADAL" clId="{8EA10870-6395-588A-9409-E8E4CA631CF7}" dt="2025-09-11T05:51:38.391" v="128" actId="12"/>
      <pc:docMkLst>
        <pc:docMk/>
      </pc:docMkLst>
      <pc:sldChg chg="modSp add mod">
        <pc:chgData name="Vincenzo Massimiliano Gulisano" userId="887d7398-9e41-4331-abd4-9c23f064ea90" providerId="ADAL" clId="{8EA10870-6395-588A-9409-E8E4CA631CF7}" dt="2025-09-03T08:28:18.490" v="84" actId="20577"/>
        <pc:sldMkLst>
          <pc:docMk/>
          <pc:sldMk cId="108351970" sldId="260"/>
        </pc:sldMkLst>
        <pc:spChg chg="mod">
          <ac:chgData name="Vincenzo Massimiliano Gulisano" userId="887d7398-9e41-4331-abd4-9c23f064ea90" providerId="ADAL" clId="{8EA10870-6395-588A-9409-E8E4CA631CF7}" dt="2025-09-03T08:28:18.490" v="84" actId="20577"/>
          <ac:spMkLst>
            <pc:docMk/>
            <pc:sldMk cId="108351970" sldId="260"/>
            <ac:spMk id="2" creationId="{2C4EBB15-5B3B-5910-2C6D-B11C9840B253}"/>
          </ac:spMkLst>
        </pc:spChg>
      </pc:sldChg>
      <pc:sldChg chg="delSp modSp add del mod">
        <pc:chgData name="Vincenzo Massimiliano Gulisano" userId="887d7398-9e41-4331-abd4-9c23f064ea90" providerId="ADAL" clId="{8EA10870-6395-588A-9409-E8E4CA631CF7}" dt="2025-09-03T08:28:25.023" v="85" actId="2696"/>
        <pc:sldMkLst>
          <pc:docMk/>
          <pc:sldMk cId="2306672857" sldId="261"/>
        </pc:sldMkLst>
      </pc:sldChg>
      <pc:sldChg chg="add">
        <pc:chgData name="Vincenzo Massimiliano Gulisano" userId="887d7398-9e41-4331-abd4-9c23f064ea90" providerId="ADAL" clId="{8EA10870-6395-588A-9409-E8E4CA631CF7}" dt="2025-09-03T08:29:28.055" v="86"/>
        <pc:sldMkLst>
          <pc:docMk/>
          <pc:sldMk cId="4222933608" sldId="261"/>
        </pc:sldMkLst>
      </pc:sldChg>
      <pc:sldChg chg="add del">
        <pc:chgData name="Vincenzo Massimiliano Gulisano" userId="887d7398-9e41-4331-abd4-9c23f064ea90" providerId="ADAL" clId="{8EA10870-6395-588A-9409-E8E4CA631CF7}" dt="2025-09-03T08:28:25.023" v="85" actId="2696"/>
        <pc:sldMkLst>
          <pc:docMk/>
          <pc:sldMk cId="998844177" sldId="262"/>
        </pc:sldMkLst>
      </pc:sldChg>
      <pc:sldChg chg="modSp add mod modNotesTx">
        <pc:chgData name="Vincenzo Massimiliano Gulisano" userId="887d7398-9e41-4331-abd4-9c23f064ea90" providerId="ADAL" clId="{8EA10870-6395-588A-9409-E8E4CA631CF7}" dt="2025-09-11T05:51:23.090" v="124" actId="12"/>
        <pc:sldMkLst>
          <pc:docMk/>
          <pc:sldMk cId="1882495627" sldId="262"/>
        </pc:sldMkLst>
        <pc:spChg chg="mod">
          <ac:chgData name="Vincenzo Massimiliano Gulisano" userId="887d7398-9e41-4331-abd4-9c23f064ea90" providerId="ADAL" clId="{8EA10870-6395-588A-9409-E8E4CA631CF7}" dt="2025-09-11T05:51:23.090" v="124" actId="12"/>
          <ac:spMkLst>
            <pc:docMk/>
            <pc:sldMk cId="1882495627" sldId="262"/>
            <ac:spMk id="3" creationId="{A7BF74E8-3525-0D6E-4CC9-1AB74B782D3A}"/>
          </ac:spMkLst>
        </pc:spChg>
      </pc:sldChg>
      <pc:sldChg chg="add del">
        <pc:chgData name="Vincenzo Massimiliano Gulisano" userId="887d7398-9e41-4331-abd4-9c23f064ea90" providerId="ADAL" clId="{8EA10870-6395-588A-9409-E8E4CA631CF7}" dt="2025-09-03T08:27:35.414" v="48" actId="2696"/>
        <pc:sldMkLst>
          <pc:docMk/>
          <pc:sldMk cId="2692520298" sldId="262"/>
        </pc:sldMkLst>
      </pc:sldChg>
      <pc:sldChg chg="modSp add mod modNotesTx">
        <pc:chgData name="Vincenzo Massimiliano Gulisano" userId="887d7398-9e41-4331-abd4-9c23f064ea90" providerId="ADAL" clId="{8EA10870-6395-588A-9409-E8E4CA631CF7}" dt="2025-09-11T05:51:26.551" v="125" actId="12"/>
        <pc:sldMkLst>
          <pc:docMk/>
          <pc:sldMk cId="525327480" sldId="263"/>
        </pc:sldMkLst>
        <pc:spChg chg="mod">
          <ac:chgData name="Vincenzo Massimiliano Gulisano" userId="887d7398-9e41-4331-abd4-9c23f064ea90" providerId="ADAL" clId="{8EA10870-6395-588A-9409-E8E4CA631CF7}" dt="2025-09-11T05:51:26.551" v="125" actId="12"/>
          <ac:spMkLst>
            <pc:docMk/>
            <pc:sldMk cId="525327480" sldId="263"/>
            <ac:spMk id="3" creationId="{A7BF74E8-3525-0D6E-4CC9-1AB74B782D3A}"/>
          </ac:spMkLst>
        </pc:spChg>
      </pc:sldChg>
      <pc:sldChg chg="add del">
        <pc:chgData name="Vincenzo Massimiliano Gulisano" userId="887d7398-9e41-4331-abd4-9c23f064ea90" providerId="ADAL" clId="{8EA10870-6395-588A-9409-E8E4CA631CF7}" dt="2025-09-03T08:28:25.023" v="85" actId="2696"/>
        <pc:sldMkLst>
          <pc:docMk/>
          <pc:sldMk cId="1933282682" sldId="263"/>
        </pc:sldMkLst>
      </pc:sldChg>
      <pc:sldChg chg="modSp add del mod">
        <pc:chgData name="Vincenzo Massimiliano Gulisano" userId="887d7398-9e41-4331-abd4-9c23f064ea90" providerId="ADAL" clId="{8EA10870-6395-588A-9409-E8E4CA631CF7}" dt="2025-09-03T08:27:35.422" v="49" actId="2696"/>
        <pc:sldMkLst>
          <pc:docMk/>
          <pc:sldMk cId="3405648984" sldId="263"/>
        </pc:sldMkLst>
      </pc:sldChg>
      <pc:sldChg chg="add del">
        <pc:chgData name="Vincenzo Massimiliano Gulisano" userId="887d7398-9e41-4331-abd4-9c23f064ea90" providerId="ADAL" clId="{8EA10870-6395-588A-9409-E8E4CA631CF7}" dt="2025-09-03T08:27:35.409" v="45" actId="2696"/>
        <pc:sldMkLst>
          <pc:docMk/>
          <pc:sldMk cId="281120591" sldId="264"/>
        </pc:sldMkLst>
      </pc:sldChg>
      <pc:sldChg chg="modSp add mod modNotesTx">
        <pc:chgData name="Vincenzo Massimiliano Gulisano" userId="887d7398-9e41-4331-abd4-9c23f064ea90" providerId="ADAL" clId="{8EA10870-6395-588A-9409-E8E4CA631CF7}" dt="2025-09-11T05:51:30.262" v="126" actId="12"/>
        <pc:sldMkLst>
          <pc:docMk/>
          <pc:sldMk cId="2263105878" sldId="264"/>
        </pc:sldMkLst>
        <pc:spChg chg="mod">
          <ac:chgData name="Vincenzo Massimiliano Gulisano" userId="887d7398-9e41-4331-abd4-9c23f064ea90" providerId="ADAL" clId="{8EA10870-6395-588A-9409-E8E4CA631CF7}" dt="2025-09-11T05:51:30.262" v="126" actId="12"/>
          <ac:spMkLst>
            <pc:docMk/>
            <pc:sldMk cId="2263105878" sldId="264"/>
            <ac:spMk id="3" creationId="{A7BF74E8-3525-0D6E-4CC9-1AB74B782D3A}"/>
          </ac:spMkLst>
        </pc:spChg>
      </pc:sldChg>
      <pc:sldChg chg="add del">
        <pc:chgData name="Vincenzo Massimiliano Gulisano" userId="887d7398-9e41-4331-abd4-9c23f064ea90" providerId="ADAL" clId="{8EA10870-6395-588A-9409-E8E4CA631CF7}" dt="2025-09-03T08:28:25.023" v="85" actId="2696"/>
        <pc:sldMkLst>
          <pc:docMk/>
          <pc:sldMk cId="3403753779" sldId="264"/>
        </pc:sldMkLst>
      </pc:sldChg>
      <pc:sldChg chg="modSp add mod modNotesTx">
        <pc:chgData name="Vincenzo Massimiliano Gulisano" userId="887d7398-9e41-4331-abd4-9c23f064ea90" providerId="ADAL" clId="{8EA10870-6395-588A-9409-E8E4CA631CF7}" dt="2025-09-11T05:51:34.982" v="127" actId="12"/>
        <pc:sldMkLst>
          <pc:docMk/>
          <pc:sldMk cId="333272466" sldId="265"/>
        </pc:sldMkLst>
        <pc:spChg chg="mod">
          <ac:chgData name="Vincenzo Massimiliano Gulisano" userId="887d7398-9e41-4331-abd4-9c23f064ea90" providerId="ADAL" clId="{8EA10870-6395-588A-9409-E8E4CA631CF7}" dt="2025-09-11T05:51:34.982" v="127" actId="12"/>
          <ac:spMkLst>
            <pc:docMk/>
            <pc:sldMk cId="333272466" sldId="265"/>
            <ac:spMk id="3" creationId="{A7BF74E8-3525-0D6E-4CC9-1AB74B782D3A}"/>
          </ac:spMkLst>
        </pc:spChg>
      </pc:sldChg>
      <pc:sldChg chg="add del">
        <pc:chgData name="Vincenzo Massimiliano Gulisano" userId="887d7398-9e41-4331-abd4-9c23f064ea90" providerId="ADAL" clId="{8EA10870-6395-588A-9409-E8E4CA631CF7}" dt="2025-09-03T08:28:25.023" v="85" actId="2696"/>
        <pc:sldMkLst>
          <pc:docMk/>
          <pc:sldMk cId="2169157443" sldId="265"/>
        </pc:sldMkLst>
      </pc:sldChg>
      <pc:sldChg chg="add del">
        <pc:chgData name="Vincenzo Massimiliano Gulisano" userId="887d7398-9e41-4331-abd4-9c23f064ea90" providerId="ADAL" clId="{8EA10870-6395-588A-9409-E8E4CA631CF7}" dt="2025-09-03T08:27:35.408" v="44" actId="2696"/>
        <pc:sldMkLst>
          <pc:docMk/>
          <pc:sldMk cId="3476550487" sldId="265"/>
        </pc:sldMkLst>
      </pc:sldChg>
      <pc:sldChg chg="modSp add mod modNotesTx">
        <pc:chgData name="Vincenzo Massimiliano Gulisano" userId="887d7398-9e41-4331-abd4-9c23f064ea90" providerId="ADAL" clId="{8EA10870-6395-588A-9409-E8E4CA631CF7}" dt="2025-09-11T05:51:38.391" v="128" actId="12"/>
        <pc:sldMkLst>
          <pc:docMk/>
          <pc:sldMk cId="58772254" sldId="266"/>
        </pc:sldMkLst>
        <pc:spChg chg="mod">
          <ac:chgData name="Vincenzo Massimiliano Gulisano" userId="887d7398-9e41-4331-abd4-9c23f064ea90" providerId="ADAL" clId="{8EA10870-6395-588A-9409-E8E4CA631CF7}" dt="2025-09-11T05:51:38.391" v="128" actId="12"/>
          <ac:spMkLst>
            <pc:docMk/>
            <pc:sldMk cId="58772254" sldId="266"/>
            <ac:spMk id="3" creationId="{A7BF74E8-3525-0D6E-4CC9-1AB74B782D3A}"/>
          </ac:spMkLst>
        </pc:spChg>
      </pc:sldChg>
      <pc:sldChg chg="add del">
        <pc:chgData name="Vincenzo Massimiliano Gulisano" userId="887d7398-9e41-4331-abd4-9c23f064ea90" providerId="ADAL" clId="{8EA10870-6395-588A-9409-E8E4CA631CF7}" dt="2025-09-03T08:27:35.409" v="46" actId="2696"/>
        <pc:sldMkLst>
          <pc:docMk/>
          <pc:sldMk cId="385493818" sldId="266"/>
        </pc:sldMkLst>
      </pc:sldChg>
      <pc:sldChg chg="add del">
        <pc:chgData name="Vincenzo Massimiliano Gulisano" userId="887d7398-9e41-4331-abd4-9c23f064ea90" providerId="ADAL" clId="{8EA10870-6395-588A-9409-E8E4CA631CF7}" dt="2025-09-03T08:28:25.023" v="85" actId="2696"/>
        <pc:sldMkLst>
          <pc:docMk/>
          <pc:sldMk cId="2417353857" sldId="266"/>
        </pc:sldMkLst>
      </pc:sldChg>
      <pc:sldChg chg="add del">
        <pc:chgData name="Vincenzo Massimiliano Gulisano" userId="887d7398-9e41-4331-abd4-9c23f064ea90" providerId="ADAL" clId="{8EA10870-6395-588A-9409-E8E4CA631CF7}" dt="2025-09-03T08:27:35.410" v="47" actId="2696"/>
        <pc:sldMkLst>
          <pc:docMk/>
          <pc:sldMk cId="556692231" sldId="267"/>
        </pc:sldMkLst>
      </pc:sldChg>
      <pc:sldChg chg="modSp add mod modNotesTx">
        <pc:chgData name="Vincenzo Massimiliano Gulisano" userId="887d7398-9e41-4331-abd4-9c23f064ea90" providerId="ADAL" clId="{8EA10870-6395-588A-9409-E8E4CA631CF7}" dt="2025-09-11T05:51:09.941" v="123" actId="12"/>
        <pc:sldMkLst>
          <pc:docMk/>
          <pc:sldMk cId="3606887328" sldId="267"/>
        </pc:sldMkLst>
        <pc:spChg chg="mod">
          <ac:chgData name="Vincenzo Massimiliano Gulisano" userId="887d7398-9e41-4331-abd4-9c23f064ea90" providerId="ADAL" clId="{8EA10870-6395-588A-9409-E8E4CA631CF7}" dt="2025-09-11T05:51:09.941" v="123" actId="12"/>
          <ac:spMkLst>
            <pc:docMk/>
            <pc:sldMk cId="3606887328" sldId="267"/>
            <ac:spMk id="3" creationId="{2ACCD949-72EF-9D7B-AF73-4ABA9B201F07}"/>
          </ac:spMkLst>
        </pc:spChg>
      </pc:sldChg>
      <pc:sldChg chg="modSp add mod modNotesTx">
        <pc:chgData name="Vincenzo Massimiliano Gulisano" userId="887d7398-9e41-4331-abd4-9c23f064ea90" providerId="ADAL" clId="{8EA10870-6395-588A-9409-E8E4CA631CF7}" dt="2025-09-11T05:51:04.415" v="122" actId="12"/>
        <pc:sldMkLst>
          <pc:docMk/>
          <pc:sldMk cId="365801728" sldId="268"/>
        </pc:sldMkLst>
        <pc:spChg chg="mod">
          <ac:chgData name="Vincenzo Massimiliano Gulisano" userId="887d7398-9e41-4331-abd4-9c23f064ea90" providerId="ADAL" clId="{8EA10870-6395-588A-9409-E8E4CA631CF7}" dt="2025-09-03T08:28:03.944" v="51" actId="27636"/>
          <ac:spMkLst>
            <pc:docMk/>
            <pc:sldMk cId="365801728" sldId="268"/>
            <ac:spMk id="2" creationId="{888DD86D-DC2B-6CAA-CABA-281BF5C41495}"/>
          </ac:spMkLst>
        </pc:spChg>
        <pc:spChg chg="mod">
          <ac:chgData name="Vincenzo Massimiliano Gulisano" userId="887d7398-9e41-4331-abd4-9c23f064ea90" providerId="ADAL" clId="{8EA10870-6395-588A-9409-E8E4CA631CF7}" dt="2025-09-11T05:51:04.415" v="122" actId="12"/>
          <ac:spMkLst>
            <pc:docMk/>
            <pc:sldMk cId="365801728" sldId="268"/>
            <ac:spMk id="3" creationId="{2ACCD949-72EF-9D7B-AF73-4ABA9B201F07}"/>
          </ac:spMkLst>
        </pc:spChg>
      </pc:sldChg>
      <pc:sldChg chg="modSp add mod modNotesTx">
        <pc:chgData name="Vincenzo Massimiliano Gulisano" userId="887d7398-9e41-4331-abd4-9c23f064ea90" providerId="ADAL" clId="{8EA10870-6395-588A-9409-E8E4CA631CF7}" dt="2025-09-11T05:51:01.211" v="121" actId="12"/>
        <pc:sldMkLst>
          <pc:docMk/>
          <pc:sldMk cId="1154214324" sldId="269"/>
        </pc:sldMkLst>
        <pc:spChg chg="mod">
          <ac:chgData name="Vincenzo Massimiliano Gulisano" userId="887d7398-9e41-4331-abd4-9c23f064ea90" providerId="ADAL" clId="{8EA10870-6395-588A-9409-E8E4CA631CF7}" dt="2025-09-11T05:51:01.211" v="121" actId="12"/>
          <ac:spMkLst>
            <pc:docMk/>
            <pc:sldMk cId="1154214324" sldId="269"/>
            <ac:spMk id="3" creationId="{2ACCD949-72EF-9D7B-AF73-4ABA9B201F07}"/>
          </ac:spMkLst>
        </pc:spChg>
      </pc:sldChg>
      <pc:sldChg chg="modSp add mod modNotesTx">
        <pc:chgData name="Vincenzo Massimiliano Gulisano" userId="887d7398-9e41-4331-abd4-9c23f064ea90" providerId="ADAL" clId="{8EA10870-6395-588A-9409-E8E4CA631CF7}" dt="2025-09-11T05:50:56.740" v="120" actId="12"/>
        <pc:sldMkLst>
          <pc:docMk/>
          <pc:sldMk cId="1869450233" sldId="270"/>
        </pc:sldMkLst>
        <pc:spChg chg="mod">
          <ac:chgData name="Vincenzo Massimiliano Gulisano" userId="887d7398-9e41-4331-abd4-9c23f064ea90" providerId="ADAL" clId="{8EA10870-6395-588A-9409-E8E4CA631CF7}" dt="2025-09-11T05:50:56.740" v="120" actId="12"/>
          <ac:spMkLst>
            <pc:docMk/>
            <pc:sldMk cId="1869450233" sldId="270"/>
            <ac:spMk id="3" creationId="{2ACCD949-72EF-9D7B-AF73-4ABA9B201F0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3" name="Rectangle 3"/>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3169">
              <a:defRPr sz="1100">
                <a:latin typeface="Helvetica" charset="0"/>
                <a:ea typeface="ＭＳ Ｐゴシック" charset="-128"/>
                <a:cs typeface="ＭＳ Ｐゴシック" charset="-128"/>
              </a:defRPr>
            </a:lvl1pPr>
          </a:lstStyle>
          <a:p>
            <a:pPr>
              <a:defRPr/>
            </a:pPr>
            <a:endParaRPr lang="en-US"/>
          </a:p>
        </p:txBody>
      </p:sp>
      <p:sp>
        <p:nvSpPr>
          <p:cNvPr id="46084" name="Rectangle 4"/>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5" name="Rectangle 5"/>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a:latin typeface="Helvetica" panose="020B0604020202020204" pitchFamily="34" charset="0"/>
              </a:defRPr>
            </a:lvl1pPr>
          </a:lstStyle>
          <a:p>
            <a:fld id="{85DEE06E-38F1-4ACC-915E-97CE063EBA03}" type="slidenum">
              <a:rPr lang="en-US" altLang="en-US"/>
              <a:pPr/>
              <a:t>‹#›</a:t>
            </a:fld>
            <a:endParaRPr lang="en-US" altLang="en-US"/>
          </a:p>
        </p:txBody>
      </p:sp>
    </p:spTree>
    <p:extLst>
      <p:ext uri="{BB962C8B-B14F-4D97-AF65-F5344CB8AC3E}">
        <p14:creationId xmlns:p14="http://schemas.microsoft.com/office/powerpoint/2010/main" val="42359234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47" name="Rectangle 3"/>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1168">
              <a:defRPr sz="1200">
                <a:latin typeface="Times New Roman" charset="0"/>
                <a:ea typeface="ＭＳ Ｐゴシック" charset="-128"/>
                <a:cs typeface="ＭＳ Ｐゴシック" charset="-128"/>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1182688" y="698500"/>
            <a:ext cx="4646612"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51" name="Rectangle 7"/>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a:latin typeface="Times New Roman" panose="02020603050405020304" pitchFamily="18" charset="0"/>
              </a:defRPr>
            </a:lvl1pPr>
          </a:lstStyle>
          <a:p>
            <a:fld id="{0462CD46-9D15-4C57-8A80-C2E5019E2E04}" type="slidenum">
              <a:rPr lang="en-US" altLang="en-US"/>
              <a:pPr/>
              <a:t>‹#›</a:t>
            </a:fld>
            <a:endParaRPr lang="en-US" altLang="en-US"/>
          </a:p>
        </p:txBody>
      </p:sp>
    </p:spTree>
    <p:extLst>
      <p:ext uri="{BB962C8B-B14F-4D97-AF65-F5344CB8AC3E}">
        <p14:creationId xmlns:p14="http://schemas.microsoft.com/office/powerpoint/2010/main" val="35337720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E4C2E7-4533-4390-8AEE-E02702433286}" type="slidenum">
              <a:rPr lang="en-US" altLang="en-US">
                <a:latin typeface="Helvetica" panose="020B0604020202020204" pitchFamily="34" charset="0"/>
              </a:rPr>
              <a:pPr/>
              <a:t>1</a:t>
            </a:fld>
            <a:endParaRPr lang="en-US" altLang="en-US">
              <a:latin typeface="Helvetica" panose="020B0604020202020204" pitchFamily="34"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90686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26148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FE1CAB-13BE-4BE1-8D6B-122846198519}" type="slidenum">
              <a:rPr lang="en-US" altLang="en-US" smtClean="0"/>
              <a:pPr/>
              <a:t>6</a:t>
            </a:fld>
            <a:endParaRPr lang="en-US" altLang="en-US"/>
          </a:p>
        </p:txBody>
      </p:sp>
    </p:spTree>
    <p:extLst>
      <p:ext uri="{BB962C8B-B14F-4D97-AF65-F5344CB8AC3E}">
        <p14:creationId xmlns:p14="http://schemas.microsoft.com/office/powerpoint/2010/main" val="1029772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process monolithic bad --&gt; 1 core</a:t>
            </a:r>
          </a:p>
          <a:p>
            <a:r>
              <a:rPr lang="en-US" dirty="0"/>
              <a:t>multiple processes inefficient (e.g., spell checker and text</a:t>
            </a:r>
            <a:r>
              <a:rPr lang="en-US" baseline="0" dirty="0"/>
              <a:t> being input are shared)</a:t>
            </a:r>
            <a:endParaRPr lang="en-US" dirty="0"/>
          </a:p>
        </p:txBody>
      </p:sp>
      <p:sp>
        <p:nvSpPr>
          <p:cNvPr id="4" name="Slide Number Placeholder 3"/>
          <p:cNvSpPr>
            <a:spLocks noGrp="1"/>
          </p:cNvSpPr>
          <p:nvPr>
            <p:ph type="sldNum" sz="quarter" idx="10"/>
          </p:nvPr>
        </p:nvSpPr>
        <p:spPr/>
        <p:txBody>
          <a:bodyPr/>
          <a:lstStyle/>
          <a:p>
            <a:fld id="{A2FE1CAB-13BE-4BE1-8D6B-122846198519}" type="slidenum">
              <a:rPr lang="en-US" altLang="en-US" smtClean="0"/>
              <a:pPr/>
              <a:t>10</a:t>
            </a:fld>
            <a:endParaRPr lang="en-US" altLang="en-US"/>
          </a:p>
        </p:txBody>
      </p:sp>
    </p:spTree>
    <p:extLst>
      <p:ext uri="{BB962C8B-B14F-4D97-AF65-F5344CB8AC3E}">
        <p14:creationId xmlns:p14="http://schemas.microsoft.com/office/powerpoint/2010/main" val="3425438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charset="0"/>
                <a:ea typeface="MS PGothic" pitchFamily="34" charset="-128"/>
                <a:cs typeface="ＭＳ Ｐゴシック" charset="-128"/>
              </a:rPr>
              <a:t>thread state lives in per-thread TCBs, not literally in the PCB. Technically loose </a:t>
            </a:r>
            <a:r>
              <a:rPr lang="en-US" sz="1200" kern="1200" dirty="0">
                <a:solidFill>
                  <a:schemeClr val="tx1"/>
                </a:solidFill>
                <a:effectLst/>
                <a:latin typeface="Times New Roman" charset="0"/>
                <a:ea typeface="MS PGothic" pitchFamily="34" charset="-128"/>
                <a:cs typeface="ＭＳ Ｐゴシック" charset="-128"/>
                <a:sym typeface="Wingdings" pitchFamily="2" charset="2"/>
              </a:rPr>
              <a:t> But I am keeping it simple and talking about PCB</a:t>
            </a:r>
            <a:endParaRPr lang="en-US" sz="1200" kern="1200" dirty="0">
              <a:solidFill>
                <a:schemeClr val="tx1"/>
              </a:solidFill>
              <a:effectLst/>
              <a:latin typeface="Times New Roman" charset="0"/>
              <a:ea typeface="MS PGothic" pitchFamily="34" charset="-128"/>
              <a:cs typeface="ＭＳ Ｐゴシック" charset="-128"/>
            </a:endParaRPr>
          </a:p>
        </p:txBody>
      </p:sp>
    </p:spTree>
    <p:extLst>
      <p:ext uri="{BB962C8B-B14F-4D97-AF65-F5344CB8AC3E}">
        <p14:creationId xmlns:p14="http://schemas.microsoft.com/office/powerpoint/2010/main" val="386739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49C56FA-2BC4-40EA-A03D-6AE391F74D9F}" type="slidenum">
              <a:rPr lang="en-US" altLang="en-US">
                <a:latin typeface="Helvetica" panose="020B0604020202020204" pitchFamily="34" charset="0"/>
              </a:rPr>
              <a:pPr/>
              <a:t>12</a:t>
            </a:fld>
            <a:endParaRPr lang="en-US" altLang="en-US">
              <a:latin typeface="Helvetica" panose="020B0604020202020204" pitchFamily="34"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29712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21332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07EF533-B5FE-4786-81D4-36FB1A9B1F0E}" type="slidenum">
              <a:rPr lang="en-US" altLang="en-US">
                <a:latin typeface="Helvetica" panose="020B0604020202020204" pitchFamily="34" charset="0"/>
              </a:rPr>
              <a:pPr/>
              <a:t>15</a:t>
            </a:fld>
            <a:endParaRPr lang="en-US" altLang="en-US">
              <a:latin typeface="Helvetica" panose="020B0604020202020204" pitchFamily="34"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Example</a:t>
            </a:r>
            <a:r>
              <a:rPr lang="en-US" altLang="en-US" baseline="0" dirty="0">
                <a:latin typeface="Times New Roman" panose="02020603050405020304" pitchFamily="18" charset="0"/>
              </a:rPr>
              <a:t> of responsiveness: click button</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595705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example of SUM vs median</a:t>
            </a:r>
          </a:p>
        </p:txBody>
      </p:sp>
    </p:spTree>
    <p:extLst>
      <p:ext uri="{BB962C8B-B14F-4D97-AF65-F5344CB8AC3E}">
        <p14:creationId xmlns:p14="http://schemas.microsoft.com/office/powerpoint/2010/main" val="796074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 HERE FOR KAHOOT</a:t>
            </a:r>
          </a:p>
        </p:txBody>
      </p:sp>
    </p:spTree>
    <p:extLst>
      <p:ext uri="{BB962C8B-B14F-4D97-AF65-F5344CB8AC3E}">
        <p14:creationId xmlns:p14="http://schemas.microsoft.com/office/powerpoint/2010/main" val="1291662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task</a:t>
            </a:r>
            <a:r>
              <a:rPr lang="en-US" altLang="en-US" baseline="0" dirty="0">
                <a:latin typeface="Times New Roman" panose="02020603050405020304" pitchFamily="18" charset="0"/>
              </a:rPr>
              <a:t> parallelism --&gt; back to word</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4561511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serial portion --&gt; get</a:t>
            </a:r>
            <a:r>
              <a:rPr lang="en-US" baseline="0" dirty="0"/>
              <a:t> back to example with array</a:t>
            </a:r>
            <a:endParaRPr lang="en-US" dirty="0"/>
          </a:p>
          <a:p>
            <a:r>
              <a:rPr lang="en-US" dirty="0"/>
              <a:t>3.88</a:t>
            </a:r>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19</a:t>
            </a:fld>
            <a:endParaRPr lang="en-US" altLang="en-US"/>
          </a:p>
        </p:txBody>
      </p:sp>
    </p:spTree>
    <p:extLst>
      <p:ext uri="{BB962C8B-B14F-4D97-AF65-F5344CB8AC3E}">
        <p14:creationId xmlns:p14="http://schemas.microsoft.com/office/powerpoint/2010/main" val="1875250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EFD7E44-AEC4-4157-8E7D-F40F0ED96DDD}" type="slidenum">
              <a:rPr lang="en-US" altLang="en-US">
                <a:latin typeface="Helvetica" panose="020B0604020202020204" pitchFamily="34" charset="0"/>
              </a:rPr>
              <a:pPr/>
              <a:t>20</a:t>
            </a:fld>
            <a:endParaRPr lang="en-US" altLang="en-US">
              <a:latin typeface="Helvetica" panose="020B0604020202020204" pitchFamily="34"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joke about the company</a:t>
            </a:r>
          </a:p>
        </p:txBody>
      </p:sp>
    </p:spTree>
    <p:extLst>
      <p:ext uri="{BB962C8B-B14F-4D97-AF65-F5344CB8AC3E}">
        <p14:creationId xmlns:p14="http://schemas.microsoft.com/office/powerpoint/2010/main" val="2156689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474E90B-94F4-47DD-A75F-4633AAE4E39F}" type="slidenum">
              <a:rPr lang="en-US" altLang="en-US">
                <a:latin typeface="Helvetica" panose="020B0604020202020204" pitchFamily="34" charset="0"/>
              </a:rPr>
              <a:pPr/>
              <a:t>22</a:t>
            </a:fld>
            <a:endParaRPr lang="en-US" altLang="en-US">
              <a:latin typeface="Helvetica" panose="020B0604020202020204" pitchFamily="34"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User-threads means</a:t>
            </a:r>
            <a:r>
              <a:rPr lang="en-US" altLang="en-US" baseline="0" dirty="0">
                <a:latin typeface="Times New Roman" panose="02020603050405020304" pitchFamily="18" charset="0"/>
              </a:rPr>
              <a:t> there’s a library that manages the threads above the kernel, the kernel sees a single process. It can be good but also might be useless depending on the system call being called.</a:t>
            </a:r>
          </a:p>
          <a:p>
            <a:r>
              <a:rPr lang="en-US" altLang="en-US" baseline="0" dirty="0">
                <a:latin typeface="Times New Roman" panose="02020603050405020304" pitchFamily="18" charset="0"/>
              </a:rPr>
              <a:t>Kernel threads is the kernel that manages.</a:t>
            </a:r>
          </a:p>
          <a:p>
            <a:endParaRPr lang="en-US" altLang="en-US" baseline="0" dirty="0">
              <a:latin typeface="Times New Roman" panose="02020603050405020304" pitchFamily="18" charset="0"/>
            </a:endParaRPr>
          </a:p>
          <a:p>
            <a:r>
              <a:rPr lang="en-US" altLang="en-US" baseline="0" dirty="0">
                <a:latin typeface="Times New Roman" panose="02020603050405020304" pitchFamily="18" charset="0"/>
              </a:rPr>
              <a:t>Ready queue could have entries that are </a:t>
            </a:r>
            <a:r>
              <a:rPr lang="en-US" altLang="en-US" baseline="0">
                <a:latin typeface="Times New Roman" panose="02020603050405020304" pitchFamily="18" charset="0"/>
              </a:rPr>
              <a:t>queues themselves about ready threads</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5258551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D40D20E-B766-4BC0-8BCB-AE9827BF643B}" type="slidenum">
              <a:rPr lang="en-US" altLang="en-US">
                <a:latin typeface="Helvetica" panose="020B0604020202020204" pitchFamily="34" charset="0"/>
              </a:rPr>
              <a:pPr/>
              <a:t>23</a:t>
            </a:fld>
            <a:endParaRPr lang="en-US" altLang="en-US">
              <a:latin typeface="Helvetica" panose="020B0604020202020204"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880700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5F50226-F105-4878-8A49-6B19CA6D045E}" type="slidenum">
              <a:rPr lang="en-US" altLang="en-US">
                <a:latin typeface="Helvetica" panose="020B0604020202020204" pitchFamily="34" charset="0"/>
              </a:rPr>
              <a:pPr/>
              <a:t>24</a:t>
            </a:fld>
            <a:endParaRPr lang="en-US" altLang="en-US">
              <a:latin typeface="Helvetica" panose="020B0604020202020204" pitchFamily="34"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7789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724E85D-5133-4E31-A78E-E49E0C101F7C}" type="slidenum">
              <a:rPr lang="en-US" altLang="en-US">
                <a:latin typeface="Helvetica" panose="020B0604020202020204" pitchFamily="34" charset="0"/>
              </a:rPr>
              <a:pPr/>
              <a:t>25</a:t>
            </a:fld>
            <a:endParaRPr lang="en-US" altLang="en-US">
              <a:latin typeface="Helvetica" panose="020B0604020202020204" pitchFamily="3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226678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E68164C-A893-4C1D-B647-95F285884F5B}" type="slidenum">
              <a:rPr lang="en-US" altLang="en-US">
                <a:latin typeface="Helvetica" panose="020B0604020202020204" pitchFamily="34" charset="0"/>
              </a:rPr>
              <a:pPr/>
              <a:t>26</a:t>
            </a:fld>
            <a:endParaRPr lang="en-US" altLang="en-US">
              <a:latin typeface="Helvetica" panose="020B0604020202020204" pitchFamily="34"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416153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6A1C86D-A071-4C2D-8A3F-157391E88EDA}" type="slidenum">
              <a:rPr lang="en-US" altLang="en-US">
                <a:latin typeface="Helvetica" panose="020B0604020202020204" pitchFamily="34" charset="0"/>
              </a:rPr>
              <a:pPr/>
              <a:t>27</a:t>
            </a:fld>
            <a:endParaRPr lang="en-US" altLang="en-US">
              <a:latin typeface="Helvetica" panose="020B0604020202020204" pitchFamily="3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450856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808455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B4EBE88-DEAF-4F1E-9992-C074A67E47BC}" type="slidenum">
              <a:rPr lang="en-US" altLang="en-US">
                <a:latin typeface="Helvetica" panose="020B0604020202020204" pitchFamily="34" charset="0"/>
              </a:rPr>
              <a:pPr/>
              <a:t>29</a:t>
            </a:fld>
            <a:endParaRPr lang="en-US" altLang="en-US">
              <a:latin typeface="Helvetica" panose="020B0604020202020204" pitchFamily="3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Application Programming Interface</a:t>
            </a:r>
          </a:p>
        </p:txBody>
      </p:sp>
    </p:spTree>
    <p:extLst>
      <p:ext uri="{BB962C8B-B14F-4D97-AF65-F5344CB8AC3E}">
        <p14:creationId xmlns:p14="http://schemas.microsoft.com/office/powerpoint/2010/main" val="10702370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Thread attribute: stack size, scheduling info…</a:t>
            </a:r>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30</a:t>
            </a:fld>
            <a:endParaRPr lang="en-US" altLang="en-US"/>
          </a:p>
        </p:txBody>
      </p:sp>
    </p:spTree>
    <p:extLst>
      <p:ext uri="{BB962C8B-B14F-4D97-AF65-F5344CB8AC3E}">
        <p14:creationId xmlns:p14="http://schemas.microsoft.com/office/powerpoint/2010/main" val="37650474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A7A35F-B565-4BE1-82C6-54D7AE9C6992}" type="slidenum">
              <a:rPr lang="en-US" altLang="en-US">
                <a:latin typeface="Helvetica" panose="020B0604020202020204" pitchFamily="34" charset="0"/>
              </a:rPr>
              <a:pPr/>
              <a:t>34</a:t>
            </a:fld>
            <a:endParaRPr lang="en-US" altLang="en-US">
              <a:latin typeface="Helvetica" panose="020B0604020202020204" pitchFamily="34"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190464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533DC8E-18C2-4137-85B7-5F66EFE67318}" type="slidenum">
              <a:rPr lang="en-US" altLang="en-US">
                <a:latin typeface="Helvetica" panose="020B0604020202020204" pitchFamily="34" charset="0"/>
              </a:rPr>
              <a:pPr/>
              <a:t>35</a:t>
            </a:fld>
            <a:endParaRPr lang="en-US" altLang="en-US">
              <a:latin typeface="Helvetica" panose="020B0604020202020204" pitchFamily="34"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748389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252CD60-F5B4-48F7-889D-0084C2D2EF3F}" type="slidenum">
              <a:rPr lang="en-US" altLang="en-US">
                <a:latin typeface="Helvetica" panose="020B0604020202020204" pitchFamily="34" charset="0"/>
              </a:rPr>
              <a:pPr/>
              <a:t>36</a:t>
            </a:fld>
            <a:endParaRPr lang="en-US" altLang="en-US">
              <a:latin typeface="Helvetica" panose="020B0604020202020204" pitchFamily="3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Make drawing here</a:t>
            </a:r>
          </a:p>
        </p:txBody>
      </p:sp>
    </p:spTree>
    <p:extLst>
      <p:ext uri="{BB962C8B-B14F-4D97-AF65-F5344CB8AC3E}">
        <p14:creationId xmlns:p14="http://schemas.microsoft.com/office/powerpoint/2010/main" val="16097448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7D56D84-AA08-446F-9906-B1C39D60C877}" type="slidenum">
              <a:rPr lang="en-US" altLang="en-US">
                <a:latin typeface="Helvetica" panose="020B0604020202020204" pitchFamily="34" charset="0"/>
              </a:rPr>
              <a:pPr/>
              <a:t>38</a:t>
            </a:fld>
            <a:endParaRPr lang="en-US" altLang="en-US">
              <a:latin typeface="Helvetica" panose="020B0604020202020204" pitchFamily="34"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409000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370357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D5E1F5F-6598-4765-A4D3-E444A7D0FE4E}" type="slidenum">
              <a:rPr lang="en-US" altLang="en-US">
                <a:latin typeface="Helvetica" panose="020B0604020202020204" pitchFamily="34" charset="0"/>
              </a:rPr>
              <a:pPr/>
              <a:t>40</a:t>
            </a:fld>
            <a:endParaRPr lang="en-US" altLang="en-US">
              <a:latin typeface="Helvetica" panose="020B0604020202020204" pitchFamily="34"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Which combination does not really make a lot of sense?</a:t>
            </a:r>
          </a:p>
        </p:txBody>
      </p:sp>
    </p:spTree>
    <p:extLst>
      <p:ext uri="{BB962C8B-B14F-4D97-AF65-F5344CB8AC3E}">
        <p14:creationId xmlns:p14="http://schemas.microsoft.com/office/powerpoint/2010/main" val="3431228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5A8E78D-0FB8-4C5E-B8B8-79A179969E6F}" type="slidenum">
              <a:rPr lang="en-US" altLang="en-US">
                <a:latin typeface="Helvetica" panose="020B0604020202020204" pitchFamily="34" charset="0"/>
              </a:rPr>
              <a:pPr/>
              <a:t>41</a:t>
            </a:fld>
            <a:endParaRPr lang="en-US" altLang="en-US">
              <a:latin typeface="Helvetica" panose="020B0604020202020204" pitchFamily="34"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kern="1200" dirty="0">
                <a:solidFill>
                  <a:schemeClr val="tx1"/>
                </a:solidFill>
                <a:effectLst/>
                <a:latin typeface="Times New Roman" charset="0"/>
                <a:ea typeface="MS PGothic" pitchFamily="34" charset="-128"/>
                <a:cs typeface="ＭＳ Ｐゴシック" charset="-128"/>
              </a:rPr>
              <a:t>Interrupts can be viewed as a mean of communication between the CPU and the OS kernel. Signals can be viewed as a mean of communication between the OS kernel and OS processes.</a:t>
            </a:r>
          </a:p>
          <a:p>
            <a:r>
              <a:rPr lang="en-US" sz="1200" b="0" i="0" kern="1200" dirty="0">
                <a:solidFill>
                  <a:schemeClr val="tx1"/>
                </a:solidFill>
                <a:effectLst/>
                <a:latin typeface="Times New Roman" charset="0"/>
                <a:ea typeface="MS PGothic" pitchFamily="34" charset="-128"/>
                <a:cs typeface="ＭＳ Ｐゴシック" charset="-128"/>
              </a:rPr>
              <a:t>Interrupts may be initiated by the CPU (exceptions - e.g.: divide by zero, page fault), devices (hardware interrupts - </a:t>
            </a:r>
            <a:r>
              <a:rPr lang="en-US" sz="1200" b="0" i="0" kern="1200" dirty="0" err="1">
                <a:solidFill>
                  <a:schemeClr val="tx1"/>
                </a:solidFill>
                <a:effectLst/>
                <a:latin typeface="Times New Roman" charset="0"/>
                <a:ea typeface="MS PGothic" pitchFamily="34" charset="-128"/>
                <a:cs typeface="ＭＳ Ｐゴシック" charset="-128"/>
              </a:rPr>
              <a:t>e.g</a:t>
            </a:r>
            <a:r>
              <a:rPr lang="en-US" sz="1200" b="0" i="0" kern="1200" dirty="0">
                <a:solidFill>
                  <a:schemeClr val="tx1"/>
                </a:solidFill>
                <a:effectLst/>
                <a:latin typeface="Times New Roman" charset="0"/>
                <a:ea typeface="MS PGothic" pitchFamily="34" charset="-128"/>
                <a:cs typeface="ＭＳ Ｐゴシック" charset="-128"/>
              </a:rPr>
              <a:t>: input available), or by a CPU instruction (traps - </a:t>
            </a:r>
            <a:r>
              <a:rPr lang="en-US" sz="1200" b="0" i="0" kern="1200" dirty="0" err="1">
                <a:solidFill>
                  <a:schemeClr val="tx1"/>
                </a:solidFill>
                <a:effectLst/>
                <a:latin typeface="Times New Roman" charset="0"/>
                <a:ea typeface="MS PGothic" pitchFamily="34" charset="-128"/>
                <a:cs typeface="ＭＳ Ｐゴシック" charset="-128"/>
              </a:rPr>
              <a:t>e.g</a:t>
            </a:r>
            <a:r>
              <a:rPr lang="en-US" sz="1200" b="0" i="0" kern="1200" dirty="0">
                <a:solidFill>
                  <a:schemeClr val="tx1"/>
                </a:solidFill>
                <a:effectLst/>
                <a:latin typeface="Times New Roman" charset="0"/>
                <a:ea typeface="MS PGothic" pitchFamily="34" charset="-128"/>
                <a:cs typeface="ＭＳ Ｐゴシック" charset="-128"/>
              </a:rPr>
              <a:t>: </a:t>
            </a:r>
            <a:r>
              <a:rPr lang="en-US" sz="1200" b="0" i="0" kern="1200" dirty="0" err="1">
                <a:solidFill>
                  <a:schemeClr val="tx1"/>
                </a:solidFill>
                <a:effectLst/>
                <a:latin typeface="Times New Roman" charset="0"/>
                <a:ea typeface="MS PGothic" pitchFamily="34" charset="-128"/>
                <a:cs typeface="ＭＳ Ｐゴシック" charset="-128"/>
              </a:rPr>
              <a:t>syscalls</a:t>
            </a:r>
            <a:r>
              <a:rPr lang="en-US" sz="1200" b="0" i="0" kern="1200" dirty="0">
                <a:solidFill>
                  <a:schemeClr val="tx1"/>
                </a:solidFill>
                <a:effectLst/>
                <a:latin typeface="Times New Roman" charset="0"/>
                <a:ea typeface="MS PGothic" pitchFamily="34" charset="-128"/>
                <a:cs typeface="ＭＳ Ｐゴシック" charset="-128"/>
              </a:rPr>
              <a:t>, breakpoints). They are eventually managed by the CPU, which "interrupts" the current task, and invokes an OS-kernel provided ISR/interrupt handler.</a:t>
            </a:r>
          </a:p>
          <a:p>
            <a:r>
              <a:rPr lang="en-US" sz="1200" b="0" i="0" kern="1200" dirty="0">
                <a:solidFill>
                  <a:schemeClr val="tx1"/>
                </a:solidFill>
                <a:effectLst/>
                <a:latin typeface="Times New Roman" charset="0"/>
                <a:ea typeface="MS PGothic" pitchFamily="34" charset="-128"/>
                <a:cs typeface="ＭＳ Ｐゴシック" charset="-128"/>
              </a:rPr>
              <a:t>Signals may be initiated by the OS kernel (</a:t>
            </a:r>
            <a:r>
              <a:rPr lang="en-US" sz="1200" b="0" i="0" kern="1200" dirty="0" err="1">
                <a:solidFill>
                  <a:schemeClr val="tx1"/>
                </a:solidFill>
                <a:effectLst/>
                <a:latin typeface="Times New Roman" charset="0"/>
                <a:ea typeface="MS PGothic" pitchFamily="34" charset="-128"/>
                <a:cs typeface="ＭＳ Ｐゴシック" charset="-128"/>
              </a:rPr>
              <a:t>e.g</a:t>
            </a:r>
            <a:r>
              <a:rPr lang="en-US" sz="1200" b="0" i="0" kern="1200" dirty="0">
                <a:solidFill>
                  <a:schemeClr val="tx1"/>
                </a:solidFill>
                <a:effectLst/>
                <a:latin typeface="Times New Roman" charset="0"/>
                <a:ea typeface="MS PGothic" pitchFamily="34" charset="-128"/>
                <a:cs typeface="ＭＳ Ｐゴシック" charset="-128"/>
              </a:rPr>
              <a:t>: SIGFPE, SIGSEGV, SIGIO), or by a process(kill()). </a:t>
            </a:r>
            <a:r>
              <a:rPr lang="en-US" sz="1200" b="0" i="0" kern="1200">
                <a:solidFill>
                  <a:schemeClr val="tx1"/>
                </a:solidFill>
                <a:effectLst/>
                <a:latin typeface="Times New Roman" charset="0"/>
                <a:ea typeface="MS PGothic" pitchFamily="34" charset="-128"/>
                <a:cs typeface="ＭＳ Ｐゴシック" charset="-128"/>
              </a:rPr>
              <a:t>They are eventually managed by the OS kernel, which delivers them to the target thread/process, invoking either a generic action (ignore, terminate, terminate and dump core) or a process-provided signal handler.</a:t>
            </a:r>
          </a:p>
          <a:p>
            <a:endParaRPr lang="en-US" altLang="en-US">
              <a:latin typeface="Times New Roman" panose="02020603050405020304" pitchFamily="18" charset="0"/>
            </a:endParaRPr>
          </a:p>
        </p:txBody>
      </p:sp>
    </p:spTree>
    <p:extLst>
      <p:ext uri="{BB962C8B-B14F-4D97-AF65-F5344CB8AC3E}">
        <p14:creationId xmlns:p14="http://schemas.microsoft.com/office/powerpoint/2010/main" val="13046654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5FDC009-22A6-4C4F-9002-6F302BAF5AAF}" type="slidenum">
              <a:rPr lang="en-US" altLang="en-US">
                <a:latin typeface="Helvetica" panose="020B0604020202020204" pitchFamily="34" charset="0"/>
              </a:rPr>
              <a:pPr/>
              <a:t>42</a:t>
            </a:fld>
            <a:endParaRPr lang="en-US" altLang="en-US">
              <a:latin typeface="Helvetica" panose="020B0604020202020204" pitchFamily="34"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Example: ctrl + c</a:t>
            </a:r>
          </a:p>
        </p:txBody>
      </p:sp>
    </p:spTree>
    <p:extLst>
      <p:ext uri="{BB962C8B-B14F-4D97-AF65-F5344CB8AC3E}">
        <p14:creationId xmlns:p14="http://schemas.microsoft.com/office/powerpoint/2010/main" val="41362438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5BE969D-8C10-4ED3-AF0F-E3A061F73210}" type="slidenum">
              <a:rPr lang="en-US" altLang="en-US">
                <a:latin typeface="Helvetica" panose="020B0604020202020204" pitchFamily="34" charset="0"/>
              </a:rPr>
              <a:pPr/>
              <a:t>43</a:t>
            </a:fld>
            <a:endParaRPr lang="en-US" altLang="en-US">
              <a:latin typeface="Helvetica" panose="020B0604020202020204" pitchFamily="34"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170613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25CE766-1A3B-4E81-9870-C4E44B02447F}" type="slidenum">
              <a:rPr lang="en-US" altLang="en-US">
                <a:latin typeface="Helvetica" panose="020B0604020202020204" pitchFamily="34" charset="0"/>
              </a:rPr>
              <a:pPr/>
              <a:t>44</a:t>
            </a:fld>
            <a:endParaRPr lang="en-US" altLang="en-US">
              <a:latin typeface="Helvetica" panose="020B0604020202020204" pitchFamily="34"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529886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2</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46</a:t>
            </a:fld>
            <a:endParaRPr lang="en-US" altLang="en-US"/>
          </a:p>
        </p:txBody>
      </p:sp>
    </p:spTree>
    <p:extLst>
      <p:ext uri="{BB962C8B-B14F-4D97-AF65-F5344CB8AC3E}">
        <p14:creationId xmlns:p14="http://schemas.microsoft.com/office/powerpoint/2010/main" val="25333845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47</a:t>
            </a:fld>
            <a:endParaRPr lang="en-US" altLang="en-US"/>
          </a:p>
        </p:txBody>
      </p:sp>
    </p:spTree>
    <p:extLst>
      <p:ext uri="{BB962C8B-B14F-4D97-AF65-F5344CB8AC3E}">
        <p14:creationId xmlns:p14="http://schemas.microsoft.com/office/powerpoint/2010/main" val="40091117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48</a:t>
            </a:fld>
            <a:endParaRPr lang="en-US" altLang="en-US"/>
          </a:p>
        </p:txBody>
      </p:sp>
    </p:spTree>
    <p:extLst>
      <p:ext uri="{BB962C8B-B14F-4D97-AF65-F5344CB8AC3E}">
        <p14:creationId xmlns:p14="http://schemas.microsoft.com/office/powerpoint/2010/main" val="24920086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49</a:t>
            </a:fld>
            <a:endParaRPr lang="en-US" altLang="en-US"/>
          </a:p>
        </p:txBody>
      </p:sp>
    </p:spTree>
    <p:extLst>
      <p:ext uri="{BB962C8B-B14F-4D97-AF65-F5344CB8AC3E}">
        <p14:creationId xmlns:p14="http://schemas.microsoft.com/office/powerpoint/2010/main" val="4011627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or 3</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50</a:t>
            </a:fld>
            <a:endParaRPr lang="en-US" altLang="en-US"/>
          </a:p>
        </p:txBody>
      </p:sp>
    </p:spTree>
    <p:extLst>
      <p:ext uri="{BB962C8B-B14F-4D97-AF65-F5344CB8AC3E}">
        <p14:creationId xmlns:p14="http://schemas.microsoft.com/office/powerpoint/2010/main" val="14304003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51</a:t>
            </a:fld>
            <a:endParaRPr lang="en-US" altLang="en-US"/>
          </a:p>
        </p:txBody>
      </p:sp>
    </p:spTree>
    <p:extLst>
      <p:ext uri="{BB962C8B-B14F-4D97-AF65-F5344CB8AC3E}">
        <p14:creationId xmlns:p14="http://schemas.microsoft.com/office/powerpoint/2010/main" val="6952477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52</a:t>
            </a:fld>
            <a:endParaRPr lang="en-US" altLang="en-US"/>
          </a:p>
        </p:txBody>
      </p:sp>
    </p:spTree>
    <p:extLst>
      <p:ext uri="{BB962C8B-B14F-4D97-AF65-F5344CB8AC3E}">
        <p14:creationId xmlns:p14="http://schemas.microsoft.com/office/powerpoint/2010/main" val="41464943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53</a:t>
            </a:fld>
            <a:endParaRPr lang="en-US" altLang="en-US"/>
          </a:p>
        </p:txBody>
      </p:sp>
    </p:spTree>
    <p:extLst>
      <p:ext uri="{BB962C8B-B14F-4D97-AF65-F5344CB8AC3E}">
        <p14:creationId xmlns:p14="http://schemas.microsoft.com/office/powerpoint/2010/main" val="16239897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1, 2, 3</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54</a:t>
            </a:fld>
            <a:endParaRPr lang="en-US" altLang="en-US"/>
          </a:p>
        </p:txBody>
      </p:sp>
    </p:spTree>
    <p:extLst>
      <p:ext uri="{BB962C8B-B14F-4D97-AF65-F5344CB8AC3E}">
        <p14:creationId xmlns:p14="http://schemas.microsoft.com/office/powerpoint/2010/main" val="41783806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concurrently, in parallel requires distinct kernel threads (many-to-one means threads stay in user space)</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55</a:t>
            </a:fld>
            <a:endParaRPr lang="en-US" altLang="en-US"/>
          </a:p>
        </p:txBody>
      </p:sp>
    </p:spTree>
    <p:extLst>
      <p:ext uri="{BB962C8B-B14F-4D97-AF65-F5344CB8AC3E}">
        <p14:creationId xmlns:p14="http://schemas.microsoft.com/office/powerpoint/2010/main" val="21376501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stop a thread execution until another thread has completed, to join a thread.</a:t>
            </a:r>
          </a:p>
          <a:p>
            <a:endParaRPr lang="en-US" dirty="0"/>
          </a:p>
          <a:p>
            <a:r>
              <a:rPr lang="en-US" dirty="0"/>
              <a:t>What the students should show through their code is that they are aware that each thread has an id, that you need to keep track of it to call join, that you need to pass parameters when you create a thread about its attributes, as well as the function to be run and that you need to join, especially if you are then trying to operate on a shared variable.</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56</a:t>
            </a:fld>
            <a:endParaRPr lang="en-US" altLang="en-US"/>
          </a:p>
        </p:txBody>
      </p:sp>
    </p:spTree>
    <p:extLst>
      <p:ext uri="{BB962C8B-B14F-4D97-AF65-F5344CB8AC3E}">
        <p14:creationId xmlns:p14="http://schemas.microsoft.com/office/powerpoint/2010/main" val="34206661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point is that if you want to use multiple cores to run a program, you can design the program to have multiple processes that communicate with IPC. Might be not as efficient as threads, but it works (and is modular, good from fault tolerance perspective). Multithreaded processes are not the only way to enable the leveraging of multi-core architectures.</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57</a:t>
            </a:fld>
            <a:endParaRPr lang="en-US" altLang="en-US"/>
          </a:p>
        </p:txBody>
      </p:sp>
    </p:spTree>
    <p:extLst>
      <p:ext uri="{BB962C8B-B14F-4D97-AF65-F5344CB8AC3E}">
        <p14:creationId xmlns:p14="http://schemas.microsoft.com/office/powerpoint/2010/main" val="484348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Threads</a:t>
            </a:r>
          </a:p>
        </p:txBody>
      </p:sp>
      <p:sp>
        <p:nvSpPr>
          <p:cNvPr id="6" name="Slide Number Placeholder 5"/>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3492721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Threads</a:t>
            </a:r>
          </a:p>
        </p:txBody>
      </p:sp>
      <p:sp>
        <p:nvSpPr>
          <p:cNvPr id="6" name="Slide Number Placeholder 5"/>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37242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Threads</a:t>
            </a:r>
          </a:p>
        </p:txBody>
      </p:sp>
      <p:sp>
        <p:nvSpPr>
          <p:cNvPr id="6" name="Slide Number Placeholder 5"/>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2051613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Threads</a:t>
            </a:r>
          </a:p>
        </p:txBody>
      </p:sp>
      <p:sp>
        <p:nvSpPr>
          <p:cNvPr id="7" name="Slide Number Placeholder 6"/>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2615983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Vincenzo Gulisano</a:t>
            </a:r>
          </a:p>
        </p:txBody>
      </p:sp>
      <p:sp>
        <p:nvSpPr>
          <p:cNvPr id="8" name="Footer Placeholder 7"/>
          <p:cNvSpPr>
            <a:spLocks noGrp="1"/>
          </p:cNvSpPr>
          <p:nvPr>
            <p:ph type="ftr" sz="quarter" idx="11"/>
          </p:nvPr>
        </p:nvSpPr>
        <p:spPr/>
        <p:txBody>
          <a:bodyPr/>
          <a:lstStyle/>
          <a:p>
            <a:r>
              <a:rPr lang="en-US"/>
              <a:t>Operating Systems - Threads</a:t>
            </a:r>
          </a:p>
        </p:txBody>
      </p:sp>
      <p:sp>
        <p:nvSpPr>
          <p:cNvPr id="9" name="Slide Number Placeholder 8"/>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3331045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Vincenzo Gulisano</a:t>
            </a:r>
          </a:p>
        </p:txBody>
      </p:sp>
      <p:sp>
        <p:nvSpPr>
          <p:cNvPr id="4" name="Footer Placeholder 3"/>
          <p:cNvSpPr>
            <a:spLocks noGrp="1"/>
          </p:cNvSpPr>
          <p:nvPr>
            <p:ph type="ftr" sz="quarter" idx="11"/>
          </p:nvPr>
        </p:nvSpPr>
        <p:spPr/>
        <p:txBody>
          <a:bodyPr/>
          <a:lstStyle/>
          <a:p>
            <a:r>
              <a:rPr lang="en-US"/>
              <a:t>Operating Systems - Threads</a:t>
            </a:r>
          </a:p>
        </p:txBody>
      </p:sp>
      <p:sp>
        <p:nvSpPr>
          <p:cNvPr id="5" name="Slide Number Placeholder 4"/>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3723920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976592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Threads</a:t>
            </a:r>
          </a:p>
        </p:txBody>
      </p:sp>
      <p:sp>
        <p:nvSpPr>
          <p:cNvPr id="7" name="Slide Number Placeholder 6"/>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1943748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Threads</a:t>
            </a:r>
          </a:p>
        </p:txBody>
      </p:sp>
      <p:sp>
        <p:nvSpPr>
          <p:cNvPr id="7" name="Slide Number Placeholder 6"/>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1713702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Threads</a:t>
            </a:r>
          </a:p>
        </p:txBody>
      </p:sp>
      <p:sp>
        <p:nvSpPr>
          <p:cNvPr id="6" name="Slide Number Placeholder 5"/>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2471492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Threads</a:t>
            </a:r>
          </a:p>
        </p:txBody>
      </p:sp>
      <p:sp>
        <p:nvSpPr>
          <p:cNvPr id="6" name="Slide Number Placeholder 5"/>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3537686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789811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Vincenzo Gulisano</a:t>
            </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Operating Systems - Threads</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D69D4BF-17B8-4416-83AD-33398895AAF4}" type="slidenum">
              <a:rPr lang="en-US" smtClean="0"/>
              <a:t>‹#›</a:t>
            </a:fld>
            <a:endParaRPr lang="en-US"/>
          </a:p>
        </p:txBody>
      </p:sp>
    </p:spTree>
    <p:extLst>
      <p:ext uri="{BB962C8B-B14F-4D97-AF65-F5344CB8AC3E}">
        <p14:creationId xmlns:p14="http://schemas.microsoft.com/office/powerpoint/2010/main" val="3620505976"/>
      </p:ext>
    </p:extLst>
  </p:cSld>
  <p:clrMap bg1="lt1" tx1="dk1" bg2="lt2" tx2="dk2" accent1="accent1" accent2="accent2" accent3="accent3" accent4="accent4" accent5="accent5" accent6="accent6" hlink="hlink" folHlink="folHlink"/>
  <p:sldLayoutIdLst>
    <p:sldLayoutId id="2147484049" r:id="rId1"/>
    <p:sldLayoutId id="2147484050" r:id="rId2"/>
    <p:sldLayoutId id="2147484051" r:id="rId3"/>
    <p:sldLayoutId id="2147484052" r:id="rId4"/>
    <p:sldLayoutId id="2147484053" r:id="rId5"/>
    <p:sldLayoutId id="2147484054" r:id="rId6"/>
    <p:sldLayoutId id="2147484055" r:id="rId7"/>
    <p:sldLayoutId id="2147484056" r:id="rId8"/>
    <p:sldLayoutId id="2147484057" r:id="rId9"/>
    <p:sldLayoutId id="2147484058" r:id="rId10"/>
    <p:sldLayoutId id="2147484059" r:id="rId11"/>
    <p:sldLayoutId id="2147484060" r:id="rId12"/>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tiff"/><Relationship Id="rId4" Type="http://schemas.openxmlformats.org/officeDocument/2006/relationships/image" Target="../media/image4.tif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632460" y="1424940"/>
            <a:ext cx="7772400" cy="2127250"/>
          </a:xfrm>
          <a:prstGeom prst="rect">
            <a:avLst/>
          </a:prstGeom>
        </p:spPr>
        <p:txBody>
          <a:bodyPr vert="horz" lIns="91440" tIns="45720" rIns="91440" bIns="45720" rtlCol="0" anchor="ctr">
            <a:normAutofit fontScale="90000" lnSpcReduction="10000"/>
          </a:bodyPr>
          <a:lstStyle>
            <a:lvl1pPr algn="l" defTabSz="685800" rtl="0" eaLnBrk="1" latinLnBrk="0" hangingPunct="1">
              <a:lnSpc>
                <a:spcPct val="90000"/>
              </a:lnSpc>
              <a:spcBef>
                <a:spcPct val="0"/>
              </a:spcBef>
              <a:buNone/>
              <a:defRPr sz="4300" kern="1200">
                <a:solidFill>
                  <a:schemeClr val="tx1"/>
                </a:solidFill>
                <a:latin typeface="+mj-lt"/>
                <a:ea typeface="+mj-ea"/>
                <a:cs typeface="+mj-cs"/>
              </a:defRPr>
            </a:lvl1pPr>
          </a:lstStyle>
          <a:p>
            <a:pPr fontAlgn="auto">
              <a:spcAft>
                <a:spcPts val="0"/>
              </a:spcAft>
            </a:pPr>
            <a:r>
              <a:rPr lang="en-US" sz="4000" dirty="0"/>
              <a:t>Threads</a:t>
            </a:r>
            <a:br>
              <a:rPr lang="en-US" altLang="en-US" sz="4000" dirty="0"/>
            </a:br>
            <a:r>
              <a:rPr lang="en-US" altLang="en-US" sz="4000" dirty="0"/>
              <a:t>Operating Systems – EDA093/DIT401</a:t>
            </a:r>
            <a:br>
              <a:rPr lang="en-US" altLang="en-US" dirty="0"/>
            </a:br>
            <a:br>
              <a:rPr lang="en-US" altLang="en-US" dirty="0"/>
            </a:br>
            <a:r>
              <a:rPr lang="en-US" altLang="en-US" sz="3200" dirty="0"/>
              <a:t>Vincenzo Gulisano</a:t>
            </a:r>
            <a:br>
              <a:rPr lang="en-US" altLang="en-US" sz="3200" dirty="0"/>
            </a:br>
            <a:r>
              <a:rPr lang="en-US" altLang="en-US" sz="2000" dirty="0"/>
              <a:t>vincenzo.gulisano@chalmers.se</a:t>
            </a:r>
            <a:endParaRPr lang="en-US" altLang="en-US" sz="2700" dirty="0"/>
          </a:p>
        </p:txBody>
      </p:sp>
      <p:grpSp>
        <p:nvGrpSpPr>
          <p:cNvPr id="2" name="Group 1">
            <a:extLst>
              <a:ext uri="{FF2B5EF4-FFF2-40B4-BE49-F238E27FC236}">
                <a16:creationId xmlns:a16="http://schemas.microsoft.com/office/drawing/2014/main" id="{2F0954AD-014F-D70D-D571-05ED1FF3D817}"/>
              </a:ext>
            </a:extLst>
          </p:cNvPr>
          <p:cNvGrpSpPr/>
          <p:nvPr/>
        </p:nvGrpSpPr>
        <p:grpSpPr>
          <a:xfrm>
            <a:off x="1019614" y="4659360"/>
            <a:ext cx="7104771" cy="1547400"/>
            <a:chOff x="777241" y="4793437"/>
            <a:chExt cx="7104771" cy="1547400"/>
          </a:xfrm>
        </p:grpSpPr>
        <p:pic>
          <p:nvPicPr>
            <p:cNvPr id="3" name="Picture 2">
              <a:extLst>
                <a:ext uri="{FF2B5EF4-FFF2-40B4-BE49-F238E27FC236}">
                  <a16:creationId xmlns:a16="http://schemas.microsoft.com/office/drawing/2014/main" id="{6536FB39-4DFD-B40B-E1DB-FD3D1209C1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022" y="4793437"/>
              <a:ext cx="2078990" cy="15474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A8FDD09-4B79-4233-ADA9-FBA032D03856}"/>
                </a:ext>
              </a:extLst>
            </p:cNvPr>
            <p:cNvPicPr>
              <a:picLocks noChangeAspect="1"/>
            </p:cNvPicPr>
            <p:nvPr/>
          </p:nvPicPr>
          <p:blipFill>
            <a:blip r:embed="rId4"/>
            <a:stretch>
              <a:fillRect/>
            </a:stretch>
          </p:blipFill>
          <p:spPr>
            <a:xfrm>
              <a:off x="777241" y="4973870"/>
              <a:ext cx="4724632" cy="1186535"/>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read (main textbook)</a:t>
            </a:r>
          </a:p>
        </p:txBody>
      </p:sp>
      <p:sp>
        <p:nvSpPr>
          <p:cNvPr id="3" name="Date Placeholder 2"/>
          <p:cNvSpPr>
            <a:spLocks noGrp="1"/>
          </p:cNvSpPr>
          <p:nvPr>
            <p:ph type="dt" sz="half" idx="10"/>
          </p:nvPr>
        </p:nvSpPr>
        <p:spPr/>
        <p:txBody>
          <a:bodyPr/>
          <a:lstStyle/>
          <a:p>
            <a:r>
              <a:rPr lang="en-US"/>
              <a:t>Vincenzo Gulisano</a:t>
            </a:r>
          </a:p>
        </p:txBody>
      </p:sp>
      <p:sp>
        <p:nvSpPr>
          <p:cNvPr id="4" name="Footer Placeholder 3"/>
          <p:cNvSpPr>
            <a:spLocks noGrp="1"/>
          </p:cNvSpPr>
          <p:nvPr>
            <p:ph type="ftr" sz="quarter" idx="11"/>
          </p:nvPr>
        </p:nvSpPr>
        <p:spPr/>
        <p:txBody>
          <a:bodyPr/>
          <a:lstStyle/>
          <a:p>
            <a:r>
              <a:rPr lang="en-US"/>
              <a:t>Operating Systems - Threads</a:t>
            </a:r>
          </a:p>
        </p:txBody>
      </p:sp>
      <p:sp>
        <p:nvSpPr>
          <p:cNvPr id="5" name="Slide Number Placeholder 4"/>
          <p:cNvSpPr>
            <a:spLocks noGrp="1"/>
          </p:cNvSpPr>
          <p:nvPr>
            <p:ph type="sldNum" sz="quarter" idx="12"/>
          </p:nvPr>
        </p:nvSpPr>
        <p:spPr/>
        <p:txBody>
          <a:bodyPr/>
          <a:lstStyle/>
          <a:p>
            <a:fld id="{2D69D4BF-17B8-4416-83AD-33398895AAF4}" type="slidenum">
              <a:rPr lang="en-US" smtClean="0"/>
              <a:t>2</a:t>
            </a:fld>
            <a:endParaRPr lang="en-US"/>
          </a:p>
        </p:txBody>
      </p:sp>
      <p:sp>
        <p:nvSpPr>
          <p:cNvPr id="6" name="Content Placeholder 2"/>
          <p:cNvSpPr txBox="1">
            <a:spLocks/>
          </p:cNvSpPr>
          <p:nvPr/>
        </p:nvSpPr>
        <p:spPr>
          <a:xfrm>
            <a:off x="806450" y="1233488"/>
            <a:ext cx="6940550" cy="453072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endParaRPr lang="en-US" altLang="en-US" dirty="0"/>
          </a:p>
          <a:p>
            <a:pPr fontAlgn="auto">
              <a:spcAft>
                <a:spcPts val="0"/>
              </a:spcAft>
            </a:pPr>
            <a:r>
              <a:rPr lang="en-US" altLang="en-US" dirty="0"/>
              <a:t>Chapter 2.2, 10.3.3*</a:t>
            </a:r>
            <a:br>
              <a:rPr lang="en-US" dirty="0"/>
            </a:br>
            <a:endParaRPr lang="en-US" dirty="0"/>
          </a:p>
          <a:p>
            <a:pPr marL="0" indent="0" fontAlgn="auto">
              <a:spcAft>
                <a:spcPts val="0"/>
              </a:spcAft>
              <a:buNone/>
            </a:pPr>
            <a:r>
              <a:rPr lang="en-US" sz="1800" dirty="0"/>
              <a:t>*Some concepts will be covered later on (e.g., Copy-on-Write)</a:t>
            </a:r>
          </a:p>
          <a:p>
            <a:pPr marL="0" indent="0" fontAlgn="auto">
              <a:spcAft>
                <a:spcPts val="0"/>
              </a:spcAft>
              <a:buNone/>
            </a:pPr>
            <a:br>
              <a:rPr lang="en-US" dirty="0"/>
            </a:br>
            <a:r>
              <a:rPr lang="en-US" dirty="0"/>
              <a:t>(extra facultative reading: 4.1-4.3, 4.4.1, 4.5-4.6 from </a:t>
            </a:r>
            <a:r>
              <a:rPr lang="en-US" dirty="0" err="1"/>
              <a:t>Silberschatz</a:t>
            </a:r>
            <a:r>
              <a:rPr lang="en-US" dirty="0"/>
              <a:t> Operating System Concepts)</a:t>
            </a:r>
            <a:endParaRPr lang="en-US" altLang="en-US" dirty="0"/>
          </a:p>
        </p:txBody>
      </p:sp>
    </p:spTree>
    <p:extLst>
      <p:ext uri="{BB962C8B-B14F-4D97-AF65-F5344CB8AC3E}">
        <p14:creationId xmlns:p14="http://schemas.microsoft.com/office/powerpoint/2010/main" val="125369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altLang="en-US"/>
              <a:t>Objectives</a:t>
            </a:r>
          </a:p>
        </p:txBody>
      </p:sp>
      <p:sp>
        <p:nvSpPr>
          <p:cNvPr id="5123" name="Content Placeholder 2"/>
          <p:cNvSpPr>
            <a:spLocks noGrp="1"/>
          </p:cNvSpPr>
          <p:nvPr>
            <p:ph idx="1"/>
          </p:nvPr>
        </p:nvSpPr>
        <p:spPr>
          <a:xfrm>
            <a:off x="806450" y="1233488"/>
            <a:ext cx="6940550" cy="4530725"/>
          </a:xfrm>
        </p:spPr>
        <p:txBody>
          <a:bodyPr/>
          <a:lstStyle/>
          <a:p>
            <a:r>
              <a:rPr lang="en-US" altLang="en-US" dirty="0"/>
              <a:t>To introduce the notion of a thread—a fundamental unit of CPU utilization that forms the basis of multithreaded computer systems</a:t>
            </a:r>
          </a:p>
          <a:p>
            <a:r>
              <a:rPr lang="en-US" altLang="en-US" dirty="0"/>
              <a:t>To discuss the APIs for the </a:t>
            </a:r>
            <a:r>
              <a:rPr lang="en-US" altLang="en-US" dirty="0" err="1"/>
              <a:t>Pthreads</a:t>
            </a:r>
            <a:r>
              <a:rPr lang="en-US" altLang="en-US" dirty="0"/>
              <a:t>, Windows, and Java thread libraries</a:t>
            </a:r>
          </a:p>
          <a:p>
            <a:r>
              <a:rPr lang="en-US" altLang="en-US" dirty="0"/>
              <a:t>To explore several strategies that provide implicit threading</a:t>
            </a:r>
          </a:p>
          <a:p>
            <a:r>
              <a:rPr lang="en-US" altLang="en-US" dirty="0"/>
              <a:t>To examine issues related to multithreaded programming</a:t>
            </a:r>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endParaRPr lang="en-US" dirty="0"/>
          </a:p>
        </p:txBody>
      </p:sp>
      <p:sp>
        <p:nvSpPr>
          <p:cNvPr id="3" name="Content Placeholder 2"/>
          <p:cNvSpPr>
            <a:spLocks noGrp="1"/>
          </p:cNvSpPr>
          <p:nvPr>
            <p:ph idx="1"/>
          </p:nvPr>
        </p:nvSpPr>
        <p:spPr/>
        <p:txBody>
          <a:bodyPr/>
          <a:lstStyle/>
          <a:p>
            <a:r>
              <a:rPr lang="en-US" dirty="0"/>
              <a:t>Threads (Introduction)</a:t>
            </a:r>
          </a:p>
          <a:p>
            <a:r>
              <a:rPr lang="en-US" dirty="0"/>
              <a:t>Multithreading models</a:t>
            </a:r>
          </a:p>
          <a:p>
            <a:r>
              <a:rPr lang="en-US" dirty="0"/>
              <a:t>Implicit threading</a:t>
            </a:r>
          </a:p>
          <a:p>
            <a:r>
              <a:rPr lang="en-US" dirty="0"/>
              <a:t>Threading issues</a:t>
            </a:r>
          </a:p>
        </p:txBody>
      </p:sp>
      <p:sp>
        <p:nvSpPr>
          <p:cNvPr id="4" name="Footer Placeholder 3"/>
          <p:cNvSpPr>
            <a:spLocks noGrp="1"/>
          </p:cNvSpPr>
          <p:nvPr>
            <p:ph type="ftr" sz="quarter" idx="11"/>
          </p:nvPr>
        </p:nvSpPr>
        <p:spPr/>
        <p:txBody>
          <a:bodyPr/>
          <a:lstStyle/>
          <a:p>
            <a:r>
              <a:rPr lang="en-US"/>
              <a:t>Operating Systems - Threads</a:t>
            </a:r>
          </a:p>
        </p:txBody>
      </p:sp>
      <p:sp>
        <p:nvSpPr>
          <p:cNvPr id="5" name="Slide Number Placeholder 4"/>
          <p:cNvSpPr>
            <a:spLocks noGrp="1"/>
          </p:cNvSpPr>
          <p:nvPr>
            <p:ph type="sldNum" sz="quarter" idx="12"/>
          </p:nvPr>
        </p:nvSpPr>
        <p:spPr/>
        <p:txBody>
          <a:bodyPr/>
          <a:lstStyle/>
          <a:p>
            <a:fld id="{95AAEEEC-DCEC-4178-AB14-E7254A15A296}" type="slidenum">
              <a:rPr lang="en-US" smtClean="0"/>
              <a:pPr/>
              <a:t>4</a:t>
            </a:fld>
            <a:endParaRPr lang="en-US"/>
          </a:p>
        </p:txBody>
      </p:sp>
      <p:sp>
        <p:nvSpPr>
          <p:cNvPr id="10" name="Date Placeholder 9"/>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333491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endParaRPr lang="en-US" dirty="0"/>
          </a:p>
        </p:txBody>
      </p:sp>
      <p:sp>
        <p:nvSpPr>
          <p:cNvPr id="3" name="Content Placeholder 2"/>
          <p:cNvSpPr>
            <a:spLocks noGrp="1"/>
          </p:cNvSpPr>
          <p:nvPr>
            <p:ph idx="1"/>
          </p:nvPr>
        </p:nvSpPr>
        <p:spPr/>
        <p:txBody>
          <a:bodyPr/>
          <a:lstStyle/>
          <a:p>
            <a:r>
              <a:rPr lang="en-US" dirty="0"/>
              <a:t>Threads (Introduction)</a:t>
            </a:r>
          </a:p>
          <a:p>
            <a:r>
              <a:rPr lang="en-US" dirty="0">
                <a:solidFill>
                  <a:schemeClr val="bg2">
                    <a:lumMod val="90000"/>
                  </a:schemeClr>
                </a:solidFill>
              </a:rPr>
              <a:t>Multithreading models</a:t>
            </a:r>
          </a:p>
          <a:p>
            <a:r>
              <a:rPr lang="en-US" dirty="0">
                <a:solidFill>
                  <a:schemeClr val="bg2">
                    <a:lumMod val="90000"/>
                  </a:schemeClr>
                </a:solidFill>
              </a:rPr>
              <a:t>Implicit threading</a:t>
            </a:r>
          </a:p>
          <a:p>
            <a:r>
              <a:rPr lang="en-US" dirty="0">
                <a:solidFill>
                  <a:schemeClr val="bg2">
                    <a:lumMod val="90000"/>
                  </a:schemeClr>
                </a:solidFill>
              </a:rPr>
              <a:t>Threading issues</a:t>
            </a:r>
          </a:p>
        </p:txBody>
      </p:sp>
      <p:sp>
        <p:nvSpPr>
          <p:cNvPr id="4" name="Footer Placeholder 3"/>
          <p:cNvSpPr>
            <a:spLocks noGrp="1"/>
          </p:cNvSpPr>
          <p:nvPr>
            <p:ph type="ftr" sz="quarter" idx="11"/>
          </p:nvPr>
        </p:nvSpPr>
        <p:spPr/>
        <p:txBody>
          <a:bodyPr/>
          <a:lstStyle/>
          <a:p>
            <a:r>
              <a:rPr lang="en-US"/>
              <a:t>Operating Systems - Threads</a:t>
            </a:r>
          </a:p>
        </p:txBody>
      </p:sp>
      <p:sp>
        <p:nvSpPr>
          <p:cNvPr id="5" name="Slide Number Placeholder 4"/>
          <p:cNvSpPr>
            <a:spLocks noGrp="1"/>
          </p:cNvSpPr>
          <p:nvPr>
            <p:ph type="sldNum" sz="quarter" idx="12"/>
          </p:nvPr>
        </p:nvSpPr>
        <p:spPr/>
        <p:txBody>
          <a:bodyPr/>
          <a:lstStyle/>
          <a:p>
            <a:fld id="{95AAEEEC-DCEC-4178-AB14-E7254A15A296}" type="slidenum">
              <a:rPr lang="en-US" smtClean="0"/>
              <a:pPr/>
              <a:t>5</a:t>
            </a:fld>
            <a:endParaRPr lang="en-US"/>
          </a:p>
        </p:txBody>
      </p:sp>
      <p:sp>
        <p:nvSpPr>
          <p:cNvPr id="10" name="Date Placeholder 9"/>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12273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986803"/>
            <a:ext cx="7886700" cy="3503169"/>
          </a:xfrm>
        </p:spPr>
        <p:txBody>
          <a:bodyPr/>
          <a:lstStyle/>
          <a:p>
            <a:pPr marL="385763" indent="-385763">
              <a:buFont typeface="+mj-lt"/>
              <a:buAutoNum type="arabicPeriod"/>
            </a:pPr>
            <a:r>
              <a:rPr lang="en-US" dirty="0"/>
              <a:t>We run several programs at </a:t>
            </a:r>
            <a:br>
              <a:rPr lang="en-US" dirty="0"/>
            </a:br>
            <a:r>
              <a:rPr lang="en-US" dirty="0"/>
              <a:t>the same time </a:t>
            </a:r>
          </a:p>
          <a:p>
            <a:pPr marL="385763" indent="-385763">
              <a:buFont typeface="+mj-lt"/>
              <a:buAutoNum type="arabicPeriod"/>
            </a:pPr>
            <a:endParaRPr lang="en-US" dirty="0"/>
          </a:p>
          <a:p>
            <a:pPr marL="385763" indent="-385763">
              <a:buFont typeface="+mj-lt"/>
              <a:buAutoNum type="arabicPeriod"/>
            </a:pPr>
            <a:endParaRPr lang="en-US" dirty="0"/>
          </a:p>
          <a:p>
            <a:pPr marL="385763" indent="-385763">
              <a:buFont typeface="+mj-lt"/>
              <a:buAutoNum type="arabicPeriod"/>
            </a:pPr>
            <a:endParaRPr lang="en-US" dirty="0"/>
          </a:p>
          <a:p>
            <a:pPr marL="385763" indent="-385763">
              <a:buFont typeface="+mj-lt"/>
              <a:buAutoNum type="arabicPeriod"/>
            </a:pPr>
            <a:endParaRPr lang="en-US" dirty="0"/>
          </a:p>
          <a:p>
            <a:pPr marL="385763" indent="-385763">
              <a:buFont typeface="+mj-lt"/>
              <a:buAutoNum type="arabicPeriod"/>
            </a:pPr>
            <a:r>
              <a:rPr lang="en-US" dirty="0"/>
              <a:t>One CPU can only run one</a:t>
            </a:r>
            <a:br>
              <a:rPr lang="en-US" dirty="0"/>
            </a:br>
            <a:r>
              <a:rPr lang="en-US" dirty="0"/>
              <a:t> program at a time</a:t>
            </a:r>
          </a:p>
        </p:txBody>
      </p:sp>
      <p:pic>
        <p:nvPicPr>
          <p:cNvPr id="5" name="Picture 4"/>
          <p:cNvPicPr>
            <a:picLocks noChangeAspect="1"/>
          </p:cNvPicPr>
          <p:nvPr/>
        </p:nvPicPr>
        <p:blipFill>
          <a:blip r:embed="rId3"/>
          <a:stretch>
            <a:fillRect/>
          </a:stretch>
        </p:blipFill>
        <p:spPr>
          <a:xfrm>
            <a:off x="4978774" y="1279543"/>
            <a:ext cx="3133165" cy="2104670"/>
          </a:xfrm>
          <a:prstGeom prst="rect">
            <a:avLst/>
          </a:prstGeom>
        </p:spPr>
      </p:pic>
      <p:grpSp>
        <p:nvGrpSpPr>
          <p:cNvPr id="2" name="Group 1"/>
          <p:cNvGrpSpPr/>
          <p:nvPr/>
        </p:nvGrpSpPr>
        <p:grpSpPr>
          <a:xfrm>
            <a:off x="4680418" y="3770026"/>
            <a:ext cx="4187555" cy="1307063"/>
            <a:chOff x="6240556" y="3883700"/>
            <a:chExt cx="5583407" cy="1742751"/>
          </a:xfrm>
        </p:grpSpPr>
        <p:pic>
          <p:nvPicPr>
            <p:cNvPr id="6" name="Picture 5"/>
            <p:cNvPicPr>
              <a:picLocks noChangeAspect="1"/>
            </p:cNvPicPr>
            <p:nvPr/>
          </p:nvPicPr>
          <p:blipFill>
            <a:blip r:embed="rId4"/>
            <a:stretch>
              <a:fillRect/>
            </a:stretch>
          </p:blipFill>
          <p:spPr>
            <a:xfrm>
              <a:off x="6240556" y="3901747"/>
              <a:ext cx="1706656" cy="1706656"/>
            </a:xfrm>
            <a:prstGeom prst="rect">
              <a:avLst/>
            </a:prstGeom>
          </p:spPr>
        </p:pic>
        <p:pic>
          <p:nvPicPr>
            <p:cNvPr id="7" name="Picture 6"/>
            <p:cNvPicPr>
              <a:picLocks noChangeAspect="1"/>
            </p:cNvPicPr>
            <p:nvPr/>
          </p:nvPicPr>
          <p:blipFill>
            <a:blip r:embed="rId5"/>
            <a:stretch>
              <a:fillRect/>
            </a:stretch>
          </p:blipFill>
          <p:spPr>
            <a:xfrm>
              <a:off x="9507070" y="3883700"/>
              <a:ext cx="2316893" cy="1742751"/>
            </a:xfrm>
            <a:prstGeom prst="rect">
              <a:avLst/>
            </a:prstGeom>
          </p:spPr>
        </p:pic>
        <p:sp>
          <p:nvSpPr>
            <p:cNvPr id="8" name="Right Arrow 7"/>
            <p:cNvSpPr/>
            <p:nvPr/>
          </p:nvSpPr>
          <p:spPr>
            <a:xfrm>
              <a:off x="8237937" y="4512759"/>
              <a:ext cx="978408"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grpSp>
      <p:sp>
        <p:nvSpPr>
          <p:cNvPr id="4" name="Date Placeholder 3"/>
          <p:cNvSpPr>
            <a:spLocks noGrp="1"/>
          </p:cNvSpPr>
          <p:nvPr>
            <p:ph type="dt" sz="half" idx="10"/>
          </p:nvPr>
        </p:nvSpPr>
        <p:spPr/>
        <p:txBody>
          <a:bodyPr/>
          <a:lstStyle/>
          <a:p>
            <a:r>
              <a:rPr lang="en-US"/>
              <a:t>Vincenzo Gulisano</a:t>
            </a:r>
          </a:p>
        </p:txBody>
      </p:sp>
      <p:sp>
        <p:nvSpPr>
          <p:cNvPr id="9" name="Footer Placeholder 8"/>
          <p:cNvSpPr>
            <a:spLocks noGrp="1"/>
          </p:cNvSpPr>
          <p:nvPr>
            <p:ph type="ftr" sz="quarter" idx="11"/>
          </p:nvPr>
        </p:nvSpPr>
        <p:spPr/>
        <p:txBody>
          <a:bodyPr/>
          <a:lstStyle/>
          <a:p>
            <a:r>
              <a:rPr lang="en-US"/>
              <a:t>Operating Systems - Threads</a:t>
            </a:r>
          </a:p>
        </p:txBody>
      </p:sp>
      <p:sp>
        <p:nvSpPr>
          <p:cNvPr id="10" name="Slide Number Placeholder 9"/>
          <p:cNvSpPr>
            <a:spLocks noGrp="1"/>
          </p:cNvSpPr>
          <p:nvPr>
            <p:ph type="sldNum" sz="quarter" idx="12"/>
          </p:nvPr>
        </p:nvSpPr>
        <p:spPr/>
        <p:txBody>
          <a:bodyPr/>
          <a:lstStyle/>
          <a:p>
            <a:fld id="{2D69D4BF-17B8-4416-83AD-33398895AAF4}" type="slidenum">
              <a:rPr lang="en-US" smtClean="0"/>
              <a:t>6</a:t>
            </a:fld>
            <a:endParaRPr lang="en-US"/>
          </a:p>
        </p:txBody>
      </p:sp>
    </p:spTree>
    <p:extLst>
      <p:ext uri="{BB962C8B-B14F-4D97-AF65-F5344CB8AC3E}">
        <p14:creationId xmlns:p14="http://schemas.microsoft.com/office/powerpoint/2010/main" val="608517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77920" y="2817156"/>
            <a:ext cx="3637430" cy="2723030"/>
          </a:xfrm>
        </p:spPr>
        <p:txBody>
          <a:bodyPr/>
          <a:lstStyle/>
          <a:p>
            <a:pPr marL="385763" indent="-385763">
              <a:buFont typeface="+mj-lt"/>
              <a:buAutoNum type="arabicPeriod"/>
            </a:pPr>
            <a:r>
              <a:rPr lang="en-US" dirty="0"/>
              <a:t>We feel several programs run at the same time </a:t>
            </a:r>
          </a:p>
          <a:p>
            <a:pPr marL="385763" indent="-385763">
              <a:buFont typeface="+mj-lt"/>
              <a:buAutoNum type="arabicPeriod"/>
            </a:pPr>
            <a:endParaRPr lang="en-US" dirty="0"/>
          </a:p>
          <a:p>
            <a:pPr marL="385763" indent="-385763">
              <a:buFont typeface="+mj-lt"/>
              <a:buAutoNum type="arabicPeriod"/>
            </a:pPr>
            <a:endParaRPr lang="en-US" dirty="0"/>
          </a:p>
          <a:p>
            <a:pPr marL="385763" indent="-385763">
              <a:buFont typeface="+mj-lt"/>
              <a:buAutoNum type="arabicPeriod"/>
            </a:pPr>
            <a:r>
              <a:rPr lang="en-US" dirty="0"/>
              <a:t>Each CPU core can only run one program at the time</a:t>
            </a:r>
          </a:p>
          <a:p>
            <a:pPr marL="385763" indent="-385763">
              <a:buFont typeface="+mj-lt"/>
              <a:buAutoNum type="arabicPeriod"/>
            </a:pPr>
            <a:endParaRPr lang="en-US" dirty="0"/>
          </a:p>
        </p:txBody>
      </p:sp>
      <p:sp>
        <p:nvSpPr>
          <p:cNvPr id="9" name="Title 1"/>
          <p:cNvSpPr>
            <a:spLocks noGrp="1"/>
          </p:cNvSpPr>
          <p:nvPr>
            <p:ph type="title"/>
          </p:nvPr>
        </p:nvSpPr>
        <p:spPr>
          <a:xfrm>
            <a:off x="628650" y="1131094"/>
            <a:ext cx="7886700" cy="994172"/>
          </a:xfrm>
        </p:spPr>
        <p:txBody>
          <a:bodyPr/>
          <a:lstStyle/>
          <a:p>
            <a:r>
              <a:rPr lang="en-US" dirty="0"/>
              <a:t>Concurrent vs Parallel execution</a:t>
            </a:r>
          </a:p>
        </p:txBody>
      </p:sp>
      <p:sp>
        <p:nvSpPr>
          <p:cNvPr id="10" name="Content Placeholder 2"/>
          <p:cNvSpPr txBox="1">
            <a:spLocks/>
          </p:cNvSpPr>
          <p:nvPr/>
        </p:nvSpPr>
        <p:spPr>
          <a:xfrm>
            <a:off x="742950" y="2817157"/>
            <a:ext cx="3637430" cy="272303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5763" indent="-385763">
              <a:buFont typeface="+mj-lt"/>
              <a:buAutoNum type="arabicPeriod"/>
            </a:pPr>
            <a:r>
              <a:rPr lang="en-US" sz="2100" dirty="0"/>
              <a:t>We run several programs at </a:t>
            </a:r>
            <a:br>
              <a:rPr lang="en-US" sz="2100" dirty="0"/>
            </a:br>
            <a:r>
              <a:rPr lang="en-US" sz="2100" dirty="0"/>
              <a:t>the same time </a:t>
            </a:r>
          </a:p>
          <a:p>
            <a:pPr marL="385763" indent="-385763">
              <a:buFont typeface="+mj-lt"/>
              <a:buAutoNum type="arabicPeriod"/>
            </a:pPr>
            <a:endParaRPr lang="en-US" sz="2100" dirty="0"/>
          </a:p>
          <a:p>
            <a:pPr marL="385763" indent="-385763">
              <a:buFont typeface="+mj-lt"/>
              <a:buAutoNum type="arabicPeriod"/>
            </a:pPr>
            <a:endParaRPr lang="en-US" sz="2100" dirty="0"/>
          </a:p>
          <a:p>
            <a:pPr marL="385763" indent="-385763">
              <a:buFont typeface="+mj-lt"/>
              <a:buAutoNum type="arabicPeriod"/>
            </a:pPr>
            <a:r>
              <a:rPr lang="en-US" sz="2100" dirty="0"/>
              <a:t>One CPU can only run one</a:t>
            </a:r>
            <a:br>
              <a:rPr lang="en-US" sz="2100" dirty="0"/>
            </a:br>
            <a:r>
              <a:rPr lang="en-US" sz="2100" dirty="0"/>
              <a:t> program </a:t>
            </a:r>
            <a:r>
              <a:rPr lang="en-US" sz="2100"/>
              <a:t>at a </a:t>
            </a:r>
            <a:r>
              <a:rPr lang="en-US" sz="2100" dirty="0"/>
              <a:t>time</a:t>
            </a:r>
          </a:p>
        </p:txBody>
      </p:sp>
      <p:grpSp>
        <p:nvGrpSpPr>
          <p:cNvPr id="13" name="Group 12"/>
          <p:cNvGrpSpPr/>
          <p:nvPr/>
        </p:nvGrpSpPr>
        <p:grpSpPr>
          <a:xfrm>
            <a:off x="1109382" y="2817156"/>
            <a:ext cx="2904565" cy="692527"/>
            <a:chOff x="1528482" y="2689407"/>
            <a:chExt cx="3872753" cy="923369"/>
          </a:xfrm>
        </p:grpSpPr>
        <p:cxnSp>
          <p:nvCxnSpPr>
            <p:cNvPr id="4" name="Straight Connector 3"/>
            <p:cNvCxnSpPr/>
            <p:nvPr/>
          </p:nvCxnSpPr>
          <p:spPr>
            <a:xfrm flipV="1">
              <a:off x="1528482" y="2689407"/>
              <a:ext cx="3872753" cy="923369"/>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1" name="Straight Connector 10"/>
            <p:cNvCxnSpPr/>
            <p:nvPr/>
          </p:nvCxnSpPr>
          <p:spPr>
            <a:xfrm flipH="1" flipV="1">
              <a:off x="1528482" y="2689407"/>
              <a:ext cx="3872753" cy="923369"/>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grpSp>
      <p:sp>
        <p:nvSpPr>
          <p:cNvPr id="14" name="Right Arrow 13"/>
          <p:cNvSpPr/>
          <p:nvPr/>
        </p:nvSpPr>
        <p:spPr>
          <a:xfrm>
            <a:off x="4329718" y="2981681"/>
            <a:ext cx="467756" cy="363474"/>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grpSp>
        <p:nvGrpSpPr>
          <p:cNvPr id="12" name="Group 11"/>
          <p:cNvGrpSpPr/>
          <p:nvPr/>
        </p:nvGrpSpPr>
        <p:grpSpPr>
          <a:xfrm>
            <a:off x="1109382" y="4201571"/>
            <a:ext cx="2904565" cy="692527"/>
            <a:chOff x="1528482" y="2689407"/>
            <a:chExt cx="3872753" cy="923369"/>
          </a:xfrm>
        </p:grpSpPr>
        <p:cxnSp>
          <p:nvCxnSpPr>
            <p:cNvPr id="15" name="Straight Connector 14"/>
            <p:cNvCxnSpPr/>
            <p:nvPr/>
          </p:nvCxnSpPr>
          <p:spPr>
            <a:xfrm flipV="1">
              <a:off x="1528482" y="2689407"/>
              <a:ext cx="3872753" cy="923369"/>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6" name="Straight Connector 15"/>
            <p:cNvCxnSpPr/>
            <p:nvPr/>
          </p:nvCxnSpPr>
          <p:spPr>
            <a:xfrm flipH="1" flipV="1">
              <a:off x="1528482" y="2689407"/>
              <a:ext cx="3872753" cy="923369"/>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grpSp>
      <p:sp>
        <p:nvSpPr>
          <p:cNvPr id="17" name="Right Arrow 16"/>
          <p:cNvSpPr/>
          <p:nvPr/>
        </p:nvSpPr>
        <p:spPr>
          <a:xfrm>
            <a:off x="4329718" y="4366097"/>
            <a:ext cx="467756" cy="363474"/>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8" name="Content Placeholder 2"/>
          <p:cNvSpPr txBox="1">
            <a:spLocks/>
          </p:cNvSpPr>
          <p:nvPr/>
        </p:nvSpPr>
        <p:spPr>
          <a:xfrm>
            <a:off x="6049823" y="4977032"/>
            <a:ext cx="3637430" cy="375599"/>
          </a:xfrm>
          <a:prstGeom prst="rect">
            <a:avLst/>
          </a:prstGeom>
        </p:spPr>
        <p:txBody>
          <a:bodyPr vert="horz" lIns="91440" tIns="45720" rIns="91440" bIns="45720" rtlCol="0">
            <a:normAutofit fontScale="92500"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85763" marR="0" lvl="0" indent="-385763" defTabSz="914400" eaLnBrk="1" fontAlgn="auto" latinLnBrk="0" hangingPunct="1">
              <a:lnSpc>
                <a:spcPct val="100000"/>
              </a:lnSpc>
              <a:spcBef>
                <a:spcPts val="0"/>
              </a:spcBef>
              <a:spcAft>
                <a:spcPts val="0"/>
              </a:spcAft>
              <a:buClrTx/>
              <a:buSzTx/>
              <a:buFont typeface="+mj-lt"/>
              <a:buNone/>
              <a:tabLst/>
              <a:defRPr/>
            </a:pPr>
            <a:r>
              <a:rPr lang="en-US" dirty="0"/>
              <a:t>(This lecture)</a:t>
            </a:r>
          </a:p>
        </p:txBody>
      </p:sp>
      <p:sp>
        <p:nvSpPr>
          <p:cNvPr id="19" name="Content Placeholder 2"/>
          <p:cNvSpPr txBox="1">
            <a:spLocks/>
          </p:cNvSpPr>
          <p:nvPr/>
        </p:nvSpPr>
        <p:spPr>
          <a:xfrm>
            <a:off x="6049823" y="3509681"/>
            <a:ext cx="3637430" cy="375599"/>
          </a:xfrm>
          <a:prstGeom prst="rect">
            <a:avLst/>
          </a:prstGeom>
        </p:spPr>
        <p:txBody>
          <a:bodyPr vert="horz" lIns="91440" tIns="45720" rIns="91440" bIns="45720" rtlCol="0">
            <a:normAutofit fontScale="92500"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85763" marR="0" lvl="0" indent="-385763" defTabSz="914400" eaLnBrk="1" fontAlgn="auto" latinLnBrk="0" hangingPunct="1">
              <a:lnSpc>
                <a:spcPct val="100000"/>
              </a:lnSpc>
              <a:spcBef>
                <a:spcPts val="0"/>
              </a:spcBef>
              <a:spcAft>
                <a:spcPts val="0"/>
              </a:spcAft>
              <a:buClrTx/>
              <a:buSzTx/>
              <a:buFont typeface="+mj-lt"/>
              <a:buNone/>
              <a:tabLst/>
              <a:defRPr/>
            </a:pPr>
            <a:r>
              <a:rPr lang="en-US" dirty="0"/>
              <a:t>(Previous lecture)</a:t>
            </a:r>
          </a:p>
        </p:txBody>
      </p:sp>
      <p:sp>
        <p:nvSpPr>
          <p:cNvPr id="2" name="Date Placeholder 1"/>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Threads</a:t>
            </a:r>
          </a:p>
        </p:txBody>
      </p:sp>
      <p:sp>
        <p:nvSpPr>
          <p:cNvPr id="6" name="Slide Number Placeholder 5"/>
          <p:cNvSpPr>
            <a:spLocks noGrp="1"/>
          </p:cNvSpPr>
          <p:nvPr>
            <p:ph type="sldNum" sz="quarter" idx="12"/>
          </p:nvPr>
        </p:nvSpPr>
        <p:spPr/>
        <p:txBody>
          <a:bodyPr/>
          <a:lstStyle/>
          <a:p>
            <a:fld id="{2D69D4BF-17B8-4416-83AD-33398895AAF4}" type="slidenum">
              <a:rPr lang="en-US" smtClean="0"/>
              <a:t>7</a:t>
            </a:fld>
            <a:endParaRPr lang="en-US"/>
          </a:p>
        </p:txBody>
      </p:sp>
    </p:spTree>
    <p:extLst>
      <p:ext uri="{BB962C8B-B14F-4D97-AF65-F5344CB8AC3E}">
        <p14:creationId xmlns:p14="http://schemas.microsoft.com/office/powerpoint/2010/main" val="818822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basic CPU cycle</a:t>
            </a:r>
          </a:p>
        </p:txBody>
      </p:sp>
      <p:pic>
        <p:nvPicPr>
          <p:cNvPr id="5" name="Picture 4" descr="1_2"/>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2095500" y="2560638"/>
            <a:ext cx="4953000" cy="1160718"/>
          </a:xfrm>
          <a:prstGeom prst="rect">
            <a:avLst/>
          </a:prstGeom>
          <a:noFill/>
          <a:ln w="9525">
            <a:noFill/>
            <a:miter lim="800000"/>
            <a:headEnd/>
            <a:tailEnd/>
          </a:ln>
        </p:spPr>
      </p:pic>
      <p:sp>
        <p:nvSpPr>
          <p:cNvPr id="3" name="Date Placeholder 2"/>
          <p:cNvSpPr>
            <a:spLocks noGrp="1"/>
          </p:cNvSpPr>
          <p:nvPr>
            <p:ph type="dt" sz="half" idx="10"/>
          </p:nvPr>
        </p:nvSpPr>
        <p:spPr/>
        <p:txBody>
          <a:bodyPr/>
          <a:lstStyle/>
          <a:p>
            <a:r>
              <a:rPr lang="en-US"/>
              <a:t>Vincenzo Gulisano</a:t>
            </a:r>
          </a:p>
        </p:txBody>
      </p:sp>
      <p:sp>
        <p:nvSpPr>
          <p:cNvPr id="4" name="Footer Placeholder 3"/>
          <p:cNvSpPr>
            <a:spLocks noGrp="1"/>
          </p:cNvSpPr>
          <p:nvPr>
            <p:ph type="ftr" sz="quarter" idx="11"/>
          </p:nvPr>
        </p:nvSpPr>
        <p:spPr/>
        <p:txBody>
          <a:bodyPr/>
          <a:lstStyle/>
          <a:p>
            <a:r>
              <a:rPr lang="en-US"/>
              <a:t>Operating Systems - Threads</a:t>
            </a:r>
          </a:p>
        </p:txBody>
      </p:sp>
      <p:sp>
        <p:nvSpPr>
          <p:cNvPr id="6" name="Slide Number Placeholder 5"/>
          <p:cNvSpPr>
            <a:spLocks noGrp="1"/>
          </p:cNvSpPr>
          <p:nvPr>
            <p:ph type="sldNum" sz="quarter" idx="12"/>
          </p:nvPr>
        </p:nvSpPr>
        <p:spPr/>
        <p:txBody>
          <a:bodyPr/>
          <a:lstStyle/>
          <a:p>
            <a:fld id="{2D69D4BF-17B8-4416-83AD-33398895AAF4}" type="slidenum">
              <a:rPr lang="en-US" smtClean="0"/>
              <a:t>8</a:t>
            </a:fld>
            <a:endParaRPr lang="en-US"/>
          </a:p>
        </p:txBody>
      </p:sp>
    </p:spTree>
    <p:extLst>
      <p:ext uri="{BB962C8B-B14F-4D97-AF65-F5344CB8AC3E}">
        <p14:creationId xmlns:p14="http://schemas.microsoft.com/office/powerpoint/2010/main" val="1858581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clrChange>
              <a:clrFrom>
                <a:srgbClr val="FFFFFF"/>
              </a:clrFrom>
              <a:clrTo>
                <a:srgbClr val="FFFFFF">
                  <a:alpha val="0"/>
                </a:srgbClr>
              </a:clrTo>
            </a:clrChange>
          </a:blip>
          <a:srcRect/>
          <a:stretch/>
        </p:blipFill>
        <p:spPr>
          <a:xfrm>
            <a:off x="277813" y="2970213"/>
            <a:ext cx="5591175" cy="2847975"/>
          </a:xfrm>
          <a:prstGeom prst="rect">
            <a:avLst/>
          </a:prstGeom>
        </p:spPr>
      </p:pic>
      <p:cxnSp>
        <p:nvCxnSpPr>
          <p:cNvPr id="8" name="Straight Connector 7"/>
          <p:cNvCxnSpPr/>
          <p:nvPr/>
        </p:nvCxnSpPr>
        <p:spPr>
          <a:xfrm flipV="1">
            <a:off x="2692400" y="2495550"/>
            <a:ext cx="0" cy="1016001"/>
          </a:xfrm>
          <a:prstGeom prst="line">
            <a:avLst/>
          </a:prstGeom>
          <a:ln w="57150">
            <a:solidFill>
              <a:srgbClr val="92D05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cxnSp>
        <p:nvCxnSpPr>
          <p:cNvPr id="11" name="Straight Connector 10"/>
          <p:cNvCxnSpPr/>
          <p:nvPr/>
        </p:nvCxnSpPr>
        <p:spPr>
          <a:xfrm flipV="1">
            <a:off x="3238501" y="2381250"/>
            <a:ext cx="1104899" cy="1130302"/>
          </a:xfrm>
          <a:prstGeom prst="line">
            <a:avLst/>
          </a:prstGeom>
          <a:ln w="57150">
            <a:solidFill>
              <a:srgbClr val="92D05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cxnSp>
        <p:nvCxnSpPr>
          <p:cNvPr id="15" name="Straight Connector 14"/>
          <p:cNvCxnSpPr/>
          <p:nvPr/>
        </p:nvCxnSpPr>
        <p:spPr>
          <a:xfrm flipV="1">
            <a:off x="3825342" y="2381250"/>
            <a:ext cx="3185059" cy="1130302"/>
          </a:xfrm>
          <a:prstGeom prst="line">
            <a:avLst/>
          </a:prstGeom>
          <a:ln w="57150">
            <a:solidFill>
              <a:srgbClr val="92D05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19" name="TextBox 18"/>
          <p:cNvSpPr txBox="1"/>
          <p:nvPr/>
        </p:nvSpPr>
        <p:spPr>
          <a:xfrm>
            <a:off x="7099300" y="1873249"/>
            <a:ext cx="564578" cy="507831"/>
          </a:xfrm>
          <a:prstGeom prst="rect">
            <a:avLst/>
          </a:prstGeom>
          <a:noFill/>
        </p:spPr>
        <p:txBody>
          <a:bodyPr wrap="none" rtlCol="0">
            <a:spAutoFit/>
          </a:bodyPr>
          <a:lstStyle/>
          <a:p>
            <a:r>
              <a:rPr lang="en-US" sz="2700"/>
              <a:t>...</a:t>
            </a:r>
          </a:p>
        </p:txBody>
      </p:sp>
      <p:pic>
        <p:nvPicPr>
          <p:cNvPr id="9" name="Picture 8" descr="1_2"/>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668111" y="1513261"/>
            <a:ext cx="2570390" cy="602362"/>
          </a:xfrm>
          <a:prstGeom prst="rect">
            <a:avLst/>
          </a:prstGeom>
          <a:noFill/>
          <a:ln w="9525">
            <a:noFill/>
            <a:miter lim="800000"/>
            <a:headEnd/>
            <a:tailEnd/>
          </a:ln>
        </p:spPr>
      </p:pic>
      <p:pic>
        <p:nvPicPr>
          <p:cNvPr id="10" name="Picture 9" descr="1_2"/>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3599089" y="1513260"/>
            <a:ext cx="2570390" cy="602362"/>
          </a:xfrm>
          <a:prstGeom prst="rect">
            <a:avLst/>
          </a:prstGeom>
          <a:noFill/>
          <a:ln w="9525">
            <a:noFill/>
            <a:miter lim="800000"/>
            <a:headEnd/>
            <a:tailEnd/>
          </a:ln>
        </p:spPr>
      </p:pic>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9</a:t>
            </a:fld>
            <a:endParaRPr lang="en-US"/>
          </a:p>
        </p:txBody>
      </p:sp>
    </p:spTree>
    <p:extLst>
      <p:ext uri="{BB962C8B-B14F-4D97-AF65-F5344CB8AC3E}">
        <p14:creationId xmlns:p14="http://schemas.microsoft.com/office/powerpoint/2010/main" val="2036818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Threads</a:t>
            </a:r>
          </a:p>
        </p:txBody>
      </p:sp>
      <p:sp>
        <p:nvSpPr>
          <p:cNvPr id="6" name="Slide Number Placeholder 5"/>
          <p:cNvSpPr>
            <a:spLocks noGrp="1"/>
          </p:cNvSpPr>
          <p:nvPr>
            <p:ph type="sldNum" sz="quarter" idx="12"/>
          </p:nvPr>
        </p:nvSpPr>
        <p:spPr/>
        <p:txBody>
          <a:bodyPr/>
          <a:lstStyle/>
          <a:p>
            <a:fld id="{95AAEEEC-DCEC-4178-AB14-E7254A15A296}" type="slidenum">
              <a:rPr lang="en-US" smtClean="0"/>
              <a:t>10</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597" y="1388533"/>
            <a:ext cx="5632460" cy="29238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4792713" y="2591981"/>
            <a:ext cx="3628798" cy="923330"/>
          </a:xfrm>
          <a:prstGeom prst="rect">
            <a:avLst/>
          </a:prstGeom>
          <a:solidFill>
            <a:schemeClr val="bg1"/>
          </a:solidFill>
          <a:ln>
            <a:solidFill>
              <a:schemeClr val="tx1"/>
            </a:solidFill>
          </a:ln>
        </p:spPr>
        <p:txBody>
          <a:bodyPr wrap="square" rtlCol="0">
            <a:spAutoFit/>
          </a:bodyPr>
          <a:lstStyle/>
          <a:p>
            <a:pPr marL="285750" indent="-285750">
              <a:buFont typeface="Arial" panose="020B0604020202020204" pitchFamily="34" charset="0"/>
              <a:buChar char="•"/>
            </a:pPr>
            <a:r>
              <a:rPr lang="en-US" dirty="0"/>
              <a:t>Process keyboard input…</a:t>
            </a:r>
          </a:p>
          <a:p>
            <a:pPr marL="285750" indent="-285750">
              <a:buFont typeface="Arial" panose="020B0604020202020204" pitchFamily="34" charset="0"/>
              <a:buChar char="•"/>
            </a:pPr>
            <a:r>
              <a:rPr lang="en-US" dirty="0"/>
              <a:t>Spell checker…</a:t>
            </a:r>
          </a:p>
          <a:p>
            <a:pPr marL="285750" indent="-285750">
              <a:buFont typeface="Arial" panose="020B0604020202020204" pitchFamily="34" charset="0"/>
              <a:buChar char="•"/>
            </a:pPr>
            <a:r>
              <a:rPr lang="en-US" dirty="0"/>
              <a:t>Printing a document…</a:t>
            </a:r>
          </a:p>
        </p:txBody>
      </p:sp>
      <p:sp>
        <p:nvSpPr>
          <p:cNvPr id="9" name="Rectangle 2"/>
          <p:cNvSpPr>
            <a:spLocks noGrp="1" noChangeArrowheads="1"/>
          </p:cNvSpPr>
          <p:nvPr>
            <p:ph type="title"/>
          </p:nvPr>
        </p:nvSpPr>
        <p:spPr>
          <a:xfrm>
            <a:off x="628650" y="365126"/>
            <a:ext cx="7886700" cy="1325563"/>
          </a:xfrm>
        </p:spPr>
        <p:txBody>
          <a:bodyPr>
            <a:normAutofit/>
          </a:bodyPr>
          <a:lstStyle/>
          <a:p>
            <a:r>
              <a:rPr lang="en-US" altLang="en-US" sz="2800" dirty="0"/>
              <a:t>Discussion: parallel/concurrent execution of processes</a:t>
            </a:r>
          </a:p>
        </p:txBody>
      </p:sp>
      <p:sp>
        <p:nvSpPr>
          <p:cNvPr id="10" name="TextBox 9"/>
          <p:cNvSpPr txBox="1"/>
          <p:nvPr/>
        </p:nvSpPr>
        <p:spPr>
          <a:xfrm>
            <a:off x="1250248" y="4758644"/>
            <a:ext cx="2687443"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sv-SE" dirty="0" err="1">
                <a:latin typeface="+mj-lt"/>
              </a:rPr>
              <a:t>Important</a:t>
            </a:r>
            <a:r>
              <a:rPr lang="sv-SE" dirty="0">
                <a:latin typeface="+mj-lt"/>
              </a:rPr>
              <a:t>: </a:t>
            </a:r>
            <a:r>
              <a:rPr lang="sv-SE" dirty="0" err="1">
                <a:latin typeface="+mj-lt"/>
              </a:rPr>
              <a:t>only</a:t>
            </a:r>
            <a:r>
              <a:rPr lang="sv-SE" dirty="0">
                <a:latin typeface="+mj-lt"/>
              </a:rPr>
              <a:t> 1 process </a:t>
            </a:r>
            <a:r>
              <a:rPr lang="sv-SE" dirty="0" err="1">
                <a:latin typeface="+mj-lt"/>
              </a:rPr>
              <a:t>can</a:t>
            </a:r>
            <a:r>
              <a:rPr lang="sv-SE" dirty="0">
                <a:latin typeface="+mj-lt"/>
              </a:rPr>
              <a:t> be </a:t>
            </a:r>
            <a:r>
              <a:rPr lang="sv-SE" b="1" dirty="0" err="1">
                <a:latin typeface="+mj-lt"/>
              </a:rPr>
              <a:t>running</a:t>
            </a:r>
            <a:r>
              <a:rPr lang="sv-SE" dirty="0">
                <a:latin typeface="+mj-lt"/>
              </a:rPr>
              <a:t> on </a:t>
            </a:r>
            <a:r>
              <a:rPr lang="sv-SE" dirty="0" err="1">
                <a:latin typeface="+mj-lt"/>
              </a:rPr>
              <a:t>any</a:t>
            </a:r>
            <a:r>
              <a:rPr lang="sv-SE" dirty="0">
                <a:latin typeface="+mj-lt"/>
              </a:rPr>
              <a:t> </a:t>
            </a:r>
            <a:r>
              <a:rPr lang="sv-SE" dirty="0" err="1">
                <a:latin typeface="+mj-lt"/>
              </a:rPr>
              <a:t>logical</a:t>
            </a:r>
            <a:r>
              <a:rPr lang="sv-SE" dirty="0">
                <a:latin typeface="+mj-lt"/>
              </a:rPr>
              <a:t> processor / CPU </a:t>
            </a:r>
            <a:r>
              <a:rPr lang="sv-SE" dirty="0" err="1">
                <a:latin typeface="+mj-lt"/>
              </a:rPr>
              <a:t>core</a:t>
            </a:r>
            <a:r>
              <a:rPr lang="sv-SE" dirty="0">
                <a:latin typeface="+mj-lt"/>
              </a:rPr>
              <a:t> at </a:t>
            </a:r>
            <a:r>
              <a:rPr lang="sv-SE" dirty="0" err="1">
                <a:latin typeface="+mj-lt"/>
              </a:rPr>
              <a:t>any</a:t>
            </a:r>
            <a:r>
              <a:rPr lang="sv-SE" dirty="0">
                <a:latin typeface="+mj-lt"/>
              </a:rPr>
              <a:t> </a:t>
            </a:r>
            <a:r>
              <a:rPr lang="sv-SE" dirty="0" err="1">
                <a:latin typeface="+mj-lt"/>
              </a:rPr>
              <a:t>instant</a:t>
            </a:r>
            <a:r>
              <a:rPr lang="sv-SE" dirty="0">
                <a:latin typeface="+mj-lt"/>
              </a:rPr>
              <a:t>.</a:t>
            </a:r>
          </a:p>
        </p:txBody>
      </p:sp>
      <p:pic>
        <p:nvPicPr>
          <p:cNvPr id="2051" name="Picture 3" descr="D:\Users\chalmers.CSE-924108\AppData\Local\Microsoft\Windows\Temporary Internet Files\Content.IE5\5W1ZCW1M\MC900078622[1].wm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383" y="4552434"/>
            <a:ext cx="778158" cy="1674038"/>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sharpreflections.com/wp-content/uploads/2012/06/multi_core_cpu.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1228" y="4642908"/>
            <a:ext cx="1985884" cy="149309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descr="D:\Users\chalmers.CSE-924108\AppData\Local\Microsoft\Windows\Temporary Internet Files\Content.IE5\5W1ZCW1M\MC900078622[1].wm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2149" y="4596761"/>
            <a:ext cx="778158" cy="1674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1481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en-US" dirty="0"/>
              <a:t>Threads</a:t>
            </a:r>
          </a:p>
        </p:txBody>
      </p:sp>
      <p:sp>
        <p:nvSpPr>
          <p:cNvPr id="13315" name="Rectangle 3"/>
          <p:cNvSpPr>
            <a:spLocks noGrp="1" noChangeArrowheads="1"/>
          </p:cNvSpPr>
          <p:nvPr>
            <p:ph idx="1"/>
          </p:nvPr>
        </p:nvSpPr>
        <p:spPr/>
        <p:txBody>
          <a:bodyPr>
            <a:normAutofit/>
          </a:bodyPr>
          <a:lstStyle/>
          <a:p>
            <a:r>
              <a:rPr lang="en-US" altLang="en-US" sz="2400" dirty="0"/>
              <a:t>One process </a:t>
            </a:r>
            <a:r>
              <a:rPr lang="en-US" altLang="en-US" sz="2400" dirty="0">
                <a:sym typeface="Wingdings" panose="05000000000000000000" pitchFamily="2" charset="2"/>
              </a:rPr>
              <a:t> </a:t>
            </a:r>
            <a:r>
              <a:rPr lang="en-US" altLang="en-US" sz="2400" dirty="0"/>
              <a:t>multiple threads of execution</a:t>
            </a:r>
          </a:p>
          <a:p>
            <a:r>
              <a:rPr lang="en-US" altLang="en-US" sz="2400" dirty="0"/>
              <a:t>Consider having multiple program counters per process</a:t>
            </a:r>
          </a:p>
          <a:p>
            <a:pPr lvl="1"/>
            <a:r>
              <a:rPr lang="en-US" altLang="en-US" sz="2000" dirty="0"/>
              <a:t>Multiple locations can execute at once</a:t>
            </a:r>
          </a:p>
          <a:p>
            <a:pPr lvl="1"/>
            <a:r>
              <a:rPr lang="en-US" altLang="en-US" sz="2000" dirty="0"/>
              <a:t>Multiple threads of control -&gt; threads</a:t>
            </a:r>
          </a:p>
          <a:p>
            <a:r>
              <a:rPr lang="en-US" altLang="en-US" sz="2400" dirty="0"/>
              <a:t>Must then have storage for thread details, multiple program counters in PCB</a:t>
            </a:r>
            <a:endParaRPr lang="en-US" altLang="en-US" sz="2000" dirty="0"/>
          </a:p>
        </p:txBody>
      </p:sp>
      <p:sp>
        <p:nvSpPr>
          <p:cNvPr id="2" name="Footer Placeholder 1"/>
          <p:cNvSpPr>
            <a:spLocks noGrp="1"/>
          </p:cNvSpPr>
          <p:nvPr>
            <p:ph type="ftr" sz="quarter" idx="11"/>
          </p:nvPr>
        </p:nvSpPr>
        <p:spPr/>
        <p:txBody>
          <a:bodyPr/>
          <a:lstStyle/>
          <a:p>
            <a:r>
              <a:rPr lang="en-US"/>
              <a:t>Operating Systems - Threads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11</a:t>
            </a:fld>
            <a:endParaRPr lang="en-US"/>
          </a:p>
        </p:txBody>
      </p:sp>
      <p:sp>
        <p:nvSpPr>
          <p:cNvPr id="8" name="Date Placeholder 7"/>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901604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19175" y="163513"/>
            <a:ext cx="8229600" cy="576262"/>
          </a:xfrm>
        </p:spPr>
        <p:txBody>
          <a:bodyPr/>
          <a:lstStyle/>
          <a:p>
            <a:pPr eaLnBrk="1" hangingPunct="1"/>
            <a:r>
              <a:rPr lang="en-US" altLang="en-US"/>
              <a:t>Single and Multithreaded Processes</a:t>
            </a:r>
          </a:p>
        </p:txBody>
      </p:sp>
      <p:pic>
        <p:nvPicPr>
          <p:cNvPr id="12291" name="Picture 1" descr="4_0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09750" y="1295400"/>
            <a:ext cx="6884988" cy="446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76213"/>
            <a:ext cx="8229600" cy="576262"/>
          </a:xfrm>
        </p:spPr>
        <p:txBody>
          <a:bodyPr/>
          <a:lstStyle/>
          <a:p>
            <a:r>
              <a:rPr lang="en-US" altLang="en-US"/>
              <a:t>Motivation</a:t>
            </a:r>
          </a:p>
        </p:txBody>
      </p:sp>
      <p:sp>
        <p:nvSpPr>
          <p:cNvPr id="6147" name="Content Placeholder 2"/>
          <p:cNvSpPr>
            <a:spLocks noGrp="1"/>
          </p:cNvSpPr>
          <p:nvPr>
            <p:ph idx="1"/>
          </p:nvPr>
        </p:nvSpPr>
        <p:spPr>
          <a:xfrm>
            <a:off x="806450" y="1233488"/>
            <a:ext cx="6813550" cy="4530725"/>
          </a:xfrm>
        </p:spPr>
        <p:txBody>
          <a:bodyPr/>
          <a:lstStyle/>
          <a:p>
            <a:r>
              <a:rPr lang="en-US" altLang="en-US" dirty="0"/>
              <a:t>Most modern applications are multithreaded</a:t>
            </a:r>
          </a:p>
          <a:p>
            <a:r>
              <a:rPr lang="en-US" altLang="en-US" dirty="0"/>
              <a:t>Threads run within application</a:t>
            </a:r>
          </a:p>
          <a:p>
            <a:r>
              <a:rPr lang="en-US" altLang="en-US" dirty="0"/>
              <a:t>Multiple tasks within the application can be implemented by separate threads</a:t>
            </a:r>
          </a:p>
          <a:p>
            <a:pPr lvl="1"/>
            <a:r>
              <a:rPr lang="en-US" altLang="en-US" dirty="0"/>
              <a:t>Update display</a:t>
            </a:r>
          </a:p>
          <a:p>
            <a:pPr lvl="1"/>
            <a:r>
              <a:rPr lang="en-US" altLang="en-US" dirty="0"/>
              <a:t>Fetch data</a:t>
            </a:r>
          </a:p>
          <a:p>
            <a:pPr lvl="1"/>
            <a:r>
              <a:rPr lang="en-US" altLang="en-US" dirty="0"/>
              <a:t>Spell checking</a:t>
            </a:r>
          </a:p>
          <a:p>
            <a:pPr lvl="1"/>
            <a:r>
              <a:rPr lang="en-US" altLang="en-US" dirty="0"/>
              <a:t>Answer a network request</a:t>
            </a:r>
          </a:p>
          <a:p>
            <a:r>
              <a:rPr lang="en-US" altLang="en-US" u="sng" dirty="0"/>
              <a:t>Process creation is heavy-weight while thread creation is light-weight</a:t>
            </a:r>
          </a:p>
          <a:p>
            <a:r>
              <a:rPr lang="en-US" altLang="en-US" u="sng" dirty="0"/>
              <a:t>Can simplify code, increase efficiency</a:t>
            </a:r>
          </a:p>
          <a:p>
            <a:r>
              <a:rPr lang="en-US" altLang="en-US" dirty="0"/>
              <a:t>Kernels are generally multithreaded</a:t>
            </a:r>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885825" y="163513"/>
            <a:ext cx="8229600" cy="576262"/>
          </a:xfrm>
        </p:spPr>
        <p:txBody>
          <a:bodyPr/>
          <a:lstStyle/>
          <a:p>
            <a:pPr eaLnBrk="1" hangingPunct="1"/>
            <a:r>
              <a:rPr lang="en-US" altLang="en-US"/>
              <a:t>Multithreaded Server Architecture</a:t>
            </a:r>
          </a:p>
        </p:txBody>
      </p:sp>
      <p:pic>
        <p:nvPicPr>
          <p:cNvPr id="7171" name="Picture 1" descr="4_02.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81138" y="1443038"/>
            <a:ext cx="6397625" cy="258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862013" y="415925"/>
            <a:ext cx="6951662" cy="312738"/>
          </a:xfrm>
        </p:spPr>
        <p:txBody>
          <a:bodyPr>
            <a:normAutofit fontScale="90000"/>
          </a:bodyPr>
          <a:lstStyle/>
          <a:p>
            <a:pPr eaLnBrk="1" hangingPunct="1"/>
            <a:r>
              <a:rPr lang="en-US" altLang="en-US"/>
              <a:t>Benefits</a:t>
            </a:r>
          </a:p>
        </p:txBody>
      </p:sp>
      <p:sp>
        <p:nvSpPr>
          <p:cNvPr id="8195" name="Rectangle 3"/>
          <p:cNvSpPr>
            <a:spLocks noGrp="1" noChangeArrowheads="1"/>
          </p:cNvSpPr>
          <p:nvPr>
            <p:ph idx="1"/>
          </p:nvPr>
        </p:nvSpPr>
        <p:spPr>
          <a:xfrm>
            <a:off x="806450" y="1233488"/>
            <a:ext cx="7207250" cy="4530725"/>
          </a:xfrm>
        </p:spPr>
        <p:txBody>
          <a:bodyPr/>
          <a:lstStyle/>
          <a:p>
            <a:r>
              <a:rPr lang="en-US" altLang="en-US" b="1"/>
              <a:t>Responsiveness – </a:t>
            </a:r>
            <a:r>
              <a:rPr lang="en-US" altLang="en-US"/>
              <a:t>may allow continued execution if part of process is blocked, especially important for user interfaces</a:t>
            </a:r>
          </a:p>
          <a:p>
            <a:r>
              <a:rPr lang="en-US" altLang="en-US" b="1"/>
              <a:t>Resource Sharing – </a:t>
            </a:r>
            <a:r>
              <a:rPr lang="en-US" altLang="en-US"/>
              <a:t>threads share resources of process, easier than shared memory or message passing</a:t>
            </a:r>
          </a:p>
          <a:p>
            <a:r>
              <a:rPr lang="en-US" altLang="en-US" b="1"/>
              <a:t>Economy – </a:t>
            </a:r>
            <a:r>
              <a:rPr lang="en-US" altLang="en-US"/>
              <a:t>cheaper than process creation, thread switching lower overhead than context switching</a:t>
            </a:r>
          </a:p>
          <a:p>
            <a:r>
              <a:rPr lang="en-US" altLang="en-US" b="1"/>
              <a:t>Scalability – </a:t>
            </a:r>
            <a:r>
              <a:rPr lang="en-US" altLang="en-US"/>
              <a:t>process can take advantage of multiprocessor architectures</a:t>
            </a:r>
            <a:br>
              <a:rPr lang="en-US" altLang="en-US"/>
            </a:br>
            <a:endParaRPr lang="en-US" altLang="en-US"/>
          </a:p>
          <a:p>
            <a:endParaRPr lang="en-US" altLang="en-US" b="1"/>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012825" y="176213"/>
            <a:ext cx="7673975" cy="576262"/>
          </a:xfrm>
        </p:spPr>
        <p:txBody>
          <a:bodyPr/>
          <a:lstStyle/>
          <a:p>
            <a:pPr eaLnBrk="1" hangingPunct="1"/>
            <a:r>
              <a:rPr lang="en-US" altLang="en-US"/>
              <a:t>Multicore Programming</a:t>
            </a:r>
          </a:p>
        </p:txBody>
      </p:sp>
      <p:sp>
        <p:nvSpPr>
          <p:cNvPr id="9219" name="Content Placeholder 2"/>
          <p:cNvSpPr>
            <a:spLocks noGrp="1"/>
          </p:cNvSpPr>
          <p:nvPr>
            <p:ph idx="1"/>
          </p:nvPr>
        </p:nvSpPr>
        <p:spPr>
          <a:xfrm>
            <a:off x="882650" y="1208088"/>
            <a:ext cx="7723188" cy="4530725"/>
          </a:xfrm>
        </p:spPr>
        <p:txBody>
          <a:bodyPr/>
          <a:lstStyle/>
          <a:p>
            <a:r>
              <a:rPr lang="en-US" altLang="en-US" b="1" dirty="0">
                <a:solidFill>
                  <a:srgbClr val="3366FF"/>
                </a:solidFill>
              </a:rPr>
              <a:t>Multicore</a:t>
            </a:r>
            <a:r>
              <a:rPr lang="en-US" altLang="en-US" dirty="0"/>
              <a:t> or </a:t>
            </a:r>
            <a:r>
              <a:rPr lang="en-US" altLang="en-US" b="1" dirty="0">
                <a:solidFill>
                  <a:srgbClr val="3366FF"/>
                </a:solidFill>
              </a:rPr>
              <a:t>multiprocessor</a:t>
            </a:r>
            <a:r>
              <a:rPr lang="en-US" altLang="en-US" dirty="0"/>
              <a:t> systems put pressure on programmers, challenges include:</a:t>
            </a:r>
          </a:p>
          <a:p>
            <a:pPr lvl="1"/>
            <a:r>
              <a:rPr lang="en-US" altLang="en-US" b="1" dirty="0"/>
              <a:t>Dividing activities</a:t>
            </a:r>
          </a:p>
          <a:p>
            <a:pPr lvl="1"/>
            <a:r>
              <a:rPr lang="en-US" altLang="en-US" b="1" dirty="0"/>
              <a:t>Balance</a:t>
            </a:r>
          </a:p>
          <a:p>
            <a:pPr lvl="1"/>
            <a:r>
              <a:rPr lang="en-US" altLang="en-US" b="1" dirty="0"/>
              <a:t>Data splitting</a:t>
            </a:r>
          </a:p>
          <a:p>
            <a:pPr lvl="1"/>
            <a:r>
              <a:rPr lang="en-US" altLang="en-US" b="1" dirty="0"/>
              <a:t>Data dependency</a:t>
            </a:r>
          </a:p>
          <a:p>
            <a:pPr lvl="1"/>
            <a:r>
              <a:rPr lang="en-US" altLang="en-US" b="1" dirty="0"/>
              <a:t>Testing and debugging</a:t>
            </a:r>
          </a:p>
          <a:p>
            <a:r>
              <a:rPr lang="en-US" altLang="en-US" b="1" i="1" dirty="0"/>
              <a:t>Parallelism</a:t>
            </a:r>
            <a:r>
              <a:rPr lang="en-US" altLang="en-US" dirty="0"/>
              <a:t> implies a system can perform more than one task simultaneously</a:t>
            </a:r>
          </a:p>
          <a:p>
            <a:r>
              <a:rPr lang="en-US" altLang="en-US" b="1" i="1" dirty="0"/>
              <a:t>Concurrency</a:t>
            </a:r>
            <a:r>
              <a:rPr lang="en-US" altLang="en-US" dirty="0"/>
              <a:t> supports more than one task making progress</a:t>
            </a:r>
          </a:p>
          <a:p>
            <a:pPr lvl="1"/>
            <a:r>
              <a:rPr lang="en-US" altLang="en-US" dirty="0"/>
              <a:t>Single processor / core, scheduler providing concurrency</a:t>
            </a:r>
          </a:p>
          <a:p>
            <a:pPr lvl="1">
              <a:buFont typeface="Monotype Sorts" pitchFamily="-84" charset="2"/>
              <a:buNone/>
            </a:pPr>
            <a:endParaRPr lang="en-US" altLang="en-US" dirty="0"/>
          </a:p>
          <a:p>
            <a:pPr lvl="1">
              <a:buFont typeface="Monotype Sorts" pitchFamily="-84" charset="2"/>
              <a:buNone/>
            </a:pPr>
            <a:endParaRPr lang="en-US" altLang="en-US" dirty="0"/>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676275" y="296863"/>
            <a:ext cx="8229600" cy="576262"/>
          </a:xfrm>
        </p:spPr>
        <p:txBody>
          <a:bodyPr/>
          <a:lstStyle/>
          <a:p>
            <a:pPr eaLnBrk="1" hangingPunct="1"/>
            <a:r>
              <a:rPr lang="en-US" altLang="en-US"/>
              <a:t>Concurrency vs. Parallelism</a:t>
            </a:r>
          </a:p>
        </p:txBody>
      </p:sp>
      <p:sp>
        <p:nvSpPr>
          <p:cNvPr id="11267" name="Rectangle 3"/>
          <p:cNvSpPr>
            <a:spLocks noGrp="1" noChangeArrowheads="1"/>
          </p:cNvSpPr>
          <p:nvPr/>
        </p:nvSpPr>
        <p:spPr bwMode="auto">
          <a:xfrm>
            <a:off x="457200" y="116363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lstStyle>
            <a:lvl1pPr marL="488950" indent="-488950">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indent="0">
              <a:spcBef>
                <a:spcPct val="35000"/>
              </a:spcBef>
              <a:buClr>
                <a:srgbClr val="993300"/>
              </a:buClr>
              <a:buSzPct val="90000"/>
            </a:pPr>
            <a:r>
              <a:rPr kumimoji="1" lang="en-US" altLang="en-US" b="1" dirty="0">
                <a:latin typeface="Helvetica" panose="020B0604020202020204" pitchFamily="34" charset="0"/>
              </a:rPr>
              <a:t>Concurrent execution on single-core system:</a:t>
            </a:r>
          </a:p>
          <a:p>
            <a:pPr>
              <a:spcBef>
                <a:spcPct val="35000"/>
              </a:spcBef>
              <a:buClr>
                <a:srgbClr val="993300"/>
              </a:buClr>
              <a:buSzPct val="90000"/>
              <a:buFont typeface="Monotype Sorts" pitchFamily="-84" charset="2"/>
              <a:buChar char="n"/>
            </a:pPr>
            <a:endParaRPr kumimoji="1" lang="en-US" altLang="en-US" b="1" dirty="0">
              <a:latin typeface="Helvetica" panose="020B0604020202020204" pitchFamily="34" charset="0"/>
            </a:endParaRPr>
          </a:p>
          <a:p>
            <a:pPr>
              <a:spcBef>
                <a:spcPct val="35000"/>
              </a:spcBef>
              <a:buClr>
                <a:srgbClr val="993300"/>
              </a:buClr>
              <a:buSzPct val="90000"/>
              <a:buFont typeface="Monotype Sorts" pitchFamily="-84" charset="2"/>
              <a:buChar char="n"/>
            </a:pPr>
            <a:endParaRPr kumimoji="1" lang="en-US" altLang="en-US" b="1" dirty="0">
              <a:latin typeface="Helvetica" panose="020B0604020202020204" pitchFamily="34" charset="0"/>
            </a:endParaRPr>
          </a:p>
          <a:p>
            <a:pPr>
              <a:spcBef>
                <a:spcPct val="35000"/>
              </a:spcBef>
              <a:buClr>
                <a:srgbClr val="993300"/>
              </a:buClr>
              <a:buSzPct val="90000"/>
              <a:buFont typeface="Monotype Sorts" pitchFamily="-84" charset="2"/>
              <a:buChar char="n"/>
            </a:pPr>
            <a:endParaRPr kumimoji="1" lang="en-US" altLang="en-US" b="1" dirty="0">
              <a:latin typeface="Helvetica" panose="020B0604020202020204" pitchFamily="34" charset="0"/>
            </a:endParaRPr>
          </a:p>
          <a:p>
            <a:pPr>
              <a:spcBef>
                <a:spcPct val="35000"/>
              </a:spcBef>
              <a:buClr>
                <a:srgbClr val="993300"/>
              </a:buClr>
              <a:buSzPct val="90000"/>
            </a:pPr>
            <a:endParaRPr kumimoji="1" lang="en-US" altLang="en-US" b="1" dirty="0">
              <a:latin typeface="Helvetica" panose="020B0604020202020204" pitchFamily="34" charset="0"/>
            </a:endParaRPr>
          </a:p>
          <a:p>
            <a:pPr marL="0" indent="0">
              <a:spcBef>
                <a:spcPct val="35000"/>
              </a:spcBef>
              <a:buClr>
                <a:srgbClr val="993300"/>
              </a:buClr>
              <a:buSzPct val="90000"/>
            </a:pPr>
            <a:r>
              <a:rPr kumimoji="1" lang="en-US" altLang="en-US" b="1" dirty="0">
                <a:latin typeface="Helvetica" panose="020B0604020202020204" pitchFamily="34" charset="0"/>
              </a:rPr>
              <a:t>Parallelism on a multi-core system:</a:t>
            </a:r>
          </a:p>
          <a:p>
            <a:pPr>
              <a:spcBef>
                <a:spcPct val="35000"/>
              </a:spcBef>
              <a:buClr>
                <a:srgbClr val="993300"/>
              </a:buClr>
              <a:buSzPct val="90000"/>
              <a:buFont typeface="Monotype Sorts" pitchFamily="-84" charset="2"/>
              <a:buChar char="n"/>
            </a:pPr>
            <a:endParaRPr kumimoji="1" lang="en-US" altLang="en-US" b="1" dirty="0">
              <a:latin typeface="Helvetica" panose="020B0604020202020204" pitchFamily="34" charset="0"/>
            </a:endParaRPr>
          </a:p>
        </p:txBody>
      </p:sp>
      <p:pic>
        <p:nvPicPr>
          <p:cNvPr id="11268" name="Picture 1" descr="4_03.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39900" y="1814513"/>
            <a:ext cx="6259513"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2" descr="4_04.pd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695575" y="3771900"/>
            <a:ext cx="3946525"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012825" y="176213"/>
            <a:ext cx="7673975" cy="576262"/>
          </a:xfrm>
        </p:spPr>
        <p:txBody>
          <a:bodyPr/>
          <a:lstStyle/>
          <a:p>
            <a:pPr eaLnBrk="1" hangingPunct="1"/>
            <a:r>
              <a:rPr lang="en-US" altLang="en-US"/>
              <a:t>Multicore Programming (Cont.)</a:t>
            </a:r>
          </a:p>
        </p:txBody>
      </p:sp>
      <p:sp>
        <p:nvSpPr>
          <p:cNvPr id="10243" name="Content Placeholder 2"/>
          <p:cNvSpPr>
            <a:spLocks noGrp="1"/>
          </p:cNvSpPr>
          <p:nvPr>
            <p:ph idx="1"/>
          </p:nvPr>
        </p:nvSpPr>
        <p:spPr>
          <a:xfrm>
            <a:off x="806450" y="1233488"/>
            <a:ext cx="7156450" cy="4530725"/>
          </a:xfrm>
        </p:spPr>
        <p:txBody>
          <a:bodyPr/>
          <a:lstStyle/>
          <a:p>
            <a:r>
              <a:rPr lang="en-US" altLang="en-US" dirty="0"/>
              <a:t>Types of parallelism </a:t>
            </a:r>
          </a:p>
          <a:p>
            <a:pPr lvl="1"/>
            <a:r>
              <a:rPr lang="en-US" altLang="en-US" b="1" dirty="0">
                <a:solidFill>
                  <a:srgbClr val="3366FF"/>
                </a:solidFill>
              </a:rPr>
              <a:t>Data parallelism</a:t>
            </a:r>
            <a:r>
              <a:rPr lang="en-US" altLang="en-US" dirty="0"/>
              <a:t> – distributes subsets of the same data across multiple cores, same operation on each</a:t>
            </a:r>
            <a:endParaRPr lang="en-US" altLang="en-US" b="1" dirty="0">
              <a:solidFill>
                <a:srgbClr val="3366FF"/>
              </a:solidFill>
            </a:endParaRPr>
          </a:p>
          <a:p>
            <a:pPr lvl="1"/>
            <a:r>
              <a:rPr lang="en-US" altLang="en-US" b="1" dirty="0">
                <a:solidFill>
                  <a:srgbClr val="3366FF"/>
                </a:solidFill>
              </a:rPr>
              <a:t>Task parallelism </a:t>
            </a:r>
            <a:r>
              <a:rPr lang="en-US" altLang="en-US" dirty="0"/>
              <a:t>– distributing threads across cores, each thread performing unique operation</a:t>
            </a:r>
          </a:p>
          <a:p>
            <a:r>
              <a:rPr lang="en-US" altLang="en-US" dirty="0"/>
              <a:t>As # of threads grows, so does architectural support for threading</a:t>
            </a:r>
          </a:p>
          <a:p>
            <a:pPr lvl="1"/>
            <a:r>
              <a:rPr lang="en-US" altLang="en-US" dirty="0"/>
              <a:t>CPUs have cores as well as </a:t>
            </a:r>
            <a:r>
              <a:rPr lang="en-US" altLang="en-US" b="1" i="1" dirty="0"/>
              <a:t>hardware threads</a:t>
            </a:r>
            <a:endParaRPr lang="en-US" altLang="en-US" dirty="0"/>
          </a:p>
          <a:p>
            <a:pPr lvl="1">
              <a:buFont typeface="Monotype Sorts" pitchFamily="-84" charset="2"/>
              <a:buNone/>
            </a:pPr>
            <a:endParaRPr lang="en-US" altLang="en-US" dirty="0"/>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lstStyle/>
          <a:p>
            <a:r>
              <a:rPr lang="en-US" dirty="0">
                <a:latin typeface="+mj-lt"/>
              </a:rPr>
              <a:t>We have a program:</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Threads</a:t>
            </a:r>
          </a:p>
        </p:txBody>
      </p:sp>
      <p:sp>
        <p:nvSpPr>
          <p:cNvPr id="6" name="Slide Number Placeholder 5"/>
          <p:cNvSpPr>
            <a:spLocks noGrp="1"/>
          </p:cNvSpPr>
          <p:nvPr>
            <p:ph type="sldNum" sz="quarter" idx="12"/>
          </p:nvPr>
        </p:nvSpPr>
        <p:spPr/>
        <p:txBody>
          <a:bodyPr/>
          <a:lstStyle/>
          <a:p>
            <a:fld id="{2D69D4BF-17B8-4416-83AD-33398895AAF4}" type="slidenum">
              <a:rPr lang="en-US" smtClean="0"/>
              <a:t>19</a:t>
            </a:fld>
            <a:endParaRPr lang="en-US"/>
          </a:p>
        </p:txBody>
      </p:sp>
      <p:sp>
        <p:nvSpPr>
          <p:cNvPr id="7" name="Rectangle 6"/>
          <p:cNvSpPr/>
          <p:nvPr/>
        </p:nvSpPr>
        <p:spPr>
          <a:xfrm>
            <a:off x="628651" y="2456924"/>
            <a:ext cx="826265" cy="25008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8" name="Rectangle 7"/>
          <p:cNvSpPr/>
          <p:nvPr/>
        </p:nvSpPr>
        <p:spPr>
          <a:xfrm>
            <a:off x="628650" y="3239121"/>
            <a:ext cx="826265" cy="63897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atin typeface="+mj-lt"/>
            </a:endParaRPr>
          </a:p>
        </p:txBody>
      </p:sp>
      <p:sp>
        <p:nvSpPr>
          <p:cNvPr id="9" name="Right Brace 8"/>
          <p:cNvSpPr/>
          <p:nvPr/>
        </p:nvSpPr>
        <p:spPr>
          <a:xfrm>
            <a:off x="1609152" y="3228105"/>
            <a:ext cx="165253" cy="63897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10" name="TextBox 9"/>
          <p:cNvSpPr txBox="1"/>
          <p:nvPr/>
        </p:nvSpPr>
        <p:spPr>
          <a:xfrm>
            <a:off x="1928641" y="3220752"/>
            <a:ext cx="2169889" cy="646331"/>
          </a:xfrm>
          <a:prstGeom prst="rect">
            <a:avLst/>
          </a:prstGeom>
          <a:noFill/>
        </p:spPr>
        <p:txBody>
          <a:bodyPr wrap="none" rtlCol="0">
            <a:spAutoFit/>
          </a:bodyPr>
          <a:lstStyle/>
          <a:p>
            <a:r>
              <a:rPr lang="en-US" dirty="0">
                <a:latin typeface="+mj-lt"/>
              </a:rPr>
              <a:t>Serial portion S</a:t>
            </a:r>
            <a:br>
              <a:rPr lang="en-US" dirty="0">
                <a:latin typeface="+mj-lt"/>
              </a:rPr>
            </a:br>
            <a:r>
              <a:rPr lang="en-US" dirty="0">
                <a:latin typeface="+mj-lt"/>
              </a:rPr>
              <a:t>(25% of the program)</a:t>
            </a:r>
          </a:p>
        </p:txBody>
      </p:sp>
      <p:sp>
        <p:nvSpPr>
          <p:cNvPr id="12" name="TextBox 11"/>
          <p:cNvSpPr txBox="1"/>
          <p:nvPr/>
        </p:nvSpPr>
        <p:spPr>
          <a:xfrm>
            <a:off x="736580" y="5305748"/>
            <a:ext cx="2901756" cy="523220"/>
          </a:xfrm>
          <a:prstGeom prst="rect">
            <a:avLst/>
          </a:prstGeom>
          <a:noFill/>
        </p:spPr>
        <p:txBody>
          <a:bodyPr wrap="none" rtlCol="0">
            <a:spAutoFit/>
          </a:bodyPr>
          <a:lstStyle/>
          <a:p>
            <a:r>
              <a:rPr lang="en-US" sz="2800" dirty="0">
                <a:latin typeface="+mj-lt"/>
              </a:rPr>
              <a:t>1 core </a:t>
            </a:r>
            <a:r>
              <a:rPr lang="en-US" sz="2800" dirty="0">
                <a:latin typeface="+mj-lt"/>
                <a:sym typeface="Wingdings" panose="05000000000000000000" pitchFamily="2" charset="2"/>
              </a:rPr>
              <a:t> 100 cores</a:t>
            </a:r>
            <a:endParaRPr lang="en-US" sz="2800" dirty="0">
              <a:latin typeface="+mj-lt"/>
            </a:endParaRPr>
          </a:p>
        </p:txBody>
      </p:sp>
      <p:sp>
        <p:nvSpPr>
          <p:cNvPr id="13" name="TextBox 12"/>
          <p:cNvSpPr txBox="1"/>
          <p:nvPr/>
        </p:nvSpPr>
        <p:spPr>
          <a:xfrm>
            <a:off x="4840709" y="2307381"/>
            <a:ext cx="3534109" cy="2308324"/>
          </a:xfrm>
          <a:prstGeom prst="rect">
            <a:avLst/>
          </a:prstGeom>
          <a:noFill/>
        </p:spPr>
        <p:txBody>
          <a:bodyPr wrap="none" rtlCol="0">
            <a:spAutoFit/>
          </a:bodyPr>
          <a:lstStyle/>
          <a:p>
            <a:r>
              <a:rPr lang="en-US" sz="2400" dirty="0">
                <a:latin typeface="+mj-lt"/>
              </a:rPr>
              <a:t>How many times (X) faster?</a:t>
            </a:r>
          </a:p>
          <a:p>
            <a:pPr algn="ctr"/>
            <a:r>
              <a:rPr lang="en-US" sz="2400" dirty="0">
                <a:latin typeface="+mj-lt"/>
              </a:rPr>
              <a:t>1&lt;X≤10</a:t>
            </a:r>
          </a:p>
          <a:p>
            <a:pPr algn="ctr"/>
            <a:r>
              <a:rPr lang="en-US" sz="2400" dirty="0">
                <a:latin typeface="+mj-lt"/>
              </a:rPr>
              <a:t>10&lt;X≤30</a:t>
            </a:r>
          </a:p>
          <a:p>
            <a:pPr algn="ctr"/>
            <a:r>
              <a:rPr lang="en-US" sz="2400" dirty="0">
                <a:latin typeface="+mj-lt"/>
              </a:rPr>
              <a:t>30&lt;X≤60</a:t>
            </a:r>
          </a:p>
          <a:p>
            <a:pPr algn="ctr"/>
            <a:r>
              <a:rPr lang="en-US" sz="2400" dirty="0">
                <a:latin typeface="+mj-lt"/>
              </a:rPr>
              <a:t>60&lt;X≤100</a:t>
            </a:r>
            <a:endParaRPr lang="sv-SE" sz="2400" dirty="0">
              <a:latin typeface="+mj-lt"/>
            </a:endParaRPr>
          </a:p>
          <a:p>
            <a:pPr algn="ctr"/>
            <a:endParaRPr lang="en-US" sz="2400" dirty="0">
              <a:latin typeface="+mj-lt"/>
            </a:endParaRPr>
          </a:p>
        </p:txBody>
      </p:sp>
    </p:spTree>
    <p:extLst>
      <p:ext uri="{BB962C8B-B14F-4D97-AF65-F5344CB8AC3E}">
        <p14:creationId xmlns:p14="http://schemas.microsoft.com/office/powerpoint/2010/main" val="740673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201613"/>
            <a:ext cx="8229600" cy="576262"/>
          </a:xfrm>
        </p:spPr>
        <p:txBody>
          <a:bodyPr/>
          <a:lstStyle/>
          <a:p>
            <a:pPr eaLnBrk="1" hangingPunct="1"/>
            <a:r>
              <a:rPr lang="en-US" altLang="en-US"/>
              <a:t>Amdahl’s Law</a:t>
            </a:r>
          </a:p>
        </p:txBody>
      </p:sp>
      <p:sp>
        <p:nvSpPr>
          <p:cNvPr id="12291" name="Rectangle 3"/>
          <p:cNvSpPr>
            <a:spLocks noGrp="1" noChangeArrowheads="1"/>
          </p:cNvSpPr>
          <p:nvPr>
            <p:ph idx="1"/>
          </p:nvPr>
        </p:nvSpPr>
        <p:spPr>
          <a:xfrm>
            <a:off x="869950" y="1106488"/>
            <a:ext cx="7900988" cy="4530725"/>
          </a:xfrm>
        </p:spPr>
        <p:txBody>
          <a:bodyPr>
            <a:normAutofit lnSpcReduction="10000"/>
          </a:bodyPr>
          <a:lstStyle/>
          <a:p>
            <a:pPr>
              <a:defRPr/>
            </a:pPr>
            <a:r>
              <a:rPr lang="en-US" altLang="en-US" dirty="0"/>
              <a:t>Identifies performance gains from adding additional cores to an application that has both serial and parallel components</a:t>
            </a:r>
          </a:p>
          <a:p>
            <a:pPr>
              <a:defRPr/>
            </a:pPr>
            <a:r>
              <a:rPr lang="en-US" altLang="en-US" i="1" dirty="0"/>
              <a:t>S</a:t>
            </a:r>
            <a:r>
              <a:rPr lang="en-US" altLang="en-US" dirty="0"/>
              <a:t> is serial portion</a:t>
            </a:r>
          </a:p>
          <a:p>
            <a:pPr>
              <a:defRPr/>
            </a:pPr>
            <a:r>
              <a:rPr lang="en-US" altLang="en-US" i="1" dirty="0"/>
              <a:t>N</a:t>
            </a:r>
            <a:r>
              <a:rPr lang="en-US" altLang="en-US" dirty="0"/>
              <a:t> processing cores</a:t>
            </a:r>
          </a:p>
          <a:p>
            <a:pPr>
              <a:defRPr/>
            </a:pPr>
            <a:endParaRPr lang="en-US" altLang="en-US" dirty="0"/>
          </a:p>
          <a:p>
            <a:pPr>
              <a:defRPr/>
            </a:pPr>
            <a:endParaRPr lang="en-US" altLang="en-US" dirty="0"/>
          </a:p>
          <a:p>
            <a:pPr marL="0" indent="0">
              <a:buFont typeface="Monotype Sorts" pitchFamily="-84" charset="2"/>
              <a:buNone/>
              <a:defRPr/>
            </a:pPr>
            <a:endParaRPr lang="en-US" altLang="en-US" dirty="0"/>
          </a:p>
          <a:p>
            <a:pPr>
              <a:defRPr/>
            </a:pPr>
            <a:r>
              <a:rPr lang="en-US" altLang="en-US" dirty="0"/>
              <a:t>That is, if application is 75% parallel / 25% serial, moving from 1 to 2 cores results in speedup of 1.6 times</a:t>
            </a:r>
          </a:p>
          <a:p>
            <a:pPr>
              <a:defRPr/>
            </a:pPr>
            <a:r>
              <a:rPr lang="en-US" altLang="en-US" dirty="0"/>
              <a:t>As </a:t>
            </a:r>
            <a:r>
              <a:rPr lang="en-US" altLang="en-US" i="1" dirty="0"/>
              <a:t>N</a:t>
            </a:r>
            <a:r>
              <a:rPr lang="en-US" altLang="en-US" dirty="0"/>
              <a:t> approaches infinity, speedup approaches 1 / </a:t>
            </a:r>
            <a:r>
              <a:rPr lang="en-US" altLang="en-US" i="1" dirty="0"/>
              <a:t>S</a:t>
            </a:r>
          </a:p>
          <a:p>
            <a:pPr>
              <a:buFont typeface="Monotype Sorts" pitchFamily="-84" charset="2"/>
              <a:buNone/>
              <a:defRPr/>
            </a:pPr>
            <a:br>
              <a:rPr lang="en-US" altLang="en-US" b="1" dirty="0"/>
            </a:br>
            <a:r>
              <a:rPr lang="en-US" altLang="en-US" b="1" dirty="0"/>
              <a:t>Serial portion of an application has disproportionate  effect on performance gained by adding additional cores</a:t>
            </a:r>
          </a:p>
        </p:txBody>
      </p:sp>
      <p:pic>
        <p:nvPicPr>
          <p:cNvPr id="13316" name="Picture 1" descr="Screen Shot 2012-12-04 at 7.54.07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44903" y="2323985"/>
            <a:ext cx="2430463"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endParaRPr lang="en-US" dirty="0"/>
          </a:p>
        </p:txBody>
      </p:sp>
      <p:sp>
        <p:nvSpPr>
          <p:cNvPr id="3" name="Content Placeholder 2"/>
          <p:cNvSpPr>
            <a:spLocks noGrp="1"/>
          </p:cNvSpPr>
          <p:nvPr>
            <p:ph idx="1"/>
          </p:nvPr>
        </p:nvSpPr>
        <p:spPr/>
        <p:txBody>
          <a:bodyPr/>
          <a:lstStyle/>
          <a:p>
            <a:r>
              <a:rPr lang="en-US" dirty="0">
                <a:solidFill>
                  <a:schemeClr val="bg2">
                    <a:lumMod val="90000"/>
                  </a:schemeClr>
                </a:solidFill>
              </a:rPr>
              <a:t>Threads (Introduction)</a:t>
            </a:r>
          </a:p>
          <a:p>
            <a:r>
              <a:rPr lang="en-US" dirty="0"/>
              <a:t>Multithreading models</a:t>
            </a:r>
          </a:p>
          <a:p>
            <a:r>
              <a:rPr lang="en-US" dirty="0">
                <a:solidFill>
                  <a:schemeClr val="bg2">
                    <a:lumMod val="90000"/>
                  </a:schemeClr>
                </a:solidFill>
              </a:rPr>
              <a:t>Implicit threading</a:t>
            </a:r>
          </a:p>
          <a:p>
            <a:r>
              <a:rPr lang="en-US" dirty="0">
                <a:solidFill>
                  <a:schemeClr val="bg2">
                    <a:lumMod val="90000"/>
                  </a:schemeClr>
                </a:solidFill>
              </a:rPr>
              <a:t>Threading issues</a:t>
            </a:r>
          </a:p>
        </p:txBody>
      </p:sp>
      <p:sp>
        <p:nvSpPr>
          <p:cNvPr id="4" name="Footer Placeholder 3"/>
          <p:cNvSpPr>
            <a:spLocks noGrp="1"/>
          </p:cNvSpPr>
          <p:nvPr>
            <p:ph type="ftr" sz="quarter" idx="11"/>
          </p:nvPr>
        </p:nvSpPr>
        <p:spPr/>
        <p:txBody>
          <a:bodyPr/>
          <a:lstStyle/>
          <a:p>
            <a:r>
              <a:rPr lang="en-US"/>
              <a:t>Operating Systems - Threads</a:t>
            </a:r>
          </a:p>
        </p:txBody>
      </p:sp>
      <p:sp>
        <p:nvSpPr>
          <p:cNvPr id="5" name="Slide Number Placeholder 4"/>
          <p:cNvSpPr>
            <a:spLocks noGrp="1"/>
          </p:cNvSpPr>
          <p:nvPr>
            <p:ph type="sldNum" sz="quarter" idx="12"/>
          </p:nvPr>
        </p:nvSpPr>
        <p:spPr/>
        <p:txBody>
          <a:bodyPr/>
          <a:lstStyle/>
          <a:p>
            <a:fld id="{95AAEEEC-DCEC-4178-AB14-E7254A15A296}" type="slidenum">
              <a:rPr lang="en-US" smtClean="0"/>
              <a:pPr/>
              <a:t>21</a:t>
            </a:fld>
            <a:endParaRPr lang="en-US"/>
          </a:p>
        </p:txBody>
      </p:sp>
      <p:sp>
        <p:nvSpPr>
          <p:cNvPr id="10" name="Date Placeholder 9"/>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324834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936625" y="201613"/>
            <a:ext cx="7826375" cy="576262"/>
          </a:xfrm>
        </p:spPr>
        <p:txBody>
          <a:bodyPr/>
          <a:lstStyle/>
          <a:p>
            <a:pPr eaLnBrk="1" hangingPunct="1"/>
            <a:r>
              <a:rPr lang="en-US" altLang="en-US"/>
              <a:t>User Threads and Kernel Threads</a:t>
            </a:r>
          </a:p>
        </p:txBody>
      </p:sp>
      <p:sp>
        <p:nvSpPr>
          <p:cNvPr id="14339" name="Rectangle 3"/>
          <p:cNvSpPr>
            <a:spLocks noGrp="1" noChangeArrowheads="1"/>
          </p:cNvSpPr>
          <p:nvPr>
            <p:ph idx="1"/>
          </p:nvPr>
        </p:nvSpPr>
        <p:spPr/>
        <p:txBody>
          <a:bodyPr/>
          <a:lstStyle/>
          <a:p>
            <a:r>
              <a:rPr lang="en-US" altLang="en-US" b="1">
                <a:solidFill>
                  <a:srgbClr val="3366FF"/>
                </a:solidFill>
              </a:rPr>
              <a:t>User threads</a:t>
            </a:r>
            <a:r>
              <a:rPr lang="en-US" altLang="en-US"/>
              <a:t> - management done by user-level threads library</a:t>
            </a:r>
          </a:p>
          <a:p>
            <a:r>
              <a:rPr lang="en-US" altLang="en-US"/>
              <a:t>Three primary thread libraries:</a:t>
            </a:r>
          </a:p>
          <a:p>
            <a:pPr lvl="1"/>
            <a:r>
              <a:rPr lang="en-US" altLang="en-US"/>
              <a:t> POSIX </a:t>
            </a:r>
            <a:r>
              <a:rPr lang="en-US" altLang="en-US" b="1">
                <a:solidFill>
                  <a:srgbClr val="3366FF"/>
                </a:solidFill>
              </a:rPr>
              <a:t>Pthreads</a:t>
            </a:r>
            <a:endParaRPr lang="en-US" altLang="en-US" b="1" i="1">
              <a:solidFill>
                <a:srgbClr val="3366FF"/>
              </a:solidFill>
            </a:endParaRPr>
          </a:p>
          <a:p>
            <a:pPr lvl="1"/>
            <a:r>
              <a:rPr lang="en-US" altLang="en-US"/>
              <a:t> Windows threads</a:t>
            </a:r>
          </a:p>
          <a:p>
            <a:pPr lvl="1"/>
            <a:r>
              <a:rPr lang="en-US" altLang="en-US"/>
              <a:t> Java threads</a:t>
            </a:r>
          </a:p>
          <a:p>
            <a:r>
              <a:rPr lang="en-US" altLang="en-US" b="1">
                <a:solidFill>
                  <a:srgbClr val="3366FF"/>
                </a:solidFill>
              </a:rPr>
              <a:t>Kernel threads </a:t>
            </a:r>
            <a:r>
              <a:rPr lang="en-US" altLang="en-US"/>
              <a:t>- Supported by the Kernel</a:t>
            </a:r>
          </a:p>
          <a:p>
            <a:r>
              <a:rPr lang="en-US" altLang="en-US"/>
              <a:t>Examples – virtually all general purpose operating systems, including:</a:t>
            </a:r>
          </a:p>
          <a:p>
            <a:pPr lvl="1"/>
            <a:r>
              <a:rPr lang="en-US" altLang="en-US"/>
              <a:t>Windows </a:t>
            </a:r>
          </a:p>
          <a:p>
            <a:pPr lvl="1"/>
            <a:r>
              <a:rPr lang="en-US" altLang="en-US"/>
              <a:t>Solaris</a:t>
            </a:r>
          </a:p>
          <a:p>
            <a:pPr lvl="1"/>
            <a:r>
              <a:rPr lang="en-US" altLang="en-US"/>
              <a:t>Linux</a:t>
            </a:r>
          </a:p>
          <a:p>
            <a:pPr lvl="1"/>
            <a:r>
              <a:rPr lang="en-US" altLang="en-US"/>
              <a:t>Tru64 UNIX</a:t>
            </a:r>
          </a:p>
          <a:p>
            <a:pPr lvl="1"/>
            <a:r>
              <a:rPr lang="en-US" altLang="en-US"/>
              <a:t>Mac OS X</a:t>
            </a:r>
          </a:p>
          <a:p>
            <a:pPr lvl="1"/>
            <a:endParaRPr lang="en-US" altLang="en-US"/>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188913"/>
            <a:ext cx="8229600" cy="576262"/>
          </a:xfrm>
        </p:spPr>
        <p:txBody>
          <a:bodyPr/>
          <a:lstStyle/>
          <a:p>
            <a:pPr eaLnBrk="1" hangingPunct="1"/>
            <a:r>
              <a:rPr lang="en-US" altLang="en-US"/>
              <a:t>Multithreading Models</a:t>
            </a:r>
          </a:p>
        </p:txBody>
      </p:sp>
      <p:sp>
        <p:nvSpPr>
          <p:cNvPr id="15363" name="Rectangle 3"/>
          <p:cNvSpPr>
            <a:spLocks noGrp="1" noChangeArrowheads="1"/>
          </p:cNvSpPr>
          <p:nvPr>
            <p:ph idx="1"/>
          </p:nvPr>
        </p:nvSpPr>
        <p:spPr/>
        <p:txBody>
          <a:bodyPr/>
          <a:lstStyle/>
          <a:p>
            <a:r>
              <a:rPr lang="en-US" altLang="en-US"/>
              <a:t>Many-to-One</a:t>
            </a:r>
            <a:br>
              <a:rPr lang="en-US" altLang="en-US"/>
            </a:br>
            <a:endParaRPr lang="en-US" altLang="en-US"/>
          </a:p>
          <a:p>
            <a:r>
              <a:rPr lang="en-US" altLang="en-US"/>
              <a:t>One-to-One</a:t>
            </a:r>
            <a:br>
              <a:rPr lang="en-US" altLang="en-US"/>
            </a:br>
            <a:endParaRPr lang="en-US" altLang="en-US"/>
          </a:p>
          <a:p>
            <a:r>
              <a:rPr lang="en-US" altLang="en-US"/>
              <a:t>Many-to-Many</a:t>
            </a:r>
          </a:p>
          <a:p>
            <a:endParaRPr lang="en-US" altLang="en-US"/>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176213"/>
            <a:ext cx="8229600" cy="576262"/>
          </a:xfrm>
        </p:spPr>
        <p:txBody>
          <a:bodyPr/>
          <a:lstStyle/>
          <a:p>
            <a:pPr eaLnBrk="1" hangingPunct="1"/>
            <a:r>
              <a:rPr lang="en-US" altLang="en-US"/>
              <a:t>Many-to-One</a:t>
            </a:r>
          </a:p>
        </p:txBody>
      </p:sp>
      <p:sp>
        <p:nvSpPr>
          <p:cNvPr id="16387" name="Rectangle 3"/>
          <p:cNvSpPr>
            <a:spLocks noGrp="1" noChangeArrowheads="1"/>
          </p:cNvSpPr>
          <p:nvPr>
            <p:ph idx="1"/>
          </p:nvPr>
        </p:nvSpPr>
        <p:spPr>
          <a:xfrm>
            <a:off x="806450" y="1233488"/>
            <a:ext cx="4654550" cy="4530725"/>
          </a:xfrm>
        </p:spPr>
        <p:txBody>
          <a:bodyPr/>
          <a:lstStyle/>
          <a:p>
            <a:r>
              <a:rPr lang="en-US" altLang="en-US" dirty="0"/>
              <a:t>Many user-level threads mapped to single kernel thread</a:t>
            </a:r>
          </a:p>
          <a:p>
            <a:r>
              <a:rPr lang="en-US" altLang="en-US" dirty="0"/>
              <a:t>One thread blocking causes all to block</a:t>
            </a:r>
          </a:p>
          <a:p>
            <a:r>
              <a:rPr lang="en-US" altLang="en-US" dirty="0"/>
              <a:t>Multiple threads may not run in parallel on multicore system because only one may be in kernel at a time</a:t>
            </a:r>
          </a:p>
          <a:p>
            <a:r>
              <a:rPr lang="en-US" altLang="en-US" dirty="0"/>
              <a:t>Few systems currently use this model</a:t>
            </a:r>
          </a:p>
          <a:p>
            <a:r>
              <a:rPr lang="en-US" altLang="en-US" dirty="0"/>
              <a:t>Examples:</a:t>
            </a:r>
          </a:p>
          <a:p>
            <a:pPr lvl="1"/>
            <a:r>
              <a:rPr lang="en-US" altLang="en-US" b="1" dirty="0">
                <a:solidFill>
                  <a:srgbClr val="3366FF"/>
                </a:solidFill>
              </a:rPr>
              <a:t>Solaris Green Threads</a:t>
            </a:r>
          </a:p>
          <a:p>
            <a:pPr lvl="1"/>
            <a:r>
              <a:rPr lang="en-US" altLang="en-US" b="1" dirty="0">
                <a:solidFill>
                  <a:srgbClr val="3366FF"/>
                </a:solidFill>
              </a:rPr>
              <a:t>GNU Portable Threads</a:t>
            </a:r>
          </a:p>
        </p:txBody>
      </p:sp>
      <p:pic>
        <p:nvPicPr>
          <p:cNvPr id="16388" name="Picture 1" descr="4_05.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78500" y="2339975"/>
            <a:ext cx="2743200" cy="305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a:t>One-to-One</a:t>
            </a:r>
          </a:p>
        </p:txBody>
      </p:sp>
      <p:sp>
        <p:nvSpPr>
          <p:cNvPr id="17411" name="Rectangle 3"/>
          <p:cNvSpPr>
            <a:spLocks noGrp="1" noChangeArrowheads="1"/>
          </p:cNvSpPr>
          <p:nvPr>
            <p:ph idx="1"/>
          </p:nvPr>
        </p:nvSpPr>
        <p:spPr>
          <a:xfrm>
            <a:off x="806450" y="1233488"/>
            <a:ext cx="5772150" cy="4530725"/>
          </a:xfrm>
        </p:spPr>
        <p:txBody>
          <a:bodyPr/>
          <a:lstStyle/>
          <a:p>
            <a:r>
              <a:rPr lang="en-US" altLang="en-US"/>
              <a:t>Each user-level thread maps to kernel thread</a:t>
            </a:r>
          </a:p>
          <a:p>
            <a:r>
              <a:rPr lang="en-US" altLang="en-US"/>
              <a:t>Creating a user-level thread creates a kernel thread</a:t>
            </a:r>
          </a:p>
          <a:p>
            <a:r>
              <a:rPr lang="en-US" altLang="en-US"/>
              <a:t>More concurrency than many-to-one</a:t>
            </a:r>
          </a:p>
          <a:p>
            <a:r>
              <a:rPr lang="en-US" altLang="en-US"/>
              <a:t>Number of threads per process sometimes restricted due to overhead</a:t>
            </a:r>
          </a:p>
          <a:p>
            <a:r>
              <a:rPr lang="en-US" altLang="en-US"/>
              <a:t>Examples</a:t>
            </a:r>
          </a:p>
          <a:p>
            <a:pPr lvl="1"/>
            <a:r>
              <a:rPr lang="en-US" altLang="en-US"/>
              <a:t>Windows</a:t>
            </a:r>
          </a:p>
          <a:p>
            <a:pPr lvl="1"/>
            <a:r>
              <a:rPr lang="en-US" altLang="en-US"/>
              <a:t>Linux</a:t>
            </a:r>
          </a:p>
          <a:p>
            <a:pPr lvl="1"/>
            <a:r>
              <a:rPr lang="en-US" altLang="en-US"/>
              <a:t>Solaris 9 and later</a:t>
            </a:r>
          </a:p>
        </p:txBody>
      </p:sp>
      <p:pic>
        <p:nvPicPr>
          <p:cNvPr id="17412" name="Picture 1" descr="4_06.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29100" y="3048000"/>
            <a:ext cx="4475163" cy="191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a:t>Many-to-Many Model</a:t>
            </a:r>
          </a:p>
        </p:txBody>
      </p:sp>
      <p:sp>
        <p:nvSpPr>
          <p:cNvPr id="18435" name="Rectangle 3"/>
          <p:cNvSpPr>
            <a:spLocks noGrp="1" noChangeArrowheads="1"/>
          </p:cNvSpPr>
          <p:nvPr>
            <p:ph idx="1"/>
          </p:nvPr>
        </p:nvSpPr>
        <p:spPr>
          <a:xfrm>
            <a:off x="827088" y="1155700"/>
            <a:ext cx="4448175" cy="4445000"/>
          </a:xfrm>
        </p:spPr>
        <p:txBody>
          <a:bodyPr/>
          <a:lstStyle/>
          <a:p>
            <a:r>
              <a:rPr lang="en-US" altLang="en-US"/>
              <a:t>Allows many user level threads to be mapped to many kernel threads</a:t>
            </a:r>
          </a:p>
          <a:p>
            <a:r>
              <a:rPr lang="en-US" altLang="en-US"/>
              <a:t>Allows the  operating system to create a sufficient number of kernel threads</a:t>
            </a:r>
          </a:p>
          <a:p>
            <a:r>
              <a:rPr lang="en-US" altLang="en-US"/>
              <a:t>Solaris prior to version 9</a:t>
            </a:r>
          </a:p>
          <a:p>
            <a:r>
              <a:rPr lang="en-US" altLang="en-US"/>
              <a:t>Windows  with the </a:t>
            </a:r>
            <a:r>
              <a:rPr lang="en-US" altLang="en-US" i="1"/>
              <a:t>ThreadFiber</a:t>
            </a:r>
            <a:r>
              <a:rPr lang="en-US" altLang="en-US"/>
              <a:t> package</a:t>
            </a:r>
          </a:p>
        </p:txBody>
      </p:sp>
      <p:pic>
        <p:nvPicPr>
          <p:cNvPr id="18436" name="Picture 1" descr="4_07.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40338" y="2451100"/>
            <a:ext cx="3159125" cy="303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163513"/>
            <a:ext cx="8229600" cy="576262"/>
          </a:xfrm>
        </p:spPr>
        <p:txBody>
          <a:bodyPr/>
          <a:lstStyle/>
          <a:p>
            <a:pPr eaLnBrk="1" hangingPunct="1"/>
            <a:r>
              <a:rPr lang="en-US" altLang="en-US"/>
              <a:t>Two-level Model</a:t>
            </a:r>
          </a:p>
        </p:txBody>
      </p:sp>
      <p:sp>
        <p:nvSpPr>
          <p:cNvPr id="19459" name="Rectangle 3"/>
          <p:cNvSpPr>
            <a:spLocks noGrp="1" noChangeArrowheads="1"/>
          </p:cNvSpPr>
          <p:nvPr>
            <p:ph idx="1"/>
          </p:nvPr>
        </p:nvSpPr>
        <p:spPr>
          <a:xfrm>
            <a:off x="839788" y="1155700"/>
            <a:ext cx="6450012" cy="4456113"/>
          </a:xfrm>
        </p:spPr>
        <p:txBody>
          <a:bodyPr/>
          <a:lstStyle/>
          <a:p>
            <a:r>
              <a:rPr lang="en-US" altLang="en-US"/>
              <a:t>Similar to M:M, except that it allows a user thread to be </a:t>
            </a:r>
            <a:r>
              <a:rPr lang="en-US" altLang="en-US" b="1"/>
              <a:t>bound</a:t>
            </a:r>
            <a:r>
              <a:rPr lang="en-US" altLang="en-US"/>
              <a:t> to kernel thread</a:t>
            </a:r>
          </a:p>
          <a:p>
            <a:r>
              <a:rPr lang="en-US" altLang="en-US"/>
              <a:t>Examples</a:t>
            </a:r>
          </a:p>
          <a:p>
            <a:pPr lvl="1"/>
            <a:r>
              <a:rPr lang="en-US" altLang="en-US"/>
              <a:t>IRIX</a:t>
            </a:r>
          </a:p>
          <a:p>
            <a:pPr lvl="1"/>
            <a:r>
              <a:rPr lang="en-US" altLang="en-US"/>
              <a:t>HP-UX</a:t>
            </a:r>
          </a:p>
          <a:p>
            <a:pPr lvl="1"/>
            <a:r>
              <a:rPr lang="en-US" altLang="en-US"/>
              <a:t>Tru64 UNIX</a:t>
            </a:r>
          </a:p>
          <a:p>
            <a:pPr lvl="1"/>
            <a:r>
              <a:rPr lang="en-US" altLang="en-US"/>
              <a:t>Solaris 8 and earlier</a:t>
            </a:r>
          </a:p>
        </p:txBody>
      </p:sp>
      <p:pic>
        <p:nvPicPr>
          <p:cNvPr id="19460" name="Picture 1" descr="4_08.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976438"/>
            <a:ext cx="377825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188913"/>
            <a:ext cx="8229600" cy="576262"/>
          </a:xfrm>
        </p:spPr>
        <p:txBody>
          <a:bodyPr/>
          <a:lstStyle/>
          <a:p>
            <a:pPr eaLnBrk="1" hangingPunct="1"/>
            <a:r>
              <a:rPr lang="en-US" altLang="en-US"/>
              <a:t>Thread Libraries</a:t>
            </a:r>
          </a:p>
        </p:txBody>
      </p:sp>
      <p:sp>
        <p:nvSpPr>
          <p:cNvPr id="20483" name="Content Placeholder 2"/>
          <p:cNvSpPr>
            <a:spLocks noGrp="1"/>
          </p:cNvSpPr>
          <p:nvPr>
            <p:ph idx="1"/>
          </p:nvPr>
        </p:nvSpPr>
        <p:spPr>
          <a:xfrm>
            <a:off x="806450" y="1233488"/>
            <a:ext cx="6559550" cy="4530725"/>
          </a:xfrm>
        </p:spPr>
        <p:txBody>
          <a:bodyPr/>
          <a:lstStyle/>
          <a:p>
            <a:r>
              <a:rPr lang="en-US" altLang="en-US" b="1">
                <a:solidFill>
                  <a:srgbClr val="3366FF"/>
                </a:solidFill>
              </a:rPr>
              <a:t>Thread library</a:t>
            </a:r>
            <a:r>
              <a:rPr lang="en-US" altLang="en-US">
                <a:solidFill>
                  <a:srgbClr val="3366FF"/>
                </a:solidFill>
              </a:rPr>
              <a:t> </a:t>
            </a:r>
            <a:r>
              <a:rPr lang="en-US" altLang="en-US"/>
              <a:t>provides programmer with API for creating and managing threads</a:t>
            </a:r>
          </a:p>
          <a:p>
            <a:r>
              <a:rPr lang="en-US" altLang="en-US"/>
              <a:t>Two primary ways of implementing</a:t>
            </a:r>
          </a:p>
          <a:p>
            <a:pPr lvl="1"/>
            <a:r>
              <a:rPr lang="en-US" altLang="en-US"/>
              <a:t>Library entirely in user space</a:t>
            </a:r>
          </a:p>
          <a:p>
            <a:pPr lvl="1"/>
            <a:r>
              <a:rPr lang="en-US" altLang="en-US"/>
              <a:t>Kernel-level library supported by the OS</a:t>
            </a:r>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201613"/>
            <a:ext cx="8229600" cy="576262"/>
          </a:xfrm>
        </p:spPr>
        <p:txBody>
          <a:bodyPr/>
          <a:lstStyle/>
          <a:p>
            <a:pPr eaLnBrk="1" hangingPunct="1"/>
            <a:r>
              <a:rPr lang="en-US" altLang="en-US"/>
              <a:t>Pthreads</a:t>
            </a:r>
          </a:p>
        </p:txBody>
      </p:sp>
      <p:sp>
        <p:nvSpPr>
          <p:cNvPr id="21507" name="Rectangle 3"/>
          <p:cNvSpPr>
            <a:spLocks noGrp="1" noChangeArrowheads="1"/>
          </p:cNvSpPr>
          <p:nvPr>
            <p:ph idx="1"/>
          </p:nvPr>
        </p:nvSpPr>
        <p:spPr>
          <a:xfrm>
            <a:off x="806450" y="1233488"/>
            <a:ext cx="7016750" cy="4465637"/>
          </a:xfrm>
        </p:spPr>
        <p:txBody>
          <a:bodyPr/>
          <a:lstStyle/>
          <a:p>
            <a:r>
              <a:rPr lang="en-US" altLang="en-US"/>
              <a:t>May be provided either as user-level or kernel-level</a:t>
            </a:r>
          </a:p>
          <a:p>
            <a:r>
              <a:rPr lang="en-US" altLang="en-US"/>
              <a:t>A POSIX standard (IEEE 1003.1c) API for thread creation and synchronization</a:t>
            </a:r>
          </a:p>
          <a:p>
            <a:r>
              <a:rPr lang="en-US" altLang="en-US" b="1" i="1"/>
              <a:t>Specification</a:t>
            </a:r>
            <a:r>
              <a:rPr lang="en-US" altLang="en-US"/>
              <a:t>, not </a:t>
            </a:r>
            <a:r>
              <a:rPr lang="en-US" altLang="en-US" b="1" i="1"/>
              <a:t>implementation</a:t>
            </a:r>
            <a:endParaRPr lang="en-US" altLang="en-US"/>
          </a:p>
          <a:p>
            <a:r>
              <a:rPr lang="en-US" altLang="en-US"/>
              <a:t>API specifies behavior of the thread library, implementation is up to development of the library</a:t>
            </a:r>
          </a:p>
          <a:p>
            <a:r>
              <a:rPr lang="en-US" altLang="en-US"/>
              <a:t>Common in UNIX operating systems (Solaris, Linux, Mac OS X)</a:t>
            </a:r>
          </a:p>
          <a:p>
            <a:pPr>
              <a:buFont typeface="Monotype Sorts" pitchFamily="-84" charset="2"/>
              <a:buNone/>
            </a:pPr>
            <a:endParaRPr lang="en-US" altLang="en-US"/>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57200" y="201613"/>
            <a:ext cx="8229600" cy="576262"/>
          </a:xfrm>
        </p:spPr>
        <p:txBody>
          <a:bodyPr/>
          <a:lstStyle/>
          <a:p>
            <a:r>
              <a:rPr lang="en-US" altLang="en-US"/>
              <a:t>Pthreads Example</a:t>
            </a:r>
          </a:p>
        </p:txBody>
      </p:sp>
      <p:pic>
        <p:nvPicPr>
          <p:cNvPr id="22531" name="Picture 1" descr="Screen Shot 2012-12-04 at 8.50.38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87654" y="1090613"/>
            <a:ext cx="6529388" cy="486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30</a:t>
            </a:fld>
            <a:endParaRPr lang="en-US"/>
          </a:p>
        </p:txBody>
      </p:sp>
      <p:sp>
        <p:nvSpPr>
          <p:cNvPr id="5" name="TextBox 4"/>
          <p:cNvSpPr txBox="1"/>
          <p:nvPr/>
        </p:nvSpPr>
        <p:spPr>
          <a:xfrm>
            <a:off x="4208444" y="714703"/>
            <a:ext cx="2491388" cy="523220"/>
          </a:xfrm>
          <a:prstGeom prst="rect">
            <a:avLst/>
          </a:prstGeom>
          <a:noFill/>
          <a:ln>
            <a:solidFill>
              <a:schemeClr val="tx1"/>
            </a:solidFill>
          </a:ln>
        </p:spPr>
        <p:txBody>
          <a:bodyPr wrap="none" rtlCol="0">
            <a:spAutoFit/>
          </a:bodyPr>
          <a:lstStyle/>
          <a:p>
            <a:r>
              <a:rPr lang="en-US" sz="2800" dirty="0">
                <a:latin typeface="+mj-lt"/>
              </a:rPr>
              <a:t>Summing 0 … 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176213"/>
            <a:ext cx="8229600" cy="576262"/>
          </a:xfrm>
        </p:spPr>
        <p:txBody>
          <a:bodyPr/>
          <a:lstStyle/>
          <a:p>
            <a:r>
              <a:rPr lang="en-US" altLang="en-US"/>
              <a:t>Pthreads Example (Cont.)</a:t>
            </a:r>
          </a:p>
        </p:txBody>
      </p:sp>
      <p:pic>
        <p:nvPicPr>
          <p:cNvPr id="23555"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71663" y="995363"/>
            <a:ext cx="5795962" cy="533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023938" y="176213"/>
            <a:ext cx="7793037" cy="576262"/>
          </a:xfrm>
        </p:spPr>
        <p:txBody>
          <a:bodyPr/>
          <a:lstStyle/>
          <a:p>
            <a:r>
              <a:rPr lang="en-US" altLang="en-US" sz="2800"/>
              <a:t>Pthreads Code for Joining 10 Threads</a:t>
            </a:r>
          </a:p>
        </p:txBody>
      </p:sp>
      <p:pic>
        <p:nvPicPr>
          <p:cNvPr id="24579"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52613" y="1447800"/>
            <a:ext cx="543877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endParaRPr lang="en-US" dirty="0"/>
          </a:p>
        </p:txBody>
      </p:sp>
      <p:sp>
        <p:nvSpPr>
          <p:cNvPr id="3" name="Content Placeholder 2"/>
          <p:cNvSpPr>
            <a:spLocks noGrp="1"/>
          </p:cNvSpPr>
          <p:nvPr>
            <p:ph idx="1"/>
          </p:nvPr>
        </p:nvSpPr>
        <p:spPr/>
        <p:txBody>
          <a:bodyPr/>
          <a:lstStyle/>
          <a:p>
            <a:r>
              <a:rPr lang="en-US" dirty="0">
                <a:solidFill>
                  <a:schemeClr val="bg2">
                    <a:lumMod val="90000"/>
                  </a:schemeClr>
                </a:solidFill>
              </a:rPr>
              <a:t>Threads (Introduction)</a:t>
            </a:r>
          </a:p>
          <a:p>
            <a:r>
              <a:rPr lang="en-US" dirty="0">
                <a:solidFill>
                  <a:schemeClr val="bg2">
                    <a:lumMod val="90000"/>
                  </a:schemeClr>
                </a:solidFill>
              </a:rPr>
              <a:t>Multithreading models</a:t>
            </a:r>
          </a:p>
          <a:p>
            <a:r>
              <a:rPr lang="en-US" dirty="0"/>
              <a:t>Implicit threading</a:t>
            </a:r>
          </a:p>
          <a:p>
            <a:r>
              <a:rPr lang="en-US" dirty="0">
                <a:solidFill>
                  <a:schemeClr val="bg2">
                    <a:lumMod val="90000"/>
                  </a:schemeClr>
                </a:solidFill>
              </a:rPr>
              <a:t>Threading issues</a:t>
            </a:r>
          </a:p>
        </p:txBody>
      </p:sp>
      <p:sp>
        <p:nvSpPr>
          <p:cNvPr id="4" name="Footer Placeholder 3"/>
          <p:cNvSpPr>
            <a:spLocks noGrp="1"/>
          </p:cNvSpPr>
          <p:nvPr>
            <p:ph type="ftr" sz="quarter" idx="11"/>
          </p:nvPr>
        </p:nvSpPr>
        <p:spPr/>
        <p:txBody>
          <a:bodyPr/>
          <a:lstStyle/>
          <a:p>
            <a:r>
              <a:rPr lang="en-US"/>
              <a:t>Operating Systems - Threads</a:t>
            </a:r>
          </a:p>
        </p:txBody>
      </p:sp>
      <p:sp>
        <p:nvSpPr>
          <p:cNvPr id="5" name="Slide Number Placeholder 4"/>
          <p:cNvSpPr>
            <a:spLocks noGrp="1"/>
          </p:cNvSpPr>
          <p:nvPr>
            <p:ph type="sldNum" sz="quarter" idx="12"/>
          </p:nvPr>
        </p:nvSpPr>
        <p:spPr/>
        <p:txBody>
          <a:bodyPr/>
          <a:lstStyle/>
          <a:p>
            <a:fld id="{95AAEEEC-DCEC-4178-AB14-E7254A15A296}" type="slidenum">
              <a:rPr lang="en-US" smtClean="0"/>
              <a:pPr/>
              <a:t>33</a:t>
            </a:fld>
            <a:endParaRPr lang="en-US"/>
          </a:p>
        </p:txBody>
      </p:sp>
      <p:sp>
        <p:nvSpPr>
          <p:cNvPr id="10" name="Date Placeholder 9"/>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9204319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163513"/>
            <a:ext cx="8229600" cy="576262"/>
          </a:xfrm>
        </p:spPr>
        <p:txBody>
          <a:bodyPr/>
          <a:lstStyle/>
          <a:p>
            <a:pPr eaLnBrk="1" hangingPunct="1"/>
            <a:r>
              <a:rPr lang="en-US" altLang="en-US"/>
              <a:t>Implicit Threading</a:t>
            </a:r>
          </a:p>
        </p:txBody>
      </p:sp>
      <p:sp>
        <p:nvSpPr>
          <p:cNvPr id="30723" name="Rectangle 3"/>
          <p:cNvSpPr>
            <a:spLocks noGrp="1" noChangeArrowheads="1"/>
          </p:cNvSpPr>
          <p:nvPr>
            <p:ph idx="1"/>
          </p:nvPr>
        </p:nvSpPr>
        <p:spPr>
          <a:xfrm>
            <a:off x="806450" y="1233488"/>
            <a:ext cx="6889750" cy="4478337"/>
          </a:xfrm>
        </p:spPr>
        <p:txBody>
          <a:bodyPr/>
          <a:lstStyle/>
          <a:p>
            <a:r>
              <a:rPr lang="en-US" altLang="en-US" dirty="0"/>
              <a:t>Growing in popularity as numbers of threads increase, program correctness more difficult with explicit threads</a:t>
            </a:r>
          </a:p>
          <a:p>
            <a:r>
              <a:rPr lang="en-US" altLang="en-US" dirty="0"/>
              <a:t>Creation and management of threads done by compilers and run-time libraries rather than programmers</a:t>
            </a:r>
          </a:p>
          <a:p>
            <a:r>
              <a:rPr lang="en-US" altLang="en-US" dirty="0"/>
              <a:t>Two methods explored</a:t>
            </a:r>
          </a:p>
          <a:p>
            <a:pPr lvl="1"/>
            <a:r>
              <a:rPr lang="en-US" altLang="en-US" dirty="0"/>
              <a:t>Thread Pools</a:t>
            </a:r>
          </a:p>
          <a:p>
            <a:pPr lvl="1"/>
            <a:r>
              <a:rPr lang="en-US" altLang="en-US" dirty="0" err="1"/>
              <a:t>OpenMP</a:t>
            </a:r>
            <a:endParaRPr lang="en-US" altLang="en-US" dirty="0"/>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150813"/>
            <a:ext cx="8229600" cy="576262"/>
          </a:xfrm>
        </p:spPr>
        <p:txBody>
          <a:bodyPr/>
          <a:lstStyle/>
          <a:p>
            <a:pPr eaLnBrk="1" hangingPunct="1"/>
            <a:r>
              <a:rPr lang="en-US" altLang="en-US"/>
              <a:t>Thread Pools</a:t>
            </a:r>
          </a:p>
        </p:txBody>
      </p:sp>
      <p:sp>
        <p:nvSpPr>
          <p:cNvPr id="31747" name="Rectangle 3"/>
          <p:cNvSpPr>
            <a:spLocks noGrp="1" noChangeArrowheads="1"/>
          </p:cNvSpPr>
          <p:nvPr>
            <p:ph idx="1"/>
          </p:nvPr>
        </p:nvSpPr>
        <p:spPr>
          <a:xfrm>
            <a:off x="628650" y="1081088"/>
            <a:ext cx="8058150" cy="4478337"/>
          </a:xfrm>
        </p:spPr>
        <p:txBody>
          <a:bodyPr>
            <a:normAutofit/>
          </a:bodyPr>
          <a:lstStyle/>
          <a:p>
            <a:r>
              <a:rPr lang="en-US" altLang="en-US" sz="2800" dirty="0"/>
              <a:t>Create a number of threads in a pool where they await work</a:t>
            </a:r>
          </a:p>
          <a:p>
            <a:r>
              <a:rPr lang="en-US" altLang="en-US" sz="2800" dirty="0"/>
              <a:t>Advantages:</a:t>
            </a:r>
          </a:p>
          <a:p>
            <a:pPr lvl="1"/>
            <a:r>
              <a:rPr lang="en-US" altLang="en-US" sz="2400" dirty="0"/>
              <a:t>Usually slightly faster to service a request with an existing thread than create a new thread</a:t>
            </a:r>
          </a:p>
          <a:p>
            <a:pPr lvl="1"/>
            <a:r>
              <a:rPr lang="en-US" altLang="en-US" sz="2400" dirty="0"/>
              <a:t>Allows the number of threads in the application(s) to be bound to the size of the pool</a:t>
            </a:r>
          </a:p>
          <a:p>
            <a:pPr lvl="1"/>
            <a:r>
              <a:rPr lang="en-US" altLang="en-US" sz="2400" dirty="0"/>
              <a:t>Separating task to be performed from mechanics of creating task allows different strategies for running task</a:t>
            </a:r>
          </a:p>
          <a:p>
            <a:pPr lvl="2"/>
            <a:r>
              <a:rPr lang="en-US" altLang="en-US" sz="1800" dirty="0"/>
              <a:t>e.g., tasks could be scheduled to run periodically</a:t>
            </a:r>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138113"/>
            <a:ext cx="8229600" cy="576262"/>
          </a:xfrm>
        </p:spPr>
        <p:txBody>
          <a:bodyPr/>
          <a:lstStyle/>
          <a:p>
            <a:pPr eaLnBrk="1" hangingPunct="1"/>
            <a:r>
              <a:rPr lang="en-US" altLang="en-US"/>
              <a:t>OpenMP</a:t>
            </a:r>
          </a:p>
        </p:txBody>
      </p:sp>
      <p:sp>
        <p:nvSpPr>
          <p:cNvPr id="32771" name="Rectangle 3"/>
          <p:cNvSpPr>
            <a:spLocks noGrp="1" noChangeArrowheads="1"/>
          </p:cNvSpPr>
          <p:nvPr>
            <p:ph idx="1"/>
          </p:nvPr>
        </p:nvSpPr>
        <p:spPr>
          <a:xfrm>
            <a:off x="806450" y="992188"/>
            <a:ext cx="3560763" cy="4478337"/>
          </a:xfrm>
        </p:spPr>
        <p:txBody>
          <a:bodyPr/>
          <a:lstStyle/>
          <a:p>
            <a:r>
              <a:rPr lang="en-US" altLang="en-US" sz="1600" dirty="0"/>
              <a:t>Set of compiler directives and an API for C, C++, FORTRAN </a:t>
            </a:r>
          </a:p>
          <a:p>
            <a:r>
              <a:rPr lang="en-US" altLang="en-US" sz="1600" dirty="0"/>
              <a:t>Provides support for parallel programming in shared-memory environments</a:t>
            </a:r>
          </a:p>
          <a:p>
            <a:r>
              <a:rPr lang="en-US" altLang="en-US" sz="1600" dirty="0"/>
              <a:t>Identifies </a:t>
            </a:r>
            <a:r>
              <a:rPr lang="en-US" altLang="en-US" sz="1600" b="1" dirty="0">
                <a:solidFill>
                  <a:srgbClr val="3366FF"/>
                </a:solidFill>
              </a:rPr>
              <a:t>parallel regions </a:t>
            </a:r>
            <a:r>
              <a:rPr lang="en-US" altLang="en-US" sz="1600" dirty="0"/>
              <a:t>– blocks of code that can run in parallel</a:t>
            </a:r>
          </a:p>
          <a:p>
            <a:pPr>
              <a:buFont typeface="Monotype Sorts" pitchFamily="-84" charset="2"/>
              <a:buNone/>
            </a:pPr>
            <a:r>
              <a:rPr lang="en-US" altLang="en-US" sz="1600" b="1" dirty="0">
                <a:latin typeface="Courier New" panose="02070309020205020404" pitchFamily="49" charset="0"/>
                <a:cs typeface="Courier New" panose="02070309020205020404" pitchFamily="49" charset="0"/>
              </a:rPr>
              <a:t>#pragma </a:t>
            </a:r>
            <a:r>
              <a:rPr lang="en-US" altLang="en-US" sz="1600" b="1" dirty="0" err="1">
                <a:latin typeface="Courier New" panose="02070309020205020404" pitchFamily="49" charset="0"/>
                <a:cs typeface="Courier New" panose="02070309020205020404" pitchFamily="49" charset="0"/>
              </a:rPr>
              <a:t>omp</a:t>
            </a:r>
            <a:r>
              <a:rPr lang="en-US" altLang="en-US" sz="1600" b="1" dirty="0">
                <a:latin typeface="Courier New" panose="02070309020205020404" pitchFamily="49" charset="0"/>
                <a:cs typeface="Courier New" panose="02070309020205020404" pitchFamily="49" charset="0"/>
              </a:rPr>
              <a:t> parallel </a:t>
            </a:r>
          </a:p>
          <a:p>
            <a:pPr>
              <a:buFont typeface="Monotype Sorts" pitchFamily="-84" charset="2"/>
              <a:buNone/>
            </a:pPr>
            <a:r>
              <a:rPr lang="en-US" altLang="en-US" sz="1600" dirty="0"/>
              <a:t>Create as many threads as there are cores</a:t>
            </a:r>
          </a:p>
          <a:p>
            <a:pPr>
              <a:buFont typeface="Monotype Sorts" pitchFamily="-84" charset="2"/>
              <a:buNone/>
            </a:pPr>
            <a:r>
              <a:rPr lang="da-DK" altLang="en-US" sz="1600" b="1" dirty="0">
                <a:latin typeface="Courier New" panose="02070309020205020404" pitchFamily="49" charset="0"/>
                <a:cs typeface="Courier New" panose="02070309020205020404" pitchFamily="49" charset="0"/>
              </a:rPr>
              <a:t>#pragma omp parallel for for(i=0;i&lt;N;i++) { </a:t>
            </a:r>
          </a:p>
          <a:p>
            <a:pPr>
              <a:buFont typeface="Monotype Sorts" pitchFamily="-84" charset="2"/>
              <a:buNone/>
            </a:pPr>
            <a:r>
              <a:rPr lang="da-DK" altLang="en-US" sz="1600" b="1" dirty="0">
                <a:latin typeface="Courier New" panose="02070309020205020404" pitchFamily="49" charset="0"/>
                <a:cs typeface="Courier New" panose="02070309020205020404" pitchFamily="49" charset="0"/>
              </a:rPr>
              <a:t>    c[i] = a[i] + b[i]; </a:t>
            </a:r>
          </a:p>
          <a:p>
            <a:pPr>
              <a:buFont typeface="Monotype Sorts" pitchFamily="-84" charset="2"/>
              <a:buNone/>
            </a:pPr>
            <a:r>
              <a:rPr lang="da-DK" altLang="en-US" sz="1600" b="1" dirty="0">
                <a:latin typeface="Courier New" panose="02070309020205020404" pitchFamily="49" charset="0"/>
                <a:cs typeface="Courier New" panose="02070309020205020404" pitchFamily="49" charset="0"/>
              </a:rPr>
              <a:t>} </a:t>
            </a:r>
          </a:p>
          <a:p>
            <a:pPr>
              <a:buFont typeface="Monotype Sorts" pitchFamily="-84" charset="2"/>
              <a:buNone/>
            </a:pPr>
            <a:r>
              <a:rPr lang="en-US" altLang="en-US" sz="1600" dirty="0"/>
              <a:t>Run for loop in parallel</a:t>
            </a:r>
          </a:p>
          <a:p>
            <a:endParaRPr lang="en-US" altLang="en-US" dirty="0"/>
          </a:p>
        </p:txBody>
      </p:sp>
      <p:pic>
        <p:nvPicPr>
          <p:cNvPr id="3277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8500" y="1473200"/>
            <a:ext cx="4483100"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endParaRPr lang="en-US" dirty="0"/>
          </a:p>
        </p:txBody>
      </p:sp>
      <p:sp>
        <p:nvSpPr>
          <p:cNvPr id="3" name="Content Placeholder 2"/>
          <p:cNvSpPr>
            <a:spLocks noGrp="1"/>
          </p:cNvSpPr>
          <p:nvPr>
            <p:ph idx="1"/>
          </p:nvPr>
        </p:nvSpPr>
        <p:spPr/>
        <p:txBody>
          <a:bodyPr/>
          <a:lstStyle/>
          <a:p>
            <a:r>
              <a:rPr lang="en-US" dirty="0">
                <a:solidFill>
                  <a:schemeClr val="bg2">
                    <a:lumMod val="90000"/>
                  </a:schemeClr>
                </a:solidFill>
              </a:rPr>
              <a:t>Threads (Introduction)</a:t>
            </a:r>
          </a:p>
          <a:p>
            <a:r>
              <a:rPr lang="en-US" dirty="0">
                <a:solidFill>
                  <a:schemeClr val="bg2">
                    <a:lumMod val="90000"/>
                  </a:schemeClr>
                </a:solidFill>
              </a:rPr>
              <a:t>Multithreading models</a:t>
            </a:r>
          </a:p>
          <a:p>
            <a:r>
              <a:rPr lang="en-US" dirty="0">
                <a:solidFill>
                  <a:schemeClr val="bg2">
                    <a:lumMod val="90000"/>
                  </a:schemeClr>
                </a:solidFill>
              </a:rPr>
              <a:t>Implicit threading</a:t>
            </a:r>
          </a:p>
          <a:p>
            <a:r>
              <a:rPr lang="en-US" dirty="0"/>
              <a:t>Threading issues</a:t>
            </a:r>
          </a:p>
        </p:txBody>
      </p:sp>
      <p:sp>
        <p:nvSpPr>
          <p:cNvPr id="4" name="Footer Placeholder 3"/>
          <p:cNvSpPr>
            <a:spLocks noGrp="1"/>
          </p:cNvSpPr>
          <p:nvPr>
            <p:ph type="ftr" sz="quarter" idx="11"/>
          </p:nvPr>
        </p:nvSpPr>
        <p:spPr/>
        <p:txBody>
          <a:bodyPr/>
          <a:lstStyle/>
          <a:p>
            <a:r>
              <a:rPr lang="en-US"/>
              <a:t>Operating Systems - Threads</a:t>
            </a:r>
          </a:p>
        </p:txBody>
      </p:sp>
      <p:sp>
        <p:nvSpPr>
          <p:cNvPr id="5" name="Slide Number Placeholder 4"/>
          <p:cNvSpPr>
            <a:spLocks noGrp="1"/>
          </p:cNvSpPr>
          <p:nvPr>
            <p:ph type="sldNum" sz="quarter" idx="12"/>
          </p:nvPr>
        </p:nvSpPr>
        <p:spPr/>
        <p:txBody>
          <a:bodyPr/>
          <a:lstStyle/>
          <a:p>
            <a:fld id="{95AAEEEC-DCEC-4178-AB14-E7254A15A296}" type="slidenum">
              <a:rPr lang="en-US" smtClean="0"/>
              <a:pPr/>
              <a:t>37</a:t>
            </a:fld>
            <a:endParaRPr lang="en-US"/>
          </a:p>
        </p:txBody>
      </p:sp>
      <p:sp>
        <p:nvSpPr>
          <p:cNvPr id="10" name="Date Placeholder 9"/>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5301369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150813"/>
            <a:ext cx="8229600" cy="576262"/>
          </a:xfrm>
        </p:spPr>
        <p:txBody>
          <a:bodyPr/>
          <a:lstStyle/>
          <a:p>
            <a:pPr eaLnBrk="1" hangingPunct="1"/>
            <a:r>
              <a:rPr lang="en-US" altLang="en-US"/>
              <a:t>Threading Issues</a:t>
            </a:r>
          </a:p>
        </p:txBody>
      </p:sp>
      <p:sp>
        <p:nvSpPr>
          <p:cNvPr id="35843" name="Rectangle 3"/>
          <p:cNvSpPr>
            <a:spLocks noGrp="1" noChangeArrowheads="1"/>
          </p:cNvSpPr>
          <p:nvPr>
            <p:ph idx="1"/>
          </p:nvPr>
        </p:nvSpPr>
        <p:spPr>
          <a:xfrm>
            <a:off x="928688" y="1143000"/>
            <a:ext cx="7351712" cy="4483100"/>
          </a:xfrm>
        </p:spPr>
        <p:txBody>
          <a:bodyPr/>
          <a:lstStyle/>
          <a:p>
            <a:r>
              <a:rPr lang="en-US" altLang="en-US" dirty="0"/>
              <a:t>Semantics of </a:t>
            </a:r>
            <a:r>
              <a:rPr lang="en-US" altLang="en-US" b="1" dirty="0"/>
              <a:t>fork()</a:t>
            </a:r>
            <a:r>
              <a:rPr lang="en-US" altLang="en-US" dirty="0"/>
              <a:t> and </a:t>
            </a:r>
            <a:r>
              <a:rPr lang="en-US" altLang="en-US" b="1" dirty="0"/>
              <a:t>exec()</a:t>
            </a:r>
            <a:r>
              <a:rPr lang="en-US" altLang="en-US" dirty="0"/>
              <a:t> system calls</a:t>
            </a:r>
            <a:endParaRPr lang="en-US" altLang="en-US" sz="800" dirty="0"/>
          </a:p>
          <a:p>
            <a:r>
              <a:rPr lang="en-US" altLang="en-US" dirty="0"/>
              <a:t>Signal handling</a:t>
            </a:r>
          </a:p>
          <a:p>
            <a:pPr lvl="1"/>
            <a:r>
              <a:rPr lang="en-US" altLang="en-US" dirty="0"/>
              <a:t>Synchronous and asynchronous</a:t>
            </a:r>
            <a:endParaRPr lang="en-US" altLang="en-US" sz="800" dirty="0"/>
          </a:p>
          <a:p>
            <a:r>
              <a:rPr lang="en-US" altLang="en-US" dirty="0"/>
              <a:t>Thread cancellation of target thread</a:t>
            </a:r>
          </a:p>
          <a:p>
            <a:pPr lvl="1"/>
            <a:r>
              <a:rPr lang="en-US" altLang="en-US" dirty="0"/>
              <a:t>Asynchronous or deferred</a:t>
            </a:r>
            <a:endParaRPr lang="en-US" altLang="en-US" sz="800" dirty="0"/>
          </a:p>
          <a:p>
            <a:pPr lvl="1">
              <a:buFont typeface="Monotype Sorts" pitchFamily="-84" charset="2"/>
              <a:buNone/>
            </a:pPr>
            <a:endParaRPr lang="en-US" altLang="en-US" sz="800" dirty="0"/>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en-US"/>
              <a:t>C Program Forking Separate Process</a:t>
            </a:r>
          </a:p>
        </p:txBody>
      </p:sp>
      <p:sp>
        <p:nvSpPr>
          <p:cNvPr id="2" name="Footer Placeholder 1"/>
          <p:cNvSpPr>
            <a:spLocks noGrp="1"/>
          </p:cNvSpPr>
          <p:nvPr>
            <p:ph type="ftr" sz="quarter" idx="11"/>
          </p:nvPr>
        </p:nvSpPr>
        <p:spPr/>
        <p:txBody>
          <a:bodyPr/>
          <a:lstStyle/>
          <a:p>
            <a:r>
              <a:rPr lang="en-US"/>
              <a:t>Operating Systems - Threads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39</a:t>
            </a:fld>
            <a:endParaRPr lang="en-US"/>
          </a:p>
        </p:txBody>
      </p:sp>
      <p:pic>
        <p:nvPicPr>
          <p:cNvPr id="26627" name="Picture 5" descr="Screen Shot 2012-12-04 at 11.21.10 A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4933" y="1382346"/>
            <a:ext cx="5448476" cy="505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Date Placeholder 7"/>
          <p:cNvSpPr>
            <a:spLocks noGrp="1"/>
          </p:cNvSpPr>
          <p:nvPr>
            <p:ph type="dt" sz="half" idx="10"/>
          </p:nvPr>
        </p:nvSpPr>
        <p:spPr/>
        <p:txBody>
          <a:bodyPr/>
          <a:lstStyle/>
          <a:p>
            <a:r>
              <a:rPr lang="en-US"/>
              <a:t>Vincenzo Gulisano</a:t>
            </a:r>
          </a:p>
        </p:txBody>
      </p:sp>
      <p:pic>
        <p:nvPicPr>
          <p:cNvPr id="7" name="Picture 4" descr="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690689"/>
            <a:ext cx="4309987" cy="1084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0110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117600" y="176213"/>
            <a:ext cx="7569200" cy="576262"/>
          </a:xfrm>
        </p:spPr>
        <p:txBody>
          <a:bodyPr/>
          <a:lstStyle/>
          <a:p>
            <a:pPr eaLnBrk="1" hangingPunct="1"/>
            <a:r>
              <a:rPr lang="en-US" altLang="en-US"/>
              <a:t>Semantics of fork() and exec()</a:t>
            </a:r>
          </a:p>
        </p:txBody>
      </p:sp>
      <p:sp>
        <p:nvSpPr>
          <p:cNvPr id="36867" name="Rectangle 3"/>
          <p:cNvSpPr>
            <a:spLocks noGrp="1" noChangeArrowheads="1"/>
          </p:cNvSpPr>
          <p:nvPr>
            <p:ph idx="1"/>
          </p:nvPr>
        </p:nvSpPr>
        <p:spPr>
          <a:xfrm>
            <a:off x="806450" y="1233488"/>
            <a:ext cx="6597650" cy="4530725"/>
          </a:xfrm>
        </p:spPr>
        <p:txBody>
          <a:bodyPr/>
          <a:lstStyle/>
          <a:p>
            <a:r>
              <a:rPr lang="en-US" altLang="en-US"/>
              <a:t>Does </a:t>
            </a:r>
            <a:r>
              <a:rPr lang="en-US" altLang="en-US" b="1">
                <a:latin typeface="Courier New" panose="02070309020205020404" pitchFamily="49" charset="0"/>
                <a:cs typeface="Courier New" panose="02070309020205020404" pitchFamily="49" charset="0"/>
              </a:rPr>
              <a:t>fork()</a:t>
            </a:r>
            <a:r>
              <a:rPr lang="en-US" altLang="en-US"/>
              <a:t>duplicate only the calling thread or all threads?</a:t>
            </a:r>
          </a:p>
          <a:p>
            <a:pPr lvl="1"/>
            <a:r>
              <a:rPr lang="en-US" altLang="en-US"/>
              <a:t>Some UNIXes have two versions of fork</a:t>
            </a:r>
          </a:p>
          <a:p>
            <a:r>
              <a:rPr lang="en-US" altLang="en-US" b="1">
                <a:latin typeface="Courier New" panose="02070309020205020404" pitchFamily="49" charset="0"/>
                <a:cs typeface="Courier New" panose="02070309020205020404" pitchFamily="49" charset="0"/>
              </a:rPr>
              <a:t>exec() </a:t>
            </a:r>
            <a:r>
              <a:rPr lang="en-US" altLang="en-US"/>
              <a:t>usually works as normal – replace the running process including all threads</a:t>
            </a:r>
          </a:p>
          <a:p>
            <a:pPr lvl="1"/>
            <a:endParaRPr lang="en-US" altLang="en-US"/>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en-US"/>
              <a:t>Signal Handling</a:t>
            </a:r>
          </a:p>
        </p:txBody>
      </p:sp>
      <p:sp>
        <p:nvSpPr>
          <p:cNvPr id="37891" name="Rectangle 3"/>
          <p:cNvSpPr>
            <a:spLocks noGrp="1" noChangeArrowheads="1"/>
          </p:cNvSpPr>
          <p:nvPr>
            <p:ph idx="1"/>
          </p:nvPr>
        </p:nvSpPr>
        <p:spPr/>
        <p:txBody>
          <a:bodyPr/>
          <a:lstStyle/>
          <a:p>
            <a:r>
              <a:rPr lang="en-US"/>
              <a:t>Signals are used in UNIX systems to notify a process that a particular event has occurred.</a:t>
            </a:r>
          </a:p>
          <a:p>
            <a:r>
              <a:rPr lang="en-US"/>
              <a:t>A signal handler is used to process signals</a:t>
            </a:r>
          </a:p>
          <a:p>
            <a:pPr lvl="1"/>
            <a:r>
              <a:rPr lang="en-US"/>
              <a:t>Signal is generated by particular event</a:t>
            </a:r>
          </a:p>
          <a:p>
            <a:pPr lvl="1"/>
            <a:r>
              <a:rPr lang="en-US"/>
              <a:t>Signal is delivered to a process</a:t>
            </a:r>
          </a:p>
          <a:p>
            <a:pPr lvl="1"/>
            <a:r>
              <a:rPr lang="en-US"/>
              <a:t>Signal is handled by one of two signal handlers:</a:t>
            </a:r>
          </a:p>
          <a:p>
            <a:pPr lvl="2"/>
            <a:r>
              <a:rPr lang="en-US"/>
              <a:t>default</a:t>
            </a:r>
          </a:p>
          <a:p>
            <a:pPr lvl="2"/>
            <a:r>
              <a:rPr lang="en-US"/>
              <a:t>user-defined</a:t>
            </a:r>
          </a:p>
          <a:p>
            <a:r>
              <a:rPr lang="en-US"/>
              <a:t>Every signal has default handler that kernel runs when handling signal</a:t>
            </a:r>
          </a:p>
          <a:p>
            <a:pPr lvl="1"/>
            <a:r>
              <a:rPr lang="en-US"/>
              <a:t>User-defined signal handler can override default</a:t>
            </a:r>
          </a:p>
          <a:p>
            <a:pPr lvl="1"/>
            <a:r>
              <a:rPr lang="en-US"/>
              <a:t>For single-threaded, signal delivered to process</a:t>
            </a:r>
            <a:endParaRPr lang="en-US" dirty="0"/>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a:t>Signal Handling (Cont.)</a:t>
            </a:r>
          </a:p>
        </p:txBody>
      </p:sp>
      <p:sp>
        <p:nvSpPr>
          <p:cNvPr id="37891" name="Rectangle 3"/>
          <p:cNvSpPr>
            <a:spLocks noGrp="1" noChangeArrowheads="1"/>
          </p:cNvSpPr>
          <p:nvPr>
            <p:ph idx="1"/>
          </p:nvPr>
        </p:nvSpPr>
        <p:spPr/>
        <p:txBody>
          <a:bodyPr/>
          <a:lstStyle/>
          <a:p>
            <a:r>
              <a:rPr lang="en-US" dirty="0"/>
              <a:t>Where should a signal be delivered for multi-threaded processes? </a:t>
            </a:r>
          </a:p>
          <a:p>
            <a:pPr lvl="1"/>
            <a:r>
              <a:rPr lang="en-US" dirty="0"/>
              <a:t>Deliver the signal to the thread to which the signal applies</a:t>
            </a:r>
          </a:p>
          <a:p>
            <a:pPr lvl="1"/>
            <a:r>
              <a:rPr lang="en-US" dirty="0"/>
              <a:t>Deliver the signal to every thread in the process</a:t>
            </a:r>
          </a:p>
          <a:p>
            <a:pPr lvl="1"/>
            <a:r>
              <a:rPr lang="en-US" dirty="0"/>
              <a:t>Deliver the signal to certain threads in the process</a:t>
            </a:r>
          </a:p>
          <a:p>
            <a:pPr lvl="1"/>
            <a:r>
              <a:rPr lang="en-US" dirty="0"/>
              <a:t>Assign a specific thread to receive all signals for the process</a:t>
            </a:r>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081088" y="188913"/>
            <a:ext cx="7605712" cy="576262"/>
          </a:xfrm>
        </p:spPr>
        <p:txBody>
          <a:bodyPr/>
          <a:lstStyle/>
          <a:p>
            <a:pPr eaLnBrk="1" hangingPunct="1"/>
            <a:r>
              <a:rPr lang="en-US" altLang="en-US"/>
              <a:t>Thread Cancellation</a:t>
            </a:r>
          </a:p>
        </p:txBody>
      </p:sp>
      <p:sp>
        <p:nvSpPr>
          <p:cNvPr id="39939" name="Rectangle 3"/>
          <p:cNvSpPr>
            <a:spLocks noGrp="1" noChangeArrowheads="1"/>
          </p:cNvSpPr>
          <p:nvPr>
            <p:ph idx="1"/>
          </p:nvPr>
        </p:nvSpPr>
        <p:spPr>
          <a:xfrm>
            <a:off x="887413" y="1146175"/>
            <a:ext cx="7405687" cy="4430713"/>
          </a:xfrm>
        </p:spPr>
        <p:txBody>
          <a:bodyPr/>
          <a:lstStyle/>
          <a:p>
            <a:r>
              <a:rPr lang="en-US" altLang="en-US" dirty="0"/>
              <a:t>Terminating a thread before it has finished</a:t>
            </a:r>
          </a:p>
          <a:p>
            <a:r>
              <a:rPr lang="en-US" altLang="en-US" dirty="0"/>
              <a:t>Thread to be cancelled is </a:t>
            </a:r>
            <a:r>
              <a:rPr lang="en-US" altLang="en-US" b="1" dirty="0">
                <a:solidFill>
                  <a:srgbClr val="3366FF"/>
                </a:solidFill>
              </a:rPr>
              <a:t>target thread</a:t>
            </a:r>
            <a:endParaRPr lang="en-US" altLang="en-US" dirty="0"/>
          </a:p>
          <a:p>
            <a:r>
              <a:rPr lang="en-US" altLang="en-US" dirty="0"/>
              <a:t>Two general approaches:</a:t>
            </a:r>
          </a:p>
          <a:p>
            <a:pPr lvl="1"/>
            <a:r>
              <a:rPr lang="en-US" altLang="en-US" b="1" dirty="0"/>
              <a:t>Asynchronous cancellation</a:t>
            </a:r>
            <a:r>
              <a:rPr lang="en-US" altLang="en-US" dirty="0"/>
              <a:t> terminates the target thread immediately</a:t>
            </a:r>
          </a:p>
          <a:p>
            <a:pPr lvl="1"/>
            <a:r>
              <a:rPr lang="en-US" altLang="en-US" b="1" dirty="0"/>
              <a:t>Deferred cancellation</a:t>
            </a:r>
            <a:r>
              <a:rPr lang="en-US" altLang="en-US" dirty="0"/>
              <a:t> allows the target thread to periodically check if it should be cancelled</a:t>
            </a:r>
          </a:p>
          <a:p>
            <a:r>
              <a:rPr lang="en-US" altLang="en-US" dirty="0" err="1"/>
              <a:t>Pthread</a:t>
            </a:r>
            <a:r>
              <a:rPr lang="en-US" altLang="en-US" dirty="0"/>
              <a:t> code to create and cancel a thread:</a:t>
            </a:r>
          </a:p>
          <a:p>
            <a:pPr>
              <a:buFont typeface="Monotype Sorts" pitchFamily="-84" charset="2"/>
              <a:buNone/>
            </a:pPr>
            <a:endParaRPr lang="en-US" altLang="en-US" dirty="0"/>
          </a:p>
          <a:p>
            <a:pPr lvl="1"/>
            <a:endParaRPr lang="en-US" altLang="en-US" dirty="0"/>
          </a:p>
        </p:txBody>
      </p:sp>
      <p:pic>
        <p:nvPicPr>
          <p:cNvPr id="3994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68550" y="4017963"/>
            <a:ext cx="3878263"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081088" y="176213"/>
            <a:ext cx="7605712" cy="576262"/>
          </a:xfrm>
        </p:spPr>
        <p:txBody>
          <a:bodyPr/>
          <a:lstStyle/>
          <a:p>
            <a:pPr eaLnBrk="1" hangingPunct="1"/>
            <a:r>
              <a:rPr lang="en-US" altLang="en-US"/>
              <a:t>Thread Cancellation (Cont.)</a:t>
            </a:r>
          </a:p>
        </p:txBody>
      </p:sp>
      <p:sp>
        <p:nvSpPr>
          <p:cNvPr id="37891" name="Rectangle 3"/>
          <p:cNvSpPr>
            <a:spLocks noGrp="1" noChangeArrowheads="1"/>
          </p:cNvSpPr>
          <p:nvPr>
            <p:ph idx="1"/>
          </p:nvPr>
        </p:nvSpPr>
        <p:spPr>
          <a:xfrm>
            <a:off x="919163" y="1057275"/>
            <a:ext cx="7208837" cy="4962525"/>
          </a:xfrm>
        </p:spPr>
        <p:txBody>
          <a:bodyPr/>
          <a:lstStyle/>
          <a:p>
            <a:pPr>
              <a:defRPr/>
            </a:pPr>
            <a:r>
              <a:rPr lang="en-US" altLang="en-US"/>
              <a:t>Invoking thread cancellation requests cancellation, but actual cancellation depends on thread state</a:t>
            </a:r>
          </a:p>
          <a:p>
            <a:pPr>
              <a:defRPr/>
            </a:pPr>
            <a:endParaRPr lang="en-US" altLang="en-US"/>
          </a:p>
          <a:p>
            <a:pPr>
              <a:defRPr/>
            </a:pPr>
            <a:endParaRPr lang="en-US" altLang="en-US"/>
          </a:p>
          <a:p>
            <a:pPr marL="0" indent="0">
              <a:buFont typeface="Monotype Sorts" pitchFamily="-84" charset="2"/>
              <a:buNone/>
              <a:defRPr/>
            </a:pPr>
            <a:endParaRPr lang="en-US" altLang="en-US"/>
          </a:p>
          <a:p>
            <a:pPr marL="0" indent="0">
              <a:buFont typeface="Monotype Sorts" pitchFamily="-84" charset="2"/>
              <a:buNone/>
              <a:defRPr/>
            </a:pPr>
            <a:endParaRPr lang="en-US" altLang="en-US"/>
          </a:p>
          <a:p>
            <a:pPr>
              <a:defRPr/>
            </a:pPr>
            <a:r>
              <a:rPr lang="en-US" altLang="en-US"/>
              <a:t>If thread has cancellation disabled, cancellation remains pending until thread enables it</a:t>
            </a:r>
          </a:p>
          <a:p>
            <a:pPr>
              <a:defRPr/>
            </a:pPr>
            <a:r>
              <a:rPr lang="en-US" altLang="en-US"/>
              <a:t>Default type is deferred</a:t>
            </a:r>
          </a:p>
          <a:p>
            <a:pPr lvl="1">
              <a:defRPr/>
            </a:pPr>
            <a:r>
              <a:rPr lang="en-US" altLang="en-US"/>
              <a:t>Cancellation only occurs when thread reaches </a:t>
            </a:r>
            <a:r>
              <a:rPr lang="en-US" altLang="en-US" b="1">
                <a:solidFill>
                  <a:srgbClr val="3366FF"/>
                </a:solidFill>
              </a:rPr>
              <a:t>cancellation point</a:t>
            </a:r>
          </a:p>
          <a:p>
            <a:pPr lvl="2">
              <a:defRPr/>
            </a:pPr>
            <a:r>
              <a:rPr lang="en-US" altLang="en-US"/>
              <a:t>I.e. </a:t>
            </a:r>
            <a:r>
              <a:rPr lang="en-US" altLang="en-US" b="1">
                <a:latin typeface="Courier New" pitchFamily="49" charset="0"/>
                <a:cs typeface="Courier New" pitchFamily="49" charset="0"/>
              </a:rPr>
              <a:t>pthread_testcancel()</a:t>
            </a:r>
          </a:p>
          <a:p>
            <a:pPr lvl="2">
              <a:defRPr/>
            </a:pPr>
            <a:r>
              <a:rPr lang="en-US" altLang="en-US"/>
              <a:t>Then </a:t>
            </a:r>
            <a:r>
              <a:rPr lang="en-US" altLang="en-US" b="1">
                <a:solidFill>
                  <a:srgbClr val="3366FF"/>
                </a:solidFill>
              </a:rPr>
              <a:t>cleanup handler </a:t>
            </a:r>
            <a:r>
              <a:rPr lang="en-US" altLang="en-US"/>
              <a:t>is invoked</a:t>
            </a:r>
          </a:p>
          <a:p>
            <a:pPr>
              <a:defRPr/>
            </a:pPr>
            <a:r>
              <a:rPr lang="en-US" altLang="en-US"/>
              <a:t>On Linux systems, thread cancellation is handled through signals</a:t>
            </a:r>
            <a:endParaRPr lang="en-US" altLang="en-US" dirty="0"/>
          </a:p>
        </p:txBody>
      </p:sp>
      <p:pic>
        <p:nvPicPr>
          <p:cNvPr id="40964"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44713" y="1825625"/>
            <a:ext cx="5054600"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Threads</a:t>
            </a:r>
          </a:p>
        </p:txBody>
      </p:sp>
      <p:sp>
        <p:nvSpPr>
          <p:cNvPr id="4" name="Slide Number Placeholder 3"/>
          <p:cNvSpPr>
            <a:spLocks noGrp="1"/>
          </p:cNvSpPr>
          <p:nvPr>
            <p:ph type="sldNum" sz="quarter" idx="12"/>
          </p:nvPr>
        </p:nvSpPr>
        <p:spPr/>
        <p:txBody>
          <a:bodyPr/>
          <a:lstStyle/>
          <a:p>
            <a:fld id="{2D69D4BF-17B8-4416-83AD-33398895AAF4}"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59AC3-12A8-FDCB-9131-00A43318B574}"/>
              </a:ext>
            </a:extLst>
          </p:cNvPr>
          <p:cNvSpPr>
            <a:spLocks noGrp="1"/>
          </p:cNvSpPr>
          <p:nvPr>
            <p:ph type="title"/>
          </p:nvPr>
        </p:nvSpPr>
        <p:spPr>
          <a:xfrm>
            <a:off x="963930" y="1008993"/>
            <a:ext cx="6923558" cy="3542045"/>
          </a:xfrm>
        </p:spPr>
        <p:txBody>
          <a:bodyPr vert="horz" lIns="91440" tIns="45720" rIns="91440" bIns="45720" rtlCol="0" anchor="b">
            <a:normAutofit/>
          </a:bodyPr>
          <a:lstStyle/>
          <a:p>
            <a:pPr defTabSz="914400"/>
            <a:r>
              <a:rPr lang="en-US" sz="10000" kern="1200">
                <a:solidFill>
                  <a:schemeClr val="tx1"/>
                </a:solidFill>
                <a:latin typeface="+mj-lt"/>
                <a:ea typeface="+mj-ea"/>
                <a:cs typeface="+mj-cs"/>
              </a:rPr>
              <a:t>Questions</a:t>
            </a:r>
          </a:p>
        </p:txBody>
      </p:sp>
      <p:sp>
        <p:nvSpPr>
          <p:cNvPr id="3" name="Date Placeholder 2">
            <a:extLst>
              <a:ext uri="{FF2B5EF4-FFF2-40B4-BE49-F238E27FC236}">
                <a16:creationId xmlns:a16="http://schemas.microsoft.com/office/drawing/2014/main" id="{C62B5CB3-7918-270F-6011-A05478F9A547}"/>
              </a:ext>
            </a:extLst>
          </p:cNvPr>
          <p:cNvSpPr>
            <a:spLocks noGrp="1"/>
          </p:cNvSpPr>
          <p:nvPr>
            <p:ph type="dt" sz="half" idx="10"/>
          </p:nvPr>
        </p:nvSpPr>
        <p:spPr/>
        <p:txBody>
          <a:bodyPr/>
          <a:lstStyle/>
          <a:p>
            <a:r>
              <a:rPr lang="en-US"/>
              <a:t>Vincenzo Gulisano</a:t>
            </a:r>
          </a:p>
        </p:txBody>
      </p:sp>
      <p:sp>
        <p:nvSpPr>
          <p:cNvPr id="4" name="Footer Placeholder 3">
            <a:extLst>
              <a:ext uri="{FF2B5EF4-FFF2-40B4-BE49-F238E27FC236}">
                <a16:creationId xmlns:a16="http://schemas.microsoft.com/office/drawing/2014/main" id="{6C3DCEA6-42FD-E3D3-3E48-1810BA895B8D}"/>
              </a:ext>
            </a:extLst>
          </p:cNvPr>
          <p:cNvSpPr>
            <a:spLocks noGrp="1"/>
          </p:cNvSpPr>
          <p:nvPr>
            <p:ph type="ftr" sz="quarter" idx="11"/>
          </p:nvPr>
        </p:nvSpPr>
        <p:spPr/>
        <p:txBody>
          <a:bodyPr/>
          <a:lstStyle/>
          <a:p>
            <a:r>
              <a:rPr lang="en-US"/>
              <a:t>Operating Systems - Threads</a:t>
            </a:r>
          </a:p>
        </p:txBody>
      </p:sp>
      <p:sp>
        <p:nvSpPr>
          <p:cNvPr id="5" name="Slide Number Placeholder 4">
            <a:extLst>
              <a:ext uri="{FF2B5EF4-FFF2-40B4-BE49-F238E27FC236}">
                <a16:creationId xmlns:a16="http://schemas.microsoft.com/office/drawing/2014/main" id="{827444C6-EB03-F9E2-4674-9E97C9EB3766}"/>
              </a:ext>
            </a:extLst>
          </p:cNvPr>
          <p:cNvSpPr>
            <a:spLocks noGrp="1"/>
          </p:cNvSpPr>
          <p:nvPr>
            <p:ph type="sldNum" sz="quarter" idx="12"/>
          </p:nvPr>
        </p:nvSpPr>
        <p:spPr/>
        <p:txBody>
          <a:bodyPr/>
          <a:lstStyle/>
          <a:p>
            <a:fld id="{2D69D4BF-17B8-4416-83AD-33398895AAF4}" type="slidenum">
              <a:rPr lang="en-US" smtClean="0"/>
              <a:t>45</a:t>
            </a:fld>
            <a:endParaRPr lang="en-US"/>
          </a:p>
        </p:txBody>
      </p:sp>
    </p:spTree>
    <p:extLst>
      <p:ext uri="{BB962C8B-B14F-4D97-AF65-F5344CB8AC3E}">
        <p14:creationId xmlns:p14="http://schemas.microsoft.com/office/powerpoint/2010/main" val="13821942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D7757-2110-5866-D9EC-5159F58178C3}"/>
              </a:ext>
            </a:extLst>
          </p:cNvPr>
          <p:cNvSpPr>
            <a:spLocks noGrp="1"/>
          </p:cNvSpPr>
          <p:nvPr>
            <p:ph type="title"/>
          </p:nvPr>
        </p:nvSpPr>
        <p:spPr/>
        <p:txBody>
          <a:bodyPr>
            <a:normAutofit/>
          </a:bodyPr>
          <a:lstStyle/>
          <a:p>
            <a:r>
              <a:rPr lang="en-GB" dirty="0"/>
              <a:t>Given the processes running in the figure, how many cores does the CPU have?</a:t>
            </a:r>
            <a:endParaRPr lang="en-SE" dirty="0"/>
          </a:p>
        </p:txBody>
      </p:sp>
      <p:sp>
        <p:nvSpPr>
          <p:cNvPr id="3" name="Content Placeholder 2">
            <a:extLst>
              <a:ext uri="{FF2B5EF4-FFF2-40B4-BE49-F238E27FC236}">
                <a16:creationId xmlns:a16="http://schemas.microsoft.com/office/drawing/2014/main" id="{A7BF74E8-3525-0D6E-4CC9-1AB74B782D3A}"/>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exactly 4</a:t>
            </a:r>
          </a:p>
          <a:p>
            <a:pPr marL="457200" indent="-457200" algn="l" fontAlgn="base">
              <a:buFont typeface="+mj-lt"/>
              <a:buAutoNum type="arabicPeriod"/>
            </a:pPr>
            <a:r>
              <a:rPr lang="en-GB" b="0" i="0" dirty="0">
                <a:solidFill>
                  <a:srgbClr val="333333"/>
                </a:solidFill>
                <a:effectLst/>
                <a:latin typeface="Montserrat" pitchFamily="2" charset="77"/>
              </a:rPr>
              <a:t>at least 4</a:t>
            </a:r>
          </a:p>
          <a:p>
            <a:pPr marL="457200" indent="-457200" algn="l" fontAlgn="base">
              <a:buFont typeface="+mj-lt"/>
              <a:buAutoNum type="arabicPeriod"/>
            </a:pPr>
            <a:r>
              <a:rPr lang="en-GB" b="0" i="0" dirty="0">
                <a:solidFill>
                  <a:srgbClr val="333333"/>
                </a:solidFill>
                <a:effectLst/>
                <a:latin typeface="Montserrat" pitchFamily="2" charset="77"/>
              </a:rPr>
              <a:t>no more than 4</a:t>
            </a:r>
          </a:p>
          <a:p>
            <a:pPr marL="457200" indent="-457200" algn="l" fontAlgn="base">
              <a:buFont typeface="+mj-lt"/>
              <a:buAutoNum type="arabicPeriod"/>
            </a:pPr>
            <a:r>
              <a:rPr lang="en-GB" b="0" i="0" dirty="0">
                <a:solidFill>
                  <a:srgbClr val="333333"/>
                </a:solidFill>
                <a:effectLst/>
                <a:latin typeface="Montserrat" pitchFamily="2" charset="77"/>
              </a:rPr>
              <a:t>cannot say</a:t>
            </a:r>
          </a:p>
        </p:txBody>
      </p:sp>
      <p:pic>
        <p:nvPicPr>
          <p:cNvPr id="1026" name="Picture 2">
            <a:extLst>
              <a:ext uri="{FF2B5EF4-FFF2-40B4-BE49-F238E27FC236}">
                <a16:creationId xmlns:a16="http://schemas.microsoft.com/office/drawing/2014/main" id="{729E1D5E-342C-D23C-2B1F-DB97C78F76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4009" y="2052766"/>
            <a:ext cx="5528715" cy="376186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CDCC6274-59B5-CF92-A5B1-B42B4115FBF9}"/>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63442F81-D67A-C03A-4F98-8D5DFE546BB2}"/>
              </a:ext>
            </a:extLst>
          </p:cNvPr>
          <p:cNvSpPr>
            <a:spLocks noGrp="1"/>
          </p:cNvSpPr>
          <p:nvPr>
            <p:ph type="ftr" sz="quarter" idx="11"/>
          </p:nvPr>
        </p:nvSpPr>
        <p:spPr/>
        <p:txBody>
          <a:bodyPr/>
          <a:lstStyle/>
          <a:p>
            <a:r>
              <a:rPr lang="en-US"/>
              <a:t>Operating Systems - Threads</a:t>
            </a:r>
          </a:p>
        </p:txBody>
      </p:sp>
      <p:sp>
        <p:nvSpPr>
          <p:cNvPr id="6" name="Slide Number Placeholder 5">
            <a:extLst>
              <a:ext uri="{FF2B5EF4-FFF2-40B4-BE49-F238E27FC236}">
                <a16:creationId xmlns:a16="http://schemas.microsoft.com/office/drawing/2014/main" id="{7DE6230C-96C8-F197-5B1C-C44C5209DE1C}"/>
              </a:ext>
            </a:extLst>
          </p:cNvPr>
          <p:cNvSpPr>
            <a:spLocks noGrp="1"/>
          </p:cNvSpPr>
          <p:nvPr>
            <p:ph type="sldNum" sz="quarter" idx="12"/>
          </p:nvPr>
        </p:nvSpPr>
        <p:spPr/>
        <p:txBody>
          <a:bodyPr/>
          <a:lstStyle/>
          <a:p>
            <a:fld id="{2D69D4BF-17B8-4416-83AD-33398895AAF4}" type="slidenum">
              <a:rPr lang="en-US" smtClean="0"/>
              <a:t>46</a:t>
            </a:fld>
            <a:endParaRPr lang="en-US"/>
          </a:p>
        </p:txBody>
      </p:sp>
    </p:spTree>
    <p:extLst>
      <p:ext uri="{BB962C8B-B14F-4D97-AF65-F5344CB8AC3E}">
        <p14:creationId xmlns:p14="http://schemas.microsoft.com/office/powerpoint/2010/main" val="10262918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D7757-2110-5866-D9EC-5159F58178C3}"/>
              </a:ext>
            </a:extLst>
          </p:cNvPr>
          <p:cNvSpPr>
            <a:spLocks noGrp="1"/>
          </p:cNvSpPr>
          <p:nvPr>
            <p:ph type="title"/>
          </p:nvPr>
        </p:nvSpPr>
        <p:spPr/>
        <p:txBody>
          <a:bodyPr>
            <a:normAutofit/>
          </a:bodyPr>
          <a:lstStyle/>
          <a:p>
            <a:r>
              <a:rPr lang="en-GB" dirty="0"/>
              <a:t>Given the processes running in the figure, why does P2 get switched at slot 2?</a:t>
            </a:r>
            <a:endParaRPr lang="en-SE" dirty="0"/>
          </a:p>
        </p:txBody>
      </p:sp>
      <p:sp>
        <p:nvSpPr>
          <p:cNvPr id="3" name="Content Placeholder 2">
            <a:extLst>
              <a:ext uri="{FF2B5EF4-FFF2-40B4-BE49-F238E27FC236}">
                <a16:creationId xmlns:a16="http://schemas.microsoft.com/office/drawing/2014/main" id="{A7BF74E8-3525-0D6E-4CC9-1AB74B782D3A}"/>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To run another </a:t>
            </a:r>
            <a:br>
              <a:rPr lang="en-GB" b="0" i="0" dirty="0">
                <a:solidFill>
                  <a:srgbClr val="333333"/>
                </a:solidFill>
                <a:effectLst/>
                <a:latin typeface="Montserrat" pitchFamily="2" charset="77"/>
              </a:rPr>
            </a:br>
            <a:r>
              <a:rPr lang="en-GB" b="0" i="0" dirty="0">
                <a:solidFill>
                  <a:srgbClr val="333333"/>
                </a:solidFill>
                <a:effectLst/>
                <a:latin typeface="Montserrat" pitchFamily="2" charset="77"/>
              </a:rPr>
              <a:t>process</a:t>
            </a:r>
          </a:p>
          <a:p>
            <a:pPr marL="457200" indent="-457200" algn="l" fontAlgn="base">
              <a:buFont typeface="+mj-lt"/>
              <a:buAutoNum type="arabicPeriod"/>
            </a:pPr>
            <a:r>
              <a:rPr lang="en-GB" b="0" i="0" dirty="0">
                <a:solidFill>
                  <a:srgbClr val="333333"/>
                </a:solidFill>
                <a:effectLst/>
                <a:latin typeface="Montserrat" pitchFamily="2" charset="77"/>
              </a:rPr>
              <a:t>cannot say</a:t>
            </a:r>
          </a:p>
        </p:txBody>
      </p:sp>
      <p:pic>
        <p:nvPicPr>
          <p:cNvPr id="1026" name="Picture 2">
            <a:extLst>
              <a:ext uri="{FF2B5EF4-FFF2-40B4-BE49-F238E27FC236}">
                <a16:creationId xmlns:a16="http://schemas.microsoft.com/office/drawing/2014/main" id="{729E1D5E-342C-D23C-2B1F-DB97C78F76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4009" y="2052766"/>
            <a:ext cx="5528715" cy="376186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E42301E1-D72E-5995-F049-5F35EDD44FFF}"/>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9E2FC4C2-2478-C3CD-2DAE-49FF49444DF9}"/>
              </a:ext>
            </a:extLst>
          </p:cNvPr>
          <p:cNvSpPr>
            <a:spLocks noGrp="1"/>
          </p:cNvSpPr>
          <p:nvPr>
            <p:ph type="ftr" sz="quarter" idx="11"/>
          </p:nvPr>
        </p:nvSpPr>
        <p:spPr/>
        <p:txBody>
          <a:bodyPr/>
          <a:lstStyle/>
          <a:p>
            <a:r>
              <a:rPr lang="en-US"/>
              <a:t>Operating Systems - Threads</a:t>
            </a:r>
          </a:p>
        </p:txBody>
      </p:sp>
      <p:sp>
        <p:nvSpPr>
          <p:cNvPr id="6" name="Slide Number Placeholder 5">
            <a:extLst>
              <a:ext uri="{FF2B5EF4-FFF2-40B4-BE49-F238E27FC236}">
                <a16:creationId xmlns:a16="http://schemas.microsoft.com/office/drawing/2014/main" id="{48F09C7F-C4BD-3A54-A5F1-1D9CEA819893}"/>
              </a:ext>
            </a:extLst>
          </p:cNvPr>
          <p:cNvSpPr>
            <a:spLocks noGrp="1"/>
          </p:cNvSpPr>
          <p:nvPr>
            <p:ph type="sldNum" sz="quarter" idx="12"/>
          </p:nvPr>
        </p:nvSpPr>
        <p:spPr/>
        <p:txBody>
          <a:bodyPr/>
          <a:lstStyle/>
          <a:p>
            <a:fld id="{2D69D4BF-17B8-4416-83AD-33398895AAF4}" type="slidenum">
              <a:rPr lang="en-US" smtClean="0"/>
              <a:t>47</a:t>
            </a:fld>
            <a:endParaRPr lang="en-US"/>
          </a:p>
        </p:txBody>
      </p:sp>
    </p:spTree>
    <p:extLst>
      <p:ext uri="{BB962C8B-B14F-4D97-AF65-F5344CB8AC3E}">
        <p14:creationId xmlns:p14="http://schemas.microsoft.com/office/powerpoint/2010/main" val="7023304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D7757-2110-5866-D9EC-5159F58178C3}"/>
              </a:ext>
            </a:extLst>
          </p:cNvPr>
          <p:cNvSpPr>
            <a:spLocks noGrp="1"/>
          </p:cNvSpPr>
          <p:nvPr>
            <p:ph type="title"/>
          </p:nvPr>
        </p:nvSpPr>
        <p:spPr/>
        <p:txBody>
          <a:bodyPr>
            <a:normAutofit/>
          </a:bodyPr>
          <a:lstStyle/>
          <a:p>
            <a:r>
              <a:rPr lang="en-GB" dirty="0"/>
              <a:t>Given the processes running in the figure, why does P3 get switched at slot 5?</a:t>
            </a:r>
          </a:p>
        </p:txBody>
      </p:sp>
      <p:sp>
        <p:nvSpPr>
          <p:cNvPr id="3" name="Content Placeholder 2">
            <a:extLst>
              <a:ext uri="{FF2B5EF4-FFF2-40B4-BE49-F238E27FC236}">
                <a16:creationId xmlns:a16="http://schemas.microsoft.com/office/drawing/2014/main" id="{A7BF74E8-3525-0D6E-4CC9-1AB74B782D3A}"/>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To run another </a:t>
            </a:r>
            <a:br>
              <a:rPr lang="en-GB" b="0" i="0" dirty="0">
                <a:solidFill>
                  <a:srgbClr val="333333"/>
                </a:solidFill>
                <a:effectLst/>
                <a:latin typeface="Montserrat" pitchFamily="2" charset="77"/>
              </a:rPr>
            </a:br>
            <a:r>
              <a:rPr lang="en-GB" b="0" i="0" dirty="0">
                <a:solidFill>
                  <a:srgbClr val="333333"/>
                </a:solidFill>
                <a:effectLst/>
                <a:latin typeface="Montserrat" pitchFamily="2" charset="77"/>
              </a:rPr>
              <a:t>process</a:t>
            </a:r>
          </a:p>
          <a:p>
            <a:pPr marL="457200" indent="-457200" algn="l" fontAlgn="base">
              <a:buFont typeface="+mj-lt"/>
              <a:buAutoNum type="arabicPeriod"/>
            </a:pPr>
            <a:r>
              <a:rPr lang="en-GB" b="0" i="0" dirty="0">
                <a:solidFill>
                  <a:srgbClr val="333333"/>
                </a:solidFill>
                <a:effectLst/>
                <a:latin typeface="Montserrat" pitchFamily="2" charset="77"/>
              </a:rPr>
              <a:t>cannot say</a:t>
            </a:r>
          </a:p>
        </p:txBody>
      </p:sp>
      <p:pic>
        <p:nvPicPr>
          <p:cNvPr id="1026" name="Picture 2">
            <a:extLst>
              <a:ext uri="{FF2B5EF4-FFF2-40B4-BE49-F238E27FC236}">
                <a16:creationId xmlns:a16="http://schemas.microsoft.com/office/drawing/2014/main" id="{729E1D5E-342C-D23C-2B1F-DB97C78F76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4009" y="2052766"/>
            <a:ext cx="5528715" cy="376186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F99BDCE3-7AB7-B4D8-2E3B-C426164768E3}"/>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6C5B8436-9D15-7B4D-CD57-43DE33BFD8A6}"/>
              </a:ext>
            </a:extLst>
          </p:cNvPr>
          <p:cNvSpPr>
            <a:spLocks noGrp="1"/>
          </p:cNvSpPr>
          <p:nvPr>
            <p:ph type="ftr" sz="quarter" idx="11"/>
          </p:nvPr>
        </p:nvSpPr>
        <p:spPr/>
        <p:txBody>
          <a:bodyPr/>
          <a:lstStyle/>
          <a:p>
            <a:r>
              <a:rPr lang="en-US"/>
              <a:t>Operating Systems - Threads</a:t>
            </a:r>
          </a:p>
        </p:txBody>
      </p:sp>
      <p:sp>
        <p:nvSpPr>
          <p:cNvPr id="6" name="Slide Number Placeholder 5">
            <a:extLst>
              <a:ext uri="{FF2B5EF4-FFF2-40B4-BE49-F238E27FC236}">
                <a16:creationId xmlns:a16="http://schemas.microsoft.com/office/drawing/2014/main" id="{ABC0878C-890A-F3E9-BF4F-A94AC4CCD520}"/>
              </a:ext>
            </a:extLst>
          </p:cNvPr>
          <p:cNvSpPr>
            <a:spLocks noGrp="1"/>
          </p:cNvSpPr>
          <p:nvPr>
            <p:ph type="sldNum" sz="quarter" idx="12"/>
          </p:nvPr>
        </p:nvSpPr>
        <p:spPr/>
        <p:txBody>
          <a:bodyPr/>
          <a:lstStyle/>
          <a:p>
            <a:fld id="{2D69D4BF-17B8-4416-83AD-33398895AAF4}" type="slidenum">
              <a:rPr lang="en-US" smtClean="0"/>
              <a:t>48</a:t>
            </a:fld>
            <a:endParaRPr lang="en-US"/>
          </a:p>
        </p:txBody>
      </p:sp>
    </p:spTree>
    <p:extLst>
      <p:ext uri="{BB962C8B-B14F-4D97-AF65-F5344CB8AC3E}">
        <p14:creationId xmlns:p14="http://schemas.microsoft.com/office/powerpoint/2010/main" val="36951418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D7757-2110-5866-D9EC-5159F58178C3}"/>
              </a:ext>
            </a:extLst>
          </p:cNvPr>
          <p:cNvSpPr>
            <a:spLocks noGrp="1"/>
          </p:cNvSpPr>
          <p:nvPr>
            <p:ph type="title"/>
          </p:nvPr>
        </p:nvSpPr>
        <p:spPr/>
        <p:txBody>
          <a:bodyPr>
            <a:normAutofit/>
          </a:bodyPr>
          <a:lstStyle/>
          <a:p>
            <a:r>
              <a:rPr lang="en-GB" dirty="0"/>
              <a:t>Given the processes running in the figure, do P2 and P3 run in parallel?</a:t>
            </a:r>
          </a:p>
        </p:txBody>
      </p:sp>
      <p:sp>
        <p:nvSpPr>
          <p:cNvPr id="3" name="Content Placeholder 2">
            <a:extLst>
              <a:ext uri="{FF2B5EF4-FFF2-40B4-BE49-F238E27FC236}">
                <a16:creationId xmlns:a16="http://schemas.microsoft.com/office/drawing/2014/main" id="{A7BF74E8-3525-0D6E-4CC9-1AB74B782D3A}"/>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Yes</a:t>
            </a:r>
          </a:p>
          <a:p>
            <a:pPr marL="457200" indent="-457200" algn="l" fontAlgn="base">
              <a:buFont typeface="+mj-lt"/>
              <a:buAutoNum type="arabicPeriod"/>
            </a:pPr>
            <a:r>
              <a:rPr lang="en-GB" b="0" i="0" dirty="0">
                <a:solidFill>
                  <a:srgbClr val="333333"/>
                </a:solidFill>
                <a:effectLst/>
                <a:latin typeface="Montserrat" pitchFamily="2" charset="77"/>
              </a:rPr>
              <a:t>No</a:t>
            </a:r>
          </a:p>
          <a:p>
            <a:pPr marL="457200" indent="-457200" algn="l" fontAlgn="base">
              <a:buFont typeface="+mj-lt"/>
              <a:buAutoNum type="arabicPeriod"/>
            </a:pPr>
            <a:r>
              <a:rPr lang="en-GB" b="0" i="0" dirty="0">
                <a:solidFill>
                  <a:srgbClr val="333333"/>
                </a:solidFill>
                <a:effectLst/>
                <a:latin typeface="Montserrat" pitchFamily="2" charset="77"/>
              </a:rPr>
              <a:t>Cannot say</a:t>
            </a:r>
          </a:p>
        </p:txBody>
      </p:sp>
      <p:pic>
        <p:nvPicPr>
          <p:cNvPr id="1026" name="Picture 2">
            <a:extLst>
              <a:ext uri="{FF2B5EF4-FFF2-40B4-BE49-F238E27FC236}">
                <a16:creationId xmlns:a16="http://schemas.microsoft.com/office/drawing/2014/main" id="{729E1D5E-342C-D23C-2B1F-DB97C78F76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4009" y="2052766"/>
            <a:ext cx="5528715" cy="376186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982939A4-862B-D0AA-1CF5-DCFF60F254EB}"/>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D84965D1-2BDA-A313-76A8-4702068BFA76}"/>
              </a:ext>
            </a:extLst>
          </p:cNvPr>
          <p:cNvSpPr>
            <a:spLocks noGrp="1"/>
          </p:cNvSpPr>
          <p:nvPr>
            <p:ph type="ftr" sz="quarter" idx="11"/>
          </p:nvPr>
        </p:nvSpPr>
        <p:spPr/>
        <p:txBody>
          <a:bodyPr/>
          <a:lstStyle/>
          <a:p>
            <a:r>
              <a:rPr lang="en-US"/>
              <a:t>Operating Systems - Threads</a:t>
            </a:r>
          </a:p>
        </p:txBody>
      </p:sp>
      <p:sp>
        <p:nvSpPr>
          <p:cNvPr id="6" name="Slide Number Placeholder 5">
            <a:extLst>
              <a:ext uri="{FF2B5EF4-FFF2-40B4-BE49-F238E27FC236}">
                <a16:creationId xmlns:a16="http://schemas.microsoft.com/office/drawing/2014/main" id="{8DD55084-23A9-2F4B-75C4-3C0A53745632}"/>
              </a:ext>
            </a:extLst>
          </p:cNvPr>
          <p:cNvSpPr>
            <a:spLocks noGrp="1"/>
          </p:cNvSpPr>
          <p:nvPr>
            <p:ph type="sldNum" sz="quarter" idx="12"/>
          </p:nvPr>
        </p:nvSpPr>
        <p:spPr/>
        <p:txBody>
          <a:bodyPr/>
          <a:lstStyle/>
          <a:p>
            <a:fld id="{2D69D4BF-17B8-4416-83AD-33398895AAF4}" type="slidenum">
              <a:rPr lang="en-US" smtClean="0"/>
              <a:t>49</a:t>
            </a:fld>
            <a:endParaRPr lang="en-US"/>
          </a:p>
        </p:txBody>
      </p:sp>
    </p:spTree>
    <p:extLst>
      <p:ext uri="{BB962C8B-B14F-4D97-AF65-F5344CB8AC3E}">
        <p14:creationId xmlns:p14="http://schemas.microsoft.com/office/powerpoint/2010/main" val="25012741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D7757-2110-5866-D9EC-5159F58178C3}"/>
              </a:ext>
            </a:extLst>
          </p:cNvPr>
          <p:cNvSpPr>
            <a:spLocks noGrp="1"/>
          </p:cNvSpPr>
          <p:nvPr>
            <p:ph type="title"/>
          </p:nvPr>
        </p:nvSpPr>
        <p:spPr/>
        <p:txBody>
          <a:bodyPr>
            <a:normAutofit/>
          </a:bodyPr>
          <a:lstStyle/>
          <a:p>
            <a:r>
              <a:rPr lang="en-GB" dirty="0"/>
              <a:t>Given the processes running in the figure, do P2 and P3 run concurrently?</a:t>
            </a:r>
          </a:p>
        </p:txBody>
      </p:sp>
      <p:sp>
        <p:nvSpPr>
          <p:cNvPr id="3" name="Content Placeholder 2">
            <a:extLst>
              <a:ext uri="{FF2B5EF4-FFF2-40B4-BE49-F238E27FC236}">
                <a16:creationId xmlns:a16="http://schemas.microsoft.com/office/drawing/2014/main" id="{A7BF74E8-3525-0D6E-4CC9-1AB74B782D3A}"/>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Yes</a:t>
            </a:r>
          </a:p>
          <a:p>
            <a:pPr marL="457200" indent="-457200" algn="l" fontAlgn="base">
              <a:buFont typeface="+mj-lt"/>
              <a:buAutoNum type="arabicPeriod"/>
            </a:pPr>
            <a:r>
              <a:rPr lang="en-GB" b="0" i="0" dirty="0">
                <a:solidFill>
                  <a:srgbClr val="333333"/>
                </a:solidFill>
                <a:effectLst/>
                <a:latin typeface="Montserrat" pitchFamily="2" charset="77"/>
              </a:rPr>
              <a:t>No</a:t>
            </a:r>
          </a:p>
          <a:p>
            <a:pPr marL="457200" indent="-457200" algn="l" fontAlgn="base">
              <a:buFont typeface="+mj-lt"/>
              <a:buAutoNum type="arabicPeriod"/>
            </a:pPr>
            <a:r>
              <a:rPr lang="en-GB" b="0" i="0" dirty="0">
                <a:solidFill>
                  <a:srgbClr val="333333"/>
                </a:solidFill>
                <a:effectLst/>
                <a:latin typeface="Montserrat" pitchFamily="2" charset="77"/>
              </a:rPr>
              <a:t>Cannot say</a:t>
            </a:r>
          </a:p>
        </p:txBody>
      </p:sp>
      <p:pic>
        <p:nvPicPr>
          <p:cNvPr id="1026" name="Picture 2">
            <a:extLst>
              <a:ext uri="{FF2B5EF4-FFF2-40B4-BE49-F238E27FC236}">
                <a16:creationId xmlns:a16="http://schemas.microsoft.com/office/drawing/2014/main" id="{729E1D5E-342C-D23C-2B1F-DB97C78F76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4009" y="2052766"/>
            <a:ext cx="5528715" cy="376186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312E27EA-1B1D-F12F-14A9-FC672FADD55B}"/>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C377FA4F-7704-2CEE-22A3-9C256EF5F97D}"/>
              </a:ext>
            </a:extLst>
          </p:cNvPr>
          <p:cNvSpPr>
            <a:spLocks noGrp="1"/>
          </p:cNvSpPr>
          <p:nvPr>
            <p:ph type="ftr" sz="quarter" idx="11"/>
          </p:nvPr>
        </p:nvSpPr>
        <p:spPr/>
        <p:txBody>
          <a:bodyPr/>
          <a:lstStyle/>
          <a:p>
            <a:r>
              <a:rPr lang="en-US"/>
              <a:t>Operating Systems - Threads</a:t>
            </a:r>
          </a:p>
        </p:txBody>
      </p:sp>
      <p:sp>
        <p:nvSpPr>
          <p:cNvPr id="6" name="Slide Number Placeholder 5">
            <a:extLst>
              <a:ext uri="{FF2B5EF4-FFF2-40B4-BE49-F238E27FC236}">
                <a16:creationId xmlns:a16="http://schemas.microsoft.com/office/drawing/2014/main" id="{29CC8B23-6E6F-0A42-9E9A-CDD549F6C1C1}"/>
              </a:ext>
            </a:extLst>
          </p:cNvPr>
          <p:cNvSpPr>
            <a:spLocks noGrp="1"/>
          </p:cNvSpPr>
          <p:nvPr>
            <p:ph type="sldNum" sz="quarter" idx="12"/>
          </p:nvPr>
        </p:nvSpPr>
        <p:spPr/>
        <p:txBody>
          <a:bodyPr/>
          <a:lstStyle/>
          <a:p>
            <a:fld id="{2D69D4BF-17B8-4416-83AD-33398895AAF4}" type="slidenum">
              <a:rPr lang="en-US" smtClean="0"/>
              <a:t>50</a:t>
            </a:fld>
            <a:endParaRPr lang="en-US"/>
          </a:p>
        </p:txBody>
      </p:sp>
    </p:spTree>
    <p:extLst>
      <p:ext uri="{BB962C8B-B14F-4D97-AF65-F5344CB8AC3E}">
        <p14:creationId xmlns:p14="http://schemas.microsoft.com/office/powerpoint/2010/main" val="5795646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DD86D-DC2B-6CAA-CABA-281BF5C41495}"/>
              </a:ext>
            </a:extLst>
          </p:cNvPr>
          <p:cNvSpPr>
            <a:spLocks noGrp="1"/>
          </p:cNvSpPr>
          <p:nvPr>
            <p:ph type="title"/>
          </p:nvPr>
        </p:nvSpPr>
        <p:spPr/>
        <p:txBody>
          <a:bodyPr>
            <a:normAutofit/>
          </a:bodyPr>
          <a:lstStyle/>
          <a:p>
            <a:r>
              <a:rPr lang="en-GB" dirty="0"/>
              <a:t>Given the code, the variable sum is not shared between threads.</a:t>
            </a:r>
            <a:endParaRPr lang="en-SE" dirty="0"/>
          </a:p>
        </p:txBody>
      </p:sp>
      <p:sp>
        <p:nvSpPr>
          <p:cNvPr id="3" name="Content Placeholder 2">
            <a:extLst>
              <a:ext uri="{FF2B5EF4-FFF2-40B4-BE49-F238E27FC236}">
                <a16:creationId xmlns:a16="http://schemas.microsoft.com/office/drawing/2014/main" id="{2ACCD949-72EF-9D7B-AF73-4ABA9B201F07}"/>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True</a:t>
            </a:r>
          </a:p>
          <a:p>
            <a:pPr marL="457200" indent="-457200" algn="l" fontAlgn="base">
              <a:buFont typeface="+mj-lt"/>
              <a:buAutoNum type="arabicPeriod"/>
            </a:pPr>
            <a:r>
              <a:rPr lang="en-GB" b="0" i="0" dirty="0">
                <a:solidFill>
                  <a:srgbClr val="333333"/>
                </a:solidFill>
                <a:effectLst/>
                <a:latin typeface="Montserrat" pitchFamily="2" charset="77"/>
              </a:rPr>
              <a:t>False</a:t>
            </a:r>
          </a:p>
          <a:p>
            <a:pPr marL="457200" indent="-457200" algn="l" fontAlgn="base">
              <a:buFont typeface="+mj-lt"/>
              <a:buAutoNum type="arabicPeriod"/>
            </a:pPr>
            <a:r>
              <a:rPr lang="en-GB" b="0" i="0" dirty="0">
                <a:solidFill>
                  <a:srgbClr val="333333"/>
                </a:solidFill>
                <a:effectLst/>
                <a:latin typeface="Montserrat" pitchFamily="2" charset="77"/>
              </a:rPr>
              <a:t>cannot say</a:t>
            </a:r>
          </a:p>
        </p:txBody>
      </p:sp>
      <p:sp>
        <p:nvSpPr>
          <p:cNvPr id="4" name="Date Placeholder 3">
            <a:extLst>
              <a:ext uri="{FF2B5EF4-FFF2-40B4-BE49-F238E27FC236}">
                <a16:creationId xmlns:a16="http://schemas.microsoft.com/office/drawing/2014/main" id="{E867DB8C-E79D-1627-09DB-52FEC6828A19}"/>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C718463F-9569-1AAA-4244-ECBB59D6CC6D}"/>
              </a:ext>
            </a:extLst>
          </p:cNvPr>
          <p:cNvSpPr>
            <a:spLocks noGrp="1"/>
          </p:cNvSpPr>
          <p:nvPr>
            <p:ph type="ftr" sz="quarter" idx="11"/>
          </p:nvPr>
        </p:nvSpPr>
        <p:spPr/>
        <p:txBody>
          <a:bodyPr/>
          <a:lstStyle/>
          <a:p>
            <a:r>
              <a:rPr lang="en-US"/>
              <a:t>Operating Systems - Threads</a:t>
            </a:r>
          </a:p>
        </p:txBody>
      </p:sp>
      <p:sp>
        <p:nvSpPr>
          <p:cNvPr id="6" name="Slide Number Placeholder 5">
            <a:extLst>
              <a:ext uri="{FF2B5EF4-FFF2-40B4-BE49-F238E27FC236}">
                <a16:creationId xmlns:a16="http://schemas.microsoft.com/office/drawing/2014/main" id="{89A150F7-0AAC-A786-DA6F-D672CA2EA6B0}"/>
              </a:ext>
            </a:extLst>
          </p:cNvPr>
          <p:cNvSpPr>
            <a:spLocks noGrp="1"/>
          </p:cNvSpPr>
          <p:nvPr>
            <p:ph type="sldNum" sz="quarter" idx="12"/>
          </p:nvPr>
        </p:nvSpPr>
        <p:spPr/>
        <p:txBody>
          <a:bodyPr/>
          <a:lstStyle/>
          <a:p>
            <a:fld id="{2D69D4BF-17B8-4416-83AD-33398895AAF4}" type="slidenum">
              <a:rPr lang="en-US" smtClean="0"/>
              <a:t>51</a:t>
            </a:fld>
            <a:endParaRPr lang="en-US"/>
          </a:p>
        </p:txBody>
      </p:sp>
      <p:pic>
        <p:nvPicPr>
          <p:cNvPr id="12" name="Picture 11">
            <a:extLst>
              <a:ext uri="{FF2B5EF4-FFF2-40B4-BE49-F238E27FC236}">
                <a16:creationId xmlns:a16="http://schemas.microsoft.com/office/drawing/2014/main" id="{E7690344-6A7C-8599-B04E-5D9E0915A03B}"/>
              </a:ext>
            </a:extLst>
          </p:cNvPr>
          <p:cNvPicPr>
            <a:picLocks noChangeAspect="1"/>
          </p:cNvPicPr>
          <p:nvPr/>
        </p:nvPicPr>
        <p:blipFill>
          <a:blip r:embed="rId3"/>
          <a:stretch>
            <a:fillRect/>
          </a:stretch>
        </p:blipFill>
        <p:spPr>
          <a:xfrm>
            <a:off x="3028950" y="1673026"/>
            <a:ext cx="5149850" cy="4503937"/>
          </a:xfrm>
          <a:prstGeom prst="rect">
            <a:avLst/>
          </a:prstGeom>
        </p:spPr>
      </p:pic>
    </p:spTree>
    <p:extLst>
      <p:ext uri="{BB962C8B-B14F-4D97-AF65-F5344CB8AC3E}">
        <p14:creationId xmlns:p14="http://schemas.microsoft.com/office/powerpoint/2010/main" val="36068873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DD86D-DC2B-6CAA-CABA-281BF5C41495}"/>
              </a:ext>
            </a:extLst>
          </p:cNvPr>
          <p:cNvSpPr>
            <a:spLocks noGrp="1"/>
          </p:cNvSpPr>
          <p:nvPr>
            <p:ph type="title"/>
          </p:nvPr>
        </p:nvSpPr>
        <p:spPr/>
        <p:txBody>
          <a:bodyPr>
            <a:normAutofit/>
          </a:bodyPr>
          <a:lstStyle/>
          <a:p>
            <a:r>
              <a:rPr lang="en-GB" dirty="0"/>
              <a:t>Given the code, the main function can complete before the created thread completes.</a:t>
            </a:r>
          </a:p>
        </p:txBody>
      </p:sp>
      <p:sp>
        <p:nvSpPr>
          <p:cNvPr id="3" name="Content Placeholder 2">
            <a:extLst>
              <a:ext uri="{FF2B5EF4-FFF2-40B4-BE49-F238E27FC236}">
                <a16:creationId xmlns:a16="http://schemas.microsoft.com/office/drawing/2014/main" id="{2ACCD949-72EF-9D7B-AF73-4ABA9B201F07}"/>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False</a:t>
            </a:r>
          </a:p>
          <a:p>
            <a:pPr marL="457200" indent="-457200" algn="l" fontAlgn="base">
              <a:buFont typeface="+mj-lt"/>
              <a:buAutoNum type="arabicPeriod"/>
            </a:pPr>
            <a:r>
              <a:rPr lang="en-GB" b="0" i="0" dirty="0">
                <a:solidFill>
                  <a:srgbClr val="333333"/>
                </a:solidFill>
                <a:effectLst/>
                <a:latin typeface="Montserrat" pitchFamily="2" charset="77"/>
              </a:rPr>
              <a:t>True</a:t>
            </a:r>
          </a:p>
        </p:txBody>
      </p:sp>
      <p:sp>
        <p:nvSpPr>
          <p:cNvPr id="4" name="Date Placeholder 3">
            <a:extLst>
              <a:ext uri="{FF2B5EF4-FFF2-40B4-BE49-F238E27FC236}">
                <a16:creationId xmlns:a16="http://schemas.microsoft.com/office/drawing/2014/main" id="{753561A1-2083-4696-8201-3430741CE6A8}"/>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36F036AB-59A8-7B63-90D5-05F83907781C}"/>
              </a:ext>
            </a:extLst>
          </p:cNvPr>
          <p:cNvSpPr>
            <a:spLocks noGrp="1"/>
          </p:cNvSpPr>
          <p:nvPr>
            <p:ph type="ftr" sz="quarter" idx="11"/>
          </p:nvPr>
        </p:nvSpPr>
        <p:spPr/>
        <p:txBody>
          <a:bodyPr/>
          <a:lstStyle/>
          <a:p>
            <a:r>
              <a:rPr lang="en-US"/>
              <a:t>Operating Systems - Threads</a:t>
            </a:r>
          </a:p>
        </p:txBody>
      </p:sp>
      <p:sp>
        <p:nvSpPr>
          <p:cNvPr id="6" name="Slide Number Placeholder 5">
            <a:extLst>
              <a:ext uri="{FF2B5EF4-FFF2-40B4-BE49-F238E27FC236}">
                <a16:creationId xmlns:a16="http://schemas.microsoft.com/office/drawing/2014/main" id="{D7534948-9E78-E538-F922-BF665A45AA62}"/>
              </a:ext>
            </a:extLst>
          </p:cNvPr>
          <p:cNvSpPr>
            <a:spLocks noGrp="1"/>
          </p:cNvSpPr>
          <p:nvPr>
            <p:ph type="sldNum" sz="quarter" idx="12"/>
          </p:nvPr>
        </p:nvSpPr>
        <p:spPr/>
        <p:txBody>
          <a:bodyPr/>
          <a:lstStyle/>
          <a:p>
            <a:fld id="{2D69D4BF-17B8-4416-83AD-33398895AAF4}" type="slidenum">
              <a:rPr lang="en-US" smtClean="0"/>
              <a:t>52</a:t>
            </a:fld>
            <a:endParaRPr lang="en-US"/>
          </a:p>
        </p:txBody>
      </p:sp>
      <p:pic>
        <p:nvPicPr>
          <p:cNvPr id="7" name="Picture 6">
            <a:extLst>
              <a:ext uri="{FF2B5EF4-FFF2-40B4-BE49-F238E27FC236}">
                <a16:creationId xmlns:a16="http://schemas.microsoft.com/office/drawing/2014/main" id="{1FB26410-857D-C73E-C13C-7BDB715DB166}"/>
              </a:ext>
            </a:extLst>
          </p:cNvPr>
          <p:cNvPicPr>
            <a:picLocks noChangeAspect="1"/>
          </p:cNvPicPr>
          <p:nvPr/>
        </p:nvPicPr>
        <p:blipFill>
          <a:blip r:embed="rId3"/>
          <a:stretch>
            <a:fillRect/>
          </a:stretch>
        </p:blipFill>
        <p:spPr>
          <a:xfrm>
            <a:off x="3028950" y="1673026"/>
            <a:ext cx="5149850" cy="4503937"/>
          </a:xfrm>
          <a:prstGeom prst="rect">
            <a:avLst/>
          </a:prstGeom>
        </p:spPr>
      </p:pic>
    </p:spTree>
    <p:extLst>
      <p:ext uri="{BB962C8B-B14F-4D97-AF65-F5344CB8AC3E}">
        <p14:creationId xmlns:p14="http://schemas.microsoft.com/office/powerpoint/2010/main" val="3658017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DD86D-DC2B-6CAA-CABA-281BF5C41495}"/>
              </a:ext>
            </a:extLst>
          </p:cNvPr>
          <p:cNvSpPr>
            <a:spLocks noGrp="1"/>
          </p:cNvSpPr>
          <p:nvPr>
            <p:ph type="title"/>
          </p:nvPr>
        </p:nvSpPr>
        <p:spPr/>
        <p:txBody>
          <a:bodyPr>
            <a:normAutofit fontScale="90000"/>
          </a:bodyPr>
          <a:lstStyle/>
          <a:p>
            <a:r>
              <a:rPr lang="en-GB" dirty="0"/>
              <a:t>Given the code, </a:t>
            </a:r>
            <a:r>
              <a:rPr lang="en-GB" dirty="0" err="1"/>
              <a:t>pthread_join</a:t>
            </a:r>
            <a:r>
              <a:rPr lang="en-GB" dirty="0"/>
              <a:t> might find the created thread has already completed when run.</a:t>
            </a:r>
          </a:p>
        </p:txBody>
      </p:sp>
      <p:sp>
        <p:nvSpPr>
          <p:cNvPr id="3" name="Content Placeholder 2">
            <a:extLst>
              <a:ext uri="{FF2B5EF4-FFF2-40B4-BE49-F238E27FC236}">
                <a16:creationId xmlns:a16="http://schemas.microsoft.com/office/drawing/2014/main" id="{2ACCD949-72EF-9D7B-AF73-4ABA9B201F07}"/>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True</a:t>
            </a:r>
          </a:p>
          <a:p>
            <a:pPr marL="457200" indent="-457200" algn="l" fontAlgn="base">
              <a:buFont typeface="+mj-lt"/>
              <a:buAutoNum type="arabicPeriod"/>
            </a:pPr>
            <a:r>
              <a:rPr lang="en-GB" b="0" i="0" dirty="0">
                <a:solidFill>
                  <a:srgbClr val="333333"/>
                </a:solidFill>
                <a:effectLst/>
                <a:latin typeface="Montserrat" pitchFamily="2" charset="77"/>
              </a:rPr>
              <a:t>False</a:t>
            </a:r>
          </a:p>
        </p:txBody>
      </p:sp>
      <p:sp>
        <p:nvSpPr>
          <p:cNvPr id="4" name="Date Placeholder 3">
            <a:extLst>
              <a:ext uri="{FF2B5EF4-FFF2-40B4-BE49-F238E27FC236}">
                <a16:creationId xmlns:a16="http://schemas.microsoft.com/office/drawing/2014/main" id="{14CAEBF3-ADDD-58AA-8D2F-BE77D21EDEAD}"/>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1965DF0B-44B4-F93B-1FD3-4A626CF2DB82}"/>
              </a:ext>
            </a:extLst>
          </p:cNvPr>
          <p:cNvSpPr>
            <a:spLocks noGrp="1"/>
          </p:cNvSpPr>
          <p:nvPr>
            <p:ph type="ftr" sz="quarter" idx="11"/>
          </p:nvPr>
        </p:nvSpPr>
        <p:spPr/>
        <p:txBody>
          <a:bodyPr/>
          <a:lstStyle/>
          <a:p>
            <a:r>
              <a:rPr lang="en-US"/>
              <a:t>Operating Systems - Threads</a:t>
            </a:r>
          </a:p>
        </p:txBody>
      </p:sp>
      <p:sp>
        <p:nvSpPr>
          <p:cNvPr id="6" name="Slide Number Placeholder 5">
            <a:extLst>
              <a:ext uri="{FF2B5EF4-FFF2-40B4-BE49-F238E27FC236}">
                <a16:creationId xmlns:a16="http://schemas.microsoft.com/office/drawing/2014/main" id="{9AE893ED-ECF3-1FCD-0839-8D9575F32D1F}"/>
              </a:ext>
            </a:extLst>
          </p:cNvPr>
          <p:cNvSpPr>
            <a:spLocks noGrp="1"/>
          </p:cNvSpPr>
          <p:nvPr>
            <p:ph type="sldNum" sz="quarter" idx="12"/>
          </p:nvPr>
        </p:nvSpPr>
        <p:spPr/>
        <p:txBody>
          <a:bodyPr/>
          <a:lstStyle/>
          <a:p>
            <a:fld id="{2D69D4BF-17B8-4416-83AD-33398895AAF4}" type="slidenum">
              <a:rPr lang="en-US" smtClean="0"/>
              <a:t>53</a:t>
            </a:fld>
            <a:endParaRPr lang="en-US"/>
          </a:p>
        </p:txBody>
      </p:sp>
      <p:pic>
        <p:nvPicPr>
          <p:cNvPr id="7" name="Picture 6">
            <a:extLst>
              <a:ext uri="{FF2B5EF4-FFF2-40B4-BE49-F238E27FC236}">
                <a16:creationId xmlns:a16="http://schemas.microsoft.com/office/drawing/2014/main" id="{6BD2EF0D-C10F-365A-0966-94B4EB9A5205}"/>
              </a:ext>
            </a:extLst>
          </p:cNvPr>
          <p:cNvPicPr>
            <a:picLocks noChangeAspect="1"/>
          </p:cNvPicPr>
          <p:nvPr/>
        </p:nvPicPr>
        <p:blipFill>
          <a:blip r:embed="rId3"/>
          <a:stretch>
            <a:fillRect/>
          </a:stretch>
        </p:blipFill>
        <p:spPr>
          <a:xfrm>
            <a:off x="3028950" y="1673026"/>
            <a:ext cx="5149850" cy="4503937"/>
          </a:xfrm>
          <a:prstGeom prst="rect">
            <a:avLst/>
          </a:prstGeom>
        </p:spPr>
      </p:pic>
    </p:spTree>
    <p:extLst>
      <p:ext uri="{BB962C8B-B14F-4D97-AF65-F5344CB8AC3E}">
        <p14:creationId xmlns:p14="http://schemas.microsoft.com/office/powerpoint/2010/main" val="11542143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DD86D-DC2B-6CAA-CABA-281BF5C41495}"/>
              </a:ext>
            </a:extLst>
          </p:cNvPr>
          <p:cNvSpPr>
            <a:spLocks noGrp="1"/>
          </p:cNvSpPr>
          <p:nvPr>
            <p:ph type="title"/>
          </p:nvPr>
        </p:nvSpPr>
        <p:spPr/>
        <p:txBody>
          <a:bodyPr>
            <a:normAutofit/>
          </a:bodyPr>
          <a:lstStyle/>
          <a:p>
            <a:r>
              <a:rPr lang="en-GB" dirty="0"/>
              <a:t>Given the code, the final value of sum can change at different executions.</a:t>
            </a:r>
          </a:p>
        </p:txBody>
      </p:sp>
      <p:sp>
        <p:nvSpPr>
          <p:cNvPr id="3" name="Content Placeholder 2">
            <a:extLst>
              <a:ext uri="{FF2B5EF4-FFF2-40B4-BE49-F238E27FC236}">
                <a16:creationId xmlns:a16="http://schemas.microsoft.com/office/drawing/2014/main" id="{2ACCD949-72EF-9D7B-AF73-4ABA9B201F07}"/>
              </a:ext>
            </a:extLst>
          </p:cNvPr>
          <p:cNvSpPr>
            <a:spLocks noGrp="1"/>
          </p:cNvSpPr>
          <p:nvPr>
            <p:ph idx="1"/>
          </p:nvPr>
        </p:nvSpPr>
        <p:spPr/>
        <p:txBody>
          <a:bodyPr/>
          <a:lstStyle/>
          <a:p>
            <a:pPr marL="457200" indent="-457200" algn="l" fontAlgn="base">
              <a:buFont typeface="+mj-lt"/>
              <a:buAutoNum type="arabicPeriod"/>
            </a:pPr>
            <a:r>
              <a:rPr lang="en-GB" dirty="0">
                <a:solidFill>
                  <a:srgbClr val="333333"/>
                </a:solidFill>
                <a:latin typeface="Montserrat" pitchFamily="2" charset="77"/>
              </a:rPr>
              <a:t>Yes</a:t>
            </a:r>
            <a:endParaRPr lang="en-GB" b="0" i="0" dirty="0">
              <a:solidFill>
                <a:srgbClr val="333333"/>
              </a:solidFill>
              <a:effectLst/>
              <a:latin typeface="Montserrat" pitchFamily="2" charset="77"/>
            </a:endParaRPr>
          </a:p>
          <a:p>
            <a:pPr marL="457200" indent="-457200" algn="l" fontAlgn="base">
              <a:buFont typeface="+mj-lt"/>
              <a:buAutoNum type="arabicPeriod"/>
            </a:pPr>
            <a:r>
              <a:rPr lang="en-GB" b="0" i="0" dirty="0">
                <a:solidFill>
                  <a:srgbClr val="333333"/>
                </a:solidFill>
                <a:effectLst/>
                <a:latin typeface="Montserrat" pitchFamily="2" charset="77"/>
              </a:rPr>
              <a:t>No</a:t>
            </a:r>
          </a:p>
          <a:p>
            <a:pPr marL="457200" indent="-457200" algn="l" fontAlgn="base">
              <a:buFont typeface="+mj-lt"/>
              <a:buAutoNum type="arabicPeriod"/>
            </a:pPr>
            <a:r>
              <a:rPr lang="en-GB" b="0" i="0" dirty="0">
                <a:solidFill>
                  <a:srgbClr val="333333"/>
                </a:solidFill>
                <a:effectLst/>
                <a:latin typeface="Montserrat" pitchFamily="2" charset="77"/>
              </a:rPr>
              <a:t>The question</a:t>
            </a:r>
            <a:br>
              <a:rPr lang="en-GB" b="0" i="0" dirty="0">
                <a:solidFill>
                  <a:srgbClr val="333333"/>
                </a:solidFill>
                <a:effectLst/>
                <a:latin typeface="Montserrat" pitchFamily="2" charset="77"/>
              </a:rPr>
            </a:br>
            <a:r>
              <a:rPr lang="en-GB" b="0" i="0" dirty="0">
                <a:solidFill>
                  <a:srgbClr val="333333"/>
                </a:solidFill>
                <a:effectLst/>
                <a:latin typeface="Montserrat" pitchFamily="2" charset="77"/>
              </a:rPr>
              <a:t>is ambiguous</a:t>
            </a:r>
          </a:p>
        </p:txBody>
      </p:sp>
      <p:sp>
        <p:nvSpPr>
          <p:cNvPr id="4" name="Date Placeholder 3">
            <a:extLst>
              <a:ext uri="{FF2B5EF4-FFF2-40B4-BE49-F238E27FC236}">
                <a16:creationId xmlns:a16="http://schemas.microsoft.com/office/drawing/2014/main" id="{13F97612-C9E4-57BF-59A8-8D27092342BE}"/>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417E9763-195A-6265-ABB5-C057157BA189}"/>
              </a:ext>
            </a:extLst>
          </p:cNvPr>
          <p:cNvSpPr>
            <a:spLocks noGrp="1"/>
          </p:cNvSpPr>
          <p:nvPr>
            <p:ph type="ftr" sz="quarter" idx="11"/>
          </p:nvPr>
        </p:nvSpPr>
        <p:spPr/>
        <p:txBody>
          <a:bodyPr/>
          <a:lstStyle/>
          <a:p>
            <a:r>
              <a:rPr lang="en-US"/>
              <a:t>Operating Systems - Threads</a:t>
            </a:r>
          </a:p>
        </p:txBody>
      </p:sp>
      <p:sp>
        <p:nvSpPr>
          <p:cNvPr id="6" name="Slide Number Placeholder 5">
            <a:extLst>
              <a:ext uri="{FF2B5EF4-FFF2-40B4-BE49-F238E27FC236}">
                <a16:creationId xmlns:a16="http://schemas.microsoft.com/office/drawing/2014/main" id="{BACA3194-DB57-BCDB-F3B0-BDC94C6EBC61}"/>
              </a:ext>
            </a:extLst>
          </p:cNvPr>
          <p:cNvSpPr>
            <a:spLocks noGrp="1"/>
          </p:cNvSpPr>
          <p:nvPr>
            <p:ph type="sldNum" sz="quarter" idx="12"/>
          </p:nvPr>
        </p:nvSpPr>
        <p:spPr/>
        <p:txBody>
          <a:bodyPr/>
          <a:lstStyle/>
          <a:p>
            <a:fld id="{2D69D4BF-17B8-4416-83AD-33398895AAF4}" type="slidenum">
              <a:rPr lang="en-US" smtClean="0"/>
              <a:t>54</a:t>
            </a:fld>
            <a:endParaRPr lang="en-US"/>
          </a:p>
        </p:txBody>
      </p:sp>
      <p:pic>
        <p:nvPicPr>
          <p:cNvPr id="7" name="Picture 6">
            <a:extLst>
              <a:ext uri="{FF2B5EF4-FFF2-40B4-BE49-F238E27FC236}">
                <a16:creationId xmlns:a16="http://schemas.microsoft.com/office/drawing/2014/main" id="{F4BB15D8-B2C1-EA12-F650-F51513E8B243}"/>
              </a:ext>
            </a:extLst>
          </p:cNvPr>
          <p:cNvPicPr>
            <a:picLocks noChangeAspect="1"/>
          </p:cNvPicPr>
          <p:nvPr/>
        </p:nvPicPr>
        <p:blipFill>
          <a:blip r:embed="rId3"/>
          <a:stretch>
            <a:fillRect/>
          </a:stretch>
        </p:blipFill>
        <p:spPr>
          <a:xfrm>
            <a:off x="3028950" y="1673026"/>
            <a:ext cx="5149850" cy="4503937"/>
          </a:xfrm>
          <a:prstGeom prst="rect">
            <a:avLst/>
          </a:prstGeom>
        </p:spPr>
      </p:pic>
    </p:spTree>
    <p:extLst>
      <p:ext uri="{BB962C8B-B14F-4D97-AF65-F5344CB8AC3E}">
        <p14:creationId xmlns:p14="http://schemas.microsoft.com/office/powerpoint/2010/main" val="18694502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77C2BD-BBE9-4D11-6104-B06612041788}"/>
              </a:ext>
            </a:extLst>
          </p:cNvPr>
          <p:cNvSpPr>
            <a:spLocks noGrp="1"/>
          </p:cNvSpPr>
          <p:nvPr>
            <p:ph idx="1"/>
          </p:nvPr>
        </p:nvSpPr>
        <p:spPr/>
        <p:txBody>
          <a:bodyPr>
            <a:normAutofit/>
          </a:bodyPr>
          <a:lstStyle/>
          <a:p>
            <a:pPr marL="0" indent="0">
              <a:buNone/>
            </a:pPr>
            <a:r>
              <a:rPr lang="en-US" sz="2800" dirty="0"/>
              <a:t>Assume several threads are created using the many-to-one threading model. Discuss whether they can execute concurrently, in parallel or both.</a:t>
            </a:r>
          </a:p>
        </p:txBody>
      </p:sp>
      <p:sp>
        <p:nvSpPr>
          <p:cNvPr id="4" name="Date Placeholder 3">
            <a:extLst>
              <a:ext uri="{FF2B5EF4-FFF2-40B4-BE49-F238E27FC236}">
                <a16:creationId xmlns:a16="http://schemas.microsoft.com/office/drawing/2014/main" id="{25E12C26-266E-4B8E-CC2E-01990505A13D}"/>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880D6BFE-FFCD-05B5-51B3-D6644438FCB7}"/>
              </a:ext>
            </a:extLst>
          </p:cNvPr>
          <p:cNvSpPr>
            <a:spLocks noGrp="1"/>
          </p:cNvSpPr>
          <p:nvPr>
            <p:ph type="ftr" sz="quarter" idx="11"/>
          </p:nvPr>
        </p:nvSpPr>
        <p:spPr/>
        <p:txBody>
          <a:bodyPr/>
          <a:lstStyle/>
          <a:p>
            <a:r>
              <a:rPr lang="en-US"/>
              <a:t>Operating Systems - Threads</a:t>
            </a:r>
            <a:endParaRPr lang="en-US" dirty="0"/>
          </a:p>
        </p:txBody>
      </p:sp>
      <p:sp>
        <p:nvSpPr>
          <p:cNvPr id="6" name="Slide Number Placeholder 5">
            <a:extLst>
              <a:ext uri="{FF2B5EF4-FFF2-40B4-BE49-F238E27FC236}">
                <a16:creationId xmlns:a16="http://schemas.microsoft.com/office/drawing/2014/main" id="{CE075342-5B90-A6BF-9E71-A6392CE91CF7}"/>
              </a:ext>
            </a:extLst>
          </p:cNvPr>
          <p:cNvSpPr>
            <a:spLocks noGrp="1"/>
          </p:cNvSpPr>
          <p:nvPr>
            <p:ph type="sldNum" sz="quarter" idx="12"/>
          </p:nvPr>
        </p:nvSpPr>
        <p:spPr/>
        <p:txBody>
          <a:bodyPr/>
          <a:lstStyle/>
          <a:p>
            <a:fld id="{2D69D4BF-17B8-4416-83AD-33398895AAF4}" type="slidenum">
              <a:rPr lang="en-US" smtClean="0"/>
              <a:t>55</a:t>
            </a:fld>
            <a:endParaRPr lang="en-US"/>
          </a:p>
        </p:txBody>
      </p:sp>
    </p:spTree>
    <p:extLst>
      <p:ext uri="{BB962C8B-B14F-4D97-AF65-F5344CB8AC3E}">
        <p14:creationId xmlns:p14="http://schemas.microsoft.com/office/powerpoint/2010/main" val="18551056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9EEF48-E520-7720-4BBC-5BBDFB92B95F}"/>
              </a:ext>
            </a:extLst>
          </p:cNvPr>
          <p:cNvSpPr>
            <a:spLocks noGrp="1"/>
          </p:cNvSpPr>
          <p:nvPr>
            <p:ph idx="1"/>
          </p:nvPr>
        </p:nvSpPr>
        <p:spPr/>
        <p:txBody>
          <a:bodyPr>
            <a:normAutofit/>
          </a:bodyPr>
          <a:lstStyle/>
          <a:p>
            <a:pPr marL="0" indent="0">
              <a:buNone/>
            </a:pPr>
            <a:r>
              <a:rPr lang="en-US" sz="2800" dirty="0"/>
              <a:t>What is the </a:t>
            </a:r>
            <a:r>
              <a:rPr lang="en-US" sz="2800" dirty="0" err="1"/>
              <a:t>pthread_join</a:t>
            </a:r>
            <a:r>
              <a:rPr lang="en-US" sz="2800" dirty="0"/>
              <a:t> function used for? Write a small sample code to support your discussion.</a:t>
            </a:r>
          </a:p>
        </p:txBody>
      </p:sp>
      <p:sp>
        <p:nvSpPr>
          <p:cNvPr id="4" name="Date Placeholder 3">
            <a:extLst>
              <a:ext uri="{FF2B5EF4-FFF2-40B4-BE49-F238E27FC236}">
                <a16:creationId xmlns:a16="http://schemas.microsoft.com/office/drawing/2014/main" id="{F2BD5A20-C311-73C9-621A-816B840AEAE2}"/>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56CCD63B-F41C-CE59-F7E9-90E29EFD24D3}"/>
              </a:ext>
            </a:extLst>
          </p:cNvPr>
          <p:cNvSpPr>
            <a:spLocks noGrp="1"/>
          </p:cNvSpPr>
          <p:nvPr>
            <p:ph type="ftr" sz="quarter" idx="11"/>
          </p:nvPr>
        </p:nvSpPr>
        <p:spPr/>
        <p:txBody>
          <a:bodyPr/>
          <a:lstStyle/>
          <a:p>
            <a:r>
              <a:rPr lang="en-US"/>
              <a:t>Operating Systems - Threads</a:t>
            </a:r>
          </a:p>
        </p:txBody>
      </p:sp>
      <p:sp>
        <p:nvSpPr>
          <p:cNvPr id="6" name="Slide Number Placeholder 5">
            <a:extLst>
              <a:ext uri="{FF2B5EF4-FFF2-40B4-BE49-F238E27FC236}">
                <a16:creationId xmlns:a16="http://schemas.microsoft.com/office/drawing/2014/main" id="{76502643-3839-4E6F-C60C-6BFEAE1515A0}"/>
              </a:ext>
            </a:extLst>
          </p:cNvPr>
          <p:cNvSpPr>
            <a:spLocks noGrp="1"/>
          </p:cNvSpPr>
          <p:nvPr>
            <p:ph type="sldNum" sz="quarter" idx="12"/>
          </p:nvPr>
        </p:nvSpPr>
        <p:spPr/>
        <p:txBody>
          <a:bodyPr/>
          <a:lstStyle/>
          <a:p>
            <a:fld id="{2D69D4BF-17B8-4416-83AD-33398895AAF4}" type="slidenum">
              <a:rPr lang="en-US" smtClean="0"/>
              <a:t>56</a:t>
            </a:fld>
            <a:endParaRPr lang="en-US"/>
          </a:p>
        </p:txBody>
      </p:sp>
    </p:spTree>
    <p:extLst>
      <p:ext uri="{BB962C8B-B14F-4D97-AF65-F5344CB8AC3E}">
        <p14:creationId xmlns:p14="http://schemas.microsoft.com/office/powerpoint/2010/main" val="16957991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E07EF3-E6D5-B99A-E922-6DDF9013F795}"/>
              </a:ext>
            </a:extLst>
          </p:cNvPr>
          <p:cNvSpPr>
            <a:spLocks noGrp="1"/>
          </p:cNvSpPr>
          <p:nvPr>
            <p:ph idx="1"/>
          </p:nvPr>
        </p:nvSpPr>
        <p:spPr/>
        <p:txBody>
          <a:bodyPr>
            <a:normAutofit/>
          </a:bodyPr>
          <a:lstStyle/>
          <a:p>
            <a:pPr marL="0" indent="0">
              <a:buNone/>
            </a:pPr>
            <a:r>
              <a:rPr lang="en-US" sz="2800" dirty="0"/>
              <a:t>Explain why concurrent and parallel execution can be achieved by a program by means of both multiple processes and multiple threads</a:t>
            </a:r>
          </a:p>
        </p:txBody>
      </p:sp>
      <p:sp>
        <p:nvSpPr>
          <p:cNvPr id="4" name="Date Placeholder 3">
            <a:extLst>
              <a:ext uri="{FF2B5EF4-FFF2-40B4-BE49-F238E27FC236}">
                <a16:creationId xmlns:a16="http://schemas.microsoft.com/office/drawing/2014/main" id="{7BF3B409-101D-0A1B-10F7-03C130EBB7E2}"/>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7CE04D2C-BB9E-B941-6661-87721F8D7A46}"/>
              </a:ext>
            </a:extLst>
          </p:cNvPr>
          <p:cNvSpPr>
            <a:spLocks noGrp="1"/>
          </p:cNvSpPr>
          <p:nvPr>
            <p:ph type="ftr" sz="quarter" idx="11"/>
          </p:nvPr>
        </p:nvSpPr>
        <p:spPr/>
        <p:txBody>
          <a:bodyPr/>
          <a:lstStyle/>
          <a:p>
            <a:r>
              <a:rPr lang="en-US"/>
              <a:t>Operating Systems - Threads</a:t>
            </a:r>
          </a:p>
        </p:txBody>
      </p:sp>
      <p:sp>
        <p:nvSpPr>
          <p:cNvPr id="6" name="Slide Number Placeholder 5">
            <a:extLst>
              <a:ext uri="{FF2B5EF4-FFF2-40B4-BE49-F238E27FC236}">
                <a16:creationId xmlns:a16="http://schemas.microsoft.com/office/drawing/2014/main" id="{78D4E32F-8E35-799D-2115-95662BDE6D9A}"/>
              </a:ext>
            </a:extLst>
          </p:cNvPr>
          <p:cNvSpPr>
            <a:spLocks noGrp="1"/>
          </p:cNvSpPr>
          <p:nvPr>
            <p:ph type="sldNum" sz="quarter" idx="12"/>
          </p:nvPr>
        </p:nvSpPr>
        <p:spPr/>
        <p:txBody>
          <a:bodyPr/>
          <a:lstStyle/>
          <a:p>
            <a:fld id="{2D69D4BF-17B8-4416-83AD-33398895AAF4}" type="slidenum">
              <a:rPr lang="en-US" smtClean="0"/>
              <a:t>57</a:t>
            </a:fld>
            <a:endParaRPr lang="en-US"/>
          </a:p>
        </p:txBody>
      </p:sp>
    </p:spTree>
    <p:extLst>
      <p:ext uri="{BB962C8B-B14F-4D97-AF65-F5344CB8AC3E}">
        <p14:creationId xmlns:p14="http://schemas.microsoft.com/office/powerpoint/2010/main" val="20220578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Garamond"/>
        <a:ea typeface=""/>
        <a:cs typeface=""/>
      </a:majorFont>
      <a:minorFont>
        <a:latin typeface="Garam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ustom 1">
      <a:majorFont>
        <a:latin typeface="Garamond"/>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12819</TotalTime>
  <Words>2756</Words>
  <Application>Microsoft Macintosh PowerPoint</Application>
  <PresentationFormat>On-screen Show (4:3)</PresentationFormat>
  <Paragraphs>534</Paragraphs>
  <Slides>57</Slides>
  <Notes>44</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57</vt:i4>
      </vt:variant>
    </vt:vector>
  </HeadingPairs>
  <TitlesOfParts>
    <vt:vector size="67" baseType="lpstr">
      <vt:lpstr>Arial</vt:lpstr>
      <vt:lpstr>Courier New</vt:lpstr>
      <vt:lpstr>Garamond</vt:lpstr>
      <vt:lpstr>Helvetica</vt:lpstr>
      <vt:lpstr>Monotype Sorts</vt:lpstr>
      <vt:lpstr>Montserrat</vt:lpstr>
      <vt:lpstr>Times New Roman</vt:lpstr>
      <vt:lpstr>Verdana</vt:lpstr>
      <vt:lpstr>Wingdings</vt:lpstr>
      <vt:lpstr>Office Theme</vt:lpstr>
      <vt:lpstr>PowerPoint Presentation</vt:lpstr>
      <vt:lpstr>What to read (main textbook)</vt:lpstr>
      <vt:lpstr>Objectives</vt:lpstr>
      <vt:lpstr>AGENDA</vt:lpstr>
      <vt:lpstr>AGENDA</vt:lpstr>
      <vt:lpstr>PowerPoint Presentation</vt:lpstr>
      <vt:lpstr>Concurrent vs Parallel execution</vt:lpstr>
      <vt:lpstr>The basic CPU cycle</vt:lpstr>
      <vt:lpstr>PowerPoint Presentation</vt:lpstr>
      <vt:lpstr>Discussion: parallel/concurrent execution of processes</vt:lpstr>
      <vt:lpstr>Threads</vt:lpstr>
      <vt:lpstr>Single and Multithreaded Processes</vt:lpstr>
      <vt:lpstr>Motivation</vt:lpstr>
      <vt:lpstr>Multithreaded Server Architecture</vt:lpstr>
      <vt:lpstr>Benefits</vt:lpstr>
      <vt:lpstr>Multicore Programming</vt:lpstr>
      <vt:lpstr>Concurrency vs. Parallelism</vt:lpstr>
      <vt:lpstr>Multicore Programming (Cont.)</vt:lpstr>
      <vt:lpstr>Question</vt:lpstr>
      <vt:lpstr>Amdahl’s Law</vt:lpstr>
      <vt:lpstr>AGENDA</vt:lpstr>
      <vt:lpstr>User Threads and Kernel Threads</vt:lpstr>
      <vt:lpstr>Multithreading Models</vt:lpstr>
      <vt:lpstr>Many-to-One</vt:lpstr>
      <vt:lpstr>One-to-One</vt:lpstr>
      <vt:lpstr>Many-to-Many Model</vt:lpstr>
      <vt:lpstr>Two-level Model</vt:lpstr>
      <vt:lpstr>Thread Libraries</vt:lpstr>
      <vt:lpstr>Pthreads</vt:lpstr>
      <vt:lpstr>Pthreads Example</vt:lpstr>
      <vt:lpstr>Pthreads Example (Cont.)</vt:lpstr>
      <vt:lpstr>Pthreads Code for Joining 10 Threads</vt:lpstr>
      <vt:lpstr>AGENDA</vt:lpstr>
      <vt:lpstr>Implicit Threading</vt:lpstr>
      <vt:lpstr>Thread Pools</vt:lpstr>
      <vt:lpstr>OpenMP</vt:lpstr>
      <vt:lpstr>AGENDA</vt:lpstr>
      <vt:lpstr>Threading Issues</vt:lpstr>
      <vt:lpstr>C Program Forking Separate Process</vt:lpstr>
      <vt:lpstr>Semantics of fork() and exec()</vt:lpstr>
      <vt:lpstr>Signal Handling</vt:lpstr>
      <vt:lpstr>Signal Handling (Cont.)</vt:lpstr>
      <vt:lpstr>Thread Cancellation</vt:lpstr>
      <vt:lpstr>Thread Cancellation (Cont.)</vt:lpstr>
      <vt:lpstr>Questions</vt:lpstr>
      <vt:lpstr>Given the processes running in the figure, how many cores does the CPU have?</vt:lpstr>
      <vt:lpstr>Given the processes running in the figure, why does P2 get switched at slot 2?</vt:lpstr>
      <vt:lpstr>Given the processes running in the figure, why does P3 get switched at slot 5?</vt:lpstr>
      <vt:lpstr>Given the processes running in the figure, do P2 and P3 run in parallel?</vt:lpstr>
      <vt:lpstr>Given the processes running in the figure, do P2 and P3 run concurrently?</vt:lpstr>
      <vt:lpstr>Given the code, the variable sum is not shared between threads.</vt:lpstr>
      <vt:lpstr>Given the code, the main function can complete before the created thread completes.</vt:lpstr>
      <vt:lpstr>Given the code, pthread_join might find the created thread has already completed when run.</vt:lpstr>
      <vt:lpstr>Given the code, the final value of sum can change at different executions.</vt:lpstr>
      <vt:lpstr>PowerPoint Presentation</vt:lpstr>
      <vt:lpstr>PowerPoint Presentation</vt:lpstr>
      <vt:lpstr>PowerPoint Presentation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Vincenzo Gulisano</cp:lastModifiedBy>
  <cp:revision>260</cp:revision>
  <cp:lastPrinted>2016-11-13T10:04:32Z</cp:lastPrinted>
  <dcterms:created xsi:type="dcterms:W3CDTF">2011-01-13T23:43:38Z</dcterms:created>
  <dcterms:modified xsi:type="dcterms:W3CDTF">2026-09-10T05:55:48Z</dcterms:modified>
</cp:coreProperties>
</file>