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77" r:id="rId2"/>
    <p:sldId id="261" r:id="rId3"/>
    <p:sldId id="298" r:id="rId4"/>
    <p:sldId id="299" r:id="rId5"/>
    <p:sldId id="257" r:id="rId6"/>
    <p:sldId id="259" r:id="rId7"/>
    <p:sldId id="258" r:id="rId8"/>
    <p:sldId id="300" r:id="rId9"/>
    <p:sldId id="263" r:id="rId10"/>
    <p:sldId id="264" r:id="rId11"/>
    <p:sldId id="301" r:id="rId12"/>
    <p:sldId id="266" r:id="rId13"/>
    <p:sldId id="302" r:id="rId14"/>
    <p:sldId id="268" r:id="rId15"/>
    <p:sldId id="270" r:id="rId16"/>
    <p:sldId id="271" r:id="rId17"/>
    <p:sldId id="272" r:id="rId18"/>
    <p:sldId id="316" r:id="rId19"/>
    <p:sldId id="305" r:id="rId20"/>
    <p:sldId id="279" r:id="rId21"/>
    <p:sldId id="281" r:id="rId22"/>
    <p:sldId id="282" r:id="rId23"/>
    <p:sldId id="283" r:id="rId24"/>
    <p:sldId id="306"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315" r:id="rId38"/>
    <p:sldId id="307" r:id="rId39"/>
    <p:sldId id="308" r:id="rId40"/>
    <p:sldId id="309" r:id="rId41"/>
    <p:sldId id="310" r:id="rId42"/>
    <p:sldId id="311" r:id="rId43"/>
    <p:sldId id="312" r:id="rId44"/>
    <p:sldId id="313" r:id="rId45"/>
    <p:sldId id="314"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Vincenzo Massimiliano Gulisano" initials="VMG"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EEABAD-FE58-C242-B264-364676968BBC}" v="33" dt="2025-09-01T12:02:27.8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442"/>
    <p:restoredTop sz="82225"/>
  </p:normalViewPr>
  <p:slideViewPr>
    <p:cSldViewPr snapToGrid="0" snapToObjects="1">
      <p:cViewPr varScale="1">
        <p:scale>
          <a:sx n="111" d="100"/>
          <a:sy n="111" d="100"/>
        </p:scale>
        <p:origin x="2576" y="200"/>
      </p:cViewPr>
      <p:guideLst/>
    </p:cSldViewPr>
  </p:slideViewPr>
  <p:notesTextViewPr>
    <p:cViewPr>
      <p:scale>
        <a:sx n="200" d="100"/>
        <a:sy n="2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redo custSel addSld modSld sldOrd">
      <pc:chgData name="Vincenzo Massimiliano Gulisano" userId="887d7398-9e41-4331-abd4-9c23f064ea90" providerId="ADAL" clId="{8EA10870-6395-588A-9409-E8E4CA631CF7}" dt="2025-09-04T07:53:10.857" v="919" actId="20578"/>
      <pc:docMkLst>
        <pc:docMk/>
      </pc:docMkLst>
      <pc:sldChg chg="modSp mod">
        <pc:chgData name="Vincenzo Massimiliano Gulisano" userId="887d7398-9e41-4331-abd4-9c23f064ea90" providerId="ADAL" clId="{8EA10870-6395-588A-9409-E8E4CA631CF7}" dt="2025-09-04T07:51:57.437" v="908" actId="20577"/>
        <pc:sldMkLst>
          <pc:docMk/>
          <pc:sldMk cId="1192441771" sldId="257"/>
        </pc:sldMkLst>
        <pc:spChg chg="mod">
          <ac:chgData name="Vincenzo Massimiliano Gulisano" userId="887d7398-9e41-4331-abd4-9c23f064ea90" providerId="ADAL" clId="{8EA10870-6395-588A-9409-E8E4CA631CF7}" dt="2025-09-04T07:51:57.437" v="908" actId="20577"/>
          <ac:spMkLst>
            <pc:docMk/>
            <pc:sldMk cId="1192441771" sldId="257"/>
            <ac:spMk id="3" creationId="{00000000-0000-0000-0000-000000000000}"/>
          </ac:spMkLst>
        </pc:spChg>
      </pc:sldChg>
      <pc:sldChg chg="modSp">
        <pc:chgData name="Vincenzo Massimiliano Gulisano" userId="887d7398-9e41-4331-abd4-9c23f064ea90" providerId="ADAL" clId="{8EA10870-6395-588A-9409-E8E4CA631CF7}" dt="2025-09-01T11:31:14.567" v="0" actId="20577"/>
        <pc:sldMkLst>
          <pc:docMk/>
          <pc:sldMk cId="969321489" sldId="270"/>
        </pc:sldMkLst>
        <pc:spChg chg="mod">
          <ac:chgData name="Vincenzo Massimiliano Gulisano" userId="887d7398-9e41-4331-abd4-9c23f064ea90" providerId="ADAL" clId="{8EA10870-6395-588A-9409-E8E4CA631CF7}" dt="2025-09-01T11:31:14.567" v="0" actId="20577"/>
          <ac:spMkLst>
            <pc:docMk/>
            <pc:sldMk cId="969321489" sldId="270"/>
            <ac:spMk id="3" creationId="{00000000-0000-0000-0000-000000000000}"/>
          </ac:spMkLst>
        </pc:spChg>
      </pc:sldChg>
      <pc:sldChg chg="modSp modNotesTx">
        <pc:chgData name="Vincenzo Massimiliano Gulisano" userId="887d7398-9e41-4331-abd4-9c23f064ea90" providerId="ADAL" clId="{8EA10870-6395-588A-9409-E8E4CA631CF7}" dt="2025-09-01T11:37:30.858" v="3" actId="20577"/>
        <pc:sldMkLst>
          <pc:docMk/>
          <pc:sldMk cId="1926186313" sldId="271"/>
        </pc:sldMkLst>
        <pc:spChg chg="mod">
          <ac:chgData name="Vincenzo Massimiliano Gulisano" userId="887d7398-9e41-4331-abd4-9c23f064ea90" providerId="ADAL" clId="{8EA10870-6395-588A-9409-E8E4CA631CF7}" dt="2025-09-01T11:31:31.634" v="1" actId="20577"/>
          <ac:spMkLst>
            <pc:docMk/>
            <pc:sldMk cId="1926186313" sldId="271"/>
            <ac:spMk id="3" creationId="{00000000-0000-0000-0000-000000000000}"/>
          </ac:spMkLst>
        </pc:spChg>
      </pc:sldChg>
      <pc:sldChg chg="modNotesTx">
        <pc:chgData name="Vincenzo Massimiliano Gulisano" userId="887d7398-9e41-4331-abd4-9c23f064ea90" providerId="ADAL" clId="{8EA10870-6395-588A-9409-E8E4CA631CF7}" dt="2025-09-01T11:39:17.113" v="6" actId="20577"/>
        <pc:sldMkLst>
          <pc:docMk/>
          <pc:sldMk cId="1979103838" sldId="307"/>
        </pc:sldMkLst>
      </pc:sldChg>
      <pc:sldChg chg="modNotesTx">
        <pc:chgData name="Vincenzo Massimiliano Gulisano" userId="887d7398-9e41-4331-abd4-9c23f064ea90" providerId="ADAL" clId="{8EA10870-6395-588A-9409-E8E4CA631CF7}" dt="2025-09-01T11:40:13.919" v="8" actId="20577"/>
        <pc:sldMkLst>
          <pc:docMk/>
          <pc:sldMk cId="1290651021" sldId="308"/>
        </pc:sldMkLst>
      </pc:sldChg>
      <pc:sldChg chg="addSp modSp new mod ord modAnim">
        <pc:chgData name="Vincenzo Massimiliano Gulisano" userId="887d7398-9e41-4331-abd4-9c23f064ea90" providerId="ADAL" clId="{8EA10870-6395-588A-9409-E8E4CA631CF7}" dt="2025-09-04T07:53:10.857" v="919" actId="20578"/>
        <pc:sldMkLst>
          <pc:docMk/>
          <pc:sldMk cId="2874916304" sldId="316"/>
        </pc:sldMkLst>
        <pc:spChg chg="mod">
          <ac:chgData name="Vincenzo Massimiliano Gulisano" userId="887d7398-9e41-4331-abd4-9c23f064ea90" providerId="ADAL" clId="{8EA10870-6395-588A-9409-E8E4CA631CF7}" dt="2025-09-01T11:43:47.896" v="24" actId="20577"/>
          <ac:spMkLst>
            <pc:docMk/>
            <pc:sldMk cId="2874916304" sldId="316"/>
            <ac:spMk id="2" creationId="{2FAB60FA-2C2D-A9D2-A59B-3D7FE41439C0}"/>
          </ac:spMkLst>
        </pc:spChg>
        <pc:spChg chg="mod">
          <ac:chgData name="Vincenzo Massimiliano Gulisano" userId="887d7398-9e41-4331-abd4-9c23f064ea90" providerId="ADAL" clId="{8EA10870-6395-588A-9409-E8E4CA631CF7}" dt="2025-09-01T11:58:15.226" v="799" actId="1076"/>
          <ac:spMkLst>
            <pc:docMk/>
            <pc:sldMk cId="2874916304" sldId="316"/>
            <ac:spMk id="3" creationId="{80558F6A-2505-44DC-2534-8BF43C9765D7}"/>
          </ac:spMkLst>
        </pc:spChg>
        <pc:spChg chg="add mod">
          <ac:chgData name="Vincenzo Massimiliano Gulisano" userId="887d7398-9e41-4331-abd4-9c23f064ea90" providerId="ADAL" clId="{8EA10870-6395-588A-9409-E8E4CA631CF7}" dt="2025-09-01T11:59:57.762" v="814" actId="1035"/>
          <ac:spMkLst>
            <pc:docMk/>
            <pc:sldMk cId="2874916304" sldId="316"/>
            <ac:spMk id="9" creationId="{5013DD78-D8FA-17B1-0922-607AB976D838}"/>
          </ac:spMkLst>
        </pc:spChg>
        <pc:spChg chg="add mod">
          <ac:chgData name="Vincenzo Massimiliano Gulisano" userId="887d7398-9e41-4331-abd4-9c23f064ea90" providerId="ADAL" clId="{8EA10870-6395-588A-9409-E8E4CA631CF7}" dt="2025-09-01T11:59:57.762" v="814" actId="1035"/>
          <ac:spMkLst>
            <pc:docMk/>
            <pc:sldMk cId="2874916304" sldId="316"/>
            <ac:spMk id="12" creationId="{3EDC5BF1-7792-B0F8-8540-34D7207C1A2F}"/>
          </ac:spMkLst>
        </pc:spChg>
        <pc:spChg chg="add mod">
          <ac:chgData name="Vincenzo Massimiliano Gulisano" userId="887d7398-9e41-4331-abd4-9c23f064ea90" providerId="ADAL" clId="{8EA10870-6395-588A-9409-E8E4CA631CF7}" dt="2025-09-01T11:59:57.762" v="814" actId="1035"/>
          <ac:spMkLst>
            <pc:docMk/>
            <pc:sldMk cId="2874916304" sldId="316"/>
            <ac:spMk id="16" creationId="{D16BF9F1-D6B7-E32B-9144-3BE5FC155A32}"/>
          </ac:spMkLst>
        </pc:spChg>
        <pc:spChg chg="add mod">
          <ac:chgData name="Vincenzo Massimiliano Gulisano" userId="887d7398-9e41-4331-abd4-9c23f064ea90" providerId="ADAL" clId="{8EA10870-6395-588A-9409-E8E4CA631CF7}" dt="2025-09-01T11:59:57.762" v="814" actId="1035"/>
          <ac:spMkLst>
            <pc:docMk/>
            <pc:sldMk cId="2874916304" sldId="316"/>
            <ac:spMk id="17" creationId="{FDF23F3A-917F-FE0F-1242-0FF9B45D8EE7}"/>
          </ac:spMkLst>
        </pc:spChg>
        <pc:spChg chg="add mod">
          <ac:chgData name="Vincenzo Massimiliano Gulisano" userId="887d7398-9e41-4331-abd4-9c23f064ea90" providerId="ADAL" clId="{8EA10870-6395-588A-9409-E8E4CA631CF7}" dt="2025-09-01T11:59:57.762" v="814" actId="1035"/>
          <ac:spMkLst>
            <pc:docMk/>
            <pc:sldMk cId="2874916304" sldId="316"/>
            <ac:spMk id="19" creationId="{47627BF3-4028-285E-F699-1EA5E88941AD}"/>
          </ac:spMkLst>
        </pc:spChg>
        <pc:spChg chg="add mod">
          <ac:chgData name="Vincenzo Massimiliano Gulisano" userId="887d7398-9e41-4331-abd4-9c23f064ea90" providerId="ADAL" clId="{8EA10870-6395-588A-9409-E8E4CA631CF7}" dt="2025-09-01T11:59:57.762" v="814" actId="1035"/>
          <ac:spMkLst>
            <pc:docMk/>
            <pc:sldMk cId="2874916304" sldId="316"/>
            <ac:spMk id="21" creationId="{2702F1FA-6619-9590-DE58-C1C2756782AD}"/>
          </ac:spMkLst>
        </pc:spChg>
        <pc:spChg chg="add mod">
          <ac:chgData name="Vincenzo Massimiliano Gulisano" userId="887d7398-9e41-4331-abd4-9c23f064ea90" providerId="ADAL" clId="{8EA10870-6395-588A-9409-E8E4CA631CF7}" dt="2025-09-01T12:02:06.611" v="898" actId="1076"/>
          <ac:spMkLst>
            <pc:docMk/>
            <pc:sldMk cId="2874916304" sldId="316"/>
            <ac:spMk id="22" creationId="{2958CD49-CB2E-CA5B-6A80-89EBC4B845D9}"/>
          </ac:spMkLst>
        </pc:spChg>
        <pc:spChg chg="add mod">
          <ac:chgData name="Vincenzo Massimiliano Gulisano" userId="887d7398-9e41-4331-abd4-9c23f064ea90" providerId="ADAL" clId="{8EA10870-6395-588A-9409-E8E4CA631CF7}" dt="2025-09-01T11:59:57.762" v="814" actId="1035"/>
          <ac:spMkLst>
            <pc:docMk/>
            <pc:sldMk cId="2874916304" sldId="316"/>
            <ac:spMk id="27" creationId="{CAB7B1CF-E811-8339-5360-FECC7BE66338}"/>
          </ac:spMkLst>
        </pc:spChg>
        <pc:spChg chg="add mod">
          <ac:chgData name="Vincenzo Massimiliano Gulisano" userId="887d7398-9e41-4331-abd4-9c23f064ea90" providerId="ADAL" clId="{8EA10870-6395-588A-9409-E8E4CA631CF7}" dt="2025-09-01T11:59:57.762" v="814" actId="1035"/>
          <ac:spMkLst>
            <pc:docMk/>
            <pc:sldMk cId="2874916304" sldId="316"/>
            <ac:spMk id="28" creationId="{6080A570-CC05-9264-D996-7C87F665105C}"/>
          </ac:spMkLst>
        </pc:spChg>
        <pc:spChg chg="add mod">
          <ac:chgData name="Vincenzo Massimiliano Gulisano" userId="887d7398-9e41-4331-abd4-9c23f064ea90" providerId="ADAL" clId="{8EA10870-6395-588A-9409-E8E4CA631CF7}" dt="2025-09-01T11:59:57.762" v="814" actId="1035"/>
          <ac:spMkLst>
            <pc:docMk/>
            <pc:sldMk cId="2874916304" sldId="316"/>
            <ac:spMk id="32" creationId="{83E0CC82-707C-CE23-6B36-BA1887C99660}"/>
          </ac:spMkLst>
        </pc:spChg>
        <pc:spChg chg="add mod">
          <ac:chgData name="Vincenzo Massimiliano Gulisano" userId="887d7398-9e41-4331-abd4-9c23f064ea90" providerId="ADAL" clId="{8EA10870-6395-588A-9409-E8E4CA631CF7}" dt="2025-09-01T12:00:29.709" v="820" actId="1076"/>
          <ac:spMkLst>
            <pc:docMk/>
            <pc:sldMk cId="2874916304" sldId="316"/>
            <ac:spMk id="36" creationId="{E15782BD-0E09-DACC-5503-06D09B3A6D19}"/>
          </ac:spMkLst>
        </pc:spChg>
        <pc:spChg chg="add mod">
          <ac:chgData name="Vincenzo Massimiliano Gulisano" userId="887d7398-9e41-4331-abd4-9c23f064ea90" providerId="ADAL" clId="{8EA10870-6395-588A-9409-E8E4CA631CF7}" dt="2025-09-01T12:01:18.017" v="889" actId="207"/>
          <ac:spMkLst>
            <pc:docMk/>
            <pc:sldMk cId="2874916304" sldId="316"/>
            <ac:spMk id="40" creationId="{1CA717BC-5388-4D5B-3B1F-EF2AB5EE0960}"/>
          </ac:spMkLst>
        </pc:spChg>
        <pc:cxnChg chg="add">
          <ac:chgData name="Vincenzo Massimiliano Gulisano" userId="887d7398-9e41-4331-abd4-9c23f064ea90" providerId="ADAL" clId="{8EA10870-6395-588A-9409-E8E4CA631CF7}" dt="2025-09-01T11:49:33.101" v="237" actId="11529"/>
          <ac:cxnSpMkLst>
            <pc:docMk/>
            <pc:sldMk cId="2874916304" sldId="316"/>
            <ac:cxnSpMk id="8" creationId="{768D672E-A9BB-DF29-CC74-11BDDAA05D8A}"/>
          </ac:cxnSpMkLst>
        </pc:cxnChg>
        <pc:cxnChg chg="add mod">
          <ac:chgData name="Vincenzo Massimiliano Gulisano" userId="887d7398-9e41-4331-abd4-9c23f064ea90" providerId="ADAL" clId="{8EA10870-6395-588A-9409-E8E4CA631CF7}" dt="2025-09-01T11:49:59.691" v="245" actId="1076"/>
          <ac:cxnSpMkLst>
            <pc:docMk/>
            <pc:sldMk cId="2874916304" sldId="316"/>
            <ac:cxnSpMk id="11" creationId="{5BD0D56B-955B-892C-123F-D20C0A8C35B5}"/>
          </ac:cxnSpMkLst>
        </pc:cxnChg>
        <pc:cxnChg chg="add mod">
          <ac:chgData name="Vincenzo Massimiliano Gulisano" userId="887d7398-9e41-4331-abd4-9c23f064ea90" providerId="ADAL" clId="{8EA10870-6395-588A-9409-E8E4CA631CF7}" dt="2025-09-01T11:52:21.706" v="414" actId="14100"/>
          <ac:cxnSpMkLst>
            <pc:docMk/>
            <pc:sldMk cId="2874916304" sldId="316"/>
            <ac:cxnSpMk id="14" creationId="{8717BA5D-5E4E-B9E8-9AA6-66783E83A5A3}"/>
          </ac:cxnSpMkLst>
        </pc:cxnChg>
        <pc:cxnChg chg="add mod">
          <ac:chgData name="Vincenzo Massimiliano Gulisano" userId="887d7398-9e41-4331-abd4-9c23f064ea90" providerId="ADAL" clId="{8EA10870-6395-588A-9409-E8E4CA631CF7}" dt="2025-09-01T11:50:40.940" v="283" actId="1076"/>
          <ac:cxnSpMkLst>
            <pc:docMk/>
            <pc:sldMk cId="2874916304" sldId="316"/>
            <ac:cxnSpMk id="15" creationId="{18AFDE09-327F-6B0F-FDE1-F81F93C7246D}"/>
          </ac:cxnSpMkLst>
        </pc:cxnChg>
        <pc:cxnChg chg="add mod">
          <ac:chgData name="Vincenzo Massimiliano Gulisano" userId="887d7398-9e41-4331-abd4-9c23f064ea90" providerId="ADAL" clId="{8EA10870-6395-588A-9409-E8E4CA631CF7}" dt="2025-09-01T11:52:03.574" v="407" actId="1076"/>
          <ac:cxnSpMkLst>
            <pc:docMk/>
            <pc:sldMk cId="2874916304" sldId="316"/>
            <ac:cxnSpMk id="18" creationId="{B10A47F5-5CF9-4B2B-F8ED-368F76C086AE}"/>
          </ac:cxnSpMkLst>
        </pc:cxnChg>
        <pc:cxnChg chg="add mod">
          <ac:chgData name="Vincenzo Massimiliano Gulisano" userId="887d7398-9e41-4331-abd4-9c23f064ea90" providerId="ADAL" clId="{8EA10870-6395-588A-9409-E8E4CA631CF7}" dt="2025-09-01T12:02:10.191" v="899" actId="14100"/>
          <ac:cxnSpMkLst>
            <pc:docMk/>
            <pc:sldMk cId="2874916304" sldId="316"/>
            <ac:cxnSpMk id="23" creationId="{DA450281-C816-9BC7-DD88-E85E4E244E2E}"/>
          </ac:cxnSpMkLst>
        </pc:cxnChg>
        <pc:cxnChg chg="add mod">
          <ac:chgData name="Vincenzo Massimiliano Gulisano" userId="887d7398-9e41-4331-abd4-9c23f064ea90" providerId="ADAL" clId="{8EA10870-6395-588A-9409-E8E4CA631CF7}" dt="2025-09-01T11:54:31.291" v="617" actId="1076"/>
          <ac:cxnSpMkLst>
            <pc:docMk/>
            <pc:sldMk cId="2874916304" sldId="316"/>
            <ac:cxnSpMk id="26" creationId="{7B3C28D4-E203-33B3-4D77-7A33B3B1D2D1}"/>
          </ac:cxnSpMkLst>
        </pc:cxnChg>
        <pc:cxnChg chg="add mod">
          <ac:chgData name="Vincenzo Massimiliano Gulisano" userId="887d7398-9e41-4331-abd4-9c23f064ea90" providerId="ADAL" clId="{8EA10870-6395-588A-9409-E8E4CA631CF7}" dt="2025-09-01T11:57:16.025" v="672" actId="14100"/>
          <ac:cxnSpMkLst>
            <pc:docMk/>
            <pc:sldMk cId="2874916304" sldId="316"/>
            <ac:cxnSpMk id="33" creationId="{7D8A3589-BA14-ECF1-0A74-906C50B94274}"/>
          </ac:cxnSpMkLst>
        </pc:cxnChg>
        <pc:cxnChg chg="add mod">
          <ac:chgData name="Vincenzo Massimiliano Gulisano" userId="887d7398-9e41-4331-abd4-9c23f064ea90" providerId="ADAL" clId="{8EA10870-6395-588A-9409-E8E4CA631CF7}" dt="2025-09-01T12:00:39.893" v="824" actId="208"/>
          <ac:cxnSpMkLst>
            <pc:docMk/>
            <pc:sldMk cId="2874916304" sldId="316"/>
            <ac:cxnSpMk id="37" creationId="{C20D395A-A356-F03C-2FED-996A87BDCC4D}"/>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E9BEDE-193D-0C4A-83C6-E7514FE05B4B}" type="datetimeFigureOut">
              <a:rPr lang="en-US" smtClean="0"/>
              <a:t>9/6/26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0E5217-B316-6C40-9549-0AC744C3C37B}" type="slidenum">
              <a:rPr lang="en-US" smtClean="0"/>
              <a:t>‹#›</a:t>
            </a:fld>
            <a:endParaRPr lang="en-US"/>
          </a:p>
        </p:txBody>
      </p:sp>
    </p:spTree>
    <p:extLst>
      <p:ext uri="{BB962C8B-B14F-4D97-AF65-F5344CB8AC3E}">
        <p14:creationId xmlns:p14="http://schemas.microsoft.com/office/powerpoint/2010/main" val="1610887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dirty="0">
              <a:latin typeface="Helvetica" panose="020B0604020202020204" pitchFamily="34" charset="0"/>
            </a:endParaRPr>
          </a:p>
        </p:txBody>
      </p:sp>
      <p:sp>
        <p:nvSpPr>
          <p:cNvPr id="6147" name="Rectangle 2"/>
          <p:cNvSpPr>
            <a:spLocks noGrp="1" noRot="1" noChangeAspect="1" noChangeArrowheads="1" noTextEdit="1"/>
          </p:cNvSpPr>
          <p:nvPr>
            <p:ph type="sldImg"/>
          </p:nvPr>
        </p:nvSpPr>
        <p:spPr>
          <a:xfrm>
            <a:off x="685800" y="1143000"/>
            <a:ext cx="5486400" cy="3086100"/>
          </a:xfrm>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6797182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ltLang="sv-SE" sz="2400" dirty="0">
                <a:latin typeface="Times New Roman" pitchFamily="18" charset="0"/>
              </a:rPr>
              <a:t>Computer system </a:t>
            </a:r>
            <a:r>
              <a:rPr lang="sv-SE" altLang="sv-SE" sz="2400" dirty="0" err="1">
                <a:latin typeface="Times New Roman" pitchFamily="18" charset="0"/>
              </a:rPr>
              <a:t>can</a:t>
            </a:r>
            <a:r>
              <a:rPr lang="sv-SE" altLang="sv-SE" sz="2400" dirty="0">
                <a:latin typeface="Times New Roman" pitchFamily="18" charset="0"/>
              </a:rPr>
              <a:t> be </a:t>
            </a:r>
            <a:r>
              <a:rPr lang="sv-SE" altLang="sv-SE" sz="2400" dirty="0" err="1">
                <a:latin typeface="Times New Roman" pitchFamily="18" charset="0"/>
              </a:rPr>
              <a:t>divided</a:t>
            </a:r>
            <a:r>
              <a:rPr lang="sv-SE" altLang="sv-SE" sz="2400" dirty="0">
                <a:latin typeface="Times New Roman" pitchFamily="18" charset="0"/>
              </a:rPr>
              <a:t> </a:t>
            </a:r>
            <a:r>
              <a:rPr lang="sv-SE" altLang="sv-SE" sz="2400" dirty="0" err="1">
                <a:latin typeface="Times New Roman" pitchFamily="18" charset="0"/>
              </a:rPr>
              <a:t>into</a:t>
            </a:r>
            <a:r>
              <a:rPr lang="sv-SE" altLang="sv-SE" sz="2400" dirty="0">
                <a:latin typeface="Times New Roman" pitchFamily="18" charset="0"/>
              </a:rPr>
              <a:t> </a:t>
            </a:r>
            <a:r>
              <a:rPr lang="sv-SE" altLang="sv-SE" sz="2400" dirty="0" err="1">
                <a:latin typeface="Times New Roman" pitchFamily="18" charset="0"/>
              </a:rPr>
              <a:t>these</a:t>
            </a:r>
            <a:r>
              <a:rPr lang="sv-SE" altLang="sv-SE" sz="2400" dirty="0">
                <a:latin typeface="Times New Roman" pitchFamily="18" charset="0"/>
              </a:rPr>
              <a:t> 4 parts</a:t>
            </a:r>
          </a:p>
          <a:p>
            <a:endParaRPr lang="sv-SE" altLang="sv-SE" sz="2400" dirty="0">
              <a:latin typeface="Times New Roman" pitchFamily="18" charset="0"/>
            </a:endParaRPr>
          </a:p>
          <a:p>
            <a:r>
              <a:rPr lang="sv-SE" altLang="sv-SE" sz="2400" dirty="0">
                <a:latin typeface="Times New Roman" pitchFamily="18" charset="0"/>
              </a:rPr>
              <a:t>OS sits in </a:t>
            </a:r>
            <a:r>
              <a:rPr lang="sv-SE" altLang="sv-SE" sz="2400" dirty="0" err="1">
                <a:latin typeface="Times New Roman" pitchFamily="18" charset="0"/>
              </a:rPr>
              <a:t>between</a:t>
            </a:r>
            <a:r>
              <a:rPr lang="sv-SE" altLang="sv-SE" sz="2400" dirty="0">
                <a:latin typeface="Times New Roman" pitchFamily="18" charset="0"/>
              </a:rPr>
              <a:t> hardware and </a:t>
            </a:r>
            <a:r>
              <a:rPr lang="sv-SE" altLang="sv-SE" sz="2400" dirty="0" err="1">
                <a:latin typeface="Times New Roman" pitchFamily="18" charset="0"/>
              </a:rPr>
              <a:t>applications</a:t>
            </a:r>
            <a:r>
              <a:rPr lang="sv-SE" altLang="sv-SE" sz="2400" dirty="0">
                <a:latin typeface="Times New Roman" pitchFamily="18" charset="0"/>
              </a:rPr>
              <a:t> / </a:t>
            </a:r>
            <a:r>
              <a:rPr lang="sv-SE" altLang="sv-SE" sz="2400" dirty="0" err="1">
                <a:latin typeface="Times New Roman" pitchFamily="18" charset="0"/>
              </a:rPr>
              <a:t>users</a:t>
            </a:r>
            <a:endParaRPr lang="sv-SE" altLang="sv-SE" sz="2400" dirty="0">
              <a:latin typeface="Times New Roman" pitchFamily="18" charset="0"/>
            </a:endParaRPr>
          </a:p>
          <a:p>
            <a:endParaRPr lang="sv-SE" altLang="sv-SE" sz="2400" dirty="0">
              <a:latin typeface="Times New Roman" pitchFamily="18" charset="0"/>
            </a:endParaRPr>
          </a:p>
          <a:p>
            <a:r>
              <a:rPr lang="sv-SE" altLang="sv-SE" sz="2400" dirty="0">
                <a:latin typeface="Times New Roman" pitchFamily="18" charset="0"/>
              </a:rPr>
              <a:t>USER VIEW </a:t>
            </a:r>
            <a:r>
              <a:rPr lang="sv-SE" altLang="sv-SE" sz="2400" dirty="0" err="1">
                <a:latin typeface="Times New Roman" pitchFamily="18" charset="0"/>
              </a:rPr>
              <a:t>What</a:t>
            </a:r>
            <a:r>
              <a:rPr lang="sv-SE" altLang="sv-SE" sz="2400" dirty="0">
                <a:latin typeface="Times New Roman" pitchFamily="18" charset="0"/>
              </a:rPr>
              <a:t> it </a:t>
            </a:r>
            <a:r>
              <a:rPr lang="sv-SE" altLang="sv-SE" sz="2400" dirty="0" err="1">
                <a:latin typeface="Times New Roman" pitchFamily="18" charset="0"/>
              </a:rPr>
              <a:t>does</a:t>
            </a:r>
            <a:r>
              <a:rPr lang="sv-SE" altLang="sv-SE" sz="2400" baseline="0" dirty="0">
                <a:latin typeface="Times New Roman" pitchFamily="18" charset="0"/>
              </a:rPr>
              <a:t> </a:t>
            </a:r>
            <a:r>
              <a:rPr lang="sv-SE" altLang="sv-SE" sz="2400" baseline="0" dirty="0" err="1">
                <a:latin typeface="Times New Roman" pitchFamily="18" charset="0"/>
              </a:rPr>
              <a:t>depends</a:t>
            </a:r>
            <a:r>
              <a:rPr lang="sv-SE" altLang="sv-SE" sz="2400" baseline="0" dirty="0">
                <a:latin typeface="Times New Roman" pitchFamily="18" charset="0"/>
              </a:rPr>
              <a:t> on the </a:t>
            </a:r>
            <a:r>
              <a:rPr lang="sv-SE" altLang="sv-SE" sz="2400" baseline="0" dirty="0" err="1">
                <a:latin typeface="Times New Roman" pitchFamily="18" charset="0"/>
              </a:rPr>
              <a:t>user</a:t>
            </a:r>
            <a:r>
              <a:rPr lang="sv-SE" altLang="sv-SE" sz="2400" baseline="0" dirty="0">
                <a:latin typeface="Times New Roman" pitchFamily="18" charset="0"/>
              </a:rPr>
              <a:t>, </a:t>
            </a:r>
            <a:r>
              <a:rPr lang="sv-SE" altLang="sv-SE" sz="2400" baseline="0" dirty="0" err="1">
                <a:latin typeface="Times New Roman" pitchFamily="18" charset="0"/>
              </a:rPr>
              <a:t>single-user</a:t>
            </a:r>
            <a:r>
              <a:rPr lang="sv-SE" altLang="sv-SE" sz="2400" baseline="0" dirty="0">
                <a:latin typeface="Times New Roman" pitchFamily="18" charset="0"/>
              </a:rPr>
              <a:t> </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Maximize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ease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of</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use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multiple-users</a:t>
            </a:r>
            <a:r>
              <a:rPr lang="sv-SE" altLang="sv-SE" sz="2400" baseline="0" dirty="0">
                <a:latin typeface="Times New Roman" pitchFamily="18" charset="0"/>
                <a:sym typeface="Wingdings"/>
              </a:rPr>
              <a:t>  </a:t>
            </a:r>
            <a:r>
              <a:rPr lang="sv-SE" altLang="sv-SE" sz="2400" baseline="0" dirty="0" err="1">
                <a:latin typeface="Times New Roman" pitchFamily="18" charset="0"/>
                <a:sym typeface="Wingdings"/>
              </a:rPr>
              <a:t>resource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utilization</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might</a:t>
            </a:r>
            <a:r>
              <a:rPr lang="sv-SE" altLang="sv-SE" sz="2400" baseline="0" dirty="0">
                <a:latin typeface="Times New Roman" pitchFamily="18" charset="0"/>
                <a:sym typeface="Wingdings"/>
              </a:rPr>
              <a:t> be the </a:t>
            </a:r>
            <a:r>
              <a:rPr lang="sv-SE" altLang="sv-SE" sz="2400" baseline="0" dirty="0" err="1">
                <a:latin typeface="Times New Roman" pitchFamily="18" charset="0"/>
                <a:sym typeface="Wingdings"/>
              </a:rPr>
              <a:t>goal</a:t>
            </a:r>
            <a:endParaRPr lang="sv-SE" altLang="sv-SE" sz="2400" baseline="0" dirty="0">
              <a:latin typeface="Times New Roman" pitchFamily="18" charset="0"/>
              <a:sym typeface="Wingdings"/>
            </a:endParaRPr>
          </a:p>
          <a:p>
            <a:endParaRPr lang="sv-SE" altLang="sv-SE" sz="2400" baseline="0" dirty="0">
              <a:latin typeface="Times New Roman" pitchFamily="18" charset="0"/>
              <a:sym typeface="Wingdings"/>
            </a:endParaRPr>
          </a:p>
          <a:p>
            <a:r>
              <a:rPr lang="sv-SE" altLang="sv-SE" sz="2400" baseline="0" dirty="0">
                <a:latin typeface="Times New Roman" pitchFamily="18" charset="0"/>
                <a:sym typeface="Wingdings"/>
              </a:rPr>
              <a:t>SYSTEM VIEW </a:t>
            </a:r>
            <a:r>
              <a:rPr lang="sv-SE" altLang="sv-SE" sz="2400" baseline="0" dirty="0" err="1">
                <a:latin typeface="Times New Roman" pitchFamily="18" charset="0"/>
                <a:sym typeface="Wingdings"/>
              </a:rPr>
              <a:t>resource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allocator</a:t>
            </a:r>
            <a:endParaRPr lang="sv-SE" altLang="sv-SE" sz="2400" baseline="0" dirty="0">
              <a:latin typeface="Times New Roman" pitchFamily="18" charset="0"/>
              <a:sym typeface="Wingdings"/>
            </a:endParaRPr>
          </a:p>
          <a:p>
            <a:endParaRPr lang="sv-SE" altLang="sv-SE" sz="2400" baseline="0" dirty="0">
              <a:latin typeface="Times New Roman" pitchFamily="18" charset="0"/>
              <a:sym typeface="Wingdings"/>
            </a:endParaRPr>
          </a:p>
          <a:p>
            <a:r>
              <a:rPr lang="sv-SE" altLang="sv-SE" sz="2400" baseline="0" dirty="0">
                <a:latin typeface="Times New Roman" pitchFamily="18" charset="0"/>
                <a:sym typeface="Wingdings"/>
              </a:rPr>
              <a:t>The ultimate </a:t>
            </a:r>
            <a:r>
              <a:rPr lang="sv-SE" altLang="sv-SE" sz="2400" baseline="0" dirty="0" err="1">
                <a:latin typeface="Times New Roman" pitchFamily="18" charset="0"/>
                <a:sym typeface="Wingdings"/>
              </a:rPr>
              <a:t>goal</a:t>
            </a:r>
            <a:r>
              <a:rPr lang="sv-SE" altLang="sv-SE" sz="2400" baseline="0" dirty="0">
                <a:latin typeface="Times New Roman" pitchFamily="18" charset="0"/>
                <a:sym typeface="Wingdings"/>
              </a:rPr>
              <a:t> is to </a:t>
            </a:r>
            <a:r>
              <a:rPr lang="sv-SE" altLang="sv-SE" sz="2400" baseline="0" dirty="0" err="1">
                <a:latin typeface="Times New Roman" pitchFamily="18" charset="0"/>
                <a:sym typeface="Wingdings"/>
              </a:rPr>
              <a:t>run</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users</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applications</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while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hiding</a:t>
            </a:r>
            <a:r>
              <a:rPr lang="sv-SE" altLang="sv-SE" sz="2400" baseline="0" dirty="0">
                <a:latin typeface="Times New Roman" pitchFamily="18" charset="0"/>
                <a:sym typeface="Wingdings"/>
              </a:rPr>
              <a:t> the </a:t>
            </a:r>
            <a:r>
              <a:rPr lang="sv-SE" altLang="sv-SE" sz="2400" baseline="0" dirty="0" err="1">
                <a:latin typeface="Times New Roman" pitchFamily="18" charset="0"/>
                <a:sym typeface="Wingdings"/>
              </a:rPr>
              <a:t>complexity</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of</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interfacing</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directly</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with</a:t>
            </a:r>
            <a:r>
              <a:rPr lang="sv-SE" altLang="sv-SE" sz="2400" baseline="0" dirty="0">
                <a:latin typeface="Times New Roman" pitchFamily="18" charset="0"/>
                <a:sym typeface="Wingdings"/>
              </a:rPr>
              <a:t> the hardware</a:t>
            </a:r>
          </a:p>
        </p:txBody>
      </p:sp>
      <p:sp>
        <p:nvSpPr>
          <p:cNvPr id="4" name="Slide Number Placeholder 3"/>
          <p:cNvSpPr>
            <a:spLocks noGrp="1"/>
          </p:cNvSpPr>
          <p:nvPr>
            <p:ph type="sldNum" sz="quarter" idx="10"/>
          </p:nvPr>
        </p:nvSpPr>
        <p:spPr/>
        <p:txBody>
          <a:bodyPr/>
          <a:lstStyle/>
          <a:p>
            <a:fld id="{610E5217-B316-6C40-9549-0AC744C3C37B}" type="slidenum">
              <a:rPr lang="en-US" smtClean="0"/>
              <a:t>5</a:t>
            </a:fld>
            <a:endParaRPr lang="en-US"/>
          </a:p>
        </p:txBody>
      </p:sp>
    </p:spTree>
    <p:extLst>
      <p:ext uri="{BB962C8B-B14F-4D97-AF65-F5344CB8AC3E}">
        <p14:creationId xmlns:p14="http://schemas.microsoft.com/office/powerpoint/2010/main" val="8624798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0E5217-B316-6C40-9549-0AC744C3C37B}" type="slidenum">
              <a:rPr lang="en-US" smtClean="0"/>
              <a:t>6</a:t>
            </a:fld>
            <a:endParaRPr lang="en-US"/>
          </a:p>
        </p:txBody>
      </p:sp>
    </p:spTree>
    <p:extLst>
      <p:ext uri="{BB962C8B-B14F-4D97-AF65-F5344CB8AC3E}">
        <p14:creationId xmlns:p14="http://schemas.microsoft.com/office/powerpoint/2010/main" val="9671990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always have</a:t>
            </a:r>
            <a:r>
              <a:rPr lang="en-US" baseline="0" dirty="0"/>
              <a:t> a common role, and a kernel</a:t>
            </a:r>
            <a:endParaRPr lang="en-US" dirty="0"/>
          </a:p>
        </p:txBody>
      </p:sp>
      <p:sp>
        <p:nvSpPr>
          <p:cNvPr id="4" name="Slide Number Placeholder 3"/>
          <p:cNvSpPr>
            <a:spLocks noGrp="1"/>
          </p:cNvSpPr>
          <p:nvPr>
            <p:ph type="sldNum" sz="quarter" idx="10"/>
          </p:nvPr>
        </p:nvSpPr>
        <p:spPr/>
        <p:txBody>
          <a:bodyPr/>
          <a:lstStyle/>
          <a:p>
            <a:fld id="{610E5217-B316-6C40-9549-0AC744C3C37B}" type="slidenum">
              <a:rPr lang="en-US" smtClean="0"/>
              <a:t>7</a:t>
            </a:fld>
            <a:endParaRPr lang="en-US"/>
          </a:p>
        </p:txBody>
      </p:sp>
    </p:spTree>
    <p:extLst>
      <p:ext uri="{BB962C8B-B14F-4D97-AF65-F5344CB8AC3E}">
        <p14:creationId xmlns:p14="http://schemas.microsoft.com/office/powerpoint/2010/main" val="6303283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basic cycle is pretty straightforward … but we have</a:t>
            </a:r>
            <a:r>
              <a:rPr lang="en-US" baseline="0" dirty="0"/>
              <a:t> a lot of different devices and possibly multiple users / multiple programs running at the same time… so how does it work?</a:t>
            </a:r>
          </a:p>
          <a:p>
            <a:endParaRPr lang="en-US" baseline="0" dirty="0"/>
          </a:p>
          <a:p>
            <a:r>
              <a:rPr lang="en-US" baseline="0" dirty="0"/>
              <a:t>Events / interrupts mark the life cycles of an OS</a:t>
            </a:r>
            <a:endParaRPr lang="en-US" dirty="0"/>
          </a:p>
        </p:txBody>
      </p:sp>
      <p:sp>
        <p:nvSpPr>
          <p:cNvPr id="4" name="Slide Number Placeholder 3"/>
          <p:cNvSpPr>
            <a:spLocks noGrp="1"/>
          </p:cNvSpPr>
          <p:nvPr>
            <p:ph type="sldNum" sz="quarter" idx="10"/>
          </p:nvPr>
        </p:nvSpPr>
        <p:spPr/>
        <p:txBody>
          <a:bodyPr/>
          <a:lstStyle/>
          <a:p>
            <a:fld id="{610E5217-B316-6C40-9549-0AC744C3C37B}" type="slidenum">
              <a:rPr lang="en-US" smtClean="0"/>
              <a:t>9</a:t>
            </a:fld>
            <a:endParaRPr lang="en-US"/>
          </a:p>
        </p:txBody>
      </p:sp>
    </p:spTree>
    <p:extLst>
      <p:ext uri="{BB962C8B-B14F-4D97-AF65-F5344CB8AC3E}">
        <p14:creationId xmlns:p14="http://schemas.microsoft.com/office/powerpoint/2010/main" val="14456089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imagine that you of course need some dedicated hardware to do this… especially because you need to be fast!</a:t>
            </a:r>
          </a:p>
        </p:txBody>
      </p:sp>
      <p:sp>
        <p:nvSpPr>
          <p:cNvPr id="4" name="Slide Number Placeholder 3"/>
          <p:cNvSpPr>
            <a:spLocks noGrp="1"/>
          </p:cNvSpPr>
          <p:nvPr>
            <p:ph type="sldNum" sz="quarter" idx="10"/>
          </p:nvPr>
        </p:nvSpPr>
        <p:spPr/>
        <p:txBody>
          <a:bodyPr/>
          <a:lstStyle/>
          <a:p>
            <a:fld id="{610E5217-B316-6C40-9549-0AC744C3C37B}" type="slidenum">
              <a:rPr lang="en-US" smtClean="0"/>
              <a:t>10</a:t>
            </a:fld>
            <a:endParaRPr lang="en-US"/>
          </a:p>
        </p:txBody>
      </p:sp>
    </p:spTree>
    <p:extLst>
      <p:ext uri="{BB962C8B-B14F-4D97-AF65-F5344CB8AC3E}">
        <p14:creationId xmlns:p14="http://schemas.microsoft.com/office/powerpoint/2010/main" val="14785213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0E5217-B316-6C40-9549-0AC744C3C37B}" type="slidenum">
              <a:rPr lang="en-US" smtClean="0"/>
              <a:t>14</a:t>
            </a:fld>
            <a:endParaRPr lang="en-US"/>
          </a:p>
        </p:txBody>
      </p:sp>
    </p:spTree>
    <p:extLst>
      <p:ext uri="{BB962C8B-B14F-4D97-AF65-F5344CB8AC3E}">
        <p14:creationId xmlns:p14="http://schemas.microsoft.com/office/powerpoint/2010/main" val="890844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baseline="0" dirty="0">
                <a:latin typeface="Calibri" charset="0"/>
              </a:rPr>
              <a:t>Trap is software, interrupt is hardware. </a:t>
            </a:r>
            <a:r>
              <a:rPr lang="en-US" sz="2000" dirty="0"/>
              <a:t>exceptions/traps are synchronous with the current instruction, while hardware interrupts are asynchronous.</a:t>
            </a:r>
            <a:endParaRPr lang="en-US" sz="2000" baseline="0" dirty="0">
              <a:latin typeface="Calibri" charset="0"/>
            </a:endParaRPr>
          </a:p>
          <a:p>
            <a:endParaRPr lang="en-US" sz="2000" baseline="0" dirty="0">
              <a:latin typeface="Calibri" charset="0"/>
            </a:endParaRPr>
          </a:p>
          <a:p>
            <a:r>
              <a:rPr lang="en-US" sz="2000" dirty="0"/>
              <a:t>Yes. The operating system sets up the trap (and interrupt/exception) entry points at boot time. The hardware provides registers or tables (e.g., the IDT on x86, the trap vector base on RISC-V, the vector table on ARM) that the OS fills with the addresses of the handlers. This is done during boot, when only the OS kernel is executing and is trusted to configure the CPU correctly. After that, user processes cannot modify these entry points because updating them requires privileged instructions.</a:t>
            </a:r>
            <a:endParaRPr lang="en-US" sz="2000" baseline="0" dirty="0">
              <a:latin typeface="Calibri" charset="0"/>
            </a:endParaRPr>
          </a:p>
        </p:txBody>
      </p:sp>
      <p:sp>
        <p:nvSpPr>
          <p:cNvPr id="4" name="Slide Number Placeholder 3"/>
          <p:cNvSpPr>
            <a:spLocks noGrp="1"/>
          </p:cNvSpPr>
          <p:nvPr>
            <p:ph type="sldNum" sz="quarter" idx="10"/>
          </p:nvPr>
        </p:nvSpPr>
        <p:spPr/>
        <p:txBody>
          <a:bodyPr/>
          <a:lstStyle/>
          <a:p>
            <a:fld id="{610E5217-B316-6C40-9549-0AC744C3C37B}" type="slidenum">
              <a:rPr lang="en-US" smtClean="0"/>
              <a:t>16</a:t>
            </a:fld>
            <a:endParaRPr lang="en-US"/>
          </a:p>
        </p:txBody>
      </p:sp>
    </p:spTree>
    <p:extLst>
      <p:ext uri="{BB962C8B-B14F-4D97-AF65-F5344CB8AC3E}">
        <p14:creationId xmlns:p14="http://schemas.microsoft.com/office/powerpoint/2010/main" val="1848408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of instructions that are privileged (defined by the hardware): LIDT Replace the interrupt descriptor table or HLT to halt the processor, which suspends the central processing unit (CPU) until the next external interrupt is fired.</a:t>
            </a:r>
            <a:br>
              <a:rPr lang="en-US" dirty="0"/>
            </a:br>
            <a:r>
              <a:rPr lang="en-US" dirty="0"/>
              <a:t>Notice also non-privileged instructions can fire an interrupt, for instance MOV to memory that does not belong to the process.</a:t>
            </a:r>
          </a:p>
        </p:txBody>
      </p:sp>
      <p:sp>
        <p:nvSpPr>
          <p:cNvPr id="4" name="Slide Number Placeholder 3"/>
          <p:cNvSpPr>
            <a:spLocks noGrp="1"/>
          </p:cNvSpPr>
          <p:nvPr>
            <p:ph type="sldNum" sz="quarter" idx="5"/>
          </p:nvPr>
        </p:nvSpPr>
        <p:spPr/>
        <p:txBody>
          <a:bodyPr/>
          <a:lstStyle/>
          <a:p>
            <a:fld id="{610E5217-B316-6C40-9549-0AC744C3C37B}" type="slidenum">
              <a:rPr lang="en-US" smtClean="0"/>
              <a:t>18</a:t>
            </a:fld>
            <a:endParaRPr lang="en-US"/>
          </a:p>
        </p:txBody>
      </p:sp>
    </p:spTree>
    <p:extLst>
      <p:ext uri="{BB962C8B-B14F-4D97-AF65-F5344CB8AC3E}">
        <p14:creationId xmlns:p14="http://schemas.microsoft.com/office/powerpoint/2010/main" val="39499578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0E5217-B316-6C40-9549-0AC744C3C37B}" type="slidenum">
              <a:rPr lang="en-US" smtClean="0"/>
              <a:t>23</a:t>
            </a:fld>
            <a:endParaRPr lang="en-US"/>
          </a:p>
        </p:txBody>
      </p:sp>
    </p:spTree>
    <p:extLst>
      <p:ext uri="{BB962C8B-B14F-4D97-AF65-F5344CB8AC3E}">
        <p14:creationId xmlns:p14="http://schemas.microsoft.com/office/powerpoint/2010/main" val="4563275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610E5217-B316-6C40-9549-0AC744C3C37B}" type="slidenum">
              <a:rPr lang="en-US" smtClean="0"/>
              <a:t>24</a:t>
            </a:fld>
            <a:endParaRPr lang="en-US"/>
          </a:p>
        </p:txBody>
      </p:sp>
    </p:spTree>
    <p:extLst>
      <p:ext uri="{BB962C8B-B14F-4D97-AF65-F5344CB8AC3E}">
        <p14:creationId xmlns:p14="http://schemas.microsoft.com/office/powerpoint/2010/main" val="31241151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0E5217-B316-6C40-9549-0AC744C3C37B}" type="slidenum">
              <a:rPr lang="en-US" smtClean="0"/>
              <a:t>32</a:t>
            </a:fld>
            <a:endParaRPr lang="en-US"/>
          </a:p>
        </p:txBody>
      </p:sp>
    </p:spTree>
    <p:extLst>
      <p:ext uri="{BB962C8B-B14F-4D97-AF65-F5344CB8AC3E}">
        <p14:creationId xmlns:p14="http://schemas.microsoft.com/office/powerpoint/2010/main" val="1601831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sort of history</a:t>
            </a:r>
          </a:p>
          <a:p>
            <a:endParaRPr lang="en-US" dirty="0"/>
          </a:p>
          <a:p>
            <a:r>
              <a:rPr lang="en-US" dirty="0"/>
              <a:t>A monolithic operating system is one where the </a:t>
            </a:r>
            <a:r>
              <a:rPr lang="en-US" b="1" dirty="0"/>
              <a:t>entire OS kernel runs in a single address space in kernel mode</a:t>
            </a:r>
            <a:r>
              <a:rPr lang="en-US" dirty="0"/>
              <a:t>.</a:t>
            </a:r>
          </a:p>
          <a:p>
            <a:r>
              <a:rPr lang="en-US" dirty="0"/>
              <a:t>All core services—process management, memory management, file systems, device drivers, and system call handling—are implemented within the same large kernel. This design allows efficient function calls between components but makes the kernel large and less modular: a bug in any part (e.g., a driver) can crash the whole system.</a:t>
            </a:r>
          </a:p>
        </p:txBody>
      </p:sp>
      <p:sp>
        <p:nvSpPr>
          <p:cNvPr id="4" name="Slide Number Placeholder 3"/>
          <p:cNvSpPr>
            <a:spLocks noGrp="1"/>
          </p:cNvSpPr>
          <p:nvPr>
            <p:ph type="sldNum" sz="quarter" idx="10"/>
          </p:nvPr>
        </p:nvSpPr>
        <p:spPr/>
        <p:txBody>
          <a:bodyPr/>
          <a:lstStyle/>
          <a:p>
            <a:fld id="{610E5217-B316-6C40-9549-0AC744C3C37B}" type="slidenum">
              <a:rPr lang="en-US" smtClean="0"/>
              <a:t>38</a:t>
            </a:fld>
            <a:endParaRPr lang="en-US"/>
          </a:p>
        </p:txBody>
      </p:sp>
    </p:spTree>
    <p:extLst>
      <p:ext uri="{BB962C8B-B14F-4D97-AF65-F5344CB8AC3E}">
        <p14:creationId xmlns:p14="http://schemas.microsoft.com/office/powerpoint/2010/main" val="15494063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CPU</a:t>
            </a:r>
            <a:r>
              <a:rPr lang="en-US" baseline="0" dirty="0"/>
              <a:t> scheduler above processes (info for deciding what to schedule)</a:t>
            </a:r>
          </a:p>
          <a:p>
            <a:r>
              <a:rPr lang="en-US" baseline="0" dirty="0"/>
              <a:t>BUT some processes could be above CPU</a:t>
            </a:r>
          </a:p>
          <a:p>
            <a:endParaRPr lang="en-US" baseline="0" dirty="0"/>
          </a:p>
          <a:p>
            <a:r>
              <a:rPr lang="en-US" dirty="0"/>
              <a:t>In a layered operating system, each layer is supposed to depend </a:t>
            </a:r>
            <a:r>
              <a:rPr lang="en-US" b="1" dirty="0"/>
              <a:t>only on the services of the layer directly below it</a:t>
            </a:r>
            <a:r>
              <a:rPr lang="en-US" dirty="0"/>
              <a:t>. A problematic circular reference occurs if two layers end up depending on each other.</a:t>
            </a:r>
          </a:p>
          <a:p>
            <a:r>
              <a:rPr lang="en-US" b="1" dirty="0"/>
              <a:t>Example:</a:t>
            </a:r>
            <a:endParaRPr lang="en-US" dirty="0"/>
          </a:p>
          <a:p>
            <a:r>
              <a:rPr lang="en-US" dirty="0"/>
              <a:t>Suppose the </a:t>
            </a:r>
            <a:r>
              <a:rPr lang="en-US" b="1" dirty="0"/>
              <a:t>File System layer</a:t>
            </a:r>
            <a:r>
              <a:rPr lang="en-US" dirty="0"/>
              <a:t> is above the </a:t>
            </a:r>
            <a:r>
              <a:rPr lang="en-US" b="1" dirty="0"/>
              <a:t>Memory Management layer</a:t>
            </a:r>
            <a:r>
              <a:rPr lang="en-US" dirty="0"/>
              <a:t>.</a:t>
            </a:r>
          </a:p>
          <a:p>
            <a:r>
              <a:rPr lang="en-US" dirty="0"/>
              <a:t>The File System layer calls memory management functions to allocate buffers for file data.</a:t>
            </a:r>
          </a:p>
          <a:p>
            <a:r>
              <a:rPr lang="en-US" dirty="0"/>
              <a:t>At the same time, the Memory Management layer is implemented using paging, and it tries to store its swap space inside regular files managed by the File System layer.</a:t>
            </a:r>
          </a:p>
          <a:p>
            <a:endParaRPr lang="en-US" dirty="0"/>
          </a:p>
        </p:txBody>
      </p:sp>
      <p:sp>
        <p:nvSpPr>
          <p:cNvPr id="4" name="Slide Number Placeholder 3"/>
          <p:cNvSpPr>
            <a:spLocks noGrp="1"/>
          </p:cNvSpPr>
          <p:nvPr>
            <p:ph type="sldNum" sz="quarter" idx="10"/>
          </p:nvPr>
        </p:nvSpPr>
        <p:spPr/>
        <p:txBody>
          <a:bodyPr/>
          <a:lstStyle/>
          <a:p>
            <a:fld id="{610E5217-B316-6C40-9549-0AC744C3C37B}" type="slidenum">
              <a:rPr lang="en-US" smtClean="0"/>
              <a:t>39</a:t>
            </a:fld>
            <a:endParaRPr lang="en-US"/>
          </a:p>
        </p:txBody>
      </p:sp>
    </p:spTree>
    <p:extLst>
      <p:ext uri="{BB962C8B-B14F-4D97-AF65-F5344CB8AC3E}">
        <p14:creationId xmlns:p14="http://schemas.microsoft.com/office/powerpoint/2010/main" val="18483140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Modules are similar to microkernels, but modules are within the kernel</a:t>
            </a:r>
          </a:p>
        </p:txBody>
      </p:sp>
      <p:sp>
        <p:nvSpPr>
          <p:cNvPr id="4" name="Slide Number Placeholder 3"/>
          <p:cNvSpPr>
            <a:spLocks noGrp="1"/>
          </p:cNvSpPr>
          <p:nvPr>
            <p:ph type="sldNum" sz="quarter" idx="10"/>
          </p:nvPr>
        </p:nvSpPr>
        <p:spPr/>
        <p:txBody>
          <a:bodyPr/>
          <a:lstStyle/>
          <a:p>
            <a:fld id="{610E5217-B316-6C40-9549-0AC744C3C37B}" type="slidenum">
              <a:rPr lang="en-US" smtClean="0"/>
              <a:t>41</a:t>
            </a:fld>
            <a:endParaRPr lang="en-US"/>
          </a:p>
        </p:txBody>
      </p:sp>
    </p:spTree>
    <p:extLst>
      <p:ext uri="{BB962C8B-B14F-4D97-AF65-F5344CB8AC3E}">
        <p14:creationId xmlns:p14="http://schemas.microsoft.com/office/powerpoint/2010/main" val="8230275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BSD Berkeley Software Distribution (UNIX system)</a:t>
            </a:r>
          </a:p>
        </p:txBody>
      </p:sp>
      <p:sp>
        <p:nvSpPr>
          <p:cNvPr id="4" name="Slide Number Placeholder 3"/>
          <p:cNvSpPr>
            <a:spLocks noGrp="1"/>
          </p:cNvSpPr>
          <p:nvPr>
            <p:ph type="sldNum" sz="quarter" idx="10"/>
          </p:nvPr>
        </p:nvSpPr>
        <p:spPr/>
        <p:txBody>
          <a:bodyPr/>
          <a:lstStyle/>
          <a:p>
            <a:fld id="{610E5217-B316-6C40-9549-0AC744C3C37B}" type="slidenum">
              <a:rPr lang="en-US" smtClean="0"/>
              <a:t>43</a:t>
            </a:fld>
            <a:endParaRPr lang="en-US"/>
          </a:p>
        </p:txBody>
      </p:sp>
    </p:spTree>
    <p:extLst>
      <p:ext uri="{BB962C8B-B14F-4D97-AF65-F5344CB8AC3E}">
        <p14:creationId xmlns:p14="http://schemas.microsoft.com/office/powerpoint/2010/main" val="15433158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4933020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729480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40146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7376133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sv-SE"/>
              <a:t>Vincenzo Gulisano</a:t>
            </a:r>
            <a:endParaRPr lang="en-US"/>
          </a:p>
        </p:txBody>
      </p:sp>
      <p:sp>
        <p:nvSpPr>
          <p:cNvPr id="8" name="Footer Placeholder 7"/>
          <p:cNvSpPr>
            <a:spLocks noGrp="1"/>
          </p:cNvSpPr>
          <p:nvPr>
            <p:ph type="ftr" sz="quarter" idx="11"/>
          </p:nvPr>
        </p:nvSpPr>
        <p:spPr/>
        <p:txBody>
          <a:bodyPr/>
          <a:lstStyle/>
          <a:p>
            <a:r>
              <a:rPr lang="en-US"/>
              <a:t>Operating Systems - Introduction to Operating Systems</a:t>
            </a:r>
          </a:p>
        </p:txBody>
      </p:sp>
      <p:sp>
        <p:nvSpPr>
          <p:cNvPr id="9" name="Slide Number Placeholder 8"/>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7914251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Introduction to Operating Systems</a:t>
            </a:r>
          </a:p>
        </p:txBody>
      </p:sp>
      <p:sp>
        <p:nvSpPr>
          <p:cNvPr id="5" name="Slide Number Placeholder 4"/>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7616306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sv-SE"/>
              <a:t>Vincenzo Gulisano</a:t>
            </a:r>
            <a:endParaRPr lang="en-US"/>
          </a:p>
        </p:txBody>
      </p:sp>
      <p:sp>
        <p:nvSpPr>
          <p:cNvPr id="3" name="Footer Placeholder 2"/>
          <p:cNvSpPr>
            <a:spLocks noGrp="1"/>
          </p:cNvSpPr>
          <p:nvPr>
            <p:ph type="ftr" sz="quarter" idx="11"/>
          </p:nvPr>
        </p:nvSpPr>
        <p:spPr/>
        <p:txBody>
          <a:bodyPr/>
          <a:lstStyle/>
          <a:p>
            <a:r>
              <a:rPr lang="en-US"/>
              <a:t>Operating Systems - Introduction to Operating Systems</a:t>
            </a:r>
          </a:p>
        </p:txBody>
      </p:sp>
      <p:sp>
        <p:nvSpPr>
          <p:cNvPr id="4" name="Slide Number Placeholder 3"/>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7238656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3082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5231755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20058419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9878504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914400" y="685800"/>
            <a:ext cx="103632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2064762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sv-SE"/>
              <a:t>Vincenzo Gulisano</a:t>
            </a:r>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Operating Systems - Introduction to Operating Systems</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8E1FC2-92BA-6B49-AE60-B1AE3118BF2A}" type="slidenum">
              <a:rPr lang="en-US" smtClean="0"/>
              <a:t>‹#›</a:t>
            </a:fld>
            <a:endParaRPr lang="en-US"/>
          </a:p>
        </p:txBody>
      </p:sp>
    </p:spTree>
    <p:extLst>
      <p:ext uri="{BB962C8B-B14F-4D97-AF65-F5344CB8AC3E}">
        <p14:creationId xmlns:p14="http://schemas.microsoft.com/office/powerpoint/2010/main" val="1376716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tiff"/><Relationship Id="rId4" Type="http://schemas.openxmlformats.org/officeDocument/2006/relationships/image" Target="../media/image5.tiff"/></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tif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tiff"/></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image" Target="../media/image26.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7.em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2593975" y="1647831"/>
            <a:ext cx="6908800" cy="1890183"/>
          </a:xfrm>
          <a:prstGeom prst="rect">
            <a:avLst/>
          </a:prstGeom>
        </p:spPr>
        <p:txBody>
          <a:bodyPr lIns="81280" tIns="40640" rIns="81280" bIns="40640" anchor="ctr">
            <a:normAutofit fontScale="82500" lnSpcReduction="2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a:defRPr/>
            </a:pPr>
            <a:r>
              <a:rPr lang="en-US" altLang="en-US" sz="3800" dirty="0"/>
              <a:t>Operating Systems – EDA093/DIT401</a:t>
            </a:r>
            <a:br>
              <a:rPr lang="en-US" altLang="en-US" sz="3800" dirty="0"/>
            </a:br>
            <a:endParaRPr lang="en-US" altLang="en-US" sz="3822" dirty="0"/>
          </a:p>
          <a:p>
            <a:pPr>
              <a:defRPr/>
            </a:pPr>
            <a:r>
              <a:rPr lang="en-US" altLang="en-US" sz="3822" dirty="0"/>
              <a:t>Introduction to Operating Systems</a:t>
            </a:r>
          </a:p>
          <a:p>
            <a:pPr>
              <a:defRPr/>
            </a:pP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2" name="Group 1">
            <a:extLst>
              <a:ext uri="{FF2B5EF4-FFF2-40B4-BE49-F238E27FC236}">
                <a16:creationId xmlns:a16="http://schemas.microsoft.com/office/drawing/2014/main" id="{2F0954AD-014F-D70D-D571-05ED1FF3D817}"/>
              </a:ext>
            </a:extLst>
          </p:cNvPr>
          <p:cNvGrpSpPr/>
          <p:nvPr/>
        </p:nvGrpSpPr>
        <p:grpSpPr>
          <a:xfrm>
            <a:off x="2543614" y="4687300"/>
            <a:ext cx="7104771" cy="1547400"/>
            <a:chOff x="777241" y="4793437"/>
            <a:chExt cx="7104771" cy="1547400"/>
          </a:xfrm>
        </p:grpSpPr>
        <p:pic>
          <p:nvPicPr>
            <p:cNvPr id="3" name="Picture 2">
              <a:extLst>
                <a:ext uri="{FF2B5EF4-FFF2-40B4-BE49-F238E27FC236}">
                  <a16:creationId xmlns:a16="http://schemas.microsoft.com/office/drawing/2014/main" id="{6CA04D13-1ED8-15A9-931F-5EC663E29A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A8FDD09-4B79-4233-ADA9-FBA032D03856}"/>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20600589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a:t>
            </a:r>
          </a:p>
        </p:txBody>
      </p:sp>
      <p:sp>
        <p:nvSpPr>
          <p:cNvPr id="3" name="Content Placeholder 2"/>
          <p:cNvSpPr>
            <a:spLocks noGrp="1"/>
          </p:cNvSpPr>
          <p:nvPr>
            <p:ph idx="1"/>
          </p:nvPr>
        </p:nvSpPr>
        <p:spPr/>
        <p:txBody>
          <a:bodyPr/>
          <a:lstStyle/>
          <a:p>
            <a:r>
              <a:rPr lang="en-US" dirty="0"/>
              <a:t>Chapter 1</a:t>
            </a:r>
          </a:p>
          <a:p>
            <a:pPr lvl="1"/>
            <a:r>
              <a:rPr lang="en-US" dirty="0"/>
              <a:t>Especially: 1.1, 1.3, 1.6, 1.7</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617537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t>What is an Operating System?</a:t>
            </a:r>
          </a:p>
          <a:p>
            <a:r>
              <a:rPr lang="en-US" dirty="0"/>
              <a:t>The event-driven (interrupt-driven) life of an OS</a:t>
            </a:r>
          </a:p>
          <a:p>
            <a:r>
              <a:rPr lang="en-US" dirty="0"/>
              <a:t>System calls (overview)</a:t>
            </a:r>
          </a:p>
          <a:p>
            <a:r>
              <a:rPr lang="en-US" dirty="0"/>
              <a:t>Dual-Mode and Multimode Operations</a:t>
            </a:r>
          </a:p>
          <a:p>
            <a:r>
              <a:rPr lang="en-US" dirty="0"/>
              <a:t>Operating system services</a:t>
            </a:r>
          </a:p>
          <a:p>
            <a:r>
              <a:rPr lang="en-US" dirty="0"/>
              <a:t>System calls (continued) and APIs [self reading]</a:t>
            </a:r>
          </a:p>
          <a:p>
            <a:r>
              <a:rPr lang="en-US" dirty="0"/>
              <a:t>System boot [self reading]</a:t>
            </a:r>
            <a:endParaRPr lang="en-US" dirty="0">
              <a:solidFill>
                <a:schemeClr val="bg1">
                  <a:lumMod val="75000"/>
                </a:schemeClr>
              </a:solidFill>
            </a:endParaRPr>
          </a:p>
          <a:p>
            <a:r>
              <a:rPr lang="en-US" dirty="0"/>
              <a:t>Operating system structures</a:t>
            </a:r>
          </a:p>
          <a:p>
            <a:endParaRPr lang="en-US" dirty="0"/>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dirty="0"/>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a:t>
            </a:fld>
            <a:endParaRPr lang="en-US"/>
          </a:p>
        </p:txBody>
      </p:sp>
    </p:spTree>
    <p:extLst>
      <p:ext uri="{BB962C8B-B14F-4D97-AF65-F5344CB8AC3E}">
        <p14:creationId xmlns:p14="http://schemas.microsoft.com/office/powerpoint/2010/main" val="16954324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t>What is an Operating System?</a:t>
            </a:r>
          </a:p>
          <a:p>
            <a:r>
              <a:rPr lang="en-US" dirty="0">
                <a:solidFill>
                  <a:schemeClr val="bg1">
                    <a:lumMod val="75000"/>
                  </a:schemeClr>
                </a:solidFill>
              </a:rPr>
              <a:t>The event-driven (interrupt-driven)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Operations</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a:t>
            </a:fld>
            <a:endParaRPr lang="en-US"/>
          </a:p>
        </p:txBody>
      </p:sp>
    </p:spTree>
    <p:extLst>
      <p:ext uri="{BB962C8B-B14F-4D97-AF65-F5344CB8AC3E}">
        <p14:creationId xmlns:p14="http://schemas.microsoft.com/office/powerpoint/2010/main" val="18540386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sv-SE" dirty="0">
                <a:latin typeface="Calibri" charset="0"/>
                <a:ea typeface="Calibri" charset="0"/>
                <a:cs typeface="Calibri" charset="0"/>
              </a:rPr>
              <a:t>Components of a Computer System</a:t>
            </a:r>
            <a:endParaRPr lang="en-US" dirty="0"/>
          </a:p>
        </p:txBody>
      </p:sp>
      <p:sp>
        <p:nvSpPr>
          <p:cNvPr id="3" name="Content Placeholder 2"/>
          <p:cNvSpPr>
            <a:spLocks noGrp="1"/>
          </p:cNvSpPr>
          <p:nvPr>
            <p:ph idx="1"/>
          </p:nvPr>
        </p:nvSpPr>
        <p:spPr>
          <a:xfrm>
            <a:off x="7424382" y="1690688"/>
            <a:ext cx="3929418" cy="4486275"/>
          </a:xfrm>
        </p:spPr>
        <p:txBody>
          <a:bodyPr>
            <a:normAutofit fontScale="92500" lnSpcReduction="10000"/>
          </a:bodyPr>
          <a:lstStyle/>
          <a:p>
            <a:r>
              <a:rPr lang="en-US" altLang="sv-SE" dirty="0">
                <a:latin typeface="Calibri" charset="0"/>
                <a:ea typeface="Calibri" charset="0"/>
                <a:cs typeface="Calibri" charset="0"/>
              </a:rPr>
              <a:t>Hardware – basic computing resources: CPU, memory, I/O devices</a:t>
            </a:r>
          </a:p>
          <a:p>
            <a:r>
              <a:rPr lang="en-US" altLang="sv-SE" b="1" dirty="0">
                <a:solidFill>
                  <a:srgbClr val="C00000"/>
                </a:solidFill>
                <a:latin typeface="Calibri" charset="0"/>
                <a:ea typeface="Calibri" charset="0"/>
                <a:cs typeface="Calibri" charset="0"/>
              </a:rPr>
              <a:t>Operating system: what is that?</a:t>
            </a:r>
          </a:p>
          <a:p>
            <a:r>
              <a:rPr lang="en-US" altLang="sv-SE" dirty="0">
                <a:latin typeface="Calibri" charset="0"/>
                <a:ea typeface="Calibri" charset="0"/>
                <a:cs typeface="Calibri" charset="0"/>
              </a:rPr>
              <a:t>Application programs: Word processors, compilers, web browsers, database systems, video games</a:t>
            </a:r>
          </a:p>
          <a:p>
            <a:r>
              <a:rPr lang="en-US" altLang="sv-SE" dirty="0">
                <a:latin typeface="Calibri" charset="0"/>
                <a:ea typeface="Calibri" charset="0"/>
                <a:cs typeface="Calibri" charset="0"/>
              </a:rPr>
              <a:t>Users: People, machines, other computers</a:t>
            </a:r>
          </a:p>
        </p:txBody>
      </p:sp>
      <p:pic>
        <p:nvPicPr>
          <p:cNvPr id="4" name="Picture 4"/>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838200" y="1931483"/>
            <a:ext cx="6262940" cy="35887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5</a:t>
            </a:fld>
            <a:endParaRPr lang="en-US"/>
          </a:p>
        </p:txBody>
      </p:sp>
    </p:spTree>
    <p:extLst>
      <p:ext uri="{BB962C8B-B14F-4D97-AF65-F5344CB8AC3E}">
        <p14:creationId xmlns:p14="http://schemas.microsoft.com/office/powerpoint/2010/main" val="11924417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can we define what an Operating System is and does? </a:t>
            </a:r>
          </a:p>
        </p:txBody>
      </p:sp>
      <p:pic>
        <p:nvPicPr>
          <p:cNvPr id="5" name="Picture 4"/>
          <p:cNvPicPr>
            <a:picLocks noChangeAspect="1"/>
          </p:cNvPicPr>
          <p:nvPr/>
        </p:nvPicPr>
        <p:blipFill>
          <a:blip r:embed="rId3"/>
          <a:stretch>
            <a:fillRect/>
          </a:stretch>
        </p:blipFill>
        <p:spPr>
          <a:xfrm>
            <a:off x="417022" y="2741813"/>
            <a:ext cx="3223953" cy="3223953"/>
          </a:xfrm>
          <a:prstGeom prst="rect">
            <a:avLst/>
          </a:prstGeom>
        </p:spPr>
      </p:pic>
      <p:pic>
        <p:nvPicPr>
          <p:cNvPr id="6" name="Picture 5"/>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3640975" y="1690688"/>
            <a:ext cx="3390705" cy="2338174"/>
          </a:xfrm>
          <a:prstGeom prst="rect">
            <a:avLst/>
          </a:prstGeom>
        </p:spPr>
      </p:pic>
      <p:sp>
        <p:nvSpPr>
          <p:cNvPr id="7" name="Rectangle 6"/>
          <p:cNvSpPr/>
          <p:nvPr/>
        </p:nvSpPr>
        <p:spPr>
          <a:xfrm>
            <a:off x="3640975" y="4032276"/>
            <a:ext cx="3390705" cy="340652"/>
          </a:xfrm>
          <a:prstGeom prst="rect">
            <a:avLst/>
          </a:prstGeom>
        </p:spPr>
        <p:txBody>
          <a:bodyPr wrap="square">
            <a:spAutoFit/>
          </a:bodyPr>
          <a:lstStyle/>
          <a:p>
            <a:r>
              <a:rPr lang="en-US" sz="800" dirty="0"/>
              <a:t>Source: http://</a:t>
            </a:r>
            <a:r>
              <a:rPr lang="en-US" sz="800" dirty="0" err="1"/>
              <a:t>www.samsung.com</a:t>
            </a:r>
            <a:r>
              <a:rPr lang="en-US" sz="800" dirty="0"/>
              <a:t>/</a:t>
            </a:r>
            <a:r>
              <a:rPr lang="en-US" sz="800" dirty="0" err="1"/>
              <a:t>nz</a:t>
            </a:r>
            <a:r>
              <a:rPr lang="en-US" sz="800" dirty="0"/>
              <a:t>/consumer/home-appliances/washing-machines/front-loader/WW90H9600EW/SA</a:t>
            </a:r>
          </a:p>
        </p:txBody>
      </p:sp>
      <p:sp>
        <p:nvSpPr>
          <p:cNvPr id="8" name="Rectangle 7"/>
          <p:cNvSpPr/>
          <p:nvPr/>
        </p:nvSpPr>
        <p:spPr>
          <a:xfrm>
            <a:off x="838200" y="5965767"/>
            <a:ext cx="2969029" cy="338554"/>
          </a:xfrm>
          <a:prstGeom prst="rect">
            <a:avLst/>
          </a:prstGeom>
        </p:spPr>
        <p:txBody>
          <a:bodyPr wrap="square">
            <a:spAutoFit/>
          </a:bodyPr>
          <a:lstStyle/>
          <a:p>
            <a:r>
              <a:rPr lang="en-US" sz="800" dirty="0"/>
              <a:t>Source: http://</a:t>
            </a:r>
            <a:r>
              <a:rPr lang="en-US" sz="800" dirty="0" err="1"/>
              <a:t>www.amazon.com</a:t>
            </a:r>
            <a:r>
              <a:rPr lang="en-US" sz="800" dirty="0"/>
              <a:t>/Apple-MC916LL-Tablet-Black-Generation/</a:t>
            </a:r>
            <a:r>
              <a:rPr lang="en-US" sz="800" dirty="0" err="1"/>
              <a:t>dp</a:t>
            </a:r>
            <a:r>
              <a:rPr lang="en-US" sz="800" dirty="0"/>
              <a:t>/B0047DVWZS</a:t>
            </a:r>
          </a:p>
        </p:txBody>
      </p:sp>
      <p:pic>
        <p:nvPicPr>
          <p:cNvPr id="9" name="Picture 8"/>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7304614" y="3496886"/>
            <a:ext cx="4389120" cy="2468880"/>
          </a:xfrm>
          <a:prstGeom prst="rect">
            <a:avLst/>
          </a:prstGeom>
        </p:spPr>
      </p:pic>
      <p:sp>
        <p:nvSpPr>
          <p:cNvPr id="10" name="Rectangle 9"/>
          <p:cNvSpPr/>
          <p:nvPr/>
        </p:nvSpPr>
        <p:spPr>
          <a:xfrm>
            <a:off x="7221487" y="5965767"/>
            <a:ext cx="4472247" cy="338554"/>
          </a:xfrm>
          <a:prstGeom prst="rect">
            <a:avLst/>
          </a:prstGeom>
        </p:spPr>
        <p:txBody>
          <a:bodyPr wrap="square">
            <a:spAutoFit/>
          </a:bodyPr>
          <a:lstStyle/>
          <a:p>
            <a:r>
              <a:rPr lang="en-US" sz="800"/>
              <a:t>Source: http</a:t>
            </a:r>
            <a:r>
              <a:rPr lang="en-US" sz="800" dirty="0"/>
              <a:t>://</a:t>
            </a:r>
            <a:r>
              <a:rPr lang="en-US" sz="800" dirty="0" err="1"/>
              <a:t>linustechtips.com</a:t>
            </a:r>
            <a:r>
              <a:rPr lang="en-US" sz="800" dirty="0"/>
              <a:t>/main/topic/50821-dell-contemplates-shipping-chinese-pcs-with-ubuntu-kylin-os-by-default/</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Introduction to Operating Systems</a:t>
            </a:r>
          </a:p>
        </p:txBody>
      </p:sp>
      <p:sp>
        <p:nvSpPr>
          <p:cNvPr id="11" name="Slide Number Placeholder 10"/>
          <p:cNvSpPr>
            <a:spLocks noGrp="1"/>
          </p:cNvSpPr>
          <p:nvPr>
            <p:ph type="sldNum" sz="quarter" idx="12"/>
          </p:nvPr>
        </p:nvSpPr>
        <p:spPr/>
        <p:txBody>
          <a:bodyPr/>
          <a:lstStyle/>
          <a:p>
            <a:fld id="{F08E1FC2-92BA-6B49-AE60-B1AE3118BF2A}" type="slidenum">
              <a:rPr lang="en-US" smtClean="0"/>
              <a:t>6</a:t>
            </a:fld>
            <a:endParaRPr lang="en-US"/>
          </a:p>
        </p:txBody>
      </p:sp>
    </p:spTree>
    <p:extLst>
      <p:ext uri="{BB962C8B-B14F-4D97-AF65-F5344CB8AC3E}">
        <p14:creationId xmlns:p14="http://schemas.microsoft.com/office/powerpoint/2010/main" val="14811890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sv-SE" sz="3600" dirty="0"/>
              <a:t>Operating System as Component </a:t>
            </a:r>
            <a:r>
              <a:rPr lang="en-US" sz="3600" dirty="0"/>
              <a:t>of</a:t>
            </a:r>
            <a:r>
              <a:rPr lang="sv-SE" sz="3600" dirty="0"/>
              <a:t> a Computer System</a:t>
            </a:r>
            <a:endParaRPr lang="en-US" sz="3600" dirty="0"/>
          </a:p>
        </p:txBody>
      </p:sp>
      <p:sp>
        <p:nvSpPr>
          <p:cNvPr id="3" name="Content Placeholder 2"/>
          <p:cNvSpPr>
            <a:spLocks noGrp="1"/>
          </p:cNvSpPr>
          <p:nvPr>
            <p:ph idx="1"/>
          </p:nvPr>
        </p:nvSpPr>
        <p:spPr>
          <a:xfrm>
            <a:off x="838200" y="1825625"/>
            <a:ext cx="5412971" cy="4351338"/>
          </a:xfrm>
        </p:spPr>
        <p:txBody>
          <a:bodyPr/>
          <a:lstStyle/>
          <a:p>
            <a:r>
              <a:rPr lang="en-US" sz="2400" dirty="0"/>
              <a:t>Provides a </a:t>
            </a:r>
            <a:r>
              <a:rPr lang="en-US" sz="2400" dirty="0">
                <a:solidFill>
                  <a:schemeClr val="accent2"/>
                </a:solidFill>
              </a:rPr>
              <a:t>set of services</a:t>
            </a:r>
            <a:r>
              <a:rPr lang="en-US" sz="2400" dirty="0"/>
              <a:t> to system users (collection of service programs)</a:t>
            </a:r>
          </a:p>
          <a:p>
            <a:r>
              <a:rPr lang="en-US" sz="2400" dirty="0">
                <a:solidFill>
                  <a:schemeClr val="accent2"/>
                </a:solidFill>
              </a:rPr>
              <a:t>Shield</a:t>
            </a:r>
            <a:r>
              <a:rPr lang="en-US" sz="2400" dirty="0"/>
              <a:t> between the user and the hardware</a:t>
            </a:r>
          </a:p>
          <a:p>
            <a:endParaRPr lang="en-US" sz="2400" dirty="0"/>
          </a:p>
          <a:p>
            <a:r>
              <a:rPr lang="en-US" sz="2400" dirty="0">
                <a:solidFill>
                  <a:schemeClr val="accent2"/>
                </a:solidFill>
              </a:rPr>
              <a:t>Resource manager</a:t>
            </a:r>
            <a:r>
              <a:rPr lang="en-US" sz="2400" dirty="0"/>
              <a:t>:</a:t>
            </a:r>
          </a:p>
          <a:p>
            <a:pPr lvl="1"/>
            <a:r>
              <a:rPr lang="en-US" sz="2000" dirty="0"/>
              <a:t>CPU(s)</a:t>
            </a:r>
          </a:p>
          <a:p>
            <a:pPr lvl="1"/>
            <a:r>
              <a:rPr lang="en-US" sz="2000" dirty="0"/>
              <a:t>memory and I/O devices</a:t>
            </a:r>
          </a:p>
          <a:p>
            <a:r>
              <a:rPr lang="en-US" sz="2400" dirty="0">
                <a:solidFill>
                  <a:schemeClr val="accent2"/>
                </a:solidFill>
              </a:rPr>
              <a:t>A control program</a:t>
            </a:r>
          </a:p>
          <a:p>
            <a:pPr lvl="1"/>
            <a:r>
              <a:rPr lang="en-US" sz="2000" dirty="0"/>
              <a:t>Controls execution of programs to prevent errors and improper use of the computer</a:t>
            </a:r>
          </a:p>
        </p:txBody>
      </p:sp>
      <p:grpSp>
        <p:nvGrpSpPr>
          <p:cNvPr id="6" name="Group 5"/>
          <p:cNvGrpSpPr/>
          <p:nvPr/>
        </p:nvGrpSpPr>
        <p:grpSpPr>
          <a:xfrm>
            <a:off x="6350924" y="1479064"/>
            <a:ext cx="5002875" cy="3378926"/>
            <a:chOff x="6350924" y="1479064"/>
            <a:chExt cx="5002875" cy="3378926"/>
          </a:xfrm>
        </p:grpSpPr>
        <p:pic>
          <p:nvPicPr>
            <p:cNvPr id="4" name="Picture 3"/>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l="1955"/>
            <a:stretch/>
          </p:blipFill>
          <p:spPr bwMode="auto">
            <a:xfrm>
              <a:off x="6350924" y="1479064"/>
              <a:ext cx="5002875" cy="32250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7076482" y="4550213"/>
              <a:ext cx="2444708" cy="307777"/>
            </a:xfrm>
            <a:prstGeom prst="rect">
              <a:avLst/>
            </a:prstGeom>
            <a:noFill/>
          </p:spPr>
          <p:txBody>
            <a:bodyPr wrap="none" rtlCol="0">
              <a:spAutoFit/>
            </a:bodyPr>
            <a:lstStyle/>
            <a:p>
              <a:r>
                <a:rPr lang="sv-SE" sz="1400" dirty="0" err="1"/>
                <a:t>Fig</a:t>
              </a:r>
              <a:r>
                <a:rPr lang="sv-SE" sz="1400" dirty="0"/>
                <a:t>: Modern OS, A. </a:t>
              </a:r>
              <a:r>
                <a:rPr lang="sv-SE" sz="1400" dirty="0" err="1"/>
                <a:t>Tanenbaum</a:t>
              </a:r>
              <a:endParaRPr lang="sv-SE" sz="1400" dirty="0"/>
            </a:p>
          </p:txBody>
        </p:sp>
      </p:grpSp>
      <p:sp>
        <p:nvSpPr>
          <p:cNvPr id="7" name="Date Placeholder 6"/>
          <p:cNvSpPr>
            <a:spLocks noGrp="1"/>
          </p:cNvSpPr>
          <p:nvPr>
            <p:ph type="dt" sz="half" idx="10"/>
          </p:nvPr>
        </p:nvSpPr>
        <p:spPr/>
        <p:txBody>
          <a:bodyPr/>
          <a:lstStyle/>
          <a:p>
            <a:r>
              <a:rPr lang="sv-SE"/>
              <a:t>Vincenzo Gulisano</a:t>
            </a:r>
            <a:endParaRPr lang="en-US"/>
          </a:p>
        </p:txBody>
      </p:sp>
      <p:sp>
        <p:nvSpPr>
          <p:cNvPr id="8" name="Footer Placeholder 7"/>
          <p:cNvSpPr>
            <a:spLocks noGrp="1"/>
          </p:cNvSpPr>
          <p:nvPr>
            <p:ph type="ftr" sz="quarter" idx="11"/>
          </p:nvPr>
        </p:nvSpPr>
        <p:spPr/>
        <p:txBody>
          <a:bodyPr/>
          <a:lstStyle/>
          <a:p>
            <a:r>
              <a:rPr lang="en-US"/>
              <a:t>Operating Systems - Introduction to Operating Systems</a:t>
            </a:r>
          </a:p>
        </p:txBody>
      </p:sp>
      <p:sp>
        <p:nvSpPr>
          <p:cNvPr id="9" name="Slide Number Placeholder 8"/>
          <p:cNvSpPr>
            <a:spLocks noGrp="1"/>
          </p:cNvSpPr>
          <p:nvPr>
            <p:ph type="sldNum" sz="quarter" idx="12"/>
          </p:nvPr>
        </p:nvSpPr>
        <p:spPr/>
        <p:txBody>
          <a:bodyPr/>
          <a:lstStyle/>
          <a:p>
            <a:fld id="{F08E1FC2-92BA-6B49-AE60-B1AE3118BF2A}" type="slidenum">
              <a:rPr lang="en-US" smtClean="0"/>
              <a:t>7</a:t>
            </a:fld>
            <a:endParaRPr lang="en-US"/>
          </a:p>
        </p:txBody>
      </p:sp>
    </p:spTree>
    <p:extLst>
      <p:ext uri="{BB962C8B-B14F-4D97-AF65-F5344CB8AC3E}">
        <p14:creationId xmlns:p14="http://schemas.microsoft.com/office/powerpoint/2010/main" val="10611329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t>The event-driven (interrupt-driven)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Operations</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8</a:t>
            </a:fld>
            <a:endParaRPr lang="en-US"/>
          </a:p>
        </p:txBody>
      </p:sp>
    </p:spTree>
    <p:extLst>
      <p:ext uri="{BB962C8B-B14F-4D97-AF65-F5344CB8AC3E}">
        <p14:creationId xmlns:p14="http://schemas.microsoft.com/office/powerpoint/2010/main" val="17175205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does the OS manage devices and users?</a:t>
            </a:r>
          </a:p>
        </p:txBody>
      </p:sp>
      <p:grpSp>
        <p:nvGrpSpPr>
          <p:cNvPr id="7" name="Group 6"/>
          <p:cNvGrpSpPr/>
          <p:nvPr/>
        </p:nvGrpSpPr>
        <p:grpSpPr>
          <a:xfrm>
            <a:off x="471979" y="1993599"/>
            <a:ext cx="6604000" cy="1850535"/>
            <a:chOff x="471979" y="1993599"/>
            <a:chExt cx="6604000" cy="1850535"/>
          </a:xfrm>
        </p:grpSpPr>
        <p:pic>
          <p:nvPicPr>
            <p:cNvPr id="4" name="Picture 3" descr="1_2"/>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a:stretch/>
          </p:blipFill>
          <p:spPr bwMode="auto">
            <a:xfrm>
              <a:off x="471979" y="1993599"/>
              <a:ext cx="6604000" cy="1547624"/>
            </a:xfrm>
            <a:prstGeom prst="rect">
              <a:avLst/>
            </a:prstGeom>
            <a:noFill/>
            <a:ln w="9525">
              <a:noFill/>
              <a:miter lim="800000"/>
              <a:headEnd/>
              <a:tailEnd/>
            </a:ln>
          </p:spPr>
        </p:pic>
        <p:sp>
          <p:nvSpPr>
            <p:cNvPr id="5" name="TextBox 4"/>
            <p:cNvSpPr txBox="1"/>
            <p:nvPr/>
          </p:nvSpPr>
          <p:spPr>
            <a:xfrm>
              <a:off x="471979" y="3536357"/>
              <a:ext cx="2182713" cy="307777"/>
            </a:xfrm>
            <a:prstGeom prst="rect">
              <a:avLst/>
            </a:prstGeom>
            <a:noFill/>
          </p:spPr>
          <p:txBody>
            <a:bodyPr wrap="none" rtlCol="0">
              <a:spAutoFit/>
            </a:bodyPr>
            <a:lstStyle/>
            <a:p>
              <a:r>
                <a:rPr lang="sv-SE" sz="1400" dirty="0" err="1"/>
                <a:t>Fig</a:t>
              </a:r>
              <a:r>
                <a:rPr lang="sv-SE" sz="1400" dirty="0"/>
                <a:t>: Intro </a:t>
              </a:r>
              <a:r>
                <a:rPr lang="sv-SE" sz="1400" dirty="0" err="1"/>
                <a:t>to</a:t>
              </a:r>
              <a:r>
                <a:rPr lang="sv-SE" sz="1400" dirty="0"/>
                <a:t> OS, W. </a:t>
              </a:r>
              <a:r>
                <a:rPr lang="sv-SE" sz="1400" dirty="0" err="1"/>
                <a:t>Stallings</a:t>
              </a:r>
              <a:endParaRPr lang="sv-SE" sz="1400" dirty="0"/>
            </a:p>
          </p:txBody>
        </p:sp>
      </p:grpSp>
      <p:pic>
        <p:nvPicPr>
          <p:cNvPr id="6" name="Picture 5"/>
          <p:cNvPicPr>
            <a:picLocks noChangeAspect="1" noChangeArrowheads="1"/>
          </p:cNvPicPr>
          <p:nvPr/>
        </p:nvPicPr>
        <p:blipFill>
          <a:blip r:embed="rId4" cstate="print"/>
          <a:srcRect/>
          <a:stretch>
            <a:fillRect/>
          </a:stretch>
        </p:blipFill>
        <p:spPr bwMode="auto">
          <a:xfrm>
            <a:off x="5452021" y="3536357"/>
            <a:ext cx="5901779" cy="2916124"/>
          </a:xfrm>
          <a:prstGeom prst="rect">
            <a:avLst/>
          </a:prstGeom>
          <a:noFill/>
          <a:ln w="9525">
            <a:noFill/>
            <a:miter lim="800000"/>
            <a:headEnd/>
            <a:tailEnd/>
          </a:ln>
        </p:spPr>
      </p:pic>
      <p:sp>
        <p:nvSpPr>
          <p:cNvPr id="8" name="Explosion 2 7"/>
          <p:cNvSpPr/>
          <p:nvPr/>
        </p:nvSpPr>
        <p:spPr>
          <a:xfrm>
            <a:off x="322350" y="3690245"/>
            <a:ext cx="5995323" cy="2460567"/>
          </a:xfrm>
          <a:prstGeom prst="irregularSeal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Events </a:t>
            </a:r>
            <a:r>
              <a:rPr lang="en-US" sz="2400"/>
              <a:t>(interrupts) mark the cycles of the OS!</a:t>
            </a:r>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Footer Placeholder 8"/>
          <p:cNvSpPr>
            <a:spLocks noGrp="1"/>
          </p:cNvSpPr>
          <p:nvPr>
            <p:ph type="ftr" sz="quarter" idx="11"/>
          </p:nvPr>
        </p:nvSpPr>
        <p:spPr/>
        <p:txBody>
          <a:bodyPr/>
          <a:lstStyle/>
          <a:p>
            <a:r>
              <a:rPr lang="en-US"/>
              <a:t>Operating Systems - Introduction to Operating Systems</a:t>
            </a:r>
          </a:p>
        </p:txBody>
      </p:sp>
      <p:sp>
        <p:nvSpPr>
          <p:cNvPr id="10" name="Slide Number Placeholder 9"/>
          <p:cNvSpPr>
            <a:spLocks noGrp="1"/>
          </p:cNvSpPr>
          <p:nvPr>
            <p:ph type="sldNum" sz="quarter" idx="12"/>
          </p:nvPr>
        </p:nvSpPr>
        <p:spPr/>
        <p:txBody>
          <a:bodyPr/>
          <a:lstStyle/>
          <a:p>
            <a:fld id="{F08E1FC2-92BA-6B49-AE60-B1AE3118BF2A}" type="slidenum">
              <a:rPr lang="en-US" smtClean="0"/>
              <a:t>9</a:t>
            </a:fld>
            <a:endParaRPr lang="en-US"/>
          </a:p>
        </p:txBody>
      </p:sp>
    </p:spTree>
    <p:extLst>
      <p:ext uri="{BB962C8B-B14F-4D97-AF65-F5344CB8AC3E}">
        <p14:creationId xmlns:p14="http://schemas.microsoft.com/office/powerpoint/2010/main" val="1483290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Events/interrupts are the basic “ticks” of the OS cycle </a:t>
            </a:r>
          </a:p>
        </p:txBody>
      </p:sp>
      <p:grpSp>
        <p:nvGrpSpPr>
          <p:cNvPr id="7" name="Group 6"/>
          <p:cNvGrpSpPr/>
          <p:nvPr/>
        </p:nvGrpSpPr>
        <p:grpSpPr>
          <a:xfrm>
            <a:off x="343593" y="1935230"/>
            <a:ext cx="4743796" cy="1855373"/>
            <a:chOff x="493222" y="2148840"/>
            <a:chExt cx="6705600" cy="2622665"/>
          </a:xfrm>
        </p:grpSpPr>
        <p:pic>
          <p:nvPicPr>
            <p:cNvPr id="5" name="Picture 4" descr="1_7"/>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a:stretch/>
          </p:blipFill>
          <p:spPr bwMode="auto">
            <a:xfrm>
              <a:off x="493222" y="2148840"/>
              <a:ext cx="6705600" cy="2622665"/>
            </a:xfrm>
            <a:prstGeom prst="rect">
              <a:avLst/>
            </a:prstGeom>
            <a:noFill/>
            <a:ln w="9525">
              <a:noFill/>
              <a:miter lim="800000"/>
              <a:headEnd/>
              <a:tailEnd/>
            </a:ln>
          </p:spPr>
        </p:pic>
        <p:sp>
          <p:nvSpPr>
            <p:cNvPr id="6" name="TextBox 5"/>
            <p:cNvSpPr txBox="1"/>
            <p:nvPr/>
          </p:nvSpPr>
          <p:spPr>
            <a:xfrm>
              <a:off x="493222" y="3672840"/>
              <a:ext cx="3901455" cy="307777"/>
            </a:xfrm>
            <a:prstGeom prst="rect">
              <a:avLst/>
            </a:prstGeom>
            <a:solidFill>
              <a:schemeClr val="bg1"/>
            </a:solidFill>
          </p:spPr>
          <p:txBody>
            <a:bodyPr wrap="square" rtlCol="0">
              <a:spAutoFit/>
            </a:bodyPr>
            <a:lstStyle/>
            <a:p>
              <a:r>
                <a:rPr lang="sv-SE" sz="1400" dirty="0" err="1"/>
                <a:t>Fig</a:t>
              </a:r>
              <a:r>
                <a:rPr lang="sv-SE" sz="1400" dirty="0"/>
                <a:t>: Intro </a:t>
              </a:r>
              <a:r>
                <a:rPr lang="sv-SE" sz="1400" dirty="0" err="1"/>
                <a:t>to</a:t>
              </a:r>
              <a:r>
                <a:rPr lang="sv-SE" sz="1400" dirty="0"/>
                <a:t> OS, W. </a:t>
              </a:r>
              <a:r>
                <a:rPr lang="sv-SE" sz="1400" dirty="0" err="1"/>
                <a:t>Stallings</a:t>
              </a:r>
              <a:endParaRPr lang="sv-SE" sz="1400" dirty="0"/>
            </a:p>
          </p:txBody>
        </p:sp>
      </p:grpSp>
      <p:sp>
        <p:nvSpPr>
          <p:cNvPr id="8" name="Content Placeholder 2"/>
          <p:cNvSpPr>
            <a:spLocks noGrp="1"/>
          </p:cNvSpPr>
          <p:nvPr>
            <p:ph idx="1"/>
          </p:nvPr>
        </p:nvSpPr>
        <p:spPr>
          <a:xfrm>
            <a:off x="6096000" y="1618547"/>
            <a:ext cx="5674822" cy="4344111"/>
          </a:xfrm>
        </p:spPr>
        <p:txBody>
          <a:bodyPr>
            <a:normAutofit fontScale="85000" lnSpcReduction="20000"/>
          </a:bodyPr>
          <a:lstStyle/>
          <a:p>
            <a:pPr marL="0" indent="0">
              <a:buNone/>
            </a:pPr>
            <a:r>
              <a:rPr lang="en-US" sz="2400" dirty="0"/>
              <a:t>OS doing some work</a:t>
            </a:r>
          </a:p>
          <a:p>
            <a:pPr marL="0" indent="0">
              <a:buNone/>
            </a:pPr>
            <a:r>
              <a:rPr lang="en-US" sz="2400" dirty="0"/>
              <a:t>Interrupt!</a:t>
            </a:r>
          </a:p>
          <a:p>
            <a:pPr marL="0" indent="0">
              <a:buNone/>
            </a:pPr>
            <a:r>
              <a:rPr lang="en-US" sz="2400" dirty="0"/>
              <a:t>What’s happening?</a:t>
            </a:r>
          </a:p>
          <a:p>
            <a:pPr marL="0" indent="0">
              <a:buNone/>
            </a:pPr>
            <a:r>
              <a:rPr lang="en-US" sz="2400" dirty="0"/>
              <a:t>Keystroke! Need to print a character on screen…</a:t>
            </a:r>
          </a:p>
          <a:p>
            <a:pPr marL="0" indent="0">
              <a:buNone/>
            </a:pPr>
            <a:r>
              <a:rPr lang="en-US" sz="2400" dirty="0"/>
              <a:t>Doing that…</a:t>
            </a:r>
          </a:p>
          <a:p>
            <a:pPr marL="0" indent="0">
              <a:buNone/>
            </a:pPr>
            <a:r>
              <a:rPr lang="en-US" sz="2400" dirty="0"/>
              <a:t>Going back to my previous work…</a:t>
            </a:r>
          </a:p>
          <a:p>
            <a:pPr marL="0" indent="0">
              <a:buNone/>
            </a:pPr>
            <a:r>
              <a:rPr lang="en-US" sz="2400" dirty="0"/>
              <a:t>Interrupt!</a:t>
            </a:r>
          </a:p>
          <a:p>
            <a:pPr marL="0" indent="0">
              <a:buNone/>
            </a:pPr>
            <a:r>
              <a:rPr lang="en-US" sz="2400" dirty="0"/>
              <a:t>What’s happening?</a:t>
            </a:r>
          </a:p>
          <a:p>
            <a:pPr marL="0" indent="0">
              <a:buNone/>
            </a:pPr>
            <a:r>
              <a:rPr lang="en-US" sz="2400" dirty="0"/>
              <a:t>Byte copied to disk!</a:t>
            </a:r>
          </a:p>
          <a:p>
            <a:pPr marL="0" indent="0">
              <a:buNone/>
            </a:pPr>
            <a:r>
              <a:rPr lang="en-US" sz="2400" dirty="0"/>
              <a:t>OK then copying another byte…</a:t>
            </a:r>
          </a:p>
          <a:p>
            <a:pPr marL="0" indent="0">
              <a:buNone/>
            </a:pPr>
            <a:r>
              <a:rPr lang="en-US" sz="2400" dirty="0"/>
              <a:t>Interrupt!</a:t>
            </a:r>
          </a:p>
          <a:p>
            <a:pPr marL="0" indent="0">
              <a:buNone/>
            </a:pPr>
            <a:r>
              <a:rPr lang="en-US" sz="2400" dirty="0"/>
              <a:t>…</a:t>
            </a:r>
            <a:endParaRPr lang="en-US" sz="2000" dirty="0"/>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Introduction to Operating Systems</a:t>
            </a:r>
          </a:p>
        </p:txBody>
      </p:sp>
      <p:sp>
        <p:nvSpPr>
          <p:cNvPr id="13" name="Slide Number Placeholder 12"/>
          <p:cNvSpPr>
            <a:spLocks noGrp="1"/>
          </p:cNvSpPr>
          <p:nvPr>
            <p:ph type="sldNum" sz="quarter" idx="12"/>
          </p:nvPr>
        </p:nvSpPr>
        <p:spPr/>
        <p:txBody>
          <a:bodyPr/>
          <a:lstStyle/>
          <a:p>
            <a:fld id="{F08E1FC2-92BA-6B49-AE60-B1AE3118BF2A}" type="slidenum">
              <a:rPr lang="en-US" smtClean="0"/>
              <a:t>10</a:t>
            </a:fld>
            <a:endParaRPr lang="en-US"/>
          </a:p>
        </p:txBody>
      </p:sp>
    </p:spTree>
    <p:extLst>
      <p:ext uri="{BB962C8B-B14F-4D97-AF65-F5344CB8AC3E}">
        <p14:creationId xmlns:p14="http://schemas.microsoft.com/office/powerpoint/2010/main" val="664032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(interrupt-driven) life of an OS</a:t>
            </a:r>
          </a:p>
          <a:p>
            <a:r>
              <a:rPr lang="en-US" dirty="0"/>
              <a:t>System calls (overview)</a:t>
            </a:r>
          </a:p>
          <a:p>
            <a:r>
              <a:rPr lang="en-US" dirty="0">
                <a:solidFill>
                  <a:schemeClr val="bg1">
                    <a:lumMod val="75000"/>
                  </a:schemeClr>
                </a:solidFill>
              </a:rPr>
              <a:t>Dual-Mode and Multimode Operations</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11</a:t>
            </a:fld>
            <a:endParaRPr lang="en-US"/>
          </a:p>
        </p:txBody>
      </p:sp>
    </p:spTree>
    <p:extLst>
      <p:ext uri="{BB962C8B-B14F-4D97-AF65-F5344CB8AC3E}">
        <p14:creationId xmlns:p14="http://schemas.microsoft.com/office/powerpoint/2010/main" val="1563925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deeper look at the OS…</a:t>
            </a:r>
          </a:p>
        </p:txBody>
      </p:sp>
      <p:grpSp>
        <p:nvGrpSpPr>
          <p:cNvPr id="4" name="Group 3"/>
          <p:cNvGrpSpPr/>
          <p:nvPr/>
        </p:nvGrpSpPr>
        <p:grpSpPr>
          <a:xfrm>
            <a:off x="299259" y="1445813"/>
            <a:ext cx="3170265" cy="3378926"/>
            <a:chOff x="6350925" y="1479064"/>
            <a:chExt cx="3170265" cy="3378926"/>
          </a:xfrm>
        </p:grpSpPr>
        <p:pic>
          <p:nvPicPr>
            <p:cNvPr id="5" name="Picture 4"/>
            <p:cNvPicPr>
              <a:picLocks noChangeAspect="1" noChangeArrowheads="1"/>
            </p:cNvPicPr>
            <p:nvPr/>
          </p:nvPicPr>
          <p:blipFill rotWithShape="1">
            <a:blip r:embed="rId2" cstate="print">
              <a:extLst>
                <a:ext uri="{28A0092B-C50C-407E-A947-70E740481C1C}">
                  <a14:useLocalDpi xmlns:a14="http://schemas.microsoft.com/office/drawing/2010/main"/>
                </a:ext>
              </a:extLst>
            </a:blip>
            <a:srcRect/>
            <a:stretch/>
          </p:blipFill>
          <p:spPr bwMode="auto">
            <a:xfrm>
              <a:off x="6350925" y="1479064"/>
              <a:ext cx="3059084" cy="32250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7076482" y="4550213"/>
              <a:ext cx="2444708" cy="307777"/>
            </a:xfrm>
            <a:prstGeom prst="rect">
              <a:avLst/>
            </a:prstGeom>
            <a:noFill/>
          </p:spPr>
          <p:txBody>
            <a:bodyPr wrap="none" rtlCol="0">
              <a:spAutoFit/>
            </a:bodyPr>
            <a:lstStyle/>
            <a:p>
              <a:r>
                <a:rPr lang="sv-SE" sz="1400" dirty="0" err="1"/>
                <a:t>Fig</a:t>
              </a:r>
              <a:r>
                <a:rPr lang="sv-SE" sz="1400" dirty="0"/>
                <a:t>: Modern OS, A. </a:t>
              </a:r>
              <a:r>
                <a:rPr lang="sv-SE" sz="1400" dirty="0" err="1"/>
                <a:t>Tanenbaum</a:t>
              </a:r>
              <a:endParaRPr lang="sv-SE" sz="1400" dirty="0"/>
            </a:p>
          </p:txBody>
        </p:sp>
      </p:grpSp>
      <p:pic>
        <p:nvPicPr>
          <p:cNvPr id="7" name="Picture 4" descr="2"/>
          <p:cNvPicPr>
            <a:picLocks noChangeAspect="1" noChangeArrowheads="1"/>
          </p:cNvPicPr>
          <p:nvPr/>
        </p:nvPicPr>
        <p:blipFill>
          <a:blip r:embed="rId3" cstate="print"/>
          <a:srcRect/>
          <a:stretch>
            <a:fillRect/>
          </a:stretch>
        </p:blipFill>
        <p:spPr bwMode="auto">
          <a:xfrm>
            <a:off x="3897284" y="1445813"/>
            <a:ext cx="7218362" cy="3603625"/>
          </a:xfrm>
          <a:prstGeom prst="rect">
            <a:avLst/>
          </a:prstGeom>
          <a:noFill/>
          <a:ln w="9525">
            <a:noFill/>
            <a:miter lim="800000"/>
            <a:headEnd/>
            <a:tailEnd/>
          </a:ln>
        </p:spPr>
      </p:pic>
      <p:grpSp>
        <p:nvGrpSpPr>
          <p:cNvPr id="10" name="Group 9"/>
          <p:cNvGrpSpPr/>
          <p:nvPr/>
        </p:nvGrpSpPr>
        <p:grpSpPr>
          <a:xfrm>
            <a:off x="713723" y="5110778"/>
            <a:ext cx="9849785" cy="1342845"/>
            <a:chOff x="713723" y="5110778"/>
            <a:chExt cx="9849785" cy="1342845"/>
          </a:xfrm>
        </p:grpSpPr>
        <p:sp>
          <p:nvSpPr>
            <p:cNvPr id="8" name="TextBox 7"/>
            <p:cNvSpPr txBox="1"/>
            <p:nvPr/>
          </p:nvSpPr>
          <p:spPr>
            <a:xfrm>
              <a:off x="1335908" y="5499516"/>
              <a:ext cx="9227600" cy="954107"/>
            </a:xfrm>
            <a:prstGeom prst="rect">
              <a:avLst/>
            </a:prstGeom>
            <a:noFill/>
          </p:spPr>
          <p:txBody>
            <a:bodyPr wrap="square" rtlCol="0">
              <a:spAutoFit/>
            </a:bodyPr>
            <a:lstStyle/>
            <a:p>
              <a:r>
                <a:rPr lang="en-US" sz="2800" dirty="0"/>
                <a:t>How does the OS allow users and programs to </a:t>
              </a:r>
              <a:r>
                <a:rPr lang="en-US" sz="2800"/>
                <a:t>use and interface with the hardware and the resources of a computer?</a:t>
              </a:r>
            </a:p>
          </p:txBody>
        </p:sp>
        <p:pic>
          <p:nvPicPr>
            <p:cNvPr id="9" name="Picture 8"/>
            <p:cNvPicPr>
              <a:picLocks noChangeAspect="1"/>
            </p:cNvPicPr>
            <p:nvPr/>
          </p:nvPicPr>
          <p:blipFill>
            <a:blip r:embed="rId4"/>
            <a:stretch>
              <a:fillRect/>
            </a:stretch>
          </p:blipFill>
          <p:spPr>
            <a:xfrm>
              <a:off x="713723" y="5110778"/>
              <a:ext cx="622185" cy="1342845"/>
            </a:xfrm>
            <a:prstGeom prst="rect">
              <a:avLst/>
            </a:prstGeom>
          </p:spPr>
        </p:pic>
      </p:grpSp>
      <p:grpSp>
        <p:nvGrpSpPr>
          <p:cNvPr id="13" name="Group 12"/>
          <p:cNvGrpSpPr/>
          <p:nvPr/>
        </p:nvGrpSpPr>
        <p:grpSpPr>
          <a:xfrm>
            <a:off x="5868894" y="2510089"/>
            <a:ext cx="5785693" cy="670680"/>
            <a:chOff x="5868894" y="2510089"/>
            <a:chExt cx="5785693" cy="670680"/>
          </a:xfrm>
        </p:grpSpPr>
        <p:sp>
          <p:nvSpPr>
            <p:cNvPr id="11" name="Oval 10"/>
            <p:cNvSpPr/>
            <p:nvPr/>
          </p:nvSpPr>
          <p:spPr>
            <a:xfrm>
              <a:off x="5868894" y="2510089"/>
              <a:ext cx="3275142" cy="670680"/>
            </a:xfrm>
            <a:prstGeom prst="ellipse">
              <a:avLst/>
            </a:prstGeom>
            <a:noFill/>
            <a:ln w="2857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9193856" y="2583819"/>
              <a:ext cx="2460731" cy="523220"/>
            </a:xfrm>
            <a:prstGeom prst="rect">
              <a:avLst/>
            </a:prstGeom>
            <a:noFill/>
          </p:spPr>
          <p:txBody>
            <a:bodyPr wrap="square" rtlCol="0">
              <a:spAutoFit/>
            </a:bodyPr>
            <a:lstStyle/>
            <a:p>
              <a:r>
                <a:rPr lang="en-US" sz="2800" dirty="0">
                  <a:solidFill>
                    <a:srgbClr val="FF0000"/>
                  </a:solidFill>
                  <a:sym typeface="Wingdings"/>
                </a:rPr>
                <a:t> Interrupts!!!</a:t>
              </a:r>
              <a:endParaRPr lang="en-US" sz="2800" dirty="0">
                <a:solidFill>
                  <a:srgbClr val="FF0000"/>
                </a:solidFill>
              </a:endParaRPr>
            </a:p>
          </p:txBody>
        </p:sp>
      </p:grpSp>
      <p:sp>
        <p:nvSpPr>
          <p:cNvPr id="3" name="Date Placeholder 2"/>
          <p:cNvSpPr>
            <a:spLocks noGrp="1"/>
          </p:cNvSpPr>
          <p:nvPr>
            <p:ph type="dt" sz="half" idx="10"/>
          </p:nvPr>
        </p:nvSpPr>
        <p:spPr/>
        <p:txBody>
          <a:bodyPr/>
          <a:lstStyle/>
          <a:p>
            <a:r>
              <a:rPr lang="sv-SE"/>
              <a:t>Vincenzo Gulisano</a:t>
            </a:r>
            <a:endParaRPr lang="en-US"/>
          </a:p>
        </p:txBody>
      </p:sp>
      <p:sp>
        <p:nvSpPr>
          <p:cNvPr id="14" name="Footer Placeholder 13"/>
          <p:cNvSpPr>
            <a:spLocks noGrp="1"/>
          </p:cNvSpPr>
          <p:nvPr>
            <p:ph type="ftr" sz="quarter" idx="11"/>
          </p:nvPr>
        </p:nvSpPr>
        <p:spPr/>
        <p:txBody>
          <a:bodyPr/>
          <a:lstStyle/>
          <a:p>
            <a:r>
              <a:rPr lang="en-US"/>
              <a:t>Operating Systems - Introduction to Operating Systems</a:t>
            </a:r>
          </a:p>
        </p:txBody>
      </p:sp>
      <p:sp>
        <p:nvSpPr>
          <p:cNvPr id="15" name="Slide Number Placeholder 14"/>
          <p:cNvSpPr>
            <a:spLocks noGrp="1"/>
          </p:cNvSpPr>
          <p:nvPr>
            <p:ph type="sldNum" sz="quarter" idx="12"/>
          </p:nvPr>
        </p:nvSpPr>
        <p:spPr/>
        <p:txBody>
          <a:bodyPr/>
          <a:lstStyle/>
          <a:p>
            <a:fld id="{F08E1FC2-92BA-6B49-AE60-B1AE3118BF2A}" type="slidenum">
              <a:rPr lang="en-US" smtClean="0"/>
              <a:t>12</a:t>
            </a:fld>
            <a:endParaRPr lang="en-US"/>
          </a:p>
        </p:txBody>
      </p:sp>
    </p:spTree>
    <p:extLst>
      <p:ext uri="{BB962C8B-B14F-4D97-AF65-F5344CB8AC3E}">
        <p14:creationId xmlns:p14="http://schemas.microsoft.com/office/powerpoint/2010/main" val="174088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(interrupt-driven) life of an OS</a:t>
            </a:r>
          </a:p>
          <a:p>
            <a:r>
              <a:rPr lang="en-US" dirty="0">
                <a:solidFill>
                  <a:schemeClr val="bg1">
                    <a:lumMod val="75000"/>
                  </a:schemeClr>
                </a:solidFill>
              </a:rPr>
              <a:t>System calls (overview)</a:t>
            </a:r>
          </a:p>
          <a:p>
            <a:r>
              <a:rPr lang="en-US" dirty="0"/>
              <a:t>Dual-Mode and Multimode Operations</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13</a:t>
            </a:fld>
            <a:endParaRPr lang="en-US"/>
          </a:p>
        </p:txBody>
      </p:sp>
    </p:spTree>
    <p:extLst>
      <p:ext uri="{BB962C8B-B14F-4D97-AF65-F5344CB8AC3E}">
        <p14:creationId xmlns:p14="http://schemas.microsoft.com/office/powerpoint/2010/main" val="5160052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Wait a moment…</a:t>
            </a:r>
          </a:p>
        </p:txBody>
      </p:sp>
      <p:grpSp>
        <p:nvGrpSpPr>
          <p:cNvPr id="12" name="Group 11"/>
          <p:cNvGrpSpPr/>
          <p:nvPr/>
        </p:nvGrpSpPr>
        <p:grpSpPr>
          <a:xfrm>
            <a:off x="655319" y="1690688"/>
            <a:ext cx="9192217" cy="4589033"/>
            <a:chOff x="655319" y="1690688"/>
            <a:chExt cx="9192217" cy="4589033"/>
          </a:xfrm>
        </p:grpSpPr>
        <p:pic>
          <p:nvPicPr>
            <p:cNvPr id="4" name="Picture 4" descr="2"/>
            <p:cNvPicPr>
              <a:picLocks noChangeAspect="1" noChangeArrowheads="1"/>
            </p:cNvPicPr>
            <p:nvPr/>
          </p:nvPicPr>
          <p:blipFill>
            <a:blip r:embed="rId3" cstate="print"/>
            <a:srcRect/>
            <a:stretch>
              <a:fillRect/>
            </a:stretch>
          </p:blipFill>
          <p:spPr bwMode="auto">
            <a:xfrm>
              <a:off x="655319" y="1690688"/>
              <a:ext cx="9192217" cy="4589033"/>
            </a:xfrm>
            <a:prstGeom prst="rect">
              <a:avLst/>
            </a:prstGeom>
            <a:noFill/>
            <a:ln w="9525">
              <a:noFill/>
              <a:miter lim="800000"/>
              <a:headEnd/>
              <a:tailEnd/>
            </a:ln>
          </p:spPr>
        </p:pic>
        <p:grpSp>
          <p:nvGrpSpPr>
            <p:cNvPr id="17" name="Group 16"/>
            <p:cNvGrpSpPr/>
            <p:nvPr/>
          </p:nvGrpSpPr>
          <p:grpSpPr>
            <a:xfrm>
              <a:off x="1141442" y="2073855"/>
              <a:ext cx="3491518" cy="4029765"/>
              <a:chOff x="1141442" y="2073855"/>
              <a:chExt cx="3491518" cy="4029765"/>
            </a:xfrm>
          </p:grpSpPr>
          <p:grpSp>
            <p:nvGrpSpPr>
              <p:cNvPr id="7" name="Group 6"/>
              <p:cNvGrpSpPr/>
              <p:nvPr/>
            </p:nvGrpSpPr>
            <p:grpSpPr>
              <a:xfrm>
                <a:off x="1141442" y="2073855"/>
                <a:ext cx="1479665" cy="1163782"/>
                <a:chOff x="2155595" y="2073856"/>
                <a:chExt cx="1479665" cy="1163782"/>
              </a:xfrm>
            </p:grpSpPr>
            <p:sp>
              <p:nvSpPr>
                <p:cNvPr id="6" name="Rectangle 5"/>
                <p:cNvSpPr/>
                <p:nvPr/>
              </p:nvSpPr>
              <p:spPr>
                <a:xfrm>
                  <a:off x="2155595" y="2073856"/>
                  <a:ext cx="1479665" cy="1163782"/>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a:p>
              </p:txBody>
            </p:sp>
            <p:pic>
              <p:nvPicPr>
                <p:cNvPr id="5" name="Picture 4"/>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2376488" y="2073856"/>
                  <a:ext cx="1037877" cy="1120194"/>
                </a:xfrm>
                <a:prstGeom prst="rect">
                  <a:avLst/>
                </a:prstGeom>
              </p:spPr>
            </p:pic>
          </p:grpSp>
          <p:grpSp>
            <p:nvGrpSpPr>
              <p:cNvPr id="16" name="Group 15"/>
              <p:cNvGrpSpPr/>
              <p:nvPr/>
            </p:nvGrpSpPr>
            <p:grpSpPr>
              <a:xfrm>
                <a:off x="1881273" y="3237637"/>
                <a:ext cx="2751687" cy="2865983"/>
                <a:chOff x="1881273" y="3237637"/>
                <a:chExt cx="2751687" cy="2865983"/>
              </a:xfrm>
            </p:grpSpPr>
            <p:cxnSp>
              <p:nvCxnSpPr>
                <p:cNvPr id="9" name="Straight Connector 8"/>
                <p:cNvCxnSpPr>
                  <a:stCxn id="6" idx="2"/>
                </p:cNvCxnSpPr>
                <p:nvPr/>
              </p:nvCxnSpPr>
              <p:spPr>
                <a:xfrm flipH="1">
                  <a:off x="1881273" y="3237637"/>
                  <a:ext cx="2" cy="253708"/>
                </a:xfrm>
                <a:prstGeom prst="line">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cxnSp>
              <p:nvCxnSpPr>
                <p:cNvPr id="11" name="Straight Connector 10"/>
                <p:cNvCxnSpPr/>
                <p:nvPr/>
              </p:nvCxnSpPr>
              <p:spPr>
                <a:xfrm>
                  <a:off x="1881273" y="3491345"/>
                  <a:ext cx="2744067" cy="0"/>
                </a:xfrm>
                <a:prstGeom prst="line">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cxnSp>
              <p:nvCxnSpPr>
                <p:cNvPr id="15" name="Straight Arrow Connector 14"/>
                <p:cNvCxnSpPr/>
                <p:nvPr/>
              </p:nvCxnSpPr>
              <p:spPr>
                <a:xfrm>
                  <a:off x="4617720" y="3491345"/>
                  <a:ext cx="15240" cy="2612275"/>
                </a:xfrm>
                <a:prstGeom prst="straightConnector1">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grpSp>
        </p:grpSp>
      </p:grpSp>
      <p:sp>
        <p:nvSpPr>
          <p:cNvPr id="18" name="TextBox 17"/>
          <p:cNvSpPr txBox="1"/>
          <p:nvPr/>
        </p:nvSpPr>
        <p:spPr>
          <a:xfrm>
            <a:off x="7897091" y="2261062"/>
            <a:ext cx="3873731" cy="1938992"/>
          </a:xfrm>
          <a:prstGeom prst="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marL="285750" indent="-285750">
              <a:buFont typeface="Arial" charset="0"/>
              <a:buChar char="•"/>
            </a:pPr>
            <a:r>
              <a:rPr lang="en-US" sz="2000" dirty="0"/>
              <a:t>What if a program gets stuck in an infinite loop?</a:t>
            </a:r>
          </a:p>
          <a:p>
            <a:pPr marL="285750" indent="-285750">
              <a:buFont typeface="Arial" charset="0"/>
              <a:buChar char="•"/>
            </a:pPr>
            <a:r>
              <a:rPr lang="en-US" sz="2000" dirty="0"/>
              <a:t>What if it alters the data of another program?</a:t>
            </a:r>
          </a:p>
          <a:p>
            <a:pPr marL="285750" indent="-285750">
              <a:buFont typeface="Arial" charset="0"/>
              <a:buChar char="•"/>
            </a:pPr>
            <a:r>
              <a:rPr lang="en-US" sz="2000" dirty="0"/>
              <a:t>What if it modifies the operating system?</a:t>
            </a:r>
          </a:p>
        </p:txBody>
      </p:sp>
      <p:sp>
        <p:nvSpPr>
          <p:cNvPr id="3" name="Date Placeholder 2"/>
          <p:cNvSpPr>
            <a:spLocks noGrp="1"/>
          </p:cNvSpPr>
          <p:nvPr>
            <p:ph type="dt" sz="half" idx="10"/>
          </p:nvPr>
        </p:nvSpPr>
        <p:spPr/>
        <p:txBody>
          <a:bodyPr/>
          <a:lstStyle/>
          <a:p>
            <a:r>
              <a:rPr lang="sv-SE"/>
              <a:t>Vincenzo Gulisano</a:t>
            </a:r>
            <a:endParaRPr lang="en-US"/>
          </a:p>
        </p:txBody>
      </p:sp>
      <p:sp>
        <p:nvSpPr>
          <p:cNvPr id="8" name="Footer Placeholder 7"/>
          <p:cNvSpPr>
            <a:spLocks noGrp="1"/>
          </p:cNvSpPr>
          <p:nvPr>
            <p:ph type="ftr" sz="quarter" idx="11"/>
          </p:nvPr>
        </p:nvSpPr>
        <p:spPr/>
        <p:txBody>
          <a:bodyPr/>
          <a:lstStyle/>
          <a:p>
            <a:r>
              <a:rPr lang="en-US"/>
              <a:t>Operating Systems - Introduction to Operating Systems</a:t>
            </a:r>
          </a:p>
        </p:txBody>
      </p:sp>
      <p:sp>
        <p:nvSpPr>
          <p:cNvPr id="10" name="Slide Number Placeholder 9"/>
          <p:cNvSpPr>
            <a:spLocks noGrp="1"/>
          </p:cNvSpPr>
          <p:nvPr>
            <p:ph type="sldNum" sz="quarter" idx="12"/>
          </p:nvPr>
        </p:nvSpPr>
        <p:spPr/>
        <p:txBody>
          <a:bodyPr/>
          <a:lstStyle/>
          <a:p>
            <a:fld id="{F08E1FC2-92BA-6B49-AE60-B1AE3118BF2A}" type="slidenum">
              <a:rPr lang="en-US" smtClean="0"/>
              <a:t>14</a:t>
            </a:fld>
            <a:endParaRPr lang="en-US"/>
          </a:p>
        </p:txBody>
      </p:sp>
    </p:spTree>
    <p:extLst>
      <p:ext uri="{BB962C8B-B14F-4D97-AF65-F5344CB8AC3E}">
        <p14:creationId xmlns:p14="http://schemas.microsoft.com/office/powerpoint/2010/main" val="405726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Dual-mode and Multimode Operations (I)</a:t>
            </a:r>
          </a:p>
        </p:txBody>
      </p:sp>
      <p:sp>
        <p:nvSpPr>
          <p:cNvPr id="3" name="Content Placeholder 2"/>
          <p:cNvSpPr>
            <a:spLocks noGrp="1"/>
          </p:cNvSpPr>
          <p:nvPr>
            <p:ph idx="1"/>
          </p:nvPr>
        </p:nvSpPr>
        <p:spPr>
          <a:xfrm>
            <a:off x="838200" y="3973483"/>
            <a:ext cx="10515600" cy="2203479"/>
          </a:xfrm>
        </p:spPr>
        <p:txBody>
          <a:bodyPr>
            <a:normAutofit fontScale="85000" lnSpcReduction="20000"/>
          </a:bodyPr>
          <a:lstStyle/>
          <a:p>
            <a:r>
              <a:rPr lang="en-US" dirty="0"/>
              <a:t>Two different modes: User mode / Kernel mode</a:t>
            </a:r>
          </a:p>
          <a:p>
            <a:r>
              <a:rPr lang="en-US" dirty="0"/>
              <a:t>A mode bit (hardware) differentiates between the two</a:t>
            </a:r>
          </a:p>
          <a:p>
            <a:r>
              <a:rPr lang="en-US" dirty="0"/>
              <a:t>Is it a privileged instruction what should be run next?</a:t>
            </a:r>
          </a:p>
          <a:p>
            <a:pPr lvl="1"/>
            <a:r>
              <a:rPr lang="en-US" dirty="0"/>
              <a:t>Can only execute in kernel mode (mode bit = 0)</a:t>
            </a:r>
          </a:p>
          <a:p>
            <a:r>
              <a:rPr lang="en-US" dirty="0"/>
              <a:t>Running a user program?</a:t>
            </a:r>
          </a:p>
          <a:p>
            <a:pPr lvl="1"/>
            <a:r>
              <a:rPr lang="en-US" dirty="0"/>
              <a:t>First switch the mode bit to 1… then run the code</a:t>
            </a:r>
          </a:p>
        </p:txBody>
      </p:sp>
      <p:pic>
        <p:nvPicPr>
          <p:cNvPr id="4" name="Picture 5"/>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294731" y="1385281"/>
            <a:ext cx="7602538" cy="2346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15</a:t>
            </a:fld>
            <a:endParaRPr lang="en-US"/>
          </a:p>
        </p:txBody>
      </p:sp>
    </p:spTree>
    <p:extLst>
      <p:ext uri="{BB962C8B-B14F-4D97-AF65-F5344CB8AC3E}">
        <p14:creationId xmlns:p14="http://schemas.microsoft.com/office/powerpoint/2010/main" val="969321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Dual-mode and Multimode Operations (II)</a:t>
            </a:r>
          </a:p>
        </p:txBody>
      </p:sp>
      <p:sp>
        <p:nvSpPr>
          <p:cNvPr id="3" name="Content Placeholder 2"/>
          <p:cNvSpPr>
            <a:spLocks noGrp="1"/>
          </p:cNvSpPr>
          <p:nvPr>
            <p:ph idx="1"/>
          </p:nvPr>
        </p:nvSpPr>
        <p:spPr>
          <a:xfrm>
            <a:off x="838200" y="3973483"/>
            <a:ext cx="10515600" cy="2203479"/>
          </a:xfrm>
        </p:spPr>
        <p:txBody>
          <a:bodyPr>
            <a:normAutofit fontScale="77500" lnSpcReduction="20000"/>
          </a:bodyPr>
          <a:lstStyle/>
          <a:p>
            <a:r>
              <a:rPr lang="en-US" dirty="0"/>
              <a:t>More than 2 modes can exist</a:t>
            </a:r>
          </a:p>
          <a:p>
            <a:pPr lvl="1"/>
            <a:r>
              <a:rPr lang="en-US" dirty="0"/>
              <a:t>Example: to allow a Virtual Machine Manager (VMM) to execute more instructions than a user program</a:t>
            </a:r>
          </a:p>
          <a:p>
            <a:pPr lvl="1"/>
            <a:r>
              <a:rPr lang="en-US" dirty="0"/>
              <a:t>Example: Intel 64 CPUs allow for 4 privilege levels</a:t>
            </a:r>
          </a:p>
          <a:p>
            <a:r>
              <a:rPr lang="en-US" dirty="0"/>
              <a:t>If a user program tries to execute a privileged instruction</a:t>
            </a:r>
          </a:p>
          <a:p>
            <a:pPr lvl="1"/>
            <a:r>
              <a:rPr lang="en-US" dirty="0"/>
              <a:t>The hardware sends an interrupt to the OS (technically, a synchronous exception/trap that eventually leads to the OS)</a:t>
            </a:r>
          </a:p>
          <a:p>
            <a:pPr lvl="1"/>
            <a:r>
              <a:rPr lang="en-US" dirty="0"/>
              <a:t>The OS terminates the program (or does something else depending on the case)</a:t>
            </a:r>
          </a:p>
        </p:txBody>
      </p:sp>
      <p:pic>
        <p:nvPicPr>
          <p:cNvPr id="4" name="Picture 5"/>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2294731" y="1385281"/>
            <a:ext cx="7602538" cy="2346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16</a:t>
            </a:fld>
            <a:endParaRPr lang="en-US"/>
          </a:p>
        </p:txBody>
      </p:sp>
    </p:spTree>
    <p:extLst>
      <p:ext uri="{BB962C8B-B14F-4D97-AF65-F5344CB8AC3E}">
        <p14:creationId xmlns:p14="http://schemas.microsoft.com/office/powerpoint/2010/main" val="1926186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special interrupt mechanism: the timer</a:t>
            </a:r>
          </a:p>
        </p:txBody>
      </p:sp>
      <p:sp>
        <p:nvSpPr>
          <p:cNvPr id="3" name="Content Placeholder 2"/>
          <p:cNvSpPr>
            <a:spLocks noGrp="1"/>
          </p:cNvSpPr>
          <p:nvPr>
            <p:ph idx="1"/>
          </p:nvPr>
        </p:nvSpPr>
        <p:spPr/>
        <p:txBody>
          <a:bodyPr/>
          <a:lstStyle/>
          <a:p>
            <a:r>
              <a:rPr lang="en-US" dirty="0"/>
              <a:t>When the OS decides to run a user program, how can it be sure the latter will generate an interrupt (in a reasonable amount of time)?</a:t>
            </a:r>
          </a:p>
        </p:txBody>
      </p:sp>
      <p:grpSp>
        <p:nvGrpSpPr>
          <p:cNvPr id="18" name="Group 17"/>
          <p:cNvGrpSpPr/>
          <p:nvPr/>
        </p:nvGrpSpPr>
        <p:grpSpPr>
          <a:xfrm>
            <a:off x="638694" y="2940102"/>
            <a:ext cx="6483704" cy="3236861"/>
            <a:chOff x="655319" y="1690688"/>
            <a:chExt cx="9192217" cy="4589033"/>
          </a:xfrm>
        </p:grpSpPr>
        <p:pic>
          <p:nvPicPr>
            <p:cNvPr id="4" name="Picture 4" descr="2"/>
            <p:cNvPicPr>
              <a:picLocks noChangeAspect="1" noChangeArrowheads="1"/>
            </p:cNvPicPr>
            <p:nvPr/>
          </p:nvPicPr>
          <p:blipFill>
            <a:blip r:embed="rId2" cstate="print"/>
            <a:srcRect/>
            <a:stretch>
              <a:fillRect/>
            </a:stretch>
          </p:blipFill>
          <p:spPr bwMode="auto">
            <a:xfrm>
              <a:off x="655319" y="1690688"/>
              <a:ext cx="9192217" cy="4589033"/>
            </a:xfrm>
            <a:prstGeom prst="rect">
              <a:avLst/>
            </a:prstGeom>
            <a:noFill/>
            <a:ln w="9525">
              <a:noFill/>
              <a:miter lim="800000"/>
              <a:headEnd/>
              <a:tailEnd/>
            </a:ln>
          </p:spPr>
        </p:pic>
        <p:grpSp>
          <p:nvGrpSpPr>
            <p:cNvPr id="5" name="Group 4"/>
            <p:cNvGrpSpPr/>
            <p:nvPr/>
          </p:nvGrpSpPr>
          <p:grpSpPr>
            <a:xfrm>
              <a:off x="1141442" y="2073855"/>
              <a:ext cx="3491518" cy="4029765"/>
              <a:chOff x="1141442" y="2073855"/>
              <a:chExt cx="3491518" cy="4029765"/>
            </a:xfrm>
          </p:grpSpPr>
          <p:grpSp>
            <p:nvGrpSpPr>
              <p:cNvPr id="6" name="Group 5"/>
              <p:cNvGrpSpPr/>
              <p:nvPr/>
            </p:nvGrpSpPr>
            <p:grpSpPr>
              <a:xfrm>
                <a:off x="1141442" y="2073855"/>
                <a:ext cx="1479665" cy="1163782"/>
                <a:chOff x="2155595" y="2073856"/>
                <a:chExt cx="1479665" cy="1163782"/>
              </a:xfrm>
            </p:grpSpPr>
            <p:sp>
              <p:nvSpPr>
                <p:cNvPr id="11" name="Rectangle 10"/>
                <p:cNvSpPr/>
                <p:nvPr/>
              </p:nvSpPr>
              <p:spPr>
                <a:xfrm>
                  <a:off x="2155595" y="2073856"/>
                  <a:ext cx="1479665" cy="1163782"/>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a:p>
              </p:txBody>
            </p:sp>
            <p:pic>
              <p:nvPicPr>
                <p:cNvPr id="12" name="Picture 11"/>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2376488" y="2073856"/>
                  <a:ext cx="1037877" cy="1120194"/>
                </a:xfrm>
                <a:prstGeom prst="rect">
                  <a:avLst/>
                </a:prstGeom>
              </p:spPr>
            </p:pic>
          </p:grpSp>
          <p:grpSp>
            <p:nvGrpSpPr>
              <p:cNvPr id="7" name="Group 6"/>
              <p:cNvGrpSpPr/>
              <p:nvPr/>
            </p:nvGrpSpPr>
            <p:grpSpPr>
              <a:xfrm>
                <a:off x="1881273" y="3237637"/>
                <a:ext cx="2751687" cy="2865983"/>
                <a:chOff x="1881273" y="3237637"/>
                <a:chExt cx="2751687" cy="2865983"/>
              </a:xfrm>
            </p:grpSpPr>
            <p:cxnSp>
              <p:nvCxnSpPr>
                <p:cNvPr id="8" name="Straight Connector 7"/>
                <p:cNvCxnSpPr>
                  <a:stCxn id="8" idx="2"/>
                </p:cNvCxnSpPr>
                <p:nvPr/>
              </p:nvCxnSpPr>
              <p:spPr>
                <a:xfrm flipH="1">
                  <a:off x="1881273" y="3237637"/>
                  <a:ext cx="2" cy="253708"/>
                </a:xfrm>
                <a:prstGeom prst="line">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cxnSp>
              <p:nvCxnSpPr>
                <p:cNvPr id="9" name="Straight Connector 8"/>
                <p:cNvCxnSpPr/>
                <p:nvPr/>
              </p:nvCxnSpPr>
              <p:spPr>
                <a:xfrm>
                  <a:off x="1881273" y="3491345"/>
                  <a:ext cx="2744067" cy="0"/>
                </a:xfrm>
                <a:prstGeom prst="line">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cxnSp>
              <p:nvCxnSpPr>
                <p:cNvPr id="10" name="Straight Arrow Connector 9"/>
                <p:cNvCxnSpPr/>
                <p:nvPr/>
              </p:nvCxnSpPr>
              <p:spPr>
                <a:xfrm>
                  <a:off x="4617720" y="3491345"/>
                  <a:ext cx="15240" cy="2612275"/>
                </a:xfrm>
                <a:prstGeom prst="straightConnector1">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grpSp>
        </p:grpSp>
      </p:grpSp>
      <p:sp>
        <p:nvSpPr>
          <p:cNvPr id="19" name="Content Placeholder 2"/>
          <p:cNvSpPr txBox="1">
            <a:spLocks/>
          </p:cNvSpPr>
          <p:nvPr/>
        </p:nvSpPr>
        <p:spPr>
          <a:xfrm>
            <a:off x="7321904" y="2940102"/>
            <a:ext cx="4184296" cy="32368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dirty="0"/>
              <a:t>It can’t…</a:t>
            </a:r>
          </a:p>
          <a:p>
            <a:r>
              <a:rPr lang="en-US" dirty="0"/>
              <a:t>A timer can be used to periodically raise an interrupt to the OS</a:t>
            </a:r>
          </a:p>
          <a:p>
            <a:r>
              <a:rPr lang="en-US" dirty="0"/>
              <a:t>The OS can then take control</a:t>
            </a:r>
          </a:p>
        </p:txBody>
      </p:sp>
      <p:sp>
        <p:nvSpPr>
          <p:cNvPr id="20" name="Date Placeholder 19"/>
          <p:cNvSpPr>
            <a:spLocks noGrp="1"/>
          </p:cNvSpPr>
          <p:nvPr>
            <p:ph type="dt" sz="half" idx="10"/>
          </p:nvPr>
        </p:nvSpPr>
        <p:spPr/>
        <p:txBody>
          <a:bodyPr/>
          <a:lstStyle/>
          <a:p>
            <a:r>
              <a:rPr lang="sv-SE"/>
              <a:t>Vincenzo Gulisano</a:t>
            </a:r>
            <a:endParaRPr lang="en-US"/>
          </a:p>
        </p:txBody>
      </p:sp>
      <p:sp>
        <p:nvSpPr>
          <p:cNvPr id="21" name="Footer Placeholder 20"/>
          <p:cNvSpPr>
            <a:spLocks noGrp="1"/>
          </p:cNvSpPr>
          <p:nvPr>
            <p:ph type="ftr" sz="quarter" idx="11"/>
          </p:nvPr>
        </p:nvSpPr>
        <p:spPr/>
        <p:txBody>
          <a:bodyPr/>
          <a:lstStyle/>
          <a:p>
            <a:r>
              <a:rPr lang="en-US"/>
              <a:t>Operating Systems - Introduction to Operating Systems</a:t>
            </a:r>
          </a:p>
        </p:txBody>
      </p:sp>
      <p:sp>
        <p:nvSpPr>
          <p:cNvPr id="22" name="Slide Number Placeholder 21"/>
          <p:cNvSpPr>
            <a:spLocks noGrp="1"/>
          </p:cNvSpPr>
          <p:nvPr>
            <p:ph type="sldNum" sz="quarter" idx="12"/>
          </p:nvPr>
        </p:nvSpPr>
        <p:spPr/>
        <p:txBody>
          <a:bodyPr/>
          <a:lstStyle/>
          <a:p>
            <a:fld id="{F08E1FC2-92BA-6B49-AE60-B1AE3118BF2A}" type="slidenum">
              <a:rPr lang="en-US" smtClean="0"/>
              <a:t>17</a:t>
            </a:fld>
            <a:endParaRPr lang="en-US"/>
          </a:p>
        </p:txBody>
      </p:sp>
    </p:spTree>
    <p:extLst>
      <p:ext uri="{BB962C8B-B14F-4D97-AF65-F5344CB8AC3E}">
        <p14:creationId xmlns:p14="http://schemas.microsoft.com/office/powerpoint/2010/main" val="1109161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B60FA-2C2D-A9D2-A59B-3D7FE41439C0}"/>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80558F6A-2505-44DC-2534-8BF43C9765D7}"/>
              </a:ext>
            </a:extLst>
          </p:cNvPr>
          <p:cNvSpPr>
            <a:spLocks noGrp="1"/>
          </p:cNvSpPr>
          <p:nvPr>
            <p:ph idx="1"/>
          </p:nvPr>
        </p:nvSpPr>
        <p:spPr>
          <a:xfrm>
            <a:off x="407824" y="1460978"/>
            <a:ext cx="11263993" cy="4351338"/>
          </a:xfrm>
        </p:spPr>
        <p:txBody>
          <a:bodyPr/>
          <a:lstStyle/>
          <a:p>
            <a:r>
              <a:rPr lang="en-US" dirty="0"/>
              <a:t>Can a user process change the mode bit to 0?</a:t>
            </a:r>
          </a:p>
          <a:p>
            <a:r>
              <a:rPr lang="en-US" dirty="0"/>
              <a:t>What happens if it tries?</a:t>
            </a:r>
          </a:p>
          <a:p>
            <a:r>
              <a:rPr lang="en-US" dirty="0"/>
              <a:t>But how does the CPU know if the code belongs to the user or the kernel?</a:t>
            </a:r>
          </a:p>
        </p:txBody>
      </p:sp>
      <p:sp>
        <p:nvSpPr>
          <p:cNvPr id="4" name="Date Placeholder 3">
            <a:extLst>
              <a:ext uri="{FF2B5EF4-FFF2-40B4-BE49-F238E27FC236}">
                <a16:creationId xmlns:a16="http://schemas.microsoft.com/office/drawing/2014/main" id="{BD6E69B5-8212-BEE8-CD01-D2A386543FAD}"/>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9515EBF7-3A7A-51F3-15A6-A5B145989F5A}"/>
              </a:ext>
            </a:extLst>
          </p:cNvPr>
          <p:cNvSpPr>
            <a:spLocks noGrp="1"/>
          </p:cNvSpPr>
          <p:nvPr>
            <p:ph type="ftr" sz="quarter" idx="11"/>
          </p:nvPr>
        </p:nvSpPr>
        <p:spPr/>
        <p:txBody>
          <a:bodyPr/>
          <a:lstStyle/>
          <a:p>
            <a:r>
              <a:rPr lang="en-US" dirty="0"/>
              <a:t>Operating Systems - Introduction to Operating Systems</a:t>
            </a:r>
          </a:p>
        </p:txBody>
      </p:sp>
      <p:sp>
        <p:nvSpPr>
          <p:cNvPr id="6" name="Slide Number Placeholder 5">
            <a:extLst>
              <a:ext uri="{FF2B5EF4-FFF2-40B4-BE49-F238E27FC236}">
                <a16:creationId xmlns:a16="http://schemas.microsoft.com/office/drawing/2014/main" id="{0887F870-F193-5278-9ED2-8EDA83139E39}"/>
              </a:ext>
            </a:extLst>
          </p:cNvPr>
          <p:cNvSpPr>
            <a:spLocks noGrp="1"/>
          </p:cNvSpPr>
          <p:nvPr>
            <p:ph type="sldNum" sz="quarter" idx="12"/>
          </p:nvPr>
        </p:nvSpPr>
        <p:spPr/>
        <p:txBody>
          <a:bodyPr/>
          <a:lstStyle/>
          <a:p>
            <a:fld id="{F08E1FC2-92BA-6B49-AE60-B1AE3118BF2A}" type="slidenum">
              <a:rPr lang="en-US" smtClean="0"/>
              <a:t>18</a:t>
            </a:fld>
            <a:endParaRPr lang="en-US"/>
          </a:p>
        </p:txBody>
      </p:sp>
      <p:cxnSp>
        <p:nvCxnSpPr>
          <p:cNvPr id="8" name="Straight Arrow Connector 7">
            <a:extLst>
              <a:ext uri="{FF2B5EF4-FFF2-40B4-BE49-F238E27FC236}">
                <a16:creationId xmlns:a16="http://schemas.microsoft.com/office/drawing/2014/main" id="{768D672E-A9BB-DF29-CC74-11BDDAA05D8A}"/>
              </a:ext>
            </a:extLst>
          </p:cNvPr>
          <p:cNvCxnSpPr/>
          <p:nvPr/>
        </p:nvCxnSpPr>
        <p:spPr>
          <a:xfrm>
            <a:off x="612321" y="5143501"/>
            <a:ext cx="104666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013DD78-D8FA-17B1-0922-607AB976D838}"/>
              </a:ext>
            </a:extLst>
          </p:cNvPr>
          <p:cNvSpPr txBox="1"/>
          <p:nvPr/>
        </p:nvSpPr>
        <p:spPr>
          <a:xfrm>
            <a:off x="10817679" y="5180683"/>
            <a:ext cx="649537" cy="369332"/>
          </a:xfrm>
          <a:prstGeom prst="rect">
            <a:avLst/>
          </a:prstGeom>
          <a:noFill/>
        </p:spPr>
        <p:txBody>
          <a:bodyPr wrap="none" rtlCol="0">
            <a:spAutoFit/>
          </a:bodyPr>
          <a:lstStyle/>
          <a:p>
            <a:r>
              <a:rPr lang="en-US" dirty="0"/>
              <a:t>Time</a:t>
            </a:r>
          </a:p>
        </p:txBody>
      </p:sp>
      <p:cxnSp>
        <p:nvCxnSpPr>
          <p:cNvPr id="11" name="Straight Connector 10">
            <a:extLst>
              <a:ext uri="{FF2B5EF4-FFF2-40B4-BE49-F238E27FC236}">
                <a16:creationId xmlns:a16="http://schemas.microsoft.com/office/drawing/2014/main" id="{5BD0D56B-955B-892C-123F-D20C0A8C35B5}"/>
              </a:ext>
            </a:extLst>
          </p:cNvPr>
          <p:cNvCxnSpPr/>
          <p:nvPr/>
        </p:nvCxnSpPr>
        <p:spPr>
          <a:xfrm>
            <a:off x="612321" y="4865915"/>
            <a:ext cx="0" cy="555172"/>
          </a:xfrm>
          <a:prstGeom prst="line">
            <a:avLst/>
          </a:prstGeom>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EDC5BF1-7792-B0F8-8540-34D7207C1A2F}"/>
              </a:ext>
            </a:extLst>
          </p:cNvPr>
          <p:cNvSpPr txBox="1"/>
          <p:nvPr/>
        </p:nvSpPr>
        <p:spPr>
          <a:xfrm>
            <a:off x="89807" y="4062731"/>
            <a:ext cx="2219903" cy="369332"/>
          </a:xfrm>
          <a:prstGeom prst="rect">
            <a:avLst/>
          </a:prstGeom>
          <a:noFill/>
        </p:spPr>
        <p:txBody>
          <a:bodyPr wrap="none" rtlCol="0">
            <a:spAutoFit/>
          </a:bodyPr>
          <a:lstStyle/>
          <a:p>
            <a:r>
              <a:rPr lang="en-US" dirty="0"/>
              <a:t>Turn on the hardware</a:t>
            </a:r>
          </a:p>
        </p:txBody>
      </p:sp>
      <p:cxnSp>
        <p:nvCxnSpPr>
          <p:cNvPr id="14" name="Straight Arrow Connector 13">
            <a:extLst>
              <a:ext uri="{FF2B5EF4-FFF2-40B4-BE49-F238E27FC236}">
                <a16:creationId xmlns:a16="http://schemas.microsoft.com/office/drawing/2014/main" id="{8717BA5D-5E4E-B9E8-9AA6-66783E83A5A3}"/>
              </a:ext>
            </a:extLst>
          </p:cNvPr>
          <p:cNvCxnSpPr>
            <a:cxnSpLocks/>
            <a:stCxn id="12" idx="2"/>
          </p:cNvCxnSpPr>
          <p:nvPr/>
        </p:nvCxnSpPr>
        <p:spPr>
          <a:xfrm flipH="1">
            <a:off x="612320" y="4432063"/>
            <a:ext cx="587439" cy="3558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8AFDE09-327F-6B0F-FDE1-F81F93C7246D}"/>
              </a:ext>
            </a:extLst>
          </p:cNvPr>
          <p:cNvCxnSpPr/>
          <p:nvPr/>
        </p:nvCxnSpPr>
        <p:spPr>
          <a:xfrm>
            <a:off x="1940379" y="4865915"/>
            <a:ext cx="0" cy="555172"/>
          </a:xfrm>
          <a:prstGeom prst="line">
            <a:avLst/>
          </a:prstGeom>
        </p:spPr>
        <p:style>
          <a:lnRef idx="1">
            <a:schemeClr val="accent1"/>
          </a:lnRef>
          <a:fillRef idx="0">
            <a:schemeClr val="accent1"/>
          </a:fillRef>
          <a:effectRef idx="0">
            <a:schemeClr val="accent1"/>
          </a:effectRef>
          <a:fontRef idx="minor">
            <a:schemeClr val="tx1"/>
          </a:fontRef>
        </p:style>
      </p:cxnSp>
      <p:sp>
        <p:nvSpPr>
          <p:cNvPr id="16" name="Left Brace 15">
            <a:extLst>
              <a:ext uri="{FF2B5EF4-FFF2-40B4-BE49-F238E27FC236}">
                <a16:creationId xmlns:a16="http://schemas.microsoft.com/office/drawing/2014/main" id="{D16BF9F1-D6B7-E32B-9144-3BE5FC155A32}"/>
              </a:ext>
            </a:extLst>
          </p:cNvPr>
          <p:cNvSpPr/>
          <p:nvPr/>
        </p:nvSpPr>
        <p:spPr>
          <a:xfrm rot="16200000">
            <a:off x="1162806" y="4930254"/>
            <a:ext cx="227077" cy="1328050"/>
          </a:xfrm>
          <a:prstGeom prst="leftBrace">
            <a:avLst>
              <a:gd name="adj1" fmla="val 8333"/>
              <a:gd name="adj2" fmla="val 94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7" name="TextBox 16">
            <a:extLst>
              <a:ext uri="{FF2B5EF4-FFF2-40B4-BE49-F238E27FC236}">
                <a16:creationId xmlns:a16="http://schemas.microsoft.com/office/drawing/2014/main" id="{FDF23F3A-917F-FE0F-1242-0FF9B45D8EE7}"/>
              </a:ext>
            </a:extLst>
          </p:cNvPr>
          <p:cNvSpPr txBox="1"/>
          <p:nvPr/>
        </p:nvSpPr>
        <p:spPr>
          <a:xfrm>
            <a:off x="520183" y="5646848"/>
            <a:ext cx="5454305" cy="646331"/>
          </a:xfrm>
          <a:prstGeom prst="rect">
            <a:avLst/>
          </a:prstGeom>
          <a:noFill/>
        </p:spPr>
        <p:txBody>
          <a:bodyPr wrap="square" rtlCol="0">
            <a:spAutoFit/>
          </a:bodyPr>
          <a:lstStyle/>
          <a:p>
            <a:r>
              <a:rPr lang="en-US" dirty="0"/>
              <a:t>Firmware/bootloader perform predefined steps to load code into memory (code = the OS)</a:t>
            </a:r>
          </a:p>
        </p:txBody>
      </p:sp>
      <p:cxnSp>
        <p:nvCxnSpPr>
          <p:cNvPr id="18" name="Straight Connector 17">
            <a:extLst>
              <a:ext uri="{FF2B5EF4-FFF2-40B4-BE49-F238E27FC236}">
                <a16:creationId xmlns:a16="http://schemas.microsoft.com/office/drawing/2014/main" id="{B10A47F5-5CF9-4B2B-F8ED-368F76C086AE}"/>
              </a:ext>
            </a:extLst>
          </p:cNvPr>
          <p:cNvCxnSpPr/>
          <p:nvPr/>
        </p:nvCxnSpPr>
        <p:spPr>
          <a:xfrm>
            <a:off x="3031672" y="4865915"/>
            <a:ext cx="0" cy="555172"/>
          </a:xfrm>
          <a:prstGeom prst="line">
            <a:avLst/>
          </a:prstGeom>
        </p:spPr>
        <p:style>
          <a:lnRef idx="1">
            <a:schemeClr val="accent1"/>
          </a:lnRef>
          <a:fillRef idx="0">
            <a:schemeClr val="accent1"/>
          </a:fillRef>
          <a:effectRef idx="0">
            <a:schemeClr val="accent1"/>
          </a:effectRef>
          <a:fontRef idx="minor">
            <a:schemeClr val="tx1"/>
          </a:fontRef>
        </p:style>
      </p:cxnSp>
      <p:sp>
        <p:nvSpPr>
          <p:cNvPr id="19" name="Left Brace 18">
            <a:extLst>
              <a:ext uri="{FF2B5EF4-FFF2-40B4-BE49-F238E27FC236}">
                <a16:creationId xmlns:a16="http://schemas.microsoft.com/office/drawing/2014/main" id="{47627BF3-4028-285E-F699-1EA5E88941AD}"/>
              </a:ext>
            </a:extLst>
          </p:cNvPr>
          <p:cNvSpPr/>
          <p:nvPr/>
        </p:nvSpPr>
        <p:spPr>
          <a:xfrm rot="16200000" flipH="1">
            <a:off x="2347229" y="4144877"/>
            <a:ext cx="277584" cy="1091302"/>
          </a:xfrm>
          <a:prstGeom prst="leftBrace">
            <a:avLst>
              <a:gd name="adj1" fmla="val 8333"/>
              <a:gd name="adj2" fmla="val 76184"/>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702F1FA-6619-9590-DE58-C1C2756782AD}"/>
              </a:ext>
            </a:extLst>
          </p:cNvPr>
          <p:cNvSpPr txBox="1"/>
          <p:nvPr/>
        </p:nvSpPr>
        <p:spPr>
          <a:xfrm>
            <a:off x="2645185" y="3630769"/>
            <a:ext cx="4914944" cy="923330"/>
          </a:xfrm>
          <a:prstGeom prst="rect">
            <a:avLst/>
          </a:prstGeom>
          <a:noFill/>
        </p:spPr>
        <p:txBody>
          <a:bodyPr wrap="square" rtlCol="0">
            <a:spAutoFit/>
          </a:bodyPr>
          <a:lstStyle/>
          <a:p>
            <a:r>
              <a:rPr lang="en-US" dirty="0"/>
              <a:t>Hardware defines which instructions are privileged. For each class of exception, the OS specifies which OS code to run</a:t>
            </a:r>
          </a:p>
        </p:txBody>
      </p:sp>
      <p:sp>
        <p:nvSpPr>
          <p:cNvPr id="22" name="TextBox 21">
            <a:extLst>
              <a:ext uri="{FF2B5EF4-FFF2-40B4-BE49-F238E27FC236}">
                <a16:creationId xmlns:a16="http://schemas.microsoft.com/office/drawing/2014/main" id="{2958CD49-CB2E-CA5B-6A80-89EBC4B845D9}"/>
              </a:ext>
            </a:extLst>
          </p:cNvPr>
          <p:cNvSpPr txBox="1"/>
          <p:nvPr/>
        </p:nvSpPr>
        <p:spPr>
          <a:xfrm>
            <a:off x="7095720" y="5188081"/>
            <a:ext cx="2826608" cy="369332"/>
          </a:xfrm>
          <a:prstGeom prst="rect">
            <a:avLst/>
          </a:prstGeom>
          <a:noFill/>
        </p:spPr>
        <p:txBody>
          <a:bodyPr wrap="none" rtlCol="0">
            <a:spAutoFit/>
          </a:bodyPr>
          <a:lstStyle/>
          <a:p>
            <a:r>
              <a:rPr lang="en-US" dirty="0"/>
              <a:t>No user process exists so far</a:t>
            </a:r>
          </a:p>
        </p:txBody>
      </p:sp>
      <p:cxnSp>
        <p:nvCxnSpPr>
          <p:cNvPr id="23" name="Straight Arrow Connector 22">
            <a:extLst>
              <a:ext uri="{FF2B5EF4-FFF2-40B4-BE49-F238E27FC236}">
                <a16:creationId xmlns:a16="http://schemas.microsoft.com/office/drawing/2014/main" id="{DA450281-C816-9BC7-DD88-E85E4E244E2E}"/>
              </a:ext>
            </a:extLst>
          </p:cNvPr>
          <p:cNvCxnSpPr>
            <a:cxnSpLocks/>
            <a:stCxn id="22" idx="1"/>
          </p:cNvCxnSpPr>
          <p:nvPr/>
        </p:nvCxnSpPr>
        <p:spPr>
          <a:xfrm flipH="1" flipV="1">
            <a:off x="6466105" y="5240899"/>
            <a:ext cx="629615" cy="131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B3C28D4-E203-33B3-4D77-7A33B3B1D2D1}"/>
              </a:ext>
            </a:extLst>
          </p:cNvPr>
          <p:cNvCxnSpPr/>
          <p:nvPr/>
        </p:nvCxnSpPr>
        <p:spPr>
          <a:xfrm>
            <a:off x="6466115" y="4835062"/>
            <a:ext cx="0" cy="555172"/>
          </a:xfrm>
          <a:prstGeom prst="line">
            <a:avLst/>
          </a:prstGeom>
        </p:spPr>
        <p:style>
          <a:lnRef idx="1">
            <a:schemeClr val="accent1"/>
          </a:lnRef>
          <a:fillRef idx="0">
            <a:schemeClr val="accent1"/>
          </a:fillRef>
          <a:effectRef idx="0">
            <a:schemeClr val="accent1"/>
          </a:effectRef>
          <a:fontRef idx="minor">
            <a:schemeClr val="tx1"/>
          </a:fontRef>
        </p:style>
      </p:cxnSp>
      <p:sp>
        <p:nvSpPr>
          <p:cNvPr id="27" name="Left Brace 26">
            <a:extLst>
              <a:ext uri="{FF2B5EF4-FFF2-40B4-BE49-F238E27FC236}">
                <a16:creationId xmlns:a16="http://schemas.microsoft.com/office/drawing/2014/main" id="{CAB7B1CF-E811-8339-5360-FECC7BE66338}"/>
              </a:ext>
            </a:extLst>
          </p:cNvPr>
          <p:cNvSpPr/>
          <p:nvPr/>
        </p:nvSpPr>
        <p:spPr>
          <a:xfrm rot="16200000">
            <a:off x="4670642" y="3832170"/>
            <a:ext cx="156503" cy="3434443"/>
          </a:xfrm>
          <a:prstGeom prst="leftBrace">
            <a:avLst>
              <a:gd name="adj1" fmla="val 58512"/>
              <a:gd name="adj2" fmla="val 96117"/>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6080A570-CC05-9264-D996-7C87F665105C}"/>
              </a:ext>
            </a:extLst>
          </p:cNvPr>
          <p:cNvSpPr txBox="1"/>
          <p:nvPr/>
        </p:nvSpPr>
        <p:spPr>
          <a:xfrm>
            <a:off x="5845628" y="5627650"/>
            <a:ext cx="2393091" cy="369332"/>
          </a:xfrm>
          <a:prstGeom prst="rect">
            <a:avLst/>
          </a:prstGeom>
          <a:noFill/>
        </p:spPr>
        <p:txBody>
          <a:bodyPr wrap="none" rtlCol="0">
            <a:spAutoFit/>
          </a:bodyPr>
          <a:lstStyle/>
          <a:p>
            <a:r>
              <a:rPr lang="en-US" dirty="0"/>
              <a:t>Complete loading of OS</a:t>
            </a:r>
          </a:p>
        </p:txBody>
      </p:sp>
      <p:sp>
        <p:nvSpPr>
          <p:cNvPr id="32" name="TextBox 31">
            <a:extLst>
              <a:ext uri="{FF2B5EF4-FFF2-40B4-BE49-F238E27FC236}">
                <a16:creationId xmlns:a16="http://schemas.microsoft.com/office/drawing/2014/main" id="{83E0CC82-707C-CE23-6B36-BA1887C99660}"/>
              </a:ext>
            </a:extLst>
          </p:cNvPr>
          <p:cNvSpPr txBox="1"/>
          <p:nvPr/>
        </p:nvSpPr>
        <p:spPr>
          <a:xfrm>
            <a:off x="7095720" y="4012518"/>
            <a:ext cx="4975118" cy="1200329"/>
          </a:xfrm>
          <a:prstGeom prst="rect">
            <a:avLst/>
          </a:prstGeom>
          <a:noFill/>
        </p:spPr>
        <p:txBody>
          <a:bodyPr wrap="square" rtlCol="0">
            <a:spAutoFit/>
          </a:bodyPr>
          <a:lstStyle/>
          <a:p>
            <a:r>
              <a:rPr lang="en-US" dirty="0"/>
              <a:t>Mode bit set to 1 before starting any user process. Any privileged instruction will trap attempted by a user process (some non-privileged too, if they do something they are not supposed to do)</a:t>
            </a:r>
          </a:p>
        </p:txBody>
      </p:sp>
      <p:cxnSp>
        <p:nvCxnSpPr>
          <p:cNvPr id="33" name="Straight Arrow Connector 32">
            <a:extLst>
              <a:ext uri="{FF2B5EF4-FFF2-40B4-BE49-F238E27FC236}">
                <a16:creationId xmlns:a16="http://schemas.microsoft.com/office/drawing/2014/main" id="{7D8A3589-BA14-ECF1-0A74-906C50B94274}"/>
              </a:ext>
            </a:extLst>
          </p:cNvPr>
          <p:cNvCxnSpPr>
            <a:cxnSpLocks/>
          </p:cNvCxnSpPr>
          <p:nvPr/>
        </p:nvCxnSpPr>
        <p:spPr>
          <a:xfrm flipV="1">
            <a:off x="6466115" y="4652579"/>
            <a:ext cx="599300" cy="2798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4916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6"/>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3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P spid="16" grpId="0" animBg="1"/>
      <p:bldP spid="17" grpId="0"/>
      <p:bldP spid="19" grpId="0" animBg="1"/>
      <p:bldP spid="21" grpId="0"/>
      <p:bldP spid="22" grpId="0"/>
      <p:bldP spid="27" grpId="0" animBg="1"/>
      <p:bldP spid="28" grpId="0"/>
      <p:bldP spid="3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(interrupt-driven)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Operations</a:t>
            </a:r>
          </a:p>
          <a:p>
            <a:r>
              <a:rPr lang="en-US" dirty="0"/>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19</a:t>
            </a:fld>
            <a:endParaRPr lang="en-US"/>
          </a:p>
        </p:txBody>
      </p:sp>
    </p:spTree>
    <p:extLst>
      <p:ext uri="{BB962C8B-B14F-4D97-AF65-F5344CB8AC3E}">
        <p14:creationId xmlns:p14="http://schemas.microsoft.com/office/powerpoint/2010/main" val="14695975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the operating system provide?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20</a:t>
            </a:fld>
            <a:endParaRPr lang="en-US"/>
          </a:p>
        </p:txBody>
      </p:sp>
      <p:pic>
        <p:nvPicPr>
          <p:cNvPr id="7" name="Picture 4" descr="2"/>
          <p:cNvPicPr>
            <a:picLocks noChangeAspect="1" noChangeArrowheads="1"/>
          </p:cNvPicPr>
          <p:nvPr/>
        </p:nvPicPr>
        <p:blipFill>
          <a:blip r:embed="rId2" cstate="print"/>
          <a:srcRect/>
          <a:stretch>
            <a:fillRect/>
          </a:stretch>
        </p:blipFill>
        <p:spPr bwMode="auto">
          <a:xfrm>
            <a:off x="1423144" y="1500188"/>
            <a:ext cx="9345711" cy="4665662"/>
          </a:xfrm>
          <a:prstGeom prst="rect">
            <a:avLst/>
          </a:prstGeom>
          <a:noFill/>
          <a:ln w="9525">
            <a:noFill/>
            <a:miter lim="800000"/>
            <a:headEnd/>
            <a:tailEnd/>
          </a:ln>
        </p:spPr>
      </p:pic>
      <p:sp>
        <p:nvSpPr>
          <p:cNvPr id="8" name="Rectangle 7"/>
          <p:cNvSpPr/>
          <p:nvPr/>
        </p:nvSpPr>
        <p:spPr>
          <a:xfrm>
            <a:off x="4038600" y="1924050"/>
            <a:ext cx="4114800" cy="112395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8266583" y="2008971"/>
            <a:ext cx="3810000" cy="954107"/>
          </a:xfrm>
          <a:prstGeom prst="rect">
            <a:avLst/>
          </a:prstGeom>
          <a:solidFill>
            <a:schemeClr val="bg1"/>
          </a:solidFill>
          <a:ln>
            <a:solidFill>
              <a:srgbClr val="FF0000"/>
            </a:solidFill>
          </a:ln>
        </p:spPr>
        <p:txBody>
          <a:bodyPr wrap="square" rtlCol="0">
            <a:spAutoFit/>
          </a:bodyPr>
          <a:lstStyle/>
          <a:p>
            <a:r>
              <a:rPr lang="en-US" sz="2800" dirty="0">
                <a:solidFill>
                  <a:srgbClr val="FF0000"/>
                </a:solidFill>
              </a:rPr>
              <a:t>Allow the user to interact with the system</a:t>
            </a:r>
          </a:p>
        </p:txBody>
      </p:sp>
      <p:sp>
        <p:nvSpPr>
          <p:cNvPr id="10" name="Rectangle 9"/>
          <p:cNvSpPr/>
          <p:nvPr/>
        </p:nvSpPr>
        <p:spPr>
          <a:xfrm>
            <a:off x="4629150" y="3620686"/>
            <a:ext cx="1466850" cy="932264"/>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4852144" y="4648582"/>
            <a:ext cx="5130056" cy="954107"/>
          </a:xfrm>
          <a:prstGeom prst="rect">
            <a:avLst/>
          </a:prstGeom>
          <a:solidFill>
            <a:schemeClr val="bg1"/>
          </a:solidFill>
          <a:ln>
            <a:solidFill>
              <a:srgbClr val="FF0000"/>
            </a:solidFill>
          </a:ln>
        </p:spPr>
        <p:txBody>
          <a:bodyPr wrap="square" rtlCol="0">
            <a:spAutoFit/>
          </a:bodyPr>
          <a:lstStyle/>
          <a:p>
            <a:r>
              <a:rPr lang="en-US" sz="2800" dirty="0">
                <a:solidFill>
                  <a:srgbClr val="FF0000"/>
                </a:solidFill>
              </a:rPr>
              <a:t>Allow the user to access information (files </a:t>
            </a:r>
            <a:r>
              <a:rPr lang="en-US" sz="2800">
                <a:solidFill>
                  <a:srgbClr val="FF0000"/>
                </a:solidFill>
              </a:rPr>
              <a:t>and directories)</a:t>
            </a:r>
            <a:endParaRPr lang="en-US" sz="2800" dirty="0">
              <a:solidFill>
                <a:srgbClr val="FF0000"/>
              </a:solidFill>
            </a:endParaRPr>
          </a:p>
        </p:txBody>
      </p:sp>
    </p:spTree>
    <p:extLst>
      <p:ext uri="{BB962C8B-B14F-4D97-AF65-F5344CB8AC3E}">
        <p14:creationId xmlns:p14="http://schemas.microsoft.com/office/powerpoint/2010/main" val="1986115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the operating system provide?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21</a:t>
            </a:fld>
            <a:endParaRPr lang="en-US"/>
          </a:p>
        </p:txBody>
      </p:sp>
      <p:pic>
        <p:nvPicPr>
          <p:cNvPr id="7" name="Picture 4" descr="2"/>
          <p:cNvPicPr>
            <a:picLocks noChangeAspect="1" noChangeArrowheads="1"/>
          </p:cNvPicPr>
          <p:nvPr/>
        </p:nvPicPr>
        <p:blipFill>
          <a:blip r:embed="rId2" cstate="print"/>
          <a:srcRect/>
          <a:stretch>
            <a:fillRect/>
          </a:stretch>
        </p:blipFill>
        <p:spPr bwMode="auto">
          <a:xfrm>
            <a:off x="1423144" y="1500188"/>
            <a:ext cx="9345711" cy="4665662"/>
          </a:xfrm>
          <a:prstGeom prst="rect">
            <a:avLst/>
          </a:prstGeom>
          <a:noFill/>
          <a:ln w="9525">
            <a:noFill/>
            <a:miter lim="800000"/>
            <a:headEnd/>
            <a:tailEnd/>
          </a:ln>
        </p:spPr>
      </p:pic>
      <p:sp>
        <p:nvSpPr>
          <p:cNvPr id="8" name="Rectangle 7"/>
          <p:cNvSpPr/>
          <p:nvPr/>
        </p:nvSpPr>
        <p:spPr>
          <a:xfrm>
            <a:off x="1524000" y="3461544"/>
            <a:ext cx="6057900" cy="112395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2686050" y="4661694"/>
            <a:ext cx="8667749" cy="954107"/>
          </a:xfrm>
          <a:prstGeom prst="rect">
            <a:avLst/>
          </a:prstGeom>
          <a:solidFill>
            <a:schemeClr val="bg1"/>
          </a:solidFill>
          <a:ln>
            <a:solidFill>
              <a:srgbClr val="FF0000"/>
            </a:solidFill>
          </a:ln>
        </p:spPr>
        <p:txBody>
          <a:bodyPr wrap="square" rtlCol="0">
            <a:spAutoFit/>
          </a:bodyPr>
          <a:lstStyle/>
          <a:p>
            <a:r>
              <a:rPr lang="en-US" sz="2800" dirty="0">
                <a:solidFill>
                  <a:srgbClr val="FF0000"/>
                </a:solidFill>
              </a:rPr>
              <a:t>Allow programs to run, communicate with devices, access files and directories and communicate with one another</a:t>
            </a:r>
          </a:p>
        </p:txBody>
      </p:sp>
    </p:spTree>
    <p:extLst>
      <p:ext uri="{BB962C8B-B14F-4D97-AF65-F5344CB8AC3E}">
        <p14:creationId xmlns:p14="http://schemas.microsoft.com/office/powerpoint/2010/main" val="850783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the operating system provide?</a:t>
            </a:r>
          </a:p>
        </p:txBody>
      </p:sp>
      <p:sp>
        <p:nvSpPr>
          <p:cNvPr id="4" name="Date Placeholder 3"/>
          <p:cNvSpPr>
            <a:spLocks noGrp="1"/>
          </p:cNvSpPr>
          <p:nvPr>
            <p:ph type="dt" sz="half" idx="10"/>
          </p:nvPr>
        </p:nvSpPr>
        <p:spPr/>
        <p:txBody>
          <a:bodyPr/>
          <a:lstStyle/>
          <a:p>
            <a:r>
              <a:rPr lang="sv-SE" dirty="0"/>
              <a:t>Vincenzo Gulisano</a:t>
            </a:r>
            <a:endParaRPr lang="en-US" dirty="0"/>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22</a:t>
            </a:fld>
            <a:endParaRPr lang="en-US"/>
          </a:p>
        </p:txBody>
      </p:sp>
      <p:pic>
        <p:nvPicPr>
          <p:cNvPr id="7" name="Picture 4" descr="2"/>
          <p:cNvPicPr>
            <a:picLocks noChangeAspect="1" noChangeArrowheads="1"/>
          </p:cNvPicPr>
          <p:nvPr/>
        </p:nvPicPr>
        <p:blipFill>
          <a:blip r:embed="rId2" cstate="print"/>
          <a:srcRect/>
          <a:stretch>
            <a:fillRect/>
          </a:stretch>
        </p:blipFill>
        <p:spPr bwMode="auto">
          <a:xfrm>
            <a:off x="1423144" y="1500188"/>
            <a:ext cx="9345711" cy="4665662"/>
          </a:xfrm>
          <a:prstGeom prst="rect">
            <a:avLst/>
          </a:prstGeom>
          <a:noFill/>
          <a:ln w="9525">
            <a:noFill/>
            <a:miter lim="800000"/>
            <a:headEnd/>
            <a:tailEnd/>
          </a:ln>
        </p:spPr>
      </p:pic>
      <p:sp>
        <p:nvSpPr>
          <p:cNvPr id="8" name="Rectangle 7"/>
          <p:cNvSpPr/>
          <p:nvPr/>
        </p:nvSpPr>
        <p:spPr>
          <a:xfrm>
            <a:off x="2314574" y="4560888"/>
            <a:ext cx="1533526" cy="9255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4038600" y="4560888"/>
            <a:ext cx="8667749" cy="954107"/>
          </a:xfrm>
          <a:prstGeom prst="rect">
            <a:avLst/>
          </a:prstGeom>
          <a:solidFill>
            <a:schemeClr val="bg1"/>
          </a:solidFill>
          <a:ln>
            <a:solidFill>
              <a:srgbClr val="FF0000"/>
            </a:solidFill>
          </a:ln>
        </p:spPr>
        <p:txBody>
          <a:bodyPr wrap="square" rtlCol="0">
            <a:spAutoFit/>
          </a:bodyPr>
          <a:lstStyle/>
          <a:p>
            <a:r>
              <a:rPr lang="en-US" sz="2800" dirty="0">
                <a:solidFill>
                  <a:srgbClr val="FF0000"/>
                </a:solidFill>
              </a:rPr>
              <a:t>React when errors occur (e.g., a connection failure, attempt to access an illegal memory location)</a:t>
            </a:r>
          </a:p>
        </p:txBody>
      </p:sp>
    </p:spTree>
    <p:extLst>
      <p:ext uri="{BB962C8B-B14F-4D97-AF65-F5344CB8AC3E}">
        <p14:creationId xmlns:p14="http://schemas.microsoft.com/office/powerpoint/2010/main" val="1420075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the operating system provide?</a:t>
            </a:r>
          </a:p>
        </p:txBody>
      </p:sp>
      <p:sp>
        <p:nvSpPr>
          <p:cNvPr id="4" name="Date Placeholder 3"/>
          <p:cNvSpPr>
            <a:spLocks noGrp="1"/>
          </p:cNvSpPr>
          <p:nvPr>
            <p:ph type="dt" sz="half" idx="10"/>
          </p:nvPr>
        </p:nvSpPr>
        <p:spPr/>
        <p:txBody>
          <a:bodyPr/>
          <a:lstStyle/>
          <a:p>
            <a:r>
              <a:rPr lang="sv-SE" dirty="0"/>
              <a:t>Vincenzo Gulisano</a:t>
            </a:r>
            <a:endParaRPr lang="en-US" dirty="0"/>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23</a:t>
            </a:fld>
            <a:endParaRPr lang="en-US"/>
          </a:p>
        </p:txBody>
      </p:sp>
      <p:pic>
        <p:nvPicPr>
          <p:cNvPr id="7" name="Picture 4" descr="2"/>
          <p:cNvPicPr>
            <a:picLocks noChangeAspect="1" noChangeArrowheads="1"/>
          </p:cNvPicPr>
          <p:nvPr/>
        </p:nvPicPr>
        <p:blipFill>
          <a:blip r:embed="rId3" cstate="print"/>
          <a:srcRect/>
          <a:stretch>
            <a:fillRect/>
          </a:stretch>
        </p:blipFill>
        <p:spPr bwMode="auto">
          <a:xfrm>
            <a:off x="1423144" y="1500188"/>
            <a:ext cx="9345711" cy="4665662"/>
          </a:xfrm>
          <a:prstGeom prst="rect">
            <a:avLst/>
          </a:prstGeom>
          <a:noFill/>
          <a:ln w="9525">
            <a:noFill/>
            <a:miter lim="800000"/>
            <a:headEnd/>
            <a:tailEnd/>
          </a:ln>
        </p:spPr>
      </p:pic>
      <p:sp>
        <p:nvSpPr>
          <p:cNvPr id="8" name="Rectangle 7"/>
          <p:cNvSpPr/>
          <p:nvPr/>
        </p:nvSpPr>
        <p:spPr>
          <a:xfrm>
            <a:off x="7591424" y="3629808"/>
            <a:ext cx="2981326" cy="1868487"/>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1863524" y="4829940"/>
            <a:ext cx="6373884" cy="954107"/>
          </a:xfrm>
          <a:prstGeom prst="rect">
            <a:avLst/>
          </a:prstGeom>
          <a:solidFill>
            <a:schemeClr val="bg1"/>
          </a:solidFill>
          <a:ln>
            <a:solidFill>
              <a:srgbClr val="FF0000"/>
            </a:solidFill>
          </a:ln>
        </p:spPr>
        <p:txBody>
          <a:bodyPr wrap="square" rtlCol="0">
            <a:spAutoFit/>
          </a:bodyPr>
          <a:lstStyle/>
          <a:p>
            <a:r>
              <a:rPr lang="en-US" sz="2800" dirty="0">
                <a:solidFill>
                  <a:srgbClr val="FF0000"/>
                </a:solidFill>
              </a:rPr>
              <a:t>Allow the system to operate efficiently, treat users fairly, and remain secure</a:t>
            </a:r>
          </a:p>
        </p:txBody>
      </p:sp>
    </p:spTree>
    <p:extLst>
      <p:ext uri="{BB962C8B-B14F-4D97-AF65-F5344CB8AC3E}">
        <p14:creationId xmlns:p14="http://schemas.microsoft.com/office/powerpoint/2010/main" val="1491254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(interrupt-driven)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Operations</a:t>
            </a:r>
          </a:p>
          <a:p>
            <a:r>
              <a:rPr lang="en-US" dirty="0">
                <a:solidFill>
                  <a:schemeClr val="bg1">
                    <a:lumMod val="75000"/>
                  </a:schemeClr>
                </a:solidFill>
              </a:rPr>
              <a:t>Operating system services</a:t>
            </a:r>
          </a:p>
          <a:p>
            <a:r>
              <a:rPr lang="en-US" dirty="0"/>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24</a:t>
            </a:fld>
            <a:endParaRPr lang="en-US"/>
          </a:p>
        </p:txBody>
      </p:sp>
    </p:spTree>
    <p:extLst>
      <p:ext uri="{BB962C8B-B14F-4D97-AF65-F5344CB8AC3E}">
        <p14:creationId xmlns:p14="http://schemas.microsoft.com/office/powerpoint/2010/main" val="7153892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Let’s say we want to copy a file…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25</a:t>
            </a:fld>
            <a:endParaRPr lang="en-US"/>
          </a:p>
        </p:txBody>
      </p:sp>
      <p:pic>
        <p:nvPicPr>
          <p:cNvPr id="7" name="Picture 5"/>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838200" y="1690688"/>
            <a:ext cx="5937250" cy="401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Line Callout 1 7"/>
          <p:cNvSpPr/>
          <p:nvPr/>
        </p:nvSpPr>
        <p:spPr>
          <a:xfrm>
            <a:off x="7239000" y="2438400"/>
            <a:ext cx="4114800" cy="1466850"/>
          </a:xfrm>
          <a:prstGeom prst="borderCallout1">
            <a:avLst>
              <a:gd name="adj1" fmla="val 18750"/>
              <a:gd name="adj2" fmla="val -8333"/>
              <a:gd name="adj3" fmla="val 11201"/>
              <a:gd name="adj4" fmla="val -707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If a graphical menu is used to let the user pick a source file, many more system calls are needed (and I/O)</a:t>
            </a:r>
          </a:p>
        </p:txBody>
      </p:sp>
      <p:sp>
        <p:nvSpPr>
          <p:cNvPr id="9" name="Line Callout 1 8"/>
          <p:cNvSpPr/>
          <p:nvPr/>
        </p:nvSpPr>
        <p:spPr>
          <a:xfrm>
            <a:off x="6775450" y="4141788"/>
            <a:ext cx="4114800" cy="1466850"/>
          </a:xfrm>
          <a:prstGeom prst="borderCallout1">
            <a:avLst>
              <a:gd name="adj1" fmla="val 18750"/>
              <a:gd name="adj2" fmla="val -8333"/>
              <a:gd name="adj3" fmla="val 4708"/>
              <a:gd name="adj4" fmla="val -698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We could also decide to replace it (asking the user first)... More system calls!!!</a:t>
            </a:r>
          </a:p>
        </p:txBody>
      </p:sp>
    </p:spTree>
    <p:extLst>
      <p:ext uri="{BB962C8B-B14F-4D97-AF65-F5344CB8AC3E}">
        <p14:creationId xmlns:p14="http://schemas.microsoft.com/office/powerpoint/2010/main" val="434494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Application Programming Interfaces (APIs)</a:t>
            </a:r>
          </a:p>
        </p:txBody>
      </p:sp>
      <p:sp>
        <p:nvSpPr>
          <p:cNvPr id="3" name="Content Placeholder 2"/>
          <p:cNvSpPr>
            <a:spLocks noGrp="1"/>
          </p:cNvSpPr>
          <p:nvPr>
            <p:ph idx="1"/>
          </p:nvPr>
        </p:nvSpPr>
        <p:spPr/>
        <p:txBody>
          <a:bodyPr/>
          <a:lstStyle/>
          <a:p>
            <a:r>
              <a:rPr lang="en-US" dirty="0"/>
              <a:t>APIs provide high-level combinations of low-level system calls</a:t>
            </a:r>
          </a:p>
          <a:p>
            <a:pPr lvl="1"/>
            <a:r>
              <a:rPr lang="en-US" dirty="0"/>
              <a:t>Reducing by some order of magnitude the number of calls to low-level system calls the user should otherwise handle (usually thousands of system calls per second are handled by the OS)</a:t>
            </a:r>
          </a:p>
          <a:p>
            <a:pPr lvl="1"/>
            <a:endParaRPr lang="en-US" dirty="0"/>
          </a:p>
          <a:p>
            <a:r>
              <a:rPr lang="en-US" dirty="0"/>
              <a:t>What are the advantages?</a:t>
            </a:r>
          </a:p>
          <a:p>
            <a:pPr lvl="1"/>
            <a:r>
              <a:rPr lang="en-US" dirty="0"/>
              <a:t>Portability</a:t>
            </a:r>
          </a:p>
          <a:p>
            <a:pPr lvl="1"/>
            <a:r>
              <a:rPr lang="en-US" dirty="0"/>
              <a:t>Simplicity</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26</a:t>
            </a:fld>
            <a:endParaRPr lang="en-US"/>
          </a:p>
        </p:txBody>
      </p:sp>
    </p:spTree>
    <p:extLst>
      <p:ext uri="{BB962C8B-B14F-4D97-AF65-F5344CB8AC3E}">
        <p14:creationId xmlns:p14="http://schemas.microsoft.com/office/powerpoint/2010/main" val="88171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Sample API</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27</a:t>
            </a:fld>
            <a:endParaRPr lang="en-US"/>
          </a:p>
        </p:txBody>
      </p:sp>
      <p:pic>
        <p:nvPicPr>
          <p:cNvPr id="7" name="Picture 6" descr="Screen Shot 2012-12-01 at 12.25.00 PM.png"/>
          <p:cNvPicPr>
            <a:picLocks noChangeAspect="1"/>
          </p:cNvPicPr>
          <p:nvPr/>
        </p:nvPicPr>
        <p:blipFill>
          <a:blip r:embed="rId2">
            <a:extLst>
              <a:ext uri="{28A0092B-C50C-407E-A947-70E740481C1C}">
                <a14:useLocalDpi xmlns:a14="http://schemas.microsoft.com/office/drawing/2010/main"/>
              </a:ext>
            </a:extLst>
          </a:blip>
          <a:srcRect/>
          <a:stretch>
            <a:fillRect/>
          </a:stretch>
        </p:blipFill>
        <p:spPr bwMode="auto">
          <a:xfrm>
            <a:off x="4681538" y="365125"/>
            <a:ext cx="5605462" cy="5713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32868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System call interface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28</a:t>
            </a:fld>
            <a:endParaRPr lang="en-US"/>
          </a:p>
        </p:txBody>
      </p:sp>
      <p:pic>
        <p:nvPicPr>
          <p:cNvPr id="7" name="Picture 5" descr="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428625" y="1503755"/>
            <a:ext cx="7153275" cy="438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p:nvPr/>
        </p:nvSpPr>
        <p:spPr>
          <a:xfrm>
            <a:off x="7239000" y="1432347"/>
            <a:ext cx="4781550" cy="4524315"/>
          </a:xfrm>
          <a:prstGeom prst="rect">
            <a:avLst/>
          </a:prstGeom>
        </p:spPr>
        <p:txBody>
          <a:bodyPr wrap="square">
            <a:spAutoFit/>
          </a:bodyPr>
          <a:lstStyle/>
          <a:p>
            <a:pPr marL="285750" indent="-285750">
              <a:buFont typeface="Arial" charset="0"/>
              <a:buChar char="•"/>
            </a:pPr>
            <a:r>
              <a:rPr lang="en-US" altLang="en-US" sz="2400" dirty="0">
                <a:ea typeface="MS PGothic" charset="-128"/>
              </a:rPr>
              <a:t>Typically, a number is associated with each system call</a:t>
            </a:r>
          </a:p>
          <a:p>
            <a:pPr marL="742950" lvl="1" indent="-285750">
              <a:buFont typeface="Arial" charset="0"/>
              <a:buChar char="•"/>
            </a:pPr>
            <a:r>
              <a:rPr lang="en-US" altLang="en-US" sz="2400" dirty="0">
                <a:ea typeface="MS PGothic" charset="-128"/>
              </a:rPr>
              <a:t>The </a:t>
            </a:r>
            <a:r>
              <a:rPr lang="en-US" altLang="en-US" sz="2400" b="1" dirty="0">
                <a:solidFill>
                  <a:srgbClr val="3366FF"/>
                </a:solidFill>
                <a:ea typeface="MS PGothic" charset="-128"/>
              </a:rPr>
              <a:t>System-call interface </a:t>
            </a:r>
            <a:r>
              <a:rPr lang="en-US" altLang="en-US" sz="2400" dirty="0">
                <a:ea typeface="MS PGothic" charset="-128"/>
              </a:rPr>
              <a:t>maintains a table indexed according to these numbers</a:t>
            </a:r>
            <a:endParaRPr lang="en-US" altLang="en-US" sz="1000" dirty="0">
              <a:ea typeface="MS PGothic" charset="-128"/>
            </a:endParaRPr>
          </a:p>
          <a:p>
            <a:pPr marL="285750" indent="-285750">
              <a:buFont typeface="Arial" charset="0"/>
              <a:buChar char="•"/>
            </a:pPr>
            <a:r>
              <a:rPr lang="en-US" altLang="en-US" sz="2400" dirty="0">
                <a:ea typeface="MS PGothic" charset="-128"/>
              </a:rPr>
              <a:t>The system call interface invokes  the intended system call in the OS kernel and returns status of the system call and any return values</a:t>
            </a:r>
            <a:endParaRPr lang="en-US" altLang="en-US" sz="1000" dirty="0">
              <a:ea typeface="MS PGothic" charset="-128"/>
            </a:endParaRPr>
          </a:p>
          <a:p>
            <a:pPr marL="285750" indent="-285750">
              <a:buFont typeface="Arial" charset="0"/>
              <a:buChar char="•"/>
            </a:pPr>
            <a:r>
              <a:rPr lang="en-US" altLang="en-US" sz="2400" dirty="0">
                <a:ea typeface="MS PGothic" charset="-128"/>
              </a:rPr>
              <a:t>The caller needs to know nothing about how the system call is implemented</a:t>
            </a:r>
          </a:p>
        </p:txBody>
      </p:sp>
    </p:spTree>
    <p:extLst>
      <p:ext uri="{BB962C8B-B14F-4D97-AF65-F5344CB8AC3E}">
        <p14:creationId xmlns:p14="http://schemas.microsoft.com/office/powerpoint/2010/main" val="11009544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are parameters passed to a system call?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29</a:t>
            </a:fld>
            <a:endParaRPr lang="en-US"/>
          </a:p>
        </p:txBody>
      </p:sp>
      <p:pic>
        <p:nvPicPr>
          <p:cNvPr id="7" name="Picture 7" descr="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838200" y="2151063"/>
            <a:ext cx="4792792" cy="2516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p:cNvSpPr txBox="1">
            <a:spLocks noChangeArrowheads="1"/>
          </p:cNvSpPr>
          <p:nvPr/>
        </p:nvSpPr>
        <p:spPr>
          <a:xfrm>
            <a:off x="5905500" y="1462088"/>
            <a:ext cx="5905500" cy="4530725"/>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dirty="0">
                <a:ea typeface="MS PGothic" charset="-128"/>
              </a:rPr>
              <a:t>Pass the parameters in registers</a:t>
            </a:r>
          </a:p>
          <a:p>
            <a:pPr lvl="1"/>
            <a:r>
              <a:rPr lang="en-US" altLang="en-US" dirty="0">
                <a:ea typeface="MS PGothic" charset="-128"/>
              </a:rPr>
              <a:t>In some cases, there may be more parameters than registers</a:t>
            </a:r>
          </a:p>
          <a:p>
            <a:r>
              <a:rPr lang="en-US" altLang="en-US" dirty="0">
                <a:ea typeface="MS PGothic" charset="-128"/>
              </a:rPr>
              <a:t>Parameters are stored in a block</a:t>
            </a:r>
            <a:r>
              <a:rPr lang="en-US" altLang="en-US" i="1" dirty="0">
                <a:ea typeface="MS PGothic" charset="-128"/>
              </a:rPr>
              <a:t>, </a:t>
            </a:r>
            <a:r>
              <a:rPr lang="en-US" altLang="en-US" dirty="0">
                <a:ea typeface="MS PGothic" charset="-128"/>
              </a:rPr>
              <a:t>or table, in memory, and the address of the block is passed as a parameter in a register </a:t>
            </a:r>
          </a:p>
          <a:p>
            <a:pPr lvl="1"/>
            <a:r>
              <a:rPr lang="en-US" altLang="en-US" dirty="0">
                <a:ea typeface="MS PGothic" charset="-128"/>
              </a:rPr>
              <a:t>This approach is used by Linux and Solaris</a:t>
            </a:r>
          </a:p>
          <a:p>
            <a:r>
              <a:rPr lang="en-US" altLang="en-US" dirty="0">
                <a:ea typeface="MS PGothic" charset="-128"/>
              </a:rPr>
              <a:t>Parameters are placed, or </a:t>
            </a:r>
            <a:r>
              <a:rPr lang="en-US" altLang="en-US" b="1" dirty="0">
                <a:solidFill>
                  <a:srgbClr val="3366FF"/>
                </a:solidFill>
                <a:ea typeface="MS PGothic" charset="-128"/>
              </a:rPr>
              <a:t>pushed</a:t>
            </a:r>
            <a:r>
              <a:rPr lang="en-US" altLang="en-US" i="1" dirty="0">
                <a:ea typeface="MS PGothic" charset="-128"/>
              </a:rPr>
              <a:t>, </a:t>
            </a:r>
            <a:r>
              <a:rPr lang="en-US" altLang="en-US" dirty="0">
                <a:ea typeface="MS PGothic" charset="-128"/>
              </a:rPr>
              <a:t>onto the </a:t>
            </a:r>
            <a:r>
              <a:rPr lang="en-US" altLang="en-US" b="1" dirty="0">
                <a:solidFill>
                  <a:srgbClr val="3366FF"/>
                </a:solidFill>
                <a:ea typeface="MS PGothic" charset="-128"/>
              </a:rPr>
              <a:t>stack</a:t>
            </a:r>
            <a:r>
              <a:rPr lang="en-US" altLang="en-US" i="1" dirty="0">
                <a:ea typeface="MS PGothic" charset="-128"/>
              </a:rPr>
              <a:t> </a:t>
            </a:r>
            <a:r>
              <a:rPr lang="en-US" altLang="en-US" dirty="0">
                <a:ea typeface="MS PGothic" charset="-128"/>
              </a:rPr>
              <a:t>by the program and </a:t>
            </a:r>
            <a:r>
              <a:rPr lang="en-US" altLang="en-US" b="1" dirty="0">
                <a:solidFill>
                  <a:srgbClr val="3366FF"/>
                </a:solidFill>
                <a:ea typeface="MS PGothic" charset="-128"/>
              </a:rPr>
              <a:t>popped</a:t>
            </a:r>
            <a:r>
              <a:rPr lang="en-US" altLang="en-US" i="1" dirty="0">
                <a:ea typeface="MS PGothic" charset="-128"/>
              </a:rPr>
              <a:t> </a:t>
            </a:r>
            <a:r>
              <a:rPr lang="en-US" altLang="en-US" dirty="0">
                <a:ea typeface="MS PGothic" charset="-128"/>
              </a:rPr>
              <a:t>off the stack by the operating system</a:t>
            </a:r>
          </a:p>
          <a:p>
            <a:pPr marL="457200" lvl="1" indent="0">
              <a:buNone/>
            </a:pPr>
            <a:endParaRPr lang="en-US" altLang="en-US" dirty="0">
              <a:ea typeface="MS PGothic" charset="-128"/>
            </a:endParaRPr>
          </a:p>
          <a:p>
            <a:pPr marL="0" indent="0">
              <a:buNone/>
            </a:pPr>
            <a:r>
              <a:rPr lang="en-US" altLang="en-US" dirty="0">
                <a:ea typeface="MS PGothic" charset="-128"/>
              </a:rPr>
              <a:t>Block and stack methods do not limit the number or length of parameters being passed</a:t>
            </a:r>
          </a:p>
        </p:txBody>
      </p:sp>
    </p:spTree>
    <p:extLst>
      <p:ext uri="{BB962C8B-B14F-4D97-AF65-F5344CB8AC3E}">
        <p14:creationId xmlns:p14="http://schemas.microsoft.com/office/powerpoint/2010/main" val="1683840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system calls (I)</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30</a:t>
            </a:fld>
            <a:endParaRPr lang="en-US"/>
          </a:p>
        </p:txBody>
      </p:sp>
      <p:sp>
        <p:nvSpPr>
          <p:cNvPr id="7" name="Rectangle 4"/>
          <p:cNvSpPr txBox="1">
            <a:spLocks noChangeArrowheads="1"/>
          </p:cNvSpPr>
          <p:nvPr/>
        </p:nvSpPr>
        <p:spPr>
          <a:xfrm>
            <a:off x="1196975" y="1538288"/>
            <a:ext cx="8229600" cy="453072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dirty="0">
                <a:ea typeface="MS PGothic" charset="-128"/>
              </a:rPr>
              <a:t>Process control</a:t>
            </a:r>
          </a:p>
          <a:p>
            <a:pPr lvl="1"/>
            <a:r>
              <a:rPr lang="en-US" altLang="en-US" dirty="0">
                <a:ea typeface="MS PGothic" charset="-128"/>
              </a:rPr>
              <a:t>create process, terminate process</a:t>
            </a:r>
          </a:p>
          <a:p>
            <a:pPr lvl="1"/>
            <a:r>
              <a:rPr lang="en-US" altLang="en-US" dirty="0">
                <a:ea typeface="MS PGothic" charset="-128"/>
              </a:rPr>
              <a:t>end, abort</a:t>
            </a:r>
          </a:p>
          <a:p>
            <a:pPr lvl="1"/>
            <a:r>
              <a:rPr lang="en-US" altLang="en-US" dirty="0">
                <a:ea typeface="MS PGothic" charset="-128"/>
              </a:rPr>
              <a:t>load, execute</a:t>
            </a:r>
          </a:p>
          <a:p>
            <a:pPr lvl="1"/>
            <a:r>
              <a:rPr lang="en-US" altLang="en-US" dirty="0">
                <a:ea typeface="MS PGothic" charset="-128"/>
              </a:rPr>
              <a:t>get process attributes, set process attributes</a:t>
            </a:r>
          </a:p>
          <a:p>
            <a:pPr lvl="1"/>
            <a:r>
              <a:rPr lang="en-US" altLang="en-US" dirty="0">
                <a:ea typeface="MS PGothic" charset="-128"/>
              </a:rPr>
              <a:t>wait for time</a:t>
            </a:r>
          </a:p>
          <a:p>
            <a:pPr lvl="1"/>
            <a:r>
              <a:rPr lang="en-US" altLang="en-US" dirty="0">
                <a:ea typeface="MS PGothic" charset="-128"/>
              </a:rPr>
              <a:t>wait event, signal event</a:t>
            </a:r>
          </a:p>
          <a:p>
            <a:pPr lvl="1"/>
            <a:r>
              <a:rPr lang="en-US" altLang="en-US" dirty="0">
                <a:ea typeface="MS PGothic" charset="-128"/>
              </a:rPr>
              <a:t>allocate and free memory</a:t>
            </a:r>
          </a:p>
          <a:p>
            <a:pPr lvl="1"/>
            <a:r>
              <a:rPr lang="en-US" altLang="en-US" dirty="0">
                <a:ea typeface="MS PGothic" charset="-128"/>
              </a:rPr>
              <a:t>Dump the memory if an error occurs</a:t>
            </a:r>
          </a:p>
          <a:p>
            <a:pPr lvl="1"/>
            <a:r>
              <a:rPr lang="en-US" altLang="en-US" b="1" dirty="0">
                <a:solidFill>
                  <a:srgbClr val="3366FF"/>
                </a:solidFill>
                <a:ea typeface="MS PGothic" charset="-128"/>
              </a:rPr>
              <a:t>Debugger</a:t>
            </a:r>
            <a:r>
              <a:rPr lang="en-US" altLang="en-US" dirty="0">
                <a:ea typeface="MS PGothic" charset="-128"/>
              </a:rPr>
              <a:t> for finding </a:t>
            </a:r>
            <a:r>
              <a:rPr lang="en-US" altLang="en-US" b="1" dirty="0">
                <a:solidFill>
                  <a:srgbClr val="3366FF"/>
                </a:solidFill>
                <a:ea typeface="MS PGothic" charset="-128"/>
              </a:rPr>
              <a:t>bugs, single step </a:t>
            </a:r>
            <a:r>
              <a:rPr lang="en-US" altLang="en-US" dirty="0">
                <a:ea typeface="MS PGothic" charset="-128"/>
              </a:rPr>
              <a:t>execution</a:t>
            </a:r>
          </a:p>
          <a:p>
            <a:pPr lvl="1"/>
            <a:r>
              <a:rPr lang="en-US" altLang="en-US" b="1" dirty="0">
                <a:solidFill>
                  <a:srgbClr val="3366FF"/>
                </a:solidFill>
                <a:ea typeface="MS PGothic" charset="-128"/>
              </a:rPr>
              <a:t>Locks</a:t>
            </a:r>
            <a:r>
              <a:rPr lang="en-US" altLang="en-US" dirty="0">
                <a:ea typeface="MS PGothic" charset="-128"/>
              </a:rPr>
              <a:t> for managing access to shared data between processes</a:t>
            </a:r>
          </a:p>
        </p:txBody>
      </p:sp>
    </p:spTree>
    <p:extLst>
      <p:ext uri="{BB962C8B-B14F-4D97-AF65-F5344CB8AC3E}">
        <p14:creationId xmlns:p14="http://schemas.microsoft.com/office/powerpoint/2010/main" val="20273499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system calls (II)</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31</a:t>
            </a:fld>
            <a:endParaRPr lang="en-US"/>
          </a:p>
        </p:txBody>
      </p:sp>
      <p:sp>
        <p:nvSpPr>
          <p:cNvPr id="8" name="Rectangle 4"/>
          <p:cNvSpPr txBox="1">
            <a:spLocks noChangeArrowheads="1"/>
          </p:cNvSpPr>
          <p:nvPr/>
        </p:nvSpPr>
        <p:spPr>
          <a:xfrm>
            <a:off x="977900" y="1462088"/>
            <a:ext cx="8229600" cy="45307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a:ea typeface="MS PGothic" charset="-128"/>
              </a:rPr>
              <a:t>File management</a:t>
            </a:r>
          </a:p>
          <a:p>
            <a:pPr lvl="1"/>
            <a:r>
              <a:rPr lang="en-US" altLang="en-US">
                <a:ea typeface="MS PGothic" charset="-128"/>
              </a:rPr>
              <a:t>create file, delete file</a:t>
            </a:r>
          </a:p>
          <a:p>
            <a:pPr lvl="1"/>
            <a:r>
              <a:rPr lang="en-US" altLang="en-US">
                <a:ea typeface="MS PGothic" charset="-128"/>
              </a:rPr>
              <a:t>open, close file</a:t>
            </a:r>
          </a:p>
          <a:p>
            <a:pPr lvl="1"/>
            <a:r>
              <a:rPr lang="en-US" altLang="en-US">
                <a:ea typeface="MS PGothic" charset="-128"/>
              </a:rPr>
              <a:t>read, write, reposition</a:t>
            </a:r>
          </a:p>
          <a:p>
            <a:pPr lvl="1"/>
            <a:r>
              <a:rPr lang="en-US" altLang="en-US">
                <a:ea typeface="MS PGothic" charset="-128"/>
              </a:rPr>
              <a:t>get and set file attributes</a:t>
            </a:r>
          </a:p>
          <a:p>
            <a:r>
              <a:rPr lang="en-US" altLang="en-US">
                <a:ea typeface="MS PGothic" charset="-128"/>
              </a:rPr>
              <a:t>Device management</a:t>
            </a:r>
          </a:p>
          <a:p>
            <a:pPr lvl="1"/>
            <a:r>
              <a:rPr lang="en-US" altLang="en-US">
                <a:ea typeface="MS PGothic" charset="-128"/>
              </a:rPr>
              <a:t>request device, release device</a:t>
            </a:r>
          </a:p>
          <a:p>
            <a:pPr lvl="1"/>
            <a:r>
              <a:rPr lang="en-US" altLang="en-US">
                <a:ea typeface="MS PGothic" charset="-128"/>
              </a:rPr>
              <a:t>read, write, reposition</a:t>
            </a:r>
          </a:p>
          <a:p>
            <a:pPr lvl="1"/>
            <a:r>
              <a:rPr lang="en-US" altLang="en-US">
                <a:ea typeface="MS PGothic" charset="-128"/>
              </a:rPr>
              <a:t>get device attributes, set device attributes</a:t>
            </a:r>
          </a:p>
          <a:p>
            <a:pPr lvl="1"/>
            <a:r>
              <a:rPr lang="en-US" altLang="en-US">
                <a:ea typeface="MS PGothic" charset="-128"/>
              </a:rPr>
              <a:t>logically attach or detach devices</a:t>
            </a:r>
          </a:p>
          <a:p>
            <a:pPr lvl="1"/>
            <a:endParaRPr lang="en-US" altLang="en-US" dirty="0">
              <a:ea typeface="MS PGothic" charset="-128"/>
            </a:endParaRPr>
          </a:p>
        </p:txBody>
      </p:sp>
    </p:spTree>
    <p:extLst>
      <p:ext uri="{BB962C8B-B14F-4D97-AF65-F5344CB8AC3E}">
        <p14:creationId xmlns:p14="http://schemas.microsoft.com/office/powerpoint/2010/main" val="1830289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system calls (III)</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32</a:t>
            </a:fld>
            <a:endParaRPr lang="en-US"/>
          </a:p>
        </p:txBody>
      </p:sp>
      <p:sp>
        <p:nvSpPr>
          <p:cNvPr id="7" name="Rectangle 4"/>
          <p:cNvSpPr txBox="1">
            <a:spLocks noChangeArrowheads="1"/>
          </p:cNvSpPr>
          <p:nvPr/>
        </p:nvSpPr>
        <p:spPr>
          <a:xfrm>
            <a:off x="838199" y="1538288"/>
            <a:ext cx="10515599" cy="453072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dirty="0">
                <a:ea typeface="MS PGothic" charset="-128"/>
              </a:rPr>
              <a:t>Information maintenance</a:t>
            </a:r>
          </a:p>
          <a:p>
            <a:pPr lvl="1"/>
            <a:r>
              <a:rPr lang="en-US" altLang="en-US" dirty="0">
                <a:ea typeface="MS PGothic" charset="-128"/>
              </a:rPr>
              <a:t>get time or date, set time or date</a:t>
            </a:r>
          </a:p>
          <a:p>
            <a:pPr lvl="1"/>
            <a:r>
              <a:rPr lang="en-US" altLang="en-US" dirty="0">
                <a:ea typeface="MS PGothic" charset="-128"/>
              </a:rPr>
              <a:t>get system data, set system data</a:t>
            </a:r>
          </a:p>
          <a:p>
            <a:pPr lvl="1"/>
            <a:r>
              <a:rPr lang="en-US" altLang="en-US" dirty="0">
                <a:ea typeface="MS PGothic" charset="-128"/>
              </a:rPr>
              <a:t>get and set process, file, or device attributes</a:t>
            </a:r>
          </a:p>
          <a:p>
            <a:r>
              <a:rPr lang="en-US" altLang="en-US" dirty="0">
                <a:ea typeface="MS PGothic" charset="-128"/>
              </a:rPr>
              <a:t>Communications</a:t>
            </a:r>
          </a:p>
          <a:p>
            <a:pPr lvl="1"/>
            <a:r>
              <a:rPr lang="en-US" altLang="en-US" dirty="0">
                <a:ea typeface="MS PGothic" charset="-128"/>
              </a:rPr>
              <a:t>create, delete communication connection</a:t>
            </a:r>
          </a:p>
          <a:p>
            <a:pPr lvl="1"/>
            <a:r>
              <a:rPr lang="en-US" altLang="en-US" dirty="0">
                <a:ea typeface="MS PGothic" charset="-128"/>
              </a:rPr>
              <a:t>send, receive messages if </a:t>
            </a:r>
            <a:r>
              <a:rPr lang="en-US" altLang="en-US" b="1" dirty="0">
                <a:solidFill>
                  <a:srgbClr val="3366FF"/>
                </a:solidFill>
                <a:ea typeface="MS PGothic" charset="-128"/>
              </a:rPr>
              <a:t>message passing model </a:t>
            </a:r>
            <a:r>
              <a:rPr lang="en-US" altLang="en-US" dirty="0">
                <a:ea typeface="MS PGothic" charset="-128"/>
              </a:rPr>
              <a:t>to </a:t>
            </a:r>
            <a:r>
              <a:rPr lang="en-US" altLang="en-US" b="1" dirty="0">
                <a:solidFill>
                  <a:srgbClr val="3366FF"/>
                </a:solidFill>
                <a:ea typeface="MS PGothic" charset="-128"/>
              </a:rPr>
              <a:t>host name</a:t>
            </a:r>
            <a:r>
              <a:rPr lang="en-US" altLang="en-US" dirty="0">
                <a:ea typeface="MS PGothic" charset="-128"/>
              </a:rPr>
              <a:t> or </a:t>
            </a:r>
            <a:r>
              <a:rPr lang="en-US" altLang="en-US" b="1" dirty="0">
                <a:solidFill>
                  <a:srgbClr val="3366FF"/>
                </a:solidFill>
                <a:ea typeface="MS PGothic" charset="-128"/>
              </a:rPr>
              <a:t>process name</a:t>
            </a:r>
          </a:p>
          <a:p>
            <a:pPr lvl="2"/>
            <a:r>
              <a:rPr lang="en-US" altLang="en-US" dirty="0">
                <a:ea typeface="MS PGothic" charset="-128"/>
              </a:rPr>
              <a:t>From</a:t>
            </a:r>
            <a:r>
              <a:rPr lang="en-US" altLang="en-US" b="1" dirty="0">
                <a:solidFill>
                  <a:srgbClr val="3366FF"/>
                </a:solidFill>
                <a:ea typeface="MS PGothic" charset="-128"/>
              </a:rPr>
              <a:t> client </a:t>
            </a:r>
            <a:r>
              <a:rPr lang="en-US" altLang="en-US" dirty="0">
                <a:ea typeface="MS PGothic" charset="-128"/>
              </a:rPr>
              <a:t>to</a:t>
            </a:r>
            <a:r>
              <a:rPr lang="en-US" altLang="en-US" b="1" dirty="0">
                <a:solidFill>
                  <a:srgbClr val="3366FF"/>
                </a:solidFill>
                <a:ea typeface="MS PGothic" charset="-128"/>
              </a:rPr>
              <a:t> server</a:t>
            </a:r>
          </a:p>
          <a:p>
            <a:pPr lvl="1"/>
            <a:r>
              <a:rPr lang="en-US" altLang="en-US" b="1" dirty="0">
                <a:solidFill>
                  <a:srgbClr val="3366FF"/>
                </a:solidFill>
                <a:ea typeface="MS PGothic" charset="-128"/>
              </a:rPr>
              <a:t>Shared-memory model: </a:t>
            </a:r>
            <a:r>
              <a:rPr lang="en-US" altLang="en-US" dirty="0">
                <a:ea typeface="MS PGothic" charset="-128"/>
              </a:rPr>
              <a:t>create and gain access to memory regions</a:t>
            </a:r>
          </a:p>
          <a:p>
            <a:pPr lvl="1"/>
            <a:r>
              <a:rPr lang="en-US" altLang="en-US" dirty="0">
                <a:ea typeface="MS PGothic" charset="-128"/>
              </a:rPr>
              <a:t>transfer status information</a:t>
            </a:r>
          </a:p>
          <a:p>
            <a:pPr lvl="1"/>
            <a:r>
              <a:rPr lang="en-US" altLang="en-US" dirty="0">
                <a:ea typeface="MS PGothic" charset="-128"/>
              </a:rPr>
              <a:t>attach and detach remote devices</a:t>
            </a:r>
          </a:p>
        </p:txBody>
      </p:sp>
    </p:spTree>
    <p:extLst>
      <p:ext uri="{BB962C8B-B14F-4D97-AF65-F5344CB8AC3E}">
        <p14:creationId xmlns:p14="http://schemas.microsoft.com/office/powerpoint/2010/main" val="925137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system calls (IV)</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33</a:t>
            </a:fld>
            <a:endParaRPr lang="en-US"/>
          </a:p>
        </p:txBody>
      </p:sp>
      <p:sp>
        <p:nvSpPr>
          <p:cNvPr id="7" name="Rectangle 4"/>
          <p:cNvSpPr txBox="1">
            <a:spLocks noChangeArrowheads="1"/>
          </p:cNvSpPr>
          <p:nvPr/>
        </p:nvSpPr>
        <p:spPr>
          <a:xfrm>
            <a:off x="806450" y="1524000"/>
            <a:ext cx="8229600" cy="424021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a:ea typeface="MS PGothic" charset="-128"/>
              </a:rPr>
              <a:t>Protection</a:t>
            </a:r>
          </a:p>
          <a:p>
            <a:pPr lvl="1"/>
            <a:r>
              <a:rPr lang="en-US" altLang="en-US">
                <a:ea typeface="MS PGothic" charset="-128"/>
              </a:rPr>
              <a:t>Control access to resources</a:t>
            </a:r>
          </a:p>
          <a:p>
            <a:pPr lvl="1"/>
            <a:r>
              <a:rPr lang="en-US" altLang="en-US">
                <a:ea typeface="MS PGothic" charset="-128"/>
              </a:rPr>
              <a:t>Get and set permissions</a:t>
            </a:r>
          </a:p>
          <a:p>
            <a:pPr lvl="1"/>
            <a:r>
              <a:rPr lang="en-US" altLang="en-US">
                <a:ea typeface="MS PGothic" charset="-128"/>
              </a:rPr>
              <a:t>Allow and deny user access</a:t>
            </a:r>
          </a:p>
          <a:p>
            <a:pPr lvl="1"/>
            <a:endParaRPr lang="en-US" altLang="en-US" dirty="0">
              <a:ea typeface="MS PGothic" charset="-128"/>
            </a:endParaRPr>
          </a:p>
        </p:txBody>
      </p:sp>
    </p:spTree>
    <p:extLst>
      <p:ext uri="{BB962C8B-B14F-4D97-AF65-F5344CB8AC3E}">
        <p14:creationId xmlns:p14="http://schemas.microsoft.com/office/powerpoint/2010/main" val="12732455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Some examples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34</a:t>
            </a:fld>
            <a:endParaRPr lang="en-US"/>
          </a:p>
        </p:txBody>
      </p:sp>
      <p:pic>
        <p:nvPicPr>
          <p:cNvPr id="7" name="Picture 6" descr="OS8-p61"/>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398044" y="1544637"/>
            <a:ext cx="5395912" cy="4811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740313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(interrupt-driven)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Operations</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t>System boot [self reading]</a:t>
            </a:r>
            <a:endParaRPr lang="en-US" dirty="0">
              <a:solidFill>
                <a:schemeClr val="bg1">
                  <a:lumMod val="75000"/>
                </a:schemeClr>
              </a:solidFill>
            </a:endParaRPr>
          </a:p>
          <a:p>
            <a:r>
              <a:rPr lang="en-US" dirty="0">
                <a:solidFill>
                  <a:schemeClr val="bg1">
                    <a:lumMod val="75000"/>
                  </a:schemeClr>
                </a:solidFill>
              </a:rPr>
              <a:t>Operating system structures</a:t>
            </a:r>
          </a:p>
          <a:p>
            <a:endParaRPr lang="en-US" dirty="0"/>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35</a:t>
            </a:fld>
            <a:endParaRPr lang="en-US"/>
          </a:p>
        </p:txBody>
      </p:sp>
    </p:spTree>
    <p:extLst>
      <p:ext uri="{BB962C8B-B14F-4D97-AF65-F5344CB8AC3E}">
        <p14:creationId xmlns:p14="http://schemas.microsoft.com/office/powerpoint/2010/main" val="21208856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does the computer know where / how to load the kernel at startup?</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36</a:t>
            </a:fld>
            <a:endParaRPr lang="en-US"/>
          </a:p>
        </p:txBody>
      </p:sp>
      <p:sp>
        <p:nvSpPr>
          <p:cNvPr id="7" name="Rectangle 3"/>
          <p:cNvSpPr txBox="1">
            <a:spLocks noChangeArrowheads="1"/>
          </p:cNvSpPr>
          <p:nvPr/>
        </p:nvSpPr>
        <p:spPr>
          <a:xfrm>
            <a:off x="885825" y="1690688"/>
            <a:ext cx="10620375" cy="399415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dirty="0">
                <a:ea typeface="MS PGothic" charset="-128"/>
              </a:rPr>
              <a:t>When the system is powered on, execution starts at a fixed memory location</a:t>
            </a:r>
          </a:p>
          <a:p>
            <a:pPr lvl="1"/>
            <a:r>
              <a:rPr lang="en-US" altLang="en-US" dirty="0">
                <a:ea typeface="MS PGothic" charset="-128"/>
              </a:rPr>
              <a:t>Firmware ROM is used to hold the initial boot code</a:t>
            </a:r>
          </a:p>
          <a:p>
            <a:r>
              <a:rPr lang="en-US" altLang="en-US" dirty="0">
                <a:ea typeface="MS PGothic" charset="-128"/>
              </a:rPr>
              <a:t>The operating system must be made available to the hardware so the hardware can start it</a:t>
            </a:r>
          </a:p>
          <a:p>
            <a:pPr lvl="1"/>
            <a:r>
              <a:rPr lang="en-US" altLang="en-US" dirty="0">
                <a:ea typeface="MS PGothic" charset="-128"/>
              </a:rPr>
              <a:t>Small piece of code – </a:t>
            </a:r>
            <a:r>
              <a:rPr lang="en-US" altLang="en-US" b="1" dirty="0">
                <a:solidFill>
                  <a:srgbClr val="3366FF"/>
                </a:solidFill>
                <a:ea typeface="MS PGothic" charset="-128"/>
              </a:rPr>
              <a:t>bootstrap loader</a:t>
            </a:r>
            <a:r>
              <a:rPr lang="en-US" altLang="en-US" dirty="0">
                <a:ea typeface="MS PGothic" charset="-128"/>
              </a:rPr>
              <a:t>, stored in </a:t>
            </a:r>
            <a:r>
              <a:rPr lang="en-US" altLang="en-US" b="1" dirty="0">
                <a:solidFill>
                  <a:srgbClr val="3366FF"/>
                </a:solidFill>
                <a:ea typeface="MS PGothic" charset="-128"/>
              </a:rPr>
              <a:t>ROM</a:t>
            </a:r>
            <a:r>
              <a:rPr lang="en-US" altLang="en-US" dirty="0">
                <a:ea typeface="MS PGothic" charset="-128"/>
              </a:rPr>
              <a:t> or </a:t>
            </a:r>
            <a:r>
              <a:rPr lang="en-US" altLang="en-US" b="1" dirty="0">
                <a:solidFill>
                  <a:srgbClr val="3366FF"/>
                </a:solidFill>
                <a:ea typeface="MS PGothic" charset="-128"/>
              </a:rPr>
              <a:t>EEPROM</a:t>
            </a:r>
            <a:r>
              <a:rPr lang="en-US" altLang="en-US" dirty="0">
                <a:ea typeface="MS PGothic" charset="-128"/>
              </a:rPr>
              <a:t>, locates the kernel, loads it into memory, and starts it</a:t>
            </a:r>
          </a:p>
          <a:p>
            <a:pPr lvl="1"/>
            <a:r>
              <a:rPr lang="en-US" altLang="en-US" dirty="0">
                <a:ea typeface="MS PGothic" charset="-128"/>
              </a:rPr>
              <a:t>Sometimes a two-step process is used where a </a:t>
            </a:r>
            <a:r>
              <a:rPr lang="en-US" altLang="en-US" b="1" dirty="0">
                <a:solidFill>
                  <a:srgbClr val="3366FF"/>
                </a:solidFill>
                <a:ea typeface="MS PGothic" charset="-128"/>
              </a:rPr>
              <a:t>boot block </a:t>
            </a:r>
            <a:r>
              <a:rPr lang="en-US" altLang="en-US" dirty="0">
                <a:ea typeface="MS PGothic" charset="-128"/>
              </a:rPr>
              <a:t>at fixed location is loaded by ROM code, which loads bootstrap loader from disk</a:t>
            </a:r>
          </a:p>
          <a:p>
            <a:r>
              <a:rPr lang="en-US" altLang="en-US" dirty="0">
                <a:ea typeface="MS PGothic" charset="-128"/>
              </a:rPr>
              <a:t>A common bootstrap loader, </a:t>
            </a:r>
            <a:r>
              <a:rPr lang="en-US" altLang="en-US" b="1" dirty="0">
                <a:solidFill>
                  <a:srgbClr val="3366FF"/>
                </a:solidFill>
                <a:ea typeface="MS PGothic" charset="-128"/>
              </a:rPr>
              <a:t>GRUB</a:t>
            </a:r>
            <a:r>
              <a:rPr lang="en-US" altLang="en-US" dirty="0">
                <a:ea typeface="MS PGothic" charset="-128"/>
              </a:rPr>
              <a:t>, allows selection of a kernel from multiple disks, versions, kernel options</a:t>
            </a:r>
          </a:p>
          <a:p>
            <a:r>
              <a:rPr lang="en-US" altLang="en-US" dirty="0">
                <a:ea typeface="MS PGothic" charset="-128"/>
              </a:rPr>
              <a:t>The kernel loads, and the system is then </a:t>
            </a:r>
            <a:r>
              <a:rPr lang="en-US" altLang="en-US" b="1" dirty="0">
                <a:solidFill>
                  <a:srgbClr val="3366FF"/>
                </a:solidFill>
                <a:ea typeface="MS PGothic" charset="-128"/>
              </a:rPr>
              <a:t>running</a:t>
            </a:r>
          </a:p>
        </p:txBody>
      </p:sp>
    </p:spTree>
    <p:extLst>
      <p:ext uri="{BB962C8B-B14F-4D97-AF65-F5344CB8AC3E}">
        <p14:creationId xmlns:p14="http://schemas.microsoft.com/office/powerpoint/2010/main" val="863647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(interrupt-driven)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Operations</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t>Operating system structures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37</a:t>
            </a:fld>
            <a:endParaRPr lang="en-US"/>
          </a:p>
        </p:txBody>
      </p:sp>
    </p:spTree>
    <p:extLst>
      <p:ext uri="{BB962C8B-B14F-4D97-AF65-F5344CB8AC3E}">
        <p14:creationId xmlns:p14="http://schemas.microsoft.com/office/powerpoint/2010/main" val="7006379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Operating System structure</a:t>
            </a:r>
          </a:p>
        </p:txBody>
      </p:sp>
      <p:sp>
        <p:nvSpPr>
          <p:cNvPr id="3" name="Content Placeholder 2"/>
          <p:cNvSpPr>
            <a:spLocks noGrp="1"/>
          </p:cNvSpPr>
          <p:nvPr>
            <p:ph idx="1"/>
          </p:nvPr>
        </p:nvSpPr>
        <p:spPr/>
        <p:txBody>
          <a:bodyPr/>
          <a:lstStyle/>
          <a:p>
            <a:r>
              <a:rPr lang="en-US" dirty="0"/>
              <a:t>Simple Structure</a:t>
            </a:r>
          </a:p>
          <a:p>
            <a:pPr lvl="1"/>
            <a:r>
              <a:rPr lang="en-US" dirty="0"/>
              <a:t>Monolithic structure</a:t>
            </a:r>
          </a:p>
          <a:p>
            <a:pPr lvl="1"/>
            <a:r>
              <a:rPr lang="en-US" dirty="0"/>
              <a:t>Designed for hardware without dual mode</a:t>
            </a:r>
          </a:p>
          <a:p>
            <a:pPr lvl="1"/>
            <a:r>
              <a:rPr lang="en-US" dirty="0"/>
              <a:t>Vulnerable to wrong/malicious code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38</a:t>
            </a:fld>
            <a:endParaRPr lang="en-US"/>
          </a:p>
        </p:txBody>
      </p:sp>
      <p:pic>
        <p:nvPicPr>
          <p:cNvPr id="7" name="Picture 6" descr="2"/>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7783512" y="1484313"/>
            <a:ext cx="3570288" cy="3433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79103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Operating System structure</a:t>
            </a:r>
          </a:p>
        </p:txBody>
      </p:sp>
      <p:sp>
        <p:nvSpPr>
          <p:cNvPr id="3" name="Content Placeholder 2"/>
          <p:cNvSpPr>
            <a:spLocks noGrp="1"/>
          </p:cNvSpPr>
          <p:nvPr>
            <p:ph idx="1"/>
          </p:nvPr>
        </p:nvSpPr>
        <p:spPr/>
        <p:txBody>
          <a:bodyPr/>
          <a:lstStyle/>
          <a:p>
            <a:r>
              <a:rPr lang="en-US" dirty="0">
                <a:solidFill>
                  <a:schemeClr val="bg1">
                    <a:lumMod val="75000"/>
                  </a:schemeClr>
                </a:solidFill>
              </a:rPr>
              <a:t>Simple Structure</a:t>
            </a:r>
          </a:p>
          <a:p>
            <a:r>
              <a:rPr lang="en-US" dirty="0"/>
              <a:t>Layered Approach</a:t>
            </a:r>
          </a:p>
          <a:p>
            <a:pPr lvl="1"/>
            <a:r>
              <a:rPr lang="en-US" dirty="0"/>
              <a:t>Modular approach</a:t>
            </a:r>
          </a:p>
          <a:p>
            <a:pPr lvl="1"/>
            <a:r>
              <a:rPr lang="en-US" dirty="0"/>
              <a:t>Each layer maintains some data structures and a set of routines</a:t>
            </a:r>
          </a:p>
          <a:p>
            <a:pPr lvl="2"/>
            <a:r>
              <a:rPr lang="en-US" dirty="0"/>
              <a:t>Easier to debug</a:t>
            </a:r>
          </a:p>
          <a:p>
            <a:pPr lvl="2"/>
            <a:r>
              <a:rPr lang="en-US" dirty="0"/>
              <a:t>Problematic for “circular references” </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39</a:t>
            </a:fld>
            <a:endParaRPr lang="en-US"/>
          </a:p>
        </p:txBody>
      </p:sp>
      <p:pic>
        <p:nvPicPr>
          <p:cNvPr id="9" name="Picture 5"/>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8899526" y="3594100"/>
            <a:ext cx="2732142" cy="271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90651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Operating System structure</a:t>
            </a:r>
          </a:p>
        </p:txBody>
      </p:sp>
      <p:sp>
        <p:nvSpPr>
          <p:cNvPr id="3" name="Content Placeholder 2"/>
          <p:cNvSpPr>
            <a:spLocks noGrp="1"/>
          </p:cNvSpPr>
          <p:nvPr>
            <p:ph idx="1"/>
          </p:nvPr>
        </p:nvSpPr>
        <p:spPr/>
        <p:txBody>
          <a:bodyPr/>
          <a:lstStyle/>
          <a:p>
            <a:r>
              <a:rPr lang="en-US" dirty="0">
                <a:solidFill>
                  <a:schemeClr val="bg1">
                    <a:lumMod val="75000"/>
                  </a:schemeClr>
                </a:solidFill>
              </a:rPr>
              <a:t>Simple Structure</a:t>
            </a:r>
          </a:p>
          <a:p>
            <a:r>
              <a:rPr lang="en-US" dirty="0">
                <a:solidFill>
                  <a:schemeClr val="bg1">
                    <a:lumMod val="75000"/>
                  </a:schemeClr>
                </a:solidFill>
              </a:rPr>
              <a:t>Layered Approach</a:t>
            </a:r>
          </a:p>
          <a:p>
            <a:r>
              <a:rPr lang="en-US" dirty="0"/>
              <a:t>Microkernels</a:t>
            </a:r>
          </a:p>
          <a:p>
            <a:pPr lvl="1"/>
            <a:r>
              <a:rPr lang="en-US" dirty="0"/>
              <a:t>Mach, one of the firsts modularized microkernels</a:t>
            </a:r>
          </a:p>
          <a:p>
            <a:pPr lvl="1"/>
            <a:r>
              <a:rPr lang="en-US" dirty="0"/>
              <a:t>Everything that is not essential </a:t>
            </a:r>
            <a:r>
              <a:rPr lang="en-US" dirty="0">
                <a:sym typeface="Wingdings"/>
              </a:rPr>
              <a:t> system-level or user-level program</a:t>
            </a:r>
          </a:p>
          <a:p>
            <a:pPr lvl="2"/>
            <a:r>
              <a:rPr lang="en-US" dirty="0">
                <a:sym typeface="Wingdings"/>
              </a:rPr>
              <a:t>Essential parts remain in the microkernel</a:t>
            </a:r>
          </a:p>
          <a:p>
            <a:pPr lvl="1"/>
            <a:r>
              <a:rPr lang="en-US" dirty="0">
                <a:sym typeface="Wingdings"/>
              </a:rPr>
              <a:t>Smaller</a:t>
            </a:r>
          </a:p>
          <a:p>
            <a:pPr lvl="1"/>
            <a:r>
              <a:rPr lang="en-US" dirty="0">
                <a:sym typeface="Wingdings"/>
              </a:rPr>
              <a:t>Makes sense if system-level/user-level programs can be updated frequently</a:t>
            </a:r>
          </a:p>
          <a:p>
            <a:pPr lvl="1"/>
            <a:r>
              <a:rPr lang="en-US" dirty="0">
                <a:sym typeface="Wingdings"/>
              </a:rPr>
              <a:t>More secure (most programs are now executed in user mode)</a:t>
            </a:r>
          </a:p>
          <a:p>
            <a:pPr lvl="1"/>
            <a:r>
              <a:rPr lang="en-US" dirty="0">
                <a:sym typeface="Wingdings"/>
              </a:rPr>
              <a:t>Might have lower performance</a:t>
            </a:r>
            <a:endParaRPr lang="en-US" dirty="0"/>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40</a:t>
            </a:fld>
            <a:endParaRPr lang="en-US"/>
          </a:p>
        </p:txBody>
      </p:sp>
      <p:pic>
        <p:nvPicPr>
          <p:cNvPr id="8" name="Picture 2" descr="2_14.pdf"/>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bwMode="auto">
          <a:xfrm>
            <a:off x="6214702" y="365125"/>
            <a:ext cx="5729648" cy="2772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10758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Operating System structure</a:t>
            </a:r>
          </a:p>
        </p:txBody>
      </p:sp>
      <p:sp>
        <p:nvSpPr>
          <p:cNvPr id="3" name="Content Placeholder 2"/>
          <p:cNvSpPr>
            <a:spLocks noGrp="1"/>
          </p:cNvSpPr>
          <p:nvPr>
            <p:ph idx="1"/>
          </p:nvPr>
        </p:nvSpPr>
        <p:spPr/>
        <p:txBody>
          <a:bodyPr/>
          <a:lstStyle/>
          <a:p>
            <a:r>
              <a:rPr lang="en-US" dirty="0">
                <a:solidFill>
                  <a:schemeClr val="bg1">
                    <a:lumMod val="75000"/>
                  </a:schemeClr>
                </a:solidFill>
              </a:rPr>
              <a:t>Simple Structure</a:t>
            </a:r>
          </a:p>
          <a:p>
            <a:r>
              <a:rPr lang="en-US" dirty="0">
                <a:solidFill>
                  <a:schemeClr val="bg1">
                    <a:lumMod val="75000"/>
                  </a:schemeClr>
                </a:solidFill>
              </a:rPr>
              <a:t>Layered Approach</a:t>
            </a:r>
          </a:p>
          <a:p>
            <a:r>
              <a:rPr lang="en-US" dirty="0">
                <a:solidFill>
                  <a:schemeClr val="bg1">
                    <a:lumMod val="75000"/>
                  </a:schemeClr>
                </a:solidFill>
              </a:rPr>
              <a:t>Microkernels</a:t>
            </a:r>
          </a:p>
          <a:p>
            <a:r>
              <a:rPr lang="en-US" dirty="0"/>
              <a:t>Modules</a:t>
            </a:r>
          </a:p>
          <a:p>
            <a:pPr lvl="1"/>
            <a:r>
              <a:rPr lang="en-US" dirty="0"/>
              <a:t>Can be loaded in the kernel (at boot or on demand)</a:t>
            </a:r>
          </a:p>
          <a:p>
            <a:pPr lvl="1"/>
            <a:r>
              <a:rPr lang="en-US" dirty="0"/>
              <a:t>Unix-like (Solaris, Linux and Mac OS X) and Windows</a:t>
            </a:r>
          </a:p>
          <a:p>
            <a:pPr lvl="1"/>
            <a:r>
              <a:rPr lang="en-US" dirty="0"/>
              <a:t>Modules can be loaded without recompiling the kernel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41</a:t>
            </a:fld>
            <a:endParaRPr lang="en-US"/>
          </a:p>
        </p:txBody>
      </p:sp>
    </p:spTree>
    <p:extLst>
      <p:ext uri="{BB962C8B-B14F-4D97-AF65-F5344CB8AC3E}">
        <p14:creationId xmlns:p14="http://schemas.microsoft.com/office/powerpoint/2010/main" val="641619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Operating System structure</a:t>
            </a:r>
          </a:p>
        </p:txBody>
      </p:sp>
      <p:sp>
        <p:nvSpPr>
          <p:cNvPr id="3" name="Content Placeholder 2"/>
          <p:cNvSpPr>
            <a:spLocks noGrp="1"/>
          </p:cNvSpPr>
          <p:nvPr>
            <p:ph idx="1"/>
          </p:nvPr>
        </p:nvSpPr>
        <p:spPr/>
        <p:txBody>
          <a:bodyPr/>
          <a:lstStyle/>
          <a:p>
            <a:r>
              <a:rPr lang="en-US" dirty="0">
                <a:solidFill>
                  <a:schemeClr val="bg1">
                    <a:lumMod val="75000"/>
                  </a:schemeClr>
                </a:solidFill>
              </a:rPr>
              <a:t>Simple Structure</a:t>
            </a:r>
          </a:p>
          <a:p>
            <a:r>
              <a:rPr lang="en-US" dirty="0">
                <a:solidFill>
                  <a:schemeClr val="bg1">
                    <a:lumMod val="75000"/>
                  </a:schemeClr>
                </a:solidFill>
              </a:rPr>
              <a:t>Layered Approach</a:t>
            </a:r>
          </a:p>
          <a:p>
            <a:r>
              <a:rPr lang="en-US" dirty="0">
                <a:solidFill>
                  <a:schemeClr val="bg1">
                    <a:lumMod val="75000"/>
                  </a:schemeClr>
                </a:solidFill>
              </a:rPr>
              <a:t>Microkernels</a:t>
            </a:r>
          </a:p>
          <a:p>
            <a:r>
              <a:rPr lang="en-US" dirty="0">
                <a:solidFill>
                  <a:schemeClr val="bg1">
                    <a:lumMod val="75000"/>
                  </a:schemeClr>
                </a:solidFill>
              </a:rPr>
              <a:t>Modules</a:t>
            </a:r>
          </a:p>
          <a:p>
            <a:r>
              <a:rPr lang="en-US" dirty="0"/>
              <a:t>Hybrid Systems</a:t>
            </a:r>
          </a:p>
          <a:p>
            <a:pPr lvl="1"/>
            <a:r>
              <a:rPr lang="en-US" dirty="0"/>
              <a:t>Mixing other structures</a:t>
            </a:r>
          </a:p>
          <a:p>
            <a:pPr lvl="1"/>
            <a:r>
              <a:rPr lang="en-US" dirty="0"/>
              <a:t>Usual case for modern operating systems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42</a:t>
            </a:fld>
            <a:endParaRPr lang="en-US"/>
          </a:p>
        </p:txBody>
      </p:sp>
    </p:spTree>
    <p:extLst>
      <p:ext uri="{BB962C8B-B14F-4D97-AF65-F5344CB8AC3E}">
        <p14:creationId xmlns:p14="http://schemas.microsoft.com/office/powerpoint/2010/main" val="772447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Hybrid systems – Mac OS X</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43</a:t>
            </a:fld>
            <a:endParaRPr lang="en-US"/>
          </a:p>
        </p:txBody>
      </p:sp>
      <p:pic>
        <p:nvPicPr>
          <p:cNvPr id="7" name="Content Placeholder 3" descr="2_16.pdf"/>
          <p:cNvPicPr>
            <a:picLocks noGrp="1" noChangeAspect="1"/>
          </p:cNvPicPr>
          <p:nvPr>
            <p:ph idx="1"/>
          </p:nvPr>
        </p:nvPicPr>
        <p:blipFill>
          <a:blip r:embed="rId3" cstate="print">
            <a:extLst>
              <a:ext uri="{28A0092B-C50C-407E-A947-70E740481C1C}">
                <a14:useLocalDpi xmlns:a14="http://schemas.microsoft.com/office/drawing/2010/main"/>
              </a:ext>
            </a:extLst>
          </a:blip>
          <a:srcRect l="554" r="554"/>
          <a:stretch>
            <a:fillRect/>
          </a:stretch>
        </p:blipFill>
        <p:spPr>
          <a:xfrm>
            <a:off x="3886200" y="1870075"/>
            <a:ext cx="5913944" cy="3255963"/>
          </a:xfrm>
        </p:spPr>
      </p:pic>
      <p:sp>
        <p:nvSpPr>
          <p:cNvPr id="8" name="Content Placeholder 2"/>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None/>
            </a:pPr>
            <a:r>
              <a:rPr lang="en-US" dirty="0"/>
              <a:t>Layered structure</a:t>
            </a:r>
          </a:p>
        </p:txBody>
      </p:sp>
      <p:sp>
        <p:nvSpPr>
          <p:cNvPr id="9" name="Line Callout 2 8"/>
          <p:cNvSpPr/>
          <p:nvPr/>
        </p:nvSpPr>
        <p:spPr>
          <a:xfrm>
            <a:off x="838200" y="2782888"/>
            <a:ext cx="2209800" cy="1218406"/>
          </a:xfrm>
          <a:prstGeom prst="borderCallout2">
            <a:avLst>
              <a:gd name="adj1" fmla="val 45330"/>
              <a:gd name="adj2" fmla="val 107184"/>
              <a:gd name="adj3" fmla="val 26568"/>
              <a:gd name="adj4" fmla="val 115230"/>
              <a:gd name="adj5" fmla="val 23380"/>
              <a:gd name="adj6" fmla="val 2162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This is for Objective-C programming (Mac OS X applications)</a:t>
            </a:r>
          </a:p>
        </p:txBody>
      </p:sp>
      <p:sp>
        <p:nvSpPr>
          <p:cNvPr id="10" name="Line Callout 2 9"/>
          <p:cNvSpPr/>
          <p:nvPr/>
        </p:nvSpPr>
        <p:spPr>
          <a:xfrm>
            <a:off x="266700" y="4573588"/>
            <a:ext cx="2514600" cy="1218406"/>
          </a:xfrm>
          <a:prstGeom prst="borderCallout2">
            <a:avLst>
              <a:gd name="adj1" fmla="val 45330"/>
              <a:gd name="adj2" fmla="val 107184"/>
              <a:gd name="adj3" fmla="val 26568"/>
              <a:gd name="adj4" fmla="val 115230"/>
              <a:gd name="adj5" fmla="val -15708"/>
              <a:gd name="adj6" fmla="val 17404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Memory management, RPCs and </a:t>
            </a:r>
            <a:r>
              <a:rPr lang="en-US" dirty="0" err="1"/>
              <a:t>Interprocess</a:t>
            </a:r>
            <a:r>
              <a:rPr lang="en-US" dirty="0"/>
              <a:t> communication, thread scheduling</a:t>
            </a:r>
          </a:p>
        </p:txBody>
      </p:sp>
      <p:sp>
        <p:nvSpPr>
          <p:cNvPr id="11" name="Line Callout 2 10"/>
          <p:cNvSpPr/>
          <p:nvPr/>
        </p:nvSpPr>
        <p:spPr>
          <a:xfrm>
            <a:off x="9182100" y="4589860"/>
            <a:ext cx="2514600" cy="1218406"/>
          </a:xfrm>
          <a:prstGeom prst="borderCallout2">
            <a:avLst>
              <a:gd name="adj1" fmla="val -12520"/>
              <a:gd name="adj2" fmla="val 39760"/>
              <a:gd name="adj3" fmla="val -40663"/>
              <a:gd name="adj4" fmla="val 40988"/>
              <a:gd name="adj5" fmla="val -62614"/>
              <a:gd name="adj6" fmla="val 435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Command-line interface, networking, file system</a:t>
            </a:r>
            <a:endParaRPr lang="en-US" dirty="0"/>
          </a:p>
        </p:txBody>
      </p:sp>
    </p:spTree>
    <p:extLst>
      <p:ext uri="{BB962C8B-B14F-4D97-AF65-F5344CB8AC3E}">
        <p14:creationId xmlns:p14="http://schemas.microsoft.com/office/powerpoint/2010/main" val="5009134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2_17.pdf"/>
          <p:cNvPicPr>
            <a:picLocks noChangeAspect="1"/>
          </p:cNvPicPr>
          <p:nvPr/>
        </p:nvPicPr>
        <p:blipFill>
          <a:blip r:embed="rId2">
            <a:extLst>
              <a:ext uri="{28A0092B-C50C-407E-A947-70E740481C1C}">
                <a14:useLocalDpi xmlns:a14="http://schemas.microsoft.com/office/drawing/2010/main"/>
              </a:ext>
            </a:extLst>
          </a:blip>
          <a:srcRect/>
          <a:stretch>
            <a:fillRect/>
          </a:stretch>
        </p:blipFill>
        <p:spPr bwMode="auto">
          <a:xfrm>
            <a:off x="7044278" y="1927541"/>
            <a:ext cx="2928937" cy="3064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loud Callout 2"/>
          <p:cNvSpPr/>
          <p:nvPr/>
        </p:nvSpPr>
        <p:spPr>
          <a:xfrm>
            <a:off x="209550" y="3452334"/>
            <a:ext cx="5886450" cy="3079750"/>
          </a:xfrm>
          <a:prstGeom prst="cloudCallout">
            <a:avLst>
              <a:gd name="adj1" fmla="val 66546"/>
              <a:gd name="adj2" fmla="val -99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p>
            <a:r>
              <a:rPr lang="en-US" sz="3600" dirty="0"/>
              <a:t>Hybrid systems – iOS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44</a:t>
            </a:fld>
            <a:endParaRPr lang="en-US"/>
          </a:p>
        </p:txBody>
      </p:sp>
      <p:pic>
        <p:nvPicPr>
          <p:cNvPr id="7" name="Content Placeholder 3" descr="2_16.pdf"/>
          <p:cNvPicPr>
            <a:picLocks noGrp="1" noChangeAspect="1"/>
          </p:cNvPicPr>
          <p:nvPr>
            <p:ph idx="1"/>
          </p:nvPr>
        </p:nvPicPr>
        <p:blipFill>
          <a:blip r:embed="rId3" cstate="print">
            <a:extLst>
              <a:ext uri="{28A0092B-C50C-407E-A947-70E740481C1C}">
                <a14:useLocalDpi xmlns:a14="http://schemas.microsoft.com/office/drawing/2010/main"/>
              </a:ext>
            </a:extLst>
          </a:blip>
          <a:srcRect l="554" r="554"/>
          <a:stretch>
            <a:fillRect/>
          </a:stretch>
        </p:blipFill>
        <p:spPr>
          <a:xfrm>
            <a:off x="1157828" y="3973700"/>
            <a:ext cx="3699922" cy="2037017"/>
          </a:xfrm>
        </p:spPr>
      </p:pic>
      <p:sp>
        <p:nvSpPr>
          <p:cNvPr id="13" name="Line Callout 2 12"/>
          <p:cNvSpPr/>
          <p:nvPr/>
        </p:nvSpPr>
        <p:spPr>
          <a:xfrm>
            <a:off x="2476500" y="1912489"/>
            <a:ext cx="2209800" cy="1218406"/>
          </a:xfrm>
          <a:prstGeom prst="borderCallout2">
            <a:avLst>
              <a:gd name="adj1" fmla="val 45330"/>
              <a:gd name="adj2" fmla="val 107184"/>
              <a:gd name="adj3" fmla="val 26568"/>
              <a:gd name="adj4" fmla="val 115230"/>
              <a:gd name="adj5" fmla="val 23380"/>
              <a:gd name="adj6" fmla="val 2162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Provides support for touchscreen devices</a:t>
            </a:r>
          </a:p>
        </p:txBody>
      </p:sp>
    </p:spTree>
    <p:extLst>
      <p:ext uri="{BB962C8B-B14F-4D97-AF65-F5344CB8AC3E}">
        <p14:creationId xmlns:p14="http://schemas.microsoft.com/office/powerpoint/2010/main" val="6928755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Hybrid systems – Android</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45</a:t>
            </a:fld>
            <a:endParaRPr lang="en-US"/>
          </a:p>
        </p:txBody>
      </p:sp>
      <p:pic>
        <p:nvPicPr>
          <p:cNvPr id="11" name="Content Placeholder 2" descr="2_18.pdf"/>
          <p:cNvPicPr>
            <a:picLocks noGrp="1" noChangeAspect="1"/>
          </p:cNvPicPr>
          <p:nvPr>
            <p:ph idx="1"/>
          </p:nvPr>
        </p:nvPicPr>
        <p:blipFill>
          <a:blip r:embed="rId2" cstate="print">
            <a:extLst>
              <a:ext uri="{28A0092B-C50C-407E-A947-70E740481C1C}">
                <a14:useLocalDpi xmlns:a14="http://schemas.microsoft.com/office/drawing/2010/main"/>
              </a:ext>
            </a:extLst>
          </a:blip>
          <a:srcRect t="15273" b="15273"/>
          <a:stretch>
            <a:fillRect/>
          </a:stretch>
        </p:blipFill>
        <p:spPr>
          <a:xfrm>
            <a:off x="1785660" y="2179948"/>
            <a:ext cx="5510490" cy="3034990"/>
          </a:xfrm>
        </p:spPr>
      </p:pic>
      <p:sp>
        <p:nvSpPr>
          <p:cNvPr id="14" name="Line Callout 2 13"/>
          <p:cNvSpPr/>
          <p:nvPr/>
        </p:nvSpPr>
        <p:spPr>
          <a:xfrm>
            <a:off x="7924800" y="4323160"/>
            <a:ext cx="2514600" cy="1218406"/>
          </a:xfrm>
          <a:prstGeom prst="borderCallout2">
            <a:avLst>
              <a:gd name="adj1" fmla="val 26568"/>
              <a:gd name="adj2" fmla="val -5695"/>
              <a:gd name="adj3" fmla="val 26568"/>
              <a:gd name="adj4" fmla="val -14315"/>
              <a:gd name="adj5" fmla="val -73"/>
              <a:gd name="adj6" fmla="val -380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“Java </a:t>
            </a:r>
            <a:r>
              <a:rPr lang="en-US"/>
              <a:t>for Android</a:t>
            </a:r>
            <a:r>
              <a:rPr lang="en-US" dirty="0"/>
              <a:t>” virtual machine</a:t>
            </a:r>
          </a:p>
        </p:txBody>
      </p:sp>
      <p:sp>
        <p:nvSpPr>
          <p:cNvPr id="9" name="TextBox 8"/>
          <p:cNvSpPr txBox="1"/>
          <p:nvPr/>
        </p:nvSpPr>
        <p:spPr>
          <a:xfrm>
            <a:off x="1785660" y="1690688"/>
            <a:ext cx="5510490" cy="369332"/>
          </a:xfrm>
          <a:prstGeom prst="rect">
            <a:avLst/>
          </a:prstGeom>
          <a:noFill/>
          <a:ln>
            <a:solidFill>
              <a:schemeClr val="tx1"/>
            </a:solidFill>
          </a:ln>
        </p:spPr>
        <p:txBody>
          <a:bodyPr wrap="square" rtlCol="0">
            <a:spAutoFit/>
          </a:bodyPr>
          <a:lstStyle/>
          <a:p>
            <a:pPr algn="ctr"/>
            <a:r>
              <a:rPr lang="en-US"/>
              <a:t>Applications</a:t>
            </a:r>
          </a:p>
        </p:txBody>
      </p:sp>
      <p:sp>
        <p:nvSpPr>
          <p:cNvPr id="15" name="TextBox 14"/>
          <p:cNvSpPr txBox="1"/>
          <p:nvPr/>
        </p:nvSpPr>
        <p:spPr>
          <a:xfrm>
            <a:off x="1785660" y="5343114"/>
            <a:ext cx="5510490" cy="369332"/>
          </a:xfrm>
          <a:prstGeom prst="rect">
            <a:avLst/>
          </a:prstGeom>
          <a:noFill/>
          <a:ln>
            <a:solidFill>
              <a:schemeClr val="tx1"/>
            </a:solidFill>
          </a:ln>
        </p:spPr>
        <p:txBody>
          <a:bodyPr wrap="square" rtlCol="0">
            <a:spAutoFit/>
          </a:bodyPr>
          <a:lstStyle/>
          <a:p>
            <a:pPr algn="ctr"/>
            <a:r>
              <a:rPr lang="en-US" dirty="0"/>
              <a:t>Linux kernel</a:t>
            </a:r>
          </a:p>
        </p:txBody>
      </p:sp>
    </p:spTree>
    <p:extLst>
      <p:ext uri="{BB962C8B-B14F-4D97-AF65-F5344CB8AC3E}">
        <p14:creationId xmlns:p14="http://schemas.microsoft.com/office/powerpoint/2010/main" val="3204712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4031</TotalTime>
  <Words>3131</Words>
  <Application>Microsoft Macintosh PowerPoint</Application>
  <PresentationFormat>Widescreen</PresentationFormat>
  <Paragraphs>473</Paragraphs>
  <Slides>45</Slides>
  <Notes>16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MS PGothic</vt:lpstr>
      <vt:lpstr>Arial</vt:lpstr>
      <vt:lpstr>Calibri</vt:lpstr>
      <vt:lpstr>Calibri Light</vt:lpstr>
      <vt:lpstr>Helvetica</vt:lpstr>
      <vt:lpstr>Times New Roman</vt:lpstr>
      <vt:lpstr>Wingdings</vt:lpstr>
      <vt:lpstr>Office Theme</vt:lpstr>
      <vt:lpstr>PowerPoint Presentation</vt:lpstr>
      <vt:lpstr>What to read (Main textbook)</vt:lpstr>
      <vt:lpstr>Agenda</vt:lpstr>
      <vt:lpstr>Agenda</vt:lpstr>
      <vt:lpstr>Components of a Computer System</vt:lpstr>
      <vt:lpstr>How can we define what an Operating System is and does? </vt:lpstr>
      <vt:lpstr>Operating System as Component of a Computer System</vt:lpstr>
      <vt:lpstr>Agenda</vt:lpstr>
      <vt:lpstr>How does the OS manage devices and users?</vt:lpstr>
      <vt:lpstr>Events/interrupts are the basic “ticks” of the OS cycle </vt:lpstr>
      <vt:lpstr>Agenda</vt:lpstr>
      <vt:lpstr>A deeper look at the OS…</vt:lpstr>
      <vt:lpstr>Agenda</vt:lpstr>
      <vt:lpstr>Wait a moment…</vt:lpstr>
      <vt:lpstr>Dual-mode and Multimode Operations (I)</vt:lpstr>
      <vt:lpstr>Dual-mode and Multimode Operations (II)</vt:lpstr>
      <vt:lpstr>A special interrupt mechanism: the timer</vt:lpstr>
      <vt:lpstr>Question(s)</vt:lpstr>
      <vt:lpstr>Agenda</vt:lpstr>
      <vt:lpstr>What does the operating system provide?</vt:lpstr>
      <vt:lpstr>What does the operating system provide?</vt:lpstr>
      <vt:lpstr>What does the operating system provide?</vt:lpstr>
      <vt:lpstr>What does the operating system provide?</vt:lpstr>
      <vt:lpstr>Agenda</vt:lpstr>
      <vt:lpstr>Let’s say we want to copy a file…</vt:lpstr>
      <vt:lpstr>Application Programming Interfaces (APIs)</vt:lpstr>
      <vt:lpstr>Sample API</vt:lpstr>
      <vt:lpstr>System call interface</vt:lpstr>
      <vt:lpstr>How are parameters passed to a system call?</vt:lpstr>
      <vt:lpstr>Types of system calls (I)</vt:lpstr>
      <vt:lpstr>Types of system calls (II)</vt:lpstr>
      <vt:lpstr>Types of system calls (III)</vt:lpstr>
      <vt:lpstr>Types of system calls (IV)</vt:lpstr>
      <vt:lpstr>Some examples</vt:lpstr>
      <vt:lpstr>Agenda</vt:lpstr>
      <vt:lpstr>How does the computer know where / how to load the kernel at startup?</vt:lpstr>
      <vt:lpstr>Agenda</vt:lpstr>
      <vt:lpstr>Operating System structure</vt:lpstr>
      <vt:lpstr>Operating System structure</vt:lpstr>
      <vt:lpstr>Operating System structure</vt:lpstr>
      <vt:lpstr>Operating System structure</vt:lpstr>
      <vt:lpstr>Operating System structure</vt:lpstr>
      <vt:lpstr>Hybrid systems – Mac OS X</vt:lpstr>
      <vt:lpstr>Hybrid systems – iOS</vt:lpstr>
      <vt:lpstr>Hybrid systems – Android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Vincenzo Gulisano</cp:lastModifiedBy>
  <cp:revision>115</cp:revision>
  <cp:lastPrinted>2020-09-03T08:27:10Z</cp:lastPrinted>
  <dcterms:created xsi:type="dcterms:W3CDTF">2015-10-29T23:14:11Z</dcterms:created>
  <dcterms:modified xsi:type="dcterms:W3CDTF">2026-09-06T07:40:28Z</dcterms:modified>
</cp:coreProperties>
</file>