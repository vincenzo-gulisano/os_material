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77" r:id="rId2"/>
    <p:sldId id="261" r:id="rId3"/>
    <p:sldId id="298" r:id="rId4"/>
    <p:sldId id="299" r:id="rId5"/>
    <p:sldId id="257" r:id="rId6"/>
    <p:sldId id="259" r:id="rId7"/>
    <p:sldId id="258" r:id="rId8"/>
    <p:sldId id="300" r:id="rId9"/>
    <p:sldId id="263" r:id="rId10"/>
    <p:sldId id="264" r:id="rId11"/>
    <p:sldId id="301" r:id="rId12"/>
    <p:sldId id="266" r:id="rId13"/>
    <p:sldId id="302" r:id="rId14"/>
    <p:sldId id="268" r:id="rId15"/>
    <p:sldId id="270" r:id="rId16"/>
    <p:sldId id="271" r:id="rId17"/>
    <p:sldId id="272" r:id="rId18"/>
    <p:sldId id="316" r:id="rId19"/>
    <p:sldId id="305" r:id="rId20"/>
    <p:sldId id="279" r:id="rId21"/>
    <p:sldId id="281" r:id="rId22"/>
    <p:sldId id="282" r:id="rId23"/>
    <p:sldId id="283" r:id="rId24"/>
    <p:sldId id="306"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315" r:id="rId38"/>
    <p:sldId id="307" r:id="rId39"/>
    <p:sldId id="308" r:id="rId40"/>
    <p:sldId id="309" r:id="rId41"/>
    <p:sldId id="310" r:id="rId42"/>
    <p:sldId id="311" r:id="rId43"/>
    <p:sldId id="312" r:id="rId44"/>
    <p:sldId id="313" r:id="rId45"/>
    <p:sldId id="31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ncenzo Massimiliano Gulisano" initials="VM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EEABAD-FE58-C242-B264-364676968BBC}" v="33" dt="2025-09-01T12:02:27.8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47"/>
    <p:restoredTop sz="95976"/>
  </p:normalViewPr>
  <p:slideViewPr>
    <p:cSldViewPr snapToGrid="0" snapToObjects="1">
      <p:cViewPr varScale="1">
        <p:scale>
          <a:sx n="111" d="100"/>
          <a:sy n="111" d="100"/>
        </p:scale>
        <p:origin x="992" y="208"/>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undo redo custSel addSld modSld sldOrd">
      <pc:chgData name="Vincenzo Massimiliano Gulisano" userId="887d7398-9e41-4331-abd4-9c23f064ea90" providerId="ADAL" clId="{8EA10870-6395-588A-9409-E8E4CA631CF7}" dt="2025-09-04T07:53:10.857" v="919" actId="20578"/>
      <pc:docMkLst>
        <pc:docMk/>
      </pc:docMkLst>
      <pc:sldChg chg="modSp mod">
        <pc:chgData name="Vincenzo Massimiliano Gulisano" userId="887d7398-9e41-4331-abd4-9c23f064ea90" providerId="ADAL" clId="{8EA10870-6395-588A-9409-E8E4CA631CF7}" dt="2025-09-04T07:51:57.437" v="908" actId="20577"/>
        <pc:sldMkLst>
          <pc:docMk/>
          <pc:sldMk cId="1192441771" sldId="257"/>
        </pc:sldMkLst>
        <pc:spChg chg="mod">
          <ac:chgData name="Vincenzo Massimiliano Gulisano" userId="887d7398-9e41-4331-abd4-9c23f064ea90" providerId="ADAL" clId="{8EA10870-6395-588A-9409-E8E4CA631CF7}" dt="2025-09-04T07:51:57.437" v="908" actId="20577"/>
          <ac:spMkLst>
            <pc:docMk/>
            <pc:sldMk cId="1192441771" sldId="257"/>
            <ac:spMk id="3" creationId="{00000000-0000-0000-0000-000000000000}"/>
          </ac:spMkLst>
        </pc:spChg>
      </pc:sldChg>
      <pc:sldChg chg="modSp">
        <pc:chgData name="Vincenzo Massimiliano Gulisano" userId="887d7398-9e41-4331-abd4-9c23f064ea90" providerId="ADAL" clId="{8EA10870-6395-588A-9409-E8E4CA631CF7}" dt="2025-09-01T11:31:14.567" v="0" actId="20577"/>
        <pc:sldMkLst>
          <pc:docMk/>
          <pc:sldMk cId="969321489" sldId="270"/>
        </pc:sldMkLst>
        <pc:spChg chg="mod">
          <ac:chgData name="Vincenzo Massimiliano Gulisano" userId="887d7398-9e41-4331-abd4-9c23f064ea90" providerId="ADAL" clId="{8EA10870-6395-588A-9409-E8E4CA631CF7}" dt="2025-09-01T11:31:14.567" v="0" actId="20577"/>
          <ac:spMkLst>
            <pc:docMk/>
            <pc:sldMk cId="969321489" sldId="270"/>
            <ac:spMk id="3" creationId="{00000000-0000-0000-0000-000000000000}"/>
          </ac:spMkLst>
        </pc:spChg>
      </pc:sldChg>
      <pc:sldChg chg="modSp modNotesTx">
        <pc:chgData name="Vincenzo Massimiliano Gulisano" userId="887d7398-9e41-4331-abd4-9c23f064ea90" providerId="ADAL" clId="{8EA10870-6395-588A-9409-E8E4CA631CF7}" dt="2025-09-01T11:37:30.858" v="3" actId="20577"/>
        <pc:sldMkLst>
          <pc:docMk/>
          <pc:sldMk cId="1926186313" sldId="271"/>
        </pc:sldMkLst>
        <pc:spChg chg="mod">
          <ac:chgData name="Vincenzo Massimiliano Gulisano" userId="887d7398-9e41-4331-abd4-9c23f064ea90" providerId="ADAL" clId="{8EA10870-6395-588A-9409-E8E4CA631CF7}" dt="2025-09-01T11:31:31.634" v="1" actId="20577"/>
          <ac:spMkLst>
            <pc:docMk/>
            <pc:sldMk cId="1926186313" sldId="271"/>
            <ac:spMk id="3" creationId="{00000000-0000-0000-0000-000000000000}"/>
          </ac:spMkLst>
        </pc:spChg>
      </pc:sldChg>
      <pc:sldChg chg="modNotesTx">
        <pc:chgData name="Vincenzo Massimiliano Gulisano" userId="887d7398-9e41-4331-abd4-9c23f064ea90" providerId="ADAL" clId="{8EA10870-6395-588A-9409-E8E4CA631CF7}" dt="2025-09-01T11:39:17.113" v="6" actId="20577"/>
        <pc:sldMkLst>
          <pc:docMk/>
          <pc:sldMk cId="1979103838" sldId="307"/>
        </pc:sldMkLst>
      </pc:sldChg>
      <pc:sldChg chg="modNotesTx">
        <pc:chgData name="Vincenzo Massimiliano Gulisano" userId="887d7398-9e41-4331-abd4-9c23f064ea90" providerId="ADAL" clId="{8EA10870-6395-588A-9409-E8E4CA631CF7}" dt="2025-09-01T11:40:13.919" v="8" actId="20577"/>
        <pc:sldMkLst>
          <pc:docMk/>
          <pc:sldMk cId="1290651021" sldId="308"/>
        </pc:sldMkLst>
      </pc:sldChg>
      <pc:sldChg chg="addSp modSp new mod ord modAnim">
        <pc:chgData name="Vincenzo Massimiliano Gulisano" userId="887d7398-9e41-4331-abd4-9c23f064ea90" providerId="ADAL" clId="{8EA10870-6395-588A-9409-E8E4CA631CF7}" dt="2025-09-04T07:53:10.857" v="919" actId="20578"/>
        <pc:sldMkLst>
          <pc:docMk/>
          <pc:sldMk cId="2874916304" sldId="316"/>
        </pc:sldMkLst>
        <pc:spChg chg="mod">
          <ac:chgData name="Vincenzo Massimiliano Gulisano" userId="887d7398-9e41-4331-abd4-9c23f064ea90" providerId="ADAL" clId="{8EA10870-6395-588A-9409-E8E4CA631CF7}" dt="2025-09-01T11:43:47.896" v="24" actId="20577"/>
          <ac:spMkLst>
            <pc:docMk/>
            <pc:sldMk cId="2874916304" sldId="316"/>
            <ac:spMk id="2" creationId="{2FAB60FA-2C2D-A9D2-A59B-3D7FE41439C0}"/>
          </ac:spMkLst>
        </pc:spChg>
        <pc:spChg chg="mod">
          <ac:chgData name="Vincenzo Massimiliano Gulisano" userId="887d7398-9e41-4331-abd4-9c23f064ea90" providerId="ADAL" clId="{8EA10870-6395-588A-9409-E8E4CA631CF7}" dt="2025-09-01T11:58:15.226" v="799" actId="1076"/>
          <ac:spMkLst>
            <pc:docMk/>
            <pc:sldMk cId="2874916304" sldId="316"/>
            <ac:spMk id="3" creationId="{80558F6A-2505-44DC-2534-8BF43C9765D7}"/>
          </ac:spMkLst>
        </pc:spChg>
        <pc:spChg chg="add mod">
          <ac:chgData name="Vincenzo Massimiliano Gulisano" userId="887d7398-9e41-4331-abd4-9c23f064ea90" providerId="ADAL" clId="{8EA10870-6395-588A-9409-E8E4CA631CF7}" dt="2025-09-01T11:59:57.762" v="814" actId="1035"/>
          <ac:spMkLst>
            <pc:docMk/>
            <pc:sldMk cId="2874916304" sldId="316"/>
            <ac:spMk id="9" creationId="{5013DD78-D8FA-17B1-0922-607AB976D838}"/>
          </ac:spMkLst>
        </pc:spChg>
        <pc:spChg chg="add mod">
          <ac:chgData name="Vincenzo Massimiliano Gulisano" userId="887d7398-9e41-4331-abd4-9c23f064ea90" providerId="ADAL" clId="{8EA10870-6395-588A-9409-E8E4CA631CF7}" dt="2025-09-01T11:59:57.762" v="814" actId="1035"/>
          <ac:spMkLst>
            <pc:docMk/>
            <pc:sldMk cId="2874916304" sldId="316"/>
            <ac:spMk id="12" creationId="{3EDC5BF1-7792-B0F8-8540-34D7207C1A2F}"/>
          </ac:spMkLst>
        </pc:spChg>
        <pc:spChg chg="add mod">
          <ac:chgData name="Vincenzo Massimiliano Gulisano" userId="887d7398-9e41-4331-abd4-9c23f064ea90" providerId="ADAL" clId="{8EA10870-6395-588A-9409-E8E4CA631CF7}" dt="2025-09-01T11:59:57.762" v="814" actId="1035"/>
          <ac:spMkLst>
            <pc:docMk/>
            <pc:sldMk cId="2874916304" sldId="316"/>
            <ac:spMk id="16" creationId="{D16BF9F1-D6B7-E32B-9144-3BE5FC155A32}"/>
          </ac:spMkLst>
        </pc:spChg>
        <pc:spChg chg="add mod">
          <ac:chgData name="Vincenzo Massimiliano Gulisano" userId="887d7398-9e41-4331-abd4-9c23f064ea90" providerId="ADAL" clId="{8EA10870-6395-588A-9409-E8E4CA631CF7}" dt="2025-09-01T11:59:57.762" v="814" actId="1035"/>
          <ac:spMkLst>
            <pc:docMk/>
            <pc:sldMk cId="2874916304" sldId="316"/>
            <ac:spMk id="17" creationId="{FDF23F3A-917F-FE0F-1242-0FF9B45D8EE7}"/>
          </ac:spMkLst>
        </pc:spChg>
        <pc:spChg chg="add mod">
          <ac:chgData name="Vincenzo Massimiliano Gulisano" userId="887d7398-9e41-4331-abd4-9c23f064ea90" providerId="ADAL" clId="{8EA10870-6395-588A-9409-E8E4CA631CF7}" dt="2025-09-01T11:59:57.762" v="814" actId="1035"/>
          <ac:spMkLst>
            <pc:docMk/>
            <pc:sldMk cId="2874916304" sldId="316"/>
            <ac:spMk id="19" creationId="{47627BF3-4028-285E-F699-1EA5E88941AD}"/>
          </ac:spMkLst>
        </pc:spChg>
        <pc:spChg chg="add mod">
          <ac:chgData name="Vincenzo Massimiliano Gulisano" userId="887d7398-9e41-4331-abd4-9c23f064ea90" providerId="ADAL" clId="{8EA10870-6395-588A-9409-E8E4CA631CF7}" dt="2025-09-01T11:59:57.762" v="814" actId="1035"/>
          <ac:spMkLst>
            <pc:docMk/>
            <pc:sldMk cId="2874916304" sldId="316"/>
            <ac:spMk id="21" creationId="{2702F1FA-6619-9590-DE58-C1C2756782AD}"/>
          </ac:spMkLst>
        </pc:spChg>
        <pc:spChg chg="add mod">
          <ac:chgData name="Vincenzo Massimiliano Gulisano" userId="887d7398-9e41-4331-abd4-9c23f064ea90" providerId="ADAL" clId="{8EA10870-6395-588A-9409-E8E4CA631CF7}" dt="2025-09-01T12:02:06.611" v="898" actId="1076"/>
          <ac:spMkLst>
            <pc:docMk/>
            <pc:sldMk cId="2874916304" sldId="316"/>
            <ac:spMk id="22" creationId="{2958CD49-CB2E-CA5B-6A80-89EBC4B845D9}"/>
          </ac:spMkLst>
        </pc:spChg>
        <pc:spChg chg="add mod">
          <ac:chgData name="Vincenzo Massimiliano Gulisano" userId="887d7398-9e41-4331-abd4-9c23f064ea90" providerId="ADAL" clId="{8EA10870-6395-588A-9409-E8E4CA631CF7}" dt="2025-09-01T11:59:57.762" v="814" actId="1035"/>
          <ac:spMkLst>
            <pc:docMk/>
            <pc:sldMk cId="2874916304" sldId="316"/>
            <ac:spMk id="27" creationId="{CAB7B1CF-E811-8339-5360-FECC7BE66338}"/>
          </ac:spMkLst>
        </pc:spChg>
        <pc:spChg chg="add mod">
          <ac:chgData name="Vincenzo Massimiliano Gulisano" userId="887d7398-9e41-4331-abd4-9c23f064ea90" providerId="ADAL" clId="{8EA10870-6395-588A-9409-E8E4CA631CF7}" dt="2025-09-01T11:59:57.762" v="814" actId="1035"/>
          <ac:spMkLst>
            <pc:docMk/>
            <pc:sldMk cId="2874916304" sldId="316"/>
            <ac:spMk id="28" creationId="{6080A570-CC05-9264-D996-7C87F665105C}"/>
          </ac:spMkLst>
        </pc:spChg>
        <pc:spChg chg="add mod">
          <ac:chgData name="Vincenzo Massimiliano Gulisano" userId="887d7398-9e41-4331-abd4-9c23f064ea90" providerId="ADAL" clId="{8EA10870-6395-588A-9409-E8E4CA631CF7}" dt="2025-09-01T11:59:57.762" v="814" actId="1035"/>
          <ac:spMkLst>
            <pc:docMk/>
            <pc:sldMk cId="2874916304" sldId="316"/>
            <ac:spMk id="32" creationId="{83E0CC82-707C-CE23-6B36-BA1887C99660}"/>
          </ac:spMkLst>
        </pc:spChg>
        <pc:spChg chg="add mod">
          <ac:chgData name="Vincenzo Massimiliano Gulisano" userId="887d7398-9e41-4331-abd4-9c23f064ea90" providerId="ADAL" clId="{8EA10870-6395-588A-9409-E8E4CA631CF7}" dt="2025-09-01T12:00:29.709" v="820" actId="1076"/>
          <ac:spMkLst>
            <pc:docMk/>
            <pc:sldMk cId="2874916304" sldId="316"/>
            <ac:spMk id="36" creationId="{E15782BD-0E09-DACC-5503-06D09B3A6D19}"/>
          </ac:spMkLst>
        </pc:spChg>
        <pc:spChg chg="add mod">
          <ac:chgData name="Vincenzo Massimiliano Gulisano" userId="887d7398-9e41-4331-abd4-9c23f064ea90" providerId="ADAL" clId="{8EA10870-6395-588A-9409-E8E4CA631CF7}" dt="2025-09-01T12:01:18.017" v="889" actId="207"/>
          <ac:spMkLst>
            <pc:docMk/>
            <pc:sldMk cId="2874916304" sldId="316"/>
            <ac:spMk id="40" creationId="{1CA717BC-5388-4D5B-3B1F-EF2AB5EE0960}"/>
          </ac:spMkLst>
        </pc:spChg>
        <pc:cxnChg chg="add">
          <ac:chgData name="Vincenzo Massimiliano Gulisano" userId="887d7398-9e41-4331-abd4-9c23f064ea90" providerId="ADAL" clId="{8EA10870-6395-588A-9409-E8E4CA631CF7}" dt="2025-09-01T11:49:33.101" v="237" actId="11529"/>
          <ac:cxnSpMkLst>
            <pc:docMk/>
            <pc:sldMk cId="2874916304" sldId="316"/>
            <ac:cxnSpMk id="8" creationId="{768D672E-A9BB-DF29-CC74-11BDDAA05D8A}"/>
          </ac:cxnSpMkLst>
        </pc:cxnChg>
        <pc:cxnChg chg="add mod">
          <ac:chgData name="Vincenzo Massimiliano Gulisano" userId="887d7398-9e41-4331-abd4-9c23f064ea90" providerId="ADAL" clId="{8EA10870-6395-588A-9409-E8E4CA631CF7}" dt="2025-09-01T11:49:59.691" v="245" actId="1076"/>
          <ac:cxnSpMkLst>
            <pc:docMk/>
            <pc:sldMk cId="2874916304" sldId="316"/>
            <ac:cxnSpMk id="11" creationId="{5BD0D56B-955B-892C-123F-D20C0A8C35B5}"/>
          </ac:cxnSpMkLst>
        </pc:cxnChg>
        <pc:cxnChg chg="add mod">
          <ac:chgData name="Vincenzo Massimiliano Gulisano" userId="887d7398-9e41-4331-abd4-9c23f064ea90" providerId="ADAL" clId="{8EA10870-6395-588A-9409-E8E4CA631CF7}" dt="2025-09-01T11:52:21.706" v="414" actId="14100"/>
          <ac:cxnSpMkLst>
            <pc:docMk/>
            <pc:sldMk cId="2874916304" sldId="316"/>
            <ac:cxnSpMk id="14" creationId="{8717BA5D-5E4E-B9E8-9AA6-66783E83A5A3}"/>
          </ac:cxnSpMkLst>
        </pc:cxnChg>
        <pc:cxnChg chg="add mod">
          <ac:chgData name="Vincenzo Massimiliano Gulisano" userId="887d7398-9e41-4331-abd4-9c23f064ea90" providerId="ADAL" clId="{8EA10870-6395-588A-9409-E8E4CA631CF7}" dt="2025-09-01T11:50:40.940" v="283" actId="1076"/>
          <ac:cxnSpMkLst>
            <pc:docMk/>
            <pc:sldMk cId="2874916304" sldId="316"/>
            <ac:cxnSpMk id="15" creationId="{18AFDE09-327F-6B0F-FDE1-F81F93C7246D}"/>
          </ac:cxnSpMkLst>
        </pc:cxnChg>
        <pc:cxnChg chg="add mod">
          <ac:chgData name="Vincenzo Massimiliano Gulisano" userId="887d7398-9e41-4331-abd4-9c23f064ea90" providerId="ADAL" clId="{8EA10870-6395-588A-9409-E8E4CA631CF7}" dt="2025-09-01T11:52:03.574" v="407" actId="1076"/>
          <ac:cxnSpMkLst>
            <pc:docMk/>
            <pc:sldMk cId="2874916304" sldId="316"/>
            <ac:cxnSpMk id="18" creationId="{B10A47F5-5CF9-4B2B-F8ED-368F76C086AE}"/>
          </ac:cxnSpMkLst>
        </pc:cxnChg>
        <pc:cxnChg chg="add mod">
          <ac:chgData name="Vincenzo Massimiliano Gulisano" userId="887d7398-9e41-4331-abd4-9c23f064ea90" providerId="ADAL" clId="{8EA10870-6395-588A-9409-E8E4CA631CF7}" dt="2025-09-01T12:02:10.191" v="899" actId="14100"/>
          <ac:cxnSpMkLst>
            <pc:docMk/>
            <pc:sldMk cId="2874916304" sldId="316"/>
            <ac:cxnSpMk id="23" creationId="{DA450281-C816-9BC7-DD88-E85E4E244E2E}"/>
          </ac:cxnSpMkLst>
        </pc:cxnChg>
        <pc:cxnChg chg="add mod">
          <ac:chgData name="Vincenzo Massimiliano Gulisano" userId="887d7398-9e41-4331-abd4-9c23f064ea90" providerId="ADAL" clId="{8EA10870-6395-588A-9409-E8E4CA631CF7}" dt="2025-09-01T11:54:31.291" v="617" actId="1076"/>
          <ac:cxnSpMkLst>
            <pc:docMk/>
            <pc:sldMk cId="2874916304" sldId="316"/>
            <ac:cxnSpMk id="26" creationId="{7B3C28D4-E203-33B3-4D77-7A33B3B1D2D1}"/>
          </ac:cxnSpMkLst>
        </pc:cxnChg>
        <pc:cxnChg chg="add mod">
          <ac:chgData name="Vincenzo Massimiliano Gulisano" userId="887d7398-9e41-4331-abd4-9c23f064ea90" providerId="ADAL" clId="{8EA10870-6395-588A-9409-E8E4CA631CF7}" dt="2025-09-01T11:57:16.025" v="672" actId="14100"/>
          <ac:cxnSpMkLst>
            <pc:docMk/>
            <pc:sldMk cId="2874916304" sldId="316"/>
            <ac:cxnSpMk id="33" creationId="{7D8A3589-BA14-ECF1-0A74-906C50B94274}"/>
          </ac:cxnSpMkLst>
        </pc:cxnChg>
        <pc:cxnChg chg="add mod">
          <ac:chgData name="Vincenzo Massimiliano Gulisano" userId="887d7398-9e41-4331-abd4-9c23f064ea90" providerId="ADAL" clId="{8EA10870-6395-588A-9409-E8E4CA631CF7}" dt="2025-09-01T12:00:39.893" v="824" actId="208"/>
          <ac:cxnSpMkLst>
            <pc:docMk/>
            <pc:sldMk cId="2874916304" sldId="316"/>
            <ac:cxnSpMk id="37" creationId="{C20D395A-A356-F03C-2FED-996A87BDCC4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E9BEDE-193D-0C4A-83C6-E7514FE05B4B}" type="datetimeFigureOut">
              <a:rPr lang="en-US" smtClean="0"/>
              <a:t>9/4/25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0E5217-B316-6C40-9549-0AC744C3C37B}" type="slidenum">
              <a:rPr lang="en-US" smtClean="0"/>
              <a:t>‹#›</a:t>
            </a:fld>
            <a:endParaRPr lang="en-US"/>
          </a:p>
        </p:txBody>
      </p:sp>
    </p:spTree>
    <p:extLst>
      <p:ext uri="{BB962C8B-B14F-4D97-AF65-F5344CB8AC3E}">
        <p14:creationId xmlns:p14="http://schemas.microsoft.com/office/powerpoint/2010/main" val="161088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757A2C-8941-40A3-B23F-9B6C8A580B0A}" type="slidenum">
              <a:rPr lang="en-US" altLang="en-US" smtClean="0">
                <a:latin typeface="Helvetica" panose="020B0604020202020204" pitchFamily="34" charset="0"/>
              </a:rPr>
              <a:pPr/>
              <a:t>1</a:t>
            </a:fld>
            <a:endParaRPr lang="en-US" altLang="en-US" dirty="0">
              <a:latin typeface="Helvetica" panose="020B0604020202020204" pitchFamily="34" charset="0"/>
            </a:endParaRPr>
          </a:p>
        </p:txBody>
      </p:sp>
      <p:sp>
        <p:nvSpPr>
          <p:cNvPr id="6147" name="Rectangle 2"/>
          <p:cNvSpPr>
            <a:spLocks noGrp="1" noRot="1" noChangeAspect="1" noChangeArrowheads="1" noTextEdit="1"/>
          </p:cNvSpPr>
          <p:nvPr>
            <p:ph type="sldImg"/>
          </p:nvPr>
        </p:nvSpPr>
        <p:spPr>
          <a:xfrm>
            <a:off x="685800" y="1143000"/>
            <a:ext cx="5486400" cy="3086100"/>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679718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ltLang="sv-SE" sz="2400" dirty="0">
                <a:latin typeface="Times New Roman" pitchFamily="18" charset="0"/>
              </a:rPr>
              <a:t>Computer system </a:t>
            </a:r>
            <a:r>
              <a:rPr lang="sv-SE" altLang="sv-SE" sz="2400" dirty="0" err="1">
                <a:latin typeface="Times New Roman" pitchFamily="18" charset="0"/>
              </a:rPr>
              <a:t>can</a:t>
            </a:r>
            <a:r>
              <a:rPr lang="sv-SE" altLang="sv-SE" sz="2400" dirty="0">
                <a:latin typeface="Times New Roman" pitchFamily="18" charset="0"/>
              </a:rPr>
              <a:t> be </a:t>
            </a:r>
            <a:r>
              <a:rPr lang="sv-SE" altLang="sv-SE" sz="2400" dirty="0" err="1">
                <a:latin typeface="Times New Roman" pitchFamily="18" charset="0"/>
              </a:rPr>
              <a:t>divided</a:t>
            </a:r>
            <a:r>
              <a:rPr lang="sv-SE" altLang="sv-SE" sz="2400" dirty="0">
                <a:latin typeface="Times New Roman" pitchFamily="18" charset="0"/>
              </a:rPr>
              <a:t> in </a:t>
            </a:r>
            <a:r>
              <a:rPr lang="sv-SE" altLang="sv-SE" sz="2400" dirty="0" err="1">
                <a:latin typeface="Times New Roman" pitchFamily="18" charset="0"/>
              </a:rPr>
              <a:t>these</a:t>
            </a:r>
            <a:r>
              <a:rPr lang="sv-SE" altLang="sv-SE" sz="2400" dirty="0">
                <a:latin typeface="Times New Roman" pitchFamily="18" charset="0"/>
              </a:rPr>
              <a:t> 4 parts</a:t>
            </a:r>
          </a:p>
          <a:p>
            <a:endParaRPr lang="sv-SE" altLang="sv-SE" sz="2400" dirty="0">
              <a:latin typeface="Times New Roman" pitchFamily="18" charset="0"/>
            </a:endParaRPr>
          </a:p>
          <a:p>
            <a:r>
              <a:rPr lang="sv-SE" altLang="sv-SE" sz="2400" dirty="0">
                <a:latin typeface="Times New Roman" pitchFamily="18" charset="0"/>
              </a:rPr>
              <a:t>OS sits in </a:t>
            </a:r>
            <a:r>
              <a:rPr lang="sv-SE" altLang="sv-SE" sz="2400" dirty="0" err="1">
                <a:latin typeface="Times New Roman" pitchFamily="18" charset="0"/>
              </a:rPr>
              <a:t>between</a:t>
            </a:r>
            <a:r>
              <a:rPr lang="sv-SE" altLang="sv-SE" sz="2400" dirty="0">
                <a:latin typeface="Times New Roman" pitchFamily="18" charset="0"/>
              </a:rPr>
              <a:t> hardware and </a:t>
            </a:r>
            <a:r>
              <a:rPr lang="sv-SE" altLang="sv-SE" sz="2400" dirty="0" err="1">
                <a:latin typeface="Times New Roman" pitchFamily="18" charset="0"/>
              </a:rPr>
              <a:t>applications</a:t>
            </a:r>
            <a:r>
              <a:rPr lang="sv-SE" altLang="sv-SE" sz="2400" dirty="0">
                <a:latin typeface="Times New Roman" pitchFamily="18" charset="0"/>
              </a:rPr>
              <a:t> / </a:t>
            </a:r>
            <a:r>
              <a:rPr lang="sv-SE" altLang="sv-SE" sz="2400" dirty="0" err="1">
                <a:latin typeface="Times New Roman" pitchFamily="18" charset="0"/>
              </a:rPr>
              <a:t>users</a:t>
            </a:r>
            <a:endParaRPr lang="sv-SE" altLang="sv-SE" sz="2400" dirty="0">
              <a:latin typeface="Times New Roman" pitchFamily="18" charset="0"/>
            </a:endParaRPr>
          </a:p>
          <a:p>
            <a:endParaRPr lang="sv-SE" altLang="sv-SE" sz="2400" dirty="0">
              <a:latin typeface="Times New Roman" pitchFamily="18" charset="0"/>
            </a:endParaRPr>
          </a:p>
          <a:p>
            <a:r>
              <a:rPr lang="sv-SE" altLang="sv-SE" sz="2400" dirty="0">
                <a:latin typeface="Times New Roman" pitchFamily="18" charset="0"/>
              </a:rPr>
              <a:t>USER VIEW </a:t>
            </a:r>
            <a:r>
              <a:rPr lang="sv-SE" altLang="sv-SE" sz="2400" dirty="0" err="1">
                <a:latin typeface="Times New Roman" pitchFamily="18" charset="0"/>
              </a:rPr>
              <a:t>What</a:t>
            </a:r>
            <a:r>
              <a:rPr lang="sv-SE" altLang="sv-SE" sz="2400" dirty="0">
                <a:latin typeface="Times New Roman" pitchFamily="18" charset="0"/>
              </a:rPr>
              <a:t> it </a:t>
            </a:r>
            <a:r>
              <a:rPr lang="sv-SE" altLang="sv-SE" sz="2400" dirty="0" err="1">
                <a:latin typeface="Times New Roman" pitchFamily="18" charset="0"/>
              </a:rPr>
              <a:t>does</a:t>
            </a:r>
            <a:r>
              <a:rPr lang="sv-SE" altLang="sv-SE" sz="2400" baseline="0" dirty="0">
                <a:latin typeface="Times New Roman" pitchFamily="18" charset="0"/>
              </a:rPr>
              <a:t> </a:t>
            </a:r>
            <a:r>
              <a:rPr lang="sv-SE" altLang="sv-SE" sz="2400" baseline="0" dirty="0" err="1">
                <a:latin typeface="Times New Roman" pitchFamily="18" charset="0"/>
              </a:rPr>
              <a:t>depends</a:t>
            </a:r>
            <a:r>
              <a:rPr lang="sv-SE" altLang="sv-SE" sz="2400" baseline="0" dirty="0">
                <a:latin typeface="Times New Roman" pitchFamily="18" charset="0"/>
              </a:rPr>
              <a:t> on the </a:t>
            </a:r>
            <a:r>
              <a:rPr lang="sv-SE" altLang="sv-SE" sz="2400" baseline="0" dirty="0" err="1">
                <a:latin typeface="Times New Roman" pitchFamily="18" charset="0"/>
              </a:rPr>
              <a:t>user</a:t>
            </a:r>
            <a:r>
              <a:rPr lang="sv-SE" altLang="sv-SE" sz="2400" baseline="0" dirty="0">
                <a:latin typeface="Times New Roman" pitchFamily="18" charset="0"/>
              </a:rPr>
              <a:t>, </a:t>
            </a:r>
            <a:r>
              <a:rPr lang="sv-SE" altLang="sv-SE" sz="2400" baseline="0" dirty="0" err="1">
                <a:latin typeface="Times New Roman" pitchFamily="18" charset="0"/>
              </a:rPr>
              <a:t>single-user</a:t>
            </a:r>
            <a:r>
              <a:rPr lang="sv-SE" altLang="sv-SE" sz="2400" baseline="0" dirty="0">
                <a:latin typeface="Times New Roman" pitchFamily="18" charset="0"/>
              </a:rPr>
              <a:t> </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Maximize</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ease</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of</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use</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multiple-users</a:t>
            </a:r>
            <a:r>
              <a:rPr lang="sv-SE" altLang="sv-SE" sz="2400" baseline="0" dirty="0">
                <a:latin typeface="Times New Roman" pitchFamily="18" charset="0"/>
                <a:sym typeface="Wingdings"/>
              </a:rPr>
              <a:t>  </a:t>
            </a:r>
            <a:r>
              <a:rPr lang="sv-SE" altLang="sv-SE" sz="2400" baseline="0" dirty="0" err="1">
                <a:latin typeface="Times New Roman" pitchFamily="18" charset="0"/>
                <a:sym typeface="Wingdings"/>
              </a:rPr>
              <a:t>resource</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utilization</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might</a:t>
            </a:r>
            <a:r>
              <a:rPr lang="sv-SE" altLang="sv-SE" sz="2400" baseline="0" dirty="0">
                <a:latin typeface="Times New Roman" pitchFamily="18" charset="0"/>
                <a:sym typeface="Wingdings"/>
              </a:rPr>
              <a:t> be the </a:t>
            </a:r>
            <a:r>
              <a:rPr lang="sv-SE" altLang="sv-SE" sz="2400" baseline="0" dirty="0" err="1">
                <a:latin typeface="Times New Roman" pitchFamily="18" charset="0"/>
                <a:sym typeface="Wingdings"/>
              </a:rPr>
              <a:t>goal</a:t>
            </a:r>
            <a:endParaRPr lang="sv-SE" altLang="sv-SE" sz="2400" baseline="0" dirty="0">
              <a:latin typeface="Times New Roman" pitchFamily="18" charset="0"/>
              <a:sym typeface="Wingdings"/>
            </a:endParaRPr>
          </a:p>
          <a:p>
            <a:endParaRPr lang="sv-SE" altLang="sv-SE" sz="2400" baseline="0" dirty="0">
              <a:latin typeface="Times New Roman" pitchFamily="18" charset="0"/>
              <a:sym typeface="Wingdings"/>
            </a:endParaRPr>
          </a:p>
          <a:p>
            <a:r>
              <a:rPr lang="sv-SE" altLang="sv-SE" sz="2400" baseline="0" dirty="0">
                <a:latin typeface="Times New Roman" pitchFamily="18" charset="0"/>
                <a:sym typeface="Wingdings"/>
              </a:rPr>
              <a:t>SYSTEM VIEW </a:t>
            </a:r>
            <a:r>
              <a:rPr lang="sv-SE" altLang="sv-SE" sz="2400" baseline="0" dirty="0" err="1">
                <a:latin typeface="Times New Roman" pitchFamily="18" charset="0"/>
                <a:sym typeface="Wingdings"/>
              </a:rPr>
              <a:t>resource</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allocator</a:t>
            </a:r>
            <a:endParaRPr lang="sv-SE" altLang="sv-SE" sz="2400" baseline="0" dirty="0">
              <a:latin typeface="Times New Roman" pitchFamily="18" charset="0"/>
              <a:sym typeface="Wingdings"/>
            </a:endParaRPr>
          </a:p>
          <a:p>
            <a:endParaRPr lang="sv-SE" altLang="sv-SE" sz="2400" baseline="0" dirty="0">
              <a:latin typeface="Times New Roman" pitchFamily="18" charset="0"/>
              <a:sym typeface="Wingdings"/>
            </a:endParaRPr>
          </a:p>
          <a:p>
            <a:r>
              <a:rPr lang="sv-SE" altLang="sv-SE" sz="2400" baseline="0" dirty="0">
                <a:latin typeface="Times New Roman" pitchFamily="18" charset="0"/>
                <a:sym typeface="Wingdings"/>
              </a:rPr>
              <a:t>The </a:t>
            </a:r>
            <a:r>
              <a:rPr lang="sv-SE" altLang="sv-SE" sz="2400" baseline="0" dirty="0" err="1">
                <a:latin typeface="Times New Roman" pitchFamily="18" charset="0"/>
                <a:sym typeface="Wingdings"/>
              </a:rPr>
              <a:t>ultime</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goal</a:t>
            </a:r>
            <a:r>
              <a:rPr lang="sv-SE" altLang="sv-SE" sz="2400" baseline="0" dirty="0">
                <a:latin typeface="Times New Roman" pitchFamily="18" charset="0"/>
                <a:sym typeface="Wingdings"/>
              </a:rPr>
              <a:t> is to </a:t>
            </a:r>
            <a:r>
              <a:rPr lang="sv-SE" altLang="sv-SE" sz="2400" baseline="0" dirty="0" err="1">
                <a:latin typeface="Times New Roman" pitchFamily="18" charset="0"/>
                <a:sym typeface="Wingdings"/>
              </a:rPr>
              <a:t>run</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users</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applications</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while</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hiding</a:t>
            </a:r>
            <a:r>
              <a:rPr lang="sv-SE" altLang="sv-SE" sz="2400" baseline="0" dirty="0">
                <a:latin typeface="Times New Roman" pitchFamily="18" charset="0"/>
                <a:sym typeface="Wingdings"/>
              </a:rPr>
              <a:t> the </a:t>
            </a:r>
            <a:r>
              <a:rPr lang="sv-SE" altLang="sv-SE" sz="2400" baseline="0" dirty="0" err="1">
                <a:latin typeface="Times New Roman" pitchFamily="18" charset="0"/>
                <a:sym typeface="Wingdings"/>
              </a:rPr>
              <a:t>complexity</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of</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interfacing</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directly</a:t>
            </a:r>
            <a:r>
              <a:rPr lang="sv-SE" altLang="sv-SE" sz="2400" baseline="0" dirty="0">
                <a:latin typeface="Times New Roman" pitchFamily="18" charset="0"/>
                <a:sym typeface="Wingdings"/>
              </a:rPr>
              <a:t> </a:t>
            </a:r>
            <a:r>
              <a:rPr lang="sv-SE" altLang="sv-SE" sz="2400" baseline="0" dirty="0" err="1">
                <a:latin typeface="Times New Roman" pitchFamily="18" charset="0"/>
                <a:sym typeface="Wingdings"/>
              </a:rPr>
              <a:t>with</a:t>
            </a:r>
            <a:r>
              <a:rPr lang="sv-SE" altLang="sv-SE" sz="2400" baseline="0" dirty="0">
                <a:latin typeface="Times New Roman" pitchFamily="18" charset="0"/>
                <a:sym typeface="Wingdings"/>
              </a:rPr>
              <a:t> the hardware</a:t>
            </a:r>
          </a:p>
        </p:txBody>
      </p:sp>
      <p:sp>
        <p:nvSpPr>
          <p:cNvPr id="4" name="Slide Number Placeholder 3"/>
          <p:cNvSpPr>
            <a:spLocks noGrp="1"/>
          </p:cNvSpPr>
          <p:nvPr>
            <p:ph type="sldNum" sz="quarter" idx="10"/>
          </p:nvPr>
        </p:nvSpPr>
        <p:spPr/>
        <p:txBody>
          <a:bodyPr/>
          <a:lstStyle/>
          <a:p>
            <a:fld id="{610E5217-B316-6C40-9549-0AC744C3C37B}" type="slidenum">
              <a:rPr lang="en-US" smtClean="0"/>
              <a:t>5</a:t>
            </a:fld>
            <a:endParaRPr lang="en-US"/>
          </a:p>
        </p:txBody>
      </p:sp>
    </p:spTree>
    <p:extLst>
      <p:ext uri="{BB962C8B-B14F-4D97-AF65-F5344CB8AC3E}">
        <p14:creationId xmlns:p14="http://schemas.microsoft.com/office/powerpoint/2010/main" val="862479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0E5217-B316-6C40-9549-0AC744C3C37B}" type="slidenum">
              <a:rPr lang="en-US" smtClean="0"/>
              <a:t>6</a:t>
            </a:fld>
            <a:endParaRPr lang="en-US"/>
          </a:p>
        </p:txBody>
      </p:sp>
    </p:spTree>
    <p:extLst>
      <p:ext uri="{BB962C8B-B14F-4D97-AF65-F5344CB8AC3E}">
        <p14:creationId xmlns:p14="http://schemas.microsoft.com/office/powerpoint/2010/main" val="967199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always have</a:t>
            </a:r>
            <a:r>
              <a:rPr lang="en-US" baseline="0" dirty="0"/>
              <a:t> a common role, and a kernel</a:t>
            </a:r>
            <a:endParaRPr lang="en-US" dirty="0"/>
          </a:p>
        </p:txBody>
      </p:sp>
      <p:sp>
        <p:nvSpPr>
          <p:cNvPr id="4" name="Slide Number Placeholder 3"/>
          <p:cNvSpPr>
            <a:spLocks noGrp="1"/>
          </p:cNvSpPr>
          <p:nvPr>
            <p:ph type="sldNum" sz="quarter" idx="10"/>
          </p:nvPr>
        </p:nvSpPr>
        <p:spPr/>
        <p:txBody>
          <a:bodyPr/>
          <a:lstStyle/>
          <a:p>
            <a:fld id="{610E5217-B316-6C40-9549-0AC744C3C37B}" type="slidenum">
              <a:rPr lang="en-US" smtClean="0"/>
              <a:t>7</a:t>
            </a:fld>
            <a:endParaRPr lang="en-US"/>
          </a:p>
        </p:txBody>
      </p:sp>
    </p:spTree>
    <p:extLst>
      <p:ext uri="{BB962C8B-B14F-4D97-AF65-F5344CB8AC3E}">
        <p14:creationId xmlns:p14="http://schemas.microsoft.com/office/powerpoint/2010/main" val="630328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cycle is pretty straightforward … but we have</a:t>
            </a:r>
            <a:r>
              <a:rPr lang="en-US" baseline="0" dirty="0"/>
              <a:t> a lot of different devices and possibly multiple users / multiple programs running at the same time… so how does it work?</a:t>
            </a:r>
          </a:p>
          <a:p>
            <a:endParaRPr lang="en-US" baseline="0" dirty="0"/>
          </a:p>
          <a:p>
            <a:r>
              <a:rPr lang="en-US" baseline="0" dirty="0"/>
              <a:t>Events / interrupts mark the life cycles of an OS</a:t>
            </a:r>
            <a:endParaRPr lang="en-US" dirty="0"/>
          </a:p>
        </p:txBody>
      </p:sp>
      <p:sp>
        <p:nvSpPr>
          <p:cNvPr id="4" name="Slide Number Placeholder 3"/>
          <p:cNvSpPr>
            <a:spLocks noGrp="1"/>
          </p:cNvSpPr>
          <p:nvPr>
            <p:ph type="sldNum" sz="quarter" idx="10"/>
          </p:nvPr>
        </p:nvSpPr>
        <p:spPr/>
        <p:txBody>
          <a:bodyPr/>
          <a:lstStyle/>
          <a:p>
            <a:fld id="{610E5217-B316-6C40-9549-0AC744C3C37B}" type="slidenum">
              <a:rPr lang="en-US" smtClean="0"/>
              <a:t>9</a:t>
            </a:fld>
            <a:endParaRPr lang="en-US"/>
          </a:p>
        </p:txBody>
      </p:sp>
    </p:spTree>
    <p:extLst>
      <p:ext uri="{BB962C8B-B14F-4D97-AF65-F5344CB8AC3E}">
        <p14:creationId xmlns:p14="http://schemas.microsoft.com/office/powerpoint/2010/main" val="1445608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imagine that you of course need some dedicated hardware to do this… especially because you need to be fast!</a:t>
            </a:r>
          </a:p>
        </p:txBody>
      </p:sp>
      <p:sp>
        <p:nvSpPr>
          <p:cNvPr id="4" name="Slide Number Placeholder 3"/>
          <p:cNvSpPr>
            <a:spLocks noGrp="1"/>
          </p:cNvSpPr>
          <p:nvPr>
            <p:ph type="sldNum" sz="quarter" idx="10"/>
          </p:nvPr>
        </p:nvSpPr>
        <p:spPr/>
        <p:txBody>
          <a:bodyPr/>
          <a:lstStyle/>
          <a:p>
            <a:fld id="{610E5217-B316-6C40-9549-0AC744C3C37B}" type="slidenum">
              <a:rPr lang="en-US" smtClean="0"/>
              <a:t>10</a:t>
            </a:fld>
            <a:endParaRPr lang="en-US"/>
          </a:p>
        </p:txBody>
      </p:sp>
    </p:spTree>
    <p:extLst>
      <p:ext uri="{BB962C8B-B14F-4D97-AF65-F5344CB8AC3E}">
        <p14:creationId xmlns:p14="http://schemas.microsoft.com/office/powerpoint/2010/main" val="1478521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0E5217-B316-6C40-9549-0AC744C3C37B}" type="slidenum">
              <a:rPr lang="en-US" smtClean="0"/>
              <a:t>14</a:t>
            </a:fld>
            <a:endParaRPr lang="en-US"/>
          </a:p>
        </p:txBody>
      </p:sp>
    </p:spTree>
    <p:extLst>
      <p:ext uri="{BB962C8B-B14F-4D97-AF65-F5344CB8AC3E}">
        <p14:creationId xmlns:p14="http://schemas.microsoft.com/office/powerpoint/2010/main" val="890844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aseline="0" dirty="0">
                <a:latin typeface="Calibri" charset="0"/>
              </a:rPr>
              <a:t>Trap is software, interrupt is hardware</a:t>
            </a:r>
          </a:p>
          <a:p>
            <a:endParaRPr lang="en-US" sz="2000" baseline="0" dirty="0">
              <a:latin typeface="Calibri" charset="0"/>
            </a:endParaRPr>
          </a:p>
          <a:p>
            <a:r>
              <a:rPr lang="en-US" sz="2000" dirty="0"/>
              <a:t>Yes. The operating system sets up the trap (and interrupt/exception) entry points at boot time. The hardware provides registers or tables (e.g., the IDT on x86, the trap vector base on RISC-V, the vector table on ARM) that the OS fills with the addresses of the handlers. This is done during boot, when only the OS kernel is executing and is trusted to configure the CPU correctly. After that, user processes cannot modify these entry points because updating them requires privileged instructions.</a:t>
            </a:r>
            <a:endParaRPr lang="en-US" sz="2000" baseline="0" dirty="0">
              <a:latin typeface="Calibri" charset="0"/>
            </a:endParaRPr>
          </a:p>
        </p:txBody>
      </p:sp>
      <p:sp>
        <p:nvSpPr>
          <p:cNvPr id="4" name="Slide Number Placeholder 3"/>
          <p:cNvSpPr>
            <a:spLocks noGrp="1"/>
          </p:cNvSpPr>
          <p:nvPr>
            <p:ph type="sldNum" sz="quarter" idx="10"/>
          </p:nvPr>
        </p:nvSpPr>
        <p:spPr/>
        <p:txBody>
          <a:bodyPr/>
          <a:lstStyle/>
          <a:p>
            <a:fld id="{610E5217-B316-6C40-9549-0AC744C3C37B}" type="slidenum">
              <a:rPr lang="en-US" smtClean="0"/>
              <a:t>16</a:t>
            </a:fld>
            <a:endParaRPr lang="en-US"/>
          </a:p>
        </p:txBody>
      </p:sp>
    </p:spTree>
    <p:extLst>
      <p:ext uri="{BB962C8B-B14F-4D97-AF65-F5344CB8AC3E}">
        <p14:creationId xmlns:p14="http://schemas.microsoft.com/office/powerpoint/2010/main" val="184840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0E5217-B316-6C40-9549-0AC744C3C37B}" type="slidenum">
              <a:rPr lang="en-US" smtClean="0"/>
              <a:t>18</a:t>
            </a:fld>
            <a:endParaRPr lang="en-US"/>
          </a:p>
        </p:txBody>
      </p:sp>
    </p:spTree>
    <p:extLst>
      <p:ext uri="{BB962C8B-B14F-4D97-AF65-F5344CB8AC3E}">
        <p14:creationId xmlns:p14="http://schemas.microsoft.com/office/powerpoint/2010/main" val="3949957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610E5217-B316-6C40-9549-0AC744C3C37B}" type="slidenum">
              <a:rPr lang="en-US" smtClean="0"/>
              <a:t>24</a:t>
            </a:fld>
            <a:endParaRPr lang="en-US"/>
          </a:p>
        </p:txBody>
      </p:sp>
    </p:spTree>
    <p:extLst>
      <p:ext uri="{BB962C8B-B14F-4D97-AF65-F5344CB8AC3E}">
        <p14:creationId xmlns:p14="http://schemas.microsoft.com/office/powerpoint/2010/main" val="3124115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sort of history</a:t>
            </a:r>
          </a:p>
          <a:p>
            <a:endParaRPr lang="en-US" dirty="0"/>
          </a:p>
          <a:p>
            <a:r>
              <a:rPr lang="en-US" dirty="0"/>
              <a:t>A monolithic operating system is one where the </a:t>
            </a:r>
            <a:r>
              <a:rPr lang="en-US" b="1" dirty="0"/>
              <a:t>entire OS kernel runs in a single address space in kernel mode</a:t>
            </a:r>
            <a:r>
              <a:rPr lang="en-US" dirty="0"/>
              <a:t>.</a:t>
            </a:r>
          </a:p>
          <a:p>
            <a:r>
              <a:rPr lang="en-US" dirty="0"/>
              <a:t>All core services—process management, memory management, file systems, device drivers, and system call handling—are implemented within the same large kernel. This design allows efficient function calls between components but makes the kernel large and less modular: a bug in any part (e.g., a driver) can crash the whole system.</a:t>
            </a:r>
          </a:p>
        </p:txBody>
      </p:sp>
      <p:sp>
        <p:nvSpPr>
          <p:cNvPr id="4" name="Slide Number Placeholder 3"/>
          <p:cNvSpPr>
            <a:spLocks noGrp="1"/>
          </p:cNvSpPr>
          <p:nvPr>
            <p:ph type="sldNum" sz="quarter" idx="10"/>
          </p:nvPr>
        </p:nvSpPr>
        <p:spPr/>
        <p:txBody>
          <a:bodyPr/>
          <a:lstStyle/>
          <a:p>
            <a:fld id="{610E5217-B316-6C40-9549-0AC744C3C37B}" type="slidenum">
              <a:rPr lang="en-US" smtClean="0"/>
              <a:t>38</a:t>
            </a:fld>
            <a:endParaRPr lang="en-US"/>
          </a:p>
        </p:txBody>
      </p:sp>
    </p:spTree>
    <p:extLst>
      <p:ext uri="{BB962C8B-B14F-4D97-AF65-F5344CB8AC3E}">
        <p14:creationId xmlns:p14="http://schemas.microsoft.com/office/powerpoint/2010/main" val="1549406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Cpu</a:t>
            </a:r>
            <a:r>
              <a:rPr lang="en-US" baseline="0" dirty="0"/>
              <a:t> scheduler above processes (info for deciding what to schedule)</a:t>
            </a:r>
          </a:p>
          <a:p>
            <a:r>
              <a:rPr lang="en-US" baseline="0" dirty="0"/>
              <a:t>BUT some processes could be above CPU</a:t>
            </a:r>
          </a:p>
          <a:p>
            <a:endParaRPr lang="en-US" baseline="0" dirty="0"/>
          </a:p>
          <a:p>
            <a:r>
              <a:rPr lang="en-US" dirty="0"/>
              <a:t>n a layered operating system, each layer is supposed to depend </a:t>
            </a:r>
            <a:r>
              <a:rPr lang="en-US" b="1" dirty="0"/>
              <a:t>only on the services of the layer directly below it</a:t>
            </a:r>
            <a:r>
              <a:rPr lang="en-US" dirty="0"/>
              <a:t>. A problematic circular reference occurs if two layers end up depending on each other.</a:t>
            </a:r>
          </a:p>
          <a:p>
            <a:r>
              <a:rPr lang="en-US" b="1" dirty="0"/>
              <a:t>Example:</a:t>
            </a:r>
            <a:endParaRPr lang="en-US" dirty="0"/>
          </a:p>
          <a:p>
            <a:r>
              <a:rPr lang="en-US" dirty="0"/>
              <a:t>Suppose the </a:t>
            </a:r>
            <a:r>
              <a:rPr lang="en-US" b="1" dirty="0"/>
              <a:t>File System layer</a:t>
            </a:r>
            <a:r>
              <a:rPr lang="en-US" dirty="0"/>
              <a:t> is above the </a:t>
            </a:r>
            <a:r>
              <a:rPr lang="en-US" b="1" dirty="0"/>
              <a:t>Memory Management layer</a:t>
            </a:r>
            <a:r>
              <a:rPr lang="en-US" dirty="0"/>
              <a:t>.</a:t>
            </a:r>
          </a:p>
          <a:p>
            <a:r>
              <a:rPr lang="en-US" dirty="0"/>
              <a:t>The File System layer calls memory management functions to allocate buffers for file data.</a:t>
            </a:r>
          </a:p>
          <a:p>
            <a:r>
              <a:rPr lang="en-US" dirty="0"/>
              <a:t>At the same time, the Memory Management layer is implemented using paging, and it tries to store its swap space inside regular files managed by the File System layer.</a:t>
            </a:r>
          </a:p>
          <a:p>
            <a:endParaRPr lang="en-US" dirty="0"/>
          </a:p>
        </p:txBody>
      </p:sp>
      <p:sp>
        <p:nvSpPr>
          <p:cNvPr id="4" name="Slide Number Placeholder 3"/>
          <p:cNvSpPr>
            <a:spLocks noGrp="1"/>
          </p:cNvSpPr>
          <p:nvPr>
            <p:ph type="sldNum" sz="quarter" idx="10"/>
          </p:nvPr>
        </p:nvSpPr>
        <p:spPr/>
        <p:txBody>
          <a:bodyPr/>
          <a:lstStyle/>
          <a:p>
            <a:fld id="{610E5217-B316-6C40-9549-0AC744C3C37B}" type="slidenum">
              <a:rPr lang="en-US" smtClean="0"/>
              <a:t>39</a:t>
            </a:fld>
            <a:endParaRPr lang="en-US"/>
          </a:p>
        </p:txBody>
      </p:sp>
    </p:spTree>
    <p:extLst>
      <p:ext uri="{BB962C8B-B14F-4D97-AF65-F5344CB8AC3E}">
        <p14:creationId xmlns:p14="http://schemas.microsoft.com/office/powerpoint/2010/main" val="1848314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is similar to microkernels, but modules are within the kernel</a:t>
            </a:r>
          </a:p>
        </p:txBody>
      </p:sp>
      <p:sp>
        <p:nvSpPr>
          <p:cNvPr id="4" name="Slide Number Placeholder 3"/>
          <p:cNvSpPr>
            <a:spLocks noGrp="1"/>
          </p:cNvSpPr>
          <p:nvPr>
            <p:ph type="sldNum" sz="quarter" idx="10"/>
          </p:nvPr>
        </p:nvSpPr>
        <p:spPr/>
        <p:txBody>
          <a:bodyPr/>
          <a:lstStyle/>
          <a:p>
            <a:fld id="{610E5217-B316-6C40-9549-0AC744C3C37B}" type="slidenum">
              <a:rPr lang="en-US" smtClean="0"/>
              <a:t>41</a:t>
            </a:fld>
            <a:endParaRPr lang="en-US"/>
          </a:p>
        </p:txBody>
      </p:sp>
    </p:spTree>
    <p:extLst>
      <p:ext uri="{BB962C8B-B14F-4D97-AF65-F5344CB8AC3E}">
        <p14:creationId xmlns:p14="http://schemas.microsoft.com/office/powerpoint/2010/main" val="823027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BSD Berkeley Software Distribution (</a:t>
            </a:r>
            <a:r>
              <a:rPr lang="en-US" dirty="0" err="1"/>
              <a:t>unix</a:t>
            </a:r>
            <a:r>
              <a:rPr lang="en-US" dirty="0"/>
              <a:t> system)</a:t>
            </a:r>
            <a:r>
              <a:rPr lang="en-US" baseline="0" dirty="0"/>
              <a:t> </a:t>
            </a:r>
            <a:r>
              <a:rPr lang="en-US" baseline="0" dirty="0" err="1"/>
              <a:t>netorking</a:t>
            </a:r>
            <a:endParaRPr lang="en-US" dirty="0"/>
          </a:p>
        </p:txBody>
      </p:sp>
      <p:sp>
        <p:nvSpPr>
          <p:cNvPr id="4" name="Slide Number Placeholder 3"/>
          <p:cNvSpPr>
            <a:spLocks noGrp="1"/>
          </p:cNvSpPr>
          <p:nvPr>
            <p:ph type="sldNum" sz="quarter" idx="10"/>
          </p:nvPr>
        </p:nvSpPr>
        <p:spPr/>
        <p:txBody>
          <a:bodyPr/>
          <a:lstStyle/>
          <a:p>
            <a:fld id="{610E5217-B316-6C40-9549-0AC744C3C37B}" type="slidenum">
              <a:rPr lang="en-US" smtClean="0"/>
              <a:t>43</a:t>
            </a:fld>
            <a:endParaRPr lang="en-US"/>
          </a:p>
        </p:txBody>
      </p:sp>
    </p:spTree>
    <p:extLst>
      <p:ext uri="{BB962C8B-B14F-4D97-AF65-F5344CB8AC3E}">
        <p14:creationId xmlns:p14="http://schemas.microsoft.com/office/powerpoint/2010/main" val="1543315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1493302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1729480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140146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Introduction to Operating Systems</a:t>
            </a:r>
          </a:p>
        </p:txBody>
      </p:sp>
      <p:sp>
        <p:nvSpPr>
          <p:cNvPr id="7" name="Slide Number Placeholder 6"/>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73761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sv-SE"/>
              <a:t>Vincenzo Gulisano</a:t>
            </a:r>
            <a:endParaRPr lang="en-US"/>
          </a:p>
        </p:txBody>
      </p:sp>
      <p:sp>
        <p:nvSpPr>
          <p:cNvPr id="8" name="Footer Placeholder 7"/>
          <p:cNvSpPr>
            <a:spLocks noGrp="1"/>
          </p:cNvSpPr>
          <p:nvPr>
            <p:ph type="ftr" sz="quarter" idx="11"/>
          </p:nvPr>
        </p:nvSpPr>
        <p:spPr/>
        <p:txBody>
          <a:bodyPr/>
          <a:lstStyle/>
          <a:p>
            <a:r>
              <a:rPr lang="en-US"/>
              <a:t>Operating Systems - Introduction to Operating Systems</a:t>
            </a:r>
          </a:p>
        </p:txBody>
      </p:sp>
      <p:sp>
        <p:nvSpPr>
          <p:cNvPr id="9" name="Slide Number Placeholder 8"/>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1791425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sv-SE"/>
              <a:t>Vincenzo Gulisano</a:t>
            </a:r>
            <a:endParaRPr lang="en-US"/>
          </a:p>
        </p:txBody>
      </p:sp>
      <p:sp>
        <p:nvSpPr>
          <p:cNvPr id="4" name="Footer Placeholder 3"/>
          <p:cNvSpPr>
            <a:spLocks noGrp="1"/>
          </p:cNvSpPr>
          <p:nvPr>
            <p:ph type="ftr" sz="quarter" idx="11"/>
          </p:nvPr>
        </p:nvSpPr>
        <p:spPr/>
        <p:txBody>
          <a:bodyPr/>
          <a:lstStyle/>
          <a:p>
            <a:r>
              <a:rPr lang="en-US"/>
              <a:t>Operating Systems - Introduction to Operating Systems</a:t>
            </a:r>
          </a:p>
        </p:txBody>
      </p:sp>
      <p:sp>
        <p:nvSpPr>
          <p:cNvPr id="5" name="Slide Number Placeholder 4"/>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761630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sv-SE"/>
              <a:t>Vincenzo Gulisano</a:t>
            </a:r>
            <a:endParaRPr lang="en-US"/>
          </a:p>
        </p:txBody>
      </p:sp>
      <p:sp>
        <p:nvSpPr>
          <p:cNvPr id="3" name="Footer Placeholder 2"/>
          <p:cNvSpPr>
            <a:spLocks noGrp="1"/>
          </p:cNvSpPr>
          <p:nvPr>
            <p:ph type="ftr" sz="quarter" idx="11"/>
          </p:nvPr>
        </p:nvSpPr>
        <p:spPr/>
        <p:txBody>
          <a:bodyPr/>
          <a:lstStyle/>
          <a:p>
            <a:r>
              <a:rPr lang="en-US"/>
              <a:t>Operating Systems - Introduction to Operating Systems</a:t>
            </a:r>
          </a:p>
        </p:txBody>
      </p:sp>
      <p:sp>
        <p:nvSpPr>
          <p:cNvPr id="4" name="Slide Number Placeholder 3"/>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1723865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Introduction to Operating Systems</a:t>
            </a:r>
          </a:p>
        </p:txBody>
      </p:sp>
      <p:sp>
        <p:nvSpPr>
          <p:cNvPr id="7" name="Slide Number Placeholder 6"/>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1308232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Introduction to Operating Systems</a:t>
            </a:r>
          </a:p>
        </p:txBody>
      </p:sp>
      <p:sp>
        <p:nvSpPr>
          <p:cNvPr id="7" name="Slide Number Placeholder 6"/>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1523175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2005841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a:t>
            </a:fld>
            <a:endParaRPr lang="en-US"/>
          </a:p>
        </p:txBody>
      </p:sp>
    </p:spTree>
    <p:extLst>
      <p:ext uri="{BB962C8B-B14F-4D97-AF65-F5344CB8AC3E}">
        <p14:creationId xmlns:p14="http://schemas.microsoft.com/office/powerpoint/2010/main" val="987850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01730" name="Rectangle 2"/>
          <p:cNvSpPr>
            <a:spLocks noGrp="1" noChangeArrowheads="1"/>
          </p:cNvSpPr>
          <p:nvPr>
            <p:ph type="ctrTitle"/>
          </p:nvPr>
        </p:nvSpPr>
        <p:spPr>
          <a:xfrm>
            <a:off x="914400" y="685800"/>
            <a:ext cx="10363200" cy="2127250"/>
          </a:xfrm>
        </p:spPr>
        <p:txBody>
          <a:bodyPr/>
          <a:lstStyle>
            <a:lvl1pPr>
              <a:defRPr sz="4067"/>
            </a:lvl1pPr>
          </a:lstStyle>
          <a:p>
            <a:r>
              <a:rPr lang="en-US"/>
              <a:t>Click to edit Master title style</a:t>
            </a:r>
          </a:p>
        </p:txBody>
      </p:sp>
    </p:spTree>
    <p:extLst>
      <p:ext uri="{BB962C8B-B14F-4D97-AF65-F5344CB8AC3E}">
        <p14:creationId xmlns:p14="http://schemas.microsoft.com/office/powerpoint/2010/main" val="206476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sv-SE"/>
              <a:t>Vincenzo Gulisano</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 - Introduction to Operating Systems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8E1FC2-92BA-6B49-AE60-B1AE3118BF2A}" type="slidenum">
              <a:rPr lang="en-US" smtClean="0"/>
              <a:t>‹#›</a:t>
            </a:fld>
            <a:endParaRPr lang="en-US"/>
          </a:p>
        </p:txBody>
      </p:sp>
    </p:spTree>
    <p:extLst>
      <p:ext uri="{BB962C8B-B14F-4D97-AF65-F5344CB8AC3E}">
        <p14:creationId xmlns:p14="http://schemas.microsoft.com/office/powerpoint/2010/main" val="1376716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tiff"/><Relationship Id="rId4" Type="http://schemas.openxmlformats.org/officeDocument/2006/relationships/image" Target="../media/image5.tif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tiff"/></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2593975" y="1647831"/>
            <a:ext cx="6908800" cy="1890183"/>
          </a:xfrm>
          <a:prstGeom prst="rect">
            <a:avLst/>
          </a:prstGeom>
        </p:spPr>
        <p:txBody>
          <a:bodyPr lIns="81280" tIns="40640" rIns="81280" bIns="40640" anchor="ctr">
            <a:normAutofit fontScale="82500" lnSpcReduction="2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a:defRPr/>
            </a:pPr>
            <a:r>
              <a:rPr lang="en-US" altLang="en-US" sz="3800" dirty="0"/>
              <a:t>Operating Systems – EDA093/DIT401</a:t>
            </a:r>
            <a:br>
              <a:rPr lang="en-US" altLang="en-US" sz="3800" dirty="0"/>
            </a:br>
            <a:endParaRPr lang="en-US" altLang="en-US" sz="3822" dirty="0"/>
          </a:p>
          <a:p>
            <a:pPr>
              <a:defRPr/>
            </a:pPr>
            <a:r>
              <a:rPr lang="en-US" altLang="en-US" sz="3822" dirty="0"/>
              <a:t>Introduction to Operating Systems</a:t>
            </a:r>
          </a:p>
          <a:p>
            <a:pPr>
              <a:defRPr/>
            </a:pPr>
            <a:br>
              <a:rPr lang="en-US" altLang="en-US" sz="3822" dirty="0"/>
            </a:br>
            <a:r>
              <a:rPr lang="en-US" altLang="en-US" sz="2845" dirty="0"/>
              <a:t>Vincenzo Gulisano</a:t>
            </a:r>
            <a:br>
              <a:rPr lang="en-US" altLang="en-US" sz="2845" dirty="0"/>
            </a:br>
            <a:r>
              <a:rPr lang="en-US" altLang="en-US" sz="1778" dirty="0"/>
              <a:t>vincenzo.gulisano@chalmers.se</a:t>
            </a:r>
            <a:endParaRPr lang="en-US" altLang="en-US" sz="2400" dirty="0"/>
          </a:p>
        </p:txBody>
      </p:sp>
      <p:pic>
        <p:nvPicPr>
          <p:cNvPr id="5123" name="Picture 6" descr="http://upload.wikimedia.org/wikipedia/en/5/5c/Chalmers_logo.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322237" y="4392089"/>
            <a:ext cx="1672167" cy="15536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4" name="Picture 8" descr="http://sgroup.be/sites/default/files/LOGUeng_cen2r.gif"/>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6164793" y="4480989"/>
            <a:ext cx="1847851" cy="13758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060058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a:t>
            </a:r>
          </a:p>
        </p:txBody>
      </p:sp>
      <p:sp>
        <p:nvSpPr>
          <p:cNvPr id="3" name="Content Placeholder 2"/>
          <p:cNvSpPr>
            <a:spLocks noGrp="1"/>
          </p:cNvSpPr>
          <p:nvPr>
            <p:ph idx="1"/>
          </p:nvPr>
        </p:nvSpPr>
        <p:spPr/>
        <p:txBody>
          <a:bodyPr/>
          <a:lstStyle/>
          <a:p>
            <a:r>
              <a:rPr lang="en-US" dirty="0"/>
              <a:t>Chapter 1</a:t>
            </a:r>
          </a:p>
          <a:p>
            <a:pPr lvl="1"/>
            <a:r>
              <a:rPr lang="en-US" dirty="0"/>
              <a:t>Especially: 1.1, 1.3, 1.6, 1.7</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a:t>
            </a:fld>
            <a:endParaRPr lang="en-US"/>
          </a:p>
        </p:txBody>
      </p:sp>
    </p:spTree>
    <p:extLst>
      <p:ext uri="{BB962C8B-B14F-4D97-AF65-F5344CB8AC3E}">
        <p14:creationId xmlns:p14="http://schemas.microsoft.com/office/powerpoint/2010/main" val="161753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t>What is an Operating System?</a:t>
            </a:r>
          </a:p>
          <a:p>
            <a:r>
              <a:rPr lang="en-US" dirty="0"/>
              <a:t>The event-driven (interrupt-drive) life of an OS</a:t>
            </a:r>
          </a:p>
          <a:p>
            <a:r>
              <a:rPr lang="en-US" dirty="0"/>
              <a:t>System calls (overview)</a:t>
            </a:r>
          </a:p>
          <a:p>
            <a:r>
              <a:rPr lang="en-US" dirty="0"/>
              <a:t>Dual-Mode and Multimode Operation</a:t>
            </a:r>
          </a:p>
          <a:p>
            <a:r>
              <a:rPr lang="en-US" dirty="0"/>
              <a:t>Operating system services</a:t>
            </a:r>
          </a:p>
          <a:p>
            <a:r>
              <a:rPr lang="en-US" dirty="0"/>
              <a:t>System calls (continued) and APIs [Self reading]</a:t>
            </a:r>
          </a:p>
          <a:p>
            <a:r>
              <a:rPr lang="en-US" dirty="0"/>
              <a:t>System boot [Self reading]</a:t>
            </a:r>
            <a:endParaRPr lang="en-US" dirty="0">
              <a:solidFill>
                <a:schemeClr val="bg1">
                  <a:lumMod val="75000"/>
                </a:schemeClr>
              </a:solidFill>
            </a:endParaRPr>
          </a:p>
          <a:p>
            <a:r>
              <a:rPr lang="en-US" dirty="0"/>
              <a:t>Operating systems structures</a:t>
            </a:r>
          </a:p>
          <a:p>
            <a:endParaRPr lang="en-US" dirty="0"/>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a:t>
            </a:fld>
            <a:endParaRPr lang="en-US"/>
          </a:p>
        </p:txBody>
      </p:sp>
    </p:spTree>
    <p:extLst>
      <p:ext uri="{BB962C8B-B14F-4D97-AF65-F5344CB8AC3E}">
        <p14:creationId xmlns:p14="http://schemas.microsoft.com/office/powerpoint/2010/main" val="169543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t>What is an Operating System?</a:t>
            </a:r>
          </a:p>
          <a:p>
            <a:r>
              <a:rPr lang="en-US" dirty="0">
                <a:solidFill>
                  <a:schemeClr val="bg1">
                    <a:lumMod val="75000"/>
                  </a:schemeClr>
                </a:solidFill>
              </a:rPr>
              <a:t>The event-driven (interrupt-drive) life of an OS</a:t>
            </a:r>
          </a:p>
          <a:p>
            <a:r>
              <a:rPr lang="en-US" dirty="0">
                <a:solidFill>
                  <a:schemeClr val="bg1">
                    <a:lumMod val="75000"/>
                  </a:schemeClr>
                </a:solidFill>
              </a:rPr>
              <a:t>System calls (overview)</a:t>
            </a:r>
          </a:p>
          <a:p>
            <a:r>
              <a:rPr lang="en-US" dirty="0">
                <a:solidFill>
                  <a:schemeClr val="bg1">
                    <a:lumMod val="75000"/>
                  </a:schemeClr>
                </a:solidFill>
              </a:rPr>
              <a:t>Dual-Mode and Multimode Operation</a:t>
            </a:r>
          </a:p>
          <a:p>
            <a:r>
              <a:rPr lang="en-US" dirty="0">
                <a:solidFill>
                  <a:schemeClr val="bg1">
                    <a:lumMod val="75000"/>
                  </a:schemeClr>
                </a:solidFill>
              </a:rPr>
              <a:t>Operating system services</a:t>
            </a:r>
          </a:p>
          <a:p>
            <a:r>
              <a:rPr lang="en-US" dirty="0">
                <a:solidFill>
                  <a:schemeClr val="bg1">
                    <a:lumMod val="75000"/>
                  </a:schemeClr>
                </a:solidFill>
              </a:rPr>
              <a:t>System calls (continued) and APIs [Self reading]</a:t>
            </a:r>
          </a:p>
          <a:p>
            <a:r>
              <a:rPr lang="en-US" dirty="0">
                <a:solidFill>
                  <a:schemeClr val="bg1">
                    <a:lumMod val="75000"/>
                  </a:schemeClr>
                </a:solidFill>
              </a:rPr>
              <a:t>System boot [Self reading]</a:t>
            </a:r>
          </a:p>
          <a:p>
            <a:r>
              <a:rPr lang="en-US" dirty="0">
                <a:solidFill>
                  <a:schemeClr val="bg1">
                    <a:lumMod val="75000"/>
                  </a:schemeClr>
                </a:solidFill>
              </a:rPr>
              <a:t>Operating systems structures</a:t>
            </a:r>
          </a:p>
          <a:p>
            <a:endParaRPr lang="en-US" dirty="0">
              <a:solidFill>
                <a:schemeClr val="bg1">
                  <a:lumMod val="75000"/>
                </a:schemeClr>
              </a:solidFill>
            </a:endParaRP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4</a:t>
            </a:fld>
            <a:endParaRPr lang="en-US"/>
          </a:p>
        </p:txBody>
      </p:sp>
    </p:spTree>
    <p:extLst>
      <p:ext uri="{BB962C8B-B14F-4D97-AF65-F5344CB8AC3E}">
        <p14:creationId xmlns:p14="http://schemas.microsoft.com/office/powerpoint/2010/main" val="1854038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sv-SE" dirty="0">
                <a:latin typeface="Calibri" charset="0"/>
                <a:ea typeface="Calibri" charset="0"/>
                <a:cs typeface="Calibri" charset="0"/>
              </a:rPr>
              <a:t>Components of a Computer System</a:t>
            </a:r>
            <a:endParaRPr lang="en-US" dirty="0"/>
          </a:p>
        </p:txBody>
      </p:sp>
      <p:sp>
        <p:nvSpPr>
          <p:cNvPr id="3" name="Content Placeholder 2"/>
          <p:cNvSpPr>
            <a:spLocks noGrp="1"/>
          </p:cNvSpPr>
          <p:nvPr>
            <p:ph idx="1"/>
          </p:nvPr>
        </p:nvSpPr>
        <p:spPr>
          <a:xfrm>
            <a:off x="7424382" y="1690688"/>
            <a:ext cx="3929418" cy="4486275"/>
          </a:xfrm>
        </p:spPr>
        <p:txBody>
          <a:bodyPr>
            <a:normAutofit fontScale="92500" lnSpcReduction="10000"/>
          </a:bodyPr>
          <a:lstStyle/>
          <a:p>
            <a:r>
              <a:rPr lang="en-US" altLang="sv-SE" dirty="0">
                <a:latin typeface="Calibri" charset="0"/>
                <a:ea typeface="Calibri" charset="0"/>
                <a:cs typeface="Calibri" charset="0"/>
              </a:rPr>
              <a:t>Hardware – basic computing resources: CPU, memory, I/O devices</a:t>
            </a:r>
          </a:p>
          <a:p>
            <a:r>
              <a:rPr lang="en-US" altLang="sv-SE" b="1" dirty="0">
                <a:solidFill>
                  <a:srgbClr val="C00000"/>
                </a:solidFill>
                <a:latin typeface="Calibri" charset="0"/>
                <a:ea typeface="Calibri" charset="0"/>
                <a:cs typeface="Calibri" charset="0"/>
              </a:rPr>
              <a:t>Operating system: what is that?</a:t>
            </a:r>
          </a:p>
          <a:p>
            <a:r>
              <a:rPr lang="en-US" altLang="sv-SE" dirty="0">
                <a:latin typeface="Calibri" charset="0"/>
                <a:ea typeface="Calibri" charset="0"/>
                <a:cs typeface="Calibri" charset="0"/>
              </a:rPr>
              <a:t>Application programs: Word processors, compilers, web browsers, database systems, video games</a:t>
            </a:r>
          </a:p>
          <a:p>
            <a:r>
              <a:rPr lang="en-US" altLang="sv-SE" dirty="0">
                <a:latin typeface="Calibri" charset="0"/>
                <a:ea typeface="Calibri" charset="0"/>
                <a:cs typeface="Calibri" charset="0"/>
              </a:rPr>
              <a:t>Users: People, machines, other computers</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38200" y="1931483"/>
            <a:ext cx="6262940" cy="358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Introduction to Operating Systems</a:t>
            </a:r>
          </a:p>
        </p:txBody>
      </p:sp>
      <p:sp>
        <p:nvSpPr>
          <p:cNvPr id="7" name="Slide Number Placeholder 6"/>
          <p:cNvSpPr>
            <a:spLocks noGrp="1"/>
          </p:cNvSpPr>
          <p:nvPr>
            <p:ph type="sldNum" sz="quarter" idx="12"/>
          </p:nvPr>
        </p:nvSpPr>
        <p:spPr/>
        <p:txBody>
          <a:bodyPr/>
          <a:lstStyle/>
          <a:p>
            <a:fld id="{F08E1FC2-92BA-6B49-AE60-B1AE3118BF2A}" type="slidenum">
              <a:rPr lang="en-US" smtClean="0"/>
              <a:t>5</a:t>
            </a:fld>
            <a:endParaRPr lang="en-US"/>
          </a:p>
        </p:txBody>
      </p:sp>
    </p:spTree>
    <p:extLst>
      <p:ext uri="{BB962C8B-B14F-4D97-AF65-F5344CB8AC3E}">
        <p14:creationId xmlns:p14="http://schemas.microsoft.com/office/powerpoint/2010/main" val="1192441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can we define what an Operating System is and does? </a:t>
            </a:r>
          </a:p>
        </p:txBody>
      </p:sp>
      <p:pic>
        <p:nvPicPr>
          <p:cNvPr id="5" name="Picture 4"/>
          <p:cNvPicPr>
            <a:picLocks noChangeAspect="1"/>
          </p:cNvPicPr>
          <p:nvPr/>
        </p:nvPicPr>
        <p:blipFill>
          <a:blip r:embed="rId3"/>
          <a:stretch>
            <a:fillRect/>
          </a:stretch>
        </p:blipFill>
        <p:spPr>
          <a:xfrm>
            <a:off x="417022" y="2741813"/>
            <a:ext cx="3223953" cy="3223953"/>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640975" y="1690688"/>
            <a:ext cx="3390705" cy="2338174"/>
          </a:xfrm>
          <a:prstGeom prst="rect">
            <a:avLst/>
          </a:prstGeom>
        </p:spPr>
      </p:pic>
      <p:sp>
        <p:nvSpPr>
          <p:cNvPr id="7" name="Rectangle 6"/>
          <p:cNvSpPr/>
          <p:nvPr/>
        </p:nvSpPr>
        <p:spPr>
          <a:xfrm>
            <a:off x="3640975" y="4032276"/>
            <a:ext cx="3390705" cy="340652"/>
          </a:xfrm>
          <a:prstGeom prst="rect">
            <a:avLst/>
          </a:prstGeom>
        </p:spPr>
        <p:txBody>
          <a:bodyPr wrap="square">
            <a:spAutoFit/>
          </a:bodyPr>
          <a:lstStyle/>
          <a:p>
            <a:r>
              <a:rPr lang="en-US" sz="800" dirty="0"/>
              <a:t>Source: http://</a:t>
            </a:r>
            <a:r>
              <a:rPr lang="en-US" sz="800" dirty="0" err="1"/>
              <a:t>www.samsung.com</a:t>
            </a:r>
            <a:r>
              <a:rPr lang="en-US" sz="800" dirty="0"/>
              <a:t>/</a:t>
            </a:r>
            <a:r>
              <a:rPr lang="en-US" sz="800" dirty="0" err="1"/>
              <a:t>nz</a:t>
            </a:r>
            <a:r>
              <a:rPr lang="en-US" sz="800" dirty="0"/>
              <a:t>/consumer/home-appliances/washing-machines/front-loader/WW90H9600EW/SA</a:t>
            </a:r>
          </a:p>
        </p:txBody>
      </p:sp>
      <p:sp>
        <p:nvSpPr>
          <p:cNvPr id="8" name="Rectangle 7"/>
          <p:cNvSpPr/>
          <p:nvPr/>
        </p:nvSpPr>
        <p:spPr>
          <a:xfrm>
            <a:off x="838200" y="5965767"/>
            <a:ext cx="2969029" cy="338554"/>
          </a:xfrm>
          <a:prstGeom prst="rect">
            <a:avLst/>
          </a:prstGeom>
        </p:spPr>
        <p:txBody>
          <a:bodyPr wrap="square">
            <a:spAutoFit/>
          </a:bodyPr>
          <a:lstStyle/>
          <a:p>
            <a:r>
              <a:rPr lang="en-US" sz="800" dirty="0"/>
              <a:t>Source: http://</a:t>
            </a:r>
            <a:r>
              <a:rPr lang="en-US" sz="800" dirty="0" err="1"/>
              <a:t>www.amazon.com</a:t>
            </a:r>
            <a:r>
              <a:rPr lang="en-US" sz="800" dirty="0"/>
              <a:t>/Apple-MC916LL-Tablet-Black-Generation/</a:t>
            </a:r>
            <a:r>
              <a:rPr lang="en-US" sz="800" dirty="0" err="1"/>
              <a:t>dp</a:t>
            </a:r>
            <a:r>
              <a:rPr lang="en-US" sz="800" dirty="0"/>
              <a:t>/B0047DVWZS</a:t>
            </a:r>
          </a:p>
        </p:txBody>
      </p:sp>
      <p:pic>
        <p:nvPicPr>
          <p:cNvPr id="9" name="Picture 8"/>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304614" y="3496886"/>
            <a:ext cx="4389120" cy="2468880"/>
          </a:xfrm>
          <a:prstGeom prst="rect">
            <a:avLst/>
          </a:prstGeom>
        </p:spPr>
      </p:pic>
      <p:sp>
        <p:nvSpPr>
          <p:cNvPr id="10" name="Rectangle 9"/>
          <p:cNvSpPr/>
          <p:nvPr/>
        </p:nvSpPr>
        <p:spPr>
          <a:xfrm>
            <a:off x="7221487" y="5965767"/>
            <a:ext cx="4472247" cy="338554"/>
          </a:xfrm>
          <a:prstGeom prst="rect">
            <a:avLst/>
          </a:prstGeom>
        </p:spPr>
        <p:txBody>
          <a:bodyPr wrap="square">
            <a:spAutoFit/>
          </a:bodyPr>
          <a:lstStyle/>
          <a:p>
            <a:r>
              <a:rPr lang="en-US" sz="800"/>
              <a:t>Source: http</a:t>
            </a:r>
            <a:r>
              <a:rPr lang="en-US" sz="800" dirty="0"/>
              <a:t>://</a:t>
            </a:r>
            <a:r>
              <a:rPr lang="en-US" sz="800" dirty="0" err="1"/>
              <a:t>linustechtips.com</a:t>
            </a:r>
            <a:r>
              <a:rPr lang="en-US" sz="800" dirty="0"/>
              <a:t>/main/topic/50821-dell-contemplates-shipping-chinese-pcs-with-ubuntu-kylin-os-by-default/</a:t>
            </a:r>
          </a:p>
        </p:txBody>
      </p:sp>
      <p:sp>
        <p:nvSpPr>
          <p:cNvPr id="3" name="Date Placeholder 2"/>
          <p:cNvSpPr>
            <a:spLocks noGrp="1"/>
          </p:cNvSpPr>
          <p:nvPr>
            <p:ph type="dt" sz="half" idx="10"/>
          </p:nvPr>
        </p:nvSpPr>
        <p:spPr/>
        <p:txBody>
          <a:bodyPr/>
          <a:lstStyle/>
          <a:p>
            <a:r>
              <a:rPr lang="sv-SE"/>
              <a:t>Vincenzo Gulisano</a:t>
            </a:r>
            <a:endParaRPr lang="en-US"/>
          </a:p>
        </p:txBody>
      </p:sp>
      <p:sp>
        <p:nvSpPr>
          <p:cNvPr id="4" name="Footer Placeholder 3"/>
          <p:cNvSpPr>
            <a:spLocks noGrp="1"/>
          </p:cNvSpPr>
          <p:nvPr>
            <p:ph type="ftr" sz="quarter" idx="11"/>
          </p:nvPr>
        </p:nvSpPr>
        <p:spPr/>
        <p:txBody>
          <a:bodyPr/>
          <a:lstStyle/>
          <a:p>
            <a:r>
              <a:rPr lang="en-US"/>
              <a:t>Operating Systems - Introduction to Operating Systems</a:t>
            </a:r>
          </a:p>
        </p:txBody>
      </p:sp>
      <p:sp>
        <p:nvSpPr>
          <p:cNvPr id="11" name="Slide Number Placeholder 10"/>
          <p:cNvSpPr>
            <a:spLocks noGrp="1"/>
          </p:cNvSpPr>
          <p:nvPr>
            <p:ph type="sldNum" sz="quarter" idx="12"/>
          </p:nvPr>
        </p:nvSpPr>
        <p:spPr/>
        <p:txBody>
          <a:bodyPr/>
          <a:lstStyle/>
          <a:p>
            <a:fld id="{F08E1FC2-92BA-6B49-AE60-B1AE3118BF2A}" type="slidenum">
              <a:rPr lang="en-US" smtClean="0"/>
              <a:t>6</a:t>
            </a:fld>
            <a:endParaRPr lang="en-US"/>
          </a:p>
        </p:txBody>
      </p:sp>
    </p:spTree>
    <p:extLst>
      <p:ext uri="{BB962C8B-B14F-4D97-AF65-F5344CB8AC3E}">
        <p14:creationId xmlns:p14="http://schemas.microsoft.com/office/powerpoint/2010/main" val="1481189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v-SE" sz="3600" dirty="0"/>
              <a:t>Operating System as Component </a:t>
            </a:r>
            <a:r>
              <a:rPr lang="en-US" sz="3600" dirty="0"/>
              <a:t>of</a:t>
            </a:r>
            <a:r>
              <a:rPr lang="sv-SE" sz="3600" dirty="0"/>
              <a:t> a Computer System</a:t>
            </a:r>
            <a:endParaRPr lang="en-US" sz="3600" dirty="0"/>
          </a:p>
        </p:txBody>
      </p:sp>
      <p:sp>
        <p:nvSpPr>
          <p:cNvPr id="3" name="Content Placeholder 2"/>
          <p:cNvSpPr>
            <a:spLocks noGrp="1"/>
          </p:cNvSpPr>
          <p:nvPr>
            <p:ph idx="1"/>
          </p:nvPr>
        </p:nvSpPr>
        <p:spPr>
          <a:xfrm>
            <a:off x="838200" y="1825625"/>
            <a:ext cx="5412971" cy="4351338"/>
          </a:xfrm>
        </p:spPr>
        <p:txBody>
          <a:bodyPr/>
          <a:lstStyle/>
          <a:p>
            <a:r>
              <a:rPr lang="en-US" sz="2400" dirty="0"/>
              <a:t>Provides a </a:t>
            </a:r>
            <a:r>
              <a:rPr lang="en-US" sz="2400" dirty="0">
                <a:solidFill>
                  <a:schemeClr val="accent2"/>
                </a:solidFill>
              </a:rPr>
              <a:t>set of services</a:t>
            </a:r>
            <a:r>
              <a:rPr lang="en-US" sz="2400" dirty="0"/>
              <a:t> to system users (collection of service programs)</a:t>
            </a:r>
          </a:p>
          <a:p>
            <a:r>
              <a:rPr lang="en-US" sz="2400" dirty="0">
                <a:solidFill>
                  <a:schemeClr val="accent2"/>
                </a:solidFill>
              </a:rPr>
              <a:t>Shields</a:t>
            </a:r>
            <a:r>
              <a:rPr lang="en-US" sz="2400" dirty="0"/>
              <a:t> between the user and the hardware</a:t>
            </a:r>
          </a:p>
          <a:p>
            <a:endParaRPr lang="en-US" sz="2400" dirty="0"/>
          </a:p>
          <a:p>
            <a:r>
              <a:rPr lang="en-US" sz="2400" dirty="0">
                <a:solidFill>
                  <a:schemeClr val="accent2"/>
                </a:solidFill>
              </a:rPr>
              <a:t>Resource manager</a:t>
            </a:r>
            <a:r>
              <a:rPr lang="en-US" sz="2400" dirty="0"/>
              <a:t>:</a:t>
            </a:r>
          </a:p>
          <a:p>
            <a:pPr lvl="1"/>
            <a:r>
              <a:rPr lang="en-US" sz="2000" dirty="0"/>
              <a:t>CPU(s)</a:t>
            </a:r>
          </a:p>
          <a:p>
            <a:pPr lvl="1"/>
            <a:r>
              <a:rPr lang="en-US" sz="2000" dirty="0"/>
              <a:t>memory and I/O devices</a:t>
            </a:r>
          </a:p>
          <a:p>
            <a:r>
              <a:rPr lang="en-US" sz="2400" dirty="0">
                <a:solidFill>
                  <a:schemeClr val="accent2"/>
                </a:solidFill>
              </a:rPr>
              <a:t>A control program</a:t>
            </a:r>
          </a:p>
          <a:p>
            <a:pPr lvl="1"/>
            <a:r>
              <a:rPr lang="en-US" sz="2000" dirty="0"/>
              <a:t>Controls execution of programs to prevent errors and improper use of the computer</a:t>
            </a:r>
          </a:p>
        </p:txBody>
      </p:sp>
      <p:grpSp>
        <p:nvGrpSpPr>
          <p:cNvPr id="6" name="Group 5"/>
          <p:cNvGrpSpPr/>
          <p:nvPr/>
        </p:nvGrpSpPr>
        <p:grpSpPr>
          <a:xfrm>
            <a:off x="6350924" y="1479064"/>
            <a:ext cx="5002875" cy="3378926"/>
            <a:chOff x="6350924" y="1479064"/>
            <a:chExt cx="5002875" cy="3378926"/>
          </a:xfrm>
        </p:grpSpPr>
        <p:pic>
          <p:nvPicPr>
            <p:cNvPr id="4" name="Picture 3"/>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l="1955"/>
            <a:stretch/>
          </p:blipFill>
          <p:spPr bwMode="auto">
            <a:xfrm>
              <a:off x="6350924" y="1479064"/>
              <a:ext cx="5002875" cy="3225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076482" y="4550213"/>
              <a:ext cx="2444708" cy="307777"/>
            </a:xfrm>
            <a:prstGeom prst="rect">
              <a:avLst/>
            </a:prstGeom>
            <a:noFill/>
          </p:spPr>
          <p:txBody>
            <a:bodyPr wrap="none" rtlCol="0">
              <a:spAutoFit/>
            </a:bodyPr>
            <a:lstStyle/>
            <a:p>
              <a:r>
                <a:rPr lang="sv-SE" sz="1400" dirty="0" err="1"/>
                <a:t>Fig</a:t>
              </a:r>
              <a:r>
                <a:rPr lang="sv-SE" sz="1400" dirty="0"/>
                <a:t>: Modern OS, A. </a:t>
              </a:r>
              <a:r>
                <a:rPr lang="sv-SE" sz="1400" dirty="0" err="1"/>
                <a:t>Tanenbaum</a:t>
              </a:r>
              <a:endParaRPr lang="sv-SE" sz="1400" dirty="0"/>
            </a:p>
          </p:txBody>
        </p:sp>
      </p:grpSp>
      <p:sp>
        <p:nvSpPr>
          <p:cNvPr id="7" name="Date Placeholder 6"/>
          <p:cNvSpPr>
            <a:spLocks noGrp="1"/>
          </p:cNvSpPr>
          <p:nvPr>
            <p:ph type="dt" sz="half" idx="10"/>
          </p:nvPr>
        </p:nvSpPr>
        <p:spPr/>
        <p:txBody>
          <a:bodyPr/>
          <a:lstStyle/>
          <a:p>
            <a:r>
              <a:rPr lang="sv-SE"/>
              <a:t>Vincenzo Gulisano</a:t>
            </a:r>
            <a:endParaRPr lang="en-US"/>
          </a:p>
        </p:txBody>
      </p:sp>
      <p:sp>
        <p:nvSpPr>
          <p:cNvPr id="8" name="Footer Placeholder 7"/>
          <p:cNvSpPr>
            <a:spLocks noGrp="1"/>
          </p:cNvSpPr>
          <p:nvPr>
            <p:ph type="ftr" sz="quarter" idx="11"/>
          </p:nvPr>
        </p:nvSpPr>
        <p:spPr/>
        <p:txBody>
          <a:bodyPr/>
          <a:lstStyle/>
          <a:p>
            <a:r>
              <a:rPr lang="en-US"/>
              <a:t>Operating Systems - Introduction to Operating Systems</a:t>
            </a:r>
          </a:p>
        </p:txBody>
      </p:sp>
      <p:sp>
        <p:nvSpPr>
          <p:cNvPr id="9" name="Slide Number Placeholder 8"/>
          <p:cNvSpPr>
            <a:spLocks noGrp="1"/>
          </p:cNvSpPr>
          <p:nvPr>
            <p:ph type="sldNum" sz="quarter" idx="12"/>
          </p:nvPr>
        </p:nvSpPr>
        <p:spPr/>
        <p:txBody>
          <a:bodyPr/>
          <a:lstStyle/>
          <a:p>
            <a:fld id="{F08E1FC2-92BA-6B49-AE60-B1AE3118BF2A}" type="slidenum">
              <a:rPr lang="en-US" smtClean="0"/>
              <a:t>7</a:t>
            </a:fld>
            <a:endParaRPr lang="en-US"/>
          </a:p>
        </p:txBody>
      </p:sp>
    </p:spTree>
    <p:extLst>
      <p:ext uri="{BB962C8B-B14F-4D97-AF65-F5344CB8AC3E}">
        <p14:creationId xmlns:p14="http://schemas.microsoft.com/office/powerpoint/2010/main" val="1061132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solidFill>
                  <a:schemeClr val="bg1">
                    <a:lumMod val="75000"/>
                  </a:schemeClr>
                </a:solidFill>
              </a:rPr>
              <a:t>What is an Operating System?</a:t>
            </a:r>
          </a:p>
          <a:p>
            <a:r>
              <a:rPr lang="en-US" dirty="0"/>
              <a:t>The event-driven (interrupt-drive) life of an OS</a:t>
            </a:r>
          </a:p>
          <a:p>
            <a:r>
              <a:rPr lang="en-US" dirty="0">
                <a:solidFill>
                  <a:schemeClr val="bg1">
                    <a:lumMod val="75000"/>
                  </a:schemeClr>
                </a:solidFill>
              </a:rPr>
              <a:t>System calls (overview)</a:t>
            </a:r>
          </a:p>
          <a:p>
            <a:r>
              <a:rPr lang="en-US" dirty="0">
                <a:solidFill>
                  <a:schemeClr val="bg1">
                    <a:lumMod val="75000"/>
                  </a:schemeClr>
                </a:solidFill>
              </a:rPr>
              <a:t>Dual-Mode and Multimode Operation</a:t>
            </a:r>
          </a:p>
          <a:p>
            <a:r>
              <a:rPr lang="en-US" dirty="0">
                <a:solidFill>
                  <a:schemeClr val="bg1">
                    <a:lumMod val="75000"/>
                  </a:schemeClr>
                </a:solidFill>
              </a:rPr>
              <a:t>Operating system services</a:t>
            </a:r>
          </a:p>
          <a:p>
            <a:r>
              <a:rPr lang="en-US" dirty="0">
                <a:solidFill>
                  <a:schemeClr val="bg1">
                    <a:lumMod val="75000"/>
                  </a:schemeClr>
                </a:solidFill>
              </a:rPr>
              <a:t>System calls (continued) and APIs [Self reading]</a:t>
            </a:r>
          </a:p>
          <a:p>
            <a:r>
              <a:rPr lang="en-US" dirty="0">
                <a:solidFill>
                  <a:schemeClr val="bg1">
                    <a:lumMod val="75000"/>
                  </a:schemeClr>
                </a:solidFill>
              </a:rPr>
              <a:t>System boot [Self reading]</a:t>
            </a:r>
          </a:p>
          <a:p>
            <a:r>
              <a:rPr lang="en-US" dirty="0">
                <a:solidFill>
                  <a:schemeClr val="bg1">
                    <a:lumMod val="75000"/>
                  </a:schemeClr>
                </a:solidFill>
              </a:rPr>
              <a:t>Operating systems structures</a:t>
            </a:r>
          </a:p>
          <a:p>
            <a:endParaRPr lang="en-US" dirty="0">
              <a:solidFill>
                <a:schemeClr val="bg1">
                  <a:lumMod val="75000"/>
                </a:schemeClr>
              </a:solidFill>
            </a:endParaRP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8</a:t>
            </a:fld>
            <a:endParaRPr lang="en-US"/>
          </a:p>
        </p:txBody>
      </p:sp>
    </p:spTree>
    <p:extLst>
      <p:ext uri="{BB962C8B-B14F-4D97-AF65-F5344CB8AC3E}">
        <p14:creationId xmlns:p14="http://schemas.microsoft.com/office/powerpoint/2010/main" val="1717520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the OS manage devices and users?</a:t>
            </a:r>
          </a:p>
        </p:txBody>
      </p:sp>
      <p:grpSp>
        <p:nvGrpSpPr>
          <p:cNvPr id="7" name="Group 6"/>
          <p:cNvGrpSpPr/>
          <p:nvPr/>
        </p:nvGrpSpPr>
        <p:grpSpPr>
          <a:xfrm>
            <a:off x="471979" y="1993599"/>
            <a:ext cx="6604000" cy="1850535"/>
            <a:chOff x="471979" y="1993599"/>
            <a:chExt cx="6604000" cy="1850535"/>
          </a:xfrm>
        </p:grpSpPr>
        <p:pic>
          <p:nvPicPr>
            <p:cNvPr id="4" name="Picture 3" descr="1_2"/>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471979" y="1993599"/>
              <a:ext cx="6604000" cy="1547624"/>
            </a:xfrm>
            <a:prstGeom prst="rect">
              <a:avLst/>
            </a:prstGeom>
            <a:noFill/>
            <a:ln w="9525">
              <a:noFill/>
              <a:miter lim="800000"/>
              <a:headEnd/>
              <a:tailEnd/>
            </a:ln>
          </p:spPr>
        </p:pic>
        <p:sp>
          <p:nvSpPr>
            <p:cNvPr id="5" name="TextBox 4"/>
            <p:cNvSpPr txBox="1"/>
            <p:nvPr/>
          </p:nvSpPr>
          <p:spPr>
            <a:xfrm>
              <a:off x="471979" y="3536357"/>
              <a:ext cx="2182713" cy="307777"/>
            </a:xfrm>
            <a:prstGeom prst="rect">
              <a:avLst/>
            </a:prstGeom>
            <a:noFill/>
          </p:spPr>
          <p:txBody>
            <a:bodyPr wrap="none" rtlCol="0">
              <a:spAutoFit/>
            </a:bodyPr>
            <a:lstStyle/>
            <a:p>
              <a:r>
                <a:rPr lang="sv-SE" sz="1400" dirty="0" err="1"/>
                <a:t>Fig</a:t>
              </a:r>
              <a:r>
                <a:rPr lang="sv-SE" sz="1400" dirty="0"/>
                <a:t>: Intro </a:t>
              </a:r>
              <a:r>
                <a:rPr lang="sv-SE" sz="1400" dirty="0" err="1"/>
                <a:t>to</a:t>
              </a:r>
              <a:r>
                <a:rPr lang="sv-SE" sz="1400" dirty="0"/>
                <a:t> OS, W. </a:t>
              </a:r>
              <a:r>
                <a:rPr lang="sv-SE" sz="1400" dirty="0" err="1"/>
                <a:t>Stallings</a:t>
              </a:r>
              <a:endParaRPr lang="sv-SE" sz="1400" dirty="0"/>
            </a:p>
          </p:txBody>
        </p:sp>
      </p:grpSp>
      <p:pic>
        <p:nvPicPr>
          <p:cNvPr id="6" name="Picture 5"/>
          <p:cNvPicPr>
            <a:picLocks noChangeAspect="1" noChangeArrowheads="1"/>
          </p:cNvPicPr>
          <p:nvPr/>
        </p:nvPicPr>
        <p:blipFill>
          <a:blip r:embed="rId4" cstate="print"/>
          <a:srcRect/>
          <a:stretch>
            <a:fillRect/>
          </a:stretch>
        </p:blipFill>
        <p:spPr bwMode="auto">
          <a:xfrm>
            <a:off x="5452021" y="3536357"/>
            <a:ext cx="5901779" cy="2916124"/>
          </a:xfrm>
          <a:prstGeom prst="rect">
            <a:avLst/>
          </a:prstGeom>
          <a:noFill/>
          <a:ln w="9525">
            <a:noFill/>
            <a:miter lim="800000"/>
            <a:headEnd/>
            <a:tailEnd/>
          </a:ln>
        </p:spPr>
      </p:pic>
      <p:sp>
        <p:nvSpPr>
          <p:cNvPr id="8" name="Explosion 2 7"/>
          <p:cNvSpPr/>
          <p:nvPr/>
        </p:nvSpPr>
        <p:spPr>
          <a:xfrm>
            <a:off x="322350" y="3690245"/>
            <a:ext cx="5995323" cy="2460567"/>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Events </a:t>
            </a:r>
            <a:r>
              <a:rPr lang="en-US" sz="2400"/>
              <a:t>(interrupts) mark the cycles of the OS!</a:t>
            </a:r>
          </a:p>
        </p:txBody>
      </p:sp>
      <p:sp>
        <p:nvSpPr>
          <p:cNvPr id="3" name="Date Placeholder 2"/>
          <p:cNvSpPr>
            <a:spLocks noGrp="1"/>
          </p:cNvSpPr>
          <p:nvPr>
            <p:ph type="dt" sz="half" idx="10"/>
          </p:nvPr>
        </p:nvSpPr>
        <p:spPr/>
        <p:txBody>
          <a:bodyPr/>
          <a:lstStyle/>
          <a:p>
            <a:r>
              <a:rPr lang="sv-SE"/>
              <a:t>Vincenzo Gulisano</a:t>
            </a:r>
            <a:endParaRPr lang="en-US"/>
          </a:p>
        </p:txBody>
      </p:sp>
      <p:sp>
        <p:nvSpPr>
          <p:cNvPr id="9" name="Footer Placeholder 8"/>
          <p:cNvSpPr>
            <a:spLocks noGrp="1"/>
          </p:cNvSpPr>
          <p:nvPr>
            <p:ph type="ftr" sz="quarter" idx="11"/>
          </p:nvPr>
        </p:nvSpPr>
        <p:spPr/>
        <p:txBody>
          <a:bodyPr/>
          <a:lstStyle/>
          <a:p>
            <a:r>
              <a:rPr lang="en-US"/>
              <a:t>Operating Systems - Introduction to Operating Systems</a:t>
            </a:r>
          </a:p>
        </p:txBody>
      </p:sp>
      <p:sp>
        <p:nvSpPr>
          <p:cNvPr id="10" name="Slide Number Placeholder 9"/>
          <p:cNvSpPr>
            <a:spLocks noGrp="1"/>
          </p:cNvSpPr>
          <p:nvPr>
            <p:ph type="sldNum" sz="quarter" idx="12"/>
          </p:nvPr>
        </p:nvSpPr>
        <p:spPr/>
        <p:txBody>
          <a:bodyPr/>
          <a:lstStyle/>
          <a:p>
            <a:fld id="{F08E1FC2-92BA-6B49-AE60-B1AE3118BF2A}" type="slidenum">
              <a:rPr lang="en-US" smtClean="0"/>
              <a:t>9</a:t>
            </a:fld>
            <a:endParaRPr lang="en-US"/>
          </a:p>
        </p:txBody>
      </p:sp>
    </p:spTree>
    <p:extLst>
      <p:ext uri="{BB962C8B-B14F-4D97-AF65-F5344CB8AC3E}">
        <p14:creationId xmlns:p14="http://schemas.microsoft.com/office/powerpoint/2010/main" val="148329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Events / Interrupts are the basic “ticks” of the OS cycles </a:t>
            </a:r>
          </a:p>
        </p:txBody>
      </p:sp>
      <p:grpSp>
        <p:nvGrpSpPr>
          <p:cNvPr id="7" name="Group 6"/>
          <p:cNvGrpSpPr/>
          <p:nvPr/>
        </p:nvGrpSpPr>
        <p:grpSpPr>
          <a:xfrm>
            <a:off x="343593" y="1935230"/>
            <a:ext cx="4743796" cy="1855373"/>
            <a:chOff x="493222" y="2148840"/>
            <a:chExt cx="6705600" cy="2622665"/>
          </a:xfrm>
        </p:grpSpPr>
        <p:pic>
          <p:nvPicPr>
            <p:cNvPr id="5" name="Picture 4" descr="1_7"/>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493222" y="2148840"/>
              <a:ext cx="6705600" cy="2622665"/>
            </a:xfrm>
            <a:prstGeom prst="rect">
              <a:avLst/>
            </a:prstGeom>
            <a:noFill/>
            <a:ln w="9525">
              <a:noFill/>
              <a:miter lim="800000"/>
              <a:headEnd/>
              <a:tailEnd/>
            </a:ln>
          </p:spPr>
        </p:pic>
        <p:sp>
          <p:nvSpPr>
            <p:cNvPr id="6" name="TextBox 5"/>
            <p:cNvSpPr txBox="1"/>
            <p:nvPr/>
          </p:nvSpPr>
          <p:spPr>
            <a:xfrm>
              <a:off x="493222" y="3672840"/>
              <a:ext cx="3901455" cy="307777"/>
            </a:xfrm>
            <a:prstGeom prst="rect">
              <a:avLst/>
            </a:prstGeom>
            <a:solidFill>
              <a:schemeClr val="bg1"/>
            </a:solidFill>
          </p:spPr>
          <p:txBody>
            <a:bodyPr wrap="square" rtlCol="0">
              <a:spAutoFit/>
            </a:bodyPr>
            <a:lstStyle/>
            <a:p>
              <a:r>
                <a:rPr lang="sv-SE" sz="1400" dirty="0" err="1"/>
                <a:t>Fig</a:t>
              </a:r>
              <a:r>
                <a:rPr lang="sv-SE" sz="1400" dirty="0"/>
                <a:t>: Intro </a:t>
              </a:r>
              <a:r>
                <a:rPr lang="sv-SE" sz="1400" dirty="0" err="1"/>
                <a:t>to</a:t>
              </a:r>
              <a:r>
                <a:rPr lang="sv-SE" sz="1400" dirty="0"/>
                <a:t> OS, W. </a:t>
              </a:r>
              <a:r>
                <a:rPr lang="sv-SE" sz="1400" dirty="0" err="1"/>
                <a:t>Stallings</a:t>
              </a:r>
              <a:endParaRPr lang="sv-SE" sz="1400" dirty="0"/>
            </a:p>
          </p:txBody>
        </p:sp>
      </p:grpSp>
      <p:sp>
        <p:nvSpPr>
          <p:cNvPr id="8" name="Content Placeholder 2"/>
          <p:cNvSpPr>
            <a:spLocks noGrp="1"/>
          </p:cNvSpPr>
          <p:nvPr>
            <p:ph idx="1"/>
          </p:nvPr>
        </p:nvSpPr>
        <p:spPr>
          <a:xfrm>
            <a:off x="6096000" y="1618547"/>
            <a:ext cx="5674822" cy="4344111"/>
          </a:xfrm>
        </p:spPr>
        <p:txBody>
          <a:bodyPr>
            <a:normAutofit fontScale="85000" lnSpcReduction="20000"/>
          </a:bodyPr>
          <a:lstStyle/>
          <a:p>
            <a:pPr marL="0" indent="0">
              <a:buNone/>
            </a:pPr>
            <a:r>
              <a:rPr lang="en-US" sz="2400" dirty="0"/>
              <a:t>OS doing some work</a:t>
            </a:r>
          </a:p>
          <a:p>
            <a:pPr marL="0" indent="0">
              <a:buNone/>
            </a:pPr>
            <a:r>
              <a:rPr lang="en-US" sz="2400" dirty="0"/>
              <a:t>Interrupt!</a:t>
            </a:r>
          </a:p>
          <a:p>
            <a:pPr marL="0" indent="0">
              <a:buNone/>
            </a:pPr>
            <a:r>
              <a:rPr lang="en-US" sz="2400" dirty="0"/>
              <a:t>What’s happening?</a:t>
            </a:r>
          </a:p>
          <a:p>
            <a:pPr marL="0" indent="0">
              <a:buNone/>
            </a:pPr>
            <a:r>
              <a:rPr lang="en-US" sz="2400" dirty="0"/>
              <a:t>Key stroke! Need to print character on screen…</a:t>
            </a:r>
          </a:p>
          <a:p>
            <a:pPr marL="0" indent="0">
              <a:buNone/>
            </a:pPr>
            <a:r>
              <a:rPr lang="en-US" sz="2400" dirty="0"/>
              <a:t>Doing that…</a:t>
            </a:r>
          </a:p>
          <a:p>
            <a:pPr marL="0" indent="0">
              <a:buNone/>
            </a:pPr>
            <a:r>
              <a:rPr lang="en-US" sz="2400" dirty="0"/>
              <a:t>Going back to my previous work…</a:t>
            </a:r>
          </a:p>
          <a:p>
            <a:pPr marL="0" indent="0">
              <a:buNone/>
            </a:pPr>
            <a:r>
              <a:rPr lang="en-US" sz="2400" dirty="0"/>
              <a:t>Interrupt!</a:t>
            </a:r>
          </a:p>
          <a:p>
            <a:pPr marL="0" indent="0">
              <a:buNone/>
            </a:pPr>
            <a:r>
              <a:rPr lang="en-US" sz="2400" dirty="0"/>
              <a:t>What’s happening?</a:t>
            </a:r>
          </a:p>
          <a:p>
            <a:pPr marL="0" indent="0">
              <a:buNone/>
            </a:pPr>
            <a:r>
              <a:rPr lang="en-US" sz="2400" dirty="0"/>
              <a:t>Byte copied to disk!</a:t>
            </a:r>
          </a:p>
          <a:p>
            <a:pPr marL="0" indent="0">
              <a:buNone/>
            </a:pPr>
            <a:r>
              <a:rPr lang="en-US" sz="2400" dirty="0"/>
              <a:t>OK then copying another byte…</a:t>
            </a:r>
          </a:p>
          <a:p>
            <a:pPr marL="0" indent="0">
              <a:buNone/>
            </a:pPr>
            <a:r>
              <a:rPr lang="en-US" sz="2400" dirty="0"/>
              <a:t>Interrupt!</a:t>
            </a:r>
          </a:p>
          <a:p>
            <a:pPr marL="0" indent="0">
              <a:buNone/>
            </a:pPr>
            <a:r>
              <a:rPr lang="en-US" sz="2400" dirty="0"/>
              <a:t>…</a:t>
            </a:r>
            <a:endParaRPr lang="en-US" sz="2000" dirty="0"/>
          </a:p>
        </p:txBody>
      </p:sp>
      <p:sp>
        <p:nvSpPr>
          <p:cNvPr id="3" name="Date Placeholder 2"/>
          <p:cNvSpPr>
            <a:spLocks noGrp="1"/>
          </p:cNvSpPr>
          <p:nvPr>
            <p:ph type="dt" sz="half" idx="10"/>
          </p:nvPr>
        </p:nvSpPr>
        <p:spPr/>
        <p:txBody>
          <a:bodyPr/>
          <a:lstStyle/>
          <a:p>
            <a:r>
              <a:rPr lang="sv-SE"/>
              <a:t>Vincenzo Gulisano</a:t>
            </a:r>
            <a:endParaRPr lang="en-US"/>
          </a:p>
        </p:txBody>
      </p:sp>
      <p:sp>
        <p:nvSpPr>
          <p:cNvPr id="4" name="Footer Placeholder 3"/>
          <p:cNvSpPr>
            <a:spLocks noGrp="1"/>
          </p:cNvSpPr>
          <p:nvPr>
            <p:ph type="ftr" sz="quarter" idx="11"/>
          </p:nvPr>
        </p:nvSpPr>
        <p:spPr/>
        <p:txBody>
          <a:bodyPr/>
          <a:lstStyle/>
          <a:p>
            <a:r>
              <a:rPr lang="en-US"/>
              <a:t>Operating Systems - Introduction to Operating Systems</a:t>
            </a:r>
          </a:p>
        </p:txBody>
      </p:sp>
      <p:sp>
        <p:nvSpPr>
          <p:cNvPr id="13" name="Slide Number Placeholder 12"/>
          <p:cNvSpPr>
            <a:spLocks noGrp="1"/>
          </p:cNvSpPr>
          <p:nvPr>
            <p:ph type="sldNum" sz="quarter" idx="12"/>
          </p:nvPr>
        </p:nvSpPr>
        <p:spPr/>
        <p:txBody>
          <a:bodyPr/>
          <a:lstStyle/>
          <a:p>
            <a:fld id="{F08E1FC2-92BA-6B49-AE60-B1AE3118BF2A}" type="slidenum">
              <a:rPr lang="en-US" smtClean="0"/>
              <a:t>10</a:t>
            </a:fld>
            <a:endParaRPr lang="en-US"/>
          </a:p>
        </p:txBody>
      </p:sp>
    </p:spTree>
    <p:extLst>
      <p:ext uri="{BB962C8B-B14F-4D97-AF65-F5344CB8AC3E}">
        <p14:creationId xmlns:p14="http://schemas.microsoft.com/office/powerpoint/2010/main" val="66403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solidFill>
                  <a:schemeClr val="bg1">
                    <a:lumMod val="75000"/>
                  </a:schemeClr>
                </a:solidFill>
              </a:rPr>
              <a:t>What is an Operating System?</a:t>
            </a:r>
          </a:p>
          <a:p>
            <a:r>
              <a:rPr lang="en-US" dirty="0">
                <a:solidFill>
                  <a:schemeClr val="bg1">
                    <a:lumMod val="75000"/>
                  </a:schemeClr>
                </a:solidFill>
              </a:rPr>
              <a:t>The event-driven (interrupt-drive) life of an OS</a:t>
            </a:r>
          </a:p>
          <a:p>
            <a:r>
              <a:rPr lang="en-US" dirty="0"/>
              <a:t>System calls (overview)</a:t>
            </a:r>
          </a:p>
          <a:p>
            <a:r>
              <a:rPr lang="en-US" dirty="0">
                <a:solidFill>
                  <a:schemeClr val="bg1">
                    <a:lumMod val="75000"/>
                  </a:schemeClr>
                </a:solidFill>
              </a:rPr>
              <a:t>Dual-Mode and Multimode Operation</a:t>
            </a:r>
          </a:p>
          <a:p>
            <a:r>
              <a:rPr lang="en-US" dirty="0">
                <a:solidFill>
                  <a:schemeClr val="bg1">
                    <a:lumMod val="75000"/>
                  </a:schemeClr>
                </a:solidFill>
              </a:rPr>
              <a:t>Operating system services</a:t>
            </a:r>
          </a:p>
          <a:p>
            <a:r>
              <a:rPr lang="en-US" dirty="0">
                <a:solidFill>
                  <a:schemeClr val="bg1">
                    <a:lumMod val="75000"/>
                  </a:schemeClr>
                </a:solidFill>
              </a:rPr>
              <a:t>System calls (continued) and APIs [Self reading]</a:t>
            </a:r>
          </a:p>
          <a:p>
            <a:r>
              <a:rPr lang="en-US" dirty="0">
                <a:solidFill>
                  <a:schemeClr val="bg1">
                    <a:lumMod val="75000"/>
                  </a:schemeClr>
                </a:solidFill>
              </a:rPr>
              <a:t>System boot [Self reading]</a:t>
            </a:r>
          </a:p>
          <a:p>
            <a:r>
              <a:rPr lang="en-US" dirty="0">
                <a:solidFill>
                  <a:schemeClr val="bg1">
                    <a:lumMod val="75000"/>
                  </a:schemeClr>
                </a:solidFill>
              </a:rPr>
              <a:t>Operating systems structures</a:t>
            </a:r>
          </a:p>
          <a:p>
            <a:endParaRPr lang="en-US" dirty="0">
              <a:solidFill>
                <a:schemeClr val="bg1">
                  <a:lumMod val="75000"/>
                </a:schemeClr>
              </a:solidFill>
            </a:endParaRP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11</a:t>
            </a:fld>
            <a:endParaRPr lang="en-US"/>
          </a:p>
        </p:txBody>
      </p:sp>
    </p:spTree>
    <p:extLst>
      <p:ext uri="{BB962C8B-B14F-4D97-AF65-F5344CB8AC3E}">
        <p14:creationId xmlns:p14="http://schemas.microsoft.com/office/powerpoint/2010/main" val="1563925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deeper look at the OS…</a:t>
            </a:r>
          </a:p>
        </p:txBody>
      </p:sp>
      <p:grpSp>
        <p:nvGrpSpPr>
          <p:cNvPr id="4" name="Group 3"/>
          <p:cNvGrpSpPr/>
          <p:nvPr/>
        </p:nvGrpSpPr>
        <p:grpSpPr>
          <a:xfrm>
            <a:off x="299259" y="1445813"/>
            <a:ext cx="3170265" cy="3378926"/>
            <a:chOff x="6350925" y="1479064"/>
            <a:chExt cx="3170265" cy="3378926"/>
          </a:xfrm>
        </p:grpSpPr>
        <p:pic>
          <p:nvPicPr>
            <p:cNvPr id="5" name="Picture 4"/>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6350925" y="1479064"/>
              <a:ext cx="3059084" cy="3225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7076482" y="4550213"/>
              <a:ext cx="2444708" cy="307777"/>
            </a:xfrm>
            <a:prstGeom prst="rect">
              <a:avLst/>
            </a:prstGeom>
            <a:noFill/>
          </p:spPr>
          <p:txBody>
            <a:bodyPr wrap="none" rtlCol="0">
              <a:spAutoFit/>
            </a:bodyPr>
            <a:lstStyle/>
            <a:p>
              <a:r>
                <a:rPr lang="sv-SE" sz="1400" dirty="0" err="1"/>
                <a:t>Fig</a:t>
              </a:r>
              <a:r>
                <a:rPr lang="sv-SE" sz="1400" dirty="0"/>
                <a:t>: Modern OS, A. </a:t>
              </a:r>
              <a:r>
                <a:rPr lang="sv-SE" sz="1400" dirty="0" err="1"/>
                <a:t>Tanenbaum</a:t>
              </a:r>
              <a:endParaRPr lang="sv-SE" sz="1400" dirty="0"/>
            </a:p>
          </p:txBody>
        </p:sp>
      </p:grpSp>
      <p:pic>
        <p:nvPicPr>
          <p:cNvPr id="7" name="Picture 4" descr="2"/>
          <p:cNvPicPr>
            <a:picLocks noChangeAspect="1" noChangeArrowheads="1"/>
          </p:cNvPicPr>
          <p:nvPr/>
        </p:nvPicPr>
        <p:blipFill>
          <a:blip r:embed="rId3" cstate="print"/>
          <a:srcRect/>
          <a:stretch>
            <a:fillRect/>
          </a:stretch>
        </p:blipFill>
        <p:spPr bwMode="auto">
          <a:xfrm>
            <a:off x="3897284" y="1445813"/>
            <a:ext cx="7218362" cy="3603625"/>
          </a:xfrm>
          <a:prstGeom prst="rect">
            <a:avLst/>
          </a:prstGeom>
          <a:noFill/>
          <a:ln w="9525">
            <a:noFill/>
            <a:miter lim="800000"/>
            <a:headEnd/>
            <a:tailEnd/>
          </a:ln>
        </p:spPr>
      </p:pic>
      <p:grpSp>
        <p:nvGrpSpPr>
          <p:cNvPr id="10" name="Group 9"/>
          <p:cNvGrpSpPr/>
          <p:nvPr/>
        </p:nvGrpSpPr>
        <p:grpSpPr>
          <a:xfrm>
            <a:off x="713723" y="5110778"/>
            <a:ext cx="9849785" cy="1342845"/>
            <a:chOff x="713723" y="5110778"/>
            <a:chExt cx="9849785" cy="1342845"/>
          </a:xfrm>
        </p:grpSpPr>
        <p:sp>
          <p:nvSpPr>
            <p:cNvPr id="8" name="TextBox 7"/>
            <p:cNvSpPr txBox="1"/>
            <p:nvPr/>
          </p:nvSpPr>
          <p:spPr>
            <a:xfrm>
              <a:off x="1335908" y="5499516"/>
              <a:ext cx="9227600" cy="954107"/>
            </a:xfrm>
            <a:prstGeom prst="rect">
              <a:avLst/>
            </a:prstGeom>
            <a:noFill/>
          </p:spPr>
          <p:txBody>
            <a:bodyPr wrap="square" rtlCol="0">
              <a:spAutoFit/>
            </a:bodyPr>
            <a:lstStyle/>
            <a:p>
              <a:r>
                <a:rPr lang="en-US" sz="2800" dirty="0"/>
                <a:t>How does the OS allow users and programs to </a:t>
              </a:r>
              <a:r>
                <a:rPr lang="en-US" sz="2800"/>
                <a:t>use and interface with the hardware and the resources of a computer?</a:t>
              </a:r>
            </a:p>
          </p:txBody>
        </p:sp>
        <p:pic>
          <p:nvPicPr>
            <p:cNvPr id="9" name="Picture 8"/>
            <p:cNvPicPr>
              <a:picLocks noChangeAspect="1"/>
            </p:cNvPicPr>
            <p:nvPr/>
          </p:nvPicPr>
          <p:blipFill>
            <a:blip r:embed="rId4"/>
            <a:stretch>
              <a:fillRect/>
            </a:stretch>
          </p:blipFill>
          <p:spPr>
            <a:xfrm>
              <a:off x="713723" y="5110778"/>
              <a:ext cx="622185" cy="1342845"/>
            </a:xfrm>
            <a:prstGeom prst="rect">
              <a:avLst/>
            </a:prstGeom>
          </p:spPr>
        </p:pic>
      </p:grpSp>
      <p:grpSp>
        <p:nvGrpSpPr>
          <p:cNvPr id="13" name="Group 12"/>
          <p:cNvGrpSpPr/>
          <p:nvPr/>
        </p:nvGrpSpPr>
        <p:grpSpPr>
          <a:xfrm>
            <a:off x="5868894" y="2510089"/>
            <a:ext cx="5785693" cy="670680"/>
            <a:chOff x="5868894" y="2510089"/>
            <a:chExt cx="5785693" cy="670680"/>
          </a:xfrm>
        </p:grpSpPr>
        <p:sp>
          <p:nvSpPr>
            <p:cNvPr id="11" name="Oval 10"/>
            <p:cNvSpPr/>
            <p:nvPr/>
          </p:nvSpPr>
          <p:spPr>
            <a:xfrm>
              <a:off x="5868894" y="2510089"/>
              <a:ext cx="3275142" cy="670680"/>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9193856" y="2583819"/>
              <a:ext cx="2460731" cy="523220"/>
            </a:xfrm>
            <a:prstGeom prst="rect">
              <a:avLst/>
            </a:prstGeom>
            <a:noFill/>
          </p:spPr>
          <p:txBody>
            <a:bodyPr wrap="square" rtlCol="0">
              <a:spAutoFit/>
            </a:bodyPr>
            <a:lstStyle/>
            <a:p>
              <a:r>
                <a:rPr lang="en-US" sz="2800" dirty="0">
                  <a:solidFill>
                    <a:srgbClr val="FF0000"/>
                  </a:solidFill>
                  <a:sym typeface="Wingdings"/>
                </a:rPr>
                <a:t> Interrupts!!!</a:t>
              </a:r>
              <a:endParaRPr lang="en-US" sz="2800" dirty="0">
                <a:solidFill>
                  <a:srgbClr val="FF0000"/>
                </a:solidFill>
              </a:endParaRPr>
            </a:p>
          </p:txBody>
        </p:sp>
      </p:grpSp>
      <p:sp>
        <p:nvSpPr>
          <p:cNvPr id="3" name="Date Placeholder 2"/>
          <p:cNvSpPr>
            <a:spLocks noGrp="1"/>
          </p:cNvSpPr>
          <p:nvPr>
            <p:ph type="dt" sz="half" idx="10"/>
          </p:nvPr>
        </p:nvSpPr>
        <p:spPr/>
        <p:txBody>
          <a:bodyPr/>
          <a:lstStyle/>
          <a:p>
            <a:r>
              <a:rPr lang="sv-SE"/>
              <a:t>Vincenzo Gulisano</a:t>
            </a:r>
            <a:endParaRPr lang="en-US"/>
          </a:p>
        </p:txBody>
      </p:sp>
      <p:sp>
        <p:nvSpPr>
          <p:cNvPr id="14" name="Footer Placeholder 13"/>
          <p:cNvSpPr>
            <a:spLocks noGrp="1"/>
          </p:cNvSpPr>
          <p:nvPr>
            <p:ph type="ftr" sz="quarter" idx="11"/>
          </p:nvPr>
        </p:nvSpPr>
        <p:spPr/>
        <p:txBody>
          <a:bodyPr/>
          <a:lstStyle/>
          <a:p>
            <a:r>
              <a:rPr lang="en-US"/>
              <a:t>Operating Systems - Introduction to Operating Systems</a:t>
            </a:r>
          </a:p>
        </p:txBody>
      </p:sp>
      <p:sp>
        <p:nvSpPr>
          <p:cNvPr id="15" name="Slide Number Placeholder 14"/>
          <p:cNvSpPr>
            <a:spLocks noGrp="1"/>
          </p:cNvSpPr>
          <p:nvPr>
            <p:ph type="sldNum" sz="quarter" idx="12"/>
          </p:nvPr>
        </p:nvSpPr>
        <p:spPr/>
        <p:txBody>
          <a:bodyPr/>
          <a:lstStyle/>
          <a:p>
            <a:fld id="{F08E1FC2-92BA-6B49-AE60-B1AE3118BF2A}" type="slidenum">
              <a:rPr lang="en-US" smtClean="0"/>
              <a:t>12</a:t>
            </a:fld>
            <a:endParaRPr lang="en-US"/>
          </a:p>
        </p:txBody>
      </p:sp>
    </p:spTree>
    <p:extLst>
      <p:ext uri="{BB962C8B-B14F-4D97-AF65-F5344CB8AC3E}">
        <p14:creationId xmlns:p14="http://schemas.microsoft.com/office/powerpoint/2010/main" val="17408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solidFill>
                  <a:schemeClr val="bg1">
                    <a:lumMod val="75000"/>
                  </a:schemeClr>
                </a:solidFill>
              </a:rPr>
              <a:t>What is an Operating System?</a:t>
            </a:r>
          </a:p>
          <a:p>
            <a:r>
              <a:rPr lang="en-US" dirty="0">
                <a:solidFill>
                  <a:schemeClr val="bg1">
                    <a:lumMod val="75000"/>
                  </a:schemeClr>
                </a:solidFill>
              </a:rPr>
              <a:t>The event-driven (interrupt-drive) life of an OS</a:t>
            </a:r>
          </a:p>
          <a:p>
            <a:r>
              <a:rPr lang="en-US" dirty="0">
                <a:solidFill>
                  <a:schemeClr val="bg1">
                    <a:lumMod val="75000"/>
                  </a:schemeClr>
                </a:solidFill>
              </a:rPr>
              <a:t>System calls (overview)</a:t>
            </a:r>
          </a:p>
          <a:p>
            <a:r>
              <a:rPr lang="en-US" dirty="0"/>
              <a:t>Dual-Mode and Multimode Operation</a:t>
            </a:r>
          </a:p>
          <a:p>
            <a:r>
              <a:rPr lang="en-US" dirty="0">
                <a:solidFill>
                  <a:schemeClr val="bg1">
                    <a:lumMod val="75000"/>
                  </a:schemeClr>
                </a:solidFill>
              </a:rPr>
              <a:t>Operating system services</a:t>
            </a:r>
          </a:p>
          <a:p>
            <a:r>
              <a:rPr lang="en-US" dirty="0">
                <a:solidFill>
                  <a:schemeClr val="bg1">
                    <a:lumMod val="75000"/>
                  </a:schemeClr>
                </a:solidFill>
              </a:rPr>
              <a:t>System calls (continued) and APIs [Self reading]</a:t>
            </a:r>
          </a:p>
          <a:p>
            <a:r>
              <a:rPr lang="en-US" dirty="0">
                <a:solidFill>
                  <a:schemeClr val="bg1">
                    <a:lumMod val="75000"/>
                  </a:schemeClr>
                </a:solidFill>
              </a:rPr>
              <a:t>System boot [Self reading]</a:t>
            </a:r>
          </a:p>
          <a:p>
            <a:r>
              <a:rPr lang="en-US" dirty="0">
                <a:solidFill>
                  <a:schemeClr val="bg1">
                    <a:lumMod val="75000"/>
                  </a:schemeClr>
                </a:solidFill>
              </a:rPr>
              <a:t>Operating systems structures</a:t>
            </a:r>
          </a:p>
          <a:p>
            <a:endParaRPr lang="en-US" dirty="0">
              <a:solidFill>
                <a:schemeClr val="bg1">
                  <a:lumMod val="75000"/>
                </a:schemeClr>
              </a:solidFill>
            </a:endParaRP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13</a:t>
            </a:fld>
            <a:endParaRPr lang="en-US"/>
          </a:p>
        </p:txBody>
      </p:sp>
    </p:spTree>
    <p:extLst>
      <p:ext uri="{BB962C8B-B14F-4D97-AF65-F5344CB8AC3E}">
        <p14:creationId xmlns:p14="http://schemas.microsoft.com/office/powerpoint/2010/main" val="516005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 a moment…</a:t>
            </a:r>
          </a:p>
        </p:txBody>
      </p:sp>
      <p:grpSp>
        <p:nvGrpSpPr>
          <p:cNvPr id="12" name="Group 11"/>
          <p:cNvGrpSpPr/>
          <p:nvPr/>
        </p:nvGrpSpPr>
        <p:grpSpPr>
          <a:xfrm>
            <a:off x="655319" y="1690688"/>
            <a:ext cx="9192217" cy="4589033"/>
            <a:chOff x="655319" y="1690688"/>
            <a:chExt cx="9192217" cy="4589033"/>
          </a:xfrm>
        </p:grpSpPr>
        <p:pic>
          <p:nvPicPr>
            <p:cNvPr id="4" name="Picture 4" descr="2"/>
            <p:cNvPicPr>
              <a:picLocks noChangeAspect="1" noChangeArrowheads="1"/>
            </p:cNvPicPr>
            <p:nvPr/>
          </p:nvPicPr>
          <p:blipFill>
            <a:blip r:embed="rId3" cstate="print"/>
            <a:srcRect/>
            <a:stretch>
              <a:fillRect/>
            </a:stretch>
          </p:blipFill>
          <p:spPr bwMode="auto">
            <a:xfrm>
              <a:off x="655319" y="1690688"/>
              <a:ext cx="9192217" cy="4589033"/>
            </a:xfrm>
            <a:prstGeom prst="rect">
              <a:avLst/>
            </a:prstGeom>
            <a:noFill/>
            <a:ln w="9525">
              <a:noFill/>
              <a:miter lim="800000"/>
              <a:headEnd/>
              <a:tailEnd/>
            </a:ln>
          </p:spPr>
        </p:pic>
        <p:grpSp>
          <p:nvGrpSpPr>
            <p:cNvPr id="17" name="Group 16"/>
            <p:cNvGrpSpPr/>
            <p:nvPr/>
          </p:nvGrpSpPr>
          <p:grpSpPr>
            <a:xfrm>
              <a:off x="1141442" y="2073855"/>
              <a:ext cx="3491518" cy="4029765"/>
              <a:chOff x="1141442" y="2073855"/>
              <a:chExt cx="3491518" cy="4029765"/>
            </a:xfrm>
          </p:grpSpPr>
          <p:grpSp>
            <p:nvGrpSpPr>
              <p:cNvPr id="7" name="Group 6"/>
              <p:cNvGrpSpPr/>
              <p:nvPr/>
            </p:nvGrpSpPr>
            <p:grpSpPr>
              <a:xfrm>
                <a:off x="1141442" y="2073855"/>
                <a:ext cx="1479665" cy="1163782"/>
                <a:chOff x="2155595" y="2073856"/>
                <a:chExt cx="1479665" cy="1163782"/>
              </a:xfrm>
            </p:grpSpPr>
            <p:sp>
              <p:nvSpPr>
                <p:cNvPr id="6" name="Rectangle 5"/>
                <p:cNvSpPr/>
                <p:nvPr/>
              </p:nvSpPr>
              <p:spPr>
                <a:xfrm>
                  <a:off x="2155595" y="2073856"/>
                  <a:ext cx="1479665" cy="1163782"/>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76488" y="2073856"/>
                  <a:ext cx="1037877" cy="1120194"/>
                </a:xfrm>
                <a:prstGeom prst="rect">
                  <a:avLst/>
                </a:prstGeom>
              </p:spPr>
            </p:pic>
          </p:grpSp>
          <p:grpSp>
            <p:nvGrpSpPr>
              <p:cNvPr id="16" name="Group 15"/>
              <p:cNvGrpSpPr/>
              <p:nvPr/>
            </p:nvGrpSpPr>
            <p:grpSpPr>
              <a:xfrm>
                <a:off x="1881273" y="3237637"/>
                <a:ext cx="2751687" cy="2865983"/>
                <a:chOff x="1881273" y="3237637"/>
                <a:chExt cx="2751687" cy="2865983"/>
              </a:xfrm>
            </p:grpSpPr>
            <p:cxnSp>
              <p:nvCxnSpPr>
                <p:cNvPr id="9" name="Straight Connector 8"/>
                <p:cNvCxnSpPr>
                  <a:stCxn id="6" idx="2"/>
                </p:cNvCxnSpPr>
                <p:nvPr/>
              </p:nvCxnSpPr>
              <p:spPr>
                <a:xfrm flipH="1">
                  <a:off x="1881273" y="3237637"/>
                  <a:ext cx="2" cy="253708"/>
                </a:xfrm>
                <a:prstGeom prst="line">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cxnSp>
              <p:nvCxnSpPr>
                <p:cNvPr id="11" name="Straight Connector 10"/>
                <p:cNvCxnSpPr/>
                <p:nvPr/>
              </p:nvCxnSpPr>
              <p:spPr>
                <a:xfrm>
                  <a:off x="1881273" y="3491345"/>
                  <a:ext cx="2744067" cy="0"/>
                </a:xfrm>
                <a:prstGeom prst="line">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cxnSp>
              <p:nvCxnSpPr>
                <p:cNvPr id="15" name="Straight Arrow Connector 14"/>
                <p:cNvCxnSpPr/>
                <p:nvPr/>
              </p:nvCxnSpPr>
              <p:spPr>
                <a:xfrm>
                  <a:off x="4617720" y="3491345"/>
                  <a:ext cx="15240" cy="2612275"/>
                </a:xfrm>
                <a:prstGeom prst="straightConnector1">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grpSp>
        </p:grpSp>
      </p:grpSp>
      <p:sp>
        <p:nvSpPr>
          <p:cNvPr id="18" name="TextBox 17"/>
          <p:cNvSpPr txBox="1"/>
          <p:nvPr/>
        </p:nvSpPr>
        <p:spPr>
          <a:xfrm>
            <a:off x="7897091" y="2261062"/>
            <a:ext cx="3873731" cy="193899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Arial" charset="0"/>
              <a:buChar char="•"/>
            </a:pPr>
            <a:r>
              <a:rPr lang="en-US" sz="2000" dirty="0"/>
              <a:t>What if a program gets stuck in an infinite loop?</a:t>
            </a:r>
          </a:p>
          <a:p>
            <a:pPr marL="285750" indent="-285750">
              <a:buFont typeface="Arial" charset="0"/>
              <a:buChar char="•"/>
            </a:pPr>
            <a:r>
              <a:rPr lang="en-US" sz="2000" dirty="0"/>
              <a:t>What if it alters the data of another program?</a:t>
            </a:r>
          </a:p>
          <a:p>
            <a:pPr marL="285750" indent="-285750">
              <a:buFont typeface="Arial" charset="0"/>
              <a:buChar char="•"/>
            </a:pPr>
            <a:r>
              <a:rPr lang="en-US" sz="2000" dirty="0"/>
              <a:t>What if it modifies the operating system?</a:t>
            </a:r>
          </a:p>
        </p:txBody>
      </p:sp>
      <p:sp>
        <p:nvSpPr>
          <p:cNvPr id="3" name="Date Placeholder 2"/>
          <p:cNvSpPr>
            <a:spLocks noGrp="1"/>
          </p:cNvSpPr>
          <p:nvPr>
            <p:ph type="dt" sz="half" idx="10"/>
          </p:nvPr>
        </p:nvSpPr>
        <p:spPr/>
        <p:txBody>
          <a:bodyPr/>
          <a:lstStyle/>
          <a:p>
            <a:r>
              <a:rPr lang="sv-SE"/>
              <a:t>Vincenzo Gulisano</a:t>
            </a:r>
            <a:endParaRPr lang="en-US"/>
          </a:p>
        </p:txBody>
      </p:sp>
      <p:sp>
        <p:nvSpPr>
          <p:cNvPr id="8" name="Footer Placeholder 7"/>
          <p:cNvSpPr>
            <a:spLocks noGrp="1"/>
          </p:cNvSpPr>
          <p:nvPr>
            <p:ph type="ftr" sz="quarter" idx="11"/>
          </p:nvPr>
        </p:nvSpPr>
        <p:spPr/>
        <p:txBody>
          <a:bodyPr/>
          <a:lstStyle/>
          <a:p>
            <a:r>
              <a:rPr lang="en-US"/>
              <a:t>Operating Systems - Introduction to Operating Systems</a:t>
            </a:r>
          </a:p>
        </p:txBody>
      </p:sp>
      <p:sp>
        <p:nvSpPr>
          <p:cNvPr id="10" name="Slide Number Placeholder 9"/>
          <p:cNvSpPr>
            <a:spLocks noGrp="1"/>
          </p:cNvSpPr>
          <p:nvPr>
            <p:ph type="sldNum" sz="quarter" idx="12"/>
          </p:nvPr>
        </p:nvSpPr>
        <p:spPr/>
        <p:txBody>
          <a:bodyPr/>
          <a:lstStyle/>
          <a:p>
            <a:fld id="{F08E1FC2-92BA-6B49-AE60-B1AE3118BF2A}" type="slidenum">
              <a:rPr lang="en-US" smtClean="0"/>
              <a:t>14</a:t>
            </a:fld>
            <a:endParaRPr lang="en-US"/>
          </a:p>
        </p:txBody>
      </p:sp>
    </p:spTree>
    <p:extLst>
      <p:ext uri="{BB962C8B-B14F-4D97-AF65-F5344CB8AC3E}">
        <p14:creationId xmlns:p14="http://schemas.microsoft.com/office/powerpoint/2010/main" val="40572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Dual-mode and Multimode Operations (I)</a:t>
            </a:r>
          </a:p>
        </p:txBody>
      </p:sp>
      <p:sp>
        <p:nvSpPr>
          <p:cNvPr id="3" name="Content Placeholder 2"/>
          <p:cNvSpPr>
            <a:spLocks noGrp="1"/>
          </p:cNvSpPr>
          <p:nvPr>
            <p:ph idx="1"/>
          </p:nvPr>
        </p:nvSpPr>
        <p:spPr>
          <a:xfrm>
            <a:off x="838200" y="3973483"/>
            <a:ext cx="10515600" cy="2203479"/>
          </a:xfrm>
        </p:spPr>
        <p:txBody>
          <a:bodyPr>
            <a:normAutofit fontScale="85000" lnSpcReduction="20000"/>
          </a:bodyPr>
          <a:lstStyle/>
          <a:p>
            <a:r>
              <a:rPr lang="en-US" dirty="0"/>
              <a:t>Two different modes: User mode / Kernel mode</a:t>
            </a:r>
          </a:p>
          <a:p>
            <a:r>
              <a:rPr lang="en-US" dirty="0"/>
              <a:t>A mode bit (hardware) differentiates between the two</a:t>
            </a:r>
          </a:p>
          <a:p>
            <a:r>
              <a:rPr lang="en-US" dirty="0"/>
              <a:t>Is it a privileged instruction?</a:t>
            </a:r>
          </a:p>
          <a:p>
            <a:pPr lvl="1"/>
            <a:r>
              <a:rPr lang="en-US" dirty="0"/>
              <a:t>Can only execute in kernel mode (mode bit = 0)</a:t>
            </a:r>
          </a:p>
          <a:p>
            <a:r>
              <a:rPr lang="en-US" dirty="0"/>
              <a:t>Running a user program?</a:t>
            </a:r>
          </a:p>
          <a:p>
            <a:pPr lvl="1"/>
            <a:r>
              <a:rPr lang="en-US" dirty="0"/>
              <a:t>First switch mode bit to 1… then run the code</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94731" y="1385281"/>
            <a:ext cx="76025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Introduction to Operating Systems</a:t>
            </a:r>
          </a:p>
        </p:txBody>
      </p:sp>
      <p:sp>
        <p:nvSpPr>
          <p:cNvPr id="7" name="Slide Number Placeholder 6"/>
          <p:cNvSpPr>
            <a:spLocks noGrp="1"/>
          </p:cNvSpPr>
          <p:nvPr>
            <p:ph type="sldNum" sz="quarter" idx="12"/>
          </p:nvPr>
        </p:nvSpPr>
        <p:spPr/>
        <p:txBody>
          <a:bodyPr/>
          <a:lstStyle/>
          <a:p>
            <a:fld id="{F08E1FC2-92BA-6B49-AE60-B1AE3118BF2A}" type="slidenum">
              <a:rPr lang="en-US" smtClean="0"/>
              <a:t>15</a:t>
            </a:fld>
            <a:endParaRPr lang="en-US"/>
          </a:p>
        </p:txBody>
      </p:sp>
    </p:spTree>
    <p:extLst>
      <p:ext uri="{BB962C8B-B14F-4D97-AF65-F5344CB8AC3E}">
        <p14:creationId xmlns:p14="http://schemas.microsoft.com/office/powerpoint/2010/main" val="96932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Dual-mode and Multimode Operations (II)</a:t>
            </a:r>
          </a:p>
        </p:txBody>
      </p:sp>
      <p:sp>
        <p:nvSpPr>
          <p:cNvPr id="3" name="Content Placeholder 2"/>
          <p:cNvSpPr>
            <a:spLocks noGrp="1"/>
          </p:cNvSpPr>
          <p:nvPr>
            <p:ph idx="1"/>
          </p:nvPr>
        </p:nvSpPr>
        <p:spPr>
          <a:xfrm>
            <a:off x="838200" y="3973483"/>
            <a:ext cx="10515600" cy="2203479"/>
          </a:xfrm>
        </p:spPr>
        <p:txBody>
          <a:bodyPr>
            <a:normAutofit fontScale="85000" lnSpcReduction="20000"/>
          </a:bodyPr>
          <a:lstStyle/>
          <a:p>
            <a:r>
              <a:rPr lang="en-US" dirty="0"/>
              <a:t>More than 2 modes can exist</a:t>
            </a:r>
          </a:p>
          <a:p>
            <a:pPr lvl="1"/>
            <a:r>
              <a:rPr lang="en-US" dirty="0"/>
              <a:t>Example: to allow a Virtual Machine Manager (VMM) to execute more instructions than a user program</a:t>
            </a:r>
          </a:p>
          <a:p>
            <a:pPr lvl="1"/>
            <a:r>
              <a:rPr lang="en-US" dirty="0"/>
              <a:t>Example: Intel 64 CPUs allow for 4 privilege levels</a:t>
            </a:r>
          </a:p>
          <a:p>
            <a:r>
              <a:rPr lang="en-US" dirty="0"/>
              <a:t>If a user program tries to execute a privileged instruction</a:t>
            </a:r>
          </a:p>
          <a:p>
            <a:pPr lvl="1"/>
            <a:r>
              <a:rPr lang="en-US" dirty="0"/>
              <a:t>The hardware sends an interrupt to the OS</a:t>
            </a:r>
          </a:p>
          <a:p>
            <a:pPr lvl="1"/>
            <a:r>
              <a:rPr lang="en-US" dirty="0"/>
              <a:t>The OS terminates the program (or does something else depending on the case)</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294731" y="1385281"/>
            <a:ext cx="76025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Introduction to Operating Systems</a:t>
            </a:r>
          </a:p>
        </p:txBody>
      </p:sp>
      <p:sp>
        <p:nvSpPr>
          <p:cNvPr id="7" name="Slide Number Placeholder 6"/>
          <p:cNvSpPr>
            <a:spLocks noGrp="1"/>
          </p:cNvSpPr>
          <p:nvPr>
            <p:ph type="sldNum" sz="quarter" idx="12"/>
          </p:nvPr>
        </p:nvSpPr>
        <p:spPr/>
        <p:txBody>
          <a:bodyPr/>
          <a:lstStyle/>
          <a:p>
            <a:fld id="{F08E1FC2-92BA-6B49-AE60-B1AE3118BF2A}" type="slidenum">
              <a:rPr lang="en-US" smtClean="0"/>
              <a:t>16</a:t>
            </a:fld>
            <a:endParaRPr lang="en-US"/>
          </a:p>
        </p:txBody>
      </p:sp>
    </p:spTree>
    <p:extLst>
      <p:ext uri="{BB962C8B-B14F-4D97-AF65-F5344CB8AC3E}">
        <p14:creationId xmlns:p14="http://schemas.microsoft.com/office/powerpoint/2010/main" val="192618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special interrupt mechanism: the timer</a:t>
            </a:r>
          </a:p>
        </p:txBody>
      </p:sp>
      <p:sp>
        <p:nvSpPr>
          <p:cNvPr id="3" name="Content Placeholder 2"/>
          <p:cNvSpPr>
            <a:spLocks noGrp="1"/>
          </p:cNvSpPr>
          <p:nvPr>
            <p:ph idx="1"/>
          </p:nvPr>
        </p:nvSpPr>
        <p:spPr/>
        <p:txBody>
          <a:bodyPr/>
          <a:lstStyle/>
          <a:p>
            <a:r>
              <a:rPr lang="en-US" dirty="0"/>
              <a:t>When the OS decides to run a user program, how can it be sure the latter will generate an interrupt (in a reasonable amount of time)?</a:t>
            </a:r>
          </a:p>
        </p:txBody>
      </p:sp>
      <p:grpSp>
        <p:nvGrpSpPr>
          <p:cNvPr id="18" name="Group 17"/>
          <p:cNvGrpSpPr/>
          <p:nvPr/>
        </p:nvGrpSpPr>
        <p:grpSpPr>
          <a:xfrm>
            <a:off x="638694" y="2940102"/>
            <a:ext cx="6483704" cy="3236861"/>
            <a:chOff x="655319" y="1690688"/>
            <a:chExt cx="9192217" cy="4589033"/>
          </a:xfrm>
        </p:grpSpPr>
        <p:pic>
          <p:nvPicPr>
            <p:cNvPr id="4" name="Picture 4" descr="2"/>
            <p:cNvPicPr>
              <a:picLocks noChangeAspect="1" noChangeArrowheads="1"/>
            </p:cNvPicPr>
            <p:nvPr/>
          </p:nvPicPr>
          <p:blipFill>
            <a:blip r:embed="rId2" cstate="print"/>
            <a:srcRect/>
            <a:stretch>
              <a:fillRect/>
            </a:stretch>
          </p:blipFill>
          <p:spPr bwMode="auto">
            <a:xfrm>
              <a:off x="655319" y="1690688"/>
              <a:ext cx="9192217" cy="4589033"/>
            </a:xfrm>
            <a:prstGeom prst="rect">
              <a:avLst/>
            </a:prstGeom>
            <a:noFill/>
            <a:ln w="9525">
              <a:noFill/>
              <a:miter lim="800000"/>
              <a:headEnd/>
              <a:tailEnd/>
            </a:ln>
          </p:spPr>
        </p:pic>
        <p:grpSp>
          <p:nvGrpSpPr>
            <p:cNvPr id="5" name="Group 4"/>
            <p:cNvGrpSpPr/>
            <p:nvPr/>
          </p:nvGrpSpPr>
          <p:grpSpPr>
            <a:xfrm>
              <a:off x="1141442" y="2073855"/>
              <a:ext cx="3491518" cy="4029765"/>
              <a:chOff x="1141442" y="2073855"/>
              <a:chExt cx="3491518" cy="4029765"/>
            </a:xfrm>
          </p:grpSpPr>
          <p:grpSp>
            <p:nvGrpSpPr>
              <p:cNvPr id="6" name="Group 5"/>
              <p:cNvGrpSpPr/>
              <p:nvPr/>
            </p:nvGrpSpPr>
            <p:grpSpPr>
              <a:xfrm>
                <a:off x="1141442" y="2073855"/>
                <a:ext cx="1479665" cy="1163782"/>
                <a:chOff x="2155595" y="2073856"/>
                <a:chExt cx="1479665" cy="1163782"/>
              </a:xfrm>
            </p:grpSpPr>
            <p:sp>
              <p:nvSpPr>
                <p:cNvPr id="11" name="Rectangle 10"/>
                <p:cNvSpPr/>
                <p:nvPr/>
              </p:nvSpPr>
              <p:spPr>
                <a:xfrm>
                  <a:off x="2155595" y="2073856"/>
                  <a:ext cx="1479665" cy="1163782"/>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376488" y="2073856"/>
                  <a:ext cx="1037877" cy="1120194"/>
                </a:xfrm>
                <a:prstGeom prst="rect">
                  <a:avLst/>
                </a:prstGeom>
              </p:spPr>
            </p:pic>
          </p:grpSp>
          <p:grpSp>
            <p:nvGrpSpPr>
              <p:cNvPr id="7" name="Group 6"/>
              <p:cNvGrpSpPr/>
              <p:nvPr/>
            </p:nvGrpSpPr>
            <p:grpSpPr>
              <a:xfrm>
                <a:off x="1881273" y="3237637"/>
                <a:ext cx="2751687" cy="2865983"/>
                <a:chOff x="1881273" y="3237637"/>
                <a:chExt cx="2751687" cy="2865983"/>
              </a:xfrm>
            </p:grpSpPr>
            <p:cxnSp>
              <p:nvCxnSpPr>
                <p:cNvPr id="8" name="Straight Connector 7"/>
                <p:cNvCxnSpPr>
                  <a:stCxn id="8" idx="2"/>
                </p:cNvCxnSpPr>
                <p:nvPr/>
              </p:nvCxnSpPr>
              <p:spPr>
                <a:xfrm flipH="1">
                  <a:off x="1881273" y="3237637"/>
                  <a:ext cx="2" cy="253708"/>
                </a:xfrm>
                <a:prstGeom prst="line">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cxnSp>
              <p:nvCxnSpPr>
                <p:cNvPr id="9" name="Straight Connector 8"/>
                <p:cNvCxnSpPr/>
                <p:nvPr/>
              </p:nvCxnSpPr>
              <p:spPr>
                <a:xfrm>
                  <a:off x="1881273" y="3491345"/>
                  <a:ext cx="2744067" cy="0"/>
                </a:xfrm>
                <a:prstGeom prst="line">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cxnSp>
              <p:nvCxnSpPr>
                <p:cNvPr id="10" name="Straight Arrow Connector 9"/>
                <p:cNvCxnSpPr/>
                <p:nvPr/>
              </p:nvCxnSpPr>
              <p:spPr>
                <a:xfrm>
                  <a:off x="4617720" y="3491345"/>
                  <a:ext cx="15240" cy="2612275"/>
                </a:xfrm>
                <a:prstGeom prst="straightConnector1">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grpSp>
        </p:grpSp>
      </p:grpSp>
      <p:sp>
        <p:nvSpPr>
          <p:cNvPr id="19" name="Content Placeholder 2"/>
          <p:cNvSpPr txBox="1">
            <a:spLocks/>
          </p:cNvSpPr>
          <p:nvPr/>
        </p:nvSpPr>
        <p:spPr>
          <a:xfrm>
            <a:off x="7321904" y="2940102"/>
            <a:ext cx="4184296" cy="32368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A timer can be used to periodically raise an interrupt to the OS</a:t>
            </a:r>
          </a:p>
          <a:p>
            <a:r>
              <a:rPr lang="en-US" dirty="0"/>
              <a:t>The OS can then take control</a:t>
            </a:r>
          </a:p>
        </p:txBody>
      </p:sp>
      <p:sp>
        <p:nvSpPr>
          <p:cNvPr id="20" name="Date Placeholder 19"/>
          <p:cNvSpPr>
            <a:spLocks noGrp="1"/>
          </p:cNvSpPr>
          <p:nvPr>
            <p:ph type="dt" sz="half" idx="10"/>
          </p:nvPr>
        </p:nvSpPr>
        <p:spPr/>
        <p:txBody>
          <a:bodyPr/>
          <a:lstStyle/>
          <a:p>
            <a:r>
              <a:rPr lang="sv-SE"/>
              <a:t>Vincenzo Gulisano</a:t>
            </a:r>
            <a:endParaRPr lang="en-US"/>
          </a:p>
        </p:txBody>
      </p:sp>
      <p:sp>
        <p:nvSpPr>
          <p:cNvPr id="21" name="Footer Placeholder 20"/>
          <p:cNvSpPr>
            <a:spLocks noGrp="1"/>
          </p:cNvSpPr>
          <p:nvPr>
            <p:ph type="ftr" sz="quarter" idx="11"/>
          </p:nvPr>
        </p:nvSpPr>
        <p:spPr/>
        <p:txBody>
          <a:bodyPr/>
          <a:lstStyle/>
          <a:p>
            <a:r>
              <a:rPr lang="en-US"/>
              <a:t>Operating Systems - Introduction to Operating Systems</a:t>
            </a:r>
          </a:p>
        </p:txBody>
      </p:sp>
      <p:sp>
        <p:nvSpPr>
          <p:cNvPr id="22" name="Slide Number Placeholder 21"/>
          <p:cNvSpPr>
            <a:spLocks noGrp="1"/>
          </p:cNvSpPr>
          <p:nvPr>
            <p:ph type="sldNum" sz="quarter" idx="12"/>
          </p:nvPr>
        </p:nvSpPr>
        <p:spPr/>
        <p:txBody>
          <a:bodyPr/>
          <a:lstStyle/>
          <a:p>
            <a:fld id="{F08E1FC2-92BA-6B49-AE60-B1AE3118BF2A}" type="slidenum">
              <a:rPr lang="en-US" smtClean="0"/>
              <a:t>17</a:t>
            </a:fld>
            <a:endParaRPr lang="en-US"/>
          </a:p>
        </p:txBody>
      </p:sp>
    </p:spTree>
    <p:extLst>
      <p:ext uri="{BB962C8B-B14F-4D97-AF65-F5344CB8AC3E}">
        <p14:creationId xmlns:p14="http://schemas.microsoft.com/office/powerpoint/2010/main" val="1109161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B60FA-2C2D-A9D2-A59B-3D7FE41439C0}"/>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80558F6A-2505-44DC-2534-8BF43C9765D7}"/>
              </a:ext>
            </a:extLst>
          </p:cNvPr>
          <p:cNvSpPr>
            <a:spLocks noGrp="1"/>
          </p:cNvSpPr>
          <p:nvPr>
            <p:ph idx="1"/>
          </p:nvPr>
        </p:nvSpPr>
        <p:spPr>
          <a:xfrm>
            <a:off x="838200" y="1378039"/>
            <a:ext cx="10515600" cy="4351338"/>
          </a:xfrm>
        </p:spPr>
        <p:txBody>
          <a:bodyPr/>
          <a:lstStyle/>
          <a:p>
            <a:r>
              <a:rPr lang="en-US" dirty="0"/>
              <a:t>Can a user process change the bit mode to 0?</a:t>
            </a:r>
          </a:p>
          <a:p>
            <a:r>
              <a:rPr lang="en-US" dirty="0"/>
              <a:t>What happens if it tries?</a:t>
            </a:r>
          </a:p>
          <a:p>
            <a:r>
              <a:rPr lang="en-US" dirty="0"/>
              <a:t>What happens if the kernel changes the bit mode to 0?</a:t>
            </a:r>
          </a:p>
          <a:p>
            <a:r>
              <a:rPr lang="en-US" dirty="0"/>
              <a:t>But how does the CPU now if the code belongs to the user or the kernel?</a:t>
            </a:r>
          </a:p>
        </p:txBody>
      </p:sp>
      <p:sp>
        <p:nvSpPr>
          <p:cNvPr id="4" name="Date Placeholder 3">
            <a:extLst>
              <a:ext uri="{FF2B5EF4-FFF2-40B4-BE49-F238E27FC236}">
                <a16:creationId xmlns:a16="http://schemas.microsoft.com/office/drawing/2014/main" id="{BD6E69B5-8212-BEE8-CD01-D2A386543FAD}"/>
              </a:ext>
            </a:extLst>
          </p:cNvPr>
          <p:cNvSpPr>
            <a:spLocks noGrp="1"/>
          </p:cNvSpPr>
          <p:nvPr>
            <p:ph type="dt" sz="half" idx="10"/>
          </p:nvPr>
        </p:nvSpPr>
        <p:spPr/>
        <p:txBody>
          <a:bodyPr/>
          <a:lstStyle/>
          <a:p>
            <a:r>
              <a:rPr lang="sv-SE"/>
              <a:t>Vincenzo Gulisano</a:t>
            </a:r>
            <a:endParaRPr lang="en-US"/>
          </a:p>
        </p:txBody>
      </p:sp>
      <p:sp>
        <p:nvSpPr>
          <p:cNvPr id="5" name="Footer Placeholder 4">
            <a:extLst>
              <a:ext uri="{FF2B5EF4-FFF2-40B4-BE49-F238E27FC236}">
                <a16:creationId xmlns:a16="http://schemas.microsoft.com/office/drawing/2014/main" id="{9515EBF7-3A7A-51F3-15A6-A5B145989F5A}"/>
              </a:ext>
            </a:extLst>
          </p:cNvPr>
          <p:cNvSpPr>
            <a:spLocks noGrp="1"/>
          </p:cNvSpPr>
          <p:nvPr>
            <p:ph type="ftr" sz="quarter" idx="11"/>
          </p:nvPr>
        </p:nvSpPr>
        <p:spPr/>
        <p:txBody>
          <a:bodyPr/>
          <a:lstStyle/>
          <a:p>
            <a:r>
              <a:rPr lang="en-US"/>
              <a:t>Operating Systems - Introduction to Operating Systems</a:t>
            </a:r>
          </a:p>
        </p:txBody>
      </p:sp>
      <p:sp>
        <p:nvSpPr>
          <p:cNvPr id="6" name="Slide Number Placeholder 5">
            <a:extLst>
              <a:ext uri="{FF2B5EF4-FFF2-40B4-BE49-F238E27FC236}">
                <a16:creationId xmlns:a16="http://schemas.microsoft.com/office/drawing/2014/main" id="{0887F870-F193-5278-9ED2-8EDA83139E39}"/>
              </a:ext>
            </a:extLst>
          </p:cNvPr>
          <p:cNvSpPr>
            <a:spLocks noGrp="1"/>
          </p:cNvSpPr>
          <p:nvPr>
            <p:ph type="sldNum" sz="quarter" idx="12"/>
          </p:nvPr>
        </p:nvSpPr>
        <p:spPr/>
        <p:txBody>
          <a:bodyPr/>
          <a:lstStyle/>
          <a:p>
            <a:fld id="{F08E1FC2-92BA-6B49-AE60-B1AE3118BF2A}" type="slidenum">
              <a:rPr lang="en-US" smtClean="0"/>
              <a:t>18</a:t>
            </a:fld>
            <a:endParaRPr lang="en-US"/>
          </a:p>
        </p:txBody>
      </p:sp>
      <p:cxnSp>
        <p:nvCxnSpPr>
          <p:cNvPr id="8" name="Straight Arrow Connector 7">
            <a:extLst>
              <a:ext uri="{FF2B5EF4-FFF2-40B4-BE49-F238E27FC236}">
                <a16:creationId xmlns:a16="http://schemas.microsoft.com/office/drawing/2014/main" id="{768D672E-A9BB-DF29-CC74-11BDDAA05D8A}"/>
              </a:ext>
            </a:extLst>
          </p:cNvPr>
          <p:cNvCxnSpPr/>
          <p:nvPr/>
        </p:nvCxnSpPr>
        <p:spPr>
          <a:xfrm>
            <a:off x="612321" y="5143501"/>
            <a:ext cx="104666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013DD78-D8FA-17B1-0922-607AB976D838}"/>
              </a:ext>
            </a:extLst>
          </p:cNvPr>
          <p:cNvSpPr txBox="1"/>
          <p:nvPr/>
        </p:nvSpPr>
        <p:spPr>
          <a:xfrm>
            <a:off x="10817679" y="5180683"/>
            <a:ext cx="649537" cy="369332"/>
          </a:xfrm>
          <a:prstGeom prst="rect">
            <a:avLst/>
          </a:prstGeom>
          <a:noFill/>
        </p:spPr>
        <p:txBody>
          <a:bodyPr wrap="none" rtlCol="0">
            <a:spAutoFit/>
          </a:bodyPr>
          <a:lstStyle/>
          <a:p>
            <a:r>
              <a:rPr lang="en-US" dirty="0"/>
              <a:t>Time</a:t>
            </a:r>
          </a:p>
        </p:txBody>
      </p:sp>
      <p:cxnSp>
        <p:nvCxnSpPr>
          <p:cNvPr id="11" name="Straight Connector 10">
            <a:extLst>
              <a:ext uri="{FF2B5EF4-FFF2-40B4-BE49-F238E27FC236}">
                <a16:creationId xmlns:a16="http://schemas.microsoft.com/office/drawing/2014/main" id="{5BD0D56B-955B-892C-123F-D20C0A8C35B5}"/>
              </a:ext>
            </a:extLst>
          </p:cNvPr>
          <p:cNvCxnSpPr/>
          <p:nvPr/>
        </p:nvCxnSpPr>
        <p:spPr>
          <a:xfrm>
            <a:off x="612321" y="4865915"/>
            <a:ext cx="0" cy="555172"/>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EDC5BF1-7792-B0F8-8540-34D7207C1A2F}"/>
              </a:ext>
            </a:extLst>
          </p:cNvPr>
          <p:cNvSpPr txBox="1"/>
          <p:nvPr/>
        </p:nvSpPr>
        <p:spPr>
          <a:xfrm>
            <a:off x="89807" y="4062731"/>
            <a:ext cx="2219903" cy="369332"/>
          </a:xfrm>
          <a:prstGeom prst="rect">
            <a:avLst/>
          </a:prstGeom>
          <a:noFill/>
        </p:spPr>
        <p:txBody>
          <a:bodyPr wrap="none" rtlCol="0">
            <a:spAutoFit/>
          </a:bodyPr>
          <a:lstStyle/>
          <a:p>
            <a:r>
              <a:rPr lang="en-US" dirty="0"/>
              <a:t>Turn on the hardware</a:t>
            </a:r>
          </a:p>
        </p:txBody>
      </p:sp>
      <p:cxnSp>
        <p:nvCxnSpPr>
          <p:cNvPr id="14" name="Straight Arrow Connector 13">
            <a:extLst>
              <a:ext uri="{FF2B5EF4-FFF2-40B4-BE49-F238E27FC236}">
                <a16:creationId xmlns:a16="http://schemas.microsoft.com/office/drawing/2014/main" id="{8717BA5D-5E4E-B9E8-9AA6-66783E83A5A3}"/>
              </a:ext>
            </a:extLst>
          </p:cNvPr>
          <p:cNvCxnSpPr>
            <a:cxnSpLocks/>
            <a:stCxn id="12" idx="2"/>
          </p:cNvCxnSpPr>
          <p:nvPr/>
        </p:nvCxnSpPr>
        <p:spPr>
          <a:xfrm flipH="1">
            <a:off x="612320" y="4432063"/>
            <a:ext cx="587439" cy="355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8AFDE09-327F-6B0F-FDE1-F81F93C7246D}"/>
              </a:ext>
            </a:extLst>
          </p:cNvPr>
          <p:cNvCxnSpPr/>
          <p:nvPr/>
        </p:nvCxnSpPr>
        <p:spPr>
          <a:xfrm>
            <a:off x="1940379" y="4865915"/>
            <a:ext cx="0" cy="555172"/>
          </a:xfrm>
          <a:prstGeom prst="line">
            <a:avLst/>
          </a:prstGeom>
        </p:spPr>
        <p:style>
          <a:lnRef idx="1">
            <a:schemeClr val="accent1"/>
          </a:lnRef>
          <a:fillRef idx="0">
            <a:schemeClr val="accent1"/>
          </a:fillRef>
          <a:effectRef idx="0">
            <a:schemeClr val="accent1"/>
          </a:effectRef>
          <a:fontRef idx="minor">
            <a:schemeClr val="tx1"/>
          </a:fontRef>
        </p:style>
      </p:cxnSp>
      <p:sp>
        <p:nvSpPr>
          <p:cNvPr id="16" name="Left Brace 15">
            <a:extLst>
              <a:ext uri="{FF2B5EF4-FFF2-40B4-BE49-F238E27FC236}">
                <a16:creationId xmlns:a16="http://schemas.microsoft.com/office/drawing/2014/main" id="{D16BF9F1-D6B7-E32B-9144-3BE5FC155A32}"/>
              </a:ext>
            </a:extLst>
          </p:cNvPr>
          <p:cNvSpPr/>
          <p:nvPr/>
        </p:nvSpPr>
        <p:spPr>
          <a:xfrm rot="16200000">
            <a:off x="1162806" y="4930254"/>
            <a:ext cx="227077" cy="1328050"/>
          </a:xfrm>
          <a:prstGeom prst="leftBrace">
            <a:avLst>
              <a:gd name="adj1" fmla="val 8333"/>
              <a:gd name="adj2" fmla="val 94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TextBox 16">
            <a:extLst>
              <a:ext uri="{FF2B5EF4-FFF2-40B4-BE49-F238E27FC236}">
                <a16:creationId xmlns:a16="http://schemas.microsoft.com/office/drawing/2014/main" id="{FDF23F3A-917F-FE0F-1242-0FF9B45D8EE7}"/>
              </a:ext>
            </a:extLst>
          </p:cNvPr>
          <p:cNvSpPr txBox="1"/>
          <p:nvPr/>
        </p:nvSpPr>
        <p:spPr>
          <a:xfrm>
            <a:off x="520183" y="5646848"/>
            <a:ext cx="5454305" cy="646331"/>
          </a:xfrm>
          <a:prstGeom prst="rect">
            <a:avLst/>
          </a:prstGeom>
          <a:noFill/>
        </p:spPr>
        <p:txBody>
          <a:bodyPr wrap="square" rtlCol="0">
            <a:spAutoFit/>
          </a:bodyPr>
          <a:lstStyle/>
          <a:p>
            <a:r>
              <a:rPr lang="en-US" dirty="0"/>
              <a:t>The hardware performs predefined steps to load code into memory (code = the OS, which is to be trusted!)</a:t>
            </a:r>
          </a:p>
        </p:txBody>
      </p:sp>
      <p:cxnSp>
        <p:nvCxnSpPr>
          <p:cNvPr id="18" name="Straight Connector 17">
            <a:extLst>
              <a:ext uri="{FF2B5EF4-FFF2-40B4-BE49-F238E27FC236}">
                <a16:creationId xmlns:a16="http://schemas.microsoft.com/office/drawing/2014/main" id="{B10A47F5-5CF9-4B2B-F8ED-368F76C086AE}"/>
              </a:ext>
            </a:extLst>
          </p:cNvPr>
          <p:cNvCxnSpPr/>
          <p:nvPr/>
        </p:nvCxnSpPr>
        <p:spPr>
          <a:xfrm>
            <a:off x="3031672" y="4865915"/>
            <a:ext cx="0" cy="555172"/>
          </a:xfrm>
          <a:prstGeom prst="line">
            <a:avLst/>
          </a:prstGeom>
        </p:spPr>
        <p:style>
          <a:lnRef idx="1">
            <a:schemeClr val="accent1"/>
          </a:lnRef>
          <a:fillRef idx="0">
            <a:schemeClr val="accent1"/>
          </a:fillRef>
          <a:effectRef idx="0">
            <a:schemeClr val="accent1"/>
          </a:effectRef>
          <a:fontRef idx="minor">
            <a:schemeClr val="tx1"/>
          </a:fontRef>
        </p:style>
      </p:cxnSp>
      <p:sp>
        <p:nvSpPr>
          <p:cNvPr id="19" name="Left Brace 18">
            <a:extLst>
              <a:ext uri="{FF2B5EF4-FFF2-40B4-BE49-F238E27FC236}">
                <a16:creationId xmlns:a16="http://schemas.microsoft.com/office/drawing/2014/main" id="{47627BF3-4028-285E-F699-1EA5E88941AD}"/>
              </a:ext>
            </a:extLst>
          </p:cNvPr>
          <p:cNvSpPr/>
          <p:nvPr/>
        </p:nvSpPr>
        <p:spPr>
          <a:xfrm rot="16200000" flipH="1">
            <a:off x="2347229" y="4144877"/>
            <a:ext cx="277584" cy="1091302"/>
          </a:xfrm>
          <a:prstGeom prst="leftBrace">
            <a:avLst>
              <a:gd name="adj1" fmla="val 8333"/>
              <a:gd name="adj2" fmla="val 7618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2702F1FA-6619-9590-DE58-C1C2756782AD}"/>
              </a:ext>
            </a:extLst>
          </p:cNvPr>
          <p:cNvSpPr txBox="1"/>
          <p:nvPr/>
        </p:nvSpPr>
        <p:spPr>
          <a:xfrm>
            <a:off x="2645185" y="3630769"/>
            <a:ext cx="4914944" cy="923330"/>
          </a:xfrm>
          <a:prstGeom prst="rect">
            <a:avLst/>
          </a:prstGeom>
          <a:noFill/>
        </p:spPr>
        <p:txBody>
          <a:bodyPr wrap="square" rtlCol="0">
            <a:spAutoFit/>
          </a:bodyPr>
          <a:lstStyle/>
          <a:p>
            <a:r>
              <a:rPr lang="en-US" dirty="0"/>
              <a:t>Hardware/OS agree on which instructions are privileged, and, for each, which OS code to run if such instructions are run with mode bit 0</a:t>
            </a:r>
          </a:p>
        </p:txBody>
      </p:sp>
      <p:sp>
        <p:nvSpPr>
          <p:cNvPr id="22" name="TextBox 21">
            <a:extLst>
              <a:ext uri="{FF2B5EF4-FFF2-40B4-BE49-F238E27FC236}">
                <a16:creationId xmlns:a16="http://schemas.microsoft.com/office/drawing/2014/main" id="{2958CD49-CB2E-CA5B-6A80-89EBC4B845D9}"/>
              </a:ext>
            </a:extLst>
          </p:cNvPr>
          <p:cNvSpPr txBox="1"/>
          <p:nvPr/>
        </p:nvSpPr>
        <p:spPr>
          <a:xfrm>
            <a:off x="7095720" y="5188081"/>
            <a:ext cx="2826608" cy="369332"/>
          </a:xfrm>
          <a:prstGeom prst="rect">
            <a:avLst/>
          </a:prstGeom>
          <a:noFill/>
        </p:spPr>
        <p:txBody>
          <a:bodyPr wrap="none" rtlCol="0">
            <a:spAutoFit/>
          </a:bodyPr>
          <a:lstStyle/>
          <a:p>
            <a:r>
              <a:rPr lang="en-US" dirty="0"/>
              <a:t>No user process exists so far</a:t>
            </a:r>
          </a:p>
        </p:txBody>
      </p:sp>
      <p:cxnSp>
        <p:nvCxnSpPr>
          <p:cNvPr id="23" name="Straight Arrow Connector 22">
            <a:extLst>
              <a:ext uri="{FF2B5EF4-FFF2-40B4-BE49-F238E27FC236}">
                <a16:creationId xmlns:a16="http://schemas.microsoft.com/office/drawing/2014/main" id="{DA450281-C816-9BC7-DD88-E85E4E244E2E}"/>
              </a:ext>
            </a:extLst>
          </p:cNvPr>
          <p:cNvCxnSpPr>
            <a:cxnSpLocks/>
            <a:stCxn id="22" idx="1"/>
          </p:cNvCxnSpPr>
          <p:nvPr/>
        </p:nvCxnSpPr>
        <p:spPr>
          <a:xfrm flipH="1" flipV="1">
            <a:off x="6466105" y="5240899"/>
            <a:ext cx="629615" cy="13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B3C28D4-E203-33B3-4D77-7A33B3B1D2D1}"/>
              </a:ext>
            </a:extLst>
          </p:cNvPr>
          <p:cNvCxnSpPr/>
          <p:nvPr/>
        </p:nvCxnSpPr>
        <p:spPr>
          <a:xfrm>
            <a:off x="6466115" y="4835062"/>
            <a:ext cx="0" cy="555172"/>
          </a:xfrm>
          <a:prstGeom prst="line">
            <a:avLst/>
          </a:prstGeom>
        </p:spPr>
        <p:style>
          <a:lnRef idx="1">
            <a:schemeClr val="accent1"/>
          </a:lnRef>
          <a:fillRef idx="0">
            <a:schemeClr val="accent1"/>
          </a:fillRef>
          <a:effectRef idx="0">
            <a:schemeClr val="accent1"/>
          </a:effectRef>
          <a:fontRef idx="minor">
            <a:schemeClr val="tx1"/>
          </a:fontRef>
        </p:style>
      </p:cxnSp>
      <p:sp>
        <p:nvSpPr>
          <p:cNvPr id="27" name="Left Brace 26">
            <a:extLst>
              <a:ext uri="{FF2B5EF4-FFF2-40B4-BE49-F238E27FC236}">
                <a16:creationId xmlns:a16="http://schemas.microsoft.com/office/drawing/2014/main" id="{CAB7B1CF-E811-8339-5360-FECC7BE66338}"/>
              </a:ext>
            </a:extLst>
          </p:cNvPr>
          <p:cNvSpPr/>
          <p:nvPr/>
        </p:nvSpPr>
        <p:spPr>
          <a:xfrm rot="16200000">
            <a:off x="4635359" y="3867456"/>
            <a:ext cx="227071" cy="3434441"/>
          </a:xfrm>
          <a:prstGeom prst="leftBrace">
            <a:avLst>
              <a:gd name="adj1" fmla="val 58512"/>
              <a:gd name="adj2" fmla="val 9611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6080A570-CC05-9264-D996-7C87F665105C}"/>
              </a:ext>
            </a:extLst>
          </p:cNvPr>
          <p:cNvSpPr txBox="1"/>
          <p:nvPr/>
        </p:nvSpPr>
        <p:spPr>
          <a:xfrm>
            <a:off x="5845628" y="5627650"/>
            <a:ext cx="2393091" cy="369332"/>
          </a:xfrm>
          <a:prstGeom prst="rect">
            <a:avLst/>
          </a:prstGeom>
          <a:noFill/>
        </p:spPr>
        <p:txBody>
          <a:bodyPr wrap="none" rtlCol="0">
            <a:spAutoFit/>
          </a:bodyPr>
          <a:lstStyle/>
          <a:p>
            <a:r>
              <a:rPr lang="en-US" dirty="0"/>
              <a:t>Complete loading of OS</a:t>
            </a:r>
          </a:p>
        </p:txBody>
      </p:sp>
      <p:sp>
        <p:nvSpPr>
          <p:cNvPr id="32" name="TextBox 31">
            <a:extLst>
              <a:ext uri="{FF2B5EF4-FFF2-40B4-BE49-F238E27FC236}">
                <a16:creationId xmlns:a16="http://schemas.microsoft.com/office/drawing/2014/main" id="{83E0CC82-707C-CE23-6B36-BA1887C99660}"/>
              </a:ext>
            </a:extLst>
          </p:cNvPr>
          <p:cNvSpPr txBox="1"/>
          <p:nvPr/>
        </p:nvSpPr>
        <p:spPr>
          <a:xfrm>
            <a:off x="7083498" y="4234487"/>
            <a:ext cx="4975118" cy="923330"/>
          </a:xfrm>
          <a:prstGeom prst="rect">
            <a:avLst/>
          </a:prstGeom>
          <a:noFill/>
        </p:spPr>
        <p:txBody>
          <a:bodyPr wrap="square" rtlCol="0">
            <a:spAutoFit/>
          </a:bodyPr>
          <a:lstStyle/>
          <a:p>
            <a:r>
              <a:rPr lang="en-US" dirty="0"/>
              <a:t>Bit mode set to 0 before starting any user process. Any privileged instruction will trap. CPU can only wake up the OS</a:t>
            </a:r>
          </a:p>
        </p:txBody>
      </p:sp>
      <p:cxnSp>
        <p:nvCxnSpPr>
          <p:cNvPr id="33" name="Straight Arrow Connector 32">
            <a:extLst>
              <a:ext uri="{FF2B5EF4-FFF2-40B4-BE49-F238E27FC236}">
                <a16:creationId xmlns:a16="http://schemas.microsoft.com/office/drawing/2014/main" id="{7D8A3589-BA14-ECF1-0A74-906C50B94274}"/>
              </a:ext>
            </a:extLst>
          </p:cNvPr>
          <p:cNvCxnSpPr>
            <a:cxnSpLocks/>
          </p:cNvCxnSpPr>
          <p:nvPr/>
        </p:nvCxnSpPr>
        <p:spPr>
          <a:xfrm flipV="1">
            <a:off x="6466115" y="4652579"/>
            <a:ext cx="599300" cy="279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E15782BD-0E09-DACC-5503-06D09B3A6D19}"/>
              </a:ext>
            </a:extLst>
          </p:cNvPr>
          <p:cNvSpPr/>
          <p:nvPr/>
        </p:nvSpPr>
        <p:spPr>
          <a:xfrm>
            <a:off x="3242106" y="5850967"/>
            <a:ext cx="2393091" cy="57723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C20D395A-A356-F03C-2FED-996A87BDCC4D}"/>
              </a:ext>
            </a:extLst>
          </p:cNvPr>
          <p:cNvCxnSpPr>
            <a:cxnSpLocks/>
            <a:stCxn id="36" idx="6"/>
          </p:cNvCxnSpPr>
          <p:nvPr/>
        </p:nvCxnSpPr>
        <p:spPr>
          <a:xfrm>
            <a:off x="5635197" y="6139583"/>
            <a:ext cx="2721920" cy="76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1CA717BC-5388-4D5B-3B1F-EF2AB5EE0960}"/>
              </a:ext>
            </a:extLst>
          </p:cNvPr>
          <p:cNvSpPr txBox="1"/>
          <p:nvPr/>
        </p:nvSpPr>
        <p:spPr>
          <a:xfrm>
            <a:off x="8378394" y="5846544"/>
            <a:ext cx="3503321" cy="646331"/>
          </a:xfrm>
          <a:prstGeom prst="rect">
            <a:avLst/>
          </a:prstGeom>
          <a:noFill/>
        </p:spPr>
        <p:txBody>
          <a:bodyPr wrap="square" rtlCol="0">
            <a:spAutoFit/>
          </a:bodyPr>
          <a:lstStyle/>
          <a:p>
            <a:r>
              <a:rPr lang="en-US" dirty="0">
                <a:solidFill>
                  <a:srgbClr val="FF0000"/>
                </a:solidFill>
              </a:rPr>
              <a:t>Remove this assumption and we have a problem…</a:t>
            </a:r>
          </a:p>
        </p:txBody>
      </p:sp>
    </p:spTree>
    <p:extLst>
      <p:ext uri="{BB962C8B-B14F-4D97-AF65-F5344CB8AC3E}">
        <p14:creationId xmlns:p14="http://schemas.microsoft.com/office/powerpoint/2010/main" val="287491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6" grpId="0" animBg="1"/>
      <p:bldP spid="17" grpId="0"/>
      <p:bldP spid="19" grpId="0" animBg="1"/>
      <p:bldP spid="21" grpId="0"/>
      <p:bldP spid="22" grpId="0"/>
      <p:bldP spid="27" grpId="0" animBg="1"/>
      <p:bldP spid="28" grpId="0"/>
      <p:bldP spid="32" grpId="0"/>
      <p:bldP spid="36" grpId="0" animBg="1"/>
      <p:bldP spid="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solidFill>
                  <a:schemeClr val="bg1">
                    <a:lumMod val="75000"/>
                  </a:schemeClr>
                </a:solidFill>
              </a:rPr>
              <a:t>What is an Operating System?</a:t>
            </a:r>
          </a:p>
          <a:p>
            <a:r>
              <a:rPr lang="en-US" dirty="0">
                <a:solidFill>
                  <a:schemeClr val="bg1">
                    <a:lumMod val="75000"/>
                  </a:schemeClr>
                </a:solidFill>
              </a:rPr>
              <a:t>The event-driven (interrupt-drive) life of an OS</a:t>
            </a:r>
          </a:p>
          <a:p>
            <a:r>
              <a:rPr lang="en-US" dirty="0">
                <a:solidFill>
                  <a:schemeClr val="bg1">
                    <a:lumMod val="75000"/>
                  </a:schemeClr>
                </a:solidFill>
              </a:rPr>
              <a:t>System calls (overview)</a:t>
            </a:r>
          </a:p>
          <a:p>
            <a:r>
              <a:rPr lang="en-US" dirty="0">
                <a:solidFill>
                  <a:schemeClr val="bg1">
                    <a:lumMod val="75000"/>
                  </a:schemeClr>
                </a:solidFill>
              </a:rPr>
              <a:t>Dual-Mode and Multimode Operation</a:t>
            </a:r>
          </a:p>
          <a:p>
            <a:r>
              <a:rPr lang="en-US" dirty="0"/>
              <a:t>Operating system services</a:t>
            </a:r>
          </a:p>
          <a:p>
            <a:r>
              <a:rPr lang="en-US" dirty="0">
                <a:solidFill>
                  <a:schemeClr val="bg1">
                    <a:lumMod val="75000"/>
                  </a:schemeClr>
                </a:solidFill>
              </a:rPr>
              <a:t>System calls (continued) and APIs [Self reading]</a:t>
            </a:r>
          </a:p>
          <a:p>
            <a:r>
              <a:rPr lang="en-US" dirty="0">
                <a:solidFill>
                  <a:schemeClr val="bg1">
                    <a:lumMod val="75000"/>
                  </a:schemeClr>
                </a:solidFill>
              </a:rPr>
              <a:t>System boot [Self reading]</a:t>
            </a:r>
          </a:p>
          <a:p>
            <a:r>
              <a:rPr lang="en-US" dirty="0">
                <a:solidFill>
                  <a:schemeClr val="bg1">
                    <a:lumMod val="75000"/>
                  </a:schemeClr>
                </a:solidFill>
              </a:rPr>
              <a:t>Operating systems structures</a:t>
            </a:r>
          </a:p>
          <a:p>
            <a:endParaRPr lang="en-US" dirty="0">
              <a:solidFill>
                <a:schemeClr val="bg1">
                  <a:lumMod val="75000"/>
                </a:schemeClr>
              </a:solidFill>
            </a:endParaRP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19</a:t>
            </a:fld>
            <a:endParaRPr lang="en-US"/>
          </a:p>
        </p:txBody>
      </p:sp>
    </p:spTree>
    <p:extLst>
      <p:ext uri="{BB962C8B-B14F-4D97-AF65-F5344CB8AC3E}">
        <p14:creationId xmlns:p14="http://schemas.microsoft.com/office/powerpoint/2010/main" val="146959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the operating system provides?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20</a:t>
            </a:fld>
            <a:endParaRPr lang="en-US"/>
          </a:p>
        </p:txBody>
      </p:sp>
      <p:pic>
        <p:nvPicPr>
          <p:cNvPr id="7" name="Picture 4" descr="2"/>
          <p:cNvPicPr>
            <a:picLocks noChangeAspect="1" noChangeArrowheads="1"/>
          </p:cNvPicPr>
          <p:nvPr/>
        </p:nvPicPr>
        <p:blipFill>
          <a:blip r:embed="rId2" cstate="print"/>
          <a:srcRect/>
          <a:stretch>
            <a:fillRect/>
          </a:stretch>
        </p:blipFill>
        <p:spPr bwMode="auto">
          <a:xfrm>
            <a:off x="1423144" y="1500188"/>
            <a:ext cx="9345711" cy="4665662"/>
          </a:xfrm>
          <a:prstGeom prst="rect">
            <a:avLst/>
          </a:prstGeom>
          <a:noFill/>
          <a:ln w="9525">
            <a:noFill/>
            <a:miter lim="800000"/>
            <a:headEnd/>
            <a:tailEnd/>
          </a:ln>
        </p:spPr>
      </p:pic>
      <p:sp>
        <p:nvSpPr>
          <p:cNvPr id="8" name="Rectangle 7"/>
          <p:cNvSpPr/>
          <p:nvPr/>
        </p:nvSpPr>
        <p:spPr>
          <a:xfrm>
            <a:off x="4038600" y="1924050"/>
            <a:ext cx="4114800" cy="112395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8266583" y="2008971"/>
            <a:ext cx="3810000" cy="954107"/>
          </a:xfrm>
          <a:prstGeom prst="rect">
            <a:avLst/>
          </a:prstGeom>
          <a:solidFill>
            <a:schemeClr val="bg1"/>
          </a:solidFill>
          <a:ln>
            <a:solidFill>
              <a:srgbClr val="FF0000"/>
            </a:solidFill>
          </a:ln>
        </p:spPr>
        <p:txBody>
          <a:bodyPr wrap="square" rtlCol="0">
            <a:spAutoFit/>
          </a:bodyPr>
          <a:lstStyle/>
          <a:p>
            <a:r>
              <a:rPr lang="en-US" sz="2800" dirty="0">
                <a:solidFill>
                  <a:srgbClr val="FF0000"/>
                </a:solidFill>
              </a:rPr>
              <a:t>Allow the user to interact with the system</a:t>
            </a:r>
          </a:p>
        </p:txBody>
      </p:sp>
      <p:sp>
        <p:nvSpPr>
          <p:cNvPr id="10" name="Rectangle 9"/>
          <p:cNvSpPr/>
          <p:nvPr/>
        </p:nvSpPr>
        <p:spPr>
          <a:xfrm>
            <a:off x="4629150" y="3620686"/>
            <a:ext cx="1466850" cy="93226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852144" y="4648582"/>
            <a:ext cx="5130056" cy="954107"/>
          </a:xfrm>
          <a:prstGeom prst="rect">
            <a:avLst/>
          </a:prstGeom>
          <a:solidFill>
            <a:schemeClr val="bg1"/>
          </a:solidFill>
          <a:ln>
            <a:solidFill>
              <a:srgbClr val="FF0000"/>
            </a:solidFill>
          </a:ln>
        </p:spPr>
        <p:txBody>
          <a:bodyPr wrap="square" rtlCol="0">
            <a:spAutoFit/>
          </a:bodyPr>
          <a:lstStyle/>
          <a:p>
            <a:r>
              <a:rPr lang="en-US" sz="2800" dirty="0">
                <a:solidFill>
                  <a:srgbClr val="FF0000"/>
                </a:solidFill>
              </a:rPr>
              <a:t>Allow the user to access information (files </a:t>
            </a:r>
            <a:r>
              <a:rPr lang="en-US" sz="2800">
                <a:solidFill>
                  <a:srgbClr val="FF0000"/>
                </a:solidFill>
              </a:rPr>
              <a:t>and directories)</a:t>
            </a:r>
            <a:endParaRPr lang="en-US" sz="2800" dirty="0">
              <a:solidFill>
                <a:srgbClr val="FF0000"/>
              </a:solidFill>
            </a:endParaRPr>
          </a:p>
        </p:txBody>
      </p:sp>
    </p:spTree>
    <p:extLst>
      <p:ext uri="{BB962C8B-B14F-4D97-AF65-F5344CB8AC3E}">
        <p14:creationId xmlns:p14="http://schemas.microsoft.com/office/powerpoint/2010/main" val="198611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the operating system provides?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21</a:t>
            </a:fld>
            <a:endParaRPr lang="en-US"/>
          </a:p>
        </p:txBody>
      </p:sp>
      <p:pic>
        <p:nvPicPr>
          <p:cNvPr id="7" name="Picture 4" descr="2"/>
          <p:cNvPicPr>
            <a:picLocks noChangeAspect="1" noChangeArrowheads="1"/>
          </p:cNvPicPr>
          <p:nvPr/>
        </p:nvPicPr>
        <p:blipFill>
          <a:blip r:embed="rId2" cstate="print"/>
          <a:srcRect/>
          <a:stretch>
            <a:fillRect/>
          </a:stretch>
        </p:blipFill>
        <p:spPr bwMode="auto">
          <a:xfrm>
            <a:off x="1423144" y="1500188"/>
            <a:ext cx="9345711" cy="4665662"/>
          </a:xfrm>
          <a:prstGeom prst="rect">
            <a:avLst/>
          </a:prstGeom>
          <a:noFill/>
          <a:ln w="9525">
            <a:noFill/>
            <a:miter lim="800000"/>
            <a:headEnd/>
            <a:tailEnd/>
          </a:ln>
        </p:spPr>
      </p:pic>
      <p:sp>
        <p:nvSpPr>
          <p:cNvPr id="8" name="Rectangle 7"/>
          <p:cNvSpPr/>
          <p:nvPr/>
        </p:nvSpPr>
        <p:spPr>
          <a:xfrm>
            <a:off x="1524000" y="3461544"/>
            <a:ext cx="6057900" cy="112395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86050" y="4661694"/>
            <a:ext cx="8667749" cy="954107"/>
          </a:xfrm>
          <a:prstGeom prst="rect">
            <a:avLst/>
          </a:prstGeom>
          <a:solidFill>
            <a:schemeClr val="bg1"/>
          </a:solidFill>
          <a:ln>
            <a:solidFill>
              <a:srgbClr val="FF0000"/>
            </a:solidFill>
          </a:ln>
        </p:spPr>
        <p:txBody>
          <a:bodyPr wrap="square" rtlCol="0">
            <a:spAutoFit/>
          </a:bodyPr>
          <a:lstStyle/>
          <a:p>
            <a:r>
              <a:rPr lang="en-US" sz="2800" dirty="0">
                <a:solidFill>
                  <a:srgbClr val="FF0000"/>
                </a:solidFill>
              </a:rPr>
              <a:t>Allow programs to run, communicate with devices, access files and directories </a:t>
            </a:r>
            <a:r>
              <a:rPr lang="en-US" sz="2800">
                <a:solidFill>
                  <a:srgbClr val="FF0000"/>
                </a:solidFill>
              </a:rPr>
              <a:t>and communicate between them</a:t>
            </a:r>
            <a:endParaRPr lang="en-US" sz="2800" dirty="0">
              <a:solidFill>
                <a:srgbClr val="FF0000"/>
              </a:solidFill>
            </a:endParaRPr>
          </a:p>
        </p:txBody>
      </p:sp>
    </p:spTree>
    <p:extLst>
      <p:ext uri="{BB962C8B-B14F-4D97-AF65-F5344CB8AC3E}">
        <p14:creationId xmlns:p14="http://schemas.microsoft.com/office/powerpoint/2010/main" val="850783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the operating system provides?</a:t>
            </a:r>
          </a:p>
        </p:txBody>
      </p:sp>
      <p:sp>
        <p:nvSpPr>
          <p:cNvPr id="4" name="Date Placeholder 3"/>
          <p:cNvSpPr>
            <a:spLocks noGrp="1"/>
          </p:cNvSpPr>
          <p:nvPr>
            <p:ph type="dt" sz="half" idx="10"/>
          </p:nvPr>
        </p:nvSpPr>
        <p:spPr/>
        <p:txBody>
          <a:bodyPr/>
          <a:lstStyle/>
          <a:p>
            <a:r>
              <a:rPr lang="sv-SE" dirty="0"/>
              <a:t>Vincenzo Gulisano</a:t>
            </a:r>
            <a:endParaRPr lang="en-US" dirty="0"/>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22</a:t>
            </a:fld>
            <a:endParaRPr lang="en-US"/>
          </a:p>
        </p:txBody>
      </p:sp>
      <p:pic>
        <p:nvPicPr>
          <p:cNvPr id="7" name="Picture 4" descr="2"/>
          <p:cNvPicPr>
            <a:picLocks noChangeAspect="1" noChangeArrowheads="1"/>
          </p:cNvPicPr>
          <p:nvPr/>
        </p:nvPicPr>
        <p:blipFill>
          <a:blip r:embed="rId2" cstate="print"/>
          <a:srcRect/>
          <a:stretch>
            <a:fillRect/>
          </a:stretch>
        </p:blipFill>
        <p:spPr bwMode="auto">
          <a:xfrm>
            <a:off x="1423144" y="1500188"/>
            <a:ext cx="9345711" cy="4665662"/>
          </a:xfrm>
          <a:prstGeom prst="rect">
            <a:avLst/>
          </a:prstGeom>
          <a:noFill/>
          <a:ln w="9525">
            <a:noFill/>
            <a:miter lim="800000"/>
            <a:headEnd/>
            <a:tailEnd/>
          </a:ln>
        </p:spPr>
      </p:pic>
      <p:sp>
        <p:nvSpPr>
          <p:cNvPr id="8" name="Rectangle 7"/>
          <p:cNvSpPr/>
          <p:nvPr/>
        </p:nvSpPr>
        <p:spPr>
          <a:xfrm>
            <a:off x="2314574" y="4560888"/>
            <a:ext cx="1533526" cy="9255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038600" y="4560888"/>
            <a:ext cx="8667749" cy="954107"/>
          </a:xfrm>
          <a:prstGeom prst="rect">
            <a:avLst/>
          </a:prstGeom>
          <a:solidFill>
            <a:schemeClr val="bg1"/>
          </a:solidFill>
          <a:ln>
            <a:solidFill>
              <a:srgbClr val="FF0000"/>
            </a:solidFill>
          </a:ln>
        </p:spPr>
        <p:txBody>
          <a:bodyPr wrap="square" rtlCol="0">
            <a:spAutoFit/>
          </a:bodyPr>
          <a:lstStyle/>
          <a:p>
            <a:r>
              <a:rPr lang="en-US" sz="2800" dirty="0">
                <a:solidFill>
                  <a:srgbClr val="FF0000"/>
                </a:solidFill>
              </a:rPr>
              <a:t>React when errors occur (e.g., connection failure, attempt to access illegal memory location)</a:t>
            </a:r>
          </a:p>
        </p:txBody>
      </p:sp>
    </p:spTree>
    <p:extLst>
      <p:ext uri="{BB962C8B-B14F-4D97-AF65-F5344CB8AC3E}">
        <p14:creationId xmlns:p14="http://schemas.microsoft.com/office/powerpoint/2010/main" val="142007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the operating system provides?</a:t>
            </a:r>
          </a:p>
        </p:txBody>
      </p:sp>
      <p:sp>
        <p:nvSpPr>
          <p:cNvPr id="4" name="Date Placeholder 3"/>
          <p:cNvSpPr>
            <a:spLocks noGrp="1"/>
          </p:cNvSpPr>
          <p:nvPr>
            <p:ph type="dt" sz="half" idx="10"/>
          </p:nvPr>
        </p:nvSpPr>
        <p:spPr/>
        <p:txBody>
          <a:bodyPr/>
          <a:lstStyle/>
          <a:p>
            <a:r>
              <a:rPr lang="sv-SE" dirty="0"/>
              <a:t>Vincenzo Gulisano</a:t>
            </a:r>
            <a:endParaRPr lang="en-US" dirty="0"/>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23</a:t>
            </a:fld>
            <a:endParaRPr lang="en-US"/>
          </a:p>
        </p:txBody>
      </p:sp>
      <p:pic>
        <p:nvPicPr>
          <p:cNvPr id="7" name="Picture 4" descr="2"/>
          <p:cNvPicPr>
            <a:picLocks noChangeAspect="1" noChangeArrowheads="1"/>
          </p:cNvPicPr>
          <p:nvPr/>
        </p:nvPicPr>
        <p:blipFill>
          <a:blip r:embed="rId2" cstate="print"/>
          <a:srcRect/>
          <a:stretch>
            <a:fillRect/>
          </a:stretch>
        </p:blipFill>
        <p:spPr bwMode="auto">
          <a:xfrm>
            <a:off x="1423144" y="1500188"/>
            <a:ext cx="9345711" cy="4665662"/>
          </a:xfrm>
          <a:prstGeom prst="rect">
            <a:avLst/>
          </a:prstGeom>
          <a:noFill/>
          <a:ln w="9525">
            <a:noFill/>
            <a:miter lim="800000"/>
            <a:headEnd/>
            <a:tailEnd/>
          </a:ln>
        </p:spPr>
      </p:pic>
      <p:sp>
        <p:nvSpPr>
          <p:cNvPr id="8" name="Rectangle 7"/>
          <p:cNvSpPr/>
          <p:nvPr/>
        </p:nvSpPr>
        <p:spPr>
          <a:xfrm>
            <a:off x="7591424" y="3629808"/>
            <a:ext cx="2981326" cy="186848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226844" y="5565755"/>
            <a:ext cx="5776913" cy="954107"/>
          </a:xfrm>
          <a:prstGeom prst="rect">
            <a:avLst/>
          </a:prstGeom>
          <a:solidFill>
            <a:schemeClr val="bg1"/>
          </a:solidFill>
          <a:ln>
            <a:solidFill>
              <a:srgbClr val="FF0000"/>
            </a:solidFill>
          </a:ln>
        </p:spPr>
        <p:txBody>
          <a:bodyPr wrap="square" rtlCol="0">
            <a:spAutoFit/>
          </a:bodyPr>
          <a:lstStyle/>
          <a:p>
            <a:r>
              <a:rPr lang="en-US" sz="2800" dirty="0">
                <a:solidFill>
                  <a:srgbClr val="FF0000"/>
                </a:solidFill>
              </a:rPr>
              <a:t>Allow the system itself to be efficient, fair to </a:t>
            </a:r>
            <a:r>
              <a:rPr lang="en-US" sz="2800">
                <a:solidFill>
                  <a:srgbClr val="FF0000"/>
                </a:solidFill>
              </a:rPr>
              <a:t>different users and </a:t>
            </a:r>
            <a:r>
              <a:rPr lang="en-US" sz="2800" dirty="0">
                <a:solidFill>
                  <a:srgbClr val="FF0000"/>
                </a:solidFill>
              </a:rPr>
              <a:t>secure</a:t>
            </a:r>
          </a:p>
        </p:txBody>
      </p:sp>
    </p:spTree>
    <p:extLst>
      <p:ext uri="{BB962C8B-B14F-4D97-AF65-F5344CB8AC3E}">
        <p14:creationId xmlns:p14="http://schemas.microsoft.com/office/powerpoint/2010/main" val="1491254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solidFill>
                  <a:schemeClr val="bg1">
                    <a:lumMod val="75000"/>
                  </a:schemeClr>
                </a:solidFill>
              </a:rPr>
              <a:t>What is an Operating System?</a:t>
            </a:r>
          </a:p>
          <a:p>
            <a:r>
              <a:rPr lang="en-US" dirty="0">
                <a:solidFill>
                  <a:schemeClr val="bg1">
                    <a:lumMod val="75000"/>
                  </a:schemeClr>
                </a:solidFill>
              </a:rPr>
              <a:t>The event-driven (interrupt-drive) life of an OS</a:t>
            </a:r>
          </a:p>
          <a:p>
            <a:r>
              <a:rPr lang="en-US" dirty="0">
                <a:solidFill>
                  <a:schemeClr val="bg1">
                    <a:lumMod val="75000"/>
                  </a:schemeClr>
                </a:solidFill>
              </a:rPr>
              <a:t>System calls (overview)</a:t>
            </a:r>
          </a:p>
          <a:p>
            <a:r>
              <a:rPr lang="en-US" dirty="0">
                <a:solidFill>
                  <a:schemeClr val="bg1">
                    <a:lumMod val="75000"/>
                  </a:schemeClr>
                </a:solidFill>
              </a:rPr>
              <a:t>Dual-Mode and Multimode Operation</a:t>
            </a:r>
          </a:p>
          <a:p>
            <a:r>
              <a:rPr lang="en-US" dirty="0">
                <a:solidFill>
                  <a:schemeClr val="bg1">
                    <a:lumMod val="75000"/>
                  </a:schemeClr>
                </a:solidFill>
              </a:rPr>
              <a:t>Operating system services</a:t>
            </a:r>
          </a:p>
          <a:p>
            <a:r>
              <a:rPr lang="en-US" dirty="0"/>
              <a:t>System calls (continued) and APIs [self reading]</a:t>
            </a:r>
          </a:p>
          <a:p>
            <a:r>
              <a:rPr lang="en-US" dirty="0">
                <a:solidFill>
                  <a:schemeClr val="bg1">
                    <a:lumMod val="75000"/>
                  </a:schemeClr>
                </a:solidFill>
              </a:rPr>
              <a:t>System boot [Self reading]</a:t>
            </a:r>
          </a:p>
          <a:p>
            <a:r>
              <a:rPr lang="en-US" dirty="0">
                <a:solidFill>
                  <a:schemeClr val="bg1">
                    <a:lumMod val="75000"/>
                  </a:schemeClr>
                </a:solidFill>
              </a:rPr>
              <a:t>Operating systems structures</a:t>
            </a:r>
          </a:p>
          <a:p>
            <a:endParaRPr lang="en-US" dirty="0">
              <a:solidFill>
                <a:schemeClr val="bg1">
                  <a:lumMod val="75000"/>
                </a:schemeClr>
              </a:solidFill>
            </a:endParaRP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24</a:t>
            </a:fld>
            <a:endParaRPr lang="en-US"/>
          </a:p>
        </p:txBody>
      </p:sp>
    </p:spTree>
    <p:extLst>
      <p:ext uri="{BB962C8B-B14F-4D97-AF65-F5344CB8AC3E}">
        <p14:creationId xmlns:p14="http://schemas.microsoft.com/office/powerpoint/2010/main" val="715389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say we want to copy a file…</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25</a:t>
            </a:fld>
            <a:endParaRPr lang="en-US"/>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38200" y="1690688"/>
            <a:ext cx="5937250"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Callout 1 7"/>
          <p:cNvSpPr/>
          <p:nvPr/>
        </p:nvSpPr>
        <p:spPr>
          <a:xfrm>
            <a:off x="7239000" y="2438400"/>
            <a:ext cx="4114800" cy="1466850"/>
          </a:xfrm>
          <a:prstGeom prst="borderCallout1">
            <a:avLst>
              <a:gd name="adj1" fmla="val 18750"/>
              <a:gd name="adj2" fmla="val -8333"/>
              <a:gd name="adj3" fmla="val 11201"/>
              <a:gd name="adj4" fmla="val -707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If a graphical menu is used to let the user pick a source file, many more system calls are needed (and I/O)</a:t>
            </a:r>
          </a:p>
        </p:txBody>
      </p:sp>
      <p:sp>
        <p:nvSpPr>
          <p:cNvPr id="9" name="Line Callout 1 8"/>
          <p:cNvSpPr/>
          <p:nvPr/>
        </p:nvSpPr>
        <p:spPr>
          <a:xfrm>
            <a:off x="6775450" y="4141788"/>
            <a:ext cx="4114800" cy="1466850"/>
          </a:xfrm>
          <a:prstGeom prst="borderCallout1">
            <a:avLst>
              <a:gd name="adj1" fmla="val 18750"/>
              <a:gd name="adj2" fmla="val -8333"/>
              <a:gd name="adj3" fmla="val 4708"/>
              <a:gd name="adj4" fmla="val -698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could also decide to replace it (asking first the user)... More system calls!!!</a:t>
            </a:r>
          </a:p>
        </p:txBody>
      </p:sp>
    </p:spTree>
    <p:extLst>
      <p:ext uri="{BB962C8B-B14F-4D97-AF65-F5344CB8AC3E}">
        <p14:creationId xmlns:p14="http://schemas.microsoft.com/office/powerpoint/2010/main" val="43449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Programming Interfaces (APIs)</a:t>
            </a:r>
          </a:p>
        </p:txBody>
      </p:sp>
      <p:sp>
        <p:nvSpPr>
          <p:cNvPr id="3" name="Content Placeholder 2"/>
          <p:cNvSpPr>
            <a:spLocks noGrp="1"/>
          </p:cNvSpPr>
          <p:nvPr>
            <p:ph idx="1"/>
          </p:nvPr>
        </p:nvSpPr>
        <p:spPr/>
        <p:txBody>
          <a:bodyPr/>
          <a:lstStyle/>
          <a:p>
            <a:r>
              <a:rPr lang="en-US" dirty="0"/>
              <a:t>APIs provide high-level combination of low-level system calls</a:t>
            </a:r>
          </a:p>
          <a:p>
            <a:pPr lvl="1"/>
            <a:r>
              <a:rPr lang="en-US" dirty="0"/>
              <a:t>Reducing by some order of magnitude the number of low-level system calls required to perform some operations (usually thousands of system calls per second are performed by the OS)</a:t>
            </a:r>
          </a:p>
          <a:p>
            <a:pPr lvl="1"/>
            <a:endParaRPr lang="en-US" dirty="0"/>
          </a:p>
          <a:p>
            <a:r>
              <a:rPr lang="en-US" dirty="0"/>
              <a:t>What are the advantages?</a:t>
            </a:r>
          </a:p>
          <a:p>
            <a:pPr lvl="1"/>
            <a:r>
              <a:rPr lang="en-US" dirty="0"/>
              <a:t>Portability</a:t>
            </a:r>
          </a:p>
          <a:p>
            <a:pPr lvl="1"/>
            <a:r>
              <a:rPr lang="en-US" dirty="0"/>
              <a:t>Simplicity</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26</a:t>
            </a:fld>
            <a:endParaRPr lang="en-US"/>
          </a:p>
        </p:txBody>
      </p:sp>
    </p:spTree>
    <p:extLst>
      <p:ext uri="{BB962C8B-B14F-4D97-AF65-F5344CB8AC3E}">
        <p14:creationId xmlns:p14="http://schemas.microsoft.com/office/powerpoint/2010/main" val="8817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API</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27</a:t>
            </a:fld>
            <a:endParaRPr lang="en-US"/>
          </a:p>
        </p:txBody>
      </p:sp>
      <p:pic>
        <p:nvPicPr>
          <p:cNvPr id="7" name="Picture 6" descr="Screen Shot 2012-12-01 at 12.25.00 PM.png"/>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4681538" y="365125"/>
            <a:ext cx="5605462" cy="571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286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call interface</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28</a:t>
            </a:fld>
            <a:endParaRPr lang="en-US"/>
          </a:p>
        </p:txBody>
      </p:sp>
      <p:pic>
        <p:nvPicPr>
          <p:cNvPr id="7" name="Picture 5" descr="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28625" y="1503755"/>
            <a:ext cx="7153275"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7239000" y="1432347"/>
            <a:ext cx="4781550" cy="4524315"/>
          </a:xfrm>
          <a:prstGeom prst="rect">
            <a:avLst/>
          </a:prstGeom>
        </p:spPr>
        <p:txBody>
          <a:bodyPr wrap="square">
            <a:spAutoFit/>
          </a:bodyPr>
          <a:lstStyle/>
          <a:p>
            <a:pPr marL="285750" indent="-285750">
              <a:buFont typeface="Arial" charset="0"/>
              <a:buChar char="•"/>
            </a:pPr>
            <a:r>
              <a:rPr lang="en-US" altLang="en-US" sz="2400" dirty="0">
                <a:ea typeface="MS PGothic" charset="-128"/>
              </a:rPr>
              <a:t>Typically, a number associated with each system call</a:t>
            </a:r>
          </a:p>
          <a:p>
            <a:pPr marL="742950" lvl="1" indent="-285750">
              <a:buFont typeface="Arial" charset="0"/>
              <a:buChar char="•"/>
            </a:pPr>
            <a:r>
              <a:rPr lang="en-US" altLang="en-US" sz="2400" b="1" dirty="0">
                <a:solidFill>
                  <a:srgbClr val="3366FF"/>
                </a:solidFill>
                <a:ea typeface="MS PGothic" charset="-128"/>
              </a:rPr>
              <a:t>System-call interface </a:t>
            </a:r>
            <a:r>
              <a:rPr lang="en-US" altLang="en-US" sz="2400" dirty="0">
                <a:ea typeface="MS PGothic" charset="-128"/>
              </a:rPr>
              <a:t>maintains a table indexed according to these numbers</a:t>
            </a:r>
            <a:endParaRPr lang="en-US" altLang="en-US" sz="1000" dirty="0">
              <a:ea typeface="MS PGothic" charset="-128"/>
            </a:endParaRPr>
          </a:p>
          <a:p>
            <a:pPr marL="285750" indent="-285750">
              <a:buFont typeface="Arial" charset="0"/>
              <a:buChar char="•"/>
            </a:pPr>
            <a:r>
              <a:rPr lang="en-US" altLang="en-US" sz="2400" dirty="0">
                <a:ea typeface="MS PGothic" charset="-128"/>
              </a:rPr>
              <a:t>The system call interface invokes  the intended system call in OS kernel and returns status of the system call and any return values</a:t>
            </a:r>
            <a:endParaRPr lang="en-US" altLang="en-US" sz="1000" dirty="0">
              <a:ea typeface="MS PGothic" charset="-128"/>
            </a:endParaRPr>
          </a:p>
          <a:p>
            <a:pPr marL="285750" indent="-285750">
              <a:buFont typeface="Arial" charset="0"/>
              <a:buChar char="•"/>
            </a:pPr>
            <a:r>
              <a:rPr lang="en-US" altLang="en-US" sz="2400" dirty="0">
                <a:ea typeface="MS PGothic" charset="-128"/>
              </a:rPr>
              <a:t>The caller need know nothing about how the system call is implemented</a:t>
            </a:r>
          </a:p>
        </p:txBody>
      </p:sp>
    </p:spTree>
    <p:extLst>
      <p:ext uri="{BB962C8B-B14F-4D97-AF65-F5344CB8AC3E}">
        <p14:creationId xmlns:p14="http://schemas.microsoft.com/office/powerpoint/2010/main" val="1100954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pass parameters to a system call?</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29</a:t>
            </a:fld>
            <a:endParaRPr lang="en-US"/>
          </a:p>
        </p:txBody>
      </p:sp>
      <p:pic>
        <p:nvPicPr>
          <p:cNvPr id="7" name="Picture 7" descr="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38200" y="2151063"/>
            <a:ext cx="4792792" cy="251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p:cNvSpPr txBox="1">
            <a:spLocks noChangeArrowheads="1"/>
          </p:cNvSpPr>
          <p:nvPr/>
        </p:nvSpPr>
        <p:spPr>
          <a:xfrm>
            <a:off x="5905500" y="1462088"/>
            <a:ext cx="5905500" cy="453072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ltLang="en-US" dirty="0">
                <a:ea typeface="MS PGothic" charset="-128"/>
              </a:rPr>
              <a:t>pass the parameters in registers</a:t>
            </a:r>
          </a:p>
          <a:p>
            <a:pPr lvl="1"/>
            <a:r>
              <a:rPr lang="en-US" altLang="en-US" dirty="0">
                <a:ea typeface="MS PGothic" charset="-128"/>
              </a:rPr>
              <a:t> In some cases, may be more parameters than registers</a:t>
            </a:r>
          </a:p>
          <a:p>
            <a:r>
              <a:rPr lang="en-US" altLang="en-US" dirty="0">
                <a:ea typeface="MS PGothic" charset="-128"/>
              </a:rPr>
              <a:t>Parameters stored in a block</a:t>
            </a:r>
            <a:r>
              <a:rPr lang="en-US" altLang="en-US" i="1" dirty="0">
                <a:ea typeface="MS PGothic" charset="-128"/>
              </a:rPr>
              <a:t>, </a:t>
            </a:r>
            <a:r>
              <a:rPr lang="en-US" altLang="en-US" dirty="0">
                <a:ea typeface="MS PGothic" charset="-128"/>
              </a:rPr>
              <a:t>or table, in memory, and address of block passed as a parameter in a register </a:t>
            </a:r>
          </a:p>
          <a:p>
            <a:pPr lvl="1"/>
            <a:r>
              <a:rPr lang="en-US" altLang="en-US" dirty="0">
                <a:ea typeface="MS PGothic" charset="-128"/>
              </a:rPr>
              <a:t>This approach taken by Linux and Solaris</a:t>
            </a:r>
          </a:p>
          <a:p>
            <a:r>
              <a:rPr lang="en-US" altLang="en-US" dirty="0">
                <a:ea typeface="MS PGothic" charset="-128"/>
              </a:rPr>
              <a:t>Parameters placed, or </a:t>
            </a:r>
            <a:r>
              <a:rPr lang="en-US" altLang="en-US" b="1" dirty="0">
                <a:solidFill>
                  <a:srgbClr val="3366FF"/>
                </a:solidFill>
                <a:ea typeface="MS PGothic" charset="-128"/>
              </a:rPr>
              <a:t>pushed</a:t>
            </a:r>
            <a:r>
              <a:rPr lang="en-US" altLang="en-US" i="1" dirty="0">
                <a:ea typeface="MS PGothic" charset="-128"/>
              </a:rPr>
              <a:t>, </a:t>
            </a:r>
            <a:r>
              <a:rPr lang="en-US" altLang="en-US" dirty="0">
                <a:ea typeface="MS PGothic" charset="-128"/>
              </a:rPr>
              <a:t>onto the </a:t>
            </a:r>
            <a:r>
              <a:rPr lang="en-US" altLang="en-US" b="1" dirty="0">
                <a:solidFill>
                  <a:srgbClr val="3366FF"/>
                </a:solidFill>
                <a:ea typeface="MS PGothic" charset="-128"/>
              </a:rPr>
              <a:t>stack</a:t>
            </a:r>
            <a:r>
              <a:rPr lang="en-US" altLang="en-US" i="1" dirty="0">
                <a:ea typeface="MS PGothic" charset="-128"/>
              </a:rPr>
              <a:t> </a:t>
            </a:r>
            <a:r>
              <a:rPr lang="en-US" altLang="en-US" dirty="0">
                <a:ea typeface="MS PGothic" charset="-128"/>
              </a:rPr>
              <a:t>by the program and </a:t>
            </a:r>
            <a:r>
              <a:rPr lang="en-US" altLang="en-US" b="1" dirty="0">
                <a:solidFill>
                  <a:srgbClr val="3366FF"/>
                </a:solidFill>
                <a:ea typeface="MS PGothic" charset="-128"/>
              </a:rPr>
              <a:t>popped</a:t>
            </a:r>
            <a:r>
              <a:rPr lang="en-US" altLang="en-US" i="1" dirty="0">
                <a:ea typeface="MS PGothic" charset="-128"/>
              </a:rPr>
              <a:t> </a:t>
            </a:r>
            <a:r>
              <a:rPr lang="en-US" altLang="en-US" dirty="0">
                <a:ea typeface="MS PGothic" charset="-128"/>
              </a:rPr>
              <a:t>off the stack by the operating system</a:t>
            </a:r>
          </a:p>
          <a:p>
            <a:pPr marL="457200" lvl="1" indent="0">
              <a:buNone/>
            </a:pPr>
            <a:endParaRPr lang="en-US" altLang="en-US" dirty="0">
              <a:ea typeface="MS PGothic" charset="-128"/>
            </a:endParaRPr>
          </a:p>
          <a:p>
            <a:pPr marL="0" indent="0">
              <a:buNone/>
            </a:pPr>
            <a:r>
              <a:rPr lang="en-US" altLang="en-US" dirty="0">
                <a:ea typeface="MS PGothic" charset="-128"/>
              </a:rPr>
              <a:t>Block and stack methods do not limit the number or length of parameters being passed</a:t>
            </a:r>
          </a:p>
        </p:txBody>
      </p:sp>
    </p:spTree>
    <p:extLst>
      <p:ext uri="{BB962C8B-B14F-4D97-AF65-F5344CB8AC3E}">
        <p14:creationId xmlns:p14="http://schemas.microsoft.com/office/powerpoint/2010/main" val="1683840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system calls (I)</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30</a:t>
            </a:fld>
            <a:endParaRPr lang="en-US"/>
          </a:p>
        </p:txBody>
      </p:sp>
      <p:sp>
        <p:nvSpPr>
          <p:cNvPr id="7" name="Rectangle 4"/>
          <p:cNvSpPr txBox="1">
            <a:spLocks noChangeArrowheads="1"/>
          </p:cNvSpPr>
          <p:nvPr/>
        </p:nvSpPr>
        <p:spPr>
          <a:xfrm>
            <a:off x="1196975" y="1538288"/>
            <a:ext cx="8229600" cy="45307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ltLang="en-US">
                <a:ea typeface="MS PGothic" charset="-128"/>
              </a:rPr>
              <a:t>Process control</a:t>
            </a:r>
          </a:p>
          <a:p>
            <a:pPr lvl="1"/>
            <a:r>
              <a:rPr lang="en-US" altLang="en-US">
                <a:ea typeface="MS PGothic" charset="-128"/>
              </a:rPr>
              <a:t>create process, terminate process</a:t>
            </a:r>
          </a:p>
          <a:p>
            <a:pPr lvl="1"/>
            <a:r>
              <a:rPr lang="en-US" altLang="en-US">
                <a:ea typeface="MS PGothic" charset="-128"/>
              </a:rPr>
              <a:t>end, abort</a:t>
            </a:r>
          </a:p>
          <a:p>
            <a:pPr lvl="1"/>
            <a:r>
              <a:rPr lang="en-US" altLang="en-US">
                <a:ea typeface="MS PGothic" charset="-128"/>
              </a:rPr>
              <a:t>load, execute</a:t>
            </a:r>
          </a:p>
          <a:p>
            <a:pPr lvl="1"/>
            <a:r>
              <a:rPr lang="en-US" altLang="en-US">
                <a:ea typeface="MS PGothic" charset="-128"/>
              </a:rPr>
              <a:t>get process attributes, set process attributes</a:t>
            </a:r>
          </a:p>
          <a:p>
            <a:pPr lvl="1"/>
            <a:r>
              <a:rPr lang="en-US" altLang="en-US">
                <a:ea typeface="MS PGothic" charset="-128"/>
              </a:rPr>
              <a:t>wait for time</a:t>
            </a:r>
          </a:p>
          <a:p>
            <a:pPr lvl="1"/>
            <a:r>
              <a:rPr lang="en-US" altLang="en-US">
                <a:ea typeface="MS PGothic" charset="-128"/>
              </a:rPr>
              <a:t>wait event, signal event</a:t>
            </a:r>
          </a:p>
          <a:p>
            <a:pPr lvl="1"/>
            <a:r>
              <a:rPr lang="en-US" altLang="en-US">
                <a:ea typeface="MS PGothic" charset="-128"/>
              </a:rPr>
              <a:t>allocate and free memory</a:t>
            </a:r>
          </a:p>
          <a:p>
            <a:pPr lvl="1"/>
            <a:r>
              <a:rPr lang="en-US" altLang="en-US">
                <a:ea typeface="MS PGothic" charset="-128"/>
              </a:rPr>
              <a:t>Dump memory if error</a:t>
            </a:r>
          </a:p>
          <a:p>
            <a:pPr lvl="1"/>
            <a:r>
              <a:rPr lang="en-US" altLang="en-US" b="1">
                <a:solidFill>
                  <a:srgbClr val="3366FF"/>
                </a:solidFill>
                <a:ea typeface="MS PGothic" charset="-128"/>
              </a:rPr>
              <a:t>Debugger</a:t>
            </a:r>
            <a:r>
              <a:rPr lang="en-US" altLang="en-US">
                <a:ea typeface="MS PGothic" charset="-128"/>
              </a:rPr>
              <a:t> for determining </a:t>
            </a:r>
            <a:r>
              <a:rPr lang="en-US" altLang="en-US" b="1">
                <a:solidFill>
                  <a:srgbClr val="3366FF"/>
                </a:solidFill>
                <a:ea typeface="MS PGothic" charset="-128"/>
              </a:rPr>
              <a:t>bugs, single step </a:t>
            </a:r>
            <a:r>
              <a:rPr lang="en-US" altLang="en-US">
                <a:ea typeface="MS PGothic" charset="-128"/>
              </a:rPr>
              <a:t>execution</a:t>
            </a:r>
          </a:p>
          <a:p>
            <a:pPr lvl="1"/>
            <a:r>
              <a:rPr lang="en-US" altLang="en-US" b="1">
                <a:solidFill>
                  <a:srgbClr val="3366FF"/>
                </a:solidFill>
                <a:ea typeface="MS PGothic" charset="-128"/>
              </a:rPr>
              <a:t>Locks</a:t>
            </a:r>
            <a:r>
              <a:rPr lang="en-US" altLang="en-US">
                <a:ea typeface="MS PGothic" charset="-128"/>
              </a:rPr>
              <a:t> for managing access to shared data between processes</a:t>
            </a:r>
            <a:endParaRPr lang="en-US" altLang="en-US" dirty="0">
              <a:ea typeface="MS PGothic" charset="-128"/>
            </a:endParaRPr>
          </a:p>
        </p:txBody>
      </p:sp>
    </p:spTree>
    <p:extLst>
      <p:ext uri="{BB962C8B-B14F-4D97-AF65-F5344CB8AC3E}">
        <p14:creationId xmlns:p14="http://schemas.microsoft.com/office/powerpoint/2010/main" val="2027349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system calls (II)</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31</a:t>
            </a:fld>
            <a:endParaRPr lang="en-US"/>
          </a:p>
        </p:txBody>
      </p:sp>
      <p:sp>
        <p:nvSpPr>
          <p:cNvPr id="8" name="Rectangle 4"/>
          <p:cNvSpPr txBox="1">
            <a:spLocks noChangeArrowheads="1"/>
          </p:cNvSpPr>
          <p:nvPr/>
        </p:nvSpPr>
        <p:spPr>
          <a:xfrm>
            <a:off x="977900" y="1462088"/>
            <a:ext cx="8229600" cy="4530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ltLang="en-US">
                <a:ea typeface="MS PGothic" charset="-128"/>
              </a:rPr>
              <a:t>File management</a:t>
            </a:r>
          </a:p>
          <a:p>
            <a:pPr lvl="1"/>
            <a:r>
              <a:rPr lang="en-US" altLang="en-US">
                <a:ea typeface="MS PGothic" charset="-128"/>
              </a:rPr>
              <a:t>create file, delete file</a:t>
            </a:r>
          </a:p>
          <a:p>
            <a:pPr lvl="1"/>
            <a:r>
              <a:rPr lang="en-US" altLang="en-US">
                <a:ea typeface="MS PGothic" charset="-128"/>
              </a:rPr>
              <a:t>open, close file</a:t>
            </a:r>
          </a:p>
          <a:p>
            <a:pPr lvl="1"/>
            <a:r>
              <a:rPr lang="en-US" altLang="en-US">
                <a:ea typeface="MS PGothic" charset="-128"/>
              </a:rPr>
              <a:t>read, write, reposition</a:t>
            </a:r>
          </a:p>
          <a:p>
            <a:pPr lvl="1"/>
            <a:r>
              <a:rPr lang="en-US" altLang="en-US">
                <a:ea typeface="MS PGothic" charset="-128"/>
              </a:rPr>
              <a:t>get and set file attributes</a:t>
            </a:r>
          </a:p>
          <a:p>
            <a:r>
              <a:rPr lang="en-US" altLang="en-US">
                <a:ea typeface="MS PGothic" charset="-128"/>
              </a:rPr>
              <a:t>Device management</a:t>
            </a:r>
          </a:p>
          <a:p>
            <a:pPr lvl="1"/>
            <a:r>
              <a:rPr lang="en-US" altLang="en-US">
                <a:ea typeface="MS PGothic" charset="-128"/>
              </a:rPr>
              <a:t>request device, release device</a:t>
            </a:r>
          </a:p>
          <a:p>
            <a:pPr lvl="1"/>
            <a:r>
              <a:rPr lang="en-US" altLang="en-US">
                <a:ea typeface="MS PGothic" charset="-128"/>
              </a:rPr>
              <a:t>read, write, reposition</a:t>
            </a:r>
          </a:p>
          <a:p>
            <a:pPr lvl="1"/>
            <a:r>
              <a:rPr lang="en-US" altLang="en-US">
                <a:ea typeface="MS PGothic" charset="-128"/>
              </a:rPr>
              <a:t>get device attributes, set device attributes</a:t>
            </a:r>
          </a:p>
          <a:p>
            <a:pPr lvl="1"/>
            <a:r>
              <a:rPr lang="en-US" altLang="en-US">
                <a:ea typeface="MS PGothic" charset="-128"/>
              </a:rPr>
              <a:t>logically attach or detach devices</a:t>
            </a:r>
          </a:p>
          <a:p>
            <a:pPr lvl="1"/>
            <a:endParaRPr lang="en-US" altLang="en-US" dirty="0">
              <a:ea typeface="MS PGothic" charset="-128"/>
            </a:endParaRPr>
          </a:p>
        </p:txBody>
      </p:sp>
    </p:spTree>
    <p:extLst>
      <p:ext uri="{BB962C8B-B14F-4D97-AF65-F5344CB8AC3E}">
        <p14:creationId xmlns:p14="http://schemas.microsoft.com/office/powerpoint/2010/main" val="1830289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system calls (III)</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32</a:t>
            </a:fld>
            <a:endParaRPr lang="en-US"/>
          </a:p>
        </p:txBody>
      </p:sp>
      <p:sp>
        <p:nvSpPr>
          <p:cNvPr id="7" name="Rectangle 4"/>
          <p:cNvSpPr txBox="1">
            <a:spLocks noChangeArrowheads="1"/>
          </p:cNvSpPr>
          <p:nvPr/>
        </p:nvSpPr>
        <p:spPr>
          <a:xfrm>
            <a:off x="838200" y="1538288"/>
            <a:ext cx="7234238" cy="453072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ltLang="en-US">
                <a:ea typeface="MS PGothic" charset="-128"/>
              </a:rPr>
              <a:t>Information maintenance</a:t>
            </a:r>
          </a:p>
          <a:p>
            <a:pPr lvl="1"/>
            <a:r>
              <a:rPr lang="en-US" altLang="en-US">
                <a:ea typeface="MS PGothic" charset="-128"/>
              </a:rPr>
              <a:t>get time or date, set time or date</a:t>
            </a:r>
          </a:p>
          <a:p>
            <a:pPr lvl="1"/>
            <a:r>
              <a:rPr lang="en-US" altLang="en-US">
                <a:ea typeface="MS PGothic" charset="-128"/>
              </a:rPr>
              <a:t>get system data, set system data</a:t>
            </a:r>
          </a:p>
          <a:p>
            <a:pPr lvl="1"/>
            <a:r>
              <a:rPr lang="en-US" altLang="en-US">
                <a:ea typeface="MS PGothic" charset="-128"/>
              </a:rPr>
              <a:t>get and set process, file, or device attributes</a:t>
            </a:r>
          </a:p>
          <a:p>
            <a:r>
              <a:rPr lang="en-US" altLang="en-US">
                <a:ea typeface="MS PGothic" charset="-128"/>
              </a:rPr>
              <a:t>Communications</a:t>
            </a:r>
          </a:p>
          <a:p>
            <a:pPr lvl="1"/>
            <a:r>
              <a:rPr lang="en-US" altLang="en-US">
                <a:ea typeface="MS PGothic" charset="-128"/>
              </a:rPr>
              <a:t>create, delete communication connection</a:t>
            </a:r>
          </a:p>
          <a:p>
            <a:pPr lvl="1"/>
            <a:r>
              <a:rPr lang="en-US" altLang="en-US">
                <a:ea typeface="MS PGothic" charset="-128"/>
              </a:rPr>
              <a:t>send, receive messages if </a:t>
            </a:r>
            <a:r>
              <a:rPr lang="en-US" altLang="en-US" b="1">
                <a:solidFill>
                  <a:srgbClr val="3366FF"/>
                </a:solidFill>
                <a:ea typeface="MS PGothic" charset="-128"/>
              </a:rPr>
              <a:t>message passing model </a:t>
            </a:r>
            <a:r>
              <a:rPr lang="en-US" altLang="en-US">
                <a:ea typeface="MS PGothic" charset="-128"/>
              </a:rPr>
              <a:t>to </a:t>
            </a:r>
            <a:r>
              <a:rPr lang="en-US" altLang="en-US" b="1">
                <a:solidFill>
                  <a:srgbClr val="3366FF"/>
                </a:solidFill>
                <a:ea typeface="MS PGothic" charset="-128"/>
              </a:rPr>
              <a:t>host name</a:t>
            </a:r>
            <a:r>
              <a:rPr lang="en-US" altLang="en-US">
                <a:ea typeface="MS PGothic" charset="-128"/>
              </a:rPr>
              <a:t> or </a:t>
            </a:r>
            <a:r>
              <a:rPr lang="en-US" altLang="en-US" b="1">
                <a:solidFill>
                  <a:srgbClr val="3366FF"/>
                </a:solidFill>
                <a:ea typeface="MS PGothic" charset="-128"/>
              </a:rPr>
              <a:t>process name</a:t>
            </a:r>
          </a:p>
          <a:p>
            <a:pPr lvl="2"/>
            <a:r>
              <a:rPr lang="en-US" altLang="en-US">
                <a:ea typeface="MS PGothic" charset="-128"/>
              </a:rPr>
              <a:t>From</a:t>
            </a:r>
            <a:r>
              <a:rPr lang="en-US" altLang="en-US" b="1">
                <a:solidFill>
                  <a:srgbClr val="3366FF"/>
                </a:solidFill>
                <a:ea typeface="MS PGothic" charset="-128"/>
              </a:rPr>
              <a:t> client </a:t>
            </a:r>
            <a:r>
              <a:rPr lang="en-US" altLang="en-US">
                <a:ea typeface="MS PGothic" charset="-128"/>
              </a:rPr>
              <a:t>to</a:t>
            </a:r>
            <a:r>
              <a:rPr lang="en-US" altLang="en-US" b="1">
                <a:solidFill>
                  <a:srgbClr val="3366FF"/>
                </a:solidFill>
                <a:ea typeface="MS PGothic" charset="-128"/>
              </a:rPr>
              <a:t> server</a:t>
            </a:r>
          </a:p>
          <a:p>
            <a:pPr lvl="1"/>
            <a:r>
              <a:rPr lang="en-US" altLang="en-US" b="1">
                <a:solidFill>
                  <a:srgbClr val="3366FF"/>
                </a:solidFill>
                <a:ea typeface="MS PGothic" charset="-128"/>
              </a:rPr>
              <a:t>Shared-memory model </a:t>
            </a:r>
            <a:r>
              <a:rPr lang="en-US" altLang="en-US">
                <a:ea typeface="MS PGothic" charset="-128"/>
              </a:rPr>
              <a:t>create and gain access to memory regions</a:t>
            </a:r>
          </a:p>
          <a:p>
            <a:pPr lvl="1"/>
            <a:r>
              <a:rPr lang="en-US" altLang="en-US">
                <a:ea typeface="MS PGothic" charset="-128"/>
              </a:rPr>
              <a:t>transfer status information</a:t>
            </a:r>
          </a:p>
          <a:p>
            <a:pPr lvl="1"/>
            <a:r>
              <a:rPr lang="en-US" altLang="en-US">
                <a:ea typeface="MS PGothic" charset="-128"/>
              </a:rPr>
              <a:t>attach and detach remote devices</a:t>
            </a:r>
            <a:endParaRPr lang="en-US" altLang="en-US" dirty="0">
              <a:ea typeface="MS PGothic" charset="-128"/>
            </a:endParaRPr>
          </a:p>
        </p:txBody>
      </p:sp>
    </p:spTree>
    <p:extLst>
      <p:ext uri="{BB962C8B-B14F-4D97-AF65-F5344CB8AC3E}">
        <p14:creationId xmlns:p14="http://schemas.microsoft.com/office/powerpoint/2010/main" val="925137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system calls (IV)</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33</a:t>
            </a:fld>
            <a:endParaRPr lang="en-US"/>
          </a:p>
        </p:txBody>
      </p:sp>
      <p:sp>
        <p:nvSpPr>
          <p:cNvPr id="7" name="Rectangle 4"/>
          <p:cNvSpPr txBox="1">
            <a:spLocks noChangeArrowheads="1"/>
          </p:cNvSpPr>
          <p:nvPr/>
        </p:nvSpPr>
        <p:spPr>
          <a:xfrm>
            <a:off x="806450" y="1524000"/>
            <a:ext cx="8229600" cy="42402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ltLang="en-US">
                <a:ea typeface="MS PGothic" charset="-128"/>
              </a:rPr>
              <a:t>Protection</a:t>
            </a:r>
          </a:p>
          <a:p>
            <a:pPr lvl="1"/>
            <a:r>
              <a:rPr lang="en-US" altLang="en-US">
                <a:ea typeface="MS PGothic" charset="-128"/>
              </a:rPr>
              <a:t>Control access to resources</a:t>
            </a:r>
          </a:p>
          <a:p>
            <a:pPr lvl="1"/>
            <a:r>
              <a:rPr lang="en-US" altLang="en-US">
                <a:ea typeface="MS PGothic" charset="-128"/>
              </a:rPr>
              <a:t>Get and set permissions</a:t>
            </a:r>
          </a:p>
          <a:p>
            <a:pPr lvl="1"/>
            <a:r>
              <a:rPr lang="en-US" altLang="en-US">
                <a:ea typeface="MS PGothic" charset="-128"/>
              </a:rPr>
              <a:t>Allow and deny user access</a:t>
            </a:r>
          </a:p>
          <a:p>
            <a:pPr lvl="1"/>
            <a:endParaRPr lang="en-US" altLang="en-US" dirty="0">
              <a:ea typeface="MS PGothic" charset="-128"/>
            </a:endParaRPr>
          </a:p>
        </p:txBody>
      </p:sp>
    </p:spTree>
    <p:extLst>
      <p:ext uri="{BB962C8B-B14F-4D97-AF65-F5344CB8AC3E}">
        <p14:creationId xmlns:p14="http://schemas.microsoft.com/office/powerpoint/2010/main" val="12732455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examples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34</a:t>
            </a:fld>
            <a:endParaRPr lang="en-US"/>
          </a:p>
        </p:txBody>
      </p:sp>
      <p:pic>
        <p:nvPicPr>
          <p:cNvPr id="7" name="Picture 6" descr="OS8-p61"/>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398044" y="1544637"/>
            <a:ext cx="5395912" cy="481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4031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solidFill>
                  <a:schemeClr val="bg1">
                    <a:lumMod val="75000"/>
                  </a:schemeClr>
                </a:solidFill>
              </a:rPr>
              <a:t>What is an Operating System?</a:t>
            </a:r>
          </a:p>
          <a:p>
            <a:r>
              <a:rPr lang="en-US" dirty="0">
                <a:solidFill>
                  <a:schemeClr val="bg1">
                    <a:lumMod val="75000"/>
                  </a:schemeClr>
                </a:solidFill>
              </a:rPr>
              <a:t>The event-driven (interrupt-drive) life of an OS</a:t>
            </a:r>
          </a:p>
          <a:p>
            <a:r>
              <a:rPr lang="en-US" dirty="0">
                <a:solidFill>
                  <a:schemeClr val="bg1">
                    <a:lumMod val="75000"/>
                  </a:schemeClr>
                </a:solidFill>
              </a:rPr>
              <a:t>System calls (overview)</a:t>
            </a:r>
          </a:p>
          <a:p>
            <a:r>
              <a:rPr lang="en-US" dirty="0">
                <a:solidFill>
                  <a:schemeClr val="bg1">
                    <a:lumMod val="75000"/>
                  </a:schemeClr>
                </a:solidFill>
              </a:rPr>
              <a:t>Dual-Mode and Multimode Operation</a:t>
            </a:r>
          </a:p>
          <a:p>
            <a:r>
              <a:rPr lang="en-US" dirty="0">
                <a:solidFill>
                  <a:schemeClr val="bg1">
                    <a:lumMod val="75000"/>
                  </a:schemeClr>
                </a:solidFill>
              </a:rPr>
              <a:t>Operating system services</a:t>
            </a:r>
          </a:p>
          <a:p>
            <a:r>
              <a:rPr lang="en-US" dirty="0">
                <a:solidFill>
                  <a:schemeClr val="bg1">
                    <a:lumMod val="75000"/>
                  </a:schemeClr>
                </a:solidFill>
              </a:rPr>
              <a:t>System calls (continued) and APIs [Self reading]</a:t>
            </a:r>
          </a:p>
          <a:p>
            <a:r>
              <a:rPr lang="en-US" dirty="0"/>
              <a:t>System boot [self reading]</a:t>
            </a:r>
            <a:endParaRPr lang="en-US" dirty="0">
              <a:solidFill>
                <a:schemeClr val="bg1">
                  <a:lumMod val="75000"/>
                </a:schemeClr>
              </a:solidFill>
            </a:endParaRPr>
          </a:p>
          <a:p>
            <a:r>
              <a:rPr lang="en-US" dirty="0">
                <a:solidFill>
                  <a:schemeClr val="bg1">
                    <a:lumMod val="75000"/>
                  </a:schemeClr>
                </a:solidFill>
              </a:rPr>
              <a:t>Operating systems structures</a:t>
            </a:r>
          </a:p>
          <a:p>
            <a:endParaRPr lang="en-US" dirty="0"/>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35</a:t>
            </a:fld>
            <a:endParaRPr lang="en-US"/>
          </a:p>
        </p:txBody>
      </p:sp>
    </p:spTree>
    <p:extLst>
      <p:ext uri="{BB962C8B-B14F-4D97-AF65-F5344CB8AC3E}">
        <p14:creationId xmlns:p14="http://schemas.microsoft.com/office/powerpoint/2010/main" val="2120885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the computer know where / how to lead the kernel at startup?</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36</a:t>
            </a:fld>
            <a:endParaRPr lang="en-US"/>
          </a:p>
        </p:txBody>
      </p:sp>
      <p:sp>
        <p:nvSpPr>
          <p:cNvPr id="7" name="Rectangle 3"/>
          <p:cNvSpPr txBox="1">
            <a:spLocks noChangeArrowheads="1"/>
          </p:cNvSpPr>
          <p:nvPr/>
        </p:nvSpPr>
        <p:spPr>
          <a:xfrm>
            <a:off x="885825" y="1690688"/>
            <a:ext cx="10620375" cy="399415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ltLang="en-US" dirty="0">
                <a:ea typeface="MS PGothic" charset="-128"/>
              </a:rPr>
              <a:t>When power initialized on system, execution starts at a fixed memory location</a:t>
            </a:r>
          </a:p>
          <a:p>
            <a:pPr lvl="1"/>
            <a:r>
              <a:rPr lang="en-US" altLang="en-US" dirty="0">
                <a:ea typeface="MS PGothic" charset="-128"/>
              </a:rPr>
              <a:t>Firmware ROM used to hold initial boot code</a:t>
            </a:r>
          </a:p>
          <a:p>
            <a:r>
              <a:rPr lang="en-US" altLang="en-US" dirty="0">
                <a:ea typeface="MS PGothic" charset="-128"/>
              </a:rPr>
              <a:t>Operating system must be made available to hardware so hardware can start it</a:t>
            </a:r>
          </a:p>
          <a:p>
            <a:pPr lvl="1"/>
            <a:r>
              <a:rPr lang="en-US" altLang="en-US" dirty="0">
                <a:ea typeface="MS PGothic" charset="-128"/>
              </a:rPr>
              <a:t>Small piece of code – </a:t>
            </a:r>
            <a:r>
              <a:rPr lang="en-US" altLang="en-US" b="1" dirty="0">
                <a:solidFill>
                  <a:srgbClr val="3366FF"/>
                </a:solidFill>
                <a:ea typeface="MS PGothic" charset="-128"/>
              </a:rPr>
              <a:t>bootstrap loader</a:t>
            </a:r>
            <a:r>
              <a:rPr lang="en-US" altLang="en-US" dirty="0">
                <a:ea typeface="MS PGothic" charset="-128"/>
              </a:rPr>
              <a:t>, stored in </a:t>
            </a:r>
            <a:r>
              <a:rPr lang="en-US" altLang="en-US" b="1" dirty="0">
                <a:solidFill>
                  <a:srgbClr val="3366FF"/>
                </a:solidFill>
                <a:ea typeface="MS PGothic" charset="-128"/>
              </a:rPr>
              <a:t>ROM</a:t>
            </a:r>
            <a:r>
              <a:rPr lang="en-US" altLang="en-US" dirty="0">
                <a:ea typeface="MS PGothic" charset="-128"/>
              </a:rPr>
              <a:t> or </a:t>
            </a:r>
            <a:r>
              <a:rPr lang="en-US" altLang="en-US" b="1" dirty="0">
                <a:solidFill>
                  <a:srgbClr val="3366FF"/>
                </a:solidFill>
                <a:ea typeface="MS PGothic" charset="-128"/>
              </a:rPr>
              <a:t>EEPROM</a:t>
            </a:r>
            <a:r>
              <a:rPr lang="en-US" altLang="en-US" dirty="0">
                <a:ea typeface="MS PGothic" charset="-128"/>
              </a:rPr>
              <a:t> locates the kernel, loads it into memory, and starts it</a:t>
            </a:r>
          </a:p>
          <a:p>
            <a:pPr lvl="1"/>
            <a:r>
              <a:rPr lang="en-US" altLang="en-US" dirty="0">
                <a:ea typeface="MS PGothic" charset="-128"/>
              </a:rPr>
              <a:t>Sometimes two-step process where </a:t>
            </a:r>
            <a:r>
              <a:rPr lang="en-US" altLang="en-US" b="1" dirty="0">
                <a:solidFill>
                  <a:srgbClr val="3366FF"/>
                </a:solidFill>
                <a:ea typeface="MS PGothic" charset="-128"/>
              </a:rPr>
              <a:t>boot block </a:t>
            </a:r>
            <a:r>
              <a:rPr lang="en-US" altLang="en-US" dirty="0">
                <a:ea typeface="MS PGothic" charset="-128"/>
              </a:rPr>
              <a:t>at fixed location loaded by ROM code, which loads bootstrap loader from disk</a:t>
            </a:r>
          </a:p>
          <a:p>
            <a:r>
              <a:rPr lang="en-US" altLang="en-US" dirty="0">
                <a:ea typeface="MS PGothic" charset="-128"/>
              </a:rPr>
              <a:t>Common bootstrap loader, </a:t>
            </a:r>
            <a:r>
              <a:rPr lang="en-US" altLang="en-US" b="1" dirty="0">
                <a:solidFill>
                  <a:srgbClr val="3366FF"/>
                </a:solidFill>
                <a:ea typeface="MS PGothic" charset="-128"/>
              </a:rPr>
              <a:t>GRUB</a:t>
            </a:r>
            <a:r>
              <a:rPr lang="en-US" altLang="en-US" dirty="0">
                <a:ea typeface="MS PGothic" charset="-128"/>
              </a:rPr>
              <a:t>, allows selection of kernel from multiple disks, versions, kernel options</a:t>
            </a:r>
          </a:p>
          <a:p>
            <a:r>
              <a:rPr lang="en-US" altLang="en-US" dirty="0">
                <a:ea typeface="MS PGothic" charset="-128"/>
              </a:rPr>
              <a:t>Kernel loads and system is then </a:t>
            </a:r>
            <a:r>
              <a:rPr lang="en-US" altLang="en-US" b="1" dirty="0">
                <a:solidFill>
                  <a:srgbClr val="3366FF"/>
                </a:solidFill>
                <a:ea typeface="MS PGothic" charset="-128"/>
              </a:rPr>
              <a:t>running</a:t>
            </a:r>
          </a:p>
        </p:txBody>
      </p:sp>
    </p:spTree>
    <p:extLst>
      <p:ext uri="{BB962C8B-B14F-4D97-AF65-F5344CB8AC3E}">
        <p14:creationId xmlns:p14="http://schemas.microsoft.com/office/powerpoint/2010/main" val="863647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r>
              <a:rPr lang="en-US" dirty="0">
                <a:solidFill>
                  <a:schemeClr val="bg1">
                    <a:lumMod val="75000"/>
                  </a:schemeClr>
                </a:solidFill>
              </a:rPr>
              <a:t>What is an Operating System?</a:t>
            </a:r>
          </a:p>
          <a:p>
            <a:r>
              <a:rPr lang="en-US" dirty="0">
                <a:solidFill>
                  <a:schemeClr val="bg1">
                    <a:lumMod val="75000"/>
                  </a:schemeClr>
                </a:solidFill>
              </a:rPr>
              <a:t>The event-driven (interrupt-drive) life of an OS</a:t>
            </a:r>
          </a:p>
          <a:p>
            <a:r>
              <a:rPr lang="en-US" dirty="0">
                <a:solidFill>
                  <a:schemeClr val="bg1">
                    <a:lumMod val="75000"/>
                  </a:schemeClr>
                </a:solidFill>
              </a:rPr>
              <a:t>System calls (overview)</a:t>
            </a:r>
          </a:p>
          <a:p>
            <a:r>
              <a:rPr lang="en-US" dirty="0">
                <a:solidFill>
                  <a:schemeClr val="bg1">
                    <a:lumMod val="75000"/>
                  </a:schemeClr>
                </a:solidFill>
              </a:rPr>
              <a:t>Dual-Mode and Multimode Operation</a:t>
            </a:r>
          </a:p>
          <a:p>
            <a:r>
              <a:rPr lang="en-US" dirty="0">
                <a:solidFill>
                  <a:schemeClr val="bg1">
                    <a:lumMod val="75000"/>
                  </a:schemeClr>
                </a:solidFill>
              </a:rPr>
              <a:t>Operating system services</a:t>
            </a:r>
          </a:p>
          <a:p>
            <a:r>
              <a:rPr lang="en-US" dirty="0">
                <a:solidFill>
                  <a:schemeClr val="bg1">
                    <a:lumMod val="75000"/>
                  </a:schemeClr>
                </a:solidFill>
              </a:rPr>
              <a:t>System calls (continued) and APIs [Self reading]</a:t>
            </a:r>
          </a:p>
          <a:p>
            <a:r>
              <a:rPr lang="en-US" dirty="0">
                <a:solidFill>
                  <a:schemeClr val="bg1">
                    <a:lumMod val="75000"/>
                  </a:schemeClr>
                </a:solidFill>
              </a:rPr>
              <a:t>System boot [Self reading]</a:t>
            </a:r>
          </a:p>
          <a:p>
            <a:r>
              <a:rPr lang="en-US" dirty="0"/>
              <a:t>Operating systems structures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37</a:t>
            </a:fld>
            <a:endParaRPr lang="en-US"/>
          </a:p>
        </p:txBody>
      </p:sp>
    </p:spTree>
    <p:extLst>
      <p:ext uri="{BB962C8B-B14F-4D97-AF65-F5344CB8AC3E}">
        <p14:creationId xmlns:p14="http://schemas.microsoft.com/office/powerpoint/2010/main" val="700637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Systems structure</a:t>
            </a:r>
          </a:p>
        </p:txBody>
      </p:sp>
      <p:sp>
        <p:nvSpPr>
          <p:cNvPr id="3" name="Content Placeholder 2"/>
          <p:cNvSpPr>
            <a:spLocks noGrp="1"/>
          </p:cNvSpPr>
          <p:nvPr>
            <p:ph idx="1"/>
          </p:nvPr>
        </p:nvSpPr>
        <p:spPr/>
        <p:txBody>
          <a:bodyPr/>
          <a:lstStyle/>
          <a:p>
            <a:r>
              <a:rPr lang="en-US" dirty="0"/>
              <a:t>Simple Structure</a:t>
            </a:r>
          </a:p>
          <a:p>
            <a:pPr lvl="1"/>
            <a:r>
              <a:rPr lang="en-US" dirty="0"/>
              <a:t>Monolithic structure</a:t>
            </a:r>
          </a:p>
          <a:p>
            <a:pPr lvl="1"/>
            <a:r>
              <a:rPr lang="en-US" dirty="0"/>
              <a:t>Designed for hardware without dual mode</a:t>
            </a:r>
          </a:p>
          <a:p>
            <a:pPr lvl="1"/>
            <a:r>
              <a:rPr lang="en-US" dirty="0"/>
              <a:t>Vulnerable to wrong/malicious code</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38</a:t>
            </a:fld>
            <a:endParaRPr lang="en-US"/>
          </a:p>
        </p:txBody>
      </p:sp>
      <p:pic>
        <p:nvPicPr>
          <p:cNvPr id="7" name="Picture 6" descr="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783512" y="1484313"/>
            <a:ext cx="3570288" cy="343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910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Systems structure</a:t>
            </a:r>
          </a:p>
        </p:txBody>
      </p:sp>
      <p:sp>
        <p:nvSpPr>
          <p:cNvPr id="3" name="Content Placeholder 2"/>
          <p:cNvSpPr>
            <a:spLocks noGrp="1"/>
          </p:cNvSpPr>
          <p:nvPr>
            <p:ph idx="1"/>
          </p:nvPr>
        </p:nvSpPr>
        <p:spPr/>
        <p:txBody>
          <a:bodyPr/>
          <a:lstStyle/>
          <a:p>
            <a:r>
              <a:rPr lang="en-US" dirty="0">
                <a:solidFill>
                  <a:schemeClr val="bg1">
                    <a:lumMod val="75000"/>
                  </a:schemeClr>
                </a:solidFill>
              </a:rPr>
              <a:t>Simple Structure</a:t>
            </a:r>
          </a:p>
          <a:p>
            <a:r>
              <a:rPr lang="en-US" dirty="0"/>
              <a:t>Layered Approach</a:t>
            </a:r>
          </a:p>
          <a:p>
            <a:pPr lvl="1"/>
            <a:r>
              <a:rPr lang="en-US" dirty="0"/>
              <a:t>Modular approach</a:t>
            </a:r>
          </a:p>
          <a:p>
            <a:pPr lvl="1"/>
            <a:r>
              <a:rPr lang="en-US" dirty="0"/>
              <a:t>Each layer maintains some data structures and a set of routines</a:t>
            </a:r>
          </a:p>
          <a:p>
            <a:pPr lvl="2"/>
            <a:r>
              <a:rPr lang="en-US" dirty="0"/>
              <a:t>Easier to debug</a:t>
            </a:r>
          </a:p>
          <a:p>
            <a:pPr lvl="2"/>
            <a:r>
              <a:rPr lang="en-US" dirty="0"/>
              <a:t>Problematic for “circular references” </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39</a:t>
            </a:fld>
            <a:endParaRPr lang="en-US"/>
          </a:p>
        </p:txBody>
      </p:sp>
      <p:pic>
        <p:nvPicPr>
          <p:cNvPr id="9" name="Picture 5"/>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8899526" y="3594100"/>
            <a:ext cx="2732142"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065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Operating Systems structure</a:t>
            </a:r>
          </a:p>
        </p:txBody>
      </p:sp>
      <p:sp>
        <p:nvSpPr>
          <p:cNvPr id="3" name="Content Placeholder 2"/>
          <p:cNvSpPr>
            <a:spLocks noGrp="1"/>
          </p:cNvSpPr>
          <p:nvPr>
            <p:ph idx="1"/>
          </p:nvPr>
        </p:nvSpPr>
        <p:spPr/>
        <p:txBody>
          <a:bodyPr/>
          <a:lstStyle/>
          <a:p>
            <a:r>
              <a:rPr lang="en-US" dirty="0">
                <a:solidFill>
                  <a:schemeClr val="bg1">
                    <a:lumMod val="75000"/>
                  </a:schemeClr>
                </a:solidFill>
              </a:rPr>
              <a:t>Simple Structure</a:t>
            </a:r>
          </a:p>
          <a:p>
            <a:r>
              <a:rPr lang="en-US" dirty="0">
                <a:solidFill>
                  <a:schemeClr val="bg1">
                    <a:lumMod val="75000"/>
                  </a:schemeClr>
                </a:solidFill>
              </a:rPr>
              <a:t>Layered Approach</a:t>
            </a:r>
          </a:p>
          <a:p>
            <a:r>
              <a:rPr lang="en-US" dirty="0"/>
              <a:t>Microkernels</a:t>
            </a:r>
          </a:p>
          <a:p>
            <a:pPr lvl="1"/>
            <a:r>
              <a:rPr lang="en-US" dirty="0"/>
              <a:t>Mach, one of the firsts modularized (micro)kernel</a:t>
            </a:r>
          </a:p>
          <a:p>
            <a:pPr lvl="1"/>
            <a:r>
              <a:rPr lang="en-US" dirty="0"/>
              <a:t>Everything that is not essential </a:t>
            </a:r>
            <a:r>
              <a:rPr lang="en-US" dirty="0">
                <a:sym typeface="Wingdings"/>
              </a:rPr>
              <a:t> system or user level program</a:t>
            </a:r>
          </a:p>
          <a:p>
            <a:pPr lvl="2"/>
            <a:r>
              <a:rPr lang="en-US" dirty="0">
                <a:sym typeface="Wingdings"/>
              </a:rPr>
              <a:t>Essential parts remain in the microkernel</a:t>
            </a:r>
          </a:p>
          <a:p>
            <a:pPr lvl="1"/>
            <a:r>
              <a:rPr lang="en-US" dirty="0">
                <a:sym typeface="Wingdings"/>
              </a:rPr>
              <a:t>Smaller</a:t>
            </a:r>
          </a:p>
          <a:p>
            <a:pPr lvl="1"/>
            <a:r>
              <a:rPr lang="en-US" dirty="0">
                <a:sym typeface="Wingdings"/>
              </a:rPr>
              <a:t>Makes sense if system/user level programs can be updated frequently</a:t>
            </a:r>
          </a:p>
          <a:p>
            <a:pPr lvl="1"/>
            <a:r>
              <a:rPr lang="en-US" dirty="0">
                <a:sym typeface="Wingdings"/>
              </a:rPr>
              <a:t>More secure (most programs are know executed in user mode)</a:t>
            </a:r>
          </a:p>
          <a:p>
            <a:pPr lvl="1"/>
            <a:r>
              <a:rPr lang="en-US" dirty="0">
                <a:sym typeface="Wingdings"/>
              </a:rPr>
              <a:t>Might suffer in performance</a:t>
            </a:r>
            <a:endParaRPr lang="en-US" dirty="0"/>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40</a:t>
            </a:fld>
            <a:endParaRPr lang="en-US"/>
          </a:p>
        </p:txBody>
      </p:sp>
      <p:pic>
        <p:nvPicPr>
          <p:cNvPr id="8" name="Picture 2" descr="2_14.pdf"/>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bwMode="auto">
          <a:xfrm>
            <a:off x="6214702" y="365125"/>
            <a:ext cx="5729648" cy="277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075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Operating Systems structure</a:t>
            </a:r>
          </a:p>
        </p:txBody>
      </p:sp>
      <p:sp>
        <p:nvSpPr>
          <p:cNvPr id="3" name="Content Placeholder 2"/>
          <p:cNvSpPr>
            <a:spLocks noGrp="1"/>
          </p:cNvSpPr>
          <p:nvPr>
            <p:ph idx="1"/>
          </p:nvPr>
        </p:nvSpPr>
        <p:spPr/>
        <p:txBody>
          <a:bodyPr/>
          <a:lstStyle/>
          <a:p>
            <a:r>
              <a:rPr lang="en-US" dirty="0">
                <a:solidFill>
                  <a:schemeClr val="bg1">
                    <a:lumMod val="75000"/>
                  </a:schemeClr>
                </a:solidFill>
              </a:rPr>
              <a:t>Simple Structure</a:t>
            </a:r>
          </a:p>
          <a:p>
            <a:r>
              <a:rPr lang="en-US" dirty="0">
                <a:solidFill>
                  <a:schemeClr val="bg1">
                    <a:lumMod val="75000"/>
                  </a:schemeClr>
                </a:solidFill>
              </a:rPr>
              <a:t>Layered Approach</a:t>
            </a:r>
          </a:p>
          <a:p>
            <a:r>
              <a:rPr lang="en-US" dirty="0">
                <a:solidFill>
                  <a:schemeClr val="bg1">
                    <a:lumMod val="75000"/>
                  </a:schemeClr>
                </a:solidFill>
              </a:rPr>
              <a:t>Microkernels</a:t>
            </a:r>
          </a:p>
          <a:p>
            <a:r>
              <a:rPr lang="en-US" dirty="0"/>
              <a:t>Modules</a:t>
            </a:r>
          </a:p>
          <a:p>
            <a:pPr lvl="1"/>
            <a:r>
              <a:rPr lang="en-US" dirty="0"/>
              <a:t>Can be loaded in the kernel (at boot or on demand)</a:t>
            </a:r>
          </a:p>
          <a:p>
            <a:pPr lvl="1"/>
            <a:r>
              <a:rPr lang="en-US" dirty="0"/>
              <a:t>UNIX (Solaris, Linux and Mac OS X) and Windows</a:t>
            </a:r>
          </a:p>
          <a:p>
            <a:pPr lvl="1"/>
            <a:r>
              <a:rPr lang="en-US" dirty="0"/>
              <a:t>Modules can be loaded without recompiling the kernel</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41</a:t>
            </a:fld>
            <a:endParaRPr lang="en-US"/>
          </a:p>
        </p:txBody>
      </p:sp>
    </p:spTree>
    <p:extLst>
      <p:ext uri="{BB962C8B-B14F-4D97-AF65-F5344CB8AC3E}">
        <p14:creationId xmlns:p14="http://schemas.microsoft.com/office/powerpoint/2010/main" val="64161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Operating Systems structure</a:t>
            </a:r>
          </a:p>
        </p:txBody>
      </p:sp>
      <p:sp>
        <p:nvSpPr>
          <p:cNvPr id="3" name="Content Placeholder 2"/>
          <p:cNvSpPr>
            <a:spLocks noGrp="1"/>
          </p:cNvSpPr>
          <p:nvPr>
            <p:ph idx="1"/>
          </p:nvPr>
        </p:nvSpPr>
        <p:spPr/>
        <p:txBody>
          <a:bodyPr/>
          <a:lstStyle/>
          <a:p>
            <a:r>
              <a:rPr lang="en-US" dirty="0">
                <a:solidFill>
                  <a:schemeClr val="bg1">
                    <a:lumMod val="75000"/>
                  </a:schemeClr>
                </a:solidFill>
              </a:rPr>
              <a:t>Simple Structure</a:t>
            </a:r>
          </a:p>
          <a:p>
            <a:r>
              <a:rPr lang="en-US" dirty="0">
                <a:solidFill>
                  <a:schemeClr val="bg1">
                    <a:lumMod val="75000"/>
                  </a:schemeClr>
                </a:solidFill>
              </a:rPr>
              <a:t>Layered Approach</a:t>
            </a:r>
          </a:p>
          <a:p>
            <a:r>
              <a:rPr lang="en-US" dirty="0">
                <a:solidFill>
                  <a:schemeClr val="bg1">
                    <a:lumMod val="75000"/>
                  </a:schemeClr>
                </a:solidFill>
              </a:rPr>
              <a:t>Microkernels</a:t>
            </a:r>
          </a:p>
          <a:p>
            <a:r>
              <a:rPr lang="en-US" dirty="0">
                <a:solidFill>
                  <a:schemeClr val="bg1">
                    <a:lumMod val="75000"/>
                  </a:schemeClr>
                </a:solidFill>
              </a:rPr>
              <a:t>Modules</a:t>
            </a:r>
          </a:p>
          <a:p>
            <a:r>
              <a:rPr lang="en-US" dirty="0"/>
              <a:t>Hybrid Systems</a:t>
            </a:r>
          </a:p>
          <a:p>
            <a:pPr lvl="1"/>
            <a:r>
              <a:rPr lang="en-US" dirty="0"/>
              <a:t>Mixing other structures</a:t>
            </a:r>
          </a:p>
          <a:p>
            <a:pPr lvl="1"/>
            <a:r>
              <a:rPr lang="en-US" dirty="0"/>
              <a:t>Usual case for modern operating systems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42</a:t>
            </a:fld>
            <a:endParaRPr lang="en-US"/>
          </a:p>
        </p:txBody>
      </p:sp>
    </p:spTree>
    <p:extLst>
      <p:ext uri="{BB962C8B-B14F-4D97-AF65-F5344CB8AC3E}">
        <p14:creationId xmlns:p14="http://schemas.microsoft.com/office/powerpoint/2010/main" val="77244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Hybrid systems – Mac OS X</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43</a:t>
            </a:fld>
            <a:endParaRPr lang="en-US"/>
          </a:p>
        </p:txBody>
      </p:sp>
      <p:pic>
        <p:nvPicPr>
          <p:cNvPr id="7" name="Content Placeholder 3" descr="2_16.pdf"/>
          <p:cNvPicPr>
            <a:picLocks noGrp="1" noChangeAspect="1"/>
          </p:cNvPicPr>
          <p:nvPr>
            <p:ph idx="1"/>
          </p:nvPr>
        </p:nvPicPr>
        <p:blipFill>
          <a:blip r:embed="rId3" cstate="print">
            <a:extLst>
              <a:ext uri="{28A0092B-C50C-407E-A947-70E740481C1C}">
                <a14:useLocalDpi xmlns:a14="http://schemas.microsoft.com/office/drawing/2010/main"/>
              </a:ext>
            </a:extLst>
          </a:blip>
          <a:srcRect l="554" r="554"/>
          <a:stretch>
            <a:fillRect/>
          </a:stretch>
        </p:blipFill>
        <p:spPr>
          <a:xfrm>
            <a:off x="3886200" y="1870075"/>
            <a:ext cx="5913944" cy="3255963"/>
          </a:xfrm>
        </p:spPr>
      </p:pic>
      <p:sp>
        <p:nvSpPr>
          <p:cNvPr id="8" name="Content Placeholder 2"/>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t>Layered structure</a:t>
            </a:r>
          </a:p>
        </p:txBody>
      </p:sp>
      <p:sp>
        <p:nvSpPr>
          <p:cNvPr id="9" name="Line Callout 2 8"/>
          <p:cNvSpPr/>
          <p:nvPr/>
        </p:nvSpPr>
        <p:spPr>
          <a:xfrm>
            <a:off x="838200" y="2782888"/>
            <a:ext cx="2209800" cy="1218406"/>
          </a:xfrm>
          <a:prstGeom prst="borderCallout2">
            <a:avLst>
              <a:gd name="adj1" fmla="val 45330"/>
              <a:gd name="adj2" fmla="val 107184"/>
              <a:gd name="adj3" fmla="val 26568"/>
              <a:gd name="adj4" fmla="val 115230"/>
              <a:gd name="adj5" fmla="val 23380"/>
              <a:gd name="adj6" fmla="val 2162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for Objective-C programming (Mac OS X applications)</a:t>
            </a:r>
          </a:p>
        </p:txBody>
      </p:sp>
      <p:sp>
        <p:nvSpPr>
          <p:cNvPr id="10" name="Line Callout 2 9"/>
          <p:cNvSpPr/>
          <p:nvPr/>
        </p:nvSpPr>
        <p:spPr>
          <a:xfrm>
            <a:off x="266700" y="4573588"/>
            <a:ext cx="2514600" cy="1218406"/>
          </a:xfrm>
          <a:prstGeom prst="borderCallout2">
            <a:avLst>
              <a:gd name="adj1" fmla="val 45330"/>
              <a:gd name="adj2" fmla="val 107184"/>
              <a:gd name="adj3" fmla="val 26568"/>
              <a:gd name="adj4" fmla="val 115230"/>
              <a:gd name="adj5" fmla="val -15708"/>
              <a:gd name="adj6" fmla="val 17404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 management, RPCs and Inter-Process communication, thread scheduling</a:t>
            </a:r>
          </a:p>
        </p:txBody>
      </p:sp>
      <p:sp>
        <p:nvSpPr>
          <p:cNvPr id="11" name="Line Callout 2 10"/>
          <p:cNvSpPr/>
          <p:nvPr/>
        </p:nvSpPr>
        <p:spPr>
          <a:xfrm>
            <a:off x="9182100" y="4589860"/>
            <a:ext cx="2514600" cy="1218406"/>
          </a:xfrm>
          <a:prstGeom prst="borderCallout2">
            <a:avLst>
              <a:gd name="adj1" fmla="val -12520"/>
              <a:gd name="adj2" fmla="val 39760"/>
              <a:gd name="adj3" fmla="val -40663"/>
              <a:gd name="adj4" fmla="val 40988"/>
              <a:gd name="adj5" fmla="val -62614"/>
              <a:gd name="adj6" fmla="val 43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Command-line interface, networking, file system</a:t>
            </a:r>
            <a:endParaRPr lang="en-US" dirty="0"/>
          </a:p>
        </p:txBody>
      </p:sp>
    </p:spTree>
    <p:extLst>
      <p:ext uri="{BB962C8B-B14F-4D97-AF65-F5344CB8AC3E}">
        <p14:creationId xmlns:p14="http://schemas.microsoft.com/office/powerpoint/2010/main" val="5009134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2_17.pdf"/>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7044278" y="1927541"/>
            <a:ext cx="2928937" cy="3064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loud Callout 2"/>
          <p:cNvSpPr/>
          <p:nvPr/>
        </p:nvSpPr>
        <p:spPr>
          <a:xfrm>
            <a:off x="209550" y="3452334"/>
            <a:ext cx="5886450" cy="3079750"/>
          </a:xfrm>
          <a:prstGeom prst="cloudCallout">
            <a:avLst>
              <a:gd name="adj1" fmla="val 66546"/>
              <a:gd name="adj2" fmla="val -99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sz="3600" dirty="0"/>
              <a:t>Hybrid systems – iOS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44</a:t>
            </a:fld>
            <a:endParaRPr lang="en-US"/>
          </a:p>
        </p:txBody>
      </p:sp>
      <p:pic>
        <p:nvPicPr>
          <p:cNvPr id="7" name="Content Placeholder 3" descr="2_16.pdf"/>
          <p:cNvPicPr>
            <a:picLocks noGrp="1" noChangeAspect="1"/>
          </p:cNvPicPr>
          <p:nvPr>
            <p:ph idx="1"/>
          </p:nvPr>
        </p:nvPicPr>
        <p:blipFill>
          <a:blip r:embed="rId3" cstate="print">
            <a:extLst>
              <a:ext uri="{28A0092B-C50C-407E-A947-70E740481C1C}">
                <a14:useLocalDpi xmlns:a14="http://schemas.microsoft.com/office/drawing/2010/main"/>
              </a:ext>
            </a:extLst>
          </a:blip>
          <a:srcRect l="554" r="554"/>
          <a:stretch>
            <a:fillRect/>
          </a:stretch>
        </p:blipFill>
        <p:spPr>
          <a:xfrm>
            <a:off x="1157828" y="3973700"/>
            <a:ext cx="3699922" cy="2037017"/>
          </a:xfrm>
        </p:spPr>
      </p:pic>
      <p:sp>
        <p:nvSpPr>
          <p:cNvPr id="13" name="Line Callout 2 12"/>
          <p:cNvSpPr/>
          <p:nvPr/>
        </p:nvSpPr>
        <p:spPr>
          <a:xfrm>
            <a:off x="2476500" y="1912489"/>
            <a:ext cx="2209800" cy="1218406"/>
          </a:xfrm>
          <a:prstGeom prst="borderCallout2">
            <a:avLst>
              <a:gd name="adj1" fmla="val 45330"/>
              <a:gd name="adj2" fmla="val 107184"/>
              <a:gd name="adj3" fmla="val 26568"/>
              <a:gd name="adj4" fmla="val 115230"/>
              <a:gd name="adj5" fmla="val 23380"/>
              <a:gd name="adj6" fmla="val 2162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Provides features of touch screen devices</a:t>
            </a:r>
          </a:p>
        </p:txBody>
      </p:sp>
    </p:spTree>
    <p:extLst>
      <p:ext uri="{BB962C8B-B14F-4D97-AF65-F5344CB8AC3E}">
        <p14:creationId xmlns:p14="http://schemas.microsoft.com/office/powerpoint/2010/main" val="692875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Hybrid systems – Android</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Introduction to Operating Systems</a:t>
            </a:r>
          </a:p>
        </p:txBody>
      </p:sp>
      <p:sp>
        <p:nvSpPr>
          <p:cNvPr id="6" name="Slide Number Placeholder 5"/>
          <p:cNvSpPr>
            <a:spLocks noGrp="1"/>
          </p:cNvSpPr>
          <p:nvPr>
            <p:ph type="sldNum" sz="quarter" idx="12"/>
          </p:nvPr>
        </p:nvSpPr>
        <p:spPr/>
        <p:txBody>
          <a:bodyPr/>
          <a:lstStyle/>
          <a:p>
            <a:fld id="{F08E1FC2-92BA-6B49-AE60-B1AE3118BF2A}" type="slidenum">
              <a:rPr lang="en-US" smtClean="0"/>
              <a:t>45</a:t>
            </a:fld>
            <a:endParaRPr lang="en-US"/>
          </a:p>
        </p:txBody>
      </p:sp>
      <p:pic>
        <p:nvPicPr>
          <p:cNvPr id="11" name="Content Placeholder 2" descr="2_18.pdf"/>
          <p:cNvPicPr>
            <a:picLocks noGrp="1" noChangeAspect="1"/>
          </p:cNvPicPr>
          <p:nvPr>
            <p:ph idx="1"/>
          </p:nvPr>
        </p:nvPicPr>
        <p:blipFill>
          <a:blip r:embed="rId2" cstate="print">
            <a:extLst>
              <a:ext uri="{28A0092B-C50C-407E-A947-70E740481C1C}">
                <a14:useLocalDpi xmlns:a14="http://schemas.microsoft.com/office/drawing/2010/main"/>
              </a:ext>
            </a:extLst>
          </a:blip>
          <a:srcRect t="15273" b="15273"/>
          <a:stretch>
            <a:fillRect/>
          </a:stretch>
        </p:blipFill>
        <p:spPr>
          <a:xfrm>
            <a:off x="1785660" y="2179948"/>
            <a:ext cx="5510490" cy="3034990"/>
          </a:xfrm>
        </p:spPr>
      </p:pic>
      <p:sp>
        <p:nvSpPr>
          <p:cNvPr id="14" name="Line Callout 2 13"/>
          <p:cNvSpPr/>
          <p:nvPr/>
        </p:nvSpPr>
        <p:spPr>
          <a:xfrm>
            <a:off x="7924800" y="4323160"/>
            <a:ext cx="2514600" cy="1218406"/>
          </a:xfrm>
          <a:prstGeom prst="borderCallout2">
            <a:avLst>
              <a:gd name="adj1" fmla="val 26568"/>
              <a:gd name="adj2" fmla="val -5695"/>
              <a:gd name="adj3" fmla="val 26568"/>
              <a:gd name="adj4" fmla="val -14315"/>
              <a:gd name="adj5" fmla="val -73"/>
              <a:gd name="adj6" fmla="val -380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“Java for android” virtual machine</a:t>
            </a:r>
            <a:endParaRPr lang="en-US" dirty="0"/>
          </a:p>
        </p:txBody>
      </p:sp>
      <p:sp>
        <p:nvSpPr>
          <p:cNvPr id="9" name="TextBox 8"/>
          <p:cNvSpPr txBox="1"/>
          <p:nvPr/>
        </p:nvSpPr>
        <p:spPr>
          <a:xfrm>
            <a:off x="1785660" y="1690688"/>
            <a:ext cx="5510490" cy="369332"/>
          </a:xfrm>
          <a:prstGeom prst="rect">
            <a:avLst/>
          </a:prstGeom>
          <a:noFill/>
          <a:ln>
            <a:solidFill>
              <a:schemeClr val="tx1"/>
            </a:solidFill>
          </a:ln>
        </p:spPr>
        <p:txBody>
          <a:bodyPr wrap="square" rtlCol="0">
            <a:spAutoFit/>
          </a:bodyPr>
          <a:lstStyle/>
          <a:p>
            <a:pPr algn="ctr"/>
            <a:r>
              <a:rPr lang="en-US"/>
              <a:t>Applications</a:t>
            </a:r>
          </a:p>
        </p:txBody>
      </p:sp>
      <p:sp>
        <p:nvSpPr>
          <p:cNvPr id="15" name="TextBox 14"/>
          <p:cNvSpPr txBox="1"/>
          <p:nvPr/>
        </p:nvSpPr>
        <p:spPr>
          <a:xfrm>
            <a:off x="1785660" y="5343114"/>
            <a:ext cx="5510490" cy="369332"/>
          </a:xfrm>
          <a:prstGeom prst="rect">
            <a:avLst/>
          </a:prstGeom>
          <a:noFill/>
          <a:ln>
            <a:solidFill>
              <a:schemeClr val="tx1"/>
            </a:solidFill>
          </a:ln>
        </p:spPr>
        <p:txBody>
          <a:bodyPr wrap="square" rtlCol="0">
            <a:spAutoFit/>
          </a:bodyPr>
          <a:lstStyle/>
          <a:p>
            <a:pPr algn="ctr"/>
            <a:r>
              <a:rPr lang="en-US" dirty="0"/>
              <a:t>Linux kernel</a:t>
            </a:r>
          </a:p>
        </p:txBody>
      </p:sp>
    </p:spTree>
    <p:extLst>
      <p:ext uri="{BB962C8B-B14F-4D97-AF65-F5344CB8AC3E}">
        <p14:creationId xmlns:p14="http://schemas.microsoft.com/office/powerpoint/2010/main" val="320471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3921</TotalTime>
  <Words>3014</Words>
  <Application>Microsoft Macintosh PowerPoint</Application>
  <PresentationFormat>Widescreen</PresentationFormat>
  <Paragraphs>471</Paragraphs>
  <Slides>45</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MS PGothic</vt:lpstr>
      <vt:lpstr>Arial</vt:lpstr>
      <vt:lpstr>Calibri</vt:lpstr>
      <vt:lpstr>Calibri Light</vt:lpstr>
      <vt:lpstr>Helvetica</vt:lpstr>
      <vt:lpstr>Times New Roman</vt:lpstr>
      <vt:lpstr>Wingdings</vt:lpstr>
      <vt:lpstr>Office Theme</vt:lpstr>
      <vt:lpstr>PowerPoint Presentation</vt:lpstr>
      <vt:lpstr>What to read (Main textbook)</vt:lpstr>
      <vt:lpstr>Agenda</vt:lpstr>
      <vt:lpstr>Agenda</vt:lpstr>
      <vt:lpstr>Components of a Computer System</vt:lpstr>
      <vt:lpstr>How can we define what an Operating System is and does? </vt:lpstr>
      <vt:lpstr>Operating System as Component of a Computer System</vt:lpstr>
      <vt:lpstr>Agenda</vt:lpstr>
      <vt:lpstr>How does the OS manage devices and users?</vt:lpstr>
      <vt:lpstr>Events / Interrupts are the basic “ticks” of the OS cycles </vt:lpstr>
      <vt:lpstr>Agenda</vt:lpstr>
      <vt:lpstr>A deeper look at the OS…</vt:lpstr>
      <vt:lpstr>Agenda</vt:lpstr>
      <vt:lpstr>Wait a moment…</vt:lpstr>
      <vt:lpstr>Dual-mode and Multimode Operations (I)</vt:lpstr>
      <vt:lpstr>Dual-mode and Multimode Operations (II)</vt:lpstr>
      <vt:lpstr>A special interrupt mechanism: the timer</vt:lpstr>
      <vt:lpstr>Question(s)</vt:lpstr>
      <vt:lpstr>Agenda</vt:lpstr>
      <vt:lpstr>What does the operating system provides?</vt:lpstr>
      <vt:lpstr>What does the operating system provides?</vt:lpstr>
      <vt:lpstr>What does the operating system provides?</vt:lpstr>
      <vt:lpstr>What does the operating system provides?</vt:lpstr>
      <vt:lpstr>Agenda</vt:lpstr>
      <vt:lpstr>Let’s say we want to copy a file…</vt:lpstr>
      <vt:lpstr>Application Programming Interfaces (APIs)</vt:lpstr>
      <vt:lpstr>Sample API</vt:lpstr>
      <vt:lpstr>System call interface</vt:lpstr>
      <vt:lpstr>How to pass parameters to a system call?</vt:lpstr>
      <vt:lpstr>Types of system calls (I)</vt:lpstr>
      <vt:lpstr>Types of system calls (II)</vt:lpstr>
      <vt:lpstr>Types of system calls (III)</vt:lpstr>
      <vt:lpstr>Types of system calls (IV)</vt:lpstr>
      <vt:lpstr>Some examples</vt:lpstr>
      <vt:lpstr>Agenda</vt:lpstr>
      <vt:lpstr>How does the computer know where / how to lead the kernel at startup?</vt:lpstr>
      <vt:lpstr>Agenda</vt:lpstr>
      <vt:lpstr>Operating Systems structure</vt:lpstr>
      <vt:lpstr>Operating Systems structure</vt:lpstr>
      <vt:lpstr>Operating Systems structure</vt:lpstr>
      <vt:lpstr>Operating Systems structure</vt:lpstr>
      <vt:lpstr>Operating Systems structure</vt:lpstr>
      <vt:lpstr>Hybrid systems – Mac OS X</vt:lpstr>
      <vt:lpstr>Hybrid systems – iOS</vt:lpstr>
      <vt:lpstr>Hybrid systems – Android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Vincenzo Massimiliano Gulisano</cp:lastModifiedBy>
  <cp:revision>71</cp:revision>
  <cp:lastPrinted>2020-09-03T08:27:10Z</cp:lastPrinted>
  <dcterms:created xsi:type="dcterms:W3CDTF">2015-10-29T23:14:11Z</dcterms:created>
  <dcterms:modified xsi:type="dcterms:W3CDTF">2025-09-04T07:53:12Z</dcterms:modified>
</cp:coreProperties>
</file>