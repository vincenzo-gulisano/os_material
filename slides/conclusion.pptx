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2" r:id="rId2"/>
    <p:sldId id="305" r:id="rId3"/>
    <p:sldId id="306" r:id="rId4"/>
    <p:sldId id="320" r:id="rId5"/>
    <p:sldId id="319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2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FF35AB-AE83-2440-8CDD-E49EC55C6D89}" v="1" dt="2025-10-23T05:51:56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40" autoAdjust="0"/>
    <p:restoredTop sz="70274" autoAdjust="0"/>
  </p:normalViewPr>
  <p:slideViewPr>
    <p:cSldViewPr snapToGrid="0">
      <p:cViewPr varScale="1">
        <p:scale>
          <a:sx n="87" d="100"/>
          <a:sy n="87" d="100"/>
        </p:scale>
        <p:origin x="2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355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8EA10870-6395-588A-9409-E8E4CA631CF7}"/>
    <pc:docChg chg="custSel addSld modSld">
      <pc:chgData name="Vincenzo Massimiliano Gulisano" userId="887d7398-9e41-4331-abd4-9c23f064ea90" providerId="ADAL" clId="{8EA10870-6395-588A-9409-E8E4CA631CF7}" dt="2025-10-23T05:52:13.007" v="11" actId="478"/>
      <pc:docMkLst>
        <pc:docMk/>
      </pc:docMkLst>
      <pc:sldChg chg="addSp delSp modSp new mod">
        <pc:chgData name="Vincenzo Massimiliano Gulisano" userId="887d7398-9e41-4331-abd4-9c23f064ea90" providerId="ADAL" clId="{8EA10870-6395-588A-9409-E8E4CA631CF7}" dt="2025-10-23T05:52:13.007" v="11" actId="478"/>
        <pc:sldMkLst>
          <pc:docMk/>
          <pc:sldMk cId="2020255331" sldId="322"/>
        </pc:sldMkLst>
        <pc:spChg chg="del">
          <ac:chgData name="Vincenzo Massimiliano Gulisano" userId="887d7398-9e41-4331-abd4-9c23f064ea90" providerId="ADAL" clId="{8EA10870-6395-588A-9409-E8E4CA631CF7}" dt="2025-10-23T05:51:56.163" v="1" actId="478"/>
          <ac:spMkLst>
            <pc:docMk/>
            <pc:sldMk cId="2020255331" sldId="322"/>
            <ac:spMk id="2" creationId="{E0944BC7-DB52-F764-66EE-EA6959E14775}"/>
          </ac:spMkLst>
        </pc:spChg>
        <pc:spChg chg="del">
          <ac:chgData name="Vincenzo Massimiliano Gulisano" userId="887d7398-9e41-4331-abd4-9c23f064ea90" providerId="ADAL" clId="{8EA10870-6395-588A-9409-E8E4CA631CF7}" dt="2025-10-23T05:52:13.007" v="11" actId="478"/>
          <ac:spMkLst>
            <pc:docMk/>
            <pc:sldMk cId="2020255331" sldId="322"/>
            <ac:spMk id="3" creationId="{FB0049A9-4B28-303E-6D62-1743B3D6BE7C}"/>
          </ac:spMkLst>
        </pc:spChg>
        <pc:picChg chg="add mod">
          <ac:chgData name="Vincenzo Massimiliano Gulisano" userId="887d7398-9e41-4331-abd4-9c23f064ea90" providerId="ADAL" clId="{8EA10870-6395-588A-9409-E8E4CA631CF7}" dt="2025-10-23T05:52:11.852" v="10" actId="1076"/>
          <ac:picMkLst>
            <pc:docMk/>
            <pc:sldMk cId="2020255331" sldId="322"/>
            <ac:picMk id="7" creationId="{09FAF26E-F028-DEE2-3051-44B25E4E58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89A5D-C583-4B96-9043-CDF5AF33BA2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1F744-5855-45B1-BDAC-69209E929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757A2C-8941-40A3-B23F-9B6C8A580B0A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5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12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sv-SE" sz="2000" dirty="0"/>
              <a:t>Prevent unauthorized users from gaining access to a resource</a:t>
            </a:r>
          </a:p>
          <a:p>
            <a:pPr lvl="1"/>
            <a:r>
              <a:rPr lang="sv-SE" sz="2000" dirty="0"/>
              <a:t>Prevent authorized users from accessing a resource in an unauthorized manner</a:t>
            </a:r>
          </a:p>
          <a:p>
            <a:pPr lvl="1"/>
            <a:r>
              <a:rPr lang="sv-SE" sz="2000" dirty="0"/>
              <a:t>Enable legitimate users to access resources in an authorized manner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45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sv-SE" sz="2000" dirty="0"/>
              <a:t>Prevent unauthorized users from gaining access to a resource</a:t>
            </a:r>
          </a:p>
          <a:p>
            <a:pPr lvl="1"/>
            <a:r>
              <a:rPr lang="sv-SE" sz="2000" dirty="0"/>
              <a:t>Prevent authorized users from accessing a resource in an unauthorized manner</a:t>
            </a:r>
          </a:p>
          <a:p>
            <a:pPr lvl="1"/>
            <a:r>
              <a:rPr lang="sv-SE" sz="2000" dirty="0"/>
              <a:t>Enable legitimate users to access resources in an authorized manner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1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7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1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5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0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9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5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4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067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58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3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wmf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593975" y="1647827"/>
            <a:ext cx="6908800" cy="1890183"/>
          </a:xfrm>
          <a:prstGeom prst="rect">
            <a:avLst/>
          </a:prstGeom>
        </p:spPr>
        <p:txBody>
          <a:bodyPr lIns="81280" tIns="40640" rIns="81280" bIns="4064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3800" dirty="0"/>
              <a:t>Operating Systems – EDA093/DIT401</a:t>
            </a:r>
            <a:br>
              <a:rPr lang="en-US" altLang="en-US" sz="3800" dirty="0"/>
            </a:br>
            <a:r>
              <a:rPr lang="en-US" altLang="en-US" sz="3822" dirty="0"/>
              <a:t>Concluding remarks</a:t>
            </a:r>
          </a:p>
          <a:p>
            <a:pPr>
              <a:defRPr/>
            </a:pPr>
            <a:br>
              <a:rPr lang="en-US" altLang="en-US" sz="3822" dirty="0"/>
            </a:br>
            <a:r>
              <a:rPr lang="en-US" altLang="en-US" sz="2845" dirty="0"/>
              <a:t>Vincenzo Gulisano</a:t>
            </a:r>
            <a:br>
              <a:rPr lang="en-US" altLang="en-US" sz="2845" dirty="0"/>
            </a:br>
            <a:r>
              <a:rPr lang="en-US" altLang="en-US" sz="1778" dirty="0"/>
              <a:t>vincenzo.gulisano@chalmers.se</a:t>
            </a:r>
            <a:endParaRPr lang="en-US" altLang="en-US" sz="2400" dirty="0"/>
          </a:p>
        </p:txBody>
      </p:sp>
      <p:pic>
        <p:nvPicPr>
          <p:cNvPr id="5123" name="Picture 6" descr="http://upload.wikimedia.org/wikipedia/en/5/5c/Chalmers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234" y="4392085"/>
            <a:ext cx="1672167" cy="155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8" descr="http://sgroup.be/sites/default/files/LOGUeng_cen2r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792" y="4480985"/>
            <a:ext cx="1847850" cy="1375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257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before the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You </a:t>
            </a:r>
            <a:r>
              <a:rPr lang="en-US" altLang="en-US" b="1" dirty="0">
                <a:solidFill>
                  <a:schemeClr val="accent2"/>
                </a:solidFill>
              </a:rPr>
              <a:t>may only have</a:t>
            </a:r>
            <a:r>
              <a:rPr lang="en-US" altLang="en-US" dirty="0"/>
              <a:t> a dictionary (English - Swedish – English)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36A63-FDAB-9787-8550-BEC4EBDB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86"/>
          <a:stretch>
            <a:fillRect/>
          </a:stretch>
        </p:blipFill>
        <p:spPr>
          <a:xfrm>
            <a:off x="1058780" y="2305811"/>
            <a:ext cx="9794229" cy="224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before the exam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000" dirty="0">
                <a:solidFill>
                  <a:schemeClr val="accent2"/>
                </a:solidFill>
                <a:latin typeface="+mj-lt"/>
              </a:rPr>
              <a:t>Summary study:</a:t>
            </a:r>
            <a:r>
              <a:rPr lang="en-US" altLang="en-US" sz="2000" dirty="0">
                <a:latin typeface="+mj-lt"/>
              </a:rPr>
              <a:t> 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2000" dirty="0">
              <a:latin typeface="+mj-lt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dirty="0">
                <a:latin typeface="+mj-lt"/>
              </a:rPr>
              <a:t>accompany your summary study with the notes received, exercises (those solved in class and others, incl. those in the hard-copy notes) and summary questions at the end of each book chapter 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2000" dirty="0">
              <a:latin typeface="+mj-lt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dirty="0">
                <a:latin typeface="+mj-lt"/>
              </a:rPr>
              <a:t>keep a critical eye in your overview study: 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dirty="0">
                <a:latin typeface="+mj-lt"/>
              </a:rPr>
              <a:t>why is this so?  how does it work?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dirty="0">
                <a:latin typeface="+mj-lt"/>
              </a:rPr>
              <a:t>How do the puzzle pieces fit together?</a:t>
            </a:r>
          </a:p>
          <a:p>
            <a:pPr>
              <a:spcBef>
                <a:spcPct val="20000"/>
              </a:spcBef>
            </a:pPr>
            <a:endParaRPr lang="en-US" altLang="en-US" sz="2000" dirty="0">
              <a:latin typeface="+mj-lt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dirty="0">
                <a:latin typeface="+mj-lt"/>
              </a:rPr>
              <a:t>later: check OS web-page for news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779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before the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Check the reading instructions for the various parts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3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address a challenge?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261321" y="1821050"/>
            <a:ext cx="2029224" cy="1253146"/>
            <a:chOff x="1261321" y="1821050"/>
            <a:chExt cx="2029224" cy="12531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1321" y="1821050"/>
              <a:ext cx="1026834" cy="125314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288155" y="1963221"/>
              <a:ext cx="1002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Like this!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389945" y="2958364"/>
            <a:ext cx="4660090" cy="1915109"/>
            <a:chOff x="2389945" y="2958364"/>
            <a:chExt cx="4660090" cy="191510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9945" y="2958364"/>
              <a:ext cx="1801199" cy="1915109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292934" y="3396145"/>
              <a:ext cx="2757101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Like this!</a:t>
              </a:r>
            </a:p>
            <a:p>
              <a:r>
                <a:rPr lang="en-US" dirty="0"/>
                <a:t>Or this!</a:t>
              </a:r>
            </a:p>
            <a:p>
              <a:r>
                <a:rPr lang="en-US" dirty="0"/>
                <a:t>Or this!</a:t>
              </a:r>
            </a:p>
            <a:p>
              <a:r>
                <a:rPr lang="en-US" dirty="0"/>
                <a:t>Maybe also like this…</a:t>
              </a:r>
            </a:p>
            <a:p>
              <a:r>
                <a:rPr lang="en-US" dirty="0"/>
                <a:t>Why not like this… mmm…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485682" y="1813952"/>
            <a:ext cx="2838377" cy="3800959"/>
            <a:chOff x="1295399" y="1828800"/>
            <a:chExt cx="3056187" cy="4092635"/>
          </a:xfrm>
        </p:grpSpPr>
        <p:pic>
          <p:nvPicPr>
            <p:cNvPr id="14" name="Picture 2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Up Arrow 14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Up Arrow 15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25144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00B050"/>
                </a:solidFill>
              </a:rPr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 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425825" y="636800"/>
            <a:ext cx="5122782" cy="3009609"/>
            <a:chOff x="3425825" y="636800"/>
            <a:chExt cx="5122782" cy="3009609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5825" y="865109"/>
              <a:ext cx="4400550" cy="278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3519407" y="636800"/>
              <a:ext cx="50292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decouple Applications/Users from Hardware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324600" y="3952172"/>
            <a:ext cx="5029200" cy="2163033"/>
            <a:chOff x="6324600" y="3952172"/>
            <a:chExt cx="5029200" cy="2163033"/>
          </a:xfrm>
        </p:grpSpPr>
        <p:pic>
          <p:nvPicPr>
            <p:cNvPr id="8" name="Picture 3" descr="1_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507243" y="4321504"/>
              <a:ext cx="4330700" cy="1793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9"/>
            <p:cNvSpPr/>
            <p:nvPr/>
          </p:nvSpPr>
          <p:spPr>
            <a:xfrm>
              <a:off x="6324600" y="3952172"/>
              <a:ext cx="50292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… need to build upon a basic instruction cycle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51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 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7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867187" y="131837"/>
            <a:ext cx="3645238" cy="2611363"/>
            <a:chOff x="2950783" y="270919"/>
            <a:chExt cx="3645238" cy="2611363"/>
          </a:xfrm>
        </p:grpSpPr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2998" y="960894"/>
              <a:ext cx="1216372" cy="1921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2950783" y="270919"/>
              <a:ext cx="364523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maintain information about processes running in the OS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926011" y="131837"/>
            <a:ext cx="3846243" cy="2741632"/>
            <a:chOff x="6027496" y="1126255"/>
            <a:chExt cx="4631478" cy="3301354"/>
          </a:xfrm>
        </p:grpSpPr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7496" y="1495587"/>
              <a:ext cx="4366206" cy="293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6336962" y="1126255"/>
              <a:ext cx="4322012" cy="4447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switch between processes…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689806" y="2873469"/>
            <a:ext cx="3723928" cy="3181599"/>
            <a:chOff x="4689806" y="2873469"/>
            <a:chExt cx="3723928" cy="3181599"/>
          </a:xfrm>
        </p:grpSpPr>
        <p:pic>
          <p:nvPicPr>
            <p:cNvPr id="12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3215" y="3174751"/>
              <a:ext cx="3340185" cy="2880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12"/>
            <p:cNvSpPr/>
            <p:nvPr/>
          </p:nvSpPr>
          <p:spPr>
            <a:xfrm>
              <a:off x="4689806" y="2873469"/>
              <a:ext cx="372392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organize processes and devices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858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Multithreaded Programming</a:t>
            </a:r>
          </a:p>
          <a:p>
            <a:r>
              <a:rPr lang="en-US" sz="1900" dirty="0"/>
              <a:t>Process 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2789643" y="370091"/>
            <a:ext cx="8564157" cy="2496069"/>
            <a:chOff x="2789643" y="370091"/>
            <a:chExt cx="8564157" cy="2496069"/>
          </a:xfrm>
        </p:grpSpPr>
        <p:sp>
          <p:nvSpPr>
            <p:cNvPr id="8" name="Rectangle 7"/>
            <p:cNvSpPr/>
            <p:nvPr/>
          </p:nvSpPr>
          <p:spPr>
            <a:xfrm>
              <a:off x="2789643" y="370091"/>
              <a:ext cx="435502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mechanisms to improve processes performance / take advantage of hardware </a:t>
              </a:r>
            </a:p>
          </p:txBody>
        </p:sp>
        <p:pic>
          <p:nvPicPr>
            <p:cNvPr id="9" name="Picture 1" descr="4_03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3347" y="901540"/>
              <a:ext cx="4180453" cy="523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 descr="4_04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3329" y="1828203"/>
              <a:ext cx="2635710" cy="1037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1" descr="4_02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7772" y="1103709"/>
              <a:ext cx="3958767" cy="1597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 15"/>
          <p:cNvGrpSpPr/>
          <p:nvPr/>
        </p:nvGrpSpPr>
        <p:grpSpPr>
          <a:xfrm>
            <a:off x="3142746" y="3297286"/>
            <a:ext cx="4355023" cy="2826589"/>
            <a:chOff x="3142746" y="3297286"/>
            <a:chExt cx="4355023" cy="2826589"/>
          </a:xfrm>
        </p:grpSpPr>
        <p:pic>
          <p:nvPicPr>
            <p:cNvPr id="7" name="Picture 1" descr="4_0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2533" y="3725541"/>
              <a:ext cx="3695054" cy="239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4"/>
            <p:cNvSpPr/>
            <p:nvPr/>
          </p:nvSpPr>
          <p:spPr>
            <a:xfrm>
              <a:off x="3142746" y="3297286"/>
              <a:ext cx="435502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maintain more information…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657919" y="4179162"/>
            <a:ext cx="4355023" cy="1428451"/>
            <a:chOff x="7657919" y="4179162"/>
            <a:chExt cx="4355023" cy="1428451"/>
          </a:xfrm>
        </p:grpSpPr>
        <p:pic>
          <p:nvPicPr>
            <p:cNvPr id="13" name="Picture 4" descr="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3329" y="4697360"/>
              <a:ext cx="3615976" cy="910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7657919" y="4179162"/>
              <a:ext cx="435502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…and synchronize threads and processes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051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Process 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9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263685" y="606609"/>
            <a:ext cx="4355023" cy="3804065"/>
            <a:chOff x="3581400" y="870955"/>
            <a:chExt cx="4355023" cy="3804065"/>
          </a:xfrm>
        </p:grpSpPr>
        <p:sp>
          <p:nvSpPr>
            <p:cNvPr id="8" name="Rectangle 7"/>
            <p:cNvSpPr/>
            <p:nvPr/>
          </p:nvSpPr>
          <p:spPr>
            <a:xfrm>
              <a:off x="3581400" y="870955"/>
              <a:ext cx="435502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scheduling at different granularities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764544" y="1356101"/>
              <a:ext cx="2966784" cy="3318919"/>
              <a:chOff x="5508104" y="411969"/>
              <a:chExt cx="3644498" cy="4077072"/>
            </a:xfrm>
          </p:grpSpPr>
          <p:pic>
            <p:nvPicPr>
              <p:cNvPr id="9" name="Picture 5" descr="9_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516706" y="411969"/>
                <a:ext cx="3635896" cy="40770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" name="Oval 9"/>
              <p:cNvSpPr/>
              <p:nvPr/>
            </p:nvSpPr>
            <p:spPr>
              <a:xfrm>
                <a:off x="5951249" y="1947140"/>
                <a:ext cx="576064" cy="2058615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50000"/>
                  </a:schemeClr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508104" y="980728"/>
                <a:ext cx="1462354" cy="681873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970458" y="1946449"/>
                <a:ext cx="643626" cy="62774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7618708" y="2810023"/>
            <a:ext cx="4355023" cy="2365869"/>
            <a:chOff x="7618708" y="2810023"/>
            <a:chExt cx="4355023" cy="2365869"/>
          </a:xfrm>
        </p:grpSpPr>
        <p:sp>
          <p:nvSpPr>
            <p:cNvPr id="14" name="Rectangle 3"/>
            <p:cNvSpPr txBox="1">
              <a:spLocks noChangeArrowheads="1"/>
            </p:cNvSpPr>
            <p:nvPr/>
          </p:nvSpPr>
          <p:spPr>
            <a:xfrm>
              <a:off x="7778466" y="3179355"/>
              <a:ext cx="3299841" cy="199653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</a:pPr>
              <a:r>
                <a:rPr lang="en-US" sz="2000" b="1" dirty="0">
                  <a:solidFill>
                    <a:schemeClr val="accent2"/>
                  </a:solidFill>
                </a:rPr>
                <a:t>CPU utilization</a:t>
              </a:r>
              <a:endParaRPr lang="en-US" sz="2000" dirty="0"/>
            </a:p>
            <a:p>
              <a:pPr>
                <a:buFontTx/>
                <a:buNone/>
              </a:pPr>
              <a:r>
                <a:rPr lang="en-US" sz="2000" b="1" dirty="0">
                  <a:solidFill>
                    <a:schemeClr val="accent2"/>
                  </a:solidFill>
                </a:rPr>
                <a:t>Throughput</a:t>
              </a:r>
              <a:endParaRPr lang="en-US" sz="2000" dirty="0"/>
            </a:p>
            <a:p>
              <a:pPr>
                <a:buFontTx/>
                <a:buNone/>
              </a:pPr>
              <a:r>
                <a:rPr lang="en-US" sz="2000" b="1" dirty="0">
                  <a:solidFill>
                    <a:schemeClr val="accent2"/>
                  </a:solidFill>
                </a:rPr>
                <a:t>Turnaround/Response time</a:t>
              </a:r>
              <a:r>
                <a:rPr lang="en-US" sz="2000" dirty="0"/>
                <a:t> </a:t>
              </a:r>
            </a:p>
            <a:p>
              <a:pPr>
                <a:buFontTx/>
                <a:buNone/>
              </a:pPr>
              <a:r>
                <a:rPr lang="en-US" sz="2000" b="1" dirty="0">
                  <a:solidFill>
                    <a:schemeClr val="accent2"/>
                  </a:solidFill>
                </a:rPr>
                <a:t>Fairness</a:t>
              </a:r>
            </a:p>
            <a:p>
              <a:pPr>
                <a:buFontTx/>
                <a:buNone/>
              </a:pPr>
              <a:r>
                <a:rPr lang="en-US" sz="2000" b="1" dirty="0">
                  <a:solidFill>
                    <a:schemeClr val="accent2"/>
                  </a:solidFill>
                </a:rPr>
                <a:t>O</a:t>
              </a:r>
              <a:r>
                <a:rPr lang="en-US" sz="2000" dirty="0">
                  <a:solidFill>
                    <a:schemeClr val="accent2"/>
                  </a:solidFill>
                </a:rPr>
                <a:t>verhead</a:t>
              </a:r>
              <a:endParaRPr lang="en-US" sz="20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18708" y="2810023"/>
              <a:ext cx="435502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scheduling criteria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08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10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138122" y="636532"/>
            <a:ext cx="5678092" cy="2670767"/>
            <a:chOff x="3138122" y="636532"/>
            <a:chExt cx="5678092" cy="2670767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38122" y="1049507"/>
              <a:ext cx="4645209" cy="22577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/>
            <p:nvPr/>
          </p:nvSpPr>
          <p:spPr>
            <a:xfrm>
              <a:off x="3138122" y="636532"/>
              <a:ext cx="56780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prevent overlapping execution of critical sections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712917" y="2847465"/>
            <a:ext cx="4209452" cy="3107291"/>
            <a:chOff x="7712917" y="2847465"/>
            <a:chExt cx="4209452" cy="3107291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7240" y="3249059"/>
              <a:ext cx="2508548" cy="2705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7712917" y="2847465"/>
              <a:ext cx="420945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synchronize threads communication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417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11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581400" y="1051619"/>
            <a:ext cx="4209452" cy="3491015"/>
            <a:chOff x="3581400" y="1051619"/>
            <a:chExt cx="4209452" cy="349101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9201" y="1464594"/>
              <a:ext cx="3078040" cy="3078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3581400" y="1051619"/>
              <a:ext cx="420945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avoid deadlocks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549661" y="2423212"/>
            <a:ext cx="4209452" cy="3092796"/>
            <a:chOff x="7549661" y="2423212"/>
            <a:chExt cx="4209452" cy="3092796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9256" y="2792544"/>
              <a:ext cx="2631367" cy="2723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7549661" y="2423212"/>
              <a:ext cx="420945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… which can be challenging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98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12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308535" y="1068486"/>
            <a:ext cx="4288887" cy="3853008"/>
            <a:chOff x="3501965" y="1341047"/>
            <a:chExt cx="4288887" cy="3853008"/>
          </a:xfrm>
        </p:grpSpPr>
        <p:pic>
          <p:nvPicPr>
            <p:cNvPr id="7" name="Picture 3" descr="C:\Users\as668\Desktop\1_04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1965" y="2031022"/>
              <a:ext cx="3799946" cy="3163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3581400" y="1341047"/>
              <a:ext cx="420945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Need to manage information (read / write) based on the available hierarchy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461219" y="2395488"/>
            <a:ext cx="4209452" cy="3054308"/>
            <a:chOff x="7461219" y="2395488"/>
            <a:chExt cx="4209452" cy="3054308"/>
          </a:xfrm>
        </p:grpSpPr>
        <p:pic>
          <p:nvPicPr>
            <p:cNvPr id="9" name="Picture 4" descr="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2090" y="3094892"/>
              <a:ext cx="3147711" cy="2354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7461219" y="2395488"/>
              <a:ext cx="420945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E.g., by swapping processes…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800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13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034531" y="234114"/>
            <a:ext cx="5016951" cy="3485991"/>
            <a:chOff x="3646714" y="1148514"/>
            <a:chExt cx="5016951" cy="3485991"/>
          </a:xfrm>
        </p:grpSpPr>
        <p:pic>
          <p:nvPicPr>
            <p:cNvPr id="7" name="Picture 4" descr="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8656" y="1635071"/>
              <a:ext cx="3092842" cy="2999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3646714" y="1148514"/>
              <a:ext cx="50169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Need to provide more (virtual) memory than available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293983" y="1006447"/>
            <a:ext cx="3657540" cy="2938053"/>
            <a:chOff x="7177745" y="1533390"/>
            <a:chExt cx="3657540" cy="2938053"/>
          </a:xfrm>
        </p:grpSpPr>
        <p:pic>
          <p:nvPicPr>
            <p:cNvPr id="9" name="Picture 4" descr="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6244" y="2007939"/>
              <a:ext cx="2952570" cy="246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7177745" y="1533390"/>
              <a:ext cx="36575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Need extra overhead to provide that…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5214" y="4011879"/>
            <a:ext cx="5629421" cy="2247243"/>
            <a:chOff x="5465214" y="4011879"/>
            <a:chExt cx="5629421" cy="2247243"/>
          </a:xfrm>
        </p:grpSpPr>
        <p:pic>
          <p:nvPicPr>
            <p:cNvPr id="12" name="Picture 4" descr="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6805" y="4335044"/>
              <a:ext cx="3327830" cy="1924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12"/>
            <p:cNvSpPr/>
            <p:nvPr/>
          </p:nvSpPr>
          <p:spPr>
            <a:xfrm>
              <a:off x="5465214" y="4011879"/>
              <a:ext cx="396550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Sometimes (hidden?) complexity leads to unexpected behavior…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535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14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867187" y="143148"/>
            <a:ext cx="8878467" cy="2925517"/>
            <a:chOff x="2867187" y="143148"/>
            <a:chExt cx="8878467" cy="2925517"/>
          </a:xfrm>
        </p:grpSpPr>
        <p:grpSp>
          <p:nvGrpSpPr>
            <p:cNvPr id="2" name="Group 1"/>
            <p:cNvGrpSpPr/>
            <p:nvPr/>
          </p:nvGrpSpPr>
          <p:grpSpPr>
            <a:xfrm>
              <a:off x="2867187" y="539877"/>
              <a:ext cx="8878467" cy="2528788"/>
              <a:chOff x="2867187" y="539877"/>
              <a:chExt cx="8878467" cy="2528788"/>
            </a:xfrm>
          </p:grpSpPr>
          <p:pic>
            <p:nvPicPr>
              <p:cNvPr id="10" name="Picture 6" descr="04-11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32411" y="782833"/>
                <a:ext cx="1956500" cy="14067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7" name="Group 6"/>
              <p:cNvGrpSpPr/>
              <p:nvPr/>
            </p:nvGrpSpPr>
            <p:grpSpPr>
              <a:xfrm>
                <a:off x="2867187" y="539877"/>
                <a:ext cx="2266223" cy="1433497"/>
                <a:chOff x="74408" y="1405840"/>
                <a:chExt cx="5769625" cy="3394760"/>
              </a:xfrm>
            </p:grpSpPr>
            <p:pic>
              <p:nvPicPr>
                <p:cNvPr id="8" name="Picture 6" descr="04-10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668" y="1981200"/>
                  <a:ext cx="5457365" cy="28194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9" name="TextBox 8"/>
                <p:cNvSpPr txBox="1"/>
                <p:nvPr/>
              </p:nvSpPr>
              <p:spPr>
                <a:xfrm>
                  <a:off x="74408" y="1405840"/>
                  <a:ext cx="2942601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Fig. Tanenbaum, Modern Operating Systems</a:t>
                  </a:r>
                </a:p>
              </p:txBody>
            </p:sp>
          </p:grpSp>
          <p:pic>
            <p:nvPicPr>
              <p:cNvPr id="12" name="Picture 2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289" y="782833"/>
                <a:ext cx="1816310" cy="22858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" name="Picture 6" descr="04-1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39977" y="782833"/>
                <a:ext cx="2405677" cy="2228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" name="TextBox 21"/>
            <p:cNvSpPr txBox="1"/>
            <p:nvPr/>
          </p:nvSpPr>
          <p:spPr>
            <a:xfrm>
              <a:off x="2867187" y="143148"/>
              <a:ext cx="3507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Need to keep track of where files are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984565" y="3000562"/>
            <a:ext cx="3545450" cy="3139573"/>
            <a:chOff x="2790385" y="2727671"/>
            <a:chExt cx="3545450" cy="3139573"/>
          </a:xfrm>
        </p:grpSpPr>
        <p:pic>
          <p:nvPicPr>
            <p:cNvPr id="16" name="Picture 5"/>
            <p:cNvPicPr>
              <a:picLocks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729" b="7203"/>
            <a:stretch/>
          </p:blipFill>
          <p:spPr bwMode="auto">
            <a:xfrm>
              <a:off x="2790385" y="3484592"/>
              <a:ext cx="2006340" cy="1901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5"/>
            <p:cNvPicPr>
              <a:picLocks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654" b="16373"/>
            <a:stretch/>
          </p:blipFill>
          <p:spPr bwMode="auto">
            <a:xfrm>
              <a:off x="4796725" y="2943886"/>
              <a:ext cx="1539110" cy="2923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" name="Rectangle 22"/>
            <p:cNvSpPr/>
            <p:nvPr/>
          </p:nvSpPr>
          <p:spPr>
            <a:xfrm>
              <a:off x="2840351" y="2727671"/>
              <a:ext cx="31130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Need to keep track of free space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429719" y="3603761"/>
            <a:ext cx="4239366" cy="2303676"/>
            <a:chOff x="7429719" y="3603761"/>
            <a:chExt cx="4239366" cy="2303676"/>
          </a:xfrm>
        </p:grpSpPr>
        <p:pic>
          <p:nvPicPr>
            <p:cNvPr id="26" name="Picture 25" descr="04-21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3861" y="4030618"/>
              <a:ext cx="3583838" cy="18768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angle 26"/>
            <p:cNvSpPr/>
            <p:nvPr/>
          </p:nvSpPr>
          <p:spPr>
            <a:xfrm>
              <a:off x="7429719" y="3603761"/>
              <a:ext cx="423936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Need to decide how to use secondary storage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61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15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886882" y="256801"/>
            <a:ext cx="5513304" cy="3052195"/>
            <a:chOff x="3289837" y="520268"/>
            <a:chExt cx="5513304" cy="3052195"/>
          </a:xfrm>
        </p:grpSpPr>
        <p:pic>
          <p:nvPicPr>
            <p:cNvPr id="7" name="Picture 103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9837" y="933243"/>
              <a:ext cx="3862631" cy="2639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3289837" y="520268"/>
              <a:ext cx="551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Need to communicate / exchange information with devices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54209" y="1056493"/>
            <a:ext cx="4033412" cy="3466211"/>
            <a:chOff x="7669708" y="1498195"/>
            <a:chExt cx="4033412" cy="3466211"/>
          </a:xfrm>
        </p:grpSpPr>
        <p:pic>
          <p:nvPicPr>
            <p:cNvPr id="9" name="Picture 4" descr="1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1183" y="1867527"/>
              <a:ext cx="3066028" cy="3096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7669708" y="1498195"/>
              <a:ext cx="403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Need good design to increase performance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712227" y="3538900"/>
            <a:ext cx="4822218" cy="2663523"/>
            <a:chOff x="2712227" y="3538900"/>
            <a:chExt cx="4822218" cy="2663523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4702" y="3951875"/>
              <a:ext cx="3363110" cy="2250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2712227" y="3538900"/>
              <a:ext cx="482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Need to separate applications’ and hardware’s 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706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Security / Protection</a:t>
            </a:r>
            <a:endParaRPr lang="en-US" sz="1900" dirty="0"/>
          </a:p>
          <a:p>
            <a:r>
              <a:rPr lang="en-US" sz="1900" dirty="0"/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16</a:t>
            </a:fld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3317052" y="806973"/>
            <a:ext cx="4612673" cy="4124804"/>
            <a:chOff x="3789663" y="1474793"/>
            <a:chExt cx="4612673" cy="4124804"/>
          </a:xfrm>
        </p:grpSpPr>
        <p:grpSp>
          <p:nvGrpSpPr>
            <p:cNvPr id="2" name="Group 1"/>
            <p:cNvGrpSpPr/>
            <p:nvPr/>
          </p:nvGrpSpPr>
          <p:grpSpPr>
            <a:xfrm>
              <a:off x="4254357" y="1986632"/>
              <a:ext cx="3406689" cy="3612965"/>
              <a:chOff x="4038600" y="1370183"/>
              <a:chExt cx="3406689" cy="3612965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4038600" y="1370183"/>
                <a:ext cx="3406689" cy="900339"/>
                <a:chOff x="5630410" y="2166265"/>
                <a:chExt cx="3406689" cy="900339"/>
              </a:xfrm>
            </p:grpSpPr>
            <p:grpSp>
              <p:nvGrpSpPr>
                <p:cNvPr id="8" name="Group 113"/>
                <p:cNvGrpSpPr>
                  <a:grpSpLocks/>
                </p:cNvGrpSpPr>
                <p:nvPr/>
              </p:nvGrpSpPr>
              <p:grpSpPr bwMode="auto">
                <a:xfrm>
                  <a:off x="5630410" y="2166265"/>
                  <a:ext cx="1500867" cy="900339"/>
                  <a:chOff x="321439" y="1780068"/>
                  <a:chExt cx="2629156" cy="1577494"/>
                </a:xfrm>
              </p:grpSpPr>
              <p:grpSp>
                <p:nvGrpSpPr>
                  <p:cNvPr id="10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321439" y="1780068"/>
                    <a:ext cx="2629156" cy="1577494"/>
                    <a:chOff x="871274" y="1465741"/>
                    <a:chExt cx="2629156" cy="157749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>
                      <a:off x="871274" y="1465741"/>
                      <a:ext cx="2629156" cy="1577494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964305">
                            <a:tint val="92000"/>
                            <a:satMod val="170000"/>
                          </a:srgbClr>
                        </a:gs>
                        <a:gs pos="15000">
                          <a:srgbClr val="964305">
                            <a:tint val="92000"/>
                            <a:shade val="99000"/>
                            <a:satMod val="170000"/>
                          </a:srgbClr>
                        </a:gs>
                        <a:gs pos="62000">
                          <a:srgbClr val="964305">
                            <a:tint val="96000"/>
                            <a:shade val="80000"/>
                            <a:satMod val="170000"/>
                          </a:srgbClr>
                        </a:gs>
                        <a:gs pos="97000">
                          <a:srgbClr val="964305">
                            <a:tint val="98000"/>
                            <a:shade val="63000"/>
                            <a:satMod val="170000"/>
                          </a:srgbClr>
                        </a:gs>
                        <a:gs pos="100000">
                          <a:srgbClr val="964305">
                            <a:shade val="62000"/>
                            <a:satMod val="17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964305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  <a:scene3d>
                      <a:camera prst="orthographicFront" fov="0">
                        <a:rot lat="0" lon="0" rev="0"/>
                      </a:camera>
                      <a:lightRig rig="brightRoom" dir="tl">
                        <a:rot lat="0" lon="0" rev="8700000"/>
                      </a:lightRig>
                    </a:scene3d>
                    <a:sp3d contourW="12700">
                      <a:bevelT w="0" h="0"/>
                      <a:contourClr>
                        <a:srgbClr val="964305">
                          <a:shade val="80000"/>
                        </a:srgbClr>
                      </a:contourClr>
                    </a:sp3d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sz="1200" kern="0">
                        <a:solidFill>
                          <a:sysClr val="window" lastClr="FFFFFF"/>
                        </a:solidFill>
                        <a:latin typeface="Gill Sans MT"/>
                      </a:endParaRPr>
                    </a:p>
                  </p:txBody>
                </p:sp>
                <p:sp>
                  <p:nvSpPr>
                    <p:cNvPr id="15" name="Rectangle 14"/>
                    <p:cNvSpPr/>
                    <p:nvPr/>
                  </p:nvSpPr>
                  <p:spPr>
                    <a:xfrm>
                      <a:off x="1285852" y="1714488"/>
                      <a:ext cx="1800000" cy="1080000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84AA33">
                            <a:tint val="92000"/>
                            <a:satMod val="170000"/>
                          </a:srgbClr>
                        </a:gs>
                        <a:gs pos="15000">
                          <a:srgbClr val="84AA33">
                            <a:tint val="92000"/>
                            <a:shade val="99000"/>
                            <a:satMod val="170000"/>
                          </a:srgbClr>
                        </a:gs>
                        <a:gs pos="62000">
                          <a:srgbClr val="84AA33">
                            <a:tint val="96000"/>
                            <a:shade val="80000"/>
                            <a:satMod val="170000"/>
                          </a:srgbClr>
                        </a:gs>
                        <a:gs pos="97000">
                          <a:srgbClr val="84AA33">
                            <a:tint val="98000"/>
                            <a:shade val="63000"/>
                            <a:satMod val="170000"/>
                          </a:srgbClr>
                        </a:gs>
                        <a:gs pos="100000">
                          <a:srgbClr val="84AA33">
                            <a:shade val="62000"/>
                            <a:satMod val="17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84AA33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  <a:scene3d>
                      <a:camera prst="orthographicFront" fov="0">
                        <a:rot lat="0" lon="0" rev="0"/>
                      </a:camera>
                      <a:lightRig rig="brightRoom" dir="tl">
                        <a:rot lat="0" lon="0" rev="8700000"/>
                      </a:lightRig>
                    </a:scene3d>
                    <a:sp3d contourW="12700">
                      <a:bevelT w="0" h="0"/>
                      <a:contourClr>
                        <a:srgbClr val="84AA33">
                          <a:shade val="80000"/>
                        </a:srgbClr>
                      </a:contourClr>
                    </a:sp3d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sz="1200" kern="0">
                        <a:solidFill>
                          <a:sysClr val="window" lastClr="FFFFFF"/>
                        </a:solidFill>
                        <a:latin typeface="Gill Sans MT"/>
                      </a:endParaRPr>
                    </a:p>
                  </p:txBody>
                </p:sp>
                <p:sp>
                  <p:nvSpPr>
                    <p:cNvPr id="16" name="Oval 15"/>
                    <p:cNvSpPr/>
                    <p:nvPr/>
                  </p:nvSpPr>
                  <p:spPr>
                    <a:xfrm>
                      <a:off x="1591852" y="2020488"/>
                      <a:ext cx="1188000" cy="468000"/>
                    </a:xfrm>
                    <a:prstGeom prst="ellipse">
                      <a:avLst/>
                    </a:prstGeom>
                    <a:gradFill rotWithShape="1">
                      <a:gsLst>
                        <a:gs pos="0">
                          <a:srgbClr val="475A8D">
                            <a:tint val="35000"/>
                            <a:satMod val="253000"/>
                          </a:srgbClr>
                        </a:gs>
                        <a:gs pos="50000">
                          <a:srgbClr val="475A8D">
                            <a:tint val="42000"/>
                            <a:satMod val="255000"/>
                          </a:srgbClr>
                        </a:gs>
                        <a:gs pos="97000">
                          <a:srgbClr val="475A8D">
                            <a:tint val="53000"/>
                            <a:satMod val="260000"/>
                          </a:srgbClr>
                        </a:gs>
                        <a:gs pos="100000">
                          <a:srgbClr val="475A8D">
                            <a:tint val="56000"/>
                            <a:satMod val="275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475A8D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1200" kern="0" dirty="0">
                          <a:solidFill>
                            <a:sysClr val="windowText" lastClr="000000"/>
                          </a:solidFill>
                          <a:latin typeface="Gill Sans MT"/>
                        </a:rPr>
                        <a:t>Data</a:t>
                      </a:r>
                    </a:p>
                  </p:txBody>
                </p:sp>
              </p:grpSp>
              <p:grpSp>
                <p:nvGrpSpPr>
                  <p:cNvPr id="11" name="Group 100"/>
                  <p:cNvGrpSpPr>
                    <a:grpSpLocks/>
                  </p:cNvGrpSpPr>
                  <p:nvPr/>
                </p:nvGrpSpPr>
                <p:grpSpPr bwMode="auto">
                  <a:xfrm>
                    <a:off x="1035819" y="2137259"/>
                    <a:ext cx="1500197" cy="1000132"/>
                    <a:chOff x="1035819" y="2137259"/>
                    <a:chExt cx="1500197" cy="1000132"/>
                  </a:xfrm>
                </p:grpSpPr>
                <p:cxnSp>
                  <p:nvCxnSpPr>
                    <p:cNvPr id="12" name="Straight Arrow Connector 11"/>
                    <p:cNvCxnSpPr>
                      <a:stCxn id="16" idx="7"/>
                    </p:cNvCxnSpPr>
                    <p:nvPr/>
                  </p:nvCxnSpPr>
                  <p:spPr>
                    <a:xfrm rot="5400000" flipH="1" flipV="1">
                      <a:off x="2162773" y="2030072"/>
                      <a:ext cx="266619" cy="480768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Straight Arrow Connector 12"/>
                    <p:cNvCxnSpPr/>
                    <p:nvPr/>
                  </p:nvCxnSpPr>
                  <p:spPr>
                    <a:xfrm rot="5400000">
                      <a:off x="924343" y="2844974"/>
                      <a:ext cx="403102" cy="180883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9" name="TextBox 81"/>
                <p:cNvSpPr txBox="1">
                  <a:spLocks noChangeArrowheads="1"/>
                </p:cNvSpPr>
                <p:nvPr/>
              </p:nvSpPr>
              <p:spPr bwMode="auto">
                <a:xfrm>
                  <a:off x="7178449" y="2391628"/>
                  <a:ext cx="1858650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cs typeface="Arial" charset="0"/>
                    </a:rPr>
                    <a:t>C</a:t>
                  </a:r>
                  <a:r>
                    <a:rPr lang="en-US" dirty="0">
                      <a:cs typeface="Arial" charset="0"/>
                    </a:rPr>
                    <a:t>onfidentiality</a:t>
                  </a: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4038600" y="3856366"/>
                <a:ext cx="3011068" cy="1126782"/>
                <a:chOff x="5630410" y="4910251"/>
                <a:chExt cx="3011068" cy="1126782"/>
              </a:xfrm>
            </p:grpSpPr>
            <p:grpSp>
              <p:nvGrpSpPr>
                <p:cNvPr id="18" name="Group 115"/>
                <p:cNvGrpSpPr>
                  <a:grpSpLocks/>
                </p:cNvGrpSpPr>
                <p:nvPr/>
              </p:nvGrpSpPr>
              <p:grpSpPr bwMode="auto">
                <a:xfrm>
                  <a:off x="5630410" y="4910251"/>
                  <a:ext cx="1500866" cy="1126782"/>
                  <a:chOff x="6193405" y="1774210"/>
                  <a:chExt cx="2629156" cy="1973593"/>
                </a:xfrm>
              </p:grpSpPr>
              <p:grpSp>
                <p:nvGrpSpPr>
                  <p:cNvPr id="20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6193405" y="1774210"/>
                    <a:ext cx="2629156" cy="1577494"/>
                    <a:chOff x="871274" y="1465741"/>
                    <a:chExt cx="2629156" cy="1577494"/>
                  </a:xfrm>
                </p:grpSpPr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871274" y="1465741"/>
                      <a:ext cx="2629156" cy="1577494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964305">
                            <a:tint val="92000"/>
                            <a:satMod val="170000"/>
                          </a:srgbClr>
                        </a:gs>
                        <a:gs pos="15000">
                          <a:srgbClr val="964305">
                            <a:tint val="92000"/>
                            <a:shade val="99000"/>
                            <a:satMod val="170000"/>
                          </a:srgbClr>
                        </a:gs>
                        <a:gs pos="62000">
                          <a:srgbClr val="964305">
                            <a:tint val="96000"/>
                            <a:shade val="80000"/>
                            <a:satMod val="170000"/>
                          </a:srgbClr>
                        </a:gs>
                        <a:gs pos="97000">
                          <a:srgbClr val="964305">
                            <a:tint val="98000"/>
                            <a:shade val="63000"/>
                            <a:satMod val="170000"/>
                          </a:srgbClr>
                        </a:gs>
                        <a:gs pos="100000">
                          <a:srgbClr val="964305">
                            <a:shade val="62000"/>
                            <a:satMod val="17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964305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  <a:scene3d>
                      <a:camera prst="orthographicFront" fov="0">
                        <a:rot lat="0" lon="0" rev="0"/>
                      </a:camera>
                      <a:lightRig rig="brightRoom" dir="tl">
                        <a:rot lat="0" lon="0" rev="8700000"/>
                      </a:lightRig>
                    </a:scene3d>
                    <a:sp3d contourW="12700">
                      <a:bevelT w="0" h="0"/>
                      <a:contourClr>
                        <a:srgbClr val="964305">
                          <a:shade val="80000"/>
                        </a:srgbClr>
                      </a:contourClr>
                    </a:sp3d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sz="1200" kern="0">
                        <a:solidFill>
                          <a:sysClr val="window" lastClr="FFFFFF"/>
                        </a:solidFill>
                        <a:latin typeface="Gill Sans MT"/>
                      </a:endParaRPr>
                    </a:p>
                  </p:txBody>
                </p:sp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1285852" y="1714488"/>
                      <a:ext cx="1800000" cy="1080000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84AA33">
                            <a:tint val="92000"/>
                            <a:satMod val="170000"/>
                          </a:srgbClr>
                        </a:gs>
                        <a:gs pos="15000">
                          <a:srgbClr val="84AA33">
                            <a:tint val="92000"/>
                            <a:shade val="99000"/>
                            <a:satMod val="170000"/>
                          </a:srgbClr>
                        </a:gs>
                        <a:gs pos="62000">
                          <a:srgbClr val="84AA33">
                            <a:tint val="96000"/>
                            <a:shade val="80000"/>
                            <a:satMod val="170000"/>
                          </a:srgbClr>
                        </a:gs>
                        <a:gs pos="97000">
                          <a:srgbClr val="84AA33">
                            <a:tint val="98000"/>
                            <a:shade val="63000"/>
                            <a:satMod val="170000"/>
                          </a:srgbClr>
                        </a:gs>
                        <a:gs pos="100000">
                          <a:srgbClr val="84AA33">
                            <a:shade val="62000"/>
                            <a:satMod val="17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84AA33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  <a:scene3d>
                      <a:camera prst="orthographicFront" fov="0">
                        <a:rot lat="0" lon="0" rev="0"/>
                      </a:camera>
                      <a:lightRig rig="brightRoom" dir="tl">
                        <a:rot lat="0" lon="0" rev="8700000"/>
                      </a:lightRig>
                    </a:scene3d>
                    <a:sp3d contourW="12700">
                      <a:bevelT w="0" h="0"/>
                      <a:contourClr>
                        <a:srgbClr val="84AA33">
                          <a:shade val="80000"/>
                        </a:srgbClr>
                      </a:contourClr>
                    </a:sp3d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sz="1200" kern="0">
                        <a:solidFill>
                          <a:sysClr val="window" lastClr="FFFFFF"/>
                        </a:solidFill>
                        <a:latin typeface="Gill Sans MT"/>
                      </a:endParaRPr>
                    </a:p>
                  </p:txBody>
                </p:sp>
                <p:sp>
                  <p:nvSpPr>
                    <p:cNvPr id="27" name="Oval 26"/>
                    <p:cNvSpPr/>
                    <p:nvPr/>
                  </p:nvSpPr>
                  <p:spPr>
                    <a:xfrm>
                      <a:off x="1591852" y="2020488"/>
                      <a:ext cx="1188000" cy="468000"/>
                    </a:xfrm>
                    <a:prstGeom prst="ellipse">
                      <a:avLst/>
                    </a:prstGeom>
                    <a:gradFill rotWithShape="1">
                      <a:gsLst>
                        <a:gs pos="0">
                          <a:srgbClr val="475A8D">
                            <a:tint val="35000"/>
                            <a:satMod val="253000"/>
                          </a:srgbClr>
                        </a:gs>
                        <a:gs pos="50000">
                          <a:srgbClr val="475A8D">
                            <a:tint val="42000"/>
                            <a:satMod val="255000"/>
                          </a:srgbClr>
                        </a:gs>
                        <a:gs pos="97000">
                          <a:srgbClr val="475A8D">
                            <a:tint val="53000"/>
                            <a:satMod val="260000"/>
                          </a:srgbClr>
                        </a:gs>
                        <a:gs pos="100000">
                          <a:srgbClr val="475A8D">
                            <a:tint val="56000"/>
                            <a:satMod val="275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475A8D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1200" kern="0" dirty="0">
                          <a:solidFill>
                            <a:sysClr val="windowText" lastClr="000000"/>
                          </a:solidFill>
                          <a:latin typeface="Gill Sans MT"/>
                        </a:rPr>
                        <a:t>Data</a:t>
                      </a:r>
                    </a:p>
                  </p:txBody>
                </p:sp>
              </p:grpSp>
              <p:sp useBgFill="1">
                <p:nvSpPr>
                  <p:cNvPr id="21" name="Rectangle 20"/>
                  <p:cNvSpPr/>
                  <p:nvPr/>
                </p:nvSpPr>
                <p:spPr>
                  <a:xfrm>
                    <a:off x="7292985" y="3105275"/>
                    <a:ext cx="429995" cy="64252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>
                      <a:defRPr/>
                    </a:pPr>
                    <a:endParaRPr lang="en-US" sz="1200"/>
                  </a:p>
                </p:txBody>
              </p:sp>
              <p:grpSp>
                <p:nvGrpSpPr>
                  <p:cNvPr id="22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7436148" y="2857496"/>
                    <a:ext cx="143670" cy="576046"/>
                    <a:chOff x="7478130" y="3643314"/>
                    <a:chExt cx="143670" cy="576046"/>
                  </a:xfrm>
                </p:grpSpPr>
                <p:cxnSp>
                  <p:nvCxnSpPr>
                    <p:cNvPr id="23" name="Straight Arrow Connector 22"/>
                    <p:cNvCxnSpPr/>
                    <p:nvPr/>
                  </p:nvCxnSpPr>
                  <p:spPr>
                    <a:xfrm rot="5400000">
                      <a:off x="7192996" y="3928375"/>
                      <a:ext cx="571136" cy="1587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Arrow Connector 23"/>
                    <p:cNvCxnSpPr/>
                    <p:nvPr/>
                  </p:nvCxnSpPr>
                  <p:spPr>
                    <a:xfrm rot="16200000" flipV="1">
                      <a:off x="7335798" y="3933134"/>
                      <a:ext cx="571136" cy="1587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9" name="TextBox 82"/>
                <p:cNvSpPr txBox="1">
                  <a:spLocks noChangeArrowheads="1"/>
                </p:cNvSpPr>
                <p:nvPr/>
              </p:nvSpPr>
              <p:spPr bwMode="auto">
                <a:xfrm>
                  <a:off x="7178449" y="5146155"/>
                  <a:ext cx="1463029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cs typeface="Arial" charset="0"/>
                    </a:rPr>
                    <a:t>A</a:t>
                  </a:r>
                  <a:r>
                    <a:rPr lang="en-US" dirty="0">
                      <a:cs typeface="Arial" charset="0"/>
                    </a:rPr>
                    <a:t>vailability</a:t>
                  </a:r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4038600" y="2450536"/>
                <a:ext cx="2767091" cy="1182034"/>
                <a:chOff x="5630410" y="3217792"/>
                <a:chExt cx="2767091" cy="1182034"/>
              </a:xfrm>
            </p:grpSpPr>
            <p:grpSp>
              <p:nvGrpSpPr>
                <p:cNvPr id="29" name="Group 114"/>
                <p:cNvGrpSpPr>
                  <a:grpSpLocks/>
                </p:cNvGrpSpPr>
                <p:nvPr/>
              </p:nvGrpSpPr>
              <p:grpSpPr bwMode="auto">
                <a:xfrm>
                  <a:off x="5630410" y="3217792"/>
                  <a:ext cx="1499961" cy="1182034"/>
                  <a:chOff x="3257422" y="1285860"/>
                  <a:chExt cx="2629156" cy="2071702"/>
                </a:xfrm>
              </p:grpSpPr>
              <p:grpSp>
                <p:nvGrpSpPr>
                  <p:cNvPr id="31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3257422" y="1780068"/>
                    <a:ext cx="2629156" cy="1577494"/>
                    <a:chOff x="871274" y="1465741"/>
                    <a:chExt cx="2629156" cy="1577494"/>
                  </a:xfrm>
                </p:grpSpPr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871274" y="1465741"/>
                      <a:ext cx="2629156" cy="1577494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964305">
                            <a:tint val="92000"/>
                            <a:satMod val="170000"/>
                          </a:srgbClr>
                        </a:gs>
                        <a:gs pos="15000">
                          <a:srgbClr val="964305">
                            <a:tint val="92000"/>
                            <a:shade val="99000"/>
                            <a:satMod val="170000"/>
                          </a:srgbClr>
                        </a:gs>
                        <a:gs pos="62000">
                          <a:srgbClr val="964305">
                            <a:tint val="96000"/>
                            <a:shade val="80000"/>
                            <a:satMod val="170000"/>
                          </a:srgbClr>
                        </a:gs>
                        <a:gs pos="97000">
                          <a:srgbClr val="964305">
                            <a:tint val="98000"/>
                            <a:shade val="63000"/>
                            <a:satMod val="170000"/>
                          </a:srgbClr>
                        </a:gs>
                        <a:gs pos="100000">
                          <a:srgbClr val="964305">
                            <a:shade val="62000"/>
                            <a:satMod val="17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964305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  <a:scene3d>
                      <a:camera prst="orthographicFront" fov="0">
                        <a:rot lat="0" lon="0" rev="0"/>
                      </a:camera>
                      <a:lightRig rig="brightRoom" dir="tl">
                        <a:rot lat="0" lon="0" rev="8700000"/>
                      </a:lightRig>
                    </a:scene3d>
                    <a:sp3d contourW="12700">
                      <a:bevelT w="0" h="0"/>
                      <a:contourClr>
                        <a:srgbClr val="964305">
                          <a:shade val="80000"/>
                        </a:srgbClr>
                      </a:contourClr>
                    </a:sp3d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sz="1200" kern="0">
                        <a:solidFill>
                          <a:sysClr val="window" lastClr="FFFFFF"/>
                        </a:solidFill>
                        <a:latin typeface="Gill Sans MT"/>
                      </a:endParaRPr>
                    </a:p>
                  </p:txBody>
                </p:sp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1285852" y="1714488"/>
                      <a:ext cx="1800000" cy="1080000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84AA33">
                            <a:tint val="92000"/>
                            <a:satMod val="170000"/>
                          </a:srgbClr>
                        </a:gs>
                        <a:gs pos="15000">
                          <a:srgbClr val="84AA33">
                            <a:tint val="92000"/>
                            <a:shade val="99000"/>
                            <a:satMod val="170000"/>
                          </a:srgbClr>
                        </a:gs>
                        <a:gs pos="62000">
                          <a:srgbClr val="84AA33">
                            <a:tint val="96000"/>
                            <a:shade val="80000"/>
                            <a:satMod val="170000"/>
                          </a:srgbClr>
                        </a:gs>
                        <a:gs pos="97000">
                          <a:srgbClr val="84AA33">
                            <a:tint val="98000"/>
                            <a:shade val="63000"/>
                            <a:satMod val="170000"/>
                          </a:srgbClr>
                        </a:gs>
                        <a:gs pos="100000">
                          <a:srgbClr val="84AA33">
                            <a:shade val="62000"/>
                            <a:satMod val="17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84AA33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  <a:scene3d>
                      <a:camera prst="orthographicFront" fov="0">
                        <a:rot lat="0" lon="0" rev="0"/>
                      </a:camera>
                      <a:lightRig rig="brightRoom" dir="tl">
                        <a:rot lat="0" lon="0" rev="8700000"/>
                      </a:lightRig>
                    </a:scene3d>
                    <a:sp3d contourW="12700">
                      <a:bevelT w="0" h="0"/>
                      <a:contourClr>
                        <a:srgbClr val="84AA33">
                          <a:shade val="80000"/>
                        </a:srgbClr>
                      </a:contourClr>
                    </a:sp3d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sz="1200" kern="0">
                        <a:solidFill>
                          <a:sysClr val="window" lastClr="FFFFFF"/>
                        </a:solidFill>
                        <a:latin typeface="Gill Sans MT"/>
                      </a:endParaRPr>
                    </a:p>
                  </p:txBody>
                </p:sp>
                <p:sp>
                  <p:nvSpPr>
                    <p:cNvPr id="43" name="Oval 42"/>
                    <p:cNvSpPr/>
                    <p:nvPr/>
                  </p:nvSpPr>
                  <p:spPr>
                    <a:xfrm>
                      <a:off x="1591852" y="2020488"/>
                      <a:ext cx="1188000" cy="468000"/>
                    </a:xfrm>
                    <a:prstGeom prst="ellipse">
                      <a:avLst/>
                    </a:prstGeom>
                    <a:gradFill rotWithShape="1">
                      <a:gsLst>
                        <a:gs pos="0">
                          <a:srgbClr val="475A8D">
                            <a:tint val="35000"/>
                            <a:satMod val="253000"/>
                          </a:srgbClr>
                        </a:gs>
                        <a:gs pos="50000">
                          <a:srgbClr val="475A8D">
                            <a:tint val="42000"/>
                            <a:satMod val="255000"/>
                          </a:srgbClr>
                        </a:gs>
                        <a:gs pos="97000">
                          <a:srgbClr val="475A8D">
                            <a:tint val="53000"/>
                            <a:satMod val="260000"/>
                          </a:srgbClr>
                        </a:gs>
                        <a:gs pos="100000">
                          <a:srgbClr val="475A8D">
                            <a:tint val="56000"/>
                            <a:satMod val="275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9525" cap="flat" cmpd="sng" algn="ctr">
                      <a:solidFill>
                        <a:srgbClr val="475A8D"/>
                      </a:solidFill>
                      <a:prstDash val="solid"/>
                    </a:ln>
                    <a:effectLst>
                      <a:outerShdw blurRad="63500" dist="25400" dir="5400000" rotWithShape="0">
                        <a:srgbClr val="000000">
                          <a:alpha val="43137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1200" kern="0" dirty="0">
                          <a:solidFill>
                            <a:sysClr val="windowText" lastClr="000000"/>
                          </a:solidFill>
                          <a:latin typeface="Gill Sans MT"/>
                        </a:rPr>
                        <a:t>Data</a:t>
                      </a:r>
                    </a:p>
                  </p:txBody>
                </p:sp>
              </p:grpSp>
              <p:grpSp>
                <p:nvGrpSpPr>
                  <p:cNvPr id="32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3929058" y="1285860"/>
                    <a:ext cx="1357322" cy="428628"/>
                    <a:chOff x="3929058" y="1285860"/>
                    <a:chExt cx="1357322" cy="428628"/>
                  </a:xfrm>
                </p:grpSpPr>
                <p:grpSp>
                  <p:nvGrpSpPr>
                    <p:cNvPr id="33" name="Group 7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29058" y="1285860"/>
                      <a:ext cx="357190" cy="428628"/>
                      <a:chOff x="3643306" y="2071678"/>
                      <a:chExt cx="357190" cy="428628"/>
                    </a:xfrm>
                  </p:grpSpPr>
                  <p:cxnSp>
                    <p:nvCxnSpPr>
                      <p:cNvPr id="38" name="Straight Arrow Connector 37"/>
                      <p:cNvCxnSpPr/>
                      <p:nvPr/>
                    </p:nvCxnSpPr>
                    <p:spPr>
                      <a:xfrm rot="16200000" flipH="1">
                        <a:off x="3643261" y="2214541"/>
                        <a:ext cx="285752" cy="285778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Straight Connector 38"/>
                      <p:cNvCxnSpPr/>
                      <p:nvPr/>
                    </p:nvCxnSpPr>
                    <p:spPr>
                      <a:xfrm>
                        <a:off x="3643248" y="2214554"/>
                        <a:ext cx="357222" cy="71437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Straight Connector 39"/>
                      <p:cNvCxnSpPr/>
                      <p:nvPr/>
                    </p:nvCxnSpPr>
                    <p:spPr>
                      <a:xfrm rot="16200000" flipV="1">
                        <a:off x="3821869" y="2107390"/>
                        <a:ext cx="214313" cy="142889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4" name="Group 7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929190" y="1357298"/>
                      <a:ext cx="357190" cy="357190"/>
                      <a:chOff x="4643438" y="2143116"/>
                      <a:chExt cx="357190" cy="357190"/>
                    </a:xfrm>
                  </p:grpSpPr>
                  <p:cxnSp>
                    <p:nvCxnSpPr>
                      <p:cNvPr id="35" name="Straight Arrow Connector 34"/>
                      <p:cNvCxnSpPr/>
                      <p:nvPr/>
                    </p:nvCxnSpPr>
                    <p:spPr>
                      <a:xfrm rot="10800000" flipV="1">
                        <a:off x="4714914" y="2285991"/>
                        <a:ext cx="285778" cy="214314"/>
                      </a:xfrm>
                      <a:prstGeom prst="straightConnector1">
                        <a:avLst/>
                      </a:prstGeom>
                      <a:ln>
                        <a:tailEnd type="arrow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" name="Straight Connector 35"/>
                      <p:cNvCxnSpPr/>
                      <p:nvPr/>
                    </p:nvCxnSpPr>
                    <p:spPr>
                      <a:xfrm rot="10800000">
                        <a:off x="4643470" y="2285991"/>
                        <a:ext cx="357222" cy="0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Connector 36"/>
                      <p:cNvCxnSpPr/>
                      <p:nvPr/>
                    </p:nvCxnSpPr>
                    <p:spPr>
                      <a:xfrm flipV="1">
                        <a:off x="4643470" y="2143115"/>
                        <a:ext cx="357222" cy="142876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30" name="TextBox 83"/>
                <p:cNvSpPr txBox="1">
                  <a:spLocks noChangeArrowheads="1"/>
                </p:cNvSpPr>
                <p:nvPr/>
              </p:nvSpPr>
              <p:spPr bwMode="auto">
                <a:xfrm>
                  <a:off x="7178449" y="3774557"/>
                  <a:ext cx="1219052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cs typeface="Arial" charset="0"/>
                    </a:rPr>
                    <a:t>I</a:t>
                  </a:r>
                  <a:r>
                    <a:rPr lang="en-US" dirty="0">
                      <a:cs typeface="Arial" charset="0"/>
                    </a:rPr>
                    <a:t>ntegrity</a:t>
                  </a:r>
                </a:p>
              </p:txBody>
            </p:sp>
          </p:grpSp>
        </p:grpSp>
        <p:sp>
          <p:nvSpPr>
            <p:cNvPr id="44" name="TextBox 43"/>
            <p:cNvSpPr txBox="1"/>
            <p:nvPr/>
          </p:nvSpPr>
          <p:spPr>
            <a:xfrm>
              <a:off x="3789663" y="1474793"/>
              <a:ext cx="4612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need mechanisms to protect and share data…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7976897" y="1089167"/>
            <a:ext cx="3695588" cy="5276899"/>
            <a:chOff x="7976897" y="1089167"/>
            <a:chExt cx="3695588" cy="5276899"/>
          </a:xfrm>
        </p:grpSpPr>
        <p:grpSp>
          <p:nvGrpSpPr>
            <p:cNvPr id="46" name="Group 45"/>
            <p:cNvGrpSpPr/>
            <p:nvPr/>
          </p:nvGrpSpPr>
          <p:grpSpPr>
            <a:xfrm>
              <a:off x="8153400" y="1768981"/>
              <a:ext cx="2015870" cy="4597085"/>
              <a:chOff x="6670072" y="1355185"/>
              <a:chExt cx="2394728" cy="5461051"/>
            </a:xfrm>
          </p:grpSpPr>
          <p:sp>
            <p:nvSpPr>
              <p:cNvPr id="47" name="Rectangle 48"/>
              <p:cNvSpPr>
                <a:spLocks noChangeArrowheads="1"/>
              </p:cNvSpPr>
              <p:nvPr/>
            </p:nvSpPr>
            <p:spPr bwMode="auto">
              <a:xfrm>
                <a:off x="7475040" y="5502818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solidFill>
                    <a:prstClr val="black"/>
                  </a:solidFill>
                  <a:latin typeface="Arial" pitchFamily="34" charset="0"/>
                  <a:ea typeface="+mn-ea"/>
                </a:endParaRPr>
              </a:p>
            </p:txBody>
          </p:sp>
          <p:sp>
            <p:nvSpPr>
              <p:cNvPr id="48" name="Rectangle 4"/>
              <p:cNvSpPr>
                <a:spLocks noChangeArrowheads="1"/>
              </p:cNvSpPr>
              <p:nvPr/>
            </p:nvSpPr>
            <p:spPr bwMode="auto">
              <a:xfrm>
                <a:off x="7475040" y="2392092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7475040" y="2737728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0" name="Rectangle 6"/>
              <p:cNvSpPr>
                <a:spLocks noChangeArrowheads="1"/>
              </p:cNvSpPr>
              <p:nvPr/>
            </p:nvSpPr>
            <p:spPr bwMode="auto">
              <a:xfrm>
                <a:off x="7475040" y="3083364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1" name="Rectangle 7"/>
              <p:cNvSpPr>
                <a:spLocks noChangeArrowheads="1"/>
              </p:cNvSpPr>
              <p:nvPr/>
            </p:nvSpPr>
            <p:spPr bwMode="auto">
              <a:xfrm>
                <a:off x="7475040" y="3429001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2" name="Rectangle 8"/>
              <p:cNvSpPr>
                <a:spLocks noChangeArrowheads="1"/>
              </p:cNvSpPr>
              <p:nvPr/>
            </p:nvSpPr>
            <p:spPr bwMode="auto">
              <a:xfrm>
                <a:off x="7475040" y="3774637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3" name="Rectangle 9"/>
              <p:cNvSpPr>
                <a:spLocks noChangeArrowheads="1"/>
              </p:cNvSpPr>
              <p:nvPr/>
            </p:nvSpPr>
            <p:spPr bwMode="auto">
              <a:xfrm>
                <a:off x="7475040" y="5157182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4" name="Rectangle 11"/>
              <p:cNvSpPr>
                <a:spLocks noChangeArrowheads="1"/>
              </p:cNvSpPr>
              <p:nvPr/>
            </p:nvSpPr>
            <p:spPr bwMode="auto">
              <a:xfrm>
                <a:off x="7475040" y="5848455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solidFill>
                    <a:prstClr val="black"/>
                  </a:solidFill>
                  <a:latin typeface="Arial" pitchFamily="34" charset="0"/>
                  <a:ea typeface="+mn-ea"/>
                </a:endParaRPr>
              </a:p>
            </p:txBody>
          </p:sp>
          <p:sp>
            <p:nvSpPr>
              <p:cNvPr id="55" name="Rectangle 12"/>
              <p:cNvSpPr>
                <a:spLocks noChangeArrowheads="1"/>
              </p:cNvSpPr>
              <p:nvPr/>
            </p:nvSpPr>
            <p:spPr bwMode="auto">
              <a:xfrm>
                <a:off x="7475040" y="6194091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solidFill>
                    <a:prstClr val="black"/>
                  </a:solidFill>
                  <a:latin typeface="Arial" pitchFamily="34" charset="0"/>
                  <a:ea typeface="+mn-ea"/>
                </a:endParaRPr>
              </a:p>
            </p:txBody>
          </p:sp>
          <p:sp>
            <p:nvSpPr>
              <p:cNvPr id="56" name="Line 13"/>
              <p:cNvSpPr>
                <a:spLocks noChangeShapeType="1"/>
              </p:cNvSpPr>
              <p:nvPr/>
            </p:nvSpPr>
            <p:spPr bwMode="auto">
              <a:xfrm>
                <a:off x="7475040" y="1355185"/>
                <a:ext cx="0" cy="15899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lIns="82910" tIns="41455" rIns="82910" bIns="41455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7" name="Line 14"/>
              <p:cNvSpPr>
                <a:spLocks noChangeShapeType="1"/>
              </p:cNvSpPr>
              <p:nvPr/>
            </p:nvSpPr>
            <p:spPr bwMode="auto">
              <a:xfrm>
                <a:off x="8926560" y="1355185"/>
                <a:ext cx="0" cy="15899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lIns="82910" tIns="41455" rIns="82910" bIns="41455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8" name="Line 15"/>
              <p:cNvSpPr>
                <a:spLocks noChangeShapeType="1"/>
              </p:cNvSpPr>
              <p:nvPr/>
            </p:nvSpPr>
            <p:spPr bwMode="auto">
              <a:xfrm>
                <a:off x="8926560" y="5226309"/>
                <a:ext cx="0" cy="15899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lIns="82910" tIns="41455" rIns="82910" bIns="41455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9" name="Line 16"/>
              <p:cNvSpPr>
                <a:spLocks noChangeShapeType="1"/>
              </p:cNvSpPr>
              <p:nvPr/>
            </p:nvSpPr>
            <p:spPr bwMode="auto">
              <a:xfrm>
                <a:off x="7475040" y="5226309"/>
                <a:ext cx="0" cy="15899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lIns="82910" tIns="41455" rIns="82910" bIns="41455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grpSp>
            <p:nvGrpSpPr>
              <p:cNvPr id="60" name="Group 17"/>
              <p:cNvGrpSpPr>
                <a:grpSpLocks/>
              </p:cNvGrpSpPr>
              <p:nvPr/>
            </p:nvGrpSpPr>
            <p:grpSpPr bwMode="auto">
              <a:xfrm>
                <a:off x="7336800" y="4120273"/>
                <a:ext cx="276480" cy="760400"/>
                <a:chOff x="5095" y="3101"/>
                <a:chExt cx="192" cy="528"/>
              </a:xfrm>
            </p:grpSpPr>
            <p:sp>
              <p:nvSpPr>
                <p:cNvPr id="86" name="Line 18"/>
                <p:cNvSpPr>
                  <a:spLocks noChangeShapeType="1"/>
                </p:cNvSpPr>
                <p:nvPr/>
              </p:nvSpPr>
              <p:spPr bwMode="auto">
                <a:xfrm>
                  <a:off x="5191" y="3101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7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5095" y="3293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8" name="Line 20"/>
                <p:cNvSpPr>
                  <a:spLocks noChangeShapeType="1"/>
                </p:cNvSpPr>
                <p:nvPr/>
              </p:nvSpPr>
              <p:spPr bwMode="auto">
                <a:xfrm>
                  <a:off x="5095" y="3341"/>
                  <a:ext cx="192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9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5191" y="3389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90" name="Line 22"/>
                <p:cNvSpPr>
                  <a:spLocks noChangeShapeType="1"/>
                </p:cNvSpPr>
                <p:nvPr/>
              </p:nvSpPr>
              <p:spPr bwMode="auto">
                <a:xfrm>
                  <a:off x="5191" y="348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91" name="Line 23"/>
                <p:cNvSpPr>
                  <a:spLocks noChangeShapeType="1"/>
                </p:cNvSpPr>
                <p:nvPr/>
              </p:nvSpPr>
              <p:spPr bwMode="auto">
                <a:xfrm>
                  <a:off x="5191" y="3437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</p:grpSp>
          <p:grpSp>
            <p:nvGrpSpPr>
              <p:cNvPr id="61" name="Group 24"/>
              <p:cNvGrpSpPr>
                <a:grpSpLocks/>
              </p:cNvGrpSpPr>
              <p:nvPr/>
            </p:nvGrpSpPr>
            <p:grpSpPr bwMode="auto">
              <a:xfrm>
                <a:off x="8788320" y="4120273"/>
                <a:ext cx="276480" cy="760400"/>
                <a:chOff x="5095" y="3101"/>
                <a:chExt cx="192" cy="528"/>
              </a:xfrm>
            </p:grpSpPr>
            <p:sp>
              <p:nvSpPr>
                <p:cNvPr id="80" name="Line 25"/>
                <p:cNvSpPr>
                  <a:spLocks noChangeShapeType="1"/>
                </p:cNvSpPr>
                <p:nvPr/>
              </p:nvSpPr>
              <p:spPr bwMode="auto">
                <a:xfrm>
                  <a:off x="5191" y="3101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1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5095" y="3293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2" name="Line 27"/>
                <p:cNvSpPr>
                  <a:spLocks noChangeShapeType="1"/>
                </p:cNvSpPr>
                <p:nvPr/>
              </p:nvSpPr>
              <p:spPr bwMode="auto">
                <a:xfrm>
                  <a:off x="5095" y="3341"/>
                  <a:ext cx="192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3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5191" y="3389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4" name="Line 29"/>
                <p:cNvSpPr>
                  <a:spLocks noChangeShapeType="1"/>
                </p:cNvSpPr>
                <p:nvPr/>
              </p:nvSpPr>
              <p:spPr bwMode="auto">
                <a:xfrm>
                  <a:off x="5191" y="348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85" name="Line 30"/>
                <p:cNvSpPr>
                  <a:spLocks noChangeShapeType="1"/>
                </p:cNvSpPr>
                <p:nvPr/>
              </p:nvSpPr>
              <p:spPr bwMode="auto">
                <a:xfrm>
                  <a:off x="5191" y="3437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nl-NL" sz="14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</p:grpSp>
          <p:sp>
            <p:nvSpPr>
              <p:cNvPr id="62" name="Text Box 31"/>
              <p:cNvSpPr txBox="1">
                <a:spLocks noChangeArrowheads="1"/>
              </p:cNvSpPr>
              <p:nvPr/>
            </p:nvSpPr>
            <p:spPr bwMode="auto">
              <a:xfrm>
                <a:off x="7031519" y="3807765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200</a:t>
                </a:r>
              </a:p>
            </p:txBody>
          </p:sp>
          <p:sp>
            <p:nvSpPr>
              <p:cNvPr id="63" name="Text Box 32"/>
              <p:cNvSpPr txBox="1">
                <a:spLocks noChangeArrowheads="1"/>
              </p:cNvSpPr>
              <p:nvPr/>
            </p:nvSpPr>
            <p:spPr bwMode="auto">
              <a:xfrm>
                <a:off x="7017120" y="3429002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201</a:t>
                </a:r>
              </a:p>
            </p:txBody>
          </p:sp>
          <p:sp>
            <p:nvSpPr>
              <p:cNvPr id="64" name="Text Box 33"/>
              <p:cNvSpPr txBox="1">
                <a:spLocks noChangeArrowheads="1"/>
              </p:cNvSpPr>
              <p:nvPr/>
            </p:nvSpPr>
            <p:spPr bwMode="auto">
              <a:xfrm>
                <a:off x="7017120" y="3096330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202</a:t>
                </a:r>
              </a:p>
            </p:txBody>
          </p:sp>
          <p:sp>
            <p:nvSpPr>
              <p:cNvPr id="65" name="Text Box 34"/>
              <p:cNvSpPr txBox="1">
                <a:spLocks noChangeArrowheads="1"/>
              </p:cNvSpPr>
              <p:nvPr/>
            </p:nvSpPr>
            <p:spPr bwMode="auto">
              <a:xfrm>
                <a:off x="7017120" y="2737728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203</a:t>
                </a:r>
              </a:p>
            </p:txBody>
          </p:sp>
          <p:sp>
            <p:nvSpPr>
              <p:cNvPr id="66" name="Text Box 35"/>
              <p:cNvSpPr txBox="1">
                <a:spLocks noChangeArrowheads="1"/>
              </p:cNvSpPr>
              <p:nvPr/>
            </p:nvSpPr>
            <p:spPr bwMode="auto">
              <a:xfrm>
                <a:off x="7017120" y="2392096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204</a:t>
                </a:r>
              </a:p>
            </p:txBody>
          </p:sp>
          <p:sp>
            <p:nvSpPr>
              <p:cNvPr id="67" name="Text Box 36"/>
              <p:cNvSpPr txBox="1">
                <a:spLocks noChangeArrowheads="1"/>
              </p:cNvSpPr>
              <p:nvPr/>
            </p:nvSpPr>
            <p:spPr bwMode="auto">
              <a:xfrm>
                <a:off x="7031519" y="6227218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100</a:t>
                </a:r>
              </a:p>
            </p:txBody>
          </p:sp>
          <p:sp>
            <p:nvSpPr>
              <p:cNvPr id="68" name="Text Box 37"/>
              <p:cNvSpPr txBox="1">
                <a:spLocks noChangeArrowheads="1"/>
              </p:cNvSpPr>
              <p:nvPr/>
            </p:nvSpPr>
            <p:spPr bwMode="auto">
              <a:xfrm>
                <a:off x="7017120" y="5848458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101</a:t>
                </a:r>
              </a:p>
            </p:txBody>
          </p:sp>
          <p:sp>
            <p:nvSpPr>
              <p:cNvPr id="69" name="Text Box 38"/>
              <p:cNvSpPr txBox="1">
                <a:spLocks noChangeArrowheads="1"/>
              </p:cNvSpPr>
              <p:nvPr/>
            </p:nvSpPr>
            <p:spPr bwMode="auto">
              <a:xfrm>
                <a:off x="7017120" y="5515784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102</a:t>
                </a:r>
              </a:p>
            </p:txBody>
          </p:sp>
          <p:sp>
            <p:nvSpPr>
              <p:cNvPr id="70" name="Text Box 39"/>
              <p:cNvSpPr txBox="1">
                <a:spLocks noChangeArrowheads="1"/>
              </p:cNvSpPr>
              <p:nvPr/>
            </p:nvSpPr>
            <p:spPr bwMode="auto">
              <a:xfrm>
                <a:off x="7017120" y="5157182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103</a:t>
                </a:r>
              </a:p>
            </p:txBody>
          </p:sp>
          <p:sp>
            <p:nvSpPr>
              <p:cNvPr id="71" name="Text Box 40"/>
              <p:cNvSpPr txBox="1">
                <a:spLocks noChangeArrowheads="1"/>
              </p:cNvSpPr>
              <p:nvPr/>
            </p:nvSpPr>
            <p:spPr bwMode="auto">
              <a:xfrm>
                <a:off x="7195679" y="6227218"/>
                <a:ext cx="198984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solidFill>
                    <a:prstClr val="black"/>
                  </a:solidFill>
                  <a:latin typeface="Arial" pitchFamily="34" charset="0"/>
                  <a:ea typeface="+mn-ea"/>
                </a:endParaRPr>
              </a:p>
            </p:txBody>
          </p:sp>
          <p:grpSp>
            <p:nvGrpSpPr>
              <p:cNvPr id="72" name="Group 45"/>
              <p:cNvGrpSpPr>
                <a:grpSpLocks/>
              </p:cNvGrpSpPr>
              <p:nvPr/>
            </p:nvGrpSpPr>
            <p:grpSpPr bwMode="auto">
              <a:xfrm>
                <a:off x="6670072" y="2955192"/>
                <a:ext cx="371520" cy="2972472"/>
                <a:chOff x="4632" y="2052"/>
                <a:chExt cx="258" cy="2064"/>
              </a:xfrm>
            </p:grpSpPr>
            <p:sp>
              <p:nvSpPr>
                <p:cNvPr id="78" name="Text Box 41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4617" y="3843"/>
                  <a:ext cx="292" cy="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400">
                      <a:solidFill>
                        <a:srgbClr val="FF0000"/>
                      </a:solidFill>
                      <a:latin typeface="Arial" pitchFamily="34" charset="0"/>
                      <a:ea typeface="+mn-ea"/>
                    </a:rPr>
                    <a:t>IE</a:t>
                  </a:r>
                </a:p>
              </p:txBody>
            </p:sp>
            <p:sp>
              <p:nvSpPr>
                <p:cNvPr id="79" name="Text Box 42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4432" y="2252"/>
                  <a:ext cx="653" cy="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400">
                      <a:solidFill>
                        <a:srgbClr val="FF0000"/>
                      </a:solidFill>
                      <a:latin typeface="Arial" pitchFamily="34" charset="0"/>
                      <a:ea typeface="+mn-ea"/>
                    </a:rPr>
                    <a:t>getURL</a:t>
                  </a:r>
                </a:p>
              </p:txBody>
            </p:sp>
          </p:grpSp>
          <p:sp>
            <p:nvSpPr>
              <p:cNvPr id="73" name="Rectangle 43"/>
              <p:cNvSpPr>
                <a:spLocks noChangeArrowheads="1"/>
              </p:cNvSpPr>
              <p:nvPr/>
            </p:nvSpPr>
            <p:spPr bwMode="auto">
              <a:xfrm>
                <a:off x="7475040" y="4811546"/>
                <a:ext cx="1451520" cy="34563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nl-NL" sz="14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74" name="Text Box 44"/>
              <p:cNvSpPr txBox="1">
                <a:spLocks noChangeArrowheads="1"/>
              </p:cNvSpPr>
              <p:nvPr/>
            </p:nvSpPr>
            <p:spPr bwMode="auto">
              <a:xfrm>
                <a:off x="7017120" y="4811549"/>
                <a:ext cx="501686" cy="31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2910" tIns="41455" rIns="82910" bIns="41455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rPr>
                  <a:t>104</a:t>
                </a:r>
              </a:p>
            </p:txBody>
          </p:sp>
          <p:grpSp>
            <p:nvGrpSpPr>
              <p:cNvPr id="75" name="Group 47"/>
              <p:cNvGrpSpPr>
                <a:grpSpLocks/>
              </p:cNvGrpSpPr>
              <p:nvPr/>
            </p:nvGrpSpPr>
            <p:grpSpPr bwMode="auto">
              <a:xfrm>
                <a:off x="7475040" y="2392092"/>
                <a:ext cx="1451520" cy="3456363"/>
                <a:chOff x="5191" y="1661"/>
                <a:chExt cx="1008" cy="2400"/>
              </a:xfrm>
            </p:grpSpPr>
            <p:sp>
              <p:nvSpPr>
                <p:cNvPr id="76" name="Rectangle 10"/>
                <p:cNvSpPr>
                  <a:spLocks noChangeArrowheads="1"/>
                </p:cNvSpPr>
                <p:nvPr/>
              </p:nvSpPr>
              <p:spPr bwMode="auto">
                <a:xfrm>
                  <a:off x="5191" y="3821"/>
                  <a:ext cx="1008" cy="240"/>
                </a:xfrm>
                <a:prstGeom prst="rect">
                  <a:avLst/>
                </a:prstGeom>
                <a:solidFill>
                  <a:srgbClr val="CCE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200" dirty="0">
                      <a:solidFill>
                        <a:prstClr val="black"/>
                      </a:solidFill>
                      <a:latin typeface="Arial" pitchFamily="34" charset="0"/>
                      <a:ea typeface="+mn-ea"/>
                    </a:rPr>
                    <a:t>call </a:t>
                  </a:r>
                  <a:r>
                    <a:rPr lang="en-US" sz="1200" dirty="0" err="1">
                      <a:solidFill>
                        <a:prstClr val="black"/>
                      </a:solidFill>
                      <a:latin typeface="Arial" pitchFamily="34" charset="0"/>
                      <a:ea typeface="+mn-ea"/>
                    </a:rPr>
                    <a:t>getURL</a:t>
                  </a:r>
                  <a:endParaRPr lang="en-US" sz="1200" dirty="0">
                    <a:solidFill>
                      <a:prstClr val="black"/>
                    </a:solidFill>
                    <a:latin typeface="Arial" pitchFamily="34" charset="0"/>
                    <a:ea typeface="+mn-ea"/>
                  </a:endParaRPr>
                </a:p>
              </p:txBody>
            </p:sp>
            <p:sp>
              <p:nvSpPr>
                <p:cNvPr id="77" name="Rectangle 46"/>
                <p:cNvSpPr>
                  <a:spLocks noChangeArrowheads="1"/>
                </p:cNvSpPr>
                <p:nvPr/>
              </p:nvSpPr>
              <p:spPr bwMode="auto">
                <a:xfrm>
                  <a:off x="5191" y="1661"/>
                  <a:ext cx="1008" cy="240"/>
                </a:xfrm>
                <a:prstGeom prst="rect">
                  <a:avLst/>
                </a:prstGeom>
                <a:solidFill>
                  <a:srgbClr val="CCE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200" dirty="0">
                      <a:solidFill>
                        <a:prstClr val="black"/>
                      </a:solidFill>
                      <a:latin typeface="Arial" pitchFamily="34" charset="0"/>
                      <a:ea typeface="+mn-ea"/>
                    </a:rPr>
                    <a:t>return result</a:t>
                  </a:r>
                </a:p>
              </p:txBody>
            </p:sp>
          </p:grpSp>
        </p:grpSp>
        <p:sp>
          <p:nvSpPr>
            <p:cNvPr id="92" name="Rectangle 91"/>
            <p:cNvSpPr/>
            <p:nvPr/>
          </p:nvSpPr>
          <p:spPr>
            <a:xfrm>
              <a:off x="7976897" y="1089167"/>
              <a:ext cx="369558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… from programs’ vulnerabilities (e.g., buffer overflows)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64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90" y="345536"/>
            <a:ext cx="2393197" cy="5923527"/>
          </a:xfrm>
        </p:spPr>
        <p:txBody>
          <a:bodyPr>
            <a:noAutofit/>
          </a:bodyPr>
          <a:lstStyle/>
          <a:p>
            <a:r>
              <a:rPr lang="en-US" sz="1900" dirty="0"/>
              <a:t>Introduction / System Structures</a:t>
            </a:r>
          </a:p>
          <a:p>
            <a:r>
              <a:rPr lang="en-US" sz="1900" dirty="0"/>
              <a:t>Processes / Threads</a:t>
            </a:r>
          </a:p>
          <a:p>
            <a:r>
              <a:rPr lang="en-US" sz="1900" dirty="0"/>
              <a:t>Multithreaded Programming</a:t>
            </a:r>
          </a:p>
          <a:p>
            <a:r>
              <a:rPr lang="en-US" sz="1900" dirty="0"/>
              <a:t>Process</a:t>
            </a:r>
            <a:br>
              <a:rPr lang="en-US" sz="1900" dirty="0"/>
            </a:br>
            <a:r>
              <a:rPr lang="en-US" sz="1900" dirty="0"/>
              <a:t>scheduling</a:t>
            </a:r>
          </a:p>
          <a:p>
            <a:r>
              <a:rPr lang="en-US" sz="1900" dirty="0"/>
              <a:t>Synchronization</a:t>
            </a:r>
          </a:p>
          <a:p>
            <a:r>
              <a:rPr lang="en-US" sz="1900" dirty="0"/>
              <a:t>Deadlocks</a:t>
            </a:r>
          </a:p>
          <a:p>
            <a:r>
              <a:rPr lang="en-US" sz="1900" dirty="0"/>
              <a:t>Memory Management</a:t>
            </a:r>
          </a:p>
          <a:p>
            <a:r>
              <a:rPr lang="en-US" sz="1900" dirty="0"/>
              <a:t>Virtual Memory</a:t>
            </a:r>
          </a:p>
          <a:p>
            <a:r>
              <a:rPr lang="en-US" sz="1900" dirty="0"/>
              <a:t>File Systems</a:t>
            </a:r>
          </a:p>
          <a:p>
            <a:r>
              <a:rPr lang="en-US" sz="1900" dirty="0"/>
              <a:t>I/O Systems</a:t>
            </a:r>
          </a:p>
          <a:p>
            <a:r>
              <a:rPr lang="en-US" sz="1900" dirty="0"/>
              <a:t>Security / Protection</a:t>
            </a:r>
          </a:p>
          <a:p>
            <a:r>
              <a:rPr lang="en-US" sz="1900" b="1" dirty="0">
                <a:solidFill>
                  <a:srgbClr val="00B050"/>
                </a:solidFill>
              </a:rPr>
              <a:t>Virtualization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Operating Systems - Concluding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17</a:t>
            </a:fld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2C2751-3566-4610-E011-98F98DEE209D}"/>
              </a:ext>
            </a:extLst>
          </p:cNvPr>
          <p:cNvGrpSpPr/>
          <p:nvPr/>
        </p:nvGrpSpPr>
        <p:grpSpPr>
          <a:xfrm>
            <a:off x="3455327" y="496417"/>
            <a:ext cx="4933930" cy="2694133"/>
            <a:chOff x="3455328" y="1266401"/>
            <a:chExt cx="4933930" cy="2694133"/>
          </a:xfrm>
        </p:grpSpPr>
        <p:pic>
          <p:nvPicPr>
            <p:cNvPr id="94" name="Picture 2">
              <a:extLst>
                <a:ext uri="{FF2B5EF4-FFF2-40B4-BE49-F238E27FC236}">
                  <a16:creationId xmlns:a16="http://schemas.microsoft.com/office/drawing/2014/main" id="{08CDC126-079C-D2F0-52AC-7A8A574701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5328" y="1635733"/>
              <a:ext cx="4933930" cy="2324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B25913F-3A01-6E0C-4BAB-D86A376C2FDF}"/>
                </a:ext>
              </a:extLst>
            </p:cNvPr>
            <p:cNvSpPr txBox="1"/>
            <p:nvPr/>
          </p:nvSpPr>
          <p:spPr>
            <a:xfrm>
              <a:off x="4853282" y="1266401"/>
              <a:ext cx="2138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 of Hypervisors</a:t>
              </a:r>
            </a:p>
          </p:txBody>
        </p:sp>
      </p:grpSp>
      <p:pic>
        <p:nvPicPr>
          <p:cNvPr id="97" name="Picture 96">
            <a:extLst>
              <a:ext uri="{FF2B5EF4-FFF2-40B4-BE49-F238E27FC236}">
                <a16:creationId xmlns:a16="http://schemas.microsoft.com/office/drawing/2014/main" id="{AF7E668D-AEDA-0173-1006-7B8978116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368" y="3429000"/>
            <a:ext cx="4397829" cy="2450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DD3E15-BE82-B893-D2D1-A45817A28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134" y="3429000"/>
            <a:ext cx="3594131" cy="21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1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933</Words>
  <Application>Microsoft Macintosh PowerPoint</Application>
  <PresentationFormat>Widescreen</PresentationFormat>
  <Paragraphs>286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Garamond</vt:lpstr>
      <vt:lpstr>Gill Sans MT</vt:lpstr>
      <vt:lpstr>Helvetica</vt:lpstr>
      <vt:lpstr>Times New Roman</vt:lpstr>
      <vt:lpstr>Office Theme</vt:lpstr>
      <vt:lpstr>PowerPoint Presentation</vt:lpstr>
      <vt:lpstr>Important before the exam</vt:lpstr>
      <vt:lpstr>Important before the exam</vt:lpstr>
      <vt:lpstr>Important before the exam</vt:lpstr>
      <vt:lpstr>How do we address a challenge?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Chalmers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Vincenzo Massimiliano Gulisano</dc:creator>
  <cp:lastModifiedBy>Vincenzo Massimiliano Gulisano</cp:lastModifiedBy>
  <cp:revision>83</cp:revision>
  <dcterms:created xsi:type="dcterms:W3CDTF">2014-12-05T08:26:02Z</dcterms:created>
  <dcterms:modified xsi:type="dcterms:W3CDTF">2026-07-10T06:13:25Z</dcterms:modified>
</cp:coreProperties>
</file>