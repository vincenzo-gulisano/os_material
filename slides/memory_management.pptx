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4048" r:id="rId1"/>
    <p:sldMasterId id="2147484061" r:id="rId2"/>
  </p:sldMasterIdLst>
  <p:notesMasterIdLst>
    <p:notesMasterId r:id="rId57"/>
  </p:notesMasterIdLst>
  <p:handoutMasterIdLst>
    <p:handoutMasterId r:id="rId58"/>
  </p:handoutMasterIdLst>
  <p:sldIdLst>
    <p:sldId id="331" r:id="rId3"/>
    <p:sldId id="394" r:id="rId4"/>
    <p:sldId id="333" r:id="rId5"/>
    <p:sldId id="431" r:id="rId6"/>
    <p:sldId id="432" r:id="rId7"/>
    <p:sldId id="395" r:id="rId8"/>
    <p:sldId id="396" r:id="rId9"/>
    <p:sldId id="433" r:id="rId10"/>
    <p:sldId id="397" r:id="rId11"/>
    <p:sldId id="398" r:id="rId12"/>
    <p:sldId id="399" r:id="rId13"/>
    <p:sldId id="434" r:id="rId14"/>
    <p:sldId id="400" r:id="rId15"/>
    <p:sldId id="401" r:id="rId16"/>
    <p:sldId id="402" r:id="rId17"/>
    <p:sldId id="403" r:id="rId18"/>
    <p:sldId id="435" r:id="rId19"/>
    <p:sldId id="404" r:id="rId20"/>
    <p:sldId id="405" r:id="rId21"/>
    <p:sldId id="406" r:id="rId22"/>
    <p:sldId id="436" r:id="rId23"/>
    <p:sldId id="409" r:id="rId24"/>
    <p:sldId id="410" r:id="rId25"/>
    <p:sldId id="411" r:id="rId26"/>
    <p:sldId id="412" r:id="rId27"/>
    <p:sldId id="413" r:id="rId28"/>
    <p:sldId id="437" r:id="rId29"/>
    <p:sldId id="426" r:id="rId30"/>
    <p:sldId id="438" r:id="rId31"/>
    <p:sldId id="427" r:id="rId32"/>
    <p:sldId id="429" r:id="rId33"/>
    <p:sldId id="428" r:id="rId34"/>
    <p:sldId id="430" r:id="rId35"/>
    <p:sldId id="439" r:id="rId36"/>
    <p:sldId id="415" r:id="rId37"/>
    <p:sldId id="416" r:id="rId38"/>
    <p:sldId id="417" r:id="rId39"/>
    <p:sldId id="418" r:id="rId40"/>
    <p:sldId id="440" r:id="rId41"/>
    <p:sldId id="419" r:id="rId42"/>
    <p:sldId id="420" r:id="rId43"/>
    <p:sldId id="421" r:id="rId44"/>
    <p:sldId id="422" r:id="rId45"/>
    <p:sldId id="423" r:id="rId46"/>
    <p:sldId id="424" r:id="rId47"/>
    <p:sldId id="425" r:id="rId48"/>
    <p:sldId id="441" r:id="rId49"/>
    <p:sldId id="262" r:id="rId50"/>
    <p:sldId id="263" r:id="rId51"/>
    <p:sldId id="265" r:id="rId52"/>
    <p:sldId id="266" r:id="rId53"/>
    <p:sldId id="442" r:id="rId54"/>
    <p:sldId id="268" r:id="rId55"/>
    <p:sldId id="270" r:id="rId56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C4A88-DE4E-7D45-90F9-106794DBBD74}" v="4" dt="2025-09-23T05:30:13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03" autoAdjust="0"/>
    <p:restoredTop sz="78267" autoAdjust="0"/>
  </p:normalViewPr>
  <p:slideViewPr>
    <p:cSldViewPr snapToGrid="0">
      <p:cViewPr varScale="1">
        <p:scale>
          <a:sx n="91" d="100"/>
          <a:sy n="91" d="100"/>
        </p:scale>
        <p:origin x="1960" y="176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6"/>
    </p:cViewPr>
  </p:sorterViewPr>
  <p:notesViewPr>
    <p:cSldViewPr snapToGrid="0">
      <p:cViewPr varScale="1">
        <p:scale>
          <a:sx n="55" d="100"/>
          <a:sy n="55" d="100"/>
        </p:scale>
        <p:origin x="1812" y="90"/>
      </p:cViewPr>
      <p:guideLst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61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commentAuthors" Target="commentAuthor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presProps" Target="presProps.xml"/><Relationship Id="rId65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EB6A4D19-85D8-5548-A2EB-E603D07BE634}"/>
    <pc:docChg chg="modSld">
      <pc:chgData name="Vincenzo Massimiliano Gulisano" userId="887d7398-9e41-4331-abd4-9c23f064ea90" providerId="ADAL" clId="{EB6A4D19-85D8-5548-A2EB-E603D07BE634}" dt="2022-09-08T09:24:44.036" v="1" actId="20577"/>
      <pc:docMkLst>
        <pc:docMk/>
      </pc:docMkLst>
      <pc:sldChg chg="modSp mod">
        <pc:chgData name="Vincenzo Massimiliano Gulisano" userId="887d7398-9e41-4331-abd4-9c23f064ea90" providerId="ADAL" clId="{EB6A4D19-85D8-5548-A2EB-E603D07BE634}" dt="2022-09-08T09:24:44.036" v="1" actId="20577"/>
        <pc:sldMkLst>
          <pc:docMk/>
          <pc:sldMk cId="0" sldId="331"/>
        </pc:sldMkLst>
      </pc:sldChg>
    </pc:docChg>
  </pc:docChgLst>
  <pc:docChgLst>
    <pc:chgData name="Vincenzo Massimiliano Gulisano" userId="887d7398-9e41-4331-abd4-9c23f064ea90" providerId="ADAL" clId="{8EA10870-6395-588A-9409-E8E4CA631CF7}"/>
    <pc:docChg chg="addSld modSld">
      <pc:chgData name="Vincenzo Massimiliano Gulisano" userId="887d7398-9e41-4331-abd4-9c23f064ea90" providerId="ADAL" clId="{8EA10870-6395-588A-9409-E8E4CA631CF7}" dt="2025-09-24T05:54:25.872" v="28" actId="20577"/>
      <pc:docMkLst>
        <pc:docMk/>
      </pc:docMkLst>
      <pc:sldChg chg="modSp add mod modNotesTx">
        <pc:chgData name="Vincenzo Massimiliano Gulisano" userId="887d7398-9e41-4331-abd4-9c23f064ea90" providerId="ADAL" clId="{8EA10870-6395-588A-9409-E8E4CA631CF7}" dt="2025-09-23T05:28:54.951" v="4" actId="20577"/>
        <pc:sldMkLst>
          <pc:docMk/>
          <pc:sldMk cId="1610955163" sldId="262"/>
        </pc:sldMkLst>
        <pc:spChg chg="mod">
          <ac:chgData name="Vincenzo Massimiliano Gulisano" userId="887d7398-9e41-4331-abd4-9c23f064ea90" providerId="ADAL" clId="{8EA10870-6395-588A-9409-E8E4CA631CF7}" dt="2025-09-23T05:28:53.070" v="3" actId="20577"/>
          <ac:spMkLst>
            <pc:docMk/>
            <pc:sldMk cId="1610955163" sldId="262"/>
            <ac:spMk id="3" creationId="{526E0ECA-C564-F3C1-6DD6-1300FA8A166B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09-23T05:29:38.264" v="12" actId="1076"/>
        <pc:sldMkLst>
          <pc:docMk/>
          <pc:sldMk cId="987499366" sldId="263"/>
        </pc:sldMkLst>
        <pc:spChg chg="mod">
          <ac:chgData name="Vincenzo Massimiliano Gulisano" userId="887d7398-9e41-4331-abd4-9c23f064ea90" providerId="ADAL" clId="{8EA10870-6395-588A-9409-E8E4CA631CF7}" dt="2025-09-23T05:29:33.893" v="11" actId="20577"/>
          <ac:spMkLst>
            <pc:docMk/>
            <pc:sldMk cId="987499366" sldId="263"/>
            <ac:spMk id="2" creationId="{F0363A9D-3138-1B1D-12E6-7F6718714073}"/>
          </ac:spMkLst>
        </pc:spChg>
        <pc:spChg chg="mod">
          <ac:chgData name="Vincenzo Massimiliano Gulisano" userId="887d7398-9e41-4331-abd4-9c23f064ea90" providerId="ADAL" clId="{8EA10870-6395-588A-9409-E8E4CA631CF7}" dt="2025-09-23T05:29:18.647" v="9" actId="20577"/>
          <ac:spMkLst>
            <pc:docMk/>
            <pc:sldMk cId="987499366" sldId="263"/>
            <ac:spMk id="3" creationId="{73284B17-5309-13DF-F631-83B60E4FED4D}"/>
          </ac:spMkLst>
        </pc:spChg>
        <pc:picChg chg="mod">
          <ac:chgData name="Vincenzo Massimiliano Gulisano" userId="887d7398-9e41-4331-abd4-9c23f064ea90" providerId="ADAL" clId="{8EA10870-6395-588A-9409-E8E4CA631CF7}" dt="2025-09-23T05:29:38.264" v="12" actId="1076"/>
          <ac:picMkLst>
            <pc:docMk/>
            <pc:sldMk cId="987499366" sldId="263"/>
            <ac:picMk id="2050" creationId="{05A86181-622E-D01B-B28A-185029D26A7B}"/>
          </ac:picMkLst>
        </pc:picChg>
      </pc:sldChg>
      <pc:sldChg chg="modSp add mod modNotesTx">
        <pc:chgData name="Vincenzo Massimiliano Gulisano" userId="887d7398-9e41-4331-abd4-9c23f064ea90" providerId="ADAL" clId="{8EA10870-6395-588A-9409-E8E4CA631CF7}" dt="2025-09-23T05:30:13.836" v="18" actId="1076"/>
        <pc:sldMkLst>
          <pc:docMk/>
          <pc:sldMk cId="4171002062" sldId="265"/>
        </pc:sldMkLst>
        <pc:spChg chg="mod">
          <ac:chgData name="Vincenzo Massimiliano Gulisano" userId="887d7398-9e41-4331-abd4-9c23f064ea90" providerId="ADAL" clId="{8EA10870-6395-588A-9409-E8E4CA631CF7}" dt="2025-09-23T05:30:10.781" v="17" actId="20577"/>
          <ac:spMkLst>
            <pc:docMk/>
            <pc:sldMk cId="4171002062" sldId="265"/>
            <ac:spMk id="3" creationId="{6436D2ED-08A6-27B9-33F3-54DD87B33288}"/>
          </ac:spMkLst>
        </pc:spChg>
        <pc:picChg chg="mod">
          <ac:chgData name="Vincenzo Massimiliano Gulisano" userId="887d7398-9e41-4331-abd4-9c23f064ea90" providerId="ADAL" clId="{8EA10870-6395-588A-9409-E8E4CA631CF7}" dt="2025-09-23T05:30:13.836" v="18" actId="1076"/>
          <ac:picMkLst>
            <pc:docMk/>
            <pc:sldMk cId="4171002062" sldId="265"/>
            <ac:picMk id="4098" creationId="{FA0AF5BB-DBE4-8E3F-1D2D-79BCD2C716F1}"/>
          </ac:picMkLst>
        </pc:picChg>
      </pc:sldChg>
      <pc:sldChg chg="modSp add mod modNotesTx">
        <pc:chgData name="Vincenzo Massimiliano Gulisano" userId="887d7398-9e41-4331-abd4-9c23f064ea90" providerId="ADAL" clId="{8EA10870-6395-588A-9409-E8E4CA631CF7}" dt="2025-09-23T05:30:23.796" v="26" actId="20577"/>
        <pc:sldMkLst>
          <pc:docMk/>
          <pc:sldMk cId="399621724" sldId="266"/>
        </pc:sldMkLst>
        <pc:spChg chg="mod">
          <ac:chgData name="Vincenzo Massimiliano Gulisano" userId="887d7398-9e41-4331-abd4-9c23f064ea90" providerId="ADAL" clId="{8EA10870-6395-588A-9409-E8E4CA631CF7}" dt="2025-09-23T05:30:23.796" v="26" actId="20577"/>
          <ac:spMkLst>
            <pc:docMk/>
            <pc:sldMk cId="399621724" sldId="266"/>
            <ac:spMk id="3" creationId="{D6C83EC9-BAF1-9269-8386-AE8FB6CF28D2}"/>
          </ac:spMkLst>
        </pc:spChg>
      </pc:sldChg>
      <pc:sldChg chg="modNotesTx">
        <pc:chgData name="Vincenzo Massimiliano Gulisano" userId="887d7398-9e41-4331-abd4-9c23f064ea90" providerId="ADAL" clId="{8EA10870-6395-588A-9409-E8E4CA631CF7}" dt="2025-09-24T05:54:25.872" v="28" actId="20577"/>
        <pc:sldMkLst>
          <pc:docMk/>
          <pc:sldMk cId="398394372" sldId="423"/>
        </pc:sldMkLst>
      </pc:sldChg>
      <pc:sldChg chg="modNotesTx">
        <pc:chgData name="Vincenzo Massimiliano Gulisano" userId="887d7398-9e41-4331-abd4-9c23f064ea90" providerId="ADAL" clId="{8EA10870-6395-588A-9409-E8E4CA631CF7}" dt="2025-09-24T05:54:04.013" v="27" actId="20577"/>
        <pc:sldMkLst>
          <pc:docMk/>
          <pc:sldMk cId="704553040" sldId="42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75596" cy="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39751" y="0"/>
            <a:ext cx="4073490" cy="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85978"/>
            <a:ext cx="4075596" cy="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39751" y="6685978"/>
            <a:ext cx="4073490" cy="333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85DEE06E-38F1-4ACC-915E-97CE063EBA0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923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4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9225" y="0"/>
            <a:ext cx="4027176" cy="34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289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942" y="3330419"/>
            <a:ext cx="6816518" cy="3153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60838"/>
            <a:ext cx="4027178" cy="34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9225" y="6660838"/>
            <a:ext cx="4027176" cy="34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0462CD46-9D15-4C57-8A80-C2E5019E2E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3772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E4C2E7-4533-4390-8AEE-E02702433286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686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2755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</a:rPr>
              <a:t>Say this is a block of two lectures, VM later on continues on this</a:t>
            </a:r>
          </a:p>
        </p:txBody>
      </p:sp>
    </p:spTree>
    <p:extLst>
      <p:ext uri="{BB962C8B-B14F-4D97-AF65-F5344CB8AC3E}">
        <p14:creationId xmlns:p14="http://schemas.microsoft.com/office/powerpoint/2010/main" val="426148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 The goal of the OS is to maximize CPU …</a:t>
            </a:r>
          </a:p>
          <a:p>
            <a:r>
              <a:rPr lang="en-US" dirty="0"/>
              <a:t>[click] As you most</a:t>
            </a:r>
            <a:r>
              <a:rPr lang="en-US" baseline="0" dirty="0"/>
              <a:t> likely know, this is the organization of memory in our computers…</a:t>
            </a:r>
          </a:p>
          <a:p>
            <a:r>
              <a:rPr lang="en-US" baseline="0" dirty="0"/>
              <a:t>[click] Some memories can be accessed directly by the CPU</a:t>
            </a:r>
          </a:p>
          <a:p>
            <a:r>
              <a:rPr lang="en-US" baseline="0" dirty="0"/>
              <a:t>[click] Some are very fast</a:t>
            </a:r>
          </a:p>
          <a:p>
            <a:r>
              <a:rPr lang="en-US" baseline="0" dirty="0"/>
              <a:t>[click] Some take more time</a:t>
            </a:r>
          </a:p>
          <a:p>
            <a:r>
              <a:rPr lang="en-US" baseline="0" dirty="0"/>
              <a:t>[click] some others no</a:t>
            </a:r>
          </a:p>
          <a:p>
            <a:r>
              <a:rPr lang="en-US" baseline="0" dirty="0"/>
              <a:t>[click] Which means, if have data here and we want the CPU to access it, we first need to move it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8841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[click]</a:t>
            </a:r>
            <a:r>
              <a:rPr lang="en-US" baseline="0" dirty="0"/>
              <a:t> since we want to speed up operation, we can think of hardware support for the CPU to access registers / caches and main memory. But the challenge then is: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322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It works like this, we have two registers</a:t>
            </a:r>
            <a:r>
              <a:rPr lang="en-US" baseline="0" dirty="0"/>
              <a:t> ….</a:t>
            </a:r>
          </a:p>
          <a:p>
            <a:r>
              <a:rPr lang="en-US" baseline="0" dirty="0"/>
              <a:t>[c] So for example, process A</a:t>
            </a:r>
          </a:p>
          <a:p>
            <a:r>
              <a:rPr lang="en-US" baseline="0" dirty="0"/>
              <a:t>[c] This show the how the CPU checks whether a trap should be sent</a:t>
            </a:r>
          </a:p>
          <a:p>
            <a:endParaRPr lang="en-US" baseline="0" dirty="0"/>
          </a:p>
          <a:p>
            <a:r>
              <a:rPr lang="en-US" baseline="0" dirty="0"/>
              <a:t>Possible question: is this for the cache, is it for the main memory or for both of them?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0660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3452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Exceptional case: dedicated</a:t>
            </a:r>
            <a:r>
              <a:rPr lang="en-US" baseline="0" dirty="0"/>
              <a:t> hardware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798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Suppose we write a program with</a:t>
            </a:r>
            <a:r>
              <a:rPr lang="en-US" baseline="0" dirty="0"/>
              <a:t> this instruction, we are </a:t>
            </a:r>
            <a:r>
              <a:rPr lang="en-US" baseline="0" dirty="0" err="1"/>
              <a:t>sayin</a:t>
            </a:r>
            <a:r>
              <a:rPr lang="en-US" baseline="0" dirty="0"/>
              <a:t> we should store the value of b + 2 in a, somewhere in memory. Where exactly?</a:t>
            </a:r>
          </a:p>
          <a:p>
            <a:r>
              <a:rPr lang="en-US" baseline="0" dirty="0"/>
              <a:t>[c] While the program is on disk we don’t know</a:t>
            </a:r>
          </a:p>
          <a:p>
            <a:r>
              <a:rPr lang="en-US" baseline="0" dirty="0"/>
              <a:t>[c] once we load it in memory we do</a:t>
            </a:r>
          </a:p>
          <a:p>
            <a:endParaRPr lang="en-US" baseline="0" dirty="0"/>
          </a:p>
          <a:p>
            <a:r>
              <a:rPr lang="en-US" baseline="0" dirty="0"/>
              <a:t>Discussions always depend on what hardware we are thinking of / OS and programs... dedicated hardware we might know...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9658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[c] Each program sees its virtual addresses, starting</a:t>
            </a:r>
            <a:r>
              <a:rPr lang="en-US" baseline="0" dirty="0"/>
              <a:t> in 0 (it is easier)</a:t>
            </a:r>
          </a:p>
          <a:p>
            <a:r>
              <a:rPr lang="en-US" baseline="0" dirty="0"/>
              <a:t>[c] But of course, once it runs in memory it will actually be allocated in a given region of the physical memory</a:t>
            </a:r>
          </a:p>
          <a:p>
            <a:endParaRPr lang="en-US" baseline="0" dirty="0"/>
          </a:p>
          <a:p>
            <a:r>
              <a:rPr lang="en-US" baseline="0" dirty="0"/>
              <a:t>here link back to question about addresses...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1175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615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way of doing</a:t>
            </a:r>
            <a:r>
              <a:rPr lang="en-US" baseline="0" dirty="0"/>
              <a:t> it, using the relocation register. There can be other ways too, will see later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3684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</a:t>
            </a:r>
          </a:p>
          <a:p>
            <a:r>
              <a:rPr lang="en-US" dirty="0"/>
              <a:t>Say also we will see more when</a:t>
            </a:r>
            <a:r>
              <a:rPr lang="en-US" baseline="0" dirty="0"/>
              <a:t> we discuss Virtual Memory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10873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</a:t>
            </a:r>
            <a:r>
              <a:rPr lang="en-US" baseline="0" dirty="0"/>
              <a:t> a drawing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28015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5740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similar things hold also for file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3542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0233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will see (also when discussing virtual memory / file systems) that the best strategy might depends on things we do not know yet</a:t>
            </a:r>
            <a:r>
              <a:rPr lang="en-US" baseline="0" dirty="0"/>
              <a:t> (size of a process in this case)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99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21588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81711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121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257107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46251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17343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38112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size = 16 bytes</a:t>
            </a:r>
          </a:p>
          <a:p>
            <a:r>
              <a:rPr lang="en-US" dirty="0"/>
              <a:t>Number of pages required = ceil(100/16) = 7</a:t>
            </a:r>
          </a:p>
          <a:p>
            <a:r>
              <a:rPr lang="en-US" dirty="0"/>
              <a:t>Wasted bytes because of internal fragmentation 16 –100%16 = 12 bytes</a:t>
            </a:r>
          </a:p>
          <a:p>
            <a:endParaRPr lang="en-US" dirty="0"/>
          </a:p>
          <a:p>
            <a:r>
              <a:rPr lang="en-US" dirty="0"/>
              <a:t>Page table = 7 * (8)  = 56 bits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21799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 KB = 2^10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2375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sz="1200" dirty="0"/>
              <a:t>0000100101000111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Page first 4 bits, page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Rest is offset, so 327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10399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219 + 430 = 649</a:t>
            </a:r>
          </a:p>
          <a:p>
            <a:pPr marL="0" indent="0">
              <a:buNone/>
            </a:pPr>
            <a:r>
              <a:rPr lang="en-US" dirty="0"/>
              <a:t>2300 + 10 = 2310</a:t>
            </a:r>
          </a:p>
          <a:p>
            <a:pPr marL="0" indent="0">
              <a:buNone/>
            </a:pPr>
            <a:r>
              <a:rPr lang="en-US" dirty="0"/>
              <a:t>illegal reference, trap to operating system</a:t>
            </a:r>
          </a:p>
          <a:p>
            <a:pPr marL="0" indent="0">
              <a:buNone/>
            </a:pPr>
            <a:r>
              <a:rPr lang="en-US" dirty="0"/>
              <a:t>1327 + 400 = 1727</a:t>
            </a:r>
          </a:p>
          <a:p>
            <a:pPr marL="0" indent="0">
              <a:buNone/>
            </a:pPr>
            <a:r>
              <a:rPr lang="en-US" dirty="0"/>
              <a:t>illegal reference, trap to operating system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62CD46-9D15-4C57-8A80-C2E5019E2E04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3108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721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2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61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83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045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92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9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48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02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492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6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9811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79812-7922-F572-FBF4-DD8EA42A7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DCA14-D8CD-7EC4-4379-8F747B154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E1525-4B3B-62BB-AEC4-3717A8D7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05C6B-C68A-2246-B76C-47CEEB719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0407D-879E-F928-BEB7-EF923141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8554362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FBF7-5873-10B0-9757-E649F2C5B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4E676-6F6B-F88F-8188-716C9949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73FE5-95F9-28B1-736D-8595BFD5D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7F0D8-4BC6-B5DD-8742-1139CAC1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186D-B6F3-BA3E-B41B-3ED606701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062745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CCB8A-3B4C-FD93-4189-DBE9A57D1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525E-4244-E2FB-46D6-5C464D83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5DD53-BEAA-0F2B-D537-033D2CF9F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B11E0-3D79-7837-9C0C-1DA40974D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00861-D42C-A73A-D630-B6B7BFB2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89462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A19E-845B-1661-6821-DF218196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D2967-9105-9FE1-17C9-9F2A19E4E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5FB82-CD83-312A-4471-42A432503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F9E22-737E-2E7C-E3DA-8CA18013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404B9-175B-6B12-2F8E-A61C886B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6A131-949B-8DCD-F714-920633044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72703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4C652-8B98-9526-560D-70865BE44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88DE9-A5B0-990E-BB8B-A31D61E40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54AB7-F18E-95A9-03A1-98F4030C8D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6ED570-D069-9521-D4CF-AEBD9630D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292C33-3C07-678D-88B9-1615C8718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727F4A-7354-3CB0-5B9B-1FFD762A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7CABA-3CE2-733D-2E38-1A95A389E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9D0B67-9A9C-FD36-D4AF-5606F2414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6474483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BFD02-C951-2E5A-76C7-5AD87510E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EEE3E6-1578-7FFA-392B-40975533A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4A12A-450B-ED62-D0EB-D539A22A7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0D9527-1330-18FB-012C-9A2B1E0B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746874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8DAA-258A-EB1C-D3D6-394B9257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EB1676-85F6-2216-F0C7-7AE6D31D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80289-5B94-C267-05E1-354B788DA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199462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8B85-D958-749C-9116-203D9B65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1DD2-68AE-7E77-D7EA-B111BEF94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4BBE9-7271-908B-0204-B2B47ADD5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395D6-4FCE-3CE4-23C7-CAB7BDB10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28C22-87DC-2299-6204-65D186D78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8E40D-4572-3D5A-9C0E-67B04AC11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692869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F4D2-E977-38C0-C4D6-7D8B4E06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F48638-1DF6-AB77-87DB-AA1DE982A9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8019C-1380-F34C-35D3-58CBA0B81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CFD3B-3CF6-314F-F0BB-DE9D4B76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F8E86-733B-9A0D-B37F-6CB5147F6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532F0-C700-8BE6-7D00-C7F1B767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6793431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27387-51E0-FC74-B175-161E2B8B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A668C1-69AC-4367-6A8A-9EE60604C4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F18E-27A7-F9B0-28F8-17C0D4782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AF4E-3016-B845-88C5-561A60CCD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3DC10-0C07-A92A-B10C-3391C19EE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191718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E003F2-C044-A65C-BBEB-8E25B16A7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1C09FE-D623-7D09-AB88-15D3DF879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4E6A8B-0060-B490-615E-03E460A38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AB895-5930-D4D2-7DF5-C2143383A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876F0-760A-D2BB-53A6-0C9BDAB6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303793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D4BF-17B8-4416-83AD-33398895AA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50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9" r:id="rId1"/>
    <p:sldLayoutId id="2147484050" r:id="rId2"/>
    <p:sldLayoutId id="2147484051" r:id="rId3"/>
    <p:sldLayoutId id="2147484052" r:id="rId4"/>
    <p:sldLayoutId id="2147484053" r:id="rId5"/>
    <p:sldLayoutId id="2147484054" r:id="rId6"/>
    <p:sldLayoutId id="2147484055" r:id="rId7"/>
    <p:sldLayoutId id="2147484056" r:id="rId8"/>
    <p:sldLayoutId id="2147484057" r:id="rId9"/>
    <p:sldLayoutId id="2147484058" r:id="rId10"/>
    <p:sldLayoutId id="2147484059" r:id="rId11"/>
    <p:sldLayoutId id="2147484060" r:id="rId12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08A73-CD14-71D4-6762-D4270425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S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6A26D-F8DF-E1B7-C797-1B953F065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98A65-F014-0AA3-2291-081A9AE26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2645CC-3E41-464B-DC9B-B736B5A40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FE334-C90F-ECAC-73FF-C31C66E56C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9AA98-1CDB-B74D-913E-0EAC104F29A0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90059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2" r:id="rId1"/>
    <p:sldLayoutId id="2147484063" r:id="rId2"/>
    <p:sldLayoutId id="2147484064" r:id="rId3"/>
    <p:sldLayoutId id="2147484065" r:id="rId4"/>
    <p:sldLayoutId id="2147484066" r:id="rId5"/>
    <p:sldLayoutId id="2147484067" r:id="rId6"/>
    <p:sldLayoutId id="2147484068" r:id="rId7"/>
    <p:sldLayoutId id="2147484069" r:id="rId8"/>
    <p:sldLayoutId id="2147484070" r:id="rId9"/>
    <p:sldLayoutId id="2147484071" r:id="rId10"/>
    <p:sldLayoutId id="2147484072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tiff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tiff"/><Relationship Id="rId4" Type="http://schemas.openxmlformats.org/officeDocument/2006/relationships/image" Target="../media/image11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tiff"/><Relationship Id="rId4" Type="http://schemas.openxmlformats.org/officeDocument/2006/relationships/image" Target="../media/image16.tif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if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tif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32460" y="1424940"/>
            <a:ext cx="7772400" cy="212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sz="4000" dirty="0"/>
              <a:t>Memory Management</a:t>
            </a:r>
            <a:br>
              <a:rPr lang="en-US" altLang="en-US" sz="4000" dirty="0"/>
            </a:br>
            <a:r>
              <a:rPr lang="en-US" altLang="en-US" sz="4000" dirty="0"/>
              <a:t>Operating Systems – EDA093/DIT401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sz="3200" dirty="0"/>
              <a:t>Vincenzo Gulisano</a:t>
            </a:r>
            <a:br>
              <a:rPr lang="en-US" altLang="en-US" sz="3200" dirty="0"/>
            </a:br>
            <a:r>
              <a:rPr lang="en-US" altLang="en-US" sz="2000" dirty="0"/>
              <a:t>vincenzo.gulisano@chalmers.se</a:t>
            </a:r>
            <a:endParaRPr lang="en-US" altLang="en-US" sz="27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63B3D-3E2F-3ECF-B76E-AC218790FD9B}"/>
              </a:ext>
            </a:extLst>
          </p:cNvPr>
          <p:cNvGrpSpPr/>
          <p:nvPr/>
        </p:nvGrpSpPr>
        <p:grpSpPr>
          <a:xfrm>
            <a:off x="1019614" y="4659360"/>
            <a:ext cx="7104771" cy="1547400"/>
            <a:chOff x="777241" y="4793437"/>
            <a:chExt cx="7104771" cy="15474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FA536BF-0E6A-86B6-D574-1384E34D8D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3022" y="4793437"/>
              <a:ext cx="2078990" cy="154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421E9D-1A66-EA6B-22A6-13488992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1" y="4973870"/>
              <a:ext cx="4724632" cy="11865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to read (main textbook)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06450" y="1233488"/>
            <a:ext cx="6940550" cy="453072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endParaRPr lang="en-US" altLang="en-US" dirty="0"/>
          </a:p>
          <a:p>
            <a:pPr fontAlgn="auto">
              <a:spcAft>
                <a:spcPts val="0"/>
              </a:spcAft>
            </a:pPr>
            <a:r>
              <a:rPr lang="en-US" altLang="en-US" dirty="0"/>
              <a:t>Chapter 3.1, 3.2, 3.7 (up to 3.7.1 - excluded)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(extra facultative reading: 8.1-8.5 from </a:t>
            </a:r>
            <a:r>
              <a:rPr lang="en-US" dirty="0" err="1"/>
              <a:t>Silberschatz</a:t>
            </a:r>
            <a:r>
              <a:rPr lang="en-US" dirty="0"/>
              <a:t> Operating System Concepts)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5369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Objective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6940550" cy="4530725"/>
          </a:xfrm>
        </p:spPr>
        <p:txBody>
          <a:bodyPr/>
          <a:lstStyle/>
          <a:p>
            <a:endParaRPr lang="en-US" altLang="en-US" dirty="0"/>
          </a:p>
          <a:p>
            <a:r>
              <a:rPr lang="en-US" altLang="en-US" dirty="0"/>
              <a:t>Discuss how different types of memory are used</a:t>
            </a:r>
          </a:p>
          <a:p>
            <a:r>
              <a:rPr lang="en-US" altLang="en-US" dirty="0"/>
              <a:t>Discuss how information is continuously moved between “slow memory” and “fast memory” (accessed directly by the CPU)</a:t>
            </a:r>
          </a:p>
          <a:p>
            <a:r>
              <a:rPr lang="en-US" altLang="en-US" dirty="0"/>
              <a:t>Discuss how and why user/programmer/program view of memory and physical memory are kept separated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Base and limit registers</a:t>
            </a:r>
          </a:p>
          <a:p>
            <a:r>
              <a:rPr lang="en-US" dirty="0"/>
              <a:t>Logical/Virtual vs Physical addresses</a:t>
            </a:r>
          </a:p>
          <a:p>
            <a:r>
              <a:rPr lang="en-US" dirty="0"/>
              <a:t>Dynamic loading and linking optimizations [self reading]</a:t>
            </a:r>
          </a:p>
          <a:p>
            <a:r>
              <a:rPr lang="en-US" dirty="0"/>
              <a:t>Swapping</a:t>
            </a:r>
          </a:p>
          <a:p>
            <a:r>
              <a:rPr lang="en-US" dirty="0"/>
              <a:t>Memory allocation</a:t>
            </a:r>
          </a:p>
          <a:p>
            <a:pPr lvl="1"/>
            <a:r>
              <a:rPr lang="en-US" dirty="0"/>
              <a:t>Contiguous allocation</a:t>
            </a:r>
          </a:p>
          <a:p>
            <a:pPr lvl="1"/>
            <a:r>
              <a:rPr lang="en-US" dirty="0"/>
              <a:t>Segmentation</a:t>
            </a:r>
          </a:p>
          <a:p>
            <a:pPr lvl="1"/>
            <a:r>
              <a:rPr lang="en-US" dirty="0"/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64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73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basic hardware (I)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3" descr="C:\Users\as668\Desktop\1_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7312" y="2654708"/>
            <a:ext cx="3094119" cy="2575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53845" y="1541116"/>
            <a:ext cx="7836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Goal of the OS: maximize CPU utilization </a:t>
            </a:r>
            <a:r>
              <a:rPr lang="en-US" dirty="0">
                <a:sym typeface="Wingdings"/>
              </a:rPr>
              <a:t> Run multiple processes concurrently / in parallel  Share memory!</a:t>
            </a:r>
            <a:endParaRPr lang="en-US" dirty="0"/>
          </a:p>
        </p:txBody>
      </p:sp>
      <p:grpSp>
        <p:nvGrpSpPr>
          <p:cNvPr id="26" name="Group 25"/>
          <p:cNvGrpSpPr/>
          <p:nvPr/>
        </p:nvGrpSpPr>
        <p:grpSpPr>
          <a:xfrm>
            <a:off x="6336891" y="2561878"/>
            <a:ext cx="3092788" cy="924269"/>
            <a:chOff x="6336891" y="2561878"/>
            <a:chExt cx="3092788" cy="924269"/>
          </a:xfrm>
        </p:grpSpPr>
        <p:sp>
          <p:nvSpPr>
            <p:cNvPr id="11" name="Right Brace 10"/>
            <p:cNvSpPr/>
            <p:nvPr/>
          </p:nvSpPr>
          <p:spPr>
            <a:xfrm>
              <a:off x="6336891" y="2561878"/>
              <a:ext cx="185372" cy="92426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22263" y="2700847"/>
              <a:ext cx="2907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Can be accessed directly by the CPU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6336891" y="3486147"/>
            <a:ext cx="3092788" cy="1823271"/>
            <a:chOff x="6336891" y="3486147"/>
            <a:chExt cx="3092788" cy="1823271"/>
          </a:xfrm>
        </p:grpSpPr>
        <p:sp>
          <p:nvSpPr>
            <p:cNvPr id="13" name="Right Brace 12"/>
            <p:cNvSpPr/>
            <p:nvPr/>
          </p:nvSpPr>
          <p:spPr>
            <a:xfrm>
              <a:off x="6336891" y="3486147"/>
              <a:ext cx="185372" cy="182327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22263" y="4115663"/>
              <a:ext cx="2907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Cannot be accessed directly by the CPU</a:t>
              </a: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31366" y="3486147"/>
            <a:ext cx="2983216" cy="1823271"/>
            <a:chOff x="131366" y="3486147"/>
            <a:chExt cx="2983216" cy="1823271"/>
          </a:xfrm>
        </p:grpSpPr>
        <p:sp>
          <p:nvSpPr>
            <p:cNvPr id="15" name="TextBox 14"/>
            <p:cNvSpPr txBox="1"/>
            <p:nvPr/>
          </p:nvSpPr>
          <p:spPr>
            <a:xfrm>
              <a:off x="131366" y="4115662"/>
              <a:ext cx="29074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If some data the CPU wants to access is here</a:t>
              </a:r>
            </a:p>
          </p:txBody>
        </p:sp>
        <p:sp>
          <p:nvSpPr>
            <p:cNvPr id="16" name="Right Brace 15"/>
            <p:cNvSpPr/>
            <p:nvPr/>
          </p:nvSpPr>
          <p:spPr>
            <a:xfrm rot="10800000">
              <a:off x="2929210" y="3486147"/>
              <a:ext cx="185372" cy="182327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84683" y="2328520"/>
            <a:ext cx="2629898" cy="1712537"/>
            <a:chOff x="484683" y="2328520"/>
            <a:chExt cx="2629898" cy="1712537"/>
          </a:xfrm>
        </p:grpSpPr>
        <p:sp>
          <p:nvSpPr>
            <p:cNvPr id="17" name="Bent Arrow 16"/>
            <p:cNvSpPr/>
            <p:nvPr/>
          </p:nvSpPr>
          <p:spPr>
            <a:xfrm>
              <a:off x="1319199" y="2900515"/>
              <a:ext cx="1449530" cy="1140542"/>
            </a:xfrm>
            <a:prstGeom prst="bentArrow">
              <a:avLst>
                <a:gd name="adj1" fmla="val 4217"/>
                <a:gd name="adj2" fmla="val 10461"/>
                <a:gd name="adj3" fmla="val 17083"/>
                <a:gd name="adj4" fmla="val 4770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Right Brace 17"/>
            <p:cNvSpPr/>
            <p:nvPr/>
          </p:nvSpPr>
          <p:spPr>
            <a:xfrm flipH="1">
              <a:off x="2929209" y="2561878"/>
              <a:ext cx="185372" cy="924269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4683" y="2328520"/>
              <a:ext cx="21229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We first have to </a:t>
              </a:r>
              <a:r>
                <a:rPr lang="en-US"/>
                <a:t>move it up here!</a:t>
              </a:r>
              <a:endParaRPr lang="en-US" dirty="0"/>
            </a:p>
          </p:txBody>
        </p:sp>
      </p:grpSp>
      <p:sp>
        <p:nvSpPr>
          <p:cNvPr id="22" name="Rounded Rectangle 21"/>
          <p:cNvSpPr/>
          <p:nvPr/>
        </p:nvSpPr>
        <p:spPr>
          <a:xfrm>
            <a:off x="4984956" y="2585329"/>
            <a:ext cx="819554" cy="30613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 cycle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4956" y="3212588"/>
            <a:ext cx="1309205" cy="306132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Many cycles</a:t>
            </a:r>
          </a:p>
        </p:txBody>
      </p:sp>
    </p:spTree>
    <p:extLst>
      <p:ext uri="{BB962C8B-B14F-4D97-AF65-F5344CB8AC3E}">
        <p14:creationId xmlns:p14="http://schemas.microsoft.com/office/powerpoint/2010/main" val="1378576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and basic hardware (II)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7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0" y="4336027"/>
            <a:ext cx="9232490" cy="1397038"/>
            <a:chOff x="0" y="4336027"/>
            <a:chExt cx="9232490" cy="1397038"/>
          </a:xfrm>
        </p:grpSpPr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36027"/>
              <a:ext cx="1397038" cy="1397038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189703" y="4572881"/>
              <a:ext cx="804278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Need for fast CPU access to registers / caches and main memory? </a:t>
              </a:r>
              <a:r>
                <a:rPr lang="en-US" dirty="0">
                  <a:sym typeface="Wingdings"/>
                </a:rPr>
                <a:t> hardware support without OS interaction</a:t>
              </a:r>
            </a:p>
            <a:p>
              <a:r>
                <a:rPr lang="en-US" dirty="0">
                  <a:sym typeface="Wingdings"/>
                </a:rPr>
                <a:t>CHALLENGE: how to ensure correctness?</a:t>
              </a:r>
              <a:endParaRPr lang="en-US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1189704" y="1337188"/>
            <a:ext cx="7246374" cy="2998840"/>
            <a:chOff x="1189704" y="1337188"/>
            <a:chExt cx="7246374" cy="2998840"/>
          </a:xfrm>
        </p:grpSpPr>
        <p:sp>
          <p:nvSpPr>
            <p:cNvPr id="7" name="Cloud Callout 6"/>
            <p:cNvSpPr/>
            <p:nvPr/>
          </p:nvSpPr>
          <p:spPr>
            <a:xfrm>
              <a:off x="1189704" y="1337188"/>
              <a:ext cx="7246374" cy="2998840"/>
            </a:xfrm>
            <a:prstGeom prst="cloudCallout">
              <a:avLst>
                <a:gd name="adj1" fmla="val -50548"/>
                <a:gd name="adj2" fmla="val 54303"/>
              </a:avLst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2826452" y="1927542"/>
              <a:ext cx="3491095" cy="1742860"/>
              <a:chOff x="655319" y="1690688"/>
              <a:chExt cx="9192217" cy="4589033"/>
            </a:xfrm>
          </p:grpSpPr>
          <p:pic>
            <p:nvPicPr>
              <p:cNvPr id="21" name="Picture 4" descr="2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655319" y="1690688"/>
                <a:ext cx="9192217" cy="45890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grpSp>
            <p:nvGrpSpPr>
              <p:cNvPr id="26" name="Group 25"/>
              <p:cNvGrpSpPr/>
              <p:nvPr/>
            </p:nvGrpSpPr>
            <p:grpSpPr>
              <a:xfrm>
                <a:off x="1141442" y="2073855"/>
                <a:ext cx="3491518" cy="4029765"/>
                <a:chOff x="1141442" y="2073855"/>
                <a:chExt cx="3491518" cy="4029765"/>
              </a:xfrm>
            </p:grpSpPr>
            <p:grpSp>
              <p:nvGrpSpPr>
                <p:cNvPr id="27" name="Group 26"/>
                <p:cNvGrpSpPr/>
                <p:nvPr/>
              </p:nvGrpSpPr>
              <p:grpSpPr>
                <a:xfrm>
                  <a:off x="1141442" y="2073855"/>
                  <a:ext cx="1479665" cy="1163782"/>
                  <a:chOff x="2155595" y="2073856"/>
                  <a:chExt cx="1479665" cy="1163782"/>
                </a:xfrm>
              </p:grpSpPr>
              <p:sp>
                <p:nvSpPr>
                  <p:cNvPr id="32" name="Rectangle 31"/>
                  <p:cNvSpPr/>
                  <p:nvPr/>
                </p:nvSpPr>
                <p:spPr>
                  <a:xfrm>
                    <a:off x="2155595" y="2073856"/>
                    <a:ext cx="1479665" cy="1163782"/>
                  </a:xfrm>
                  <a:prstGeom prst="rect">
                    <a:avLst/>
                  </a:prstGeom>
                </p:spPr>
                <p:style>
                  <a:lnRef idx="3">
                    <a:schemeClr val="lt1"/>
                  </a:lnRef>
                  <a:fillRef idx="1">
                    <a:schemeClr val="accent4"/>
                  </a:fillRef>
                  <a:effectRef idx="1">
                    <a:schemeClr val="accent4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33" name="Picture 32"/>
                  <p:cNvPicPr>
                    <a:picLocks noChangeAspect="1"/>
                  </p:cNvPicPr>
                  <p:nvPr/>
                </p:nvPicPr>
                <p:blipFill>
                  <a:blip r:embed="rId5" cstate="print">
                    <a:extLst>
                      <a:ext uri="{28A0092B-C50C-407E-A947-70E740481C1C}">
                        <a14:useLocalDpi xmlns:a14="http://schemas.microsoft.com/office/drawing/2010/main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376488" y="2073856"/>
                    <a:ext cx="1037877" cy="112019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8" name="Group 27"/>
                <p:cNvGrpSpPr/>
                <p:nvPr/>
              </p:nvGrpSpPr>
              <p:grpSpPr>
                <a:xfrm>
                  <a:off x="1881273" y="3237637"/>
                  <a:ext cx="2751687" cy="2865983"/>
                  <a:chOff x="1881273" y="3237637"/>
                  <a:chExt cx="2751687" cy="2865983"/>
                </a:xfrm>
              </p:grpSpPr>
              <p:cxnSp>
                <p:nvCxnSpPr>
                  <p:cNvPr id="29" name="Straight Connector 28"/>
                  <p:cNvCxnSpPr>
                    <a:stCxn id="29" idx="2"/>
                  </p:cNvCxnSpPr>
                  <p:nvPr/>
                </p:nvCxnSpPr>
                <p:spPr>
                  <a:xfrm flipH="1">
                    <a:off x="1881273" y="3237637"/>
                    <a:ext cx="2" cy="253708"/>
                  </a:xfrm>
                  <a:prstGeom prst="line">
                    <a:avLst/>
                  </a:prstGeom>
                  <a:ln>
                    <a:prstDash val="sysDash"/>
                    <a:headEnd type="none" w="med" len="med"/>
                    <a:tailEnd type="triangle" w="lg" len="lg"/>
                  </a:ln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" name="Straight Connector 29"/>
                  <p:cNvCxnSpPr/>
                  <p:nvPr/>
                </p:nvCxnSpPr>
                <p:spPr>
                  <a:xfrm>
                    <a:off x="1881273" y="3491345"/>
                    <a:ext cx="2744067" cy="0"/>
                  </a:xfrm>
                  <a:prstGeom prst="line">
                    <a:avLst/>
                  </a:prstGeom>
                  <a:ln>
                    <a:prstDash val="sysDash"/>
                    <a:headEnd type="none" w="med" len="med"/>
                    <a:tailEnd type="triangle" w="lg" len="lg"/>
                  </a:ln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/>
                  <p:nvPr/>
                </p:nvCxnSpPr>
                <p:spPr>
                  <a:xfrm>
                    <a:off x="4617720" y="3491345"/>
                    <a:ext cx="15240" cy="2612275"/>
                  </a:xfrm>
                  <a:prstGeom prst="straightConnector1">
                    <a:avLst/>
                  </a:prstGeom>
                  <a:ln>
                    <a:prstDash val="sysDash"/>
                    <a:headEnd type="none" w="med" len="med"/>
                    <a:tailEnd type="triangle" w="lg" len="lg"/>
                  </a:ln>
                </p:spPr>
                <p:style>
                  <a:lnRef idx="3">
                    <a:schemeClr val="accent4"/>
                  </a:lnRef>
                  <a:fillRef idx="0">
                    <a:schemeClr val="accent4"/>
                  </a:fillRef>
                  <a:effectRef idx="2">
                    <a:schemeClr val="accent4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</p:spTree>
    <p:extLst>
      <p:ext uri="{BB962C8B-B14F-4D97-AF65-F5344CB8AC3E}">
        <p14:creationId xmlns:p14="http://schemas.microsoft.com/office/powerpoint/2010/main" val="117432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/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845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Limit register (I)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00" y="2084439"/>
            <a:ext cx="2564150" cy="282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028950" y="1484671"/>
            <a:ext cx="6115050" cy="4692292"/>
          </a:xfrm>
        </p:spPr>
        <p:txBody>
          <a:bodyPr/>
          <a:lstStyle/>
          <a:p>
            <a:r>
              <a:rPr lang="en-US" dirty="0"/>
              <a:t>For each process, the CPU maintains two registers:</a:t>
            </a:r>
          </a:p>
          <a:p>
            <a:pPr lvl="1"/>
            <a:r>
              <a:rPr lang="en-US" dirty="0"/>
              <a:t>Base register: first address that can be access by the process</a:t>
            </a:r>
          </a:p>
          <a:p>
            <a:pPr lvl="1"/>
            <a:r>
              <a:rPr lang="en-US" dirty="0"/>
              <a:t>Limit register: number of addresses (starting from the base register) that can be accessed by the process</a:t>
            </a:r>
          </a:p>
          <a:p>
            <a:r>
              <a:rPr lang="en-US" dirty="0"/>
              <a:t>Example: process A can only access addresses from 300040 to 420940</a:t>
            </a:r>
          </a:p>
        </p:txBody>
      </p:sp>
      <p:sp>
        <p:nvSpPr>
          <p:cNvPr id="9" name="Rectangle 8"/>
          <p:cNvSpPr/>
          <p:nvPr/>
        </p:nvSpPr>
        <p:spPr>
          <a:xfrm>
            <a:off x="1101213" y="3264310"/>
            <a:ext cx="855406" cy="491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pic>
        <p:nvPicPr>
          <p:cNvPr id="10" name="Content Placeholder 4" descr="8.02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790" b="-12790"/>
          <a:stretch>
            <a:fillRect/>
          </a:stretch>
        </p:blipFill>
        <p:spPr>
          <a:xfrm>
            <a:off x="3640547" y="3562749"/>
            <a:ext cx="4891856" cy="2693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1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Limit register (II)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10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00" y="2084439"/>
            <a:ext cx="2564150" cy="282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001730" y="3173918"/>
            <a:ext cx="4680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Base and Limit register loaded by the OS using privileged instructions!</a:t>
            </a:r>
          </a:p>
        </p:txBody>
      </p:sp>
      <p:cxnSp>
        <p:nvCxnSpPr>
          <p:cNvPr id="13" name="Straight Arrow Connector 12"/>
          <p:cNvCxnSpPr>
            <a:stCxn id="11" idx="1"/>
          </p:cNvCxnSpPr>
          <p:nvPr/>
        </p:nvCxnSpPr>
        <p:spPr>
          <a:xfrm flipH="1">
            <a:off x="3195484" y="3497084"/>
            <a:ext cx="806246" cy="32316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1"/>
          </p:cNvCxnSpPr>
          <p:nvPr/>
        </p:nvCxnSpPr>
        <p:spPr>
          <a:xfrm flipH="1" flipV="1">
            <a:off x="3195484" y="3244645"/>
            <a:ext cx="806246" cy="25243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45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 and Limit register (III)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11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88872" y="1690689"/>
            <a:ext cx="78264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operating system can access the memory of the processes without restrictions.</a:t>
            </a:r>
          </a:p>
          <a:p>
            <a:endParaRPr lang="en-US" dirty="0"/>
          </a:p>
          <a:p>
            <a:r>
              <a:rPr lang="en-US" dirty="0"/>
              <a:t>We saw (at least) one example of this in the previous lectures, when?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20206" y="3852223"/>
            <a:ext cx="7595143" cy="1911932"/>
            <a:chOff x="920206" y="3852223"/>
            <a:chExt cx="7595143" cy="1911932"/>
          </a:xfrm>
        </p:grpSpPr>
        <p:pic>
          <p:nvPicPr>
            <p:cNvPr id="10" name="Picture 4" descr="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0206" y="3852223"/>
              <a:ext cx="7595143" cy="19119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/>
            <p:nvPr/>
          </p:nvSpPr>
          <p:spPr>
            <a:xfrm>
              <a:off x="5220104" y="4417358"/>
              <a:ext cx="3262806" cy="92333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/>
                <a:t>Replace the memory of the process with the one of another process</a:t>
              </a:r>
              <a:endParaRPr lang="en-US" dirty="0"/>
            </a:p>
          </p:txBody>
        </p:sp>
        <p:sp>
          <p:nvSpPr>
            <p:cNvPr id="3" name="Down Arrow 2"/>
            <p:cNvSpPr/>
            <p:nvPr/>
          </p:nvSpPr>
          <p:spPr>
            <a:xfrm rot="3802401">
              <a:off x="4424516" y="4523429"/>
              <a:ext cx="786581" cy="1052051"/>
            </a:xfrm>
            <a:prstGeom prst="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820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/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16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Address binding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13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698091" y="1690689"/>
            <a:ext cx="5416959" cy="923330"/>
            <a:chOff x="698091" y="1690689"/>
            <a:chExt cx="5416959" cy="923330"/>
          </a:xfrm>
        </p:grpSpPr>
        <p:sp>
          <p:nvSpPr>
            <p:cNvPr id="7" name="TextBox 6"/>
            <p:cNvSpPr txBox="1"/>
            <p:nvPr/>
          </p:nvSpPr>
          <p:spPr>
            <a:xfrm>
              <a:off x="698091" y="1690689"/>
              <a:ext cx="142539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…</a:t>
              </a:r>
            </a:p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a = b + 2</a:t>
              </a:r>
            </a:p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…</a:t>
              </a:r>
            </a:p>
          </p:txBody>
        </p:sp>
        <p:sp>
          <p:nvSpPr>
            <p:cNvPr id="8" name="Left Arrow 7"/>
            <p:cNvSpPr/>
            <p:nvPr/>
          </p:nvSpPr>
          <p:spPr>
            <a:xfrm>
              <a:off x="2330246" y="1910038"/>
              <a:ext cx="978408" cy="484632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392129" y="1967688"/>
              <a:ext cx="272292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Where do </a:t>
              </a:r>
              <a:r>
                <a:rPr lang="en-US"/>
                <a:t>we store a?</a:t>
              </a:r>
              <a:endParaRPr lang="en-US" dirty="0"/>
            </a:p>
          </p:txBody>
        </p:sp>
      </p:grpSp>
      <p:pic>
        <p:nvPicPr>
          <p:cNvPr id="10" name="Picture 3" descr="C:\Users\as668\Desktop\1_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49" y="3352927"/>
            <a:ext cx="2554001" cy="21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2954595" y="4203679"/>
            <a:ext cx="6032089" cy="646331"/>
            <a:chOff x="2954595" y="4203679"/>
            <a:chExt cx="6032089" cy="646331"/>
          </a:xfrm>
        </p:grpSpPr>
        <p:sp>
          <p:nvSpPr>
            <p:cNvPr id="11" name="Left Arrow 10"/>
            <p:cNvSpPr/>
            <p:nvPr/>
          </p:nvSpPr>
          <p:spPr>
            <a:xfrm flipH="1">
              <a:off x="2954595" y="4284529"/>
              <a:ext cx="978408" cy="484632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16478" y="4203679"/>
              <a:ext cx="49702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As long as the program is not loaded in memory, we do not know the address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465391" y="3565675"/>
            <a:ext cx="6437818" cy="646331"/>
            <a:chOff x="2465391" y="3565675"/>
            <a:chExt cx="6437818" cy="646331"/>
          </a:xfrm>
        </p:grpSpPr>
        <p:sp>
          <p:nvSpPr>
            <p:cNvPr id="13" name="Left Arrow 12"/>
            <p:cNvSpPr/>
            <p:nvPr/>
          </p:nvSpPr>
          <p:spPr>
            <a:xfrm rot="10800000" flipH="1">
              <a:off x="2465391" y="3646524"/>
              <a:ext cx="978408" cy="484632"/>
            </a:xfrm>
            <a:prstGeom prst="lef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443799" y="3565675"/>
              <a:ext cx="545941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Once we load it into memory, we know the address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98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81782" y="1828800"/>
            <a:ext cx="5899353" cy="18582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Logical/Virtual vs Physical address space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2286" y="1804188"/>
            <a:ext cx="49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Logical/Virtual address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628650" y="2271078"/>
            <a:ext cx="6909004" cy="1318460"/>
            <a:chOff x="747252" y="4720140"/>
            <a:chExt cx="6909004" cy="1318460"/>
          </a:xfrm>
        </p:grpSpPr>
        <p:sp>
          <p:nvSpPr>
            <p:cNvPr id="8" name="TextBox 7"/>
            <p:cNvSpPr txBox="1"/>
            <p:nvPr/>
          </p:nvSpPr>
          <p:spPr>
            <a:xfrm>
              <a:off x="747252" y="4797520"/>
              <a:ext cx="142539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…</a:t>
              </a:r>
            </a:p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a = b + 2</a:t>
              </a:r>
            </a:p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…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825910" y="4889417"/>
              <a:ext cx="18601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2686050" y="4720140"/>
              <a:ext cx="4970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/>
                <a:t>First address of the program 00000</a:t>
              </a:r>
              <a:endParaRPr lang="en-US" sz="1600" dirty="0"/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1039618" y="5360111"/>
              <a:ext cx="840658" cy="513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880276" y="5700046"/>
              <a:ext cx="4970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Address of variable a 346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559315" y="4177378"/>
            <a:ext cx="5899353" cy="18582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2529819" y="4152766"/>
            <a:ext cx="4970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Physical address (main memory)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706183" y="4619656"/>
            <a:ext cx="6909004" cy="1318460"/>
            <a:chOff x="747252" y="4720140"/>
            <a:chExt cx="6909004" cy="1318460"/>
          </a:xfrm>
        </p:grpSpPr>
        <p:sp>
          <p:nvSpPr>
            <p:cNvPr id="20" name="TextBox 19"/>
            <p:cNvSpPr txBox="1"/>
            <p:nvPr/>
          </p:nvSpPr>
          <p:spPr>
            <a:xfrm>
              <a:off x="747252" y="4797520"/>
              <a:ext cx="142539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…</a:t>
              </a:r>
            </a:p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a = b + 2</a:t>
              </a:r>
            </a:p>
            <a:p>
              <a:r>
                <a:rPr lang="en-US" dirty="0">
                  <a:latin typeface="Andale Mono" charset="0"/>
                  <a:ea typeface="Andale Mono" charset="0"/>
                  <a:cs typeface="Andale Mono" charset="0"/>
                </a:rPr>
                <a:t>…</a:t>
              </a: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825910" y="4889417"/>
              <a:ext cx="18601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2686050" y="4720140"/>
              <a:ext cx="4970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First address of the program 14000</a:t>
              </a:r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>
              <a:off x="1039618" y="5360111"/>
              <a:ext cx="840658" cy="5134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1880276" y="5700046"/>
              <a:ext cx="49702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Address of variable a 14346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1532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Logical/Virtual vs Physical address space (ii)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670" y="2200173"/>
            <a:ext cx="4242415" cy="24998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84673" y="4700022"/>
            <a:ext cx="2133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Logical/Virtual </a:t>
            </a:r>
            <a:br>
              <a:rPr lang="en-US" b="1"/>
            </a:br>
            <a:r>
              <a:rPr lang="en-US" b="1"/>
              <a:t>address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852221" y="4700022"/>
            <a:ext cx="2133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physical</a:t>
            </a:r>
            <a:br>
              <a:rPr lang="en-US" b="1" dirty="0"/>
            </a:br>
            <a:r>
              <a:rPr lang="en-US" b="1" dirty="0"/>
              <a:t>address</a:t>
            </a:r>
          </a:p>
        </p:txBody>
      </p:sp>
      <p:sp>
        <p:nvSpPr>
          <p:cNvPr id="10" name="Oval Callout 9"/>
          <p:cNvSpPr/>
          <p:nvPr/>
        </p:nvSpPr>
        <p:spPr>
          <a:xfrm>
            <a:off x="2794205" y="1420807"/>
            <a:ext cx="1458248" cy="612648"/>
          </a:xfrm>
          <a:prstGeom prst="wedgeEllipseCallout">
            <a:avLst>
              <a:gd name="adj1" fmla="val -42409"/>
              <a:gd name="adj2" fmla="val 801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Address 346</a:t>
            </a:r>
          </a:p>
        </p:txBody>
      </p:sp>
      <p:sp>
        <p:nvSpPr>
          <p:cNvPr id="11" name="Oval Callout 10"/>
          <p:cNvSpPr/>
          <p:nvPr/>
        </p:nvSpPr>
        <p:spPr>
          <a:xfrm>
            <a:off x="5710085" y="1587525"/>
            <a:ext cx="1458248" cy="612648"/>
          </a:xfrm>
          <a:prstGeom prst="wedgeEllipseCallout">
            <a:avLst>
              <a:gd name="adj1" fmla="val -42409"/>
              <a:gd name="adj2" fmla="val 801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14346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343" y="3285570"/>
            <a:ext cx="1573225" cy="102521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877" y="2909702"/>
            <a:ext cx="780025" cy="58501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3290" y="5710020"/>
            <a:ext cx="8642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to convert between logical/virtual addresses </a:t>
            </a:r>
            <a:r>
              <a:rPr lang="en-US"/>
              <a:t>to physical addresses?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4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Memory-Management Unit (MMU) – Relocation Register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16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478" y="2703412"/>
            <a:ext cx="3901870" cy="282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660490" y="2979377"/>
            <a:ext cx="424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Logical/Virtual addresses [0,max]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660490" y="4666911"/>
            <a:ext cx="4247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Physical addresses [R+0,R+max]</a:t>
            </a:r>
          </a:p>
        </p:txBody>
      </p:sp>
    </p:spTree>
    <p:extLst>
      <p:ext uri="{BB962C8B-B14F-4D97-AF65-F5344CB8AC3E}">
        <p14:creationId xmlns:p14="http://schemas.microsoft.com/office/powerpoint/2010/main" val="577930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/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77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– Dynamic loading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18</a:t>
            </a:fld>
            <a:endParaRPr lang="en-US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00" y="2084439"/>
            <a:ext cx="2564150" cy="2825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101213" y="3264310"/>
            <a:ext cx="855406" cy="491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3135" y="1690689"/>
            <a:ext cx="51822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assumed so far the entire program A is loaded</a:t>
            </a:r>
          </a:p>
          <a:p>
            <a:endParaRPr lang="en-US" dirty="0"/>
          </a:p>
          <a:p>
            <a:r>
              <a:rPr lang="en-US" dirty="0"/>
              <a:t>If A is large and parts of it are almost never used </a:t>
            </a:r>
            <a:r>
              <a:rPr lang="en-US" dirty="0">
                <a:sym typeface="Wingdings"/>
              </a:rPr>
              <a:t> slower to load</a:t>
            </a:r>
          </a:p>
          <a:p>
            <a:endParaRPr lang="en-US" dirty="0">
              <a:sym typeface="Wingdings"/>
            </a:endParaRPr>
          </a:p>
          <a:p>
            <a:r>
              <a:rPr lang="en-US" dirty="0">
                <a:sym typeface="Wingdings"/>
              </a:rPr>
              <a:t>With dynamic loading, routines of a program can be loaded only when needed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72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– Dynamic Linking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19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2634723" y="1394123"/>
            <a:ext cx="3806923" cy="1498494"/>
            <a:chOff x="2634723" y="1394123"/>
            <a:chExt cx="3806923" cy="1498494"/>
          </a:xfrm>
        </p:grpSpPr>
        <p:sp>
          <p:nvSpPr>
            <p:cNvPr id="7" name="TextBox 6"/>
            <p:cNvSpPr txBox="1"/>
            <p:nvPr/>
          </p:nvSpPr>
          <p:spPr>
            <a:xfrm>
              <a:off x="2634723" y="1784621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34723" y="2153953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34723" y="2523285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C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68487" y="2153953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D</a:t>
              </a:r>
            </a:p>
          </p:txBody>
        </p:sp>
        <p:cxnSp>
          <p:nvCxnSpPr>
            <p:cNvPr id="12" name="Straight Arrow Connector 11"/>
            <p:cNvCxnSpPr>
              <a:stCxn id="7" idx="3"/>
              <a:endCxn id="10" idx="1"/>
            </p:cNvCxnSpPr>
            <p:nvPr/>
          </p:nvCxnSpPr>
          <p:spPr>
            <a:xfrm>
              <a:off x="4207882" y="1969287"/>
              <a:ext cx="660605" cy="369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10" idx="1"/>
            </p:cNvCxnSpPr>
            <p:nvPr/>
          </p:nvCxnSpPr>
          <p:spPr>
            <a:xfrm>
              <a:off x="4207882" y="2338619"/>
              <a:ext cx="660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3"/>
              <a:endCxn id="10" idx="1"/>
            </p:cNvCxnSpPr>
            <p:nvPr/>
          </p:nvCxnSpPr>
          <p:spPr>
            <a:xfrm flipV="1">
              <a:off x="4207882" y="2338619"/>
              <a:ext cx="660605" cy="369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590294" y="1394123"/>
              <a:ext cx="2359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 </a:t>
              </a:r>
              <a:r>
                <a:rPr lang="en-US"/>
                <a:t>library from</a:t>
              </a:r>
              <a:endParaRPr lang="en-US" dirty="0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44129" y="3029040"/>
            <a:ext cx="8544232" cy="3327311"/>
            <a:chOff x="344129" y="3029040"/>
            <a:chExt cx="8544232" cy="3327311"/>
          </a:xfrm>
        </p:grpSpPr>
        <p:pic>
          <p:nvPicPr>
            <p:cNvPr id="20" name="Picture 3" descr="C:\Users\as668\Desktop\1_04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07" y="3641712"/>
              <a:ext cx="2982283" cy="2482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Rounded Rectangular Callout 20"/>
            <p:cNvSpPr/>
            <p:nvPr/>
          </p:nvSpPr>
          <p:spPr>
            <a:xfrm>
              <a:off x="3667432" y="3539073"/>
              <a:ext cx="4414684" cy="2102227"/>
            </a:xfrm>
            <a:prstGeom prst="wedgeRoundRectCallout">
              <a:avLst>
                <a:gd name="adj1" fmla="val -73455"/>
                <a:gd name="adj2" fmla="val -16361"/>
                <a:gd name="adj3" fmla="val 16667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ular Callout 21"/>
            <p:cNvSpPr/>
            <p:nvPr/>
          </p:nvSpPr>
          <p:spPr>
            <a:xfrm>
              <a:off x="3770671" y="3631406"/>
              <a:ext cx="4390103" cy="2102227"/>
            </a:xfrm>
            <a:prstGeom prst="wedgeRoundRectCallout">
              <a:avLst>
                <a:gd name="adj1" fmla="val -67291"/>
                <a:gd name="adj2" fmla="val 1795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32503" y="4449071"/>
              <a:ext cx="422173" cy="42217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5259130" y="4252525"/>
              <a:ext cx="495915" cy="882602"/>
              <a:chOff x="5200035" y="4115413"/>
              <a:chExt cx="495915" cy="882602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200035" y="4115413"/>
                <a:ext cx="495915" cy="88260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/>
                  <a:t>A</a:t>
                </a:r>
                <a:endParaRPr lang="en-US" b="1" dirty="0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236905" y="4523046"/>
                <a:ext cx="422173" cy="422173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6159499" y="4252525"/>
              <a:ext cx="495915" cy="882602"/>
              <a:chOff x="5200035" y="4115413"/>
              <a:chExt cx="495915" cy="882602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5200035" y="4115413"/>
                <a:ext cx="495915" cy="88260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/>
                  <a:t>B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236905" y="4523046"/>
                <a:ext cx="422173" cy="422173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059868" y="4252525"/>
              <a:ext cx="495915" cy="882602"/>
              <a:chOff x="5200035" y="4115413"/>
              <a:chExt cx="495915" cy="882602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5200035" y="4115413"/>
                <a:ext cx="495915" cy="882602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/>
                  <a:t>C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5236905" y="4523046"/>
                <a:ext cx="422173" cy="422173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/>
                  <a:t>D</a:t>
                </a: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3563255" y="3029040"/>
              <a:ext cx="2328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/>
                <a:t>Static linking</a:t>
              </a:r>
              <a:endParaRPr lang="en-US" b="1" dirty="0"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44129" y="3029040"/>
              <a:ext cx="8544232" cy="332731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5459667" y="5339089"/>
            <a:ext cx="3274141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dirty="0"/>
              <a:t>Waste of disk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Waste of memory</a:t>
            </a:r>
          </a:p>
          <a:p>
            <a:pPr marL="285750" indent="-285750">
              <a:buFont typeface="Arial" charset="0"/>
              <a:buChar char="•"/>
            </a:pPr>
            <a:r>
              <a:rPr lang="en-US" dirty="0"/>
              <a:t>Need to re-link if D changes</a:t>
            </a:r>
          </a:p>
        </p:txBody>
      </p:sp>
    </p:spTree>
    <p:extLst>
      <p:ext uri="{BB962C8B-B14F-4D97-AF65-F5344CB8AC3E}">
        <p14:creationId xmlns:p14="http://schemas.microsoft.com/office/powerpoint/2010/main" val="1591681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Optimizations – Dynamic Linking (ii)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20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2634723" y="1394123"/>
            <a:ext cx="3806923" cy="1498494"/>
            <a:chOff x="2634723" y="1394123"/>
            <a:chExt cx="3806923" cy="1498494"/>
          </a:xfrm>
        </p:grpSpPr>
        <p:sp>
          <p:nvSpPr>
            <p:cNvPr id="7" name="TextBox 6"/>
            <p:cNvSpPr txBox="1"/>
            <p:nvPr/>
          </p:nvSpPr>
          <p:spPr>
            <a:xfrm>
              <a:off x="2634723" y="1784621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634723" y="2153953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34723" y="2523285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C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68487" y="2153953"/>
              <a:ext cx="15731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Program D</a:t>
              </a:r>
            </a:p>
          </p:txBody>
        </p:sp>
        <p:cxnSp>
          <p:nvCxnSpPr>
            <p:cNvPr id="12" name="Straight Arrow Connector 11"/>
            <p:cNvCxnSpPr>
              <a:stCxn id="7" idx="3"/>
              <a:endCxn id="10" idx="1"/>
            </p:cNvCxnSpPr>
            <p:nvPr/>
          </p:nvCxnSpPr>
          <p:spPr>
            <a:xfrm>
              <a:off x="4207882" y="1969287"/>
              <a:ext cx="660605" cy="369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10" idx="1"/>
            </p:cNvCxnSpPr>
            <p:nvPr/>
          </p:nvCxnSpPr>
          <p:spPr>
            <a:xfrm>
              <a:off x="4207882" y="2338619"/>
              <a:ext cx="6606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9" idx="3"/>
              <a:endCxn id="10" idx="1"/>
            </p:cNvCxnSpPr>
            <p:nvPr/>
          </p:nvCxnSpPr>
          <p:spPr>
            <a:xfrm flipV="1">
              <a:off x="4207882" y="2338619"/>
              <a:ext cx="660605" cy="36933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590294" y="1394123"/>
              <a:ext cx="23597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Use </a:t>
              </a:r>
              <a:r>
                <a:rPr lang="en-US"/>
                <a:t>library from</a:t>
              </a:r>
              <a:endParaRPr lang="en-US" dirty="0"/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44129" y="3029040"/>
            <a:ext cx="8544232" cy="3327311"/>
            <a:chOff x="344129" y="3029040"/>
            <a:chExt cx="8544232" cy="3327311"/>
          </a:xfrm>
        </p:grpSpPr>
        <p:pic>
          <p:nvPicPr>
            <p:cNvPr id="20" name="Picture 3" descr="C:\Users\as668\Desktop\1_04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007" y="3641712"/>
              <a:ext cx="2982283" cy="2482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" name="Rounded Rectangular Callout 20"/>
            <p:cNvSpPr/>
            <p:nvPr/>
          </p:nvSpPr>
          <p:spPr>
            <a:xfrm>
              <a:off x="3667432" y="3539073"/>
              <a:ext cx="4414684" cy="2102227"/>
            </a:xfrm>
            <a:prstGeom prst="wedgeRoundRectCallout">
              <a:avLst>
                <a:gd name="adj1" fmla="val -73455"/>
                <a:gd name="adj2" fmla="val -16361"/>
                <a:gd name="adj3" fmla="val 16667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ounded Rectangular Callout 21"/>
            <p:cNvSpPr/>
            <p:nvPr/>
          </p:nvSpPr>
          <p:spPr>
            <a:xfrm>
              <a:off x="3770671" y="3631406"/>
              <a:ext cx="4390103" cy="2102227"/>
            </a:xfrm>
            <a:prstGeom prst="wedgeRoundRectCallout">
              <a:avLst>
                <a:gd name="adj1" fmla="val -67291"/>
                <a:gd name="adj2" fmla="val 17951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432503" y="4449071"/>
              <a:ext cx="422173" cy="422173"/>
            </a:xfrm>
            <a:prstGeom prst="rect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D</a:t>
              </a:r>
            </a:p>
          </p:txBody>
        </p:sp>
        <p:grpSp>
          <p:nvGrpSpPr>
            <p:cNvPr id="26" name="Group 25"/>
            <p:cNvGrpSpPr/>
            <p:nvPr/>
          </p:nvGrpSpPr>
          <p:grpSpPr>
            <a:xfrm>
              <a:off x="5259130" y="4252525"/>
              <a:ext cx="495915" cy="557778"/>
              <a:chOff x="5200035" y="4115413"/>
              <a:chExt cx="495915" cy="557778"/>
            </a:xfrm>
          </p:grpSpPr>
          <p:sp>
            <p:nvSpPr>
              <p:cNvPr id="25" name="Rectangle 24"/>
              <p:cNvSpPr/>
              <p:nvPr/>
            </p:nvSpPr>
            <p:spPr>
              <a:xfrm>
                <a:off x="5200035" y="4115413"/>
                <a:ext cx="495915" cy="55777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/>
                  <a:t>A</a:t>
                </a:r>
                <a:endParaRPr lang="en-US" b="1" dirty="0"/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236905" y="4523046"/>
                <a:ext cx="422173" cy="7656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</p:grpSp>
        <p:grpSp>
          <p:nvGrpSpPr>
            <p:cNvPr id="27" name="Group 26"/>
            <p:cNvGrpSpPr/>
            <p:nvPr/>
          </p:nvGrpSpPr>
          <p:grpSpPr>
            <a:xfrm>
              <a:off x="6159499" y="4252525"/>
              <a:ext cx="495915" cy="557778"/>
              <a:chOff x="5200035" y="4115413"/>
              <a:chExt cx="495915" cy="557778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5200035" y="4115413"/>
                <a:ext cx="495915" cy="55777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/>
                  <a:t>B</a:t>
                </a: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236905" y="4523046"/>
                <a:ext cx="422173" cy="7656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7059868" y="4252525"/>
              <a:ext cx="495915" cy="557778"/>
              <a:chOff x="5200035" y="4115413"/>
              <a:chExt cx="495915" cy="557778"/>
            </a:xfrm>
          </p:grpSpPr>
          <p:sp>
            <p:nvSpPr>
              <p:cNvPr id="31" name="Rectangle 30"/>
              <p:cNvSpPr/>
              <p:nvPr/>
            </p:nvSpPr>
            <p:spPr>
              <a:xfrm>
                <a:off x="5200035" y="4115413"/>
                <a:ext cx="495915" cy="557778"/>
              </a:xfrm>
              <a:prstGeom prst="rect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b="1" dirty="0"/>
                  <a:t>C</a:t>
                </a: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5236905" y="4523046"/>
                <a:ext cx="422173" cy="76565"/>
              </a:xfrm>
              <a:prstGeom prst="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b="1" dirty="0"/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5459667" y="5339089"/>
              <a:ext cx="3428694" cy="923330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Better use of disk</a:t>
              </a:r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Better use of memory</a:t>
              </a:r>
            </a:p>
            <a:p>
              <a:pPr marL="285750" indent="-285750">
                <a:buFont typeface="Arial" charset="0"/>
                <a:buChar char="•"/>
              </a:pPr>
              <a:r>
                <a:rPr lang="en-US" dirty="0"/>
                <a:t>No need to re-link if D changes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63255" y="3029040"/>
              <a:ext cx="2328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Dynamic linking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44129" y="3029040"/>
              <a:ext cx="8544232" cy="332731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339876" y="3799005"/>
            <a:ext cx="1509158" cy="899436"/>
            <a:chOff x="7339876" y="3799005"/>
            <a:chExt cx="1509158" cy="899436"/>
          </a:xfrm>
        </p:grpSpPr>
        <p:cxnSp>
          <p:nvCxnSpPr>
            <p:cNvPr id="11" name="Straight Arrow Connector 10"/>
            <p:cNvCxnSpPr>
              <a:endCxn id="32" idx="3"/>
            </p:cNvCxnSpPr>
            <p:nvPr/>
          </p:nvCxnSpPr>
          <p:spPr>
            <a:xfrm flipH="1">
              <a:off x="7518911" y="4149213"/>
              <a:ext cx="838508" cy="549228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7339876" y="3799005"/>
              <a:ext cx="1509158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/>
                <a:t>Stub for D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6286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 [self reading]</a:t>
            </a:r>
          </a:p>
          <a:p>
            <a:r>
              <a:rPr lang="en-US" dirty="0"/>
              <a:t>Swapping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01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22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530327" y="1690689"/>
            <a:ext cx="7198057" cy="2482419"/>
            <a:chOff x="530327" y="1690689"/>
            <a:chExt cx="7198057" cy="2482419"/>
          </a:xfrm>
        </p:grpSpPr>
        <p:pic>
          <p:nvPicPr>
            <p:cNvPr id="7" name="Picture 3" descr="C:\Users\as668\Desktop\1_04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327" y="1690689"/>
              <a:ext cx="2982283" cy="2482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Curved Left Arrow 7"/>
            <p:cNvSpPr/>
            <p:nvPr/>
          </p:nvSpPr>
          <p:spPr>
            <a:xfrm>
              <a:off x="3245172" y="2237519"/>
              <a:ext cx="731520" cy="1009674"/>
            </a:xfrm>
            <a:prstGeom prst="curved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041287" y="2285567"/>
              <a:ext cx="36870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Moving a process from </a:t>
              </a:r>
              <a:r>
                <a:rPr lang="en-US" u="sng" dirty="0"/>
                <a:t>memory</a:t>
              </a:r>
              <a:r>
                <a:rPr lang="en-US" dirty="0"/>
                <a:t> to </a:t>
              </a:r>
              <a:r>
                <a:rPr lang="en-US" u="sng" dirty="0"/>
                <a:t>backing store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2284" y="4836654"/>
            <a:ext cx="920806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size(all logical addresses) &gt; size(real physical memory)</a:t>
            </a:r>
            <a:endParaRPr lang="en-US" sz="2200" u="sng" dirty="0"/>
          </a:p>
        </p:txBody>
      </p:sp>
      <p:sp>
        <p:nvSpPr>
          <p:cNvPr id="11" name="TextBox 10"/>
          <p:cNvSpPr txBox="1"/>
          <p:nvPr/>
        </p:nvSpPr>
        <p:spPr>
          <a:xfrm>
            <a:off x="452284" y="4405767"/>
            <a:ext cx="36870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Why?</a:t>
            </a:r>
            <a:endParaRPr lang="en-US" sz="2200" u="sng" dirty="0"/>
          </a:p>
        </p:txBody>
      </p:sp>
    </p:spTree>
    <p:extLst>
      <p:ext uri="{BB962C8B-B14F-4D97-AF65-F5344CB8AC3E}">
        <p14:creationId xmlns:p14="http://schemas.microsoft.com/office/powerpoint/2010/main" val="1301061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idea: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2755759"/>
            <a:ext cx="3329719" cy="2491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277032" y="2451590"/>
            <a:ext cx="462116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Questions: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Which processes can we swap?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How much time does it take?</a:t>
            </a:r>
          </a:p>
          <a:p>
            <a:pPr marL="342900" indent="-342900">
              <a:buFont typeface="Arial" charset="0"/>
              <a:buChar char="•"/>
            </a:pPr>
            <a:r>
              <a:rPr lang="en-US" sz="2000" dirty="0"/>
              <a:t>When does it make sense to use swapping?</a:t>
            </a:r>
          </a:p>
        </p:txBody>
      </p:sp>
    </p:spTree>
    <p:extLst>
      <p:ext uri="{BB962C8B-B14F-4D97-AF65-F5344CB8AC3E}">
        <p14:creationId xmlns:p14="http://schemas.microsoft.com/office/powerpoint/2010/main" val="80051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 - </a:t>
            </a:r>
            <a:r>
              <a:rPr lang="en-US" sz="3600" dirty="0"/>
              <a:t>Which processes can we swap?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888" y="1828799"/>
            <a:ext cx="4551798" cy="3925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2502" y="1517183"/>
            <a:ext cx="1077201" cy="110311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242" y="3919837"/>
            <a:ext cx="1240461" cy="93034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9241" y="4987443"/>
            <a:ext cx="1240461" cy="93034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383" y="4041650"/>
            <a:ext cx="28417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Depends on the pending I/O…</a:t>
            </a:r>
          </a:p>
          <a:p>
            <a:endParaRPr lang="en-US" dirty="0"/>
          </a:p>
          <a:p>
            <a:r>
              <a:rPr lang="en-US" dirty="0"/>
              <a:t>Can the I/O results be buffered at the OS?</a:t>
            </a:r>
          </a:p>
        </p:txBody>
      </p:sp>
    </p:spTree>
    <p:extLst>
      <p:ext uri="{BB962C8B-B14F-4D97-AF65-F5344CB8AC3E}">
        <p14:creationId xmlns:p14="http://schemas.microsoft.com/office/powerpoint/2010/main" val="85475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 – How much time does it take?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in memory 100 MB</a:t>
            </a:r>
          </a:p>
          <a:p>
            <a:r>
              <a:rPr lang="en-US" dirty="0"/>
              <a:t>Disk transfer rate 50 MB/s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>
                <a:sym typeface="Wingdings"/>
              </a:rPr>
              <a:t> 100 MP / 50 MB/s = 2 seconds</a:t>
            </a:r>
          </a:p>
          <a:p>
            <a:pPr marL="0" indent="0">
              <a:buNone/>
            </a:pP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 Swap out + Swap in = 4 seconds</a:t>
            </a:r>
          </a:p>
          <a:p>
            <a:pPr marL="0" indent="0">
              <a:buNone/>
            </a:pPr>
            <a:br>
              <a:rPr lang="en-US" dirty="0">
                <a:sym typeface="Wingdings"/>
              </a:rPr>
            </a:br>
            <a:r>
              <a:rPr lang="en-US" dirty="0">
                <a:sym typeface="Wingdings"/>
              </a:rPr>
              <a:t>(Notice: being optimistic! Disk writes/reads might be requested by other processes, interrupts will occur in the meantime, etc…)</a:t>
            </a:r>
          </a:p>
          <a:p>
            <a:pPr marL="0" indent="0">
              <a:buNone/>
            </a:pPr>
            <a:br>
              <a:rPr lang="en-US" dirty="0">
                <a:sym typeface="Wingdings"/>
              </a:rPr>
            </a:br>
            <a:r>
              <a:rPr lang="en-US" b="1" u="sng" dirty="0">
                <a:sym typeface="Wingdings"/>
              </a:rPr>
              <a:t>It is slow and expensive (because write/read to disks are slower and more expensive than memory ones)!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005781" y="20057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9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Swapping – When does it make sense to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used “as it is”…</a:t>
            </a:r>
          </a:p>
          <a:p>
            <a:endParaRPr lang="en-US" dirty="0"/>
          </a:p>
          <a:p>
            <a:r>
              <a:rPr lang="en-US" dirty="0"/>
              <a:t>Modified versions are used in UNIX, Linux and Windows </a:t>
            </a:r>
          </a:p>
          <a:p>
            <a:pPr lvl="1"/>
            <a:r>
              <a:rPr lang="en-US" dirty="0"/>
              <a:t>Swapping is activated when free memory goes below a certain threshold</a:t>
            </a:r>
          </a:p>
          <a:p>
            <a:pPr lvl="1"/>
            <a:r>
              <a:rPr lang="en-US" dirty="0"/>
              <a:t>Swapping is activated when free memory goes above a certain threshold</a:t>
            </a:r>
          </a:p>
          <a:p>
            <a:pPr lvl="1"/>
            <a:endParaRPr lang="en-US" dirty="0"/>
          </a:p>
          <a:p>
            <a:r>
              <a:rPr lang="en-US" dirty="0"/>
              <a:t>Modified swapping (swap out / in only parts of the process) used in </a:t>
            </a:r>
            <a:r>
              <a:rPr lang="en-US" dirty="0" err="1"/>
              <a:t>conjuction</a:t>
            </a:r>
            <a:r>
              <a:rPr lang="en-US" dirty="0"/>
              <a:t> with Virtual Memory (next lecture…)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8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/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1945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contains</a:t>
            </a:r>
          </a:p>
          <a:p>
            <a:pPr lvl="1"/>
            <a:r>
              <a:rPr lang="en-US" dirty="0"/>
              <a:t>The operating system itself</a:t>
            </a:r>
          </a:p>
          <a:p>
            <a:pPr lvl="1"/>
            <a:r>
              <a:rPr lang="en-US" dirty="0"/>
              <a:t>The users’ processes</a:t>
            </a:r>
          </a:p>
          <a:p>
            <a:pPr lvl="1"/>
            <a:endParaRPr lang="en-US" dirty="0"/>
          </a:p>
          <a:p>
            <a:r>
              <a:rPr lang="en-US" dirty="0"/>
              <a:t>Challenge: how to allocate memory efficiently?</a:t>
            </a:r>
          </a:p>
          <a:p>
            <a:endParaRPr lang="en-US" dirty="0"/>
          </a:p>
          <a:p>
            <a:r>
              <a:rPr lang="en-US" dirty="0"/>
              <a:t>We will see 3 cases</a:t>
            </a:r>
          </a:p>
          <a:p>
            <a:pPr lvl="1"/>
            <a:r>
              <a:rPr lang="en-US" dirty="0"/>
              <a:t>Contiguous allocation</a:t>
            </a:r>
          </a:p>
          <a:p>
            <a:pPr lvl="1"/>
            <a:r>
              <a:rPr lang="en-US" dirty="0"/>
              <a:t>Segmentation</a:t>
            </a:r>
          </a:p>
          <a:p>
            <a:pPr lvl="1"/>
            <a:r>
              <a:rPr lang="en-US" dirty="0"/>
              <a:t>Paging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269234" y="3724672"/>
            <a:ext cx="1405843" cy="1694657"/>
            <a:chOff x="1295399" y="1828800"/>
            <a:chExt cx="3056187" cy="4092635"/>
          </a:xfrm>
        </p:grpSpPr>
        <p:pic>
          <p:nvPicPr>
            <p:cNvPr id="8" name="Picture 7" descr="http://4.bp.blogspot.com/-Kc_jYOMfj-g/UCakbvK3gyI/AAAAAAAAGTo/8Fa5sfZjQkI/s1600/coperta_corta.jpe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399" y="1828800"/>
              <a:ext cx="3056187" cy="409263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Up Arrow 8"/>
            <p:cNvSpPr/>
            <p:nvPr/>
          </p:nvSpPr>
          <p:spPr>
            <a:xfrm rot="1459553">
              <a:off x="3380403" y="2723383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Up Arrow 9"/>
            <p:cNvSpPr/>
            <p:nvPr/>
          </p:nvSpPr>
          <p:spPr>
            <a:xfrm rot="12307406">
              <a:off x="2530992" y="4552399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  <p:sp>
        <p:nvSpPr>
          <p:cNvPr id="11" name="Down Arrow 10"/>
          <p:cNvSpPr/>
          <p:nvPr/>
        </p:nvSpPr>
        <p:spPr>
          <a:xfrm>
            <a:off x="6810188" y="3598621"/>
            <a:ext cx="922389" cy="21827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185346" y="2859304"/>
            <a:ext cx="217207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Logical and physical memory more and more separated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4801" y="3854245"/>
            <a:ext cx="2682242" cy="59976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Less fragmentation (better memory utilization)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9213" y="4541940"/>
            <a:ext cx="1256564" cy="2961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47358" y="4631647"/>
            <a:ext cx="1580414" cy="59299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Faster loading / swapping</a:t>
            </a:r>
          </a:p>
        </p:txBody>
      </p:sp>
    </p:spTree>
    <p:extLst>
      <p:ext uri="{BB962C8B-B14F-4D97-AF65-F5344CB8AC3E}">
        <p14:creationId xmlns:p14="http://schemas.microsoft.com/office/powerpoint/2010/main" val="111733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13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/>
              <a:t>Memory allocation</a:t>
            </a:r>
          </a:p>
          <a:p>
            <a:pPr lvl="1"/>
            <a:r>
              <a:rPr lang="en-US" dirty="0"/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078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3639" y="1727149"/>
            <a:ext cx="4742822" cy="3570340"/>
          </a:xfrm>
        </p:spPr>
        <p:txBody>
          <a:bodyPr/>
          <a:lstStyle/>
          <a:p>
            <a:r>
              <a:rPr lang="en-US" dirty="0"/>
              <a:t>Operating system at the bottom</a:t>
            </a:r>
          </a:p>
          <a:p>
            <a:r>
              <a:rPr lang="en-US" dirty="0"/>
              <a:t>Processes one after the other </a:t>
            </a:r>
            <a:br>
              <a:rPr lang="en-US" dirty="0"/>
            </a:br>
            <a:r>
              <a:rPr lang="en-US" dirty="0"/>
              <a:t>(each process contiguous to the previous)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688"/>
          <a:stretch/>
        </p:blipFill>
        <p:spPr bwMode="auto">
          <a:xfrm>
            <a:off x="826636" y="1690689"/>
            <a:ext cx="20070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45530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allocation – memory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31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64800" y="2128918"/>
            <a:ext cx="1570477" cy="2825290"/>
            <a:chOff x="464800" y="2084439"/>
            <a:chExt cx="1570477" cy="2825290"/>
          </a:xfrm>
        </p:grpSpPr>
        <p:pic>
          <p:nvPicPr>
            <p:cNvPr id="10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753"/>
            <a:stretch/>
          </p:blipFill>
          <p:spPr bwMode="auto">
            <a:xfrm>
              <a:off x="464800" y="2084439"/>
              <a:ext cx="1570477" cy="2825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0"/>
            <p:cNvSpPr/>
            <p:nvPr/>
          </p:nvSpPr>
          <p:spPr>
            <a:xfrm>
              <a:off x="1101213" y="3264310"/>
              <a:ext cx="855406" cy="4916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</p:grpSp>
      <p:pic>
        <p:nvPicPr>
          <p:cNvPr id="12" name="Picture 4" descr="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3032" y="212891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1113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Contiguous allocation -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6440" y="1825625"/>
            <a:ext cx="5098910" cy="4351338"/>
          </a:xfrm>
        </p:spPr>
        <p:txBody>
          <a:bodyPr/>
          <a:lstStyle/>
          <a:p>
            <a:r>
              <a:rPr lang="en-US" dirty="0"/>
              <a:t>When we terminate (or swap) a process</a:t>
            </a:r>
          </a:p>
          <a:p>
            <a:pPr lvl="1"/>
            <a:r>
              <a:rPr lang="en-US" dirty="0"/>
              <a:t>We create a </a:t>
            </a:r>
            <a:r>
              <a:rPr lang="en-US" b="1" u="sng" dirty="0"/>
              <a:t>hole</a:t>
            </a:r>
          </a:p>
          <a:p>
            <a:pPr lvl="1"/>
            <a:endParaRPr lang="en-US" b="1" u="sng" dirty="0"/>
          </a:p>
          <a:p>
            <a:r>
              <a:rPr lang="en-US" dirty="0"/>
              <a:t>The OS needs to keep track of holes to reuse them later on for other processes</a:t>
            </a:r>
          </a:p>
          <a:p>
            <a:endParaRPr lang="en-US" dirty="0"/>
          </a:p>
          <a:p>
            <a:r>
              <a:rPr lang="en-US" dirty="0"/>
              <a:t>External fragmentation</a:t>
            </a:r>
          </a:p>
          <a:p>
            <a:pPr marL="342900" lvl="1" indent="0" algn="ctr">
              <a:buNone/>
            </a:pPr>
            <a:r>
              <a:rPr lang="en-US" dirty="0"/>
              <a:t>sum(all holes size) &gt; size(a new process)</a:t>
            </a:r>
            <a:br>
              <a:rPr lang="en-US" dirty="0"/>
            </a:br>
            <a:r>
              <a:rPr lang="en-US" dirty="0"/>
              <a:t>BUT</a:t>
            </a:r>
            <a:br>
              <a:rPr lang="en-US" dirty="0"/>
            </a:br>
            <a:r>
              <a:rPr lang="en-US" dirty="0"/>
              <a:t>size(of any hole) &lt; size(a new process)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32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688"/>
          <a:stretch/>
        </p:blipFill>
        <p:spPr bwMode="auto">
          <a:xfrm>
            <a:off x="826636" y="1690689"/>
            <a:ext cx="2007000" cy="360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39624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Contiguous allocation – which hole to assign to a new process?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First fit </a:t>
            </a:r>
            <a:r>
              <a:rPr lang="en-US" dirty="0">
                <a:sym typeface="Wingdings"/>
              </a:rPr>
              <a:t> allocate the first hole that is big enough</a:t>
            </a:r>
          </a:p>
          <a:p>
            <a:endParaRPr lang="en-US" dirty="0">
              <a:sym typeface="Wingdings"/>
            </a:endParaRPr>
          </a:p>
          <a:p>
            <a:r>
              <a:rPr lang="en-US" dirty="0">
                <a:sym typeface="Wingdings"/>
              </a:rPr>
              <a:t>Best fit  allocate the smallest hole that is big enough</a:t>
            </a:r>
          </a:p>
          <a:p>
            <a:pPr lvl="1"/>
            <a:r>
              <a:rPr lang="en-US" dirty="0">
                <a:sym typeface="Wingdings"/>
              </a:rPr>
              <a:t>PROS: produces the smallest leftover hole</a:t>
            </a:r>
          </a:p>
          <a:p>
            <a:pPr lvl="1"/>
            <a:r>
              <a:rPr lang="en-US" dirty="0">
                <a:sym typeface="Wingdings"/>
              </a:rPr>
              <a:t>CONS: Search entire list (or keep list of holes sorted)</a:t>
            </a:r>
          </a:p>
          <a:p>
            <a:pPr lvl="1"/>
            <a:endParaRPr lang="en-US" dirty="0">
              <a:sym typeface="Wingdings"/>
            </a:endParaRPr>
          </a:p>
          <a:p>
            <a:r>
              <a:rPr lang="en-US" dirty="0">
                <a:sym typeface="Wingdings"/>
              </a:rPr>
              <a:t>Worst fit  allocate the largest hole </a:t>
            </a:r>
          </a:p>
          <a:p>
            <a:pPr lvl="1"/>
            <a:r>
              <a:rPr lang="en-US" dirty="0">
                <a:sym typeface="Wingdings"/>
              </a:rPr>
              <a:t>PROS: produces the largest leftover hole</a:t>
            </a:r>
          </a:p>
          <a:p>
            <a:pPr lvl="1"/>
            <a:r>
              <a:rPr lang="en-US" dirty="0">
                <a:sym typeface="Wingdings"/>
              </a:rPr>
              <a:t>CONS: Search entire list (or keep list of holes sorted)</a:t>
            </a:r>
          </a:p>
          <a:p>
            <a:pPr marL="342900" lvl="1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08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/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/>
              <a:t>Segmentation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092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(</a:t>
            </a:r>
            <a:r>
              <a:rPr lang="en-US" dirty="0" err="1"/>
              <a:t>i</a:t>
            </a:r>
            <a:r>
              <a:rPr lang="en-US" dirty="0"/>
              <a:t>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35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464800" y="2128918"/>
            <a:ext cx="1570477" cy="2825290"/>
            <a:chOff x="464800" y="2084439"/>
            <a:chExt cx="1570477" cy="2825290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8753"/>
            <a:stretch/>
          </p:blipFill>
          <p:spPr bwMode="auto">
            <a:xfrm>
              <a:off x="464800" y="2084439"/>
              <a:ext cx="1570477" cy="2825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Rectangle 8"/>
            <p:cNvSpPr/>
            <p:nvPr/>
          </p:nvSpPr>
          <p:spPr>
            <a:xfrm>
              <a:off x="1101213" y="3264310"/>
              <a:ext cx="855406" cy="4916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A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026561" y="1690689"/>
            <a:ext cx="3155039" cy="3701748"/>
            <a:chOff x="2026561" y="1690689"/>
            <a:chExt cx="3155039" cy="3701748"/>
          </a:xfrm>
        </p:grpSpPr>
        <p:pic>
          <p:nvPicPr>
            <p:cNvPr id="7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8138" y="1690689"/>
              <a:ext cx="2343462" cy="3701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9" name="Group 18"/>
            <p:cNvGrpSpPr/>
            <p:nvPr/>
          </p:nvGrpSpPr>
          <p:grpSpPr>
            <a:xfrm>
              <a:off x="2026561" y="1802541"/>
              <a:ext cx="1307691" cy="3478045"/>
              <a:chOff x="2026561" y="1789471"/>
              <a:chExt cx="1307691" cy="3478045"/>
            </a:xfrm>
          </p:grpSpPr>
          <p:cxnSp>
            <p:nvCxnSpPr>
              <p:cNvPr id="13" name="Straight Connector 12"/>
              <p:cNvCxnSpPr/>
              <p:nvPr/>
            </p:nvCxnSpPr>
            <p:spPr>
              <a:xfrm flipV="1">
                <a:off x="2026561" y="1789471"/>
                <a:ext cx="1307691" cy="1519318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2026561" y="3774264"/>
                <a:ext cx="1307691" cy="1493252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5633883" y="1825625"/>
            <a:ext cx="3392129" cy="4351338"/>
          </a:xfrm>
        </p:spPr>
        <p:txBody>
          <a:bodyPr>
            <a:normAutofit/>
          </a:bodyPr>
          <a:lstStyle/>
          <a:p>
            <a:r>
              <a:rPr lang="en-US" dirty="0"/>
              <a:t>So far we referred to the memory of a process as a single unidimensional space [0,max]</a:t>
            </a:r>
          </a:p>
          <a:p>
            <a:endParaRPr lang="en-US" dirty="0"/>
          </a:p>
          <a:p>
            <a:r>
              <a:rPr lang="en-US" dirty="0"/>
              <a:t>Nevertheless, from the programmer/program perspective:</a:t>
            </a:r>
          </a:p>
          <a:p>
            <a:pPr lvl="1"/>
            <a:r>
              <a:rPr lang="en-US" dirty="0"/>
              <a:t>Different parts have different meaning, and each should be “protected from others”</a:t>
            </a:r>
          </a:p>
          <a:p>
            <a:pPr lvl="1"/>
            <a:r>
              <a:rPr lang="en-US" dirty="0"/>
              <a:t>Different parts have different and variable size</a:t>
            </a:r>
          </a:p>
        </p:txBody>
      </p:sp>
    </p:spTree>
    <p:extLst>
      <p:ext uri="{BB962C8B-B14F-4D97-AF65-F5344CB8AC3E}">
        <p14:creationId xmlns:p14="http://schemas.microsoft.com/office/powerpoint/2010/main" val="100082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1229"/>
            <a:ext cx="788670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With segmentation a memory position can be accessed not referring to its global position in [0,max] but rather as a pair &lt;segment, position in the segment&gt;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36</a:t>
            </a:fld>
            <a:endParaRPr lang="en-US"/>
          </a:p>
        </p:txBody>
      </p:sp>
      <p:grpSp>
        <p:nvGrpSpPr>
          <p:cNvPr id="33" name="Group 32"/>
          <p:cNvGrpSpPr/>
          <p:nvPr/>
        </p:nvGrpSpPr>
        <p:grpSpPr>
          <a:xfrm>
            <a:off x="702748" y="2314061"/>
            <a:ext cx="2157089" cy="3997838"/>
            <a:chOff x="702748" y="2314061"/>
            <a:chExt cx="2157089" cy="3997838"/>
          </a:xfrm>
        </p:grpSpPr>
        <p:grpSp>
          <p:nvGrpSpPr>
            <p:cNvPr id="26" name="Group 25"/>
            <p:cNvGrpSpPr/>
            <p:nvPr/>
          </p:nvGrpSpPr>
          <p:grpSpPr>
            <a:xfrm>
              <a:off x="702748" y="5310956"/>
              <a:ext cx="2137764" cy="1000943"/>
              <a:chOff x="760469" y="5310956"/>
              <a:chExt cx="2137764" cy="1000943"/>
            </a:xfrm>
          </p:grpSpPr>
          <p:pic>
            <p:nvPicPr>
              <p:cNvPr id="8" name="Picture 4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640" t="82641" b="3548"/>
              <a:stretch/>
            </p:blipFill>
            <p:spPr bwMode="auto">
              <a:xfrm>
                <a:off x="804100" y="5518375"/>
                <a:ext cx="1484670" cy="424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" name="TextBox 10"/>
              <p:cNvSpPr txBox="1"/>
              <p:nvPr/>
            </p:nvSpPr>
            <p:spPr>
              <a:xfrm>
                <a:off x="760469" y="5942567"/>
                <a:ext cx="1452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Segment 0</a:t>
                </a: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226094" y="5767340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218239" y="5310956"/>
                <a:ext cx="679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</a:t>
                </a:r>
                <a:r>
                  <a:rPr lang="en-US" baseline="-25000" dirty="0"/>
                  <a:t>0</a:t>
                </a:r>
                <a:r>
                  <a:rPr lang="en-US" dirty="0"/>
                  <a:t>-1</a:t>
                </a: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702748" y="4313774"/>
              <a:ext cx="2137764" cy="1000943"/>
              <a:chOff x="702748" y="4313774"/>
              <a:chExt cx="2137764" cy="1000943"/>
            </a:xfrm>
          </p:grpSpPr>
          <p:pic>
            <p:nvPicPr>
              <p:cNvPr id="9" name="Picture 4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800" t="68275" b="17648"/>
              <a:stretch/>
            </p:blipFill>
            <p:spPr bwMode="auto">
              <a:xfrm>
                <a:off x="760469" y="4522476"/>
                <a:ext cx="1500985" cy="432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702748" y="4945385"/>
                <a:ext cx="1452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Segment 1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2168373" y="4770158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2160518" y="4313774"/>
                <a:ext cx="679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</a:t>
                </a:r>
                <a:r>
                  <a:rPr lang="en-US" baseline="-25000" dirty="0"/>
                  <a:t>1</a:t>
                </a:r>
                <a:r>
                  <a:rPr lang="en-US" dirty="0"/>
                  <a:t>-1</a:t>
                </a: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702748" y="3362272"/>
              <a:ext cx="2137764" cy="1000943"/>
              <a:chOff x="719680" y="3362272"/>
              <a:chExt cx="2137764" cy="1000943"/>
            </a:xfrm>
          </p:grpSpPr>
          <p:pic>
            <p:nvPicPr>
              <p:cNvPr id="10" name="Picture 4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703" t="54197" b="31991"/>
              <a:stretch/>
            </p:blipFill>
            <p:spPr bwMode="auto">
              <a:xfrm>
                <a:off x="719680" y="3569692"/>
                <a:ext cx="1541774" cy="4241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" name="TextBox 16"/>
              <p:cNvSpPr txBox="1"/>
              <p:nvPr/>
            </p:nvSpPr>
            <p:spPr>
              <a:xfrm>
                <a:off x="719680" y="3993883"/>
                <a:ext cx="1452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Segment 2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2185305" y="3818656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177450" y="3362272"/>
                <a:ext cx="679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n</a:t>
                </a:r>
                <a:r>
                  <a:rPr lang="en-US" baseline="-25000" dirty="0"/>
                  <a:t>2</a:t>
                </a:r>
                <a:r>
                  <a:rPr lang="en-US" dirty="0"/>
                  <a:t>-1</a:t>
                </a:r>
              </a:p>
            </p:txBody>
          </p:sp>
        </p:grpSp>
        <p:grpSp>
          <p:nvGrpSpPr>
            <p:cNvPr id="23" name="Group 22"/>
            <p:cNvGrpSpPr/>
            <p:nvPr/>
          </p:nvGrpSpPr>
          <p:grpSpPr>
            <a:xfrm>
              <a:off x="702748" y="2314061"/>
              <a:ext cx="2157089" cy="1028406"/>
              <a:chOff x="711825" y="2314061"/>
              <a:chExt cx="2157089" cy="1028406"/>
            </a:xfrm>
          </p:grpSpPr>
          <p:pic>
            <p:nvPicPr>
              <p:cNvPr id="7" name="Picture 4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260" t="2692" r="800" b="79778"/>
              <a:stretch/>
            </p:blipFill>
            <p:spPr bwMode="auto">
              <a:xfrm>
                <a:off x="772704" y="2707446"/>
                <a:ext cx="1476514" cy="5383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" name="TextBox 19"/>
              <p:cNvSpPr txBox="1"/>
              <p:nvPr/>
            </p:nvSpPr>
            <p:spPr>
              <a:xfrm>
                <a:off x="711825" y="2314061"/>
                <a:ext cx="14526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Segment 3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177450" y="2522763"/>
                <a:ext cx="332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0</a:t>
                </a:r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188920" y="2973135"/>
                <a:ext cx="6799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n</a:t>
                </a:r>
                <a:r>
                  <a:rPr lang="en-US" baseline="-25000"/>
                  <a:t>3</a:t>
                </a:r>
                <a:r>
                  <a:rPr lang="en-US"/>
                  <a:t>-1</a:t>
                </a:r>
                <a:endParaRPr lang="en-US" dirty="0"/>
              </a:p>
            </p:txBody>
          </p:sp>
        </p:grpSp>
      </p:grpSp>
      <p:sp>
        <p:nvSpPr>
          <p:cNvPr id="27" name="Content Placeholder 2"/>
          <p:cNvSpPr txBox="1">
            <a:spLocks/>
          </p:cNvSpPr>
          <p:nvPr/>
        </p:nvSpPr>
        <p:spPr>
          <a:xfrm>
            <a:off x="4743087" y="2594489"/>
            <a:ext cx="390699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2000" dirty="0"/>
              <a:t>Easier to check if an access to a certain section is actually reaching a different section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r>
              <a:rPr lang="en-US" sz="2000" dirty="0"/>
              <a:t>Allows to have different permissions for the different segments!</a:t>
            </a:r>
          </a:p>
          <a:p>
            <a:pPr fontAlgn="auto">
              <a:spcAft>
                <a:spcPts val="0"/>
              </a:spcAft>
            </a:pPr>
            <a:endParaRPr lang="en-US" sz="2000" dirty="0"/>
          </a:p>
          <a:p>
            <a:pPr fontAlgn="auto">
              <a:spcAft>
                <a:spcPts val="0"/>
              </a:spcAft>
            </a:pPr>
            <a:r>
              <a:rPr lang="en-US" sz="2000" dirty="0"/>
              <a:t>Different parts of the process can be at different locations in the physical memory!</a:t>
            </a:r>
          </a:p>
        </p:txBody>
      </p:sp>
      <p:grpSp>
        <p:nvGrpSpPr>
          <p:cNvPr id="32" name="Group 31"/>
          <p:cNvGrpSpPr/>
          <p:nvPr/>
        </p:nvGrpSpPr>
        <p:grpSpPr>
          <a:xfrm>
            <a:off x="3323303" y="2790925"/>
            <a:ext cx="1231346" cy="3069101"/>
            <a:chOff x="3323303" y="2790925"/>
            <a:chExt cx="1231346" cy="3069101"/>
          </a:xfrm>
        </p:grpSpPr>
        <p:sp>
          <p:nvSpPr>
            <p:cNvPr id="28" name="Rounded Rectangle 27"/>
            <p:cNvSpPr/>
            <p:nvPr/>
          </p:nvSpPr>
          <p:spPr>
            <a:xfrm>
              <a:off x="3323303" y="5518375"/>
              <a:ext cx="1231346" cy="3416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Execute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323303" y="4574464"/>
              <a:ext cx="1231346" cy="3416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Read/write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323303" y="3619761"/>
              <a:ext cx="1231346" cy="3416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Read/write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323303" y="2790925"/>
              <a:ext cx="1231346" cy="34165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Read/write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1359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– segment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37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628650" y="1922692"/>
            <a:ext cx="4838640" cy="3249074"/>
            <a:chOff x="963560" y="1081548"/>
            <a:chExt cx="7482349" cy="5024284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5465" t="11412" r="2189" b="10522"/>
            <a:stretch/>
          </p:blipFill>
          <p:spPr>
            <a:xfrm>
              <a:off x="963560" y="1081548"/>
              <a:ext cx="7482349" cy="4748981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102942" y="5338916"/>
              <a:ext cx="3136490" cy="7669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4208206" y="3883742"/>
            <a:ext cx="4727012" cy="1606911"/>
            <a:chOff x="4208206" y="3883742"/>
            <a:chExt cx="4727012" cy="1606911"/>
          </a:xfrm>
        </p:grpSpPr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5752425" y="4139381"/>
              <a:ext cx="3182793" cy="1351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000" dirty="0"/>
                <a:t>Need to maintain extra information to link logical address space / segments to the physical memory</a:t>
              </a:r>
            </a:p>
          </p:txBody>
        </p:sp>
        <p:cxnSp>
          <p:nvCxnSpPr>
            <p:cNvPr id="13" name="Straight Arrow Connector 12"/>
            <p:cNvCxnSpPr>
              <a:stCxn id="11" idx="1"/>
            </p:cNvCxnSpPr>
            <p:nvPr/>
          </p:nvCxnSpPr>
          <p:spPr>
            <a:xfrm flipH="1" flipV="1">
              <a:off x="4208206" y="3883742"/>
              <a:ext cx="1544219" cy="931275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840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– hardware support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38</a:t>
            </a:fld>
            <a:endParaRPr lang="en-US"/>
          </a:p>
        </p:txBody>
      </p:sp>
      <p:pic>
        <p:nvPicPr>
          <p:cNvPr id="7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8984" y="2501750"/>
            <a:ext cx="4749390" cy="3332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530329" y="1590983"/>
            <a:ext cx="7886700" cy="1351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en-US" sz="2000" dirty="0"/>
              <a:t>Hardware is able to do this conversion automatically (and check whether the process is trying to access memory outside </a:t>
            </a:r>
            <a:r>
              <a:rPr lang="en-US" sz="2000"/>
              <a:t>the segment)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2969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Base and limit registers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Logical/Virtual vs Physical addresses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Dynamic loading and linking optimizations [self reading]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Swapping</a:t>
            </a:r>
          </a:p>
          <a:p>
            <a:r>
              <a:rPr lang="en-US" dirty="0"/>
              <a:t>Memory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Contiguous allocation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Segmentation</a:t>
            </a:r>
          </a:p>
          <a:p>
            <a:pPr lvl="1"/>
            <a:r>
              <a:rPr lang="en-US" dirty="0"/>
              <a:t>Paging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99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Mechanism that allows for the physical address space of a process to be non-contiguous</a:t>
            </a:r>
          </a:p>
          <a:p>
            <a:r>
              <a:rPr lang="en-US" dirty="0"/>
              <a:t>Used in most modern OSes (from mainframes to smartphones)</a:t>
            </a:r>
          </a:p>
          <a:p>
            <a:r>
              <a:rPr lang="en-US" dirty="0"/>
              <a:t>Requires cooperation between OS and hardware (as common)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712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 – Basic idea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41</a:t>
            </a:fld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517577" y="1370318"/>
            <a:ext cx="4378888" cy="4613275"/>
            <a:chOff x="517577" y="1370318"/>
            <a:chExt cx="4378888" cy="4613275"/>
          </a:xfrm>
        </p:grpSpPr>
        <p:pic>
          <p:nvPicPr>
            <p:cNvPr id="7" name="Picture 1030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322" r="82913" b="38182"/>
            <a:stretch/>
          </p:blipFill>
          <p:spPr bwMode="auto">
            <a:xfrm>
              <a:off x="517577" y="1771931"/>
              <a:ext cx="843883" cy="2467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030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044"/>
            <a:stretch/>
          </p:blipFill>
          <p:spPr bwMode="auto">
            <a:xfrm>
              <a:off x="1657350" y="1370318"/>
              <a:ext cx="1479448" cy="4613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7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136" r="82460" b="35561"/>
            <a:stretch/>
          </p:blipFill>
          <p:spPr bwMode="auto">
            <a:xfrm>
              <a:off x="3860902" y="1771931"/>
              <a:ext cx="1035563" cy="16223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14452" y="1825625"/>
            <a:ext cx="3500898" cy="4351338"/>
          </a:xfrm>
        </p:spPr>
        <p:txBody>
          <a:bodyPr/>
          <a:lstStyle/>
          <a:p>
            <a:r>
              <a:rPr lang="en-US" dirty="0"/>
              <a:t>Split logical memory in pages</a:t>
            </a:r>
          </a:p>
          <a:p>
            <a:r>
              <a:rPr lang="en-US" dirty="0"/>
              <a:t>Split physical memory in frames</a:t>
            </a:r>
          </a:p>
          <a:p>
            <a:r>
              <a:rPr lang="en-US" dirty="0"/>
              <a:t>Keep a program (disk) organized in pages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Page size = Frame size!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667740" y="4547519"/>
            <a:ext cx="4405158" cy="1601483"/>
            <a:chOff x="3667740" y="4547519"/>
            <a:chExt cx="4405158" cy="1601483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7740" y="4547519"/>
              <a:ext cx="1228725" cy="1228725"/>
            </a:xfrm>
            <a:prstGeom prst="rect">
              <a:avLst/>
            </a:prstGeom>
          </p:spPr>
        </p:pic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572000" y="4755433"/>
              <a:ext cx="3500898" cy="139356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How do we keep track of where each page is?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56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 – the page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42</a:t>
            </a:fld>
            <a:endParaRPr lang="en-US"/>
          </a:p>
        </p:txBody>
      </p:sp>
      <p:pic>
        <p:nvPicPr>
          <p:cNvPr id="7" name="Picture 10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22" y="1690689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/>
          <p:cNvSpPr/>
          <p:nvPr/>
        </p:nvSpPr>
        <p:spPr>
          <a:xfrm>
            <a:off x="2686050" y="2045110"/>
            <a:ext cx="1414002" cy="2231922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r="61891"/>
          <a:stretch/>
        </p:blipFill>
        <p:spPr>
          <a:xfrm>
            <a:off x="2254122" y="3854065"/>
            <a:ext cx="566584" cy="1554775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6161906" y="1825625"/>
            <a:ext cx="2353444" cy="4351338"/>
          </a:xfrm>
        </p:spPr>
        <p:txBody>
          <a:bodyPr/>
          <a:lstStyle/>
          <a:p>
            <a:r>
              <a:rPr lang="en-US" dirty="0"/>
              <a:t>Page 0? Frame 1</a:t>
            </a:r>
          </a:p>
          <a:p>
            <a:r>
              <a:rPr lang="en-US" dirty="0"/>
              <a:t>Page 1? Frame 4</a:t>
            </a:r>
          </a:p>
          <a:p>
            <a:r>
              <a:rPr lang="en-US" dirty="0"/>
              <a:t>Page 2? Frame 3</a:t>
            </a:r>
          </a:p>
          <a:p>
            <a:r>
              <a:rPr lang="en-US" dirty="0"/>
              <a:t>Page 3? Frame 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295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 – hardware support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4" descr="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1531836"/>
            <a:ext cx="5491031" cy="3276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424487" y="5093109"/>
            <a:ext cx="5899355" cy="7865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auto">
              <a:spcAft>
                <a:spcPts val="0"/>
              </a:spcAft>
              <a:buNone/>
            </a:pPr>
            <a:r>
              <a:rPr lang="en-US" sz="2400" dirty="0"/>
              <a:t>Similarly </a:t>
            </a:r>
            <a:r>
              <a:rPr lang="en-US" sz="2400"/>
              <a:t>to Segmentation, we can access physical memory specifying page + offset</a:t>
            </a:r>
            <a:endParaRPr lang="en-US" sz="2400" dirty="0"/>
          </a:p>
        </p:txBody>
      </p:sp>
      <p:grpSp>
        <p:nvGrpSpPr>
          <p:cNvPr id="9" name="Group 8"/>
          <p:cNvGrpSpPr/>
          <p:nvPr/>
        </p:nvGrpSpPr>
        <p:grpSpPr>
          <a:xfrm>
            <a:off x="6185883" y="1621295"/>
            <a:ext cx="2781136" cy="2728225"/>
            <a:chOff x="3529781" y="4547519"/>
            <a:chExt cx="2781136" cy="2728225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67740" y="4547519"/>
              <a:ext cx="1228725" cy="1228725"/>
            </a:xfrm>
            <a:prstGeom prst="rect">
              <a:avLst/>
            </a:prstGeom>
          </p:spPr>
        </p:pic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3529781" y="5882175"/>
              <a:ext cx="2781136" cy="139356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How does the CPU know which page </a:t>
              </a:r>
              <a:r>
                <a:rPr lang="en-US" sz="2800" i="1"/>
                <a:t>it should access?</a:t>
              </a:r>
              <a:endParaRPr lang="en-US" sz="2800" i="1" dirty="0"/>
            </a:p>
          </p:txBody>
        </p:sp>
      </p:grpSp>
      <p:sp>
        <p:nvSpPr>
          <p:cNvPr id="12" name="Oval 11"/>
          <p:cNvSpPr/>
          <p:nvPr/>
        </p:nvSpPr>
        <p:spPr>
          <a:xfrm>
            <a:off x="1152218" y="2665899"/>
            <a:ext cx="637253" cy="580103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4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Paging – from logical address to physical address (</a:t>
            </a:r>
            <a:r>
              <a:rPr lang="en-US" sz="2800" dirty="0" err="1"/>
              <a:t>i</a:t>
            </a:r>
            <a:r>
              <a:rPr lang="en-US" sz="28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page/frame size is power of 2 </a:t>
            </a:r>
            <a:r>
              <a:rPr lang="en-US" dirty="0">
                <a:sym typeface="Wingdings"/>
              </a:rPr>
              <a:t> 2</a:t>
            </a:r>
            <a:r>
              <a:rPr lang="en-US" baseline="30000" dirty="0">
                <a:sym typeface="Wingdings"/>
              </a:rPr>
              <a:t>n</a:t>
            </a:r>
          </a:p>
          <a:p>
            <a:r>
              <a:rPr lang="en-US" dirty="0"/>
              <a:t>If size of logical space is power of 2 </a:t>
            </a:r>
            <a:r>
              <a:rPr lang="en-US" dirty="0">
                <a:sym typeface="Wingdings"/>
              </a:rPr>
              <a:t> 2</a:t>
            </a:r>
            <a:r>
              <a:rPr lang="en-US" baseline="30000" dirty="0">
                <a:sym typeface="Wingdings"/>
              </a:rPr>
              <a:t>m</a:t>
            </a:r>
          </a:p>
          <a:p>
            <a:endParaRPr lang="en-US" baseline="30000" dirty="0">
              <a:sym typeface="Wingdings"/>
            </a:endParaRPr>
          </a:p>
          <a:p>
            <a:pPr marL="0" indent="0">
              <a:buNone/>
            </a:pPr>
            <a:r>
              <a:rPr lang="en-US" dirty="0">
                <a:sym typeface="Wingdings"/>
              </a:rPr>
              <a:t>Logical address (binary)   101101001110110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44</a:t>
            </a:fld>
            <a:endParaRPr lang="en-US"/>
          </a:p>
        </p:txBody>
      </p:sp>
      <p:sp>
        <p:nvSpPr>
          <p:cNvPr id="7" name="Left Brace 6"/>
          <p:cNvSpPr/>
          <p:nvPr/>
        </p:nvSpPr>
        <p:spPr>
          <a:xfrm rot="16200000">
            <a:off x="3687745" y="2843683"/>
            <a:ext cx="351693" cy="103498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489129" y="3537020"/>
            <a:ext cx="748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m-n</a:t>
            </a:r>
            <a:br>
              <a:rPr lang="en-US" dirty="0"/>
            </a:br>
            <a:r>
              <a:rPr lang="en-US" dirty="0"/>
              <a:t>page</a:t>
            </a:r>
          </a:p>
        </p:txBody>
      </p:sp>
      <p:sp>
        <p:nvSpPr>
          <p:cNvPr id="9" name="Left Brace 8"/>
          <p:cNvSpPr/>
          <p:nvPr/>
        </p:nvSpPr>
        <p:spPr>
          <a:xfrm rot="16200000">
            <a:off x="4662435" y="2903972"/>
            <a:ext cx="351693" cy="91440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419739" y="3537019"/>
            <a:ext cx="837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  <a:br>
              <a:rPr lang="en-US" dirty="0"/>
            </a:br>
            <a:r>
              <a:rPr lang="en-US" dirty="0"/>
              <a:t>offset</a:t>
            </a:r>
          </a:p>
        </p:txBody>
      </p:sp>
    </p:spTree>
    <p:extLst>
      <p:ext uri="{BB962C8B-B14F-4D97-AF65-F5344CB8AC3E}">
        <p14:creationId xmlns:p14="http://schemas.microsoft.com/office/powerpoint/2010/main" val="3983943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Paging – from logical address to physical address (ii)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45</a:t>
            </a:fld>
            <a:endParaRPr lang="en-US" dirty="0"/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76" y="1690689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07500" y="1557338"/>
            <a:ext cx="42757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Page size = 2</a:t>
            </a:r>
            <a:r>
              <a:rPr lang="en-US" baseline="30000" dirty="0"/>
              <a:t>2</a:t>
            </a:r>
            <a:r>
              <a:rPr lang="en-US" dirty="0"/>
              <a:t> bytes (n=2)</a:t>
            </a:r>
          </a:p>
          <a:p>
            <a:pPr marL="0" indent="0">
              <a:buNone/>
            </a:pPr>
            <a:r>
              <a:rPr lang="en-US" dirty="0"/>
              <a:t>Size of logical space = 2</a:t>
            </a:r>
            <a:r>
              <a:rPr lang="en-US" baseline="30000" dirty="0"/>
              <a:t>4</a:t>
            </a:r>
            <a:r>
              <a:rPr lang="en-US" dirty="0"/>
              <a:t> bytes (m=4)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ym typeface="Wingdings"/>
              </a:rPr>
              <a:t> logical space = 4 pages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4093137" y="2657063"/>
            <a:ext cx="4970475" cy="1619250"/>
            <a:chOff x="3773492" y="4321838"/>
            <a:chExt cx="4970475" cy="1619250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73492" y="4321838"/>
              <a:ext cx="1228725" cy="1228725"/>
            </a:xfrm>
            <a:prstGeom prst="rect">
              <a:avLst/>
            </a:prstGeom>
          </p:spPr>
        </p:pic>
        <p:sp>
          <p:nvSpPr>
            <p:cNvPr id="11" name="Content Placeholder 2"/>
            <p:cNvSpPr txBox="1">
              <a:spLocks/>
            </p:cNvSpPr>
            <p:nvPr/>
          </p:nvSpPr>
          <p:spPr>
            <a:xfrm>
              <a:off x="4747736" y="4547519"/>
              <a:ext cx="3996231" cy="139356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None/>
              </a:pPr>
              <a:r>
                <a:rPr lang="en-US" sz="2800" i="1" dirty="0"/>
                <a:t>Physical address </a:t>
              </a:r>
              <a:r>
                <a:rPr lang="en-US" sz="2800" i="1"/>
                <a:t>of logical address 7?</a:t>
              </a:r>
              <a:endParaRPr lang="en-US" sz="2800" i="1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873555" y="4368516"/>
            <a:ext cx="1715913" cy="1304827"/>
            <a:chOff x="3873555" y="4368516"/>
            <a:chExt cx="1715913" cy="1304827"/>
          </a:xfrm>
        </p:grpSpPr>
        <p:sp>
          <p:nvSpPr>
            <p:cNvPr id="12" name="Content Placeholder 2"/>
            <p:cNvSpPr txBox="1">
              <a:spLocks/>
            </p:cNvSpPr>
            <p:nvPr/>
          </p:nvSpPr>
          <p:spPr>
            <a:xfrm>
              <a:off x="4182897" y="4368516"/>
              <a:ext cx="1138965" cy="48265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fontAlgn="auto">
                <a:spcAft>
                  <a:spcPts val="0"/>
                </a:spcAft>
                <a:buFont typeface="Arial" panose="020B0604020202020204" pitchFamily="34" charset="0"/>
                <a:buNone/>
              </a:pPr>
              <a:r>
                <a:rPr lang="en-US" sz="2800" dirty="0"/>
                <a:t>0 1 1 1</a:t>
              </a:r>
            </a:p>
          </p:txBody>
        </p:sp>
        <p:sp>
          <p:nvSpPr>
            <p:cNvPr id="18" name="Left Brace 17"/>
            <p:cNvSpPr/>
            <p:nvPr/>
          </p:nvSpPr>
          <p:spPr>
            <a:xfrm rot="16200000">
              <a:off x="4269353" y="4588864"/>
              <a:ext cx="351693" cy="524604"/>
            </a:xfrm>
            <a:prstGeom prst="leftBrace">
              <a:avLst>
                <a:gd name="adj1" fmla="val 8333"/>
                <a:gd name="adj2" fmla="val 30846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873555" y="5027012"/>
              <a:ext cx="74892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page</a:t>
              </a:r>
            </a:p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Left Brace 19"/>
            <p:cNvSpPr/>
            <p:nvPr/>
          </p:nvSpPr>
          <p:spPr>
            <a:xfrm rot="16200000">
              <a:off x="4806172" y="4576646"/>
              <a:ext cx="351693" cy="54903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52379" y="5027012"/>
              <a:ext cx="8370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offset</a:t>
              </a:r>
            </a:p>
            <a:p>
              <a:pPr algn="ctr"/>
              <a:r>
                <a:rPr lang="en-US" dirty="0"/>
                <a:t>3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2471895" y="3271425"/>
            <a:ext cx="6332459" cy="2429972"/>
            <a:chOff x="2471895" y="3271425"/>
            <a:chExt cx="6332459" cy="2429972"/>
          </a:xfrm>
        </p:grpSpPr>
        <p:sp>
          <p:nvSpPr>
            <p:cNvPr id="22" name="Oval 21"/>
            <p:cNvSpPr/>
            <p:nvPr/>
          </p:nvSpPr>
          <p:spPr>
            <a:xfrm>
              <a:off x="3857078" y="4944579"/>
              <a:ext cx="756818" cy="75681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>
              <a:stCxn id="22" idx="1"/>
            </p:cNvCxnSpPr>
            <p:nvPr/>
          </p:nvCxnSpPr>
          <p:spPr>
            <a:xfrm flipH="1" flipV="1">
              <a:off x="2471895" y="3271425"/>
              <a:ext cx="1496016" cy="178398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061451" y="4579470"/>
              <a:ext cx="274290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0000"/>
                  </a:solidFill>
                </a:rPr>
                <a:t>Frame 6 offset 3</a:t>
              </a:r>
              <a:br>
                <a:rPr lang="en-US" sz="2400" dirty="0">
                  <a:solidFill>
                    <a:srgbClr val="FF0000"/>
                  </a:solidFill>
                </a:rPr>
              </a:br>
              <a:r>
                <a:rPr lang="en-US" sz="2400" dirty="0">
                  <a:solidFill>
                    <a:srgbClr val="FF0000"/>
                  </a:solidFill>
                  <a:sym typeface="Wingdings"/>
                </a:rPr>
                <a:t> 6x4+3=27</a:t>
              </a:r>
              <a:endParaRPr lang="en-US" sz="2400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2686051" y="3271425"/>
              <a:ext cx="3624314" cy="133072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0226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Paging -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external fragmentation</a:t>
            </a:r>
          </a:p>
          <a:p>
            <a:pPr lvl="1"/>
            <a:r>
              <a:rPr lang="en-US" dirty="0"/>
              <a:t>Process needs a page? Can take any free frame</a:t>
            </a:r>
          </a:p>
          <a:p>
            <a:r>
              <a:rPr lang="en-US" dirty="0"/>
              <a:t>Internal fragmentation</a:t>
            </a:r>
          </a:p>
          <a:p>
            <a:pPr lvl="1"/>
            <a:r>
              <a:rPr lang="en-US" dirty="0"/>
              <a:t>Last frame assigned to a process’ page might be not full</a:t>
            </a:r>
          </a:p>
          <a:p>
            <a:pPr lvl="1"/>
            <a:r>
              <a:rPr lang="en-US" dirty="0"/>
              <a:t>On average, half frame is wasted for each process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6"/>
            <a:r>
              <a:rPr lang="en-US" sz="2000" dirty="0"/>
              <a:t>Small pages </a:t>
            </a:r>
            <a:r>
              <a:rPr lang="en-US" sz="2000" dirty="0">
                <a:sym typeface="Wingdings"/>
              </a:rPr>
              <a:t> less fragmentation / more overhead (e.g., page table size)</a:t>
            </a:r>
          </a:p>
          <a:p>
            <a:pPr lvl="6"/>
            <a:r>
              <a:rPr lang="en-US" sz="2000" dirty="0">
                <a:sym typeface="Wingdings"/>
              </a:rPr>
              <a:t>Large pages  more fragmentation / less overhead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Memory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69D4BF-17B8-4416-83AD-33398895AAF4}" type="slidenum">
              <a:rPr lang="en-US" smtClean="0"/>
              <a:t>46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628650" y="3778179"/>
            <a:ext cx="1640672" cy="2197075"/>
            <a:chOff x="1295399" y="1828800"/>
            <a:chExt cx="3056187" cy="4092635"/>
          </a:xfrm>
        </p:grpSpPr>
        <p:pic>
          <p:nvPicPr>
            <p:cNvPr id="8" name="Picture 7" descr="http://4.bp.blogspot.com/-Kc_jYOMfj-g/UCakbvK3gyI/AAAAAAAAGTo/8Fa5sfZjQkI/s1600/coperta_corta.jpe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399" y="1828800"/>
              <a:ext cx="3056187" cy="4092635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Up Arrow 8"/>
            <p:cNvSpPr/>
            <p:nvPr/>
          </p:nvSpPr>
          <p:spPr>
            <a:xfrm rot="1459553">
              <a:off x="3380403" y="2723383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  <p:sp>
          <p:nvSpPr>
            <p:cNvPr id="10" name="Up Arrow 9"/>
            <p:cNvSpPr/>
            <p:nvPr/>
          </p:nvSpPr>
          <p:spPr>
            <a:xfrm rot="12307406">
              <a:off x="2530992" y="4552399"/>
              <a:ext cx="484632" cy="978408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100"/>
            </a:p>
          </p:txBody>
        </p:sp>
      </p:grpSp>
    </p:spTree>
    <p:extLst>
      <p:ext uri="{BB962C8B-B14F-4D97-AF65-F5344CB8AC3E}">
        <p14:creationId xmlns:p14="http://schemas.microsoft.com/office/powerpoint/2010/main" val="186460901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B1111F-258A-2FCA-B405-C02F070A9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08993"/>
            <a:ext cx="6923558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2C32-0374-6BFA-EE64-C4D0586A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783080" y="3246120"/>
            <a:ext cx="4203954" cy="3657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eaLnBrk="1" hangingPunct="1">
              <a:spcAft>
                <a:spcPts val="600"/>
              </a:spcAft>
            </a:pPr>
            <a:r>
              <a:rPr lang="en-US" sz="1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Operating Systems - Memory Management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65A2C-C10F-E940-B4DC-3396BCD1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719046" y="5769149"/>
            <a:ext cx="1796304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eaLnBrk="1" hangingPunct="1"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  <a:latin typeface="+mn-lt"/>
                <a:ea typeface="+mn-ea"/>
              </a:rPr>
              <a:t>Vincenzo Gulisano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2FC4F-EA0A-D18B-9262-F3F3B8932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63516" y="4887261"/>
            <a:ext cx="1251834" cy="10082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eaLnBrk="1" hangingPunct="1">
              <a:spcAft>
                <a:spcPts val="600"/>
              </a:spcAft>
            </a:pPr>
            <a:fld id="{2D69D4BF-17B8-4416-83AD-33398895AAF4}" type="slidenum">
              <a:rPr lang="en-US" sz="5700">
                <a:solidFill>
                  <a:srgbClr val="FFFFFF"/>
                </a:solidFill>
                <a:latin typeface="+mn-lt"/>
                <a:ea typeface="+mn-ea"/>
              </a:rPr>
              <a:pPr eaLnBrk="1" hangingPunct="1">
                <a:spcAft>
                  <a:spcPts val="600"/>
                </a:spcAft>
              </a:pPr>
              <a:t>47</a:t>
            </a:fld>
            <a:endParaRPr lang="en-US" sz="5700">
              <a:solidFill>
                <a:srgbClr val="FFFF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36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D6CA-1840-8208-48D3-BF94035F8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Which of these memories can be accessed directly by the CPU?</a:t>
            </a:r>
            <a:r>
              <a:rPr lang="en-GB" b="1" dirty="0">
                <a:solidFill>
                  <a:srgbClr val="FFFFFF"/>
                </a:solidFill>
                <a:effectLst/>
                <a:latin typeface="inherit"/>
              </a:rPr>
              <a:t>30sec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E0ECA-C564-F3C1-6DD6-1300FA8A1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4124978" cy="3263504"/>
          </a:xfrm>
        </p:spPr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Registers, cache and main memory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Registers, cache, main memory and disk (solid-state)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Registers, cache, main memory and disk (any)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02FC6C4-82B1-1C69-3879-B79CE0CE6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959" y="2428938"/>
            <a:ext cx="3557588" cy="2968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8F5F6-E8B8-312B-E554-6C4E742FF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F8CE1-7F0C-B59A-C28B-B7A71D036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98A875-A0B4-6E68-DB3B-FFCAC1DA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48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311437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63A9D-3138-1B1D-12E6-7F6718714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5597129" cy="994172"/>
          </a:xfrm>
        </p:spPr>
        <p:txBody>
          <a:bodyPr>
            <a:noAutofit/>
          </a:bodyPr>
          <a:lstStyle/>
          <a:p>
            <a:pPr fontAlgn="base"/>
            <a:r>
              <a:rPr lang="en-GB" sz="2400" b="1" dirty="0">
                <a:latin typeface="inherit"/>
              </a:rPr>
              <a:t>The base and limit registers in the figure contain the same value. Is it OK?</a:t>
            </a:r>
            <a:endParaRPr lang="en-SE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4B17-5309-13DF-F631-83B60E4FE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3028949"/>
            <a:ext cx="7886700" cy="3148013"/>
          </a:xfrm>
        </p:spPr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Yes, it is.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No, it is not.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5A86181-622E-D01B-B28A-185029D26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431" y="2125266"/>
            <a:ext cx="3350508" cy="424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F465D-5418-F5C8-42FB-693833D5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1292F-E9EF-AB97-BF0D-1C2105B22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AC002-C5B0-88EB-4C6A-696951777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49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11316842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37362-759F-5D25-1E42-C05964F1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Paging suffers from...</a:t>
            </a:r>
            <a:r>
              <a:rPr lang="en-GB" b="1" dirty="0">
                <a:solidFill>
                  <a:srgbClr val="FFFFFF"/>
                </a:solidFill>
                <a:effectLst/>
                <a:latin typeface="inherit"/>
              </a:rPr>
              <a:t>30sec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6D2ED-08A6-27B9-33F3-54DD87B33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External fragmentation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Internal fragmentation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Does not suffer fragmentation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A0AF5BB-DBE4-8E3F-1D2D-79BCD2C71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6230" y="2894843"/>
            <a:ext cx="3412298" cy="3598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31DDA-ADEF-C91E-3F91-77C4A97D7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0291D-9AFA-B901-F6BC-64F596F3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6C59-B155-D672-27D4-8613B6053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50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710020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6D1F-9064-AFB3-3CBF-B58C305F8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Process p address space is 128K. There are 16K of physical memory available (page size is 1K).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83EC9-BAF1-9269-8386-AE8FB6CF2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page table contains </a:t>
            </a:r>
            <a:r>
              <a:rPr lang="en-GB" b="0" i="0">
                <a:solidFill>
                  <a:srgbClr val="333333"/>
                </a:solidFill>
                <a:effectLst/>
                <a:latin typeface="Montserrat" pitchFamily="2" charset="77"/>
              </a:rPr>
              <a:t>128 entries</a:t>
            </a:r>
            <a:endParaRPr lang="en-GB" b="0" i="0" dirty="0">
              <a:solidFill>
                <a:srgbClr val="333333"/>
              </a:solidFill>
              <a:effectLst/>
              <a:latin typeface="Montserrat" pitchFamily="2" charset="77"/>
            </a:endParaRP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page table contains 16 entries</a:t>
            </a:r>
          </a:p>
          <a:p>
            <a:pPr marL="457200" indent="-45720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page table contains 8 entries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5DC36-3B21-A0A3-11E6-324DDAD3B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  <a:endParaRPr lang="en-S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51786-5740-284D-D8DC-FFDAB9604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E"/>
              <a:t>Operating Systems - Memory Management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F3C23-8574-5028-0F19-B8670ED84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9AA98-1CDB-B74D-913E-0EAC104F29A0}" type="slidenum">
              <a:rPr lang="en-SE" smtClean="0"/>
              <a:t>51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996217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Suppose a process P has size of 100 bytes. Compute (1) the number of wasted bytes caused by internal fragmentation if the page and frame sizes are set to 2^4 bytes and (2) the size of the page table.</a:t>
            </a:r>
          </a:p>
        </p:txBody>
      </p:sp>
    </p:spTree>
    <p:extLst>
      <p:ext uri="{BB962C8B-B14F-4D97-AF65-F5344CB8AC3E}">
        <p14:creationId xmlns:p14="http://schemas.microsoft.com/office/powerpoint/2010/main" val="18872843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Assuming a 1 KB page size, what are the page numbers and offsets for the following address references (provided as decimal numbers): </a:t>
            </a:r>
          </a:p>
          <a:p>
            <a:pPr marL="0" indent="0">
              <a:buNone/>
            </a:pPr>
            <a:r>
              <a:rPr lang="en-US" sz="2400" dirty="0"/>
              <a:t>2375 </a:t>
            </a:r>
          </a:p>
          <a:p>
            <a:pPr marL="0" indent="0">
              <a:buNone/>
            </a:pPr>
            <a:r>
              <a:rPr lang="en-US" sz="2400" dirty="0"/>
              <a:t>19366 </a:t>
            </a:r>
          </a:p>
          <a:p>
            <a:pPr marL="0" indent="0">
              <a:buNone/>
            </a:pPr>
            <a:r>
              <a:rPr lang="en-US" sz="2400" dirty="0"/>
              <a:t>30000 </a:t>
            </a:r>
          </a:p>
          <a:p>
            <a:pPr marL="0" indent="0">
              <a:buNone/>
            </a:pPr>
            <a:r>
              <a:rPr lang="en-US" sz="2400" dirty="0"/>
              <a:t>256 </a:t>
            </a:r>
          </a:p>
          <a:p>
            <a:pPr marL="0" indent="0">
              <a:buNone/>
            </a:pPr>
            <a:r>
              <a:rPr lang="en-US" sz="2400" dirty="0"/>
              <a:t>16385</a:t>
            </a:r>
          </a:p>
        </p:txBody>
      </p:sp>
    </p:spTree>
    <p:extLst>
      <p:ext uri="{BB962C8B-B14F-4D97-AF65-F5344CB8AC3E}">
        <p14:creationId xmlns:p14="http://schemas.microsoft.com/office/powerpoint/2010/main" val="4166205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7634" y="446991"/>
            <a:ext cx="8529417" cy="61648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Consider the following segment table: </a:t>
            </a:r>
          </a:p>
          <a:p>
            <a:pPr marL="0" indent="0">
              <a:buNone/>
            </a:pPr>
            <a:r>
              <a:rPr lang="en-US" sz="2400" dirty="0"/>
              <a:t>Segment 	Base 	Length </a:t>
            </a:r>
          </a:p>
          <a:p>
            <a:pPr marL="0" indent="0">
              <a:buNone/>
            </a:pPr>
            <a:r>
              <a:rPr lang="en-US" sz="2400" dirty="0"/>
              <a:t>0 		219 	600 </a:t>
            </a:r>
          </a:p>
          <a:p>
            <a:pPr marL="0" indent="0">
              <a:buNone/>
            </a:pPr>
            <a:r>
              <a:rPr lang="en-US" sz="2400" dirty="0"/>
              <a:t>1 		2300 	14 </a:t>
            </a:r>
          </a:p>
          <a:p>
            <a:pPr marL="0" indent="0">
              <a:buNone/>
            </a:pPr>
            <a:r>
              <a:rPr lang="en-US" sz="2400" dirty="0"/>
              <a:t>2 		90 	100 </a:t>
            </a:r>
          </a:p>
          <a:p>
            <a:pPr marL="0" indent="0">
              <a:buNone/>
            </a:pPr>
            <a:r>
              <a:rPr lang="en-US" sz="2400" dirty="0"/>
              <a:t>3 		1327 	580 </a:t>
            </a:r>
          </a:p>
          <a:p>
            <a:pPr marL="0" indent="0">
              <a:buNone/>
            </a:pPr>
            <a:r>
              <a:rPr lang="en-US" sz="2400" dirty="0"/>
              <a:t>4 		1352 	96 </a:t>
            </a:r>
          </a:p>
          <a:p>
            <a:pPr marL="0" indent="0">
              <a:buNone/>
            </a:pPr>
            <a:r>
              <a:rPr lang="en-US" sz="2400" dirty="0"/>
              <a:t>Tell which physical address would be accessed for the following logical addresses</a:t>
            </a:r>
          </a:p>
          <a:p>
            <a:pPr marL="0" indent="0">
              <a:buNone/>
            </a:pPr>
            <a:r>
              <a:rPr lang="en-US" sz="2400" dirty="0"/>
              <a:t>0,430</a:t>
            </a:r>
          </a:p>
          <a:p>
            <a:pPr marL="0" indent="0">
              <a:buNone/>
            </a:pPr>
            <a:r>
              <a:rPr lang="en-US" sz="2400" dirty="0"/>
              <a:t>1,10</a:t>
            </a:r>
          </a:p>
          <a:p>
            <a:pPr marL="0" indent="0">
              <a:buNone/>
            </a:pPr>
            <a:r>
              <a:rPr lang="en-US" sz="2400" dirty="0"/>
              <a:t>2,500</a:t>
            </a:r>
          </a:p>
          <a:p>
            <a:pPr marL="0" indent="0">
              <a:buNone/>
            </a:pPr>
            <a:r>
              <a:rPr lang="en-US" sz="2400" dirty="0"/>
              <a:t>3,400 </a:t>
            </a:r>
          </a:p>
          <a:p>
            <a:pPr marL="0" indent="0">
              <a:buNone/>
            </a:pPr>
            <a:r>
              <a:rPr lang="en-US" sz="2400" dirty="0"/>
              <a:t>4,112</a:t>
            </a:r>
          </a:p>
        </p:txBody>
      </p:sp>
    </p:spTree>
    <p:extLst>
      <p:ext uri="{BB962C8B-B14F-4D97-AF65-F5344CB8AC3E}">
        <p14:creationId xmlns:p14="http://schemas.microsoft.com/office/powerpoint/2010/main" val="1033327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13855</TotalTime>
  <Words>3070</Words>
  <Application>Microsoft Macintosh PowerPoint</Application>
  <PresentationFormat>On-screen Show (4:3)</PresentationFormat>
  <Paragraphs>612</Paragraphs>
  <Slides>54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7" baseType="lpstr">
      <vt:lpstr>Andale Mono</vt:lpstr>
      <vt:lpstr>Arial</vt:lpstr>
      <vt:lpstr>Calibri</vt:lpstr>
      <vt:lpstr>Calibri Light</vt:lpstr>
      <vt:lpstr>Garamond</vt:lpstr>
      <vt:lpstr>Helvetica</vt:lpstr>
      <vt:lpstr>inherit</vt:lpstr>
      <vt:lpstr>Montserrat</vt:lpstr>
      <vt:lpstr>Times New Roman</vt:lpstr>
      <vt:lpstr>Verdana</vt:lpstr>
      <vt:lpstr>Wingdings</vt:lpstr>
      <vt:lpstr>Office Theme</vt:lpstr>
      <vt:lpstr>1_Office Theme</vt:lpstr>
      <vt:lpstr>PowerPoint Presentation</vt:lpstr>
      <vt:lpstr>What to read (main textbook)</vt:lpstr>
      <vt:lpstr>Objective</vt:lpstr>
      <vt:lpstr>Agenda</vt:lpstr>
      <vt:lpstr>Agenda</vt:lpstr>
      <vt:lpstr>Background and basic hardware (I)</vt:lpstr>
      <vt:lpstr>Background and basic hardware (II)</vt:lpstr>
      <vt:lpstr>Agenda</vt:lpstr>
      <vt:lpstr>Base and Limit register (I)</vt:lpstr>
      <vt:lpstr>Base and Limit register (II)</vt:lpstr>
      <vt:lpstr>Base and Limit register (III)</vt:lpstr>
      <vt:lpstr>Agenda</vt:lpstr>
      <vt:lpstr>Address binding</vt:lpstr>
      <vt:lpstr>Logical/Virtual vs Physical address space (i)</vt:lpstr>
      <vt:lpstr>Logical/Virtual vs Physical address space (ii)</vt:lpstr>
      <vt:lpstr>Memory-Management Unit (MMU) – Relocation Register</vt:lpstr>
      <vt:lpstr>Agenda</vt:lpstr>
      <vt:lpstr>Optimizations – Dynamic loading</vt:lpstr>
      <vt:lpstr>Optimizations – Dynamic Linking (i)</vt:lpstr>
      <vt:lpstr>Optimizations – Dynamic Linking (ii)</vt:lpstr>
      <vt:lpstr>Agenda</vt:lpstr>
      <vt:lpstr>Swapping (i)</vt:lpstr>
      <vt:lpstr>Swapping (ii)</vt:lpstr>
      <vt:lpstr>Swapping - Which processes can we swap?</vt:lpstr>
      <vt:lpstr>Swapping – How much time does it take?</vt:lpstr>
      <vt:lpstr>Swapping – When does it make sense to use it?</vt:lpstr>
      <vt:lpstr>Agenda</vt:lpstr>
      <vt:lpstr>Memory allocation</vt:lpstr>
      <vt:lpstr>Agenda</vt:lpstr>
      <vt:lpstr>Contiguous allocation</vt:lpstr>
      <vt:lpstr>Contiguous allocation – memory protection</vt:lpstr>
      <vt:lpstr>Contiguous allocation - limitations</vt:lpstr>
      <vt:lpstr>Contiguous allocation – which hole to assign to a new process?</vt:lpstr>
      <vt:lpstr>Agenda</vt:lpstr>
      <vt:lpstr>Segmentation (i)</vt:lpstr>
      <vt:lpstr>Segmentation (ii)</vt:lpstr>
      <vt:lpstr>Segmentation – segment table</vt:lpstr>
      <vt:lpstr>Segmentation – hardware support</vt:lpstr>
      <vt:lpstr>Agenda</vt:lpstr>
      <vt:lpstr>Paging</vt:lpstr>
      <vt:lpstr>Paging – Basic idea</vt:lpstr>
      <vt:lpstr>Paging – the page table</vt:lpstr>
      <vt:lpstr>Paging – hardware support</vt:lpstr>
      <vt:lpstr>Paging – from logical address to physical address (i)</vt:lpstr>
      <vt:lpstr>Paging – from logical address to physical address (ii)</vt:lpstr>
      <vt:lpstr>Paging - Fragmentation</vt:lpstr>
      <vt:lpstr>Questions</vt:lpstr>
      <vt:lpstr>Which of these memories can be accessed directly by the CPU?30sec</vt:lpstr>
      <vt:lpstr>The base and limit registers in the figure contain the same value. Is it OK?</vt:lpstr>
      <vt:lpstr>Paging suffers from...30sec</vt:lpstr>
      <vt:lpstr>Process p address space is 128K. There are 16K of physical memory available (page size is 1K).</vt:lpstr>
      <vt:lpstr>PowerPoint Presentation</vt:lpstr>
      <vt:lpstr>PowerPoint Presentation</vt:lpstr>
      <vt:lpstr>PowerPoint Presentation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Vincenzo Massimiliano Gulisano</cp:lastModifiedBy>
  <cp:revision>300</cp:revision>
  <cp:lastPrinted>2016-11-27T09:36:39Z</cp:lastPrinted>
  <dcterms:created xsi:type="dcterms:W3CDTF">2011-01-13T23:43:38Z</dcterms:created>
  <dcterms:modified xsi:type="dcterms:W3CDTF">2026-07-14T05:42:45Z</dcterms:modified>
</cp:coreProperties>
</file>