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sldIdLst>
    <p:sldId id="371" r:id="rId2"/>
    <p:sldId id="526" r:id="rId3"/>
    <p:sldId id="360" r:id="rId4"/>
    <p:sldId id="361" r:id="rId5"/>
    <p:sldId id="301" r:id="rId6"/>
    <p:sldId id="307" r:id="rId7"/>
    <p:sldId id="292" r:id="rId8"/>
    <p:sldId id="293" r:id="rId9"/>
    <p:sldId id="362" r:id="rId10"/>
    <p:sldId id="258" r:id="rId11"/>
    <p:sldId id="259" r:id="rId12"/>
    <p:sldId id="260" r:id="rId13"/>
    <p:sldId id="309" r:id="rId14"/>
    <p:sldId id="363" r:id="rId15"/>
    <p:sldId id="265" r:id="rId16"/>
    <p:sldId id="266" r:id="rId17"/>
    <p:sldId id="329" r:id="rId18"/>
    <p:sldId id="330" r:id="rId19"/>
    <p:sldId id="364" r:id="rId20"/>
    <p:sldId id="269" r:id="rId21"/>
    <p:sldId id="270" r:id="rId22"/>
    <p:sldId id="332" r:id="rId23"/>
    <p:sldId id="365" r:id="rId24"/>
    <p:sldId id="273" r:id="rId25"/>
    <p:sldId id="335" r:id="rId26"/>
    <p:sldId id="366" r:id="rId27"/>
    <p:sldId id="275" r:id="rId28"/>
    <p:sldId id="338" r:id="rId29"/>
    <p:sldId id="367" r:id="rId30"/>
    <p:sldId id="286" r:id="rId31"/>
    <p:sldId id="288" r:id="rId32"/>
    <p:sldId id="368" r:id="rId33"/>
    <p:sldId id="341" r:id="rId34"/>
    <p:sldId id="356" r:id="rId35"/>
    <p:sldId id="295" r:id="rId36"/>
    <p:sldId id="369" r:id="rId37"/>
    <p:sldId id="276" r:id="rId38"/>
    <p:sldId id="358" r:id="rId39"/>
    <p:sldId id="277" r:id="rId40"/>
    <p:sldId id="278" r:id="rId41"/>
    <p:sldId id="279" r:id="rId42"/>
    <p:sldId id="280" r:id="rId43"/>
  </p:sldIdLst>
  <p:sldSz cx="12192000" cy="6858000"/>
  <p:notesSz cx="6858000" cy="9144000"/>
  <p:defaultText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B4C572-B420-3145-BB38-62E5C0E4761A}" v="9" dt="2025-09-22T05:15:17.7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094"/>
    <p:restoredTop sz="71512"/>
  </p:normalViewPr>
  <p:slideViewPr>
    <p:cSldViewPr snapToGrid="0" snapToObjects="1" showGuides="1">
      <p:cViewPr varScale="1">
        <p:scale>
          <a:sx n="82" d="100"/>
          <a:sy n="82" d="100"/>
        </p:scale>
        <p:origin x="2240" y="176"/>
      </p:cViewPr>
      <p:guideLst>
        <p:guide orient="horz" pos="2160"/>
        <p:guide pos="386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cenzo Massimiliano Gulisano" userId="887d7398-9e41-4331-abd4-9c23f064ea90" providerId="ADAL" clId="{8EA10870-6395-588A-9409-E8E4CA631CF7}"/>
    <pc:docChg chg="undo redo custSel modSld">
      <pc:chgData name="Vincenzo Massimiliano Gulisano" userId="887d7398-9e41-4331-abd4-9c23f064ea90" providerId="ADAL" clId="{8EA10870-6395-588A-9409-E8E4CA631CF7}" dt="2025-09-22T05:15:17.774" v="267"/>
      <pc:docMkLst>
        <pc:docMk/>
      </pc:docMkLst>
      <pc:sldChg chg="modSp mod">
        <pc:chgData name="Vincenzo Massimiliano Gulisano" userId="887d7398-9e41-4331-abd4-9c23f064ea90" providerId="ADAL" clId="{8EA10870-6395-588A-9409-E8E4CA631CF7}" dt="2025-09-19T05:53:27.377" v="101" actId="27636"/>
        <pc:sldMkLst>
          <pc:docMk/>
          <pc:sldMk cId="1181749054" sldId="269"/>
        </pc:sldMkLst>
        <pc:spChg chg="mod">
          <ac:chgData name="Vincenzo Massimiliano Gulisano" userId="887d7398-9e41-4331-abd4-9c23f064ea90" providerId="ADAL" clId="{8EA10870-6395-588A-9409-E8E4CA631CF7}" dt="2025-09-19T05:53:27.377" v="101" actId="27636"/>
          <ac:spMkLst>
            <pc:docMk/>
            <pc:sldMk cId="1181749054" sldId="269"/>
            <ac:spMk id="6" creationId="{AD038F9C-80DE-F359-6CFA-D698824CF300}"/>
          </ac:spMkLst>
        </pc:spChg>
      </pc:sldChg>
      <pc:sldChg chg="addSp delSp modSp mod delAnim">
        <pc:chgData name="Vincenzo Massimiliano Gulisano" userId="887d7398-9e41-4331-abd4-9c23f064ea90" providerId="ADAL" clId="{8EA10870-6395-588A-9409-E8E4CA631CF7}" dt="2025-09-19T06:08:00.489" v="130" actId="14100"/>
        <pc:sldMkLst>
          <pc:docMk/>
          <pc:sldMk cId="3948241894" sldId="270"/>
        </pc:sldMkLst>
        <pc:spChg chg="mod">
          <ac:chgData name="Vincenzo Massimiliano Gulisano" userId="887d7398-9e41-4331-abd4-9c23f064ea90" providerId="ADAL" clId="{8EA10870-6395-588A-9409-E8E4CA631CF7}" dt="2025-09-19T05:53:27.390" v="102" actId="27636"/>
          <ac:spMkLst>
            <pc:docMk/>
            <pc:sldMk cId="3948241894" sldId="270"/>
            <ac:spMk id="12" creationId="{59757220-38F1-A4E4-C672-E9D602D679CE}"/>
          </ac:spMkLst>
        </pc:spChg>
        <pc:cxnChg chg="add mod">
          <ac:chgData name="Vincenzo Massimiliano Gulisano" userId="887d7398-9e41-4331-abd4-9c23f064ea90" providerId="ADAL" clId="{8EA10870-6395-588A-9409-E8E4CA631CF7}" dt="2025-09-19T06:06:49.357" v="122" actId="14100"/>
          <ac:cxnSpMkLst>
            <pc:docMk/>
            <pc:sldMk cId="3948241894" sldId="270"/>
            <ac:cxnSpMk id="3" creationId="{F12FD3D4-72D1-06CF-9D19-B4979E2C5F08}"/>
          </ac:cxnSpMkLst>
        </pc:cxnChg>
        <pc:cxnChg chg="add mod">
          <ac:chgData name="Vincenzo Massimiliano Gulisano" userId="887d7398-9e41-4331-abd4-9c23f064ea90" providerId="ADAL" clId="{8EA10870-6395-588A-9409-E8E4CA631CF7}" dt="2025-09-19T06:07:01.145" v="125" actId="14100"/>
          <ac:cxnSpMkLst>
            <pc:docMk/>
            <pc:sldMk cId="3948241894" sldId="270"/>
            <ac:cxnSpMk id="4" creationId="{1646E6FA-DB1F-21E5-9E9B-1AA397977547}"/>
          </ac:cxnSpMkLst>
        </pc:cxnChg>
        <pc:cxnChg chg="add mod">
          <ac:chgData name="Vincenzo Massimiliano Gulisano" userId="887d7398-9e41-4331-abd4-9c23f064ea90" providerId="ADAL" clId="{8EA10870-6395-588A-9409-E8E4CA631CF7}" dt="2025-09-19T06:08:00.489" v="130" actId="14100"/>
          <ac:cxnSpMkLst>
            <pc:docMk/>
            <pc:sldMk cId="3948241894" sldId="270"/>
            <ac:cxnSpMk id="5" creationId="{135B366E-EEDD-7DBB-ABA2-E43AECB7CD54}"/>
          </ac:cxnSpMkLst>
        </pc:cxnChg>
      </pc:sldChg>
      <pc:sldChg chg="modNotesTx">
        <pc:chgData name="Vincenzo Massimiliano Gulisano" userId="887d7398-9e41-4331-abd4-9c23f064ea90" providerId="ADAL" clId="{8EA10870-6395-588A-9409-E8E4CA631CF7}" dt="2025-09-19T09:49:35.210" v="266" actId="20577"/>
        <pc:sldMkLst>
          <pc:docMk/>
          <pc:sldMk cId="742123061" sldId="278"/>
        </pc:sldMkLst>
      </pc:sldChg>
      <pc:sldChg chg="modSp mod modNotesTx">
        <pc:chgData name="Vincenzo Massimiliano Gulisano" userId="887d7398-9e41-4331-abd4-9c23f064ea90" providerId="ADAL" clId="{8EA10870-6395-588A-9409-E8E4CA631CF7}" dt="2025-09-19T07:02:09.486" v="134" actId="20577"/>
        <pc:sldMkLst>
          <pc:docMk/>
          <pc:sldMk cId="2407586756" sldId="288"/>
        </pc:sldMkLst>
        <pc:spChg chg="mod">
          <ac:chgData name="Vincenzo Massimiliano Gulisano" userId="887d7398-9e41-4331-abd4-9c23f064ea90" providerId="ADAL" clId="{8EA10870-6395-588A-9409-E8E4CA631CF7}" dt="2025-09-19T07:01:56.582" v="133" actId="20577"/>
          <ac:spMkLst>
            <pc:docMk/>
            <pc:sldMk cId="2407586756" sldId="288"/>
            <ac:spMk id="5" creationId="{00000000-0000-0000-0000-000000000000}"/>
          </ac:spMkLst>
        </pc:spChg>
      </pc:sldChg>
      <pc:sldChg chg="modSp mod modAnim">
        <pc:chgData name="Vincenzo Massimiliano Gulisano" userId="887d7398-9e41-4331-abd4-9c23f064ea90" providerId="ADAL" clId="{8EA10870-6395-588A-9409-E8E4CA631CF7}" dt="2025-09-19T05:53:33.735" v="106" actId="20577"/>
        <pc:sldMkLst>
          <pc:docMk/>
          <pc:sldMk cId="371529875" sldId="301"/>
        </pc:sldMkLst>
        <pc:spChg chg="mod">
          <ac:chgData name="Vincenzo Massimiliano Gulisano" userId="887d7398-9e41-4331-abd4-9c23f064ea90" providerId="ADAL" clId="{8EA10870-6395-588A-9409-E8E4CA631CF7}" dt="2025-09-19T05:53:33.735" v="106" actId="20577"/>
          <ac:spMkLst>
            <pc:docMk/>
            <pc:sldMk cId="371529875" sldId="301"/>
            <ac:spMk id="3" creationId="{23FC672C-D9E8-46A3-B737-0D56366C6B8C}"/>
          </ac:spMkLst>
        </pc:spChg>
        <pc:spChg chg="mod">
          <ac:chgData name="Vincenzo Massimiliano Gulisano" userId="887d7398-9e41-4331-abd4-9c23f064ea90" providerId="ADAL" clId="{8EA10870-6395-588A-9409-E8E4CA631CF7}" dt="2025-09-19T05:53:27.336" v="100" actId="27636"/>
          <ac:spMkLst>
            <pc:docMk/>
            <pc:sldMk cId="371529875" sldId="301"/>
            <ac:spMk id="4" creationId="{14A16E93-FF84-43DA-90ED-42FF3EDBADE8}"/>
          </ac:spMkLst>
        </pc:spChg>
      </pc:sldChg>
      <pc:sldChg chg="modNotesTx">
        <pc:chgData name="Vincenzo Massimiliano Gulisano" userId="887d7398-9e41-4331-abd4-9c23f064ea90" providerId="ADAL" clId="{8EA10870-6395-588A-9409-E8E4CA631CF7}" dt="2025-09-19T05:59:17.556" v="107" actId="20577"/>
        <pc:sldMkLst>
          <pc:docMk/>
          <pc:sldMk cId="1625143817" sldId="309"/>
        </pc:sldMkLst>
      </pc:sldChg>
      <pc:sldChg chg="modSp mod">
        <pc:chgData name="Vincenzo Massimiliano Gulisano" userId="887d7398-9e41-4331-abd4-9c23f064ea90" providerId="ADAL" clId="{8EA10870-6395-588A-9409-E8E4CA631CF7}" dt="2025-09-19T06:05:49.358" v="116" actId="693"/>
        <pc:sldMkLst>
          <pc:docMk/>
          <pc:sldMk cId="1041964084" sldId="330"/>
        </pc:sldMkLst>
        <pc:cxnChg chg="mod">
          <ac:chgData name="Vincenzo Massimiliano Gulisano" userId="887d7398-9e41-4331-abd4-9c23f064ea90" providerId="ADAL" clId="{8EA10870-6395-588A-9409-E8E4CA631CF7}" dt="2025-09-19T06:05:49.358" v="116" actId="693"/>
          <ac:cxnSpMkLst>
            <pc:docMk/>
            <pc:sldMk cId="1041964084" sldId="330"/>
            <ac:cxnSpMk id="6" creationId="{1B938B33-394D-857A-2B06-566BB4D62092}"/>
          </ac:cxnSpMkLst>
        </pc:cxnChg>
        <pc:cxnChg chg="mod">
          <ac:chgData name="Vincenzo Massimiliano Gulisano" userId="887d7398-9e41-4331-abd4-9c23f064ea90" providerId="ADAL" clId="{8EA10870-6395-588A-9409-E8E4CA631CF7}" dt="2025-09-19T06:05:10.289" v="112" actId="1582"/>
          <ac:cxnSpMkLst>
            <pc:docMk/>
            <pc:sldMk cId="1041964084" sldId="330"/>
            <ac:cxnSpMk id="9" creationId="{8A768A85-9A4C-F54A-DAF0-804AEE7CB280}"/>
          </ac:cxnSpMkLst>
        </pc:cxnChg>
        <pc:cxnChg chg="mod">
          <ac:chgData name="Vincenzo Massimiliano Gulisano" userId="887d7398-9e41-4331-abd4-9c23f064ea90" providerId="ADAL" clId="{8EA10870-6395-588A-9409-E8E4CA631CF7}" dt="2025-09-19T06:05:49.358" v="116" actId="693"/>
          <ac:cxnSpMkLst>
            <pc:docMk/>
            <pc:sldMk cId="1041964084" sldId="330"/>
            <ac:cxnSpMk id="10" creationId="{51E8D88F-3363-6A79-7282-C8CC7A10115A}"/>
          </ac:cxnSpMkLst>
        </pc:cxnChg>
        <pc:cxnChg chg="mod">
          <ac:chgData name="Vincenzo Massimiliano Gulisano" userId="887d7398-9e41-4331-abd4-9c23f064ea90" providerId="ADAL" clId="{8EA10870-6395-588A-9409-E8E4CA631CF7}" dt="2025-09-19T06:05:10.289" v="112" actId="1582"/>
          <ac:cxnSpMkLst>
            <pc:docMk/>
            <pc:sldMk cId="1041964084" sldId="330"/>
            <ac:cxnSpMk id="12" creationId="{D56456C7-4029-8015-F24C-D55DEFB1A3C1}"/>
          </ac:cxnSpMkLst>
        </pc:cxnChg>
      </pc:sldChg>
      <pc:sldChg chg="addSp delSp modSp mod delAnim">
        <pc:chgData name="Vincenzo Massimiliano Gulisano" userId="887d7398-9e41-4331-abd4-9c23f064ea90" providerId="ADAL" clId="{8EA10870-6395-588A-9409-E8E4CA631CF7}" dt="2025-09-19T06:08:09.627" v="132" actId="478"/>
        <pc:sldMkLst>
          <pc:docMk/>
          <pc:sldMk cId="2971741468" sldId="332"/>
        </pc:sldMkLst>
        <pc:spChg chg="mod">
          <ac:chgData name="Vincenzo Massimiliano Gulisano" userId="887d7398-9e41-4331-abd4-9c23f064ea90" providerId="ADAL" clId="{8EA10870-6395-588A-9409-E8E4CA631CF7}" dt="2025-09-19T05:53:27.394" v="103" actId="27636"/>
          <ac:spMkLst>
            <pc:docMk/>
            <pc:sldMk cId="2971741468" sldId="332"/>
            <ac:spMk id="12" creationId="{59757220-38F1-A4E4-C672-E9D602D679CE}"/>
          </ac:spMkLst>
        </pc:spChg>
        <pc:cxnChg chg="add mod">
          <ac:chgData name="Vincenzo Massimiliano Gulisano" userId="887d7398-9e41-4331-abd4-9c23f064ea90" providerId="ADAL" clId="{8EA10870-6395-588A-9409-E8E4CA631CF7}" dt="2025-09-19T06:08:05.971" v="131"/>
          <ac:cxnSpMkLst>
            <pc:docMk/>
            <pc:sldMk cId="2971741468" sldId="332"/>
            <ac:cxnSpMk id="6" creationId="{0310B19F-2D96-A0CC-3391-82694C9B9D57}"/>
          </ac:cxnSpMkLst>
        </pc:cxnChg>
        <pc:cxnChg chg="add mod">
          <ac:chgData name="Vincenzo Massimiliano Gulisano" userId="887d7398-9e41-4331-abd4-9c23f064ea90" providerId="ADAL" clId="{8EA10870-6395-588A-9409-E8E4CA631CF7}" dt="2025-09-19T06:08:05.971" v="131"/>
          <ac:cxnSpMkLst>
            <pc:docMk/>
            <pc:sldMk cId="2971741468" sldId="332"/>
            <ac:cxnSpMk id="7" creationId="{E2B0B9E4-8466-175B-6A8B-22D00920545C}"/>
          </ac:cxnSpMkLst>
        </pc:cxnChg>
        <pc:cxnChg chg="add mod">
          <ac:chgData name="Vincenzo Massimiliano Gulisano" userId="887d7398-9e41-4331-abd4-9c23f064ea90" providerId="ADAL" clId="{8EA10870-6395-588A-9409-E8E4CA631CF7}" dt="2025-09-19T06:08:05.971" v="131"/>
          <ac:cxnSpMkLst>
            <pc:docMk/>
            <pc:sldMk cId="2971741468" sldId="332"/>
            <ac:cxnSpMk id="8" creationId="{2491A336-A03E-C987-9AC6-D429BD002549}"/>
          </ac:cxnSpMkLst>
        </pc:cxnChg>
      </pc:sldChg>
      <pc:sldChg chg="modNotesTx">
        <pc:chgData name="Vincenzo Massimiliano Gulisano" userId="887d7398-9e41-4331-abd4-9c23f064ea90" providerId="ADAL" clId="{8EA10870-6395-588A-9409-E8E4CA631CF7}" dt="2025-09-19T05:51:21.258" v="97" actId="20577"/>
        <pc:sldMkLst>
          <pc:docMk/>
          <pc:sldMk cId="4064290524" sldId="360"/>
        </pc:sldMkLst>
      </pc:sldChg>
      <pc:sldChg chg="modSp">
        <pc:chgData name="Vincenzo Massimiliano Gulisano" userId="887d7398-9e41-4331-abd4-9c23f064ea90" providerId="ADAL" clId="{8EA10870-6395-588A-9409-E8E4CA631CF7}" dt="2025-09-22T05:15:17.774" v="267"/>
        <pc:sldMkLst>
          <pc:docMk/>
          <pc:sldMk cId="1787128078" sldId="526"/>
        </pc:sldMkLst>
        <pc:spChg chg="mod">
          <ac:chgData name="Vincenzo Massimiliano Gulisano" userId="887d7398-9e41-4331-abd4-9c23f064ea90" providerId="ADAL" clId="{8EA10870-6395-588A-9409-E8E4CA631CF7}" dt="2025-09-22T05:15:17.774" v="267"/>
          <ac:spMkLst>
            <pc:docMk/>
            <pc:sldMk cId="1787128078" sldId="526"/>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670FC7-431C-3445-825C-360F18AD9FB0}" type="datetimeFigureOut">
              <a:rPr lang="en-US" smtClean="0"/>
              <a:t>7/14/26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BC1079-C5C6-1A45-8E7E-B20B607B09A1}" type="slidenum">
              <a:rPr lang="en-US" smtClean="0"/>
              <a:t>‹#›</a:t>
            </a:fld>
            <a:endParaRPr lang="en-US"/>
          </a:p>
        </p:txBody>
      </p:sp>
    </p:spTree>
    <p:extLst>
      <p:ext uri="{BB962C8B-B14F-4D97-AF65-F5344CB8AC3E}">
        <p14:creationId xmlns:p14="http://schemas.microsoft.com/office/powerpoint/2010/main" val="3201950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a:solidFill>
                  <a:schemeClr val="tx1"/>
                </a:solidFill>
                <a:latin typeface="Verdana" panose="020B0604030504040204" pitchFamily="34" charset="0"/>
                <a:ea typeface="MS PGothic" panose="020B0600070205080204" pitchFamily="34" charset="-128"/>
              </a:defRPr>
            </a:lvl1pPr>
            <a:lvl2pPr marL="742950" indent="-285750" defTabSz="928688">
              <a:defRPr>
                <a:solidFill>
                  <a:schemeClr val="tx1"/>
                </a:solidFill>
                <a:latin typeface="Verdana" panose="020B0604030504040204" pitchFamily="34" charset="0"/>
                <a:ea typeface="MS PGothic" panose="020B0600070205080204" pitchFamily="34" charset="-128"/>
              </a:defRPr>
            </a:lvl2pPr>
            <a:lvl3pPr marL="1143000" indent="-228600" defTabSz="928688">
              <a:defRPr>
                <a:solidFill>
                  <a:schemeClr val="tx1"/>
                </a:solidFill>
                <a:latin typeface="Verdana" panose="020B0604030504040204" pitchFamily="34" charset="0"/>
                <a:ea typeface="MS PGothic" panose="020B0600070205080204" pitchFamily="34" charset="-128"/>
              </a:defRPr>
            </a:lvl3pPr>
            <a:lvl4pPr marL="1600200" indent="-228600" defTabSz="928688">
              <a:defRPr>
                <a:solidFill>
                  <a:schemeClr val="tx1"/>
                </a:solidFill>
                <a:latin typeface="Verdana" panose="020B0604030504040204" pitchFamily="34" charset="0"/>
                <a:ea typeface="MS PGothic" panose="020B0600070205080204" pitchFamily="34" charset="-128"/>
              </a:defRPr>
            </a:lvl4pPr>
            <a:lvl5pPr marL="2057400" indent="-228600" defTabSz="928688">
              <a:defRPr>
                <a:solidFill>
                  <a:schemeClr val="tx1"/>
                </a:solidFill>
                <a:latin typeface="Verdana" panose="020B0604030504040204" pitchFamily="34" charset="0"/>
                <a:ea typeface="MS PGothic" panose="020B0600070205080204" pitchFamily="34" charset="-128"/>
              </a:defRPr>
            </a:lvl5pPr>
            <a:lvl6pPr marL="25146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328B533-8857-427F-B5E5-DF256DF739B8}" type="slidenum">
              <a:rPr lang="en-US" altLang="en-US">
                <a:latin typeface="Times New Roman" panose="02020603050405020304" pitchFamily="18" charset="0"/>
              </a:rPr>
              <a:pPr/>
              <a:t>1</a:t>
            </a:fld>
            <a:endParaRPr lang="en-US" altLang="en-US">
              <a:latin typeface="Times New Roman" panose="02020603050405020304" pitchFamily="18"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11323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Bounded-buffer producer/consumer </a:t>
            </a:r>
            <a:r>
              <a:rPr lang="en-US" dirty="0">
                <a:sym typeface="Wingdings" pitchFamily="2" charset="2"/>
              </a:rPr>
              <a:t> can connect to pipes, to glue a bit things together</a:t>
            </a:r>
            <a:endParaRPr lang="en-US" dirty="0"/>
          </a:p>
        </p:txBody>
      </p:sp>
      <p:sp>
        <p:nvSpPr>
          <p:cNvPr id="4" name="Slide Number Placeholder 3"/>
          <p:cNvSpPr>
            <a:spLocks noGrp="1"/>
          </p:cNvSpPr>
          <p:nvPr>
            <p:ph type="sldNum" sz="quarter" idx="5"/>
          </p:nvPr>
        </p:nvSpPr>
        <p:spPr/>
        <p:txBody>
          <a:bodyPr/>
          <a:lstStyle/>
          <a:p>
            <a:fld id="{20BC1079-C5C6-1A45-8E7E-B20B607B09A1}" type="slidenum">
              <a:rPr lang="en-US" smtClean="0"/>
              <a:t>3</a:t>
            </a:fld>
            <a:endParaRPr lang="en-US"/>
          </a:p>
        </p:txBody>
      </p:sp>
    </p:spTree>
    <p:extLst>
      <p:ext uri="{BB962C8B-B14F-4D97-AF65-F5344CB8AC3E}">
        <p14:creationId xmlns:p14="http://schemas.microsoft.com/office/powerpoint/2010/main" val="7969639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with this lecture, we are going to discuss classic synchronization problems.</a:t>
            </a:r>
          </a:p>
          <a:p>
            <a:r>
              <a:rPr lang="en-US" dirty="0"/>
              <a:t>The first such problem is the bounded-buffer producer/consumer problem.</a:t>
            </a:r>
          </a:p>
          <a:p>
            <a:endParaRPr lang="en-US" dirty="0"/>
          </a:p>
          <a:p>
            <a:r>
              <a:rPr lang="en-US" dirty="0"/>
              <a:t>[c] Just a reminder: what we are trying to do here is to study/discuss how we can use basic building blocks, synchronization primitives in this case, to compose applications that have certain semantics.</a:t>
            </a:r>
          </a:p>
        </p:txBody>
      </p:sp>
      <p:sp>
        <p:nvSpPr>
          <p:cNvPr id="4" name="Slide Number Placeholder 3"/>
          <p:cNvSpPr>
            <a:spLocks noGrp="1"/>
          </p:cNvSpPr>
          <p:nvPr>
            <p:ph type="sldNum" sz="quarter" idx="5"/>
          </p:nvPr>
        </p:nvSpPr>
        <p:spPr/>
        <p:txBody>
          <a:bodyPr/>
          <a:lstStyle/>
          <a:p>
            <a:fld id="{20BC1079-C5C6-1A45-8E7E-B20B607B09A1}" type="slidenum">
              <a:rPr lang="en-US" smtClean="0"/>
              <a:t>5</a:t>
            </a:fld>
            <a:endParaRPr lang="en-US"/>
          </a:p>
        </p:txBody>
      </p:sp>
    </p:spTree>
    <p:extLst>
      <p:ext uri="{BB962C8B-B14F-4D97-AF65-F5344CB8AC3E}">
        <p14:creationId xmlns:p14="http://schemas.microsoft.com/office/powerpoint/2010/main" val="27847561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27E9B9AA-A94C-41CF-9E1F-FDC7F0A0145B}" type="slidenum">
              <a:rPr lang="en-US" smtClean="0">
                <a:solidFill>
                  <a:prstClr val="black"/>
                </a:solidFill>
              </a:rPr>
              <a:pPr/>
              <a:t>6</a:t>
            </a:fld>
            <a:endParaRPr lang="en-US">
              <a:solidFill>
                <a:prstClr val="black"/>
              </a:solidFill>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r>
              <a:rPr lang="en-US" noProof="0" dirty="0"/>
              <a:t>So, for the bounded producer-consumer buffer, it looks like this.</a:t>
            </a:r>
          </a:p>
          <a:p>
            <a:r>
              <a:rPr lang="en-US" noProof="0" dirty="0"/>
              <a:t>We have one producer that wants to add items in a queue and a consumer that reads them.</a:t>
            </a:r>
          </a:p>
          <a:p>
            <a:r>
              <a:rPr lang="en-US" noProof="0" dirty="0"/>
              <a:t>As you can imagine, the queue itself is what we need to handle with care, inside the critical section. Why is that? because the producer must be sure there's space in the buffer before adding an element (it is a bounded buffer), and the consumer must be sure there's something in the buffer before reading it.</a:t>
            </a:r>
          </a:p>
          <a:p>
            <a:r>
              <a:rPr lang="en-US" noProof="0" dirty="0"/>
              <a:t>[c] Let’s try to find a solution for this critical section using semaphores</a:t>
            </a:r>
          </a:p>
        </p:txBody>
      </p:sp>
    </p:spTree>
    <p:extLst>
      <p:ext uri="{BB962C8B-B14F-4D97-AF65-F5344CB8AC3E}">
        <p14:creationId xmlns:p14="http://schemas.microsoft.com/office/powerpoint/2010/main" val="9683050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27E9B9AA-A94C-41CF-9E1F-FDC7F0A0145B}" type="slidenum">
              <a:rPr lang="en-US" smtClean="0">
                <a:solidFill>
                  <a:prstClr val="black"/>
                </a:solidFill>
              </a:rPr>
              <a:pPr/>
              <a:t>7</a:t>
            </a:fld>
            <a:endParaRPr lang="en-US">
              <a:solidFill>
                <a:prstClr val="black"/>
              </a:solidFill>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r>
              <a:rPr lang="en-US" noProof="0" dirty="0"/>
              <a:t>A way to put down such ideas is to draw a diagram like the following one. As you can see, each critical section of a thread is "wrapped" in a lock (this is just what we discussed before). The unlocking of the critical section of a thread precedes the locking of the critical section of any of the two threads.</a:t>
            </a:r>
          </a:p>
          <a:p>
            <a:r>
              <a:rPr lang="en-US" noProof="0" dirty="0"/>
              <a:t>For the producer, an extra wait should precede the locking of its critical section, because if the queue is full the thread has to wait.</a:t>
            </a:r>
          </a:p>
          <a:p>
            <a:r>
              <a:rPr lang="en-US" noProof="0" dirty="0"/>
              <a:t>For the consumer thread, a while loop should precede the locking of its critical section to make sure there are actually elements in the queue. </a:t>
            </a:r>
          </a:p>
          <a:p>
            <a:r>
              <a:rPr lang="en-US" noProof="0" dirty="0"/>
              <a:t>When can the producer exit the while? after the consumer removed an element. This can be signaled for sure after the consumer exits its critical section.</a:t>
            </a:r>
          </a:p>
          <a:p>
            <a:r>
              <a:rPr lang="en-US" noProof="0" dirty="0"/>
              <a:t>When can the consumer exit the while? after the producer added an element. This can be signaled for sure after the producer exits its critical section.</a:t>
            </a:r>
          </a:p>
        </p:txBody>
      </p:sp>
    </p:spTree>
    <p:extLst>
      <p:ext uri="{BB962C8B-B14F-4D97-AF65-F5344CB8AC3E}">
        <p14:creationId xmlns:p14="http://schemas.microsoft.com/office/powerpoint/2010/main" val="29606908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27E9B9AA-A94C-41CF-9E1F-FDC7F0A0145B}" type="slidenum">
              <a:rPr lang="en-US" smtClean="0">
                <a:solidFill>
                  <a:prstClr val="black"/>
                </a:solidFill>
              </a:rPr>
              <a:pPr/>
              <a:t>8</a:t>
            </a:fld>
            <a:endParaRPr lang="en-US">
              <a:solidFill>
                <a:prstClr val="black"/>
              </a:solidFill>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r>
              <a:rPr lang="sv-SE" dirty="0"/>
              <a:t>If </a:t>
            </a:r>
            <a:r>
              <a:rPr lang="sv-SE" dirty="0" err="1"/>
              <a:t>you</a:t>
            </a:r>
            <a:r>
              <a:rPr lang="sv-SE" dirty="0"/>
              <a:t> </a:t>
            </a:r>
            <a:r>
              <a:rPr lang="sv-SE" dirty="0" err="1"/>
              <a:t>draw</a:t>
            </a:r>
            <a:r>
              <a:rPr lang="sv-SE" dirty="0"/>
              <a:t> </a:t>
            </a:r>
            <a:r>
              <a:rPr lang="sv-SE" dirty="0" err="1"/>
              <a:t>such</a:t>
            </a:r>
            <a:r>
              <a:rPr lang="sv-SE" dirty="0"/>
              <a:t> a </a:t>
            </a:r>
            <a:r>
              <a:rPr lang="sv-SE" dirty="0" err="1"/>
              <a:t>scheme</a:t>
            </a:r>
            <a:r>
              <a:rPr lang="sv-SE" dirty="0"/>
              <a:t>, is </a:t>
            </a:r>
            <a:r>
              <a:rPr lang="sv-SE" dirty="0" err="1"/>
              <a:t>then</a:t>
            </a:r>
            <a:r>
              <a:rPr lang="sv-SE" dirty="0"/>
              <a:t> </a:t>
            </a:r>
            <a:r>
              <a:rPr lang="sv-SE" dirty="0" err="1"/>
              <a:t>easier</a:t>
            </a:r>
            <a:r>
              <a:rPr lang="sv-SE" dirty="0"/>
              <a:t> to come </a:t>
            </a:r>
            <a:r>
              <a:rPr lang="sv-SE" dirty="0" err="1"/>
              <a:t>up</a:t>
            </a:r>
            <a:r>
              <a:rPr lang="sv-SE" dirty="0"/>
              <a:t> </a:t>
            </a:r>
            <a:r>
              <a:rPr lang="sv-SE" dirty="0" err="1"/>
              <a:t>with</a:t>
            </a:r>
            <a:r>
              <a:rPr lang="sv-SE" dirty="0"/>
              <a:t> </a:t>
            </a:r>
            <a:r>
              <a:rPr lang="sv-SE" dirty="0" err="1"/>
              <a:t>pseudocode</a:t>
            </a:r>
            <a:r>
              <a:rPr lang="sv-SE" dirty="0"/>
              <a:t> like the </a:t>
            </a:r>
            <a:r>
              <a:rPr lang="sv-SE" dirty="0" err="1"/>
              <a:t>following</a:t>
            </a:r>
            <a:r>
              <a:rPr lang="sv-SE" dirty="0"/>
              <a:t> </a:t>
            </a:r>
            <a:r>
              <a:rPr lang="sv-SE" dirty="0" err="1"/>
              <a:t>one</a:t>
            </a:r>
            <a:r>
              <a:rPr lang="sv-SE" dirty="0"/>
              <a:t>. As for the </a:t>
            </a:r>
            <a:r>
              <a:rPr lang="sv-SE" dirty="0" err="1"/>
              <a:t>previous</a:t>
            </a:r>
            <a:r>
              <a:rPr lang="sv-SE" dirty="0"/>
              <a:t> </a:t>
            </a:r>
            <a:r>
              <a:rPr lang="sv-SE" dirty="0" err="1"/>
              <a:t>lecture</a:t>
            </a:r>
            <a:r>
              <a:rPr lang="sv-SE" dirty="0"/>
              <a:t>, </a:t>
            </a:r>
            <a:r>
              <a:rPr lang="sv-SE" dirty="0" err="1"/>
              <a:t>take</a:t>
            </a:r>
            <a:r>
              <a:rPr lang="sv-SE" dirty="0"/>
              <a:t> a moment later on and </a:t>
            </a:r>
            <a:r>
              <a:rPr lang="sv-SE" dirty="0" err="1"/>
              <a:t>think</a:t>
            </a:r>
            <a:r>
              <a:rPr lang="sv-SE" dirty="0"/>
              <a:t> </a:t>
            </a:r>
            <a:r>
              <a:rPr lang="sv-SE" dirty="0" err="1"/>
              <a:t>about</a:t>
            </a:r>
            <a:r>
              <a:rPr lang="sv-SE" dirty="0"/>
              <a:t> </a:t>
            </a:r>
            <a:r>
              <a:rPr lang="sv-SE" dirty="0" err="1"/>
              <a:t>how</a:t>
            </a:r>
            <a:r>
              <a:rPr lang="sv-SE" dirty="0"/>
              <a:t> to </a:t>
            </a:r>
            <a:r>
              <a:rPr lang="sv-SE" dirty="0" err="1"/>
              <a:t>formally</a:t>
            </a:r>
            <a:r>
              <a:rPr lang="sv-SE" dirty="0"/>
              <a:t> </a:t>
            </a:r>
            <a:r>
              <a:rPr lang="sv-SE" dirty="0" err="1"/>
              <a:t>reason</a:t>
            </a:r>
            <a:r>
              <a:rPr lang="sv-SE" dirty="0"/>
              <a:t> </a:t>
            </a:r>
            <a:r>
              <a:rPr lang="sv-SE" dirty="0" err="1"/>
              <a:t>about</a:t>
            </a:r>
            <a:r>
              <a:rPr lang="sv-SE" dirty="0"/>
              <a:t> the </a:t>
            </a:r>
            <a:r>
              <a:rPr lang="sv-SE" dirty="0" err="1"/>
              <a:t>validity</a:t>
            </a:r>
            <a:r>
              <a:rPr lang="sv-SE" dirty="0"/>
              <a:t> of </a:t>
            </a:r>
            <a:r>
              <a:rPr lang="sv-SE" dirty="0" err="1"/>
              <a:t>this</a:t>
            </a:r>
            <a:r>
              <a:rPr lang="sv-SE" dirty="0"/>
              <a:t> solution.</a:t>
            </a:r>
          </a:p>
        </p:txBody>
      </p:sp>
    </p:spTree>
    <p:extLst>
      <p:ext uri="{BB962C8B-B14F-4D97-AF65-F5344CB8AC3E}">
        <p14:creationId xmlns:p14="http://schemas.microsoft.com/office/powerpoint/2010/main" val="2065014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discussing the bounded buffer producer/consumer problem, let's move to resource allocation.</a:t>
            </a:r>
          </a:p>
          <a:p>
            <a:r>
              <a:rPr lang="en-US" dirty="0"/>
              <a:t>We are going to make a small, yet important change to our problem definition. In this new model, threads need to acquire multiple resources to complete a task.</a:t>
            </a:r>
          </a:p>
          <a:p>
            <a:r>
              <a:rPr lang="en-US" dirty="0"/>
              <a:t>[c] The new pseudocode for the model is shown in the slide.</a:t>
            </a:r>
          </a:p>
          <a:p>
            <a:r>
              <a:rPr lang="en-US" dirty="0"/>
              <a:t>[c] We still want to ensure mutual exclusion, progress, and fairness.</a:t>
            </a:r>
          </a:p>
          <a:p>
            <a:r>
              <a:rPr lang="en-US" dirty="0"/>
              <a:t>Pay attention to 2 aspects, though:</a:t>
            </a:r>
          </a:p>
          <a:p>
            <a:r>
              <a:rPr lang="en-US" dirty="0"/>
              <a:t>First, each thread needs to acquire all the resources it needs to proceed, not just part of them.</a:t>
            </a:r>
          </a:p>
          <a:p>
            <a:r>
              <a:rPr lang="en-US" dirty="0"/>
              <a:t>Second, to ensure progress we need to ensure threads cannot enter a deadlock state.</a:t>
            </a:r>
          </a:p>
          <a:p>
            <a:r>
              <a:rPr lang="en-US" dirty="0"/>
              <a:t>So, what is a deadlock?</a:t>
            </a:r>
          </a:p>
        </p:txBody>
      </p:sp>
      <p:sp>
        <p:nvSpPr>
          <p:cNvPr id="4" name="Slide Number Placeholder 3"/>
          <p:cNvSpPr>
            <a:spLocks noGrp="1"/>
          </p:cNvSpPr>
          <p:nvPr>
            <p:ph type="sldNum" sz="quarter" idx="5"/>
          </p:nvPr>
        </p:nvSpPr>
        <p:spPr/>
        <p:txBody>
          <a:bodyPr/>
          <a:lstStyle/>
          <a:p>
            <a:fld id="{20BC1079-C5C6-1A45-8E7E-B20B607B09A1}" type="slidenum">
              <a:rPr lang="en-US" smtClean="0"/>
              <a:t>10</a:t>
            </a:fld>
            <a:endParaRPr lang="en-US"/>
          </a:p>
        </p:txBody>
      </p:sp>
    </p:spTree>
    <p:extLst>
      <p:ext uri="{BB962C8B-B14F-4D97-AF65-F5344CB8AC3E}">
        <p14:creationId xmlns:p14="http://schemas.microsoft.com/office/powerpoint/2010/main" val="7652336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set of processes/threads blocking each other so that none of them can proceed.</a:t>
            </a:r>
          </a:p>
        </p:txBody>
      </p:sp>
      <p:sp>
        <p:nvSpPr>
          <p:cNvPr id="4" name="Slide Number Placeholder 3"/>
          <p:cNvSpPr>
            <a:spLocks noGrp="1"/>
          </p:cNvSpPr>
          <p:nvPr>
            <p:ph type="sldNum" sz="quarter" idx="5"/>
          </p:nvPr>
        </p:nvSpPr>
        <p:spPr/>
        <p:txBody>
          <a:bodyPr/>
          <a:lstStyle/>
          <a:p>
            <a:fld id="{20BC1079-C5C6-1A45-8E7E-B20B607B09A1}" type="slidenum">
              <a:rPr lang="en-US" smtClean="0"/>
              <a:t>11</a:t>
            </a:fld>
            <a:endParaRPr lang="en-US"/>
          </a:p>
        </p:txBody>
      </p:sp>
    </p:spTree>
    <p:extLst>
      <p:ext uri="{BB962C8B-B14F-4D97-AF65-F5344CB8AC3E}">
        <p14:creationId xmlns:p14="http://schemas.microsoft.com/office/powerpoint/2010/main" val="9813002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we have some formal reasoning about what could cause a deadlock? Luckily yes. Coffman, back in 1971, proved that for a deadlock to happen, all the following conditions need to hold simultaneously:</a:t>
            </a:r>
          </a:p>
          <a:p>
            <a:r>
              <a:rPr lang="en-US" dirty="0"/>
              <a:t>mutual exclusion is enforced.</a:t>
            </a:r>
          </a:p>
          <a:p>
            <a:r>
              <a:rPr lang="en-US" dirty="0"/>
              <a:t>A process or thread that already holds one resource can ask for a second resource and wait for it without releasing the resource it already holds (this is called hold and wait)</a:t>
            </a:r>
          </a:p>
          <a:p>
            <a:r>
              <a:rPr lang="en-US" dirty="0"/>
              <a:t>There is no preemption: a resource can only be released by the process/thread that holds it</a:t>
            </a:r>
          </a:p>
          <a:p>
            <a:r>
              <a:rPr lang="en-US" dirty="0"/>
              <a:t>and there is a circular wait: a circular chain of 2 or more blocked processes/threads each waiting for a resource held by the next process/thread in the chain</a:t>
            </a:r>
          </a:p>
        </p:txBody>
      </p:sp>
      <p:sp>
        <p:nvSpPr>
          <p:cNvPr id="4" name="Slide Number Placeholder 3"/>
          <p:cNvSpPr>
            <a:spLocks noGrp="1"/>
          </p:cNvSpPr>
          <p:nvPr>
            <p:ph type="sldNum" sz="quarter" idx="5"/>
          </p:nvPr>
        </p:nvSpPr>
        <p:spPr/>
        <p:txBody>
          <a:bodyPr/>
          <a:lstStyle/>
          <a:p>
            <a:fld id="{20BC1079-C5C6-1A45-8E7E-B20B607B09A1}" type="slidenum">
              <a:rPr lang="en-US" smtClean="0"/>
              <a:t>12</a:t>
            </a:fld>
            <a:endParaRPr lang="en-US"/>
          </a:p>
        </p:txBody>
      </p:sp>
    </p:spTree>
    <p:extLst>
      <p:ext uri="{BB962C8B-B14F-4D97-AF65-F5344CB8AC3E}">
        <p14:creationId xmlns:p14="http://schemas.microsoft.com/office/powerpoint/2010/main" val="4303421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Knowing that these 4 conditions need to hold simultaneously implies that by removing one of them, then we can prevent deadlocks. </a:t>
            </a:r>
          </a:p>
          <a:p>
            <a:r>
              <a:rPr lang="en-US" dirty="0"/>
              <a:t>Of course, we cannot remove the mutual exclusion, ensuring it is our goal, but we can eliminate one of the other 3.</a:t>
            </a:r>
          </a:p>
          <a:p>
            <a:r>
              <a:rPr lang="en-US" dirty="0"/>
              <a:t>We can eliminate the circular wait by making sure that resources are acquired in a certain order.</a:t>
            </a:r>
          </a:p>
          <a:p>
            <a:r>
              <a:rPr lang="en-US" dirty="0"/>
              <a:t>We can eliminate the non-preemption, by having a thread releasing a resource if it cannot get the next one.</a:t>
            </a:r>
          </a:p>
          <a:p>
            <a:r>
              <a:rPr lang="en-US" dirty="0"/>
              <a:t>Or, we can eliminate the hold and wait, making sure a thread either gets all its resources at once or none of it.</a:t>
            </a:r>
          </a:p>
        </p:txBody>
      </p:sp>
      <p:sp>
        <p:nvSpPr>
          <p:cNvPr id="4" name="Slide Number Placeholder 3"/>
          <p:cNvSpPr>
            <a:spLocks noGrp="1"/>
          </p:cNvSpPr>
          <p:nvPr>
            <p:ph type="sldNum" sz="quarter" idx="5"/>
          </p:nvPr>
        </p:nvSpPr>
        <p:spPr/>
        <p:txBody>
          <a:bodyPr/>
          <a:lstStyle/>
          <a:p>
            <a:fld id="{20BC1079-C5C6-1A45-8E7E-B20B607B09A1}" type="slidenum">
              <a:rPr lang="en-US" smtClean="0"/>
              <a:t>13</a:t>
            </a:fld>
            <a:endParaRPr lang="en-US"/>
          </a:p>
        </p:txBody>
      </p:sp>
    </p:spTree>
    <p:extLst>
      <p:ext uri="{BB962C8B-B14F-4D97-AF65-F5344CB8AC3E}">
        <p14:creationId xmlns:p14="http://schemas.microsoft.com/office/powerpoint/2010/main" val="1296153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discussed deadlocks, let's look at a classic problem that, if not properly handled, can lead to deadlocks.</a:t>
            </a:r>
          </a:p>
          <a:p>
            <a:r>
              <a:rPr lang="en-US" dirty="0"/>
              <a:t>I'm calling this the chopstick-variation of the dining philosophers' problem; the original problem has been introduced by Dijkstra.</a:t>
            </a:r>
          </a:p>
          <a:p>
            <a:r>
              <a:rPr lang="en-US" dirty="0"/>
              <a:t>[c] Suppose we have n philosophers (they represent our threads) and n chopsticks.</a:t>
            </a:r>
          </a:p>
          <a:p>
            <a:r>
              <a:rPr lang="en-US" dirty="0"/>
              <a:t>Each philosopher would like to eat, but to do so he/she needs 2 chopsticks, the one on their left side and the one on their right side.</a:t>
            </a:r>
          </a:p>
          <a:p>
            <a:r>
              <a:rPr lang="en-US" dirty="0"/>
              <a:t>Once a philosopher gets both chopsticks, others of course cannot use the same chopsticks used by the philosopher.</a:t>
            </a:r>
          </a:p>
          <a:p>
            <a:r>
              <a:rPr lang="en-US" dirty="0"/>
              <a:t>If you reflect about it, you will see that if we have 2 philosophers only one can eat at a time, if we have 3 philosophers only 1 can eat at a time, if we have 4 philosophers than 2 can eat in parallel (but they cannot be adjacent ones), and so on.</a:t>
            </a:r>
          </a:p>
          <a:p>
            <a:r>
              <a:rPr lang="en-US" dirty="0"/>
              <a:t>So, can this setup lead to deadlock if our algorithm is poorly designed?</a:t>
            </a:r>
          </a:p>
        </p:txBody>
      </p:sp>
      <p:sp>
        <p:nvSpPr>
          <p:cNvPr id="4" name="Slide Number Placeholder 3"/>
          <p:cNvSpPr>
            <a:spLocks noGrp="1"/>
          </p:cNvSpPr>
          <p:nvPr>
            <p:ph type="sldNum" sz="quarter" idx="5"/>
          </p:nvPr>
        </p:nvSpPr>
        <p:spPr/>
        <p:txBody>
          <a:bodyPr/>
          <a:lstStyle/>
          <a:p>
            <a:fld id="{20BC1079-C5C6-1A45-8E7E-B20B607B09A1}" type="slidenum">
              <a:rPr lang="en-US" smtClean="0"/>
              <a:t>15</a:t>
            </a:fld>
            <a:endParaRPr lang="en-US"/>
          </a:p>
        </p:txBody>
      </p:sp>
    </p:spTree>
    <p:extLst>
      <p:ext uri="{BB962C8B-B14F-4D97-AF65-F5344CB8AC3E}">
        <p14:creationId xmlns:p14="http://schemas.microsoft.com/office/powerpoint/2010/main" val="36554860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have a look and let us consider the following solution, which we call pick-left-and-then-pick-right.</a:t>
            </a:r>
          </a:p>
          <a:p>
            <a:endParaRPr lang="en-US" dirty="0"/>
          </a:p>
          <a:p>
            <a:r>
              <a:rPr lang="en-US" dirty="0"/>
              <a:t>[c] The first thing we have to do is to check if the mutual exclusion property is satisfied or not. I leave this to you as a homework (again, reason formally about whether the property is satisfied or not).</a:t>
            </a:r>
          </a:p>
        </p:txBody>
      </p:sp>
      <p:sp>
        <p:nvSpPr>
          <p:cNvPr id="4" name="Slide Number Placeholder 3"/>
          <p:cNvSpPr>
            <a:spLocks noGrp="1"/>
          </p:cNvSpPr>
          <p:nvPr>
            <p:ph type="sldNum" sz="quarter" idx="5"/>
          </p:nvPr>
        </p:nvSpPr>
        <p:spPr/>
        <p:txBody>
          <a:bodyPr/>
          <a:lstStyle/>
          <a:p>
            <a:fld id="{20BC1079-C5C6-1A45-8E7E-B20B607B09A1}" type="slidenum">
              <a:rPr lang="en-US" smtClean="0"/>
              <a:t>16</a:t>
            </a:fld>
            <a:endParaRPr lang="en-US"/>
          </a:p>
        </p:txBody>
      </p:sp>
    </p:spTree>
    <p:extLst>
      <p:ext uri="{BB962C8B-B14F-4D97-AF65-F5344CB8AC3E}">
        <p14:creationId xmlns:p14="http://schemas.microsoft.com/office/powerpoint/2010/main" val="33054370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thing we want to check is whether deadlocks can occur.</a:t>
            </a:r>
          </a:p>
          <a:p>
            <a:r>
              <a:rPr lang="en-US" dirty="0"/>
              <a:t>From our previous discussion, if mutual exclusion, hold and wait, no preemption and circular wait can happen </a:t>
            </a:r>
            <a:r>
              <a:rPr lang="en-US" dirty="0" err="1"/>
              <a:t>simultanously</a:t>
            </a:r>
            <a:r>
              <a:rPr lang="en-US" dirty="0"/>
              <a:t>, then deadlocks can occur.</a:t>
            </a:r>
          </a:p>
          <a:p>
            <a:r>
              <a:rPr lang="en-US" dirty="0"/>
              <a:t>Hopefully, you have found out that mutual exclusion is satisfied.</a:t>
            </a:r>
          </a:p>
          <a:p>
            <a:r>
              <a:rPr lang="en-US" dirty="0"/>
              <a:t>[c] Do we have hold and wait? Yes, if a philosopher manages to get the left chopstick, then the philosopher will not release it until he/she manages to get the right chopstick too.</a:t>
            </a:r>
          </a:p>
          <a:p>
            <a:r>
              <a:rPr lang="en-US" dirty="0"/>
              <a:t>[c] Do we have no preemption? Yes, 2 chopsticks are released by the same philosopher that manages to get them once the philosopher completes its critical section.</a:t>
            </a:r>
          </a:p>
        </p:txBody>
      </p:sp>
      <p:sp>
        <p:nvSpPr>
          <p:cNvPr id="4" name="Slide Number Placeholder 3"/>
          <p:cNvSpPr>
            <a:spLocks noGrp="1"/>
          </p:cNvSpPr>
          <p:nvPr>
            <p:ph type="sldNum" sz="quarter" idx="5"/>
          </p:nvPr>
        </p:nvSpPr>
        <p:spPr/>
        <p:txBody>
          <a:bodyPr/>
          <a:lstStyle/>
          <a:p>
            <a:fld id="{20BC1079-C5C6-1A45-8E7E-B20B607B09A1}" type="slidenum">
              <a:rPr lang="en-US" smtClean="0"/>
              <a:t>17</a:t>
            </a:fld>
            <a:endParaRPr lang="en-US"/>
          </a:p>
        </p:txBody>
      </p:sp>
    </p:spTree>
    <p:extLst>
      <p:ext uri="{BB962C8B-B14F-4D97-AF65-F5344CB8AC3E}">
        <p14:creationId xmlns:p14="http://schemas.microsoft.com/office/powerpoint/2010/main" val="21107753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we have circular waits? Indeed, as shown in this slide.</a:t>
            </a:r>
          </a:p>
          <a:p>
            <a:r>
              <a:rPr lang="en-US" dirty="0"/>
              <a:t>Hence, this solution is not valid, it can lead to a deadlock.</a:t>
            </a:r>
          </a:p>
          <a:p>
            <a:r>
              <a:rPr lang="en-US" dirty="0"/>
              <a:t>In this slide the arrow from the philosopher to the chopstick means the philosopher is waiting for the chopstick. The arrow from the chopstick to the philosopher means the philosopher got the chopstick.</a:t>
            </a:r>
          </a:p>
        </p:txBody>
      </p:sp>
      <p:sp>
        <p:nvSpPr>
          <p:cNvPr id="4" name="Slide Number Placeholder 3"/>
          <p:cNvSpPr>
            <a:spLocks noGrp="1"/>
          </p:cNvSpPr>
          <p:nvPr>
            <p:ph type="sldNum" sz="quarter" idx="5"/>
          </p:nvPr>
        </p:nvSpPr>
        <p:spPr/>
        <p:txBody>
          <a:bodyPr/>
          <a:lstStyle/>
          <a:p>
            <a:fld id="{20BC1079-C5C6-1A45-8E7E-B20B607B09A1}" type="slidenum">
              <a:rPr lang="en-US" smtClean="0"/>
              <a:t>18</a:t>
            </a:fld>
            <a:endParaRPr lang="en-US"/>
          </a:p>
        </p:txBody>
      </p:sp>
    </p:spTree>
    <p:extLst>
      <p:ext uri="{BB962C8B-B14F-4D97-AF65-F5344CB8AC3E}">
        <p14:creationId xmlns:p14="http://schemas.microsoft.com/office/powerpoint/2010/main" val="33781039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try then to modify our solution so that we can avoid deadlocks.</a:t>
            </a:r>
          </a:p>
          <a:p>
            <a:r>
              <a:rPr lang="en-US" dirty="0"/>
              <a:t>As we discussed before, as long as we make sure one of the following things cannot happen: hold and wait, no preemption or circular wait (I am of course excluding mutual exclusion!) then we are done.</a:t>
            </a:r>
          </a:p>
          <a:p>
            <a:endParaRPr lang="en-US" dirty="0"/>
          </a:p>
          <a:p>
            <a:r>
              <a:rPr lang="en-US" dirty="0"/>
              <a:t>Can we prevent circular wait from happening? </a:t>
            </a:r>
          </a:p>
          <a:p>
            <a:r>
              <a:rPr lang="en-US" dirty="0"/>
              <a:t>[c] This is not difficult, let's look at a solution we call the request-resource-in-order.</a:t>
            </a:r>
          </a:p>
          <a:p>
            <a:r>
              <a:rPr lang="en-US" dirty="0"/>
              <a:t>The idea is simple, we only change the code executed by the last philosopher, so that he/she tries to take the right chopstick first and the left chopstick after that.</a:t>
            </a:r>
          </a:p>
          <a:p>
            <a:r>
              <a:rPr lang="en-US" dirty="0"/>
              <a:t>Let's argument why we cannot have a circular wait in this case.</a:t>
            </a:r>
          </a:p>
        </p:txBody>
      </p:sp>
      <p:sp>
        <p:nvSpPr>
          <p:cNvPr id="4" name="Slide Number Placeholder 3"/>
          <p:cNvSpPr>
            <a:spLocks noGrp="1"/>
          </p:cNvSpPr>
          <p:nvPr>
            <p:ph type="sldNum" sz="quarter" idx="5"/>
          </p:nvPr>
        </p:nvSpPr>
        <p:spPr/>
        <p:txBody>
          <a:bodyPr/>
          <a:lstStyle/>
          <a:p>
            <a:fld id="{20BC1079-C5C6-1A45-8E7E-B20B607B09A1}" type="slidenum">
              <a:rPr lang="en-US" smtClean="0"/>
              <a:t>20</a:t>
            </a:fld>
            <a:endParaRPr lang="en-US"/>
          </a:p>
        </p:txBody>
      </p:sp>
    </p:spTree>
    <p:extLst>
      <p:ext uri="{BB962C8B-B14F-4D97-AF65-F5344CB8AC3E}">
        <p14:creationId xmlns:p14="http://schemas.microsoft.com/office/powerpoint/2010/main" val="4416303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for simplicity assuming we only have 2 philosophers here, but you can extend this reasoning to 3 or more philosophers.</a:t>
            </a:r>
          </a:p>
          <a:p>
            <a:r>
              <a:rPr lang="en-US" dirty="0"/>
              <a:t>Philosopher 0 takes chopstick 0 and then 1, Philosopher 1 takes chopstick 0 and then 1.</a:t>
            </a:r>
          </a:p>
          <a:p>
            <a:r>
              <a:rPr lang="en-US" dirty="0"/>
              <a:t>[c] Let's say Philosopher 0 waits for chopstick 0, because [c] philosopher 1 has it. If philosopher 1 has chopstick 0 and Philosopher 0 also waits for chopstick 0, [c] then Philosopher 1 can get chopstick 1 and eat.</a:t>
            </a:r>
          </a:p>
        </p:txBody>
      </p:sp>
      <p:sp>
        <p:nvSpPr>
          <p:cNvPr id="4" name="Slide Number Placeholder 3"/>
          <p:cNvSpPr>
            <a:spLocks noGrp="1"/>
          </p:cNvSpPr>
          <p:nvPr>
            <p:ph type="sldNum" sz="quarter" idx="5"/>
          </p:nvPr>
        </p:nvSpPr>
        <p:spPr/>
        <p:txBody>
          <a:bodyPr/>
          <a:lstStyle/>
          <a:p>
            <a:fld id="{20BC1079-C5C6-1A45-8E7E-B20B607B09A1}" type="slidenum">
              <a:rPr lang="en-US" smtClean="0"/>
              <a:t>21</a:t>
            </a:fld>
            <a:endParaRPr lang="en-US"/>
          </a:p>
        </p:txBody>
      </p:sp>
    </p:spTree>
    <p:extLst>
      <p:ext uri="{BB962C8B-B14F-4D97-AF65-F5344CB8AC3E}">
        <p14:creationId xmlns:p14="http://schemas.microsoft.com/office/powerpoint/2010/main" val="36614255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say Philosopher 1 waits for chopstick 1[c], then it managed to get chopstick 0[c] . [c] But if it has chopstick 0 then philosopher 1 cannot have chopstick 1, which means philosopher 1 can eat.</a:t>
            </a:r>
          </a:p>
          <a:p>
            <a:endParaRPr lang="en-US" dirty="0"/>
          </a:p>
          <a:p>
            <a:r>
              <a:rPr lang="en-US" dirty="0"/>
              <a:t>Once we have proven this solution cannot lead to a deadlock, the next step is to reason about fairness.</a:t>
            </a:r>
          </a:p>
          <a:p>
            <a:r>
              <a:rPr lang="en-US" dirty="0"/>
              <a:t>Here, it is probably easy to see that the solution might lead to the same philosopher being the one that manages to get both chopsticks over and over... (as before, try to reason formally about this!). A solution to this problem could be given by having the semaphores implementing some fairness mechanism, delivering the signals to both philosophers.</a:t>
            </a:r>
          </a:p>
        </p:txBody>
      </p:sp>
      <p:sp>
        <p:nvSpPr>
          <p:cNvPr id="4" name="Slide Number Placeholder 3"/>
          <p:cNvSpPr>
            <a:spLocks noGrp="1"/>
          </p:cNvSpPr>
          <p:nvPr>
            <p:ph type="sldNum" sz="quarter" idx="5"/>
          </p:nvPr>
        </p:nvSpPr>
        <p:spPr/>
        <p:txBody>
          <a:bodyPr/>
          <a:lstStyle/>
          <a:p>
            <a:fld id="{20BC1079-C5C6-1A45-8E7E-B20B607B09A1}" type="slidenum">
              <a:rPr lang="en-US" smtClean="0"/>
              <a:t>22</a:t>
            </a:fld>
            <a:endParaRPr lang="en-US"/>
          </a:p>
        </p:txBody>
      </p:sp>
    </p:spTree>
    <p:extLst>
      <p:ext uri="{BB962C8B-B14F-4D97-AF65-F5344CB8AC3E}">
        <p14:creationId xmlns:p14="http://schemas.microsoft.com/office/powerpoint/2010/main" val="18411470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try now to modify our solution by taking down the no preemption case.</a:t>
            </a:r>
          </a:p>
          <a:p>
            <a:r>
              <a:rPr lang="en-US" dirty="0"/>
              <a:t>The idea behind what we are going to see next can be summarized as follows: If a philosopher does not manage to get the chopstick on the right, then he/she releases the chopstick on the left.</a:t>
            </a:r>
          </a:p>
          <a:p>
            <a:r>
              <a:rPr lang="en-US" dirty="0"/>
              <a:t>This is how the solution looks like. Let's first introduce some data structures and methods.</a:t>
            </a:r>
          </a:p>
          <a:p>
            <a:r>
              <a:rPr lang="en-US" dirty="0"/>
              <a:t>[c] We define the type </a:t>
            </a:r>
            <a:r>
              <a:rPr lang="en-US" dirty="0" err="1"/>
              <a:t>chopstick_structure</a:t>
            </a:r>
            <a:r>
              <a:rPr lang="en-US" dirty="0"/>
              <a:t> so that it contains a binary semaphore initialized to 1 and a </a:t>
            </a:r>
            <a:r>
              <a:rPr lang="en-US" dirty="0" err="1"/>
              <a:t>boolean</a:t>
            </a:r>
            <a:r>
              <a:rPr lang="en-US" dirty="0"/>
              <a:t> variable called available initialized to true (which means that at the very beginning of the execution each </a:t>
            </a:r>
            <a:r>
              <a:rPr lang="en-US" dirty="0" err="1"/>
              <a:t>chopstick_structure</a:t>
            </a:r>
            <a:r>
              <a:rPr lang="en-US" dirty="0"/>
              <a:t> is available).</a:t>
            </a:r>
          </a:p>
          <a:p>
            <a:r>
              <a:rPr lang="en-US" dirty="0"/>
              <a:t>[c] We then define the </a:t>
            </a:r>
            <a:r>
              <a:rPr lang="en-US" dirty="0" err="1"/>
              <a:t>trylock</a:t>
            </a:r>
            <a:r>
              <a:rPr lang="en-US" dirty="0"/>
              <a:t> method so that, when passed a </a:t>
            </a:r>
            <a:r>
              <a:rPr lang="en-US" dirty="0" err="1"/>
              <a:t>chopstick_structure</a:t>
            </a:r>
            <a:r>
              <a:rPr lang="en-US" dirty="0"/>
              <a:t> the first thing it does is to wait on its binary semaphore.</a:t>
            </a:r>
          </a:p>
          <a:p>
            <a:r>
              <a:rPr lang="en-US" dirty="0"/>
              <a:t>[c] After the wait, if the chopstick is available, it sets the variable to false and stores true as return value, otherwise it stores false as return value. Finally, it sends a signal on the chopstick's binary semaphore and returns the return value.</a:t>
            </a:r>
          </a:p>
          <a:p>
            <a:r>
              <a:rPr lang="en-US" dirty="0"/>
              <a:t>[c] The lock method simply enters a loop in which it stays until </a:t>
            </a:r>
            <a:r>
              <a:rPr lang="en-US" dirty="0" err="1"/>
              <a:t>trylock</a:t>
            </a:r>
            <a:r>
              <a:rPr lang="en-US" dirty="0"/>
              <a:t> returns true (i.e., when it finds the chopstick to be available).</a:t>
            </a:r>
          </a:p>
          <a:p>
            <a:r>
              <a:rPr lang="en-US" dirty="0"/>
              <a:t>[c] The release waits on the binary semaphore. Then, it sets the available variable to true and signals the binary semaphore.</a:t>
            </a:r>
          </a:p>
          <a:p>
            <a:endParaRPr lang="en-US" dirty="0"/>
          </a:p>
          <a:p>
            <a:r>
              <a:rPr lang="en-US" dirty="0"/>
              <a:t>[c]</a:t>
            </a:r>
          </a:p>
          <a:p>
            <a:r>
              <a:rPr lang="en-US" dirty="0"/>
              <a:t>We can now look at the solution as a whole. In their entry section, the threads define a while loop. The loop goes on as long as a local variable called </a:t>
            </a:r>
            <a:r>
              <a:rPr lang="en-US" dirty="0" err="1"/>
              <a:t>holding_both_chopsticks</a:t>
            </a:r>
            <a:r>
              <a:rPr lang="en-US" dirty="0"/>
              <a:t> is false.</a:t>
            </a:r>
          </a:p>
          <a:p>
            <a:r>
              <a:rPr lang="en-US" dirty="0"/>
              <a:t>Inside the loop, the thread tries to lock the first chopstick. Based on the method we have introduced, it means it keeps running </a:t>
            </a:r>
            <a:r>
              <a:rPr lang="en-US" dirty="0" err="1"/>
              <a:t>trylock</a:t>
            </a:r>
            <a:r>
              <a:rPr lang="en-US" dirty="0"/>
              <a:t> as longs as it does not find the available variable of the chopstick it is trying to lock set to true.</a:t>
            </a:r>
          </a:p>
          <a:p>
            <a:r>
              <a:rPr lang="en-US" dirty="0"/>
              <a:t>After that, it runs </a:t>
            </a:r>
            <a:r>
              <a:rPr lang="en-US" dirty="0" err="1"/>
              <a:t>trylock</a:t>
            </a:r>
            <a:r>
              <a:rPr lang="en-US" dirty="0"/>
              <a:t> on the second chopstick. If try lock returns true, then the chopstick available variable was true, and the thread sets </a:t>
            </a:r>
            <a:r>
              <a:rPr lang="en-US" dirty="0" err="1"/>
              <a:t>holding_both_chopsticks</a:t>
            </a:r>
            <a:r>
              <a:rPr lang="en-US" dirty="0"/>
              <a:t> to true, exits the loop, and enters the critical section.</a:t>
            </a:r>
          </a:p>
          <a:p>
            <a:r>
              <a:rPr lang="en-US" dirty="0"/>
              <a:t>Otherwise, the thread releases the other chopstick.</a:t>
            </a:r>
          </a:p>
          <a:p>
            <a:r>
              <a:rPr lang="en-US" dirty="0"/>
              <a:t>After the critical section, each thread/philosopher runs release on both chopsticks and sets </a:t>
            </a:r>
            <a:r>
              <a:rPr lang="en-US" dirty="0" err="1"/>
              <a:t>holding_both_chopsticks</a:t>
            </a:r>
            <a:r>
              <a:rPr lang="en-US" dirty="0"/>
              <a:t> to false.</a:t>
            </a:r>
          </a:p>
          <a:p>
            <a:r>
              <a:rPr lang="en-US" dirty="0"/>
              <a:t>Then, the thread/philosopher enters the remainder section, in which he/she can think instead of eating.</a:t>
            </a:r>
          </a:p>
          <a:p>
            <a:endParaRPr lang="en-US" dirty="0"/>
          </a:p>
          <a:p>
            <a:r>
              <a:rPr lang="en-US" dirty="0"/>
              <a:t>If you look at this solution carefully, you can see a thread enters its critical section only if both chopsticks are available and, when a thread finds the first chopstick to be </a:t>
            </a:r>
            <a:r>
              <a:rPr lang="en-US" dirty="0" err="1"/>
              <a:t>availalbe</a:t>
            </a:r>
            <a:r>
              <a:rPr lang="en-US" dirty="0"/>
              <a:t> but not the second one, the first is set to available again, which means in the next iteration of loop the thread will try again to get both chopsticks.</a:t>
            </a:r>
          </a:p>
        </p:txBody>
      </p:sp>
      <p:sp>
        <p:nvSpPr>
          <p:cNvPr id="4" name="Slide Number Placeholder 3"/>
          <p:cNvSpPr>
            <a:spLocks noGrp="1"/>
          </p:cNvSpPr>
          <p:nvPr>
            <p:ph type="sldNum" sz="quarter" idx="5"/>
          </p:nvPr>
        </p:nvSpPr>
        <p:spPr/>
        <p:txBody>
          <a:bodyPr/>
          <a:lstStyle/>
          <a:p>
            <a:fld id="{20BC1079-C5C6-1A45-8E7E-B20B607B09A1}" type="slidenum">
              <a:rPr lang="en-US" smtClean="0"/>
              <a:t>24</a:t>
            </a:fld>
            <a:endParaRPr lang="en-US"/>
          </a:p>
        </p:txBody>
      </p:sp>
    </p:spTree>
    <p:extLst>
      <p:ext uri="{BB962C8B-B14F-4D97-AF65-F5344CB8AC3E}">
        <p14:creationId xmlns:p14="http://schemas.microsoft.com/office/powerpoint/2010/main" val="11584535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solution is valid when it comes to mutual exclusion, and it also avoids deadlocks.</a:t>
            </a:r>
          </a:p>
          <a:p>
            <a:r>
              <a:rPr lang="en-US" dirty="0"/>
              <a:t>It has 2 downsides, still. One is that a process can starve, since one process X could be the one that is always managing to get both chopsticks.</a:t>
            </a:r>
          </a:p>
          <a:p>
            <a:r>
              <a:rPr lang="en-US" dirty="0"/>
              <a:t>The other downside is that, while preventing deadlocks, this algorithm does not prevent </a:t>
            </a:r>
            <a:r>
              <a:rPr lang="en-US" dirty="0" err="1"/>
              <a:t>livelocks</a:t>
            </a:r>
            <a:r>
              <a:rPr lang="en-US" dirty="0"/>
              <a:t>.</a:t>
            </a:r>
          </a:p>
          <a:p>
            <a:r>
              <a:rPr lang="en-US" dirty="0"/>
              <a:t>We have not discussed </a:t>
            </a:r>
            <a:r>
              <a:rPr lang="en-US" dirty="0" err="1"/>
              <a:t>livelocks</a:t>
            </a:r>
            <a:r>
              <a:rPr lang="en-US" dirty="0"/>
              <a:t> in details, but I just want to draw your attention on the fact that if there are two processes and if both processes do not manage to get the second chopstick it might happen that in some execution order (imagine the two processes are concurrently being executed on the same CPU) they both release the other chopstick and try again, and this try and retry can go on for an unbounded number of times.</a:t>
            </a:r>
          </a:p>
        </p:txBody>
      </p:sp>
      <p:sp>
        <p:nvSpPr>
          <p:cNvPr id="4" name="Slide Number Placeholder 3"/>
          <p:cNvSpPr>
            <a:spLocks noGrp="1"/>
          </p:cNvSpPr>
          <p:nvPr>
            <p:ph type="sldNum" sz="quarter" idx="5"/>
          </p:nvPr>
        </p:nvSpPr>
        <p:spPr/>
        <p:txBody>
          <a:bodyPr/>
          <a:lstStyle/>
          <a:p>
            <a:fld id="{20BC1079-C5C6-1A45-8E7E-B20B607B09A1}" type="slidenum">
              <a:rPr lang="en-US" smtClean="0"/>
              <a:t>25</a:t>
            </a:fld>
            <a:endParaRPr lang="en-US"/>
          </a:p>
        </p:txBody>
      </p:sp>
    </p:spTree>
    <p:extLst>
      <p:ext uri="{BB962C8B-B14F-4D97-AF65-F5344CB8AC3E}">
        <p14:creationId xmlns:p14="http://schemas.microsoft.com/office/powerpoint/2010/main" val="7404081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way to fight deadlocks that is left is to avoid the hold and wait.</a:t>
            </a:r>
          </a:p>
          <a:p>
            <a:r>
              <a:rPr lang="en-US" dirty="0"/>
              <a:t>Simply put, we can devise a solution in which philosophers agree on who is going to eat next rather than on who gets a certain chopstick.</a:t>
            </a:r>
          </a:p>
          <a:p>
            <a:r>
              <a:rPr lang="en-US" dirty="0"/>
              <a:t>You have such an approach presented here: we have one semaphore per philosopher, an extra semaphore called mutex, and an array of size n of states. One state can either be HUNGRY, THINKING, or EATING.</a:t>
            </a:r>
          </a:p>
          <a:p>
            <a:r>
              <a:rPr lang="en-US" dirty="0"/>
              <a:t>To enter and exit the critical section we have two methods: </a:t>
            </a:r>
            <a:r>
              <a:rPr lang="en-US" dirty="0" err="1"/>
              <a:t>enterCS</a:t>
            </a:r>
            <a:r>
              <a:rPr lang="en-US" dirty="0"/>
              <a:t> and </a:t>
            </a:r>
            <a:r>
              <a:rPr lang="en-US" dirty="0" err="1"/>
              <a:t>exitCS</a:t>
            </a:r>
            <a:r>
              <a:rPr lang="en-US" dirty="0"/>
              <a:t>.</a:t>
            </a:r>
          </a:p>
          <a:p>
            <a:r>
              <a:rPr lang="en-US" dirty="0"/>
              <a:t>In the </a:t>
            </a:r>
            <a:r>
              <a:rPr lang="en-US" dirty="0" err="1"/>
              <a:t>enterCS</a:t>
            </a:r>
            <a:r>
              <a:rPr lang="en-US" dirty="0"/>
              <a:t> method, each philosopher waits on the shared mutex variable. In other words, only one philosopher at a time can run the following two instructions, which change his/her state to HUNGRY and call the help method.</a:t>
            </a:r>
          </a:p>
          <a:p>
            <a:r>
              <a:rPr lang="en-US" dirty="0"/>
              <a:t>After calling signal on mutex, the philosopher running the </a:t>
            </a:r>
            <a:r>
              <a:rPr lang="en-US" dirty="0" err="1"/>
              <a:t>entryCS</a:t>
            </a:r>
            <a:r>
              <a:rPr lang="en-US" dirty="0"/>
              <a:t> method starts waiting for a signal on its entry of the S array.</a:t>
            </a:r>
          </a:p>
          <a:p>
            <a:r>
              <a:rPr lang="en-US" dirty="0"/>
              <a:t>So, how does the help function work? Only if the philosopher invoking it is hungry and his/her neighbors are not eating, then it changes the state of the philosopher invoking it to eating and sends a signal to it.</a:t>
            </a:r>
          </a:p>
          <a:p>
            <a:r>
              <a:rPr lang="en-US" dirty="0"/>
              <a:t>Notice that since help runs in between a wait and signal on the shared variable mutex, if multiple neighboring philosophers try to change their state from HUNGRY to EATING, only one manages to do so.</a:t>
            </a:r>
          </a:p>
          <a:p>
            <a:r>
              <a:rPr lang="en-US" dirty="0"/>
              <a:t>Once a philosopher is done eating, then he/she runs the </a:t>
            </a:r>
            <a:r>
              <a:rPr lang="en-US" dirty="0" err="1"/>
              <a:t>exitCS</a:t>
            </a:r>
            <a:r>
              <a:rPr lang="en-US" dirty="0"/>
              <a:t> method. Again, the relevant instructions are run inside a wait/signal on the shared variable mutex. </a:t>
            </a:r>
          </a:p>
          <a:p>
            <a:r>
              <a:rPr lang="en-US" dirty="0"/>
              <a:t>In this case, the philosopher sets his/her state to THINKING and then helps his/her neighbors, trying to send them a signal they can use to enter their critical section (assuming they indeed want to).</a:t>
            </a:r>
          </a:p>
        </p:txBody>
      </p:sp>
      <p:sp>
        <p:nvSpPr>
          <p:cNvPr id="4" name="Slide Number Placeholder 3"/>
          <p:cNvSpPr>
            <a:spLocks noGrp="1"/>
          </p:cNvSpPr>
          <p:nvPr>
            <p:ph type="sldNum" sz="quarter" idx="5"/>
          </p:nvPr>
        </p:nvSpPr>
        <p:spPr/>
        <p:txBody>
          <a:bodyPr/>
          <a:lstStyle/>
          <a:p>
            <a:fld id="{20BC1079-C5C6-1A45-8E7E-B20B607B09A1}" type="slidenum">
              <a:rPr lang="en-US" smtClean="0"/>
              <a:t>27</a:t>
            </a:fld>
            <a:endParaRPr lang="en-US"/>
          </a:p>
        </p:txBody>
      </p:sp>
    </p:spTree>
    <p:extLst>
      <p:ext uri="{BB962C8B-B14F-4D97-AF65-F5344CB8AC3E}">
        <p14:creationId xmlns:p14="http://schemas.microsoft.com/office/powerpoint/2010/main" val="41580582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solution is valid when it comes to mutual exclusion, and it also avoids deadlocks.</a:t>
            </a:r>
          </a:p>
          <a:p>
            <a:r>
              <a:rPr lang="en-US" dirty="0"/>
              <a:t>nonetheless, a process can starve.</a:t>
            </a:r>
          </a:p>
          <a:p>
            <a:r>
              <a:rPr lang="en-US" dirty="0"/>
              <a:t>As done before, try to reason formally about these properties.</a:t>
            </a:r>
          </a:p>
          <a:p>
            <a:endParaRPr lang="en-US" dirty="0"/>
          </a:p>
          <a:p>
            <a:r>
              <a:rPr lang="en-US" dirty="0"/>
              <a:t>If you are interested in a solution that also ensures fairness, you can find a paper discussing it in the attached link.</a:t>
            </a:r>
          </a:p>
        </p:txBody>
      </p:sp>
      <p:sp>
        <p:nvSpPr>
          <p:cNvPr id="4" name="Slide Number Placeholder 3"/>
          <p:cNvSpPr>
            <a:spLocks noGrp="1"/>
          </p:cNvSpPr>
          <p:nvPr>
            <p:ph type="sldNum" sz="quarter" idx="5"/>
          </p:nvPr>
        </p:nvSpPr>
        <p:spPr/>
        <p:txBody>
          <a:bodyPr/>
          <a:lstStyle/>
          <a:p>
            <a:fld id="{20BC1079-C5C6-1A45-8E7E-B20B607B09A1}" type="slidenum">
              <a:rPr lang="en-US" smtClean="0"/>
              <a:t>28</a:t>
            </a:fld>
            <a:endParaRPr lang="en-US"/>
          </a:p>
        </p:txBody>
      </p:sp>
    </p:spTree>
    <p:extLst>
      <p:ext uri="{BB962C8B-B14F-4D97-AF65-F5344CB8AC3E}">
        <p14:creationId xmlns:p14="http://schemas.microsoft.com/office/powerpoint/2010/main" val="19323561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this point we have seen that the critical section problem can be solved in several different ways. We are going to look into one more solution which has some extra nice property: the </a:t>
            </a:r>
            <a:r>
              <a:rPr lang="en-US" dirty="0" err="1"/>
              <a:t>Lamport's</a:t>
            </a:r>
            <a:r>
              <a:rPr lang="en-US" dirty="0"/>
              <a:t> Bakery algorithm.</a:t>
            </a:r>
          </a:p>
          <a:p>
            <a:endParaRPr lang="en-US" dirty="0"/>
          </a:p>
          <a:p>
            <a:r>
              <a:rPr lang="en-US" dirty="0" err="1"/>
              <a:t>Lamport</a:t>
            </a:r>
            <a:r>
              <a:rPr lang="en-US" dirty="0"/>
              <a:t> is one of the recipients of the Turing award and came up with the following idea. Simply put: all the threads who want to enter a critical section need to get a number. The thread with the smallest number is the one that can enter. Imagine a take-a-number system, basically.</a:t>
            </a:r>
          </a:p>
          <a:p>
            <a:endParaRPr lang="en-US" dirty="0"/>
          </a:p>
          <a:p>
            <a:r>
              <a:rPr lang="en-US" dirty="0"/>
              <a:t>We assume the numbers given by the take-a-number system are non-decreasing. Non-decreasing means that two or more consecutive numbers can be the same. If we also assume each thread has a unique id, we can break ties saying that if two or more threads have the same number, the one with the smallest id can enter its critical section.</a:t>
            </a:r>
          </a:p>
        </p:txBody>
      </p:sp>
      <p:sp>
        <p:nvSpPr>
          <p:cNvPr id="4" name="Slide Number Placeholder 3"/>
          <p:cNvSpPr>
            <a:spLocks noGrp="1"/>
          </p:cNvSpPr>
          <p:nvPr>
            <p:ph type="sldNum" sz="quarter" idx="5"/>
          </p:nvPr>
        </p:nvSpPr>
        <p:spPr/>
        <p:txBody>
          <a:bodyPr/>
          <a:lstStyle/>
          <a:p>
            <a:fld id="{20BC1079-C5C6-1A45-8E7E-B20B607B09A1}" type="slidenum">
              <a:rPr lang="en-US" smtClean="0"/>
              <a:t>30</a:t>
            </a:fld>
            <a:endParaRPr lang="en-US"/>
          </a:p>
        </p:txBody>
      </p:sp>
    </p:spTree>
    <p:extLst>
      <p:ext uri="{BB962C8B-B14F-4D97-AF65-F5344CB8AC3E}">
        <p14:creationId xmlns:p14="http://schemas.microsoft.com/office/powerpoint/2010/main" val="17339641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the complete example.</a:t>
            </a:r>
          </a:p>
          <a:p>
            <a:r>
              <a:rPr lang="en-US" dirty="0"/>
              <a:t>We have two shared arrays each with n elements (n is the number of threads).</a:t>
            </a:r>
          </a:p>
          <a:p>
            <a:r>
              <a:rPr lang="en-US" dirty="0"/>
              <a:t>The first array, choosing, contains </a:t>
            </a:r>
            <a:r>
              <a:rPr lang="en-US" dirty="0" err="1"/>
              <a:t>booleans</a:t>
            </a:r>
            <a:r>
              <a:rPr lang="en-US" dirty="0"/>
              <a:t> initialized to false.</a:t>
            </a:r>
          </a:p>
          <a:p>
            <a:r>
              <a:rPr lang="en-US" dirty="0"/>
              <a:t>The second array, number, contains integers initialized to 0.</a:t>
            </a:r>
          </a:p>
          <a:p>
            <a:r>
              <a:rPr lang="en-US" dirty="0"/>
              <a:t>In its entry section, thread </a:t>
            </a:r>
            <a:r>
              <a:rPr lang="en-US" dirty="0" err="1"/>
              <a:t>i</a:t>
            </a:r>
            <a:r>
              <a:rPr lang="en-US" dirty="0"/>
              <a:t> starts by setting true to its entry in choosing.</a:t>
            </a:r>
          </a:p>
          <a:p>
            <a:r>
              <a:rPr lang="en-US" dirty="0"/>
              <a:t>Then, it computes the max value for all entries in number plus 1 and stores it in its number entry.</a:t>
            </a:r>
          </a:p>
          <a:p>
            <a:r>
              <a:rPr lang="en-US" dirty="0"/>
              <a:t>Finally, it sets false to its entry in choosing.</a:t>
            </a:r>
          </a:p>
          <a:p>
            <a:r>
              <a:rPr lang="en-US" dirty="0"/>
              <a:t>Then, it does a complete pass over the n entries of the arrays, but it spins on each entry j if such an entry is choosing or if such an entry has a lower </a:t>
            </a:r>
            <a:r>
              <a:rPr lang="en-US" dirty="0" err="1"/>
              <a:t>number,j</a:t>
            </a:r>
            <a:r>
              <a:rPr lang="en-US" dirty="0"/>
              <a:t> combination but the number is not 0 (</a:t>
            </a:r>
            <a:r>
              <a:rPr lang="en-US" dirty="0" err="1"/>
              <a:t>number,j</a:t>
            </a:r>
            <a:r>
              <a:rPr lang="en-US" dirty="0"/>
              <a:t> combination because we use threads' ids to break ties).</a:t>
            </a:r>
          </a:p>
          <a:p>
            <a:r>
              <a:rPr lang="en-US" dirty="0"/>
              <a:t>Then it enters the section.</a:t>
            </a:r>
          </a:p>
          <a:p>
            <a:r>
              <a:rPr lang="en-US" dirty="0"/>
              <a:t>Once the critical section is over, the thread simply sets its number back to 0.</a:t>
            </a:r>
          </a:p>
          <a:p>
            <a:r>
              <a:rPr lang="en-US" dirty="0"/>
              <a:t>Before discussing why this solution is valid, please notice that each thread is only modifying its own entry in the array.</a:t>
            </a:r>
          </a:p>
          <a:p>
            <a:endParaRPr lang="en-US" dirty="0"/>
          </a:p>
          <a:p>
            <a:r>
              <a:rPr lang="en-US" dirty="0"/>
              <a:t>I ask you to formally reason about why this solution is valid, I am only doing a rapid discussion. For mutual exclusion, you can conclude that if a thread enters its critical section, then that thread is sure no other thread has a lower number. When the thread is in, can another thread obtain a lower number and enter the critical section? No, </a:t>
            </a:r>
            <a:r>
              <a:rPr lang="en-US" dirty="0" err="1"/>
              <a:t>beacuse</a:t>
            </a:r>
            <a:r>
              <a:rPr lang="en-US" dirty="0"/>
              <a:t> the number is always the max of all threads + 1, so it will be at least +1 compared to the thread that is running its critical section.</a:t>
            </a:r>
          </a:p>
          <a:p>
            <a:r>
              <a:rPr lang="en-US" dirty="0"/>
              <a:t>When it comes to progress, the thread with the smallest number can always proceed.</a:t>
            </a:r>
          </a:p>
          <a:p>
            <a:r>
              <a:rPr lang="en-US" dirty="0"/>
              <a:t>When it comes to fairness, notice that once a thread starts waiting and another enters its critical section, the next number the latter will get is higher than that of the waiting thread.</a:t>
            </a:r>
          </a:p>
        </p:txBody>
      </p:sp>
      <p:sp>
        <p:nvSpPr>
          <p:cNvPr id="4" name="Slide Number Placeholder 3"/>
          <p:cNvSpPr>
            <a:spLocks noGrp="1"/>
          </p:cNvSpPr>
          <p:nvPr>
            <p:ph type="sldNum" sz="quarter" idx="5"/>
          </p:nvPr>
        </p:nvSpPr>
        <p:spPr/>
        <p:txBody>
          <a:bodyPr/>
          <a:lstStyle/>
          <a:p>
            <a:fld id="{20BC1079-C5C6-1A45-8E7E-B20B607B09A1}" type="slidenum">
              <a:rPr lang="en-US" smtClean="0"/>
              <a:t>31</a:t>
            </a:fld>
            <a:endParaRPr lang="en-US"/>
          </a:p>
        </p:txBody>
      </p:sp>
    </p:spTree>
    <p:extLst>
      <p:ext uri="{BB962C8B-B14F-4D97-AF65-F5344CB8AC3E}">
        <p14:creationId xmlns:p14="http://schemas.microsoft.com/office/powerpoint/2010/main" val="23993458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27E9B9AA-A94C-41CF-9E1F-FDC7F0A0145B}" type="slidenum">
              <a:rPr lang="en-US" smtClean="0">
                <a:solidFill>
                  <a:prstClr val="black"/>
                </a:solidFill>
              </a:rPr>
              <a:pPr/>
              <a:t>33</a:t>
            </a:fld>
            <a:endParaRPr lang="en-US">
              <a:solidFill>
                <a:prstClr val="black"/>
              </a:solidFill>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r>
              <a:rPr lang="en-US" noProof="0" dirty="0"/>
              <a:t>After looking at </a:t>
            </a:r>
            <a:r>
              <a:rPr lang="en-US" noProof="0" dirty="0" err="1"/>
              <a:t>Lamport's</a:t>
            </a:r>
            <a:r>
              <a:rPr lang="en-US" noProof="0" dirty="0"/>
              <a:t> bakery algorithm, let's move to a slightly different problem, that of the readers and writers. In this case, we have multiple entities accessing a shared resource, but such entities are of different types and we have different safety properties associated with them.</a:t>
            </a:r>
          </a:p>
          <a:p>
            <a:endParaRPr lang="en-US" noProof="0" dirty="0"/>
          </a:p>
          <a:p>
            <a:r>
              <a:rPr lang="en-US" noProof="0" dirty="0"/>
              <a:t>Both writers and readers are trying to access a shared resource, for instance, a file.</a:t>
            </a:r>
          </a:p>
          <a:p>
            <a:r>
              <a:rPr lang="en-US" noProof="0" dirty="0"/>
              <a:t>Only one writer at the time can write to such a resource.</a:t>
            </a:r>
          </a:p>
          <a:p>
            <a:r>
              <a:rPr lang="en-US" noProof="0" dirty="0"/>
              <a:t>Multiple readers are allowed to read at the same time, but not concurrently with writers.</a:t>
            </a:r>
          </a:p>
          <a:p>
            <a:r>
              <a:rPr lang="en-US" noProof="0" dirty="0"/>
              <a:t>We are going to look at how we can solve this synchronization problem using semaphores.</a:t>
            </a:r>
          </a:p>
        </p:txBody>
      </p:sp>
    </p:spTree>
    <p:extLst>
      <p:ext uri="{BB962C8B-B14F-4D97-AF65-F5344CB8AC3E}">
        <p14:creationId xmlns:p14="http://schemas.microsoft.com/office/powerpoint/2010/main" val="9683050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27E9B9AA-A94C-41CF-9E1F-FDC7F0A0145B}" type="slidenum">
              <a:rPr lang="en-US" smtClean="0">
                <a:solidFill>
                  <a:prstClr val="black"/>
                </a:solidFill>
              </a:rPr>
              <a:pPr/>
              <a:t>34</a:t>
            </a:fld>
            <a:endParaRPr lang="en-US">
              <a:solidFill>
                <a:prstClr val="black"/>
              </a:solidFill>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r>
              <a:rPr lang="en-US" noProof="0" dirty="0"/>
              <a:t>If we try to visualize the dependencies between the entry and exit sections of writers and readers, it looks like this.</a:t>
            </a:r>
          </a:p>
          <a:p>
            <a:endParaRPr lang="en-US" noProof="0" dirty="0"/>
          </a:p>
          <a:p>
            <a:r>
              <a:rPr lang="en-US" noProof="0" dirty="0"/>
              <a:t>For the writer, the entry section needs to wait until no one accesses the shared object.</a:t>
            </a:r>
          </a:p>
          <a:p>
            <a:r>
              <a:rPr lang="en-US" noProof="0" dirty="0"/>
              <a:t>Once the critical section is over (i.e., the portion in which the writer writes to the shared resource), the exit section can send a signal about the fact that no one is accessing the object anymore, and such a signal can be consumed by both a writer or a reader.</a:t>
            </a:r>
          </a:p>
          <a:p>
            <a:endParaRPr lang="en-US" noProof="0" dirty="0"/>
          </a:p>
          <a:p>
            <a:r>
              <a:rPr lang="en-US" noProof="0" dirty="0"/>
              <a:t>For the reader, the entry section should first check if the reader is the first reader of a batch of readers that tries to access the shared resource. If that is the case, then the reader should wait. If other readers are already accessing the resource, then the reader can simply enter its critical section.</a:t>
            </a:r>
          </a:p>
          <a:p>
            <a:r>
              <a:rPr lang="en-US" noProof="0" dirty="0"/>
              <a:t>For the exit section, the reader should of course inform others it is done with its critical section. If the reader was the only one / the last one completing its critical section, then a signal should be sent for writers or for another batch of readers to enter their critical section.</a:t>
            </a:r>
          </a:p>
        </p:txBody>
      </p:sp>
    </p:spTree>
    <p:extLst>
      <p:ext uri="{BB962C8B-B14F-4D97-AF65-F5344CB8AC3E}">
        <p14:creationId xmlns:p14="http://schemas.microsoft.com/office/powerpoint/2010/main" val="1935732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Let's now look at the pseudocode that uses semaphores according to these dependencies.</a:t>
            </a:r>
          </a:p>
          <a:p>
            <a:endParaRPr lang="en-US" noProof="0" dirty="0"/>
          </a:p>
          <a:p>
            <a:r>
              <a:rPr lang="en-US" noProof="0" dirty="0"/>
              <a:t>We have writers and readers sharing the following variables:</a:t>
            </a:r>
          </a:p>
          <a:p>
            <a:r>
              <a:rPr lang="en-US" noProof="0" dirty="0"/>
              <a:t>- two binary semaphores, </a:t>
            </a:r>
            <a:r>
              <a:rPr lang="en-US" noProof="0" dirty="0" err="1"/>
              <a:t>noone_accesses</a:t>
            </a:r>
            <a:r>
              <a:rPr lang="en-US" noProof="0" dirty="0"/>
              <a:t> and </a:t>
            </a:r>
            <a:r>
              <a:rPr lang="en-US" noProof="0" dirty="0" err="1"/>
              <a:t>protect_check</a:t>
            </a:r>
            <a:r>
              <a:rPr lang="en-US" noProof="0" dirty="0"/>
              <a:t> (notice that both are initially 1), and</a:t>
            </a:r>
          </a:p>
          <a:p>
            <a:r>
              <a:rPr lang="en-US" noProof="0" dirty="0"/>
              <a:t>- </a:t>
            </a:r>
            <a:r>
              <a:rPr lang="en-US" noProof="0" dirty="0" err="1"/>
              <a:t>rc</a:t>
            </a:r>
            <a:r>
              <a:rPr lang="en-US" noProof="0" dirty="0"/>
              <a:t>, readers counter, which is initially set to 0.</a:t>
            </a:r>
          </a:p>
          <a:p>
            <a:endParaRPr lang="en-US" noProof="0" dirty="0"/>
          </a:p>
          <a:p>
            <a:r>
              <a:rPr lang="en-US" noProof="0" dirty="0"/>
              <a:t>The writers simply protect their critical section by waiting on the </a:t>
            </a:r>
            <a:r>
              <a:rPr lang="en-US" noProof="0" dirty="0" err="1"/>
              <a:t>noone_accesses</a:t>
            </a:r>
            <a:r>
              <a:rPr lang="en-US" noProof="0" dirty="0"/>
              <a:t> variable (entry section) and sending a signal on the same variable (exit section).</a:t>
            </a:r>
          </a:p>
          <a:p>
            <a:endParaRPr lang="en-US" noProof="0" dirty="0"/>
          </a:p>
          <a:p>
            <a:r>
              <a:rPr lang="en-US" noProof="0" dirty="0"/>
              <a:t>The readers use the </a:t>
            </a:r>
            <a:r>
              <a:rPr lang="en-US" noProof="0" dirty="0" err="1"/>
              <a:t>protect_check</a:t>
            </a:r>
            <a:r>
              <a:rPr lang="en-US" noProof="0" dirty="0"/>
              <a:t> variable to make sure they consistently update the </a:t>
            </a:r>
            <a:r>
              <a:rPr lang="en-US" noProof="0" dirty="0" err="1"/>
              <a:t>rc</a:t>
            </a:r>
            <a:r>
              <a:rPr lang="en-US" noProof="0" dirty="0"/>
              <a:t> value. </a:t>
            </a:r>
          </a:p>
          <a:p>
            <a:r>
              <a:rPr lang="en-US" noProof="0" dirty="0"/>
              <a:t>In the entry section, the first reader that manages to increase it to 1 (i.e., the first reader of a batch) also waits on the </a:t>
            </a:r>
            <a:r>
              <a:rPr lang="en-US" noProof="0" dirty="0" err="1"/>
              <a:t>noone_accesses</a:t>
            </a:r>
            <a:r>
              <a:rPr lang="en-US" noProof="0" dirty="0"/>
              <a:t> variable (to synchronize with the writers).</a:t>
            </a:r>
          </a:p>
          <a:p>
            <a:r>
              <a:rPr lang="en-US" noProof="0" dirty="0"/>
              <a:t>In the exit section, the reader that sets </a:t>
            </a:r>
            <a:r>
              <a:rPr lang="en-US" noProof="0" dirty="0" err="1"/>
              <a:t>rc</a:t>
            </a:r>
            <a:r>
              <a:rPr lang="en-US" noProof="0" dirty="0"/>
              <a:t> to 0 (notice access to </a:t>
            </a:r>
            <a:r>
              <a:rPr lang="en-US" noProof="0" dirty="0" err="1"/>
              <a:t>rc</a:t>
            </a:r>
            <a:r>
              <a:rPr lang="en-US" noProof="0" dirty="0"/>
              <a:t> is also synchronized here using the </a:t>
            </a:r>
            <a:r>
              <a:rPr lang="en-US" noProof="0" dirty="0" err="1"/>
              <a:t>protect_check</a:t>
            </a:r>
            <a:r>
              <a:rPr lang="en-US" noProof="0" dirty="0"/>
              <a:t> variable among readers) also signals on the </a:t>
            </a:r>
            <a:r>
              <a:rPr lang="en-US" noProof="0" dirty="0" err="1"/>
              <a:t>noone_accesses</a:t>
            </a:r>
            <a:r>
              <a:rPr lang="en-US" noProof="0" dirty="0"/>
              <a:t> variable, so that a writer or another batch of readers can then enter the critical section.</a:t>
            </a:r>
          </a:p>
          <a:p>
            <a:endParaRPr lang="en-US" noProof="0" dirty="0"/>
          </a:p>
          <a:p>
            <a:r>
              <a:rPr lang="en-US" noProof="0" dirty="0"/>
              <a:t>As before, I suggest you try to have some formal reasoning about how this solution is correct, at least in terms of mutual exclusion and progress.</a:t>
            </a:r>
          </a:p>
          <a:p>
            <a:r>
              <a:rPr lang="en-US" noProof="0" dirty="0"/>
              <a:t>If you think about fairness, you can probably see that here readers are privileged over writers. Once a reader increases </a:t>
            </a:r>
            <a:r>
              <a:rPr lang="en-US" noProof="0" dirty="0" err="1"/>
              <a:t>rc</a:t>
            </a:r>
            <a:r>
              <a:rPr lang="en-US" noProof="0" dirty="0"/>
              <a:t> to 1, other readers can keep accessing their critical section an unbounded number of times. As long as </a:t>
            </a:r>
            <a:r>
              <a:rPr lang="en-US" noProof="0" dirty="0" err="1"/>
              <a:t>rc</a:t>
            </a:r>
            <a:r>
              <a:rPr lang="en-US" noProof="0" dirty="0"/>
              <a:t> is not set back to 0, writers cannot access the shared resource.</a:t>
            </a:r>
          </a:p>
        </p:txBody>
      </p:sp>
      <p:sp>
        <p:nvSpPr>
          <p:cNvPr id="4" name="Slide Number Placeholder 3"/>
          <p:cNvSpPr>
            <a:spLocks noGrp="1"/>
          </p:cNvSpPr>
          <p:nvPr>
            <p:ph type="sldNum" sz="quarter" idx="5"/>
          </p:nvPr>
        </p:nvSpPr>
        <p:spPr/>
        <p:txBody>
          <a:bodyPr/>
          <a:lstStyle/>
          <a:p>
            <a:fld id="{C9D9014B-6F5D-41AB-8170-B3F0D387CE29}" type="slidenum">
              <a:rPr lang="sv-SE" smtClean="0"/>
              <a:t>35</a:t>
            </a:fld>
            <a:endParaRPr lang="sv-SE"/>
          </a:p>
        </p:txBody>
      </p:sp>
    </p:spTree>
    <p:extLst>
      <p:ext uri="{BB962C8B-B14F-4D97-AF65-F5344CB8AC3E}">
        <p14:creationId xmlns:p14="http://schemas.microsoft.com/office/powerpoint/2010/main" val="1127041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last part of the lecture, let's focus on how the OS itself can act as an arbitrator to avoid deadlocks.</a:t>
            </a:r>
          </a:p>
          <a:p>
            <a:r>
              <a:rPr lang="en-US" dirty="0"/>
              <a:t>In the examples we have seen so far, all the threads trying to access shared resources sort of know each other, they share variables, they have clear roles (e.g., readers and writers), and so on. But the threads accessing resources on a computer might be unaware of which other threads are running, what resources the latter want to access, and so on...</a:t>
            </a:r>
          </a:p>
          <a:p>
            <a:endParaRPr lang="en-US" dirty="0"/>
          </a:p>
          <a:p>
            <a:r>
              <a:rPr lang="en-US" dirty="0"/>
              <a:t>In this sense, the OS needs to monitor everything that is happening and, if it detects that the requests of a thread could lead to a deadlock, do something about it, for instance, decide to schedule the execution of such a thread for later on.</a:t>
            </a:r>
          </a:p>
          <a:p>
            <a:r>
              <a:rPr lang="en-US" dirty="0"/>
              <a:t>We are going to introduce a model for this setup and also mention the Banker's algorithm (introduced by Dijkstra).</a:t>
            </a:r>
          </a:p>
        </p:txBody>
      </p:sp>
      <p:sp>
        <p:nvSpPr>
          <p:cNvPr id="4" name="Slide Number Placeholder 3"/>
          <p:cNvSpPr>
            <a:spLocks noGrp="1"/>
          </p:cNvSpPr>
          <p:nvPr>
            <p:ph type="sldNum" sz="quarter" idx="5"/>
          </p:nvPr>
        </p:nvSpPr>
        <p:spPr/>
        <p:txBody>
          <a:bodyPr/>
          <a:lstStyle/>
          <a:p>
            <a:fld id="{20BC1079-C5C6-1A45-8E7E-B20B607B09A1}" type="slidenum">
              <a:rPr lang="en-US" smtClean="0"/>
              <a:t>37</a:t>
            </a:fld>
            <a:endParaRPr lang="en-US"/>
          </a:p>
        </p:txBody>
      </p:sp>
    </p:spTree>
    <p:extLst>
      <p:ext uri="{BB962C8B-B14F-4D97-AF65-F5344CB8AC3E}">
        <p14:creationId xmlns:p14="http://schemas.microsoft.com/office/powerpoint/2010/main" val="12744248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begin with the system model, which in this case relies on a graph.</a:t>
            </a:r>
          </a:p>
          <a:p>
            <a:r>
              <a:rPr lang="en-US" dirty="0"/>
              <a:t>In this graph, we have two types of vertexes: resources and processes (this is a bipartite graph).</a:t>
            </a:r>
          </a:p>
          <a:p>
            <a:r>
              <a:rPr lang="en-US" dirty="0"/>
              <a:t>A resource can refer to CPU, memory, I/O devices, and so on.</a:t>
            </a:r>
          </a:p>
          <a:p>
            <a:r>
              <a:rPr lang="en-US" dirty="0"/>
              <a:t>Each resource Ri has Wi instances</a:t>
            </a:r>
          </a:p>
          <a:p>
            <a:endParaRPr lang="en-US" dirty="0"/>
          </a:p>
          <a:p>
            <a:r>
              <a:rPr lang="en-US" dirty="0"/>
              <a:t>Since this is a graph, we also have edges. Each edge connects a Resource with a Process. If the edge/arrow starts at the process and ends at a Resource, it means the process is requesting the resource. If the edge/arrow starts at a resource and ends at a process, it means the resource is assigned to the process.</a:t>
            </a:r>
          </a:p>
          <a:p>
            <a:r>
              <a:rPr lang="en-US" dirty="0"/>
              <a:t>In the case of a request edge, we use a dashed line to differentiate an actual request from a potential request (i.e., a dashed line implies the process might request the resource but has not done yet).</a:t>
            </a:r>
          </a:p>
          <a:p>
            <a:endParaRPr lang="en-US" dirty="0"/>
          </a:p>
          <a:p>
            <a:r>
              <a:rPr lang="en-US" dirty="0"/>
              <a:t>In our model, besides knowing which resources and processes we have, and how many instances we have, we also know the maximum number of instances each process may need for a given resource.</a:t>
            </a:r>
          </a:p>
        </p:txBody>
      </p:sp>
      <p:sp>
        <p:nvSpPr>
          <p:cNvPr id="4" name="Slide Number Placeholder 3"/>
          <p:cNvSpPr>
            <a:spLocks noGrp="1"/>
          </p:cNvSpPr>
          <p:nvPr>
            <p:ph type="sldNum" sz="quarter" idx="5"/>
          </p:nvPr>
        </p:nvSpPr>
        <p:spPr/>
        <p:txBody>
          <a:bodyPr/>
          <a:lstStyle/>
          <a:p>
            <a:fld id="{20BC1079-C5C6-1A45-8E7E-B20B607B09A1}" type="slidenum">
              <a:rPr lang="en-US" smtClean="0"/>
              <a:t>38</a:t>
            </a:fld>
            <a:endParaRPr lang="en-US"/>
          </a:p>
        </p:txBody>
      </p:sp>
    </p:spTree>
    <p:extLst>
      <p:ext uri="{BB962C8B-B14F-4D97-AF65-F5344CB8AC3E}">
        <p14:creationId xmlns:p14="http://schemas.microsoft.com/office/powerpoint/2010/main" val="32504030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it comes to the OS, the idea is that the OS should be able to distinguish which portion of its decision space is safe and which is not (in other words, which decisions might lead to a deadlock). If, by deciding to give control to a certain process, the OS allows for such a process to request a resource instance that can lead to a deadlock, then what the OS can do is to instead suspend such a process, until enough resources are freed.</a:t>
            </a:r>
          </a:p>
        </p:txBody>
      </p:sp>
      <p:sp>
        <p:nvSpPr>
          <p:cNvPr id="4" name="Slide Number Placeholder 3"/>
          <p:cNvSpPr>
            <a:spLocks noGrp="1"/>
          </p:cNvSpPr>
          <p:nvPr>
            <p:ph type="sldNum" sz="quarter" idx="5"/>
          </p:nvPr>
        </p:nvSpPr>
        <p:spPr/>
        <p:txBody>
          <a:bodyPr/>
          <a:lstStyle/>
          <a:p>
            <a:fld id="{20BC1079-C5C6-1A45-8E7E-B20B607B09A1}" type="slidenum">
              <a:rPr lang="en-US" smtClean="0"/>
              <a:t>39</a:t>
            </a:fld>
            <a:endParaRPr lang="en-US"/>
          </a:p>
        </p:txBody>
      </p:sp>
    </p:spTree>
    <p:extLst>
      <p:ext uri="{BB962C8B-B14F-4D97-AF65-F5344CB8AC3E}">
        <p14:creationId xmlns:p14="http://schemas.microsoft.com/office/powerpoint/2010/main" val="28994899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for instance we are in this situation: processes P1 and P2 could be executed next. Currently, R1 has been given to P1 and P2 has requested R1. The OS also knows that both P1 and P2 might request R2. Which process is safe to run next? P1 or P2?</a:t>
            </a:r>
          </a:p>
          <a:p>
            <a:r>
              <a:rPr lang="en-US" dirty="0"/>
              <a:t>[c] If the OS decides to run P1, P1 might request and get R2, which is not leading to any deadlock (so from a safe state the OS switches to another safe state).</a:t>
            </a:r>
          </a:p>
          <a:p>
            <a:r>
              <a:rPr lang="en-US" dirty="0"/>
              <a:t>[c] If the OS decides to run P2, P2 might request and get R2, which in this case creates a circular loop, and this might mean deadlock (so from a safe state the OS switches to an unsafe state)</a:t>
            </a:r>
          </a:p>
          <a:p>
            <a:r>
              <a:rPr lang="en-US" dirty="0"/>
              <a:t>Based on these observations, the OS can decide to run P1 and maybe suspend P2 until such a situation can no longer happen.</a:t>
            </a:r>
          </a:p>
          <a:p>
            <a:endParaRPr lang="en-US" dirty="0"/>
          </a:p>
          <a:p>
            <a:r>
              <a:rPr lang="en-US" dirty="0"/>
              <a:t>So the order in which processes/threads are scheduled might also depend on possible deadlocks</a:t>
            </a:r>
          </a:p>
        </p:txBody>
      </p:sp>
      <p:sp>
        <p:nvSpPr>
          <p:cNvPr id="4" name="Slide Number Placeholder 3"/>
          <p:cNvSpPr>
            <a:spLocks noGrp="1"/>
          </p:cNvSpPr>
          <p:nvPr>
            <p:ph type="sldNum" sz="quarter" idx="5"/>
          </p:nvPr>
        </p:nvSpPr>
        <p:spPr/>
        <p:txBody>
          <a:bodyPr/>
          <a:lstStyle/>
          <a:p>
            <a:fld id="{20BC1079-C5C6-1A45-8E7E-B20B607B09A1}" type="slidenum">
              <a:rPr lang="en-US" smtClean="0"/>
              <a:t>40</a:t>
            </a:fld>
            <a:endParaRPr lang="en-US"/>
          </a:p>
        </p:txBody>
      </p:sp>
    </p:spTree>
    <p:extLst>
      <p:ext uri="{BB962C8B-B14F-4D97-AF65-F5344CB8AC3E}">
        <p14:creationId xmlns:p14="http://schemas.microsoft.com/office/powerpoint/2010/main" val="33558777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model we introduced, Dijkstra introduced an algorithm for resource allocation that can avoid deadlocks.</a:t>
            </a:r>
          </a:p>
          <a:p>
            <a:r>
              <a:rPr lang="en-US" dirty="0"/>
              <a:t>The idea is to maintain three data structures:</a:t>
            </a:r>
          </a:p>
          <a:p>
            <a:r>
              <a:rPr lang="en-US" dirty="0"/>
              <a:t>a matrix called max, that in each position </a:t>
            </a:r>
            <a:r>
              <a:rPr lang="en-US" dirty="0" err="1"/>
              <a:t>i</a:t>
            </a:r>
            <a:r>
              <a:rPr lang="en-US" dirty="0"/>
              <a:t> j contains the maximum number of instances process </a:t>
            </a:r>
            <a:r>
              <a:rPr lang="en-US" dirty="0" err="1"/>
              <a:t>i</a:t>
            </a:r>
            <a:r>
              <a:rPr lang="en-US" dirty="0"/>
              <a:t> can request for resource j</a:t>
            </a:r>
          </a:p>
          <a:p>
            <a:r>
              <a:rPr lang="en-US" dirty="0"/>
              <a:t>a matrix called allocation, that in each position </a:t>
            </a:r>
            <a:r>
              <a:rPr lang="en-US" dirty="0" err="1"/>
              <a:t>i</a:t>
            </a:r>
            <a:r>
              <a:rPr lang="en-US" dirty="0"/>
              <a:t> j contains the number of instances already allocated to process </a:t>
            </a:r>
            <a:r>
              <a:rPr lang="en-US" dirty="0" err="1"/>
              <a:t>i</a:t>
            </a:r>
            <a:r>
              <a:rPr lang="en-US" dirty="0"/>
              <a:t> of resource j</a:t>
            </a:r>
          </a:p>
          <a:p>
            <a:r>
              <a:rPr lang="en-US" dirty="0"/>
              <a:t>an array called available, that in position j contains the number of instances </a:t>
            </a:r>
            <a:r>
              <a:rPr lang="en-US"/>
              <a:t>that are still </a:t>
            </a:r>
            <a:r>
              <a:rPr lang="en-US" dirty="0"/>
              <a:t>available for resource j.</a:t>
            </a:r>
          </a:p>
          <a:p>
            <a:r>
              <a:rPr lang="en-US" dirty="0"/>
              <a:t>As mentioned before, the idea is to check whether potentially satisfying a request can lead to an unsafe state. How is the check done? By checking whether, by satisfying a request, the other processes can still obtain all the resources they might request or not. If that is the case, the request can be satisfied, otherwise, the requesting process is suspended until enough resources are free-ed.</a:t>
            </a:r>
          </a:p>
        </p:txBody>
      </p:sp>
      <p:sp>
        <p:nvSpPr>
          <p:cNvPr id="4" name="Slide Number Placeholder 3"/>
          <p:cNvSpPr>
            <a:spLocks noGrp="1"/>
          </p:cNvSpPr>
          <p:nvPr>
            <p:ph type="sldNum" sz="quarter" idx="5"/>
          </p:nvPr>
        </p:nvSpPr>
        <p:spPr/>
        <p:txBody>
          <a:bodyPr/>
          <a:lstStyle/>
          <a:p>
            <a:fld id="{20BC1079-C5C6-1A45-8E7E-B20B607B09A1}" type="slidenum">
              <a:rPr lang="en-US" smtClean="0"/>
              <a:t>41</a:t>
            </a:fld>
            <a:endParaRPr lang="en-US"/>
          </a:p>
        </p:txBody>
      </p:sp>
    </p:spTree>
    <p:extLst>
      <p:ext uri="{BB962C8B-B14F-4D97-AF65-F5344CB8AC3E}">
        <p14:creationId xmlns:p14="http://schemas.microsoft.com/office/powerpoint/2010/main" val="24015673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Please notice that the OS has an alternative to prevent a deadlock from happening: that of being able to detect a deadlock as happened and then resolve it. In other words, the OS can decide to be reactive rather than proactive.</a:t>
            </a:r>
          </a:p>
          <a:p>
            <a:endParaRPr lang="en-US" dirty="0"/>
          </a:p>
          <a:p>
            <a:r>
              <a:rPr lang="en-US" dirty="0"/>
              <a:t>In that case, there can be two ways out. The first one is to terminate the process that has caused a deadlock. Eventually, once one or more processes are terminated, enough resources will be available and the remaining processes will be able to continue.</a:t>
            </a:r>
          </a:p>
          <a:p>
            <a:endParaRPr lang="en-US" dirty="0"/>
          </a:p>
          <a:p>
            <a:r>
              <a:rPr lang="en-US" dirty="0"/>
              <a:t>The second option is to select victim processes and rollback their execution, basically go back in their execution to a point in which the requests made by them did not result in a deadlock and start again their execution later on when more resources are available.</a:t>
            </a:r>
          </a:p>
          <a:p>
            <a:endParaRPr lang="en-US" dirty="0"/>
          </a:p>
          <a:p>
            <a:r>
              <a:rPr lang="en-US" dirty="0"/>
              <a:t>Usually, process recovery is a costly operation, which should be avoided to the extent possible. As always, nonetheless, the exact costs of each alternative (including both proactive and reactive ones) will depend on the specific case taken into account!</a:t>
            </a:r>
          </a:p>
        </p:txBody>
      </p:sp>
      <p:sp>
        <p:nvSpPr>
          <p:cNvPr id="4" name="Slide Number Placeholder 3"/>
          <p:cNvSpPr>
            <a:spLocks noGrp="1"/>
          </p:cNvSpPr>
          <p:nvPr>
            <p:ph type="sldNum" sz="quarter" idx="5"/>
          </p:nvPr>
        </p:nvSpPr>
        <p:spPr/>
        <p:txBody>
          <a:bodyPr/>
          <a:lstStyle/>
          <a:p>
            <a:fld id="{20BC1079-C5C6-1A45-8E7E-B20B607B09A1}" type="slidenum">
              <a:rPr lang="en-US" smtClean="0"/>
              <a:t>42</a:t>
            </a:fld>
            <a:endParaRPr lang="en-US"/>
          </a:p>
        </p:txBody>
      </p:sp>
    </p:spTree>
    <p:extLst>
      <p:ext uri="{BB962C8B-B14F-4D97-AF65-F5344CB8AC3E}">
        <p14:creationId xmlns:p14="http://schemas.microsoft.com/office/powerpoint/2010/main" val="25811532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FFD56-97C5-2413-1522-9C7FE401807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EAF637D9-0F7A-ED49-F7BB-2EAE18F558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D091891-F120-83FC-C3D0-ECCF0E8B93D4}"/>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1429B924-AEB0-D999-3F12-48311D9E489A}"/>
              </a:ext>
            </a:extLst>
          </p:cNvPr>
          <p:cNvSpPr>
            <a:spLocks noGrp="1"/>
          </p:cNvSpPr>
          <p:nvPr>
            <p:ph type="ftr" sz="quarter" idx="11"/>
          </p:nvPr>
        </p:nvSpPr>
        <p:spPr/>
        <p:txBody>
          <a:bodyPr/>
          <a:lstStyle/>
          <a:p>
            <a:r>
              <a:rPr lang="en-US"/>
              <a:t>Operating Systems - Lecture 2 - Processes</a:t>
            </a:r>
          </a:p>
        </p:txBody>
      </p:sp>
      <p:sp>
        <p:nvSpPr>
          <p:cNvPr id="6" name="Slide Number Placeholder 5">
            <a:extLst>
              <a:ext uri="{FF2B5EF4-FFF2-40B4-BE49-F238E27FC236}">
                <a16:creationId xmlns:a16="http://schemas.microsoft.com/office/drawing/2014/main" id="{31FAE6BC-29BC-FEDA-1014-E5A78DC258A2}"/>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6879440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77046-91B7-D9CB-869A-951E885CDDD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A373CC4-F743-81DB-130A-50AFB9D9B26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78AC1FC-A46B-E833-F764-EA390DEAC832}"/>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33C9463C-63C7-A51F-551E-BAF2BD0566D6}"/>
              </a:ext>
            </a:extLst>
          </p:cNvPr>
          <p:cNvSpPr>
            <a:spLocks noGrp="1"/>
          </p:cNvSpPr>
          <p:nvPr>
            <p:ph type="ftr" sz="quarter" idx="11"/>
          </p:nvPr>
        </p:nvSpPr>
        <p:spPr/>
        <p:txBody>
          <a:bodyPr/>
          <a:lstStyle/>
          <a:p>
            <a:r>
              <a:rPr lang="en-US"/>
              <a:t>Operating Systems - Lecture 2 - Processes</a:t>
            </a:r>
          </a:p>
        </p:txBody>
      </p:sp>
      <p:sp>
        <p:nvSpPr>
          <p:cNvPr id="6" name="Slide Number Placeholder 5">
            <a:extLst>
              <a:ext uri="{FF2B5EF4-FFF2-40B4-BE49-F238E27FC236}">
                <a16:creationId xmlns:a16="http://schemas.microsoft.com/office/drawing/2014/main" id="{B240C09D-CE64-BF3D-7667-87D8C1FDF90A}"/>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15462078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38A41-61C0-70B9-214C-8D332AB7DBE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45B1C6C2-BAFE-F6D2-5A7D-7D1BAF11B9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6CF67BE-29B4-939B-6E0A-DF56F935851A}"/>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3BA06DB4-1486-762C-F609-57BED43F843D}"/>
              </a:ext>
            </a:extLst>
          </p:cNvPr>
          <p:cNvSpPr>
            <a:spLocks noGrp="1"/>
          </p:cNvSpPr>
          <p:nvPr>
            <p:ph type="ftr" sz="quarter" idx="11"/>
          </p:nvPr>
        </p:nvSpPr>
        <p:spPr/>
        <p:txBody>
          <a:bodyPr/>
          <a:lstStyle/>
          <a:p>
            <a:r>
              <a:rPr lang="en-US"/>
              <a:t>Operating Systems - Lecture 2 - Processes</a:t>
            </a:r>
          </a:p>
        </p:txBody>
      </p:sp>
      <p:sp>
        <p:nvSpPr>
          <p:cNvPr id="6" name="Slide Number Placeholder 5">
            <a:extLst>
              <a:ext uri="{FF2B5EF4-FFF2-40B4-BE49-F238E27FC236}">
                <a16:creationId xmlns:a16="http://schemas.microsoft.com/office/drawing/2014/main" id="{8C88B826-8DAE-4B63-799B-C8F2BFF4F95F}"/>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23820413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93E10-C569-76C1-AE47-A51D46BD0BD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849C559-87B5-F758-39B8-17640676B2B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68C706C4-22AA-E4BA-CF71-F14062B1E08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25172FA-D4F5-2605-1E8E-0E30167E354A}"/>
              </a:ext>
            </a:extLst>
          </p:cNvPr>
          <p:cNvSpPr>
            <a:spLocks noGrp="1"/>
          </p:cNvSpPr>
          <p:nvPr>
            <p:ph type="dt" sz="half" idx="10"/>
          </p:nvPr>
        </p:nvSpPr>
        <p:spPr/>
        <p:txBody>
          <a:bodyPr/>
          <a:lstStyle/>
          <a:p>
            <a:r>
              <a:rPr lang="en-US"/>
              <a:t>Vincenzo Gulisano</a:t>
            </a:r>
          </a:p>
        </p:txBody>
      </p:sp>
      <p:sp>
        <p:nvSpPr>
          <p:cNvPr id="6" name="Footer Placeholder 5">
            <a:extLst>
              <a:ext uri="{FF2B5EF4-FFF2-40B4-BE49-F238E27FC236}">
                <a16:creationId xmlns:a16="http://schemas.microsoft.com/office/drawing/2014/main" id="{D1074274-3CFF-A7D2-8166-138207EECE9F}"/>
              </a:ext>
            </a:extLst>
          </p:cNvPr>
          <p:cNvSpPr>
            <a:spLocks noGrp="1"/>
          </p:cNvSpPr>
          <p:nvPr>
            <p:ph type="ftr" sz="quarter" idx="11"/>
          </p:nvPr>
        </p:nvSpPr>
        <p:spPr/>
        <p:txBody>
          <a:bodyPr/>
          <a:lstStyle/>
          <a:p>
            <a:r>
              <a:rPr lang="en-US"/>
              <a:t>Operating Systems - Lecture 2 - Processes</a:t>
            </a:r>
          </a:p>
        </p:txBody>
      </p:sp>
      <p:sp>
        <p:nvSpPr>
          <p:cNvPr id="7" name="Slide Number Placeholder 6">
            <a:extLst>
              <a:ext uri="{FF2B5EF4-FFF2-40B4-BE49-F238E27FC236}">
                <a16:creationId xmlns:a16="http://schemas.microsoft.com/office/drawing/2014/main" id="{84E39839-979E-D811-3D8D-1C7F74AFD162}"/>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35735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71679-D666-03FB-6211-B765ACEBA344}"/>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F095166-8E43-9421-0E47-14661915F8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BB0BA1C-9B71-415E-BD11-24C61993164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6BDC3786-F6F4-85B1-BCB8-2E24C68374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64014E0-421E-2575-0E1F-7DA0C8BEAF5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B025C9BB-3716-2051-0F6E-3F5C1F7C7CA3}"/>
              </a:ext>
            </a:extLst>
          </p:cNvPr>
          <p:cNvSpPr>
            <a:spLocks noGrp="1"/>
          </p:cNvSpPr>
          <p:nvPr>
            <p:ph type="dt" sz="half" idx="10"/>
          </p:nvPr>
        </p:nvSpPr>
        <p:spPr/>
        <p:txBody>
          <a:bodyPr/>
          <a:lstStyle/>
          <a:p>
            <a:r>
              <a:rPr lang="en-US"/>
              <a:t>Vincenzo Gulisano</a:t>
            </a:r>
          </a:p>
        </p:txBody>
      </p:sp>
      <p:sp>
        <p:nvSpPr>
          <p:cNvPr id="8" name="Footer Placeholder 7">
            <a:extLst>
              <a:ext uri="{FF2B5EF4-FFF2-40B4-BE49-F238E27FC236}">
                <a16:creationId xmlns:a16="http://schemas.microsoft.com/office/drawing/2014/main" id="{DFFDF65C-E752-6828-EC79-E4FF85C56646}"/>
              </a:ext>
            </a:extLst>
          </p:cNvPr>
          <p:cNvSpPr>
            <a:spLocks noGrp="1"/>
          </p:cNvSpPr>
          <p:nvPr>
            <p:ph type="ftr" sz="quarter" idx="11"/>
          </p:nvPr>
        </p:nvSpPr>
        <p:spPr/>
        <p:txBody>
          <a:bodyPr/>
          <a:lstStyle/>
          <a:p>
            <a:r>
              <a:rPr lang="en-US"/>
              <a:t>Operating Systems - Lecture 2 - Processes</a:t>
            </a:r>
          </a:p>
        </p:txBody>
      </p:sp>
      <p:sp>
        <p:nvSpPr>
          <p:cNvPr id="9" name="Slide Number Placeholder 8">
            <a:extLst>
              <a:ext uri="{FF2B5EF4-FFF2-40B4-BE49-F238E27FC236}">
                <a16:creationId xmlns:a16="http://schemas.microsoft.com/office/drawing/2014/main" id="{E94A5345-0A9C-3867-F8BC-E0F9F8A921C3}"/>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102541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0140A-8AFE-88C9-070A-C99B5EF3E8D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BF53121-C8FF-75BC-4CA6-1B68180CAEC3}"/>
              </a:ext>
            </a:extLst>
          </p:cNvPr>
          <p:cNvSpPr>
            <a:spLocks noGrp="1"/>
          </p:cNvSpPr>
          <p:nvPr>
            <p:ph type="dt" sz="half" idx="10"/>
          </p:nvPr>
        </p:nvSpPr>
        <p:spPr/>
        <p:txBody>
          <a:bodyPr/>
          <a:lstStyle/>
          <a:p>
            <a:r>
              <a:rPr lang="en-US"/>
              <a:t>Vincenzo Gulisano</a:t>
            </a:r>
          </a:p>
        </p:txBody>
      </p:sp>
      <p:sp>
        <p:nvSpPr>
          <p:cNvPr id="4" name="Footer Placeholder 3">
            <a:extLst>
              <a:ext uri="{FF2B5EF4-FFF2-40B4-BE49-F238E27FC236}">
                <a16:creationId xmlns:a16="http://schemas.microsoft.com/office/drawing/2014/main" id="{2D2FAD93-0874-D388-B5B0-1844D46C1CBC}"/>
              </a:ext>
            </a:extLst>
          </p:cNvPr>
          <p:cNvSpPr>
            <a:spLocks noGrp="1"/>
          </p:cNvSpPr>
          <p:nvPr>
            <p:ph type="ftr" sz="quarter" idx="11"/>
          </p:nvPr>
        </p:nvSpPr>
        <p:spPr/>
        <p:txBody>
          <a:bodyPr/>
          <a:lstStyle/>
          <a:p>
            <a:r>
              <a:rPr lang="en-US"/>
              <a:t>Operating Systems - Lecture 2 - Processes</a:t>
            </a:r>
          </a:p>
        </p:txBody>
      </p:sp>
      <p:sp>
        <p:nvSpPr>
          <p:cNvPr id="5" name="Slide Number Placeholder 4">
            <a:extLst>
              <a:ext uri="{FF2B5EF4-FFF2-40B4-BE49-F238E27FC236}">
                <a16:creationId xmlns:a16="http://schemas.microsoft.com/office/drawing/2014/main" id="{43A0C8C2-7CB0-F227-9788-B65F4100E1F3}"/>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7775630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746887-6CD7-3182-2D7B-19D720783625}"/>
              </a:ext>
            </a:extLst>
          </p:cNvPr>
          <p:cNvSpPr>
            <a:spLocks noGrp="1"/>
          </p:cNvSpPr>
          <p:nvPr>
            <p:ph type="dt" sz="half" idx="10"/>
          </p:nvPr>
        </p:nvSpPr>
        <p:spPr/>
        <p:txBody>
          <a:bodyPr/>
          <a:lstStyle/>
          <a:p>
            <a:r>
              <a:rPr lang="en-US"/>
              <a:t>Vincenzo Gulisano</a:t>
            </a:r>
          </a:p>
        </p:txBody>
      </p:sp>
      <p:sp>
        <p:nvSpPr>
          <p:cNvPr id="3" name="Footer Placeholder 2">
            <a:extLst>
              <a:ext uri="{FF2B5EF4-FFF2-40B4-BE49-F238E27FC236}">
                <a16:creationId xmlns:a16="http://schemas.microsoft.com/office/drawing/2014/main" id="{9996EA05-B523-3458-9B76-7DA88111E663}"/>
              </a:ext>
            </a:extLst>
          </p:cNvPr>
          <p:cNvSpPr>
            <a:spLocks noGrp="1"/>
          </p:cNvSpPr>
          <p:nvPr>
            <p:ph type="ftr" sz="quarter" idx="11"/>
          </p:nvPr>
        </p:nvSpPr>
        <p:spPr/>
        <p:txBody>
          <a:bodyPr/>
          <a:lstStyle/>
          <a:p>
            <a:r>
              <a:rPr lang="en-US"/>
              <a:t>Operating Systems - Lecture 2 - Processes</a:t>
            </a:r>
          </a:p>
        </p:txBody>
      </p:sp>
      <p:sp>
        <p:nvSpPr>
          <p:cNvPr id="4" name="Slide Number Placeholder 3">
            <a:extLst>
              <a:ext uri="{FF2B5EF4-FFF2-40B4-BE49-F238E27FC236}">
                <a16:creationId xmlns:a16="http://schemas.microsoft.com/office/drawing/2014/main" id="{C3ED1384-6020-0BC8-33AA-E9D934C00EE0}"/>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2075966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B5930-CAE8-C886-A024-A771A48CA86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A64FE28-FE32-F319-9565-97C1EC7748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6C2DD513-CB18-2480-620F-7D4FE52CE9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B30CCA-5690-1092-B62E-1B7E6A2804A9}"/>
              </a:ext>
            </a:extLst>
          </p:cNvPr>
          <p:cNvSpPr>
            <a:spLocks noGrp="1"/>
          </p:cNvSpPr>
          <p:nvPr>
            <p:ph type="dt" sz="half" idx="10"/>
          </p:nvPr>
        </p:nvSpPr>
        <p:spPr/>
        <p:txBody>
          <a:bodyPr/>
          <a:lstStyle/>
          <a:p>
            <a:r>
              <a:rPr lang="en-US"/>
              <a:t>Vincenzo Gulisano</a:t>
            </a:r>
          </a:p>
        </p:txBody>
      </p:sp>
      <p:sp>
        <p:nvSpPr>
          <p:cNvPr id="6" name="Footer Placeholder 5">
            <a:extLst>
              <a:ext uri="{FF2B5EF4-FFF2-40B4-BE49-F238E27FC236}">
                <a16:creationId xmlns:a16="http://schemas.microsoft.com/office/drawing/2014/main" id="{39CBCEB2-0A5C-5D37-72E3-89D9F1A0D7EA}"/>
              </a:ext>
            </a:extLst>
          </p:cNvPr>
          <p:cNvSpPr>
            <a:spLocks noGrp="1"/>
          </p:cNvSpPr>
          <p:nvPr>
            <p:ph type="ftr" sz="quarter" idx="11"/>
          </p:nvPr>
        </p:nvSpPr>
        <p:spPr/>
        <p:txBody>
          <a:bodyPr/>
          <a:lstStyle/>
          <a:p>
            <a:r>
              <a:rPr lang="en-US"/>
              <a:t>Operating Systems - Lecture 2 - Processes</a:t>
            </a:r>
          </a:p>
        </p:txBody>
      </p:sp>
      <p:sp>
        <p:nvSpPr>
          <p:cNvPr id="7" name="Slide Number Placeholder 6">
            <a:extLst>
              <a:ext uri="{FF2B5EF4-FFF2-40B4-BE49-F238E27FC236}">
                <a16:creationId xmlns:a16="http://schemas.microsoft.com/office/drawing/2014/main" id="{A677802C-FC51-6FFF-9F04-6DF796F427B5}"/>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2746643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3C0E7-93B1-2067-085B-6D6B28057AD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920955E2-D139-AC22-831E-C9B627AEF7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8850103-419E-D1FD-AAEB-7E37947F56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43AA781-CC14-31BC-D1AD-84EC35A1B04B}"/>
              </a:ext>
            </a:extLst>
          </p:cNvPr>
          <p:cNvSpPr>
            <a:spLocks noGrp="1"/>
          </p:cNvSpPr>
          <p:nvPr>
            <p:ph type="dt" sz="half" idx="10"/>
          </p:nvPr>
        </p:nvSpPr>
        <p:spPr/>
        <p:txBody>
          <a:bodyPr/>
          <a:lstStyle/>
          <a:p>
            <a:r>
              <a:rPr lang="en-US"/>
              <a:t>Vincenzo Gulisano</a:t>
            </a:r>
          </a:p>
        </p:txBody>
      </p:sp>
      <p:sp>
        <p:nvSpPr>
          <p:cNvPr id="6" name="Footer Placeholder 5">
            <a:extLst>
              <a:ext uri="{FF2B5EF4-FFF2-40B4-BE49-F238E27FC236}">
                <a16:creationId xmlns:a16="http://schemas.microsoft.com/office/drawing/2014/main" id="{0C06B66F-A12B-A8DD-D8F4-5017D78964EC}"/>
              </a:ext>
            </a:extLst>
          </p:cNvPr>
          <p:cNvSpPr>
            <a:spLocks noGrp="1"/>
          </p:cNvSpPr>
          <p:nvPr>
            <p:ph type="ftr" sz="quarter" idx="11"/>
          </p:nvPr>
        </p:nvSpPr>
        <p:spPr/>
        <p:txBody>
          <a:bodyPr/>
          <a:lstStyle/>
          <a:p>
            <a:r>
              <a:rPr lang="en-US"/>
              <a:t>Operating Systems - Lecture 2 - Processes</a:t>
            </a:r>
          </a:p>
        </p:txBody>
      </p:sp>
      <p:sp>
        <p:nvSpPr>
          <p:cNvPr id="7" name="Slide Number Placeholder 6">
            <a:extLst>
              <a:ext uri="{FF2B5EF4-FFF2-40B4-BE49-F238E27FC236}">
                <a16:creationId xmlns:a16="http://schemas.microsoft.com/office/drawing/2014/main" id="{D6B98FF7-11FA-3CBB-0219-E615942664C7}"/>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3681682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A410F-C59B-2915-AAAB-182354F10D14}"/>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10DFB0F-3D7B-5268-5B76-FB8CC9532CF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B638A3C-38B9-1C7A-1C83-137B9DC93254}"/>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80EBF33F-A62B-94AD-5CD4-99643F2BEFE9}"/>
              </a:ext>
            </a:extLst>
          </p:cNvPr>
          <p:cNvSpPr>
            <a:spLocks noGrp="1"/>
          </p:cNvSpPr>
          <p:nvPr>
            <p:ph type="ftr" sz="quarter" idx="11"/>
          </p:nvPr>
        </p:nvSpPr>
        <p:spPr/>
        <p:txBody>
          <a:bodyPr/>
          <a:lstStyle/>
          <a:p>
            <a:r>
              <a:rPr lang="en-US"/>
              <a:t>Operating Systems - Lecture 2 - Processes</a:t>
            </a:r>
          </a:p>
        </p:txBody>
      </p:sp>
      <p:sp>
        <p:nvSpPr>
          <p:cNvPr id="6" name="Slide Number Placeholder 5">
            <a:extLst>
              <a:ext uri="{FF2B5EF4-FFF2-40B4-BE49-F238E27FC236}">
                <a16:creationId xmlns:a16="http://schemas.microsoft.com/office/drawing/2014/main" id="{28F5A5D1-6234-49B3-B141-23BC58806BCC}"/>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2878698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80F759-6033-E296-CCFB-2AB093540FD5}"/>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7F05EA3-77B1-9359-7551-3BCDBA0CA44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52299E8-338B-D9BC-881B-92C751677A39}"/>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D768022F-225C-6910-7F8E-3BFF84C17B68}"/>
              </a:ext>
            </a:extLst>
          </p:cNvPr>
          <p:cNvSpPr>
            <a:spLocks noGrp="1"/>
          </p:cNvSpPr>
          <p:nvPr>
            <p:ph type="ftr" sz="quarter" idx="11"/>
          </p:nvPr>
        </p:nvSpPr>
        <p:spPr/>
        <p:txBody>
          <a:bodyPr/>
          <a:lstStyle/>
          <a:p>
            <a:r>
              <a:rPr lang="en-US"/>
              <a:t>Operating Systems - Lecture 2 - Processes</a:t>
            </a:r>
          </a:p>
        </p:txBody>
      </p:sp>
      <p:sp>
        <p:nvSpPr>
          <p:cNvPr id="6" name="Slide Number Placeholder 5">
            <a:extLst>
              <a:ext uri="{FF2B5EF4-FFF2-40B4-BE49-F238E27FC236}">
                <a16:creationId xmlns:a16="http://schemas.microsoft.com/office/drawing/2014/main" id="{797E4A82-1DB0-5BA7-B6DE-04E34DD5D25C}"/>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19794737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152578" name="Rectangle 2"/>
          <p:cNvSpPr>
            <a:spLocks noGrp="1" noChangeArrowheads="1"/>
          </p:cNvSpPr>
          <p:nvPr>
            <p:ph type="ctrTitle"/>
          </p:nvPr>
        </p:nvSpPr>
        <p:spPr>
          <a:xfrm>
            <a:off x="914400" y="685800"/>
            <a:ext cx="103632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34282356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3CCF94-DB31-34B8-AA4F-881E753044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75349FE-E60E-4411-123B-A19694108F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3614F86-79AD-2F29-6EFD-FC32592213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Vincenzo Gulisano</a:t>
            </a:r>
          </a:p>
        </p:txBody>
      </p:sp>
      <p:sp>
        <p:nvSpPr>
          <p:cNvPr id="5" name="Footer Placeholder 4">
            <a:extLst>
              <a:ext uri="{FF2B5EF4-FFF2-40B4-BE49-F238E27FC236}">
                <a16:creationId xmlns:a16="http://schemas.microsoft.com/office/drawing/2014/main" id="{8D820F4D-39B5-29BB-176D-7104A4DB04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Operating Systems - Lecture 2 - Processes</a:t>
            </a:r>
          </a:p>
        </p:txBody>
      </p:sp>
      <p:sp>
        <p:nvSpPr>
          <p:cNvPr id="6" name="Slide Number Placeholder 5">
            <a:extLst>
              <a:ext uri="{FF2B5EF4-FFF2-40B4-BE49-F238E27FC236}">
                <a16:creationId xmlns:a16="http://schemas.microsoft.com/office/drawing/2014/main" id="{5EE101CC-14B8-AAF6-8712-F791B7C73840}"/>
              </a:ext>
            </a:extLst>
          </p:cNvPr>
          <p:cNvSpPr>
            <a:spLocks noGrp="1"/>
          </p:cNvSpPr>
          <p:nvPr>
            <p:ph type="sldNum" sz="quarter" idx="4"/>
          </p:nvPr>
        </p:nvSpPr>
        <p:spPr>
          <a:xfrm>
            <a:off x="9107214" y="2251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FCC1A6-2294-BF46-A2F7-E6BDB92DF1BF}" type="slidenum">
              <a:rPr lang="en-US" smtClean="0"/>
              <a:t>‹#›</a:t>
            </a:fld>
            <a:endParaRPr lang="en-US"/>
          </a:p>
        </p:txBody>
      </p:sp>
    </p:spTree>
    <p:extLst>
      <p:ext uri="{BB962C8B-B14F-4D97-AF65-F5344CB8AC3E}">
        <p14:creationId xmlns:p14="http://schemas.microsoft.com/office/powerpoint/2010/main" val="13822825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hyperlink" Target="https://openclipart.org/detail/124159/simple-sailboat" TargetMode="Externa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hyperlink" Target="https://openclipart.org/detail/124159/simple-sailboat" TargetMode="Externa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hyperlink" Target="https://openclipart.org/detail/124159/simple-sailboat" TargetMode="Externa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hyperlink" Target="https://www.flickr.com/photos/84568447@N00/2861441426"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hyperlink" Target="https://www.flickr.com/photos/84568447@N00/2861441426"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hyperlink" Target="https://www.flickr.com/photos/84568447@N00/2861441426"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dl.acm.org/doi/pdf/10.1145/62546.62567?casa_token=4uO24jxkwEAAAAAA:jJlAILeISZe5Uu2ERv6O-dTq_0LbSmRpv0beOZ_3vDi50otRS-_HqB30GoWDib1zVQ9jjrhx4w0"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www.google.se/imgres?imgurl=http://www.lio.se/upload/bildarkiv/Arsredovisning/2002/Verksamheten/Nummerlapp180.jpg&amp;imgrefurl=http://www.lio.se/Planering-och-uppfoljning/Arsredovisning/Arsredovisning-2002/Verksamheten/Halso-och-sjukvard/Halso-och-sjukvarden-utvecklas-och-fornyas/Insatser-for-att-forbattra-tillgangligheten/Vantetider-i-primarvarden/&amp;usg=__4llquq-XDJKNuQQwyfH_g244eSs=&amp;h=180&amp;w=180&amp;sz=13&amp;hl=sv&amp;start=1&amp;zoom=1&amp;itbs=1&amp;tbnid=Er2s4m-UC-jbIM:&amp;tbnh=101&amp;tbnw=101&amp;prev=/images?q=nummerlapp&amp;hl=sv&amp;gbv=2&amp;tbs=isch:1&amp;ei=ncJLTfHqL9KEswbezbCeDw"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2.jpe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hyperlink" Target="https://freesvg.org/word-file-icon-vector-drawing"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ChangeArrowheads="1"/>
          </p:cNvSpPr>
          <p:nvPr>
            <p:ph type="ctrTitle"/>
          </p:nvPr>
        </p:nvSpPr>
        <p:spPr>
          <a:xfrm>
            <a:off x="2156460" y="1424940"/>
            <a:ext cx="7772400" cy="2127250"/>
          </a:xfrm>
        </p:spPr>
        <p:txBody>
          <a:bodyPr>
            <a:normAutofit fontScale="90000"/>
          </a:bodyPr>
          <a:lstStyle/>
          <a:p>
            <a:r>
              <a:rPr lang="en-GB" dirty="0"/>
              <a:t>Synchronization - Part 2</a:t>
            </a:r>
            <a:br>
              <a:rPr lang="en-US" altLang="en-US" sz="4000" dirty="0"/>
            </a:br>
            <a:r>
              <a:rPr lang="en-US" altLang="en-US" sz="4000" dirty="0"/>
              <a:t>Operating Systems – EDA093/DIT401</a:t>
            </a:r>
            <a:br>
              <a:rPr lang="en-US" altLang="en-US" dirty="0"/>
            </a:br>
            <a:br>
              <a:rPr lang="en-US" altLang="en-US" dirty="0"/>
            </a:br>
            <a:r>
              <a:rPr lang="en-US" altLang="en-US" sz="3200" dirty="0"/>
              <a:t>Vincenzo Gulisano</a:t>
            </a:r>
            <a:br>
              <a:rPr lang="en-US" altLang="en-US" sz="3200" dirty="0"/>
            </a:br>
            <a:r>
              <a:rPr lang="en-US" altLang="en-US" sz="2000" dirty="0"/>
              <a:t>vincenzo.gulisano@chalmers.se</a:t>
            </a:r>
            <a:endParaRPr lang="en-US" altLang="en-US" sz="2700" dirty="0"/>
          </a:p>
        </p:txBody>
      </p:sp>
      <p:grpSp>
        <p:nvGrpSpPr>
          <p:cNvPr id="2" name="Group 1">
            <a:extLst>
              <a:ext uri="{FF2B5EF4-FFF2-40B4-BE49-F238E27FC236}">
                <a16:creationId xmlns:a16="http://schemas.microsoft.com/office/drawing/2014/main" id="{DE77F173-1DA6-4223-61E1-FEDFE24BD549}"/>
              </a:ext>
            </a:extLst>
          </p:cNvPr>
          <p:cNvGrpSpPr/>
          <p:nvPr/>
        </p:nvGrpSpPr>
        <p:grpSpPr>
          <a:xfrm>
            <a:off x="2543614" y="4659360"/>
            <a:ext cx="7104771" cy="1547400"/>
            <a:chOff x="777241" y="4793437"/>
            <a:chExt cx="7104771" cy="1547400"/>
          </a:xfrm>
        </p:grpSpPr>
        <p:pic>
          <p:nvPicPr>
            <p:cNvPr id="3" name="Picture 2">
              <a:extLst>
                <a:ext uri="{FF2B5EF4-FFF2-40B4-BE49-F238E27FC236}">
                  <a16:creationId xmlns:a16="http://schemas.microsoft.com/office/drawing/2014/main" id="{3D79F06A-3449-CCAB-D741-749395BD73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3022" y="4793437"/>
              <a:ext cx="2078990" cy="15474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42649405-C12D-D2F0-F97F-F744386C276B}"/>
                </a:ext>
              </a:extLst>
            </p:cNvPr>
            <p:cNvPicPr>
              <a:picLocks noChangeAspect="1"/>
            </p:cNvPicPr>
            <p:nvPr/>
          </p:nvPicPr>
          <p:blipFill>
            <a:blip r:embed="rId4"/>
            <a:stretch>
              <a:fillRect/>
            </a:stretch>
          </p:blipFill>
          <p:spPr>
            <a:xfrm>
              <a:off x="777241" y="4973870"/>
              <a:ext cx="4724632" cy="1186535"/>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to read (Main textbook) </a:t>
            </a:r>
            <a:br>
              <a:rPr lang="en-US" dirty="0"/>
            </a:br>
            <a:r>
              <a:rPr lang="en-US" dirty="0"/>
              <a:t>- Both for part 1 and part 2</a:t>
            </a:r>
          </a:p>
        </p:txBody>
      </p:sp>
      <p:sp>
        <p:nvSpPr>
          <p:cNvPr id="3" name="Content Placeholder 2"/>
          <p:cNvSpPr>
            <a:spLocks noGrp="1"/>
          </p:cNvSpPr>
          <p:nvPr>
            <p:ph idx="1"/>
          </p:nvPr>
        </p:nvSpPr>
        <p:spPr/>
        <p:txBody>
          <a:bodyPr>
            <a:normAutofit/>
          </a:bodyPr>
          <a:lstStyle/>
          <a:p>
            <a:r>
              <a:rPr lang="en-US" dirty="0"/>
              <a:t>4</a:t>
            </a:r>
            <a:r>
              <a:rPr lang="en-US" baseline="30000" dirty="0"/>
              <a:t>th</a:t>
            </a:r>
            <a:r>
              <a:rPr lang="en-US" dirty="0"/>
              <a:t> edition</a:t>
            </a:r>
          </a:p>
          <a:p>
            <a:pPr lvl="1"/>
            <a:r>
              <a:rPr lang="en-US" dirty="0"/>
              <a:t>Chapter 2.3.1-2.3.6, </a:t>
            </a:r>
            <a:r>
              <a:rPr lang="en-GB" dirty="0"/>
              <a:t>2.5.1-</a:t>
            </a:r>
            <a:r>
              <a:rPr lang="en-US" dirty="0"/>
              <a:t>2.5.2, </a:t>
            </a:r>
            <a:r>
              <a:rPr lang="en-GB" dirty="0"/>
              <a:t>6.1-6.2, 6.5-6.6, 6.7.3-6.7.4</a:t>
            </a:r>
            <a:r>
              <a:rPr lang="en-US" dirty="0"/>
              <a:t>; </a:t>
            </a:r>
          </a:p>
          <a:p>
            <a:pPr lvl="1"/>
            <a:r>
              <a:rPr lang="en-US" dirty="0"/>
              <a:t>Quicker reading, for awareness, of sections 2.3.7-2.3.10, </a:t>
            </a:r>
            <a:r>
              <a:rPr lang="en-GB" dirty="0"/>
              <a:t>6.3</a:t>
            </a:r>
          </a:p>
          <a:p>
            <a:r>
              <a:rPr lang="en-US" dirty="0"/>
              <a:t>5</a:t>
            </a:r>
            <a:r>
              <a:rPr lang="en-US" baseline="30000" dirty="0"/>
              <a:t>th</a:t>
            </a:r>
            <a:r>
              <a:rPr lang="en-US" dirty="0"/>
              <a:t> edition</a:t>
            </a:r>
          </a:p>
          <a:p>
            <a:pPr lvl="1"/>
            <a:r>
              <a:rPr lang="en-US" dirty="0"/>
              <a:t>Chapter 2.4.1-2.4.6, </a:t>
            </a:r>
            <a:r>
              <a:rPr lang="en-GB" dirty="0"/>
              <a:t>6.1-6.2, 6.5-6.6, 6.7.3-6.7.4</a:t>
            </a:r>
            <a:r>
              <a:rPr lang="en-US" dirty="0"/>
              <a:t>; </a:t>
            </a:r>
          </a:p>
          <a:p>
            <a:pPr lvl="1"/>
            <a:r>
              <a:rPr lang="en-US" dirty="0"/>
              <a:t>Quicker reading, for awareness, of sections 2.3.7-2.3.9, 2.3.11, </a:t>
            </a:r>
            <a:r>
              <a:rPr lang="en-GB" dirty="0"/>
              <a:t>6.3</a:t>
            </a:r>
            <a:br>
              <a:rPr lang="en-US" dirty="0"/>
            </a:br>
            <a:br>
              <a:rPr lang="en-US" dirty="0"/>
            </a:br>
            <a:br>
              <a:rPr lang="en-US" dirty="0"/>
            </a:br>
            <a:endParaRPr lang="en-US" dirty="0"/>
          </a:p>
          <a:p>
            <a:pPr marL="457200" lvl="1" indent="0">
              <a:buNone/>
            </a:pPr>
            <a:r>
              <a:rPr lang="en-US" dirty="0"/>
              <a:t>(</a:t>
            </a:r>
            <a:r>
              <a:rPr lang="en-GB" dirty="0"/>
              <a:t>facultative reading: sections 6.1-6.7, 6.9, 7.1-7.5, 7.6-7.8 from OS Concepts by Silberschatz et-al).</a:t>
            </a:r>
            <a:endParaRPr lang="en-US" dirty="0"/>
          </a:p>
        </p:txBody>
      </p:sp>
      <p:sp>
        <p:nvSpPr>
          <p:cNvPr id="4" name="Date Placeholder 3"/>
          <p:cNvSpPr>
            <a:spLocks noGrp="1"/>
          </p:cNvSpPr>
          <p:nvPr>
            <p:ph type="dt" sz="half" idx="10"/>
          </p:nvPr>
        </p:nvSpPr>
        <p:spPr/>
        <p:txBody>
          <a:bodyPr/>
          <a:lstStyle/>
          <a:p>
            <a:r>
              <a:rPr lang="en-US"/>
              <a:t>Vincenzo Gulisano</a:t>
            </a:r>
          </a:p>
        </p:txBody>
      </p:sp>
      <p:sp>
        <p:nvSpPr>
          <p:cNvPr id="6" name="Slide Number Placeholder 5"/>
          <p:cNvSpPr>
            <a:spLocks noGrp="1"/>
          </p:cNvSpPr>
          <p:nvPr>
            <p:ph type="sldNum" sz="quarter" idx="12"/>
          </p:nvPr>
        </p:nvSpPr>
        <p:spPr/>
        <p:txBody>
          <a:bodyPr/>
          <a:lstStyle/>
          <a:p>
            <a:fld id="{F08E1FC2-92BA-6B49-AE60-B1AE3118BF2A}" type="slidenum">
              <a:rPr lang="en-US" smtClean="0"/>
              <a:t>2</a:t>
            </a:fld>
            <a:endParaRPr lang="en-US"/>
          </a:p>
        </p:txBody>
      </p:sp>
    </p:spTree>
    <p:extLst>
      <p:ext uri="{BB962C8B-B14F-4D97-AF65-F5344CB8AC3E}">
        <p14:creationId xmlns:p14="http://schemas.microsoft.com/office/powerpoint/2010/main" val="1787128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2250A-5E5B-70FA-6A31-6DB2BEB91011}"/>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9227323-B622-2A52-0358-95FA49351F66}"/>
              </a:ext>
            </a:extLst>
          </p:cNvPr>
          <p:cNvSpPr>
            <a:spLocks noGrp="1"/>
          </p:cNvSpPr>
          <p:nvPr>
            <p:ph idx="1"/>
          </p:nvPr>
        </p:nvSpPr>
        <p:spPr/>
        <p:txBody>
          <a:bodyPr>
            <a:normAutofit lnSpcReduction="10000"/>
          </a:bodyPr>
          <a:lstStyle/>
          <a:p>
            <a:r>
              <a:rPr lang="en-US" dirty="0"/>
              <a:t>Bounded-buffer producer/consumer</a:t>
            </a:r>
          </a:p>
          <a:p>
            <a:r>
              <a:rPr lang="en-US" dirty="0"/>
              <a:t>Resource allocation, deadlocks, and necessary conditions for deadlocks</a:t>
            </a:r>
          </a:p>
          <a:p>
            <a:r>
              <a:rPr lang="en-US" dirty="0"/>
              <a:t>Dining philosophers</a:t>
            </a:r>
          </a:p>
          <a:p>
            <a:pPr lvl="1"/>
            <a:r>
              <a:rPr lang="en-US" dirty="0"/>
              <a:t>without circular wait</a:t>
            </a:r>
          </a:p>
          <a:p>
            <a:pPr lvl="1"/>
            <a:r>
              <a:rPr lang="en-US" dirty="0"/>
              <a:t>without no-preemption</a:t>
            </a:r>
          </a:p>
          <a:p>
            <a:pPr lvl="1"/>
            <a:r>
              <a:rPr lang="en-US" dirty="0"/>
              <a:t>without hold-and-wait</a:t>
            </a:r>
          </a:p>
          <a:p>
            <a:r>
              <a:rPr lang="en-US" dirty="0" err="1"/>
              <a:t>Lamport’s</a:t>
            </a:r>
            <a:r>
              <a:rPr lang="en-US" dirty="0"/>
              <a:t> bakery algorithm</a:t>
            </a:r>
          </a:p>
          <a:p>
            <a:r>
              <a:rPr lang="en-US" dirty="0"/>
              <a:t>Readers/Writers problem</a:t>
            </a:r>
          </a:p>
          <a:p>
            <a:r>
              <a:rPr lang="en-US" dirty="0"/>
              <a:t>OS as arbitrator for deadlock avoidance/recovery</a:t>
            </a:r>
          </a:p>
          <a:p>
            <a:pPr lvl="1"/>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FB7135D7-1EB7-A732-594F-C49B0177B24F}"/>
              </a:ext>
            </a:extLst>
          </p:cNvPr>
          <p:cNvSpPr>
            <a:spLocks noGrp="1"/>
          </p:cNvSpPr>
          <p:nvPr>
            <p:ph type="sldNum" sz="quarter" idx="12"/>
          </p:nvPr>
        </p:nvSpPr>
        <p:spPr/>
        <p:txBody>
          <a:bodyPr/>
          <a:lstStyle/>
          <a:p>
            <a:fld id="{67FCC1A6-2294-BF46-A2F7-E6BDB92DF1BF}" type="slidenum">
              <a:rPr lang="en-US" smtClean="0"/>
              <a:t>3</a:t>
            </a:fld>
            <a:endParaRPr lang="en-US"/>
          </a:p>
        </p:txBody>
      </p:sp>
      <p:sp>
        <p:nvSpPr>
          <p:cNvPr id="5" name="Date Placeholder 4">
            <a:extLst>
              <a:ext uri="{FF2B5EF4-FFF2-40B4-BE49-F238E27FC236}">
                <a16:creationId xmlns:a16="http://schemas.microsoft.com/office/drawing/2014/main" id="{EE9225BE-C24D-D4E1-B846-CDB0100050CE}"/>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4064290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2250A-5E5B-70FA-6A31-6DB2BEB91011}"/>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9227323-B622-2A52-0358-95FA49351F66}"/>
              </a:ext>
            </a:extLst>
          </p:cNvPr>
          <p:cNvSpPr>
            <a:spLocks noGrp="1"/>
          </p:cNvSpPr>
          <p:nvPr>
            <p:ph idx="1"/>
          </p:nvPr>
        </p:nvSpPr>
        <p:spPr/>
        <p:txBody>
          <a:bodyPr>
            <a:normAutofit lnSpcReduction="10000"/>
          </a:bodyPr>
          <a:lstStyle/>
          <a:p>
            <a:r>
              <a:rPr lang="en-US" dirty="0"/>
              <a:t>Bounded-buffer producer/consumer</a:t>
            </a:r>
          </a:p>
          <a:p>
            <a:r>
              <a:rPr lang="en-US" dirty="0">
                <a:solidFill>
                  <a:schemeClr val="bg1">
                    <a:lumMod val="50000"/>
                  </a:schemeClr>
                </a:solidFill>
              </a:rPr>
              <a:t>Resource allocation, deadlocks, and necessary conditions for deadlocks</a:t>
            </a:r>
          </a:p>
          <a:p>
            <a:r>
              <a:rPr lang="en-US" dirty="0">
                <a:solidFill>
                  <a:schemeClr val="bg1">
                    <a:lumMod val="50000"/>
                  </a:schemeClr>
                </a:solidFill>
              </a:rPr>
              <a:t>Dining philosophers</a:t>
            </a:r>
          </a:p>
          <a:p>
            <a:pPr lvl="1"/>
            <a:r>
              <a:rPr lang="en-US" dirty="0">
                <a:solidFill>
                  <a:schemeClr val="bg1">
                    <a:lumMod val="50000"/>
                  </a:schemeClr>
                </a:solidFill>
              </a:rPr>
              <a:t>without circular wait</a:t>
            </a:r>
          </a:p>
          <a:p>
            <a:pPr lvl="1"/>
            <a:r>
              <a:rPr lang="en-US" dirty="0">
                <a:solidFill>
                  <a:schemeClr val="bg1">
                    <a:lumMod val="50000"/>
                  </a:schemeClr>
                </a:solidFill>
              </a:rPr>
              <a:t>without no-preemption</a:t>
            </a:r>
          </a:p>
          <a:p>
            <a:pPr lvl="1"/>
            <a:r>
              <a:rPr lang="en-US" dirty="0">
                <a:solidFill>
                  <a:schemeClr val="bg1">
                    <a:lumMod val="50000"/>
                  </a:schemeClr>
                </a:solidFill>
              </a:rPr>
              <a:t>without hold-and-wait</a:t>
            </a:r>
          </a:p>
          <a:p>
            <a:r>
              <a:rPr lang="en-US" dirty="0" err="1">
                <a:solidFill>
                  <a:schemeClr val="bg1">
                    <a:lumMod val="50000"/>
                  </a:schemeClr>
                </a:solidFill>
              </a:rPr>
              <a:t>Lamport’s</a:t>
            </a:r>
            <a:r>
              <a:rPr lang="en-US" dirty="0">
                <a:solidFill>
                  <a:schemeClr val="bg1">
                    <a:lumMod val="50000"/>
                  </a:schemeClr>
                </a:solidFill>
              </a:rPr>
              <a:t> bakery algorithm</a:t>
            </a:r>
          </a:p>
          <a:p>
            <a:r>
              <a:rPr lang="en-US" dirty="0">
                <a:solidFill>
                  <a:schemeClr val="bg1">
                    <a:lumMod val="50000"/>
                  </a:schemeClr>
                </a:solidFill>
              </a:rPr>
              <a:t>Readers/Writers problem</a:t>
            </a:r>
          </a:p>
          <a:p>
            <a:r>
              <a:rPr lang="en-US" dirty="0">
                <a:solidFill>
                  <a:schemeClr val="bg1">
                    <a:lumMod val="50000"/>
                  </a:schemeClr>
                </a:solidFill>
              </a:rPr>
              <a:t>OS as arbitrator for deadlock avoidance/recovery</a:t>
            </a:r>
          </a:p>
          <a:p>
            <a:pPr lvl="1"/>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ABC10BF8-AF79-7683-E222-7F3BEA47BAA0}"/>
              </a:ext>
            </a:extLst>
          </p:cNvPr>
          <p:cNvSpPr>
            <a:spLocks noGrp="1"/>
          </p:cNvSpPr>
          <p:nvPr>
            <p:ph type="sldNum" sz="quarter" idx="12"/>
          </p:nvPr>
        </p:nvSpPr>
        <p:spPr/>
        <p:txBody>
          <a:bodyPr/>
          <a:lstStyle/>
          <a:p>
            <a:fld id="{67FCC1A6-2294-BF46-A2F7-E6BDB92DF1BF}" type="slidenum">
              <a:rPr lang="en-US" smtClean="0"/>
              <a:t>4</a:t>
            </a:fld>
            <a:endParaRPr lang="en-US"/>
          </a:p>
        </p:txBody>
      </p:sp>
      <p:sp>
        <p:nvSpPr>
          <p:cNvPr id="5" name="Date Placeholder 4">
            <a:extLst>
              <a:ext uri="{FF2B5EF4-FFF2-40B4-BE49-F238E27FC236}">
                <a16:creationId xmlns:a16="http://schemas.microsoft.com/office/drawing/2014/main" id="{FD1A0A8C-BEEC-2E7A-55E0-27F5AC3E61CB}"/>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8538860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FC672C-D9E8-46A3-B737-0D56366C6B8C}"/>
              </a:ext>
            </a:extLst>
          </p:cNvPr>
          <p:cNvSpPr>
            <a:spLocks noGrp="1"/>
          </p:cNvSpPr>
          <p:nvPr>
            <p:ph sz="half" idx="1"/>
          </p:nvPr>
        </p:nvSpPr>
        <p:spPr>
          <a:xfrm>
            <a:off x="706685" y="1556089"/>
            <a:ext cx="2496554" cy="2626137"/>
          </a:xfrm>
        </p:spPr>
        <p:txBody>
          <a:bodyPr>
            <a:normAutofit/>
          </a:bodyPr>
          <a:lstStyle/>
          <a:p>
            <a:pPr marL="0" indent="0">
              <a:buNone/>
            </a:pPr>
            <a:r>
              <a:rPr lang="en-US" sz="2000" b="1" dirty="0"/>
              <a:t>Using: primitives</a:t>
            </a:r>
          </a:p>
          <a:p>
            <a:r>
              <a:rPr lang="en-US" sz="2000" dirty="0"/>
              <a:t>R/W variables</a:t>
            </a:r>
          </a:p>
          <a:p>
            <a:r>
              <a:rPr lang="en-US" sz="2000" dirty="0"/>
              <a:t>RMW variables</a:t>
            </a:r>
          </a:p>
          <a:p>
            <a:r>
              <a:rPr lang="en-US" sz="2000" dirty="0"/>
              <a:t>Semaphores, etc. </a:t>
            </a:r>
          </a:p>
          <a:p>
            <a:r>
              <a:rPr lang="en-US" sz="2000" dirty="0"/>
              <a:t>… </a:t>
            </a:r>
          </a:p>
        </p:txBody>
      </p:sp>
      <p:sp>
        <p:nvSpPr>
          <p:cNvPr id="4" name="Content Placeholder 3">
            <a:extLst>
              <a:ext uri="{FF2B5EF4-FFF2-40B4-BE49-F238E27FC236}">
                <a16:creationId xmlns:a16="http://schemas.microsoft.com/office/drawing/2014/main" id="{14A16E93-FF84-43DA-90ED-42FF3EDBADE8}"/>
              </a:ext>
            </a:extLst>
          </p:cNvPr>
          <p:cNvSpPr>
            <a:spLocks noGrp="1"/>
          </p:cNvSpPr>
          <p:nvPr>
            <p:ph sz="half" idx="2"/>
          </p:nvPr>
        </p:nvSpPr>
        <p:spPr>
          <a:xfrm>
            <a:off x="6994392" y="1556089"/>
            <a:ext cx="4934954" cy="2954338"/>
          </a:xfrm>
        </p:spPr>
        <p:txBody>
          <a:bodyPr>
            <a:normAutofit/>
          </a:bodyPr>
          <a:lstStyle/>
          <a:p>
            <a:pPr marL="0" indent="0">
              <a:buNone/>
            </a:pPr>
            <a:r>
              <a:rPr lang="en-US" sz="2000" b="1" dirty="0"/>
              <a:t>Construct: objects / solve specific synchronization problems</a:t>
            </a:r>
          </a:p>
          <a:p>
            <a:r>
              <a:rPr lang="en-US" sz="2000" dirty="0"/>
              <a:t>2 thread CS, n-thread-CS</a:t>
            </a:r>
          </a:p>
          <a:p>
            <a:r>
              <a:rPr lang="en-US" sz="2000" dirty="0"/>
              <a:t>Producer-consumer (bounded buffer)</a:t>
            </a:r>
          </a:p>
          <a:p>
            <a:r>
              <a:rPr lang="en-US" sz="2000" dirty="0"/>
              <a:t>Dining philosophers </a:t>
            </a:r>
          </a:p>
          <a:p>
            <a:r>
              <a:rPr lang="en-US" sz="2000" dirty="0"/>
              <a:t>Transactions </a:t>
            </a:r>
          </a:p>
          <a:p>
            <a:r>
              <a:rPr lang="en-US" sz="2000" dirty="0"/>
              <a:t>… </a:t>
            </a:r>
          </a:p>
        </p:txBody>
      </p:sp>
      <p:sp>
        <p:nvSpPr>
          <p:cNvPr id="5" name="Slide Number Placeholder 4">
            <a:extLst>
              <a:ext uri="{FF2B5EF4-FFF2-40B4-BE49-F238E27FC236}">
                <a16:creationId xmlns:a16="http://schemas.microsoft.com/office/drawing/2014/main" id="{6CA8E366-FEC1-4271-8F57-03BD39FE8512}"/>
              </a:ext>
            </a:extLst>
          </p:cNvPr>
          <p:cNvSpPr>
            <a:spLocks noGrp="1"/>
          </p:cNvSpPr>
          <p:nvPr>
            <p:ph type="sldNum" sz="quarter" idx="12"/>
          </p:nvPr>
        </p:nvSpPr>
        <p:spPr/>
        <p:txBody>
          <a:bodyPr/>
          <a:lstStyle/>
          <a:p>
            <a:pPr>
              <a:defRPr/>
            </a:pPr>
            <a:fld id="{CC06C4E7-7DAB-41A8-AE4E-BFB36220FC56}" type="slidenum">
              <a:rPr lang="en-US" smtClean="0">
                <a:solidFill>
                  <a:prstClr val="black">
                    <a:tint val="75000"/>
                  </a:prstClr>
                </a:solidFill>
              </a:rPr>
              <a:pPr>
                <a:defRPr/>
              </a:pPr>
              <a:t>5</a:t>
            </a:fld>
            <a:endParaRPr lang="en-US">
              <a:solidFill>
                <a:prstClr val="black">
                  <a:tint val="75000"/>
                </a:prstClr>
              </a:solidFill>
            </a:endParaRPr>
          </a:p>
        </p:txBody>
      </p:sp>
      <p:pic>
        <p:nvPicPr>
          <p:cNvPr id="6" name="Picture 5">
            <a:extLst>
              <a:ext uri="{FF2B5EF4-FFF2-40B4-BE49-F238E27FC236}">
                <a16:creationId xmlns:a16="http://schemas.microsoft.com/office/drawing/2014/main" id="{3292C41A-A0D8-4C02-8C4E-1F4816D851F5}"/>
              </a:ext>
            </a:extLst>
          </p:cNvPr>
          <p:cNvPicPr>
            <a:picLocks noChangeAspect="1"/>
          </p:cNvPicPr>
          <p:nvPr/>
        </p:nvPicPr>
        <p:blipFill>
          <a:blip r:embed="rId3"/>
          <a:stretch>
            <a:fillRect/>
          </a:stretch>
        </p:blipFill>
        <p:spPr>
          <a:xfrm>
            <a:off x="3038544" y="2987248"/>
            <a:ext cx="1641230" cy="919089"/>
          </a:xfrm>
          <a:prstGeom prst="rect">
            <a:avLst/>
          </a:prstGeom>
        </p:spPr>
      </p:pic>
      <p:pic>
        <p:nvPicPr>
          <p:cNvPr id="7" name="Picture 6">
            <a:extLst>
              <a:ext uri="{FF2B5EF4-FFF2-40B4-BE49-F238E27FC236}">
                <a16:creationId xmlns:a16="http://schemas.microsoft.com/office/drawing/2014/main" id="{4931FCE1-D782-4DB3-BF30-A65ACB0503C2}"/>
              </a:ext>
            </a:extLst>
          </p:cNvPr>
          <p:cNvPicPr>
            <a:picLocks noChangeAspect="1"/>
          </p:cNvPicPr>
          <p:nvPr/>
        </p:nvPicPr>
        <p:blipFill>
          <a:blip r:embed="rId4"/>
          <a:stretch>
            <a:fillRect/>
          </a:stretch>
        </p:blipFill>
        <p:spPr>
          <a:xfrm>
            <a:off x="5112516" y="1767840"/>
            <a:ext cx="1674056" cy="902677"/>
          </a:xfrm>
          <a:prstGeom prst="rect">
            <a:avLst/>
          </a:prstGeom>
        </p:spPr>
      </p:pic>
      <p:cxnSp>
        <p:nvCxnSpPr>
          <p:cNvPr id="9" name="Straight Connector 8">
            <a:extLst>
              <a:ext uri="{FF2B5EF4-FFF2-40B4-BE49-F238E27FC236}">
                <a16:creationId xmlns:a16="http://schemas.microsoft.com/office/drawing/2014/main" id="{396FF62F-16BB-48D3-8ED8-D7919A870AF0}"/>
              </a:ext>
            </a:extLst>
          </p:cNvPr>
          <p:cNvCxnSpPr>
            <a:cxnSpLocks/>
          </p:cNvCxnSpPr>
          <p:nvPr/>
        </p:nvCxnSpPr>
        <p:spPr>
          <a:xfrm>
            <a:off x="4066979" y="1662545"/>
            <a:ext cx="1751930" cy="2396837"/>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Arrow: Striped Right 9">
            <a:extLst>
              <a:ext uri="{FF2B5EF4-FFF2-40B4-BE49-F238E27FC236}">
                <a16:creationId xmlns:a16="http://schemas.microsoft.com/office/drawing/2014/main" id="{F3717E90-A36A-4F56-A91C-8E2C5CED426C}"/>
              </a:ext>
            </a:extLst>
          </p:cNvPr>
          <p:cNvSpPr/>
          <p:nvPr/>
        </p:nvSpPr>
        <p:spPr>
          <a:xfrm rot="19494424">
            <a:off x="4538176" y="2636181"/>
            <a:ext cx="748764" cy="372713"/>
          </a:xfrm>
          <a:prstGeom prst="stripedRight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3" name="Title 1">
            <a:extLst>
              <a:ext uri="{FF2B5EF4-FFF2-40B4-BE49-F238E27FC236}">
                <a16:creationId xmlns:a16="http://schemas.microsoft.com/office/drawing/2014/main" id="{EAAE92A3-7491-1D4A-68C0-CAC2DD92AB2F}"/>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the Bounded buffer producer-consumer problem</a:t>
            </a:r>
            <a:endParaRPr lang="sv-SE" sz="3600" b="1" dirty="0">
              <a:solidFill>
                <a:schemeClr val="accent1">
                  <a:lumMod val="50000"/>
                </a:schemeClr>
              </a:solidFill>
            </a:endParaRPr>
          </a:p>
        </p:txBody>
      </p:sp>
      <p:sp>
        <p:nvSpPr>
          <p:cNvPr id="2" name="Date Placeholder 1">
            <a:extLst>
              <a:ext uri="{FF2B5EF4-FFF2-40B4-BE49-F238E27FC236}">
                <a16:creationId xmlns:a16="http://schemas.microsoft.com/office/drawing/2014/main" id="{44A9AABE-C72D-123A-1543-E3E82B43C4A5}"/>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71529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3338445" y="3941987"/>
            <a:ext cx="5034282" cy="430922"/>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a:lstStyle/>
          <a:p>
            <a:pPr algn="ctr">
              <a:spcBef>
                <a:spcPct val="20000"/>
              </a:spcBef>
              <a:buClr>
                <a:srgbClr val="FB5B5B"/>
              </a:buClr>
              <a:defRPr/>
            </a:pPr>
            <a:r>
              <a:rPr lang="en-US" kern="0" dirty="0">
                <a:solidFill>
                  <a:srgbClr val="FF0000"/>
                </a:solidFill>
              </a:rPr>
              <a:t>Solve this synch problem using semaphores</a:t>
            </a:r>
          </a:p>
          <a:p>
            <a:pPr algn="ctr">
              <a:spcBef>
                <a:spcPct val="20000"/>
              </a:spcBef>
              <a:buClr>
                <a:srgbClr val="FB5B5B"/>
              </a:buClr>
              <a:defRPr/>
            </a:pPr>
            <a:endParaRPr lang="en-US" kern="0" dirty="0">
              <a:solidFill>
                <a:srgbClr val="FF0000"/>
              </a:solidFill>
            </a:endParaRPr>
          </a:p>
        </p:txBody>
      </p:sp>
      <p:sp>
        <p:nvSpPr>
          <p:cNvPr id="2" name="Slide Number Placeholder 1"/>
          <p:cNvSpPr>
            <a:spLocks noGrp="1"/>
          </p:cNvSpPr>
          <p:nvPr>
            <p:ph type="sldNum" sz="quarter" idx="12"/>
          </p:nvPr>
        </p:nvSpPr>
        <p:spPr/>
        <p:txBody>
          <a:bodyPr/>
          <a:lstStyle/>
          <a:p>
            <a:pPr>
              <a:defRPr/>
            </a:pPr>
            <a:fld id="{3F19581E-C58F-4F83-8FA8-2E7A8A7C33AE}" type="slidenum">
              <a:rPr lang="en-US" smtClean="0">
                <a:solidFill>
                  <a:prstClr val="black">
                    <a:tint val="75000"/>
                  </a:prstClr>
                </a:solidFill>
              </a:rPr>
              <a:pPr>
                <a:defRPr/>
              </a:pPr>
              <a:t>6</a:t>
            </a:fld>
            <a:endParaRPr lang="en-US" dirty="0">
              <a:solidFill>
                <a:prstClr val="black">
                  <a:tint val="75000"/>
                </a:prstClr>
              </a:solidFill>
            </a:endParaRPr>
          </a:p>
        </p:txBody>
      </p:sp>
      <p:sp>
        <p:nvSpPr>
          <p:cNvPr id="6" name="Rectangle 5">
            <a:extLst>
              <a:ext uri="{FF2B5EF4-FFF2-40B4-BE49-F238E27FC236}">
                <a16:creationId xmlns:a16="http://schemas.microsoft.com/office/drawing/2014/main" id="{4FD3B21A-8286-4416-BBF4-2804177FAA7D}"/>
              </a:ext>
            </a:extLst>
          </p:cNvPr>
          <p:cNvSpPr/>
          <p:nvPr/>
        </p:nvSpPr>
        <p:spPr>
          <a:xfrm>
            <a:off x="3891234" y="2492150"/>
            <a:ext cx="3915783" cy="124519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8" name="Rectangle 7">
            <a:extLst>
              <a:ext uri="{FF2B5EF4-FFF2-40B4-BE49-F238E27FC236}">
                <a16:creationId xmlns:a16="http://schemas.microsoft.com/office/drawing/2014/main" id="{EC33D6F7-E55E-4337-AE89-4C228E288BEC}"/>
              </a:ext>
            </a:extLst>
          </p:cNvPr>
          <p:cNvSpPr/>
          <p:nvPr/>
        </p:nvSpPr>
        <p:spPr>
          <a:xfrm>
            <a:off x="1078124" y="2166130"/>
            <a:ext cx="2420856" cy="701731"/>
          </a:xfrm>
          <a:prstGeom prst="rect">
            <a:avLst/>
          </a:prstGeom>
        </p:spPr>
        <p:txBody>
          <a:bodyPr wrap="none">
            <a:spAutoFit/>
          </a:bodyPr>
          <a:lstStyle/>
          <a:p>
            <a:pPr>
              <a:spcBef>
                <a:spcPct val="20000"/>
              </a:spcBef>
              <a:buClr>
                <a:srgbClr val="FB5B5B"/>
              </a:buClr>
              <a:defRPr/>
            </a:pPr>
            <a:r>
              <a:rPr lang="en-US" b="1" kern="0" dirty="0">
                <a:solidFill>
                  <a:prstClr val="black"/>
                </a:solidFill>
              </a:rPr>
              <a:t>Producer </a:t>
            </a:r>
            <a:r>
              <a:rPr lang="en-US" kern="0" dirty="0">
                <a:solidFill>
                  <a:prstClr val="black"/>
                </a:solidFill>
              </a:rPr>
              <a:t>inserts items; </a:t>
            </a:r>
          </a:p>
          <a:p>
            <a:pPr>
              <a:spcBef>
                <a:spcPct val="20000"/>
              </a:spcBef>
              <a:buClr>
                <a:srgbClr val="FB5B5B"/>
              </a:buClr>
              <a:defRPr/>
            </a:pPr>
            <a:r>
              <a:rPr lang="en-US" kern="0" dirty="0">
                <a:solidFill>
                  <a:prstClr val="black"/>
                </a:solidFill>
              </a:rPr>
              <a:t>must wait if buffer full</a:t>
            </a:r>
          </a:p>
        </p:txBody>
      </p:sp>
      <p:sp>
        <p:nvSpPr>
          <p:cNvPr id="12" name="Rectangle 11">
            <a:extLst>
              <a:ext uri="{FF2B5EF4-FFF2-40B4-BE49-F238E27FC236}">
                <a16:creationId xmlns:a16="http://schemas.microsoft.com/office/drawing/2014/main" id="{4F3216B9-5892-42EB-83B4-E32CC5A06E82}"/>
              </a:ext>
            </a:extLst>
          </p:cNvPr>
          <p:cNvSpPr/>
          <p:nvPr/>
        </p:nvSpPr>
        <p:spPr>
          <a:xfrm>
            <a:off x="8043653" y="2072587"/>
            <a:ext cx="2704587" cy="701731"/>
          </a:xfrm>
          <a:prstGeom prst="rect">
            <a:avLst/>
          </a:prstGeom>
        </p:spPr>
        <p:txBody>
          <a:bodyPr wrap="none">
            <a:spAutoFit/>
          </a:bodyPr>
          <a:lstStyle/>
          <a:p>
            <a:pPr>
              <a:spcBef>
                <a:spcPct val="20000"/>
              </a:spcBef>
              <a:buClr>
                <a:srgbClr val="FB5B5B"/>
              </a:buClr>
              <a:defRPr/>
            </a:pPr>
            <a:r>
              <a:rPr lang="en-US" b="1" kern="0" dirty="0">
                <a:solidFill>
                  <a:prstClr val="black"/>
                </a:solidFill>
              </a:rPr>
              <a:t>Consumer</a:t>
            </a:r>
            <a:r>
              <a:rPr lang="en-US" kern="0" dirty="0">
                <a:solidFill>
                  <a:prstClr val="black"/>
                </a:solidFill>
              </a:rPr>
              <a:t> removes items; </a:t>
            </a:r>
          </a:p>
          <a:p>
            <a:pPr>
              <a:spcBef>
                <a:spcPct val="20000"/>
              </a:spcBef>
              <a:buClr>
                <a:srgbClr val="FB5B5B"/>
              </a:buClr>
              <a:defRPr/>
            </a:pPr>
            <a:r>
              <a:rPr lang="en-US" kern="0" dirty="0">
                <a:solidFill>
                  <a:prstClr val="black"/>
                </a:solidFill>
              </a:rPr>
              <a:t>must wait if buffer empty</a:t>
            </a:r>
          </a:p>
        </p:txBody>
      </p:sp>
      <p:sp>
        <p:nvSpPr>
          <p:cNvPr id="13" name="Rectangle 12">
            <a:extLst>
              <a:ext uri="{FF2B5EF4-FFF2-40B4-BE49-F238E27FC236}">
                <a16:creationId xmlns:a16="http://schemas.microsoft.com/office/drawing/2014/main" id="{F4DBF325-DF9F-4970-8E79-4B38CA526FB9}"/>
              </a:ext>
            </a:extLst>
          </p:cNvPr>
          <p:cNvSpPr/>
          <p:nvPr/>
        </p:nvSpPr>
        <p:spPr>
          <a:xfrm>
            <a:off x="3801571" y="1641179"/>
            <a:ext cx="4095108" cy="646331"/>
          </a:xfrm>
          <a:prstGeom prst="rect">
            <a:avLst/>
          </a:prstGeom>
        </p:spPr>
        <p:txBody>
          <a:bodyPr wrap="square">
            <a:spAutoFit/>
          </a:bodyPr>
          <a:lstStyle/>
          <a:p>
            <a:pPr algn="ctr">
              <a:spcBef>
                <a:spcPct val="20000"/>
              </a:spcBef>
              <a:buClr>
                <a:srgbClr val="FB5B5B"/>
              </a:buClr>
              <a:defRPr/>
            </a:pPr>
            <a:r>
              <a:rPr lang="en-US" kern="0" dirty="0">
                <a:solidFill>
                  <a:prstClr val="black"/>
                </a:solidFill>
              </a:rPr>
              <a:t>Buffer with</a:t>
            </a:r>
            <a:r>
              <a:rPr lang="en-US" b="1" kern="0" dirty="0">
                <a:solidFill>
                  <a:prstClr val="black"/>
                </a:solidFill>
              </a:rPr>
              <a:t> space for N </a:t>
            </a:r>
            <a:r>
              <a:rPr lang="en-US" kern="0" dirty="0">
                <a:solidFill>
                  <a:prstClr val="black"/>
                </a:solidFill>
              </a:rPr>
              <a:t> items; accessing common entries is a </a:t>
            </a:r>
            <a:r>
              <a:rPr lang="en-US" b="1" kern="0" dirty="0">
                <a:solidFill>
                  <a:prstClr val="black"/>
                </a:solidFill>
              </a:rPr>
              <a:t>critical section</a:t>
            </a:r>
          </a:p>
        </p:txBody>
      </p:sp>
      <p:sp>
        <p:nvSpPr>
          <p:cNvPr id="41" name="Arrow: Striped Right 40">
            <a:extLst>
              <a:ext uri="{FF2B5EF4-FFF2-40B4-BE49-F238E27FC236}">
                <a16:creationId xmlns:a16="http://schemas.microsoft.com/office/drawing/2014/main" id="{2B0ADC4B-F7AC-4B2A-91F3-75B5F4CA7FAF}"/>
              </a:ext>
            </a:extLst>
          </p:cNvPr>
          <p:cNvSpPr/>
          <p:nvPr/>
        </p:nvSpPr>
        <p:spPr>
          <a:xfrm>
            <a:off x="2905834" y="3233690"/>
            <a:ext cx="748764" cy="45719"/>
          </a:xfrm>
          <a:prstGeom prst="stripedRight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9" name="Arrow: Striped Right 48">
            <a:extLst>
              <a:ext uri="{FF2B5EF4-FFF2-40B4-BE49-F238E27FC236}">
                <a16:creationId xmlns:a16="http://schemas.microsoft.com/office/drawing/2014/main" id="{764E571D-F8C9-4E72-A310-832A34697CF6}"/>
              </a:ext>
            </a:extLst>
          </p:cNvPr>
          <p:cNvSpPr/>
          <p:nvPr/>
        </p:nvSpPr>
        <p:spPr>
          <a:xfrm>
            <a:off x="7987450" y="3163375"/>
            <a:ext cx="748764" cy="45719"/>
          </a:xfrm>
          <a:prstGeom prst="stripedRight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Oval 2">
            <a:extLst>
              <a:ext uri="{FF2B5EF4-FFF2-40B4-BE49-F238E27FC236}">
                <a16:creationId xmlns:a16="http://schemas.microsoft.com/office/drawing/2014/main" id="{271EE7A7-5561-9DBF-4C9B-9F5899656F89}"/>
              </a:ext>
            </a:extLst>
          </p:cNvPr>
          <p:cNvSpPr/>
          <p:nvPr/>
        </p:nvSpPr>
        <p:spPr>
          <a:xfrm>
            <a:off x="2075667" y="2996209"/>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P</a:t>
            </a:r>
          </a:p>
        </p:txBody>
      </p:sp>
      <p:sp>
        <p:nvSpPr>
          <p:cNvPr id="4" name="Oval 3">
            <a:extLst>
              <a:ext uri="{FF2B5EF4-FFF2-40B4-BE49-F238E27FC236}">
                <a16:creationId xmlns:a16="http://schemas.microsoft.com/office/drawing/2014/main" id="{A1FE3EAF-2C54-3224-2B6F-690DFA69531B}"/>
              </a:ext>
            </a:extLst>
          </p:cNvPr>
          <p:cNvSpPr/>
          <p:nvPr/>
        </p:nvSpPr>
        <p:spPr>
          <a:xfrm>
            <a:off x="9075183" y="3012027"/>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C</a:t>
            </a:r>
          </a:p>
        </p:txBody>
      </p:sp>
      <p:sp>
        <p:nvSpPr>
          <p:cNvPr id="10" name="Title 1">
            <a:extLst>
              <a:ext uri="{FF2B5EF4-FFF2-40B4-BE49-F238E27FC236}">
                <a16:creationId xmlns:a16="http://schemas.microsoft.com/office/drawing/2014/main" id="{9999E0AF-0BB4-9BFD-0DE0-92137B4256BF}"/>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the Bounded buffer producer-consumer problem</a:t>
            </a:r>
            <a:endParaRPr lang="sv-SE" sz="3600" b="1" dirty="0">
              <a:solidFill>
                <a:schemeClr val="accent1">
                  <a:lumMod val="50000"/>
                </a:schemeClr>
              </a:solidFill>
            </a:endParaRPr>
          </a:p>
        </p:txBody>
      </p:sp>
      <p:grpSp>
        <p:nvGrpSpPr>
          <p:cNvPr id="53" name="Group 52">
            <a:extLst>
              <a:ext uri="{FF2B5EF4-FFF2-40B4-BE49-F238E27FC236}">
                <a16:creationId xmlns:a16="http://schemas.microsoft.com/office/drawing/2014/main" id="{DD6951AF-1F51-AB55-FDD5-D5A1AC9A262E}"/>
              </a:ext>
            </a:extLst>
          </p:cNvPr>
          <p:cNvGrpSpPr/>
          <p:nvPr/>
        </p:nvGrpSpPr>
        <p:grpSpPr>
          <a:xfrm>
            <a:off x="4506732" y="2815919"/>
            <a:ext cx="2684785" cy="621878"/>
            <a:chOff x="4223351" y="4534454"/>
            <a:chExt cx="2684785" cy="621878"/>
          </a:xfrm>
        </p:grpSpPr>
        <p:sp>
          <p:nvSpPr>
            <p:cNvPr id="38" name="TextBox 37">
              <a:extLst>
                <a:ext uri="{FF2B5EF4-FFF2-40B4-BE49-F238E27FC236}">
                  <a16:creationId xmlns:a16="http://schemas.microsoft.com/office/drawing/2014/main" id="{5F12831C-1DCD-4038-8AF0-489C78273318}"/>
                </a:ext>
              </a:extLst>
            </p:cNvPr>
            <p:cNvSpPr txBox="1"/>
            <p:nvPr/>
          </p:nvSpPr>
          <p:spPr>
            <a:xfrm>
              <a:off x="4256781" y="4534454"/>
              <a:ext cx="2630848" cy="369332"/>
            </a:xfrm>
            <a:prstGeom prst="rect">
              <a:avLst/>
            </a:prstGeom>
            <a:noFill/>
          </p:spPr>
          <p:txBody>
            <a:bodyPr wrap="none" rtlCol="0">
              <a:spAutoFit/>
            </a:bodyPr>
            <a:lstStyle/>
            <a:p>
              <a:r>
                <a:rPr lang="sv-SE" dirty="0"/>
                <a:t>1    2                …                N</a:t>
              </a:r>
            </a:p>
          </p:txBody>
        </p:sp>
        <p:grpSp>
          <p:nvGrpSpPr>
            <p:cNvPr id="52" name="Group 51">
              <a:extLst>
                <a:ext uri="{FF2B5EF4-FFF2-40B4-BE49-F238E27FC236}">
                  <a16:creationId xmlns:a16="http://schemas.microsoft.com/office/drawing/2014/main" id="{7D13E904-681D-2648-2298-C2D3BED2828B}"/>
                </a:ext>
              </a:extLst>
            </p:cNvPr>
            <p:cNvGrpSpPr/>
            <p:nvPr/>
          </p:nvGrpSpPr>
          <p:grpSpPr>
            <a:xfrm>
              <a:off x="4223351" y="4818802"/>
              <a:ext cx="2684785" cy="337530"/>
              <a:chOff x="4223351" y="4818802"/>
              <a:chExt cx="2684785" cy="337530"/>
            </a:xfrm>
          </p:grpSpPr>
          <p:sp>
            <p:nvSpPr>
              <p:cNvPr id="11" name="Rectangle 10">
                <a:extLst>
                  <a:ext uri="{FF2B5EF4-FFF2-40B4-BE49-F238E27FC236}">
                    <a16:creationId xmlns:a16="http://schemas.microsoft.com/office/drawing/2014/main" id="{C789CFCB-5E33-CE80-CC82-AA53830DBDFB}"/>
                  </a:ext>
                </a:extLst>
              </p:cNvPr>
              <p:cNvSpPr/>
              <p:nvPr/>
            </p:nvSpPr>
            <p:spPr>
              <a:xfrm>
                <a:off x="4223351" y="4818802"/>
                <a:ext cx="337530" cy="3375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25" name="Rectangle 24">
                <a:extLst>
                  <a:ext uri="{FF2B5EF4-FFF2-40B4-BE49-F238E27FC236}">
                    <a16:creationId xmlns:a16="http://schemas.microsoft.com/office/drawing/2014/main" id="{8F9A736B-C811-470F-3F90-AF55B4EE8B18}"/>
                  </a:ext>
                </a:extLst>
              </p:cNvPr>
              <p:cNvSpPr/>
              <p:nvPr/>
            </p:nvSpPr>
            <p:spPr>
              <a:xfrm>
                <a:off x="4558673" y="4818802"/>
                <a:ext cx="337530" cy="3375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a:t>
                </a:r>
              </a:p>
            </p:txBody>
          </p:sp>
          <p:sp>
            <p:nvSpPr>
              <p:cNvPr id="28" name="Rectangle 27">
                <a:extLst>
                  <a:ext uri="{FF2B5EF4-FFF2-40B4-BE49-F238E27FC236}">
                    <a16:creationId xmlns:a16="http://schemas.microsoft.com/office/drawing/2014/main" id="{FCFD8A47-21FF-F64D-E747-3308E9584C09}"/>
                  </a:ext>
                </a:extLst>
              </p:cNvPr>
              <p:cNvSpPr/>
              <p:nvPr/>
            </p:nvSpPr>
            <p:spPr>
              <a:xfrm>
                <a:off x="4893995" y="4818802"/>
                <a:ext cx="337530" cy="3375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Rectangle 35">
                <a:extLst>
                  <a:ext uri="{FF2B5EF4-FFF2-40B4-BE49-F238E27FC236}">
                    <a16:creationId xmlns:a16="http://schemas.microsoft.com/office/drawing/2014/main" id="{2417D1FE-2435-2AB7-6DDF-5B06FBBA0264}"/>
                  </a:ext>
                </a:extLst>
              </p:cNvPr>
              <p:cNvSpPr/>
              <p:nvPr/>
            </p:nvSpPr>
            <p:spPr>
              <a:xfrm>
                <a:off x="5229317" y="4818802"/>
                <a:ext cx="337530" cy="3375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a:t>
                </a:r>
              </a:p>
            </p:txBody>
          </p:sp>
          <p:sp>
            <p:nvSpPr>
              <p:cNvPr id="39" name="Rectangle 38">
                <a:extLst>
                  <a:ext uri="{FF2B5EF4-FFF2-40B4-BE49-F238E27FC236}">
                    <a16:creationId xmlns:a16="http://schemas.microsoft.com/office/drawing/2014/main" id="{08D6FFCD-75F4-447C-2BD2-B14A562F5C72}"/>
                  </a:ext>
                </a:extLst>
              </p:cNvPr>
              <p:cNvSpPr/>
              <p:nvPr/>
            </p:nvSpPr>
            <p:spPr>
              <a:xfrm>
                <a:off x="5564639" y="4818802"/>
                <a:ext cx="337530" cy="3375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752B5EEC-0083-3C66-CEBF-6B8E239E2555}"/>
                  </a:ext>
                </a:extLst>
              </p:cNvPr>
              <p:cNvSpPr/>
              <p:nvPr/>
            </p:nvSpPr>
            <p:spPr>
              <a:xfrm>
                <a:off x="5899961" y="4818802"/>
                <a:ext cx="337530" cy="3375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C41F8C0A-0865-A027-3D18-666DCA246142}"/>
                  </a:ext>
                </a:extLst>
              </p:cNvPr>
              <p:cNvSpPr/>
              <p:nvPr/>
            </p:nvSpPr>
            <p:spPr>
              <a:xfrm>
                <a:off x="6235283" y="4818802"/>
                <a:ext cx="337530" cy="3375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10249806-8DB3-96BC-53A8-86437B821280}"/>
                  </a:ext>
                </a:extLst>
              </p:cNvPr>
              <p:cNvSpPr/>
              <p:nvPr/>
            </p:nvSpPr>
            <p:spPr>
              <a:xfrm>
                <a:off x="6570606" y="4818802"/>
                <a:ext cx="337530" cy="3375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grpSp>
      </p:grpSp>
      <p:sp>
        <p:nvSpPr>
          <p:cNvPr id="7" name="Date Placeholder 6">
            <a:extLst>
              <a:ext uri="{FF2B5EF4-FFF2-40B4-BE49-F238E27FC236}">
                <a16:creationId xmlns:a16="http://schemas.microsoft.com/office/drawing/2014/main" id="{EAAB3A2B-50DC-CD5D-1D48-14498CD28355}"/>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855230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412230" y="1194097"/>
            <a:ext cx="5429672" cy="1154783"/>
          </a:xfrm>
          <a:prstGeom prst="rect">
            <a:avLst/>
          </a:prstGeom>
          <a:noFill/>
          <a:ln>
            <a:headEnd/>
            <a:tailEnd/>
          </a:ln>
          <a:effectLst/>
        </p:spPr>
        <p:style>
          <a:lnRef idx="1">
            <a:schemeClr val="dk1"/>
          </a:lnRef>
          <a:fillRef idx="2">
            <a:schemeClr val="dk1"/>
          </a:fillRef>
          <a:effectRef idx="1">
            <a:schemeClr val="dk1"/>
          </a:effectRef>
          <a:fontRef idx="minor">
            <a:schemeClr val="dk1"/>
          </a:fontRef>
        </p:style>
        <p:txBody>
          <a:bodyPr/>
          <a:lstStyle/>
          <a:p>
            <a:pPr marL="285750" indent="-285750">
              <a:spcBef>
                <a:spcPct val="20000"/>
              </a:spcBef>
              <a:buClr>
                <a:schemeClr val="tx1"/>
              </a:buClr>
              <a:buFontTx/>
              <a:buChar char="-"/>
              <a:defRPr/>
            </a:pPr>
            <a:r>
              <a:rPr lang="en-US" b="1" kern="0" dirty="0">
                <a:solidFill>
                  <a:prstClr val="black"/>
                </a:solidFill>
              </a:rPr>
              <a:t>Producer </a:t>
            </a:r>
            <a:r>
              <a:rPr lang="en-US" kern="0" dirty="0">
                <a:solidFill>
                  <a:prstClr val="black"/>
                </a:solidFill>
              </a:rPr>
              <a:t>inserts items; must wait if buffer full</a:t>
            </a:r>
          </a:p>
          <a:p>
            <a:pPr marL="285750" indent="-285750">
              <a:spcBef>
                <a:spcPct val="20000"/>
              </a:spcBef>
              <a:buClr>
                <a:schemeClr val="tx1"/>
              </a:buClr>
              <a:buFontTx/>
              <a:buChar char="-"/>
              <a:defRPr/>
            </a:pPr>
            <a:r>
              <a:rPr lang="en-US" b="1" kern="0" dirty="0">
                <a:solidFill>
                  <a:prstClr val="black"/>
                </a:solidFill>
              </a:rPr>
              <a:t>Consumer</a:t>
            </a:r>
            <a:r>
              <a:rPr lang="en-US" kern="0" dirty="0">
                <a:solidFill>
                  <a:prstClr val="black"/>
                </a:solidFill>
              </a:rPr>
              <a:t> removes items; must wait if buffer empty</a:t>
            </a:r>
          </a:p>
          <a:p>
            <a:pPr marL="285750" indent="-285750">
              <a:spcBef>
                <a:spcPct val="20000"/>
              </a:spcBef>
              <a:buClr>
                <a:schemeClr val="tx1"/>
              </a:buClr>
              <a:buFontTx/>
              <a:buChar char="-"/>
              <a:defRPr/>
            </a:pPr>
            <a:r>
              <a:rPr lang="en-US" kern="0" dirty="0">
                <a:solidFill>
                  <a:prstClr val="black"/>
                </a:solidFill>
              </a:rPr>
              <a:t>Accessing the buffer is a </a:t>
            </a:r>
            <a:r>
              <a:rPr lang="en-US" b="1" kern="0" dirty="0">
                <a:solidFill>
                  <a:prstClr val="black"/>
                </a:solidFill>
              </a:rPr>
              <a:t>critical section</a:t>
            </a:r>
            <a:endParaRPr lang="en-US" kern="0" dirty="0">
              <a:solidFill>
                <a:prstClr val="black"/>
              </a:solidFill>
            </a:endParaRPr>
          </a:p>
        </p:txBody>
      </p:sp>
      <p:sp>
        <p:nvSpPr>
          <p:cNvPr id="2" name="Slide Number Placeholder 1"/>
          <p:cNvSpPr>
            <a:spLocks noGrp="1"/>
          </p:cNvSpPr>
          <p:nvPr>
            <p:ph type="sldNum" sz="quarter" idx="12"/>
          </p:nvPr>
        </p:nvSpPr>
        <p:spPr/>
        <p:txBody>
          <a:bodyPr/>
          <a:lstStyle/>
          <a:p>
            <a:pPr>
              <a:defRPr/>
            </a:pPr>
            <a:fld id="{3F19581E-C58F-4F83-8FA8-2E7A8A7C33AE}" type="slidenum">
              <a:rPr lang="en-US" smtClean="0">
                <a:solidFill>
                  <a:prstClr val="black">
                    <a:tint val="75000"/>
                  </a:prstClr>
                </a:solidFill>
              </a:rPr>
              <a:pPr>
                <a:defRPr/>
              </a:pPr>
              <a:t>7</a:t>
            </a:fld>
            <a:endParaRPr lang="en-US" dirty="0">
              <a:solidFill>
                <a:prstClr val="black">
                  <a:tint val="75000"/>
                </a:prstClr>
              </a:solidFill>
            </a:endParaRPr>
          </a:p>
        </p:txBody>
      </p:sp>
      <p:grpSp>
        <p:nvGrpSpPr>
          <p:cNvPr id="23" name="Group 22">
            <a:extLst>
              <a:ext uri="{FF2B5EF4-FFF2-40B4-BE49-F238E27FC236}">
                <a16:creationId xmlns:a16="http://schemas.microsoft.com/office/drawing/2014/main" id="{02715B9A-7850-8B2D-3E77-5D738B61545F}"/>
              </a:ext>
            </a:extLst>
          </p:cNvPr>
          <p:cNvGrpSpPr/>
          <p:nvPr/>
        </p:nvGrpSpPr>
        <p:grpSpPr>
          <a:xfrm>
            <a:off x="6917991" y="596265"/>
            <a:ext cx="4218095" cy="4501400"/>
            <a:chOff x="6836348" y="906507"/>
            <a:chExt cx="3552359" cy="379095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6348" y="906507"/>
              <a:ext cx="3514725" cy="3790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7700443" y="1501945"/>
              <a:ext cx="216024" cy="14401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9" name="Rectangle 8"/>
            <p:cNvSpPr/>
            <p:nvPr/>
          </p:nvSpPr>
          <p:spPr>
            <a:xfrm>
              <a:off x="9500643" y="1484784"/>
              <a:ext cx="216024" cy="14401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10" name="Rectangle 9"/>
            <p:cNvSpPr/>
            <p:nvPr/>
          </p:nvSpPr>
          <p:spPr>
            <a:xfrm>
              <a:off x="7699267" y="1321023"/>
              <a:ext cx="888064" cy="307777"/>
            </a:xfrm>
            <a:prstGeom prst="rect">
              <a:avLst/>
            </a:prstGeom>
            <a:solidFill>
              <a:schemeClr val="bg1"/>
            </a:solidFill>
          </p:spPr>
          <p:txBody>
            <a:bodyPr wrap="none" lIns="0" tIns="0" rIns="0" bIns="0">
              <a:spAutoFit/>
            </a:bodyPr>
            <a:lstStyle/>
            <a:p>
              <a:pPr>
                <a:buFont typeface="Monotype Sorts"/>
                <a:buNone/>
              </a:pPr>
              <a:r>
                <a:rPr lang="en-US" sz="1000" b="1" dirty="0">
                  <a:solidFill>
                    <a:srgbClr val="C00000"/>
                  </a:solidFill>
                </a:rPr>
                <a:t>Wait until buffer</a:t>
              </a:r>
            </a:p>
            <a:p>
              <a:pPr>
                <a:buFont typeface="Monotype Sorts"/>
                <a:buNone/>
              </a:pPr>
              <a:r>
                <a:rPr lang="en-US" sz="1000" b="1" dirty="0">
                  <a:solidFill>
                    <a:srgbClr val="C00000"/>
                  </a:solidFill>
                </a:rPr>
                <a:t> has space;</a:t>
              </a:r>
            </a:p>
          </p:txBody>
        </p:sp>
        <p:sp>
          <p:nvSpPr>
            <p:cNvPr id="11" name="Rectangle 10"/>
            <p:cNvSpPr/>
            <p:nvPr/>
          </p:nvSpPr>
          <p:spPr>
            <a:xfrm>
              <a:off x="9500643" y="1321023"/>
              <a:ext cx="888064" cy="307777"/>
            </a:xfrm>
            <a:prstGeom prst="rect">
              <a:avLst/>
            </a:prstGeom>
            <a:solidFill>
              <a:schemeClr val="bg1"/>
            </a:solidFill>
          </p:spPr>
          <p:txBody>
            <a:bodyPr wrap="none" lIns="0" tIns="0" rIns="0" bIns="0">
              <a:spAutoFit/>
            </a:bodyPr>
            <a:lstStyle/>
            <a:p>
              <a:pPr>
                <a:buFont typeface="Monotype Sorts"/>
                <a:buNone/>
              </a:pPr>
              <a:r>
                <a:rPr lang="en-US" sz="1000" b="1" dirty="0">
                  <a:solidFill>
                    <a:srgbClr val="C00000"/>
                  </a:solidFill>
                </a:rPr>
                <a:t>Wait until buffer</a:t>
              </a:r>
            </a:p>
            <a:p>
              <a:pPr>
                <a:buFont typeface="Monotype Sorts"/>
                <a:buNone/>
              </a:pPr>
              <a:r>
                <a:rPr lang="en-US" sz="1000" b="1" dirty="0">
                  <a:solidFill>
                    <a:srgbClr val="C00000"/>
                  </a:solidFill>
                </a:rPr>
                <a:t> has items;</a:t>
              </a:r>
            </a:p>
          </p:txBody>
        </p:sp>
        <p:cxnSp>
          <p:nvCxnSpPr>
            <p:cNvPr id="7" name="Straight Arrow Connector 6">
              <a:extLst>
                <a:ext uri="{FF2B5EF4-FFF2-40B4-BE49-F238E27FC236}">
                  <a16:creationId xmlns:a16="http://schemas.microsoft.com/office/drawing/2014/main" id="{3BA46D71-AD49-4973-859A-512747448EBF}"/>
                </a:ext>
              </a:extLst>
            </p:cNvPr>
            <p:cNvCxnSpPr>
              <a:cxnSpLocks/>
            </p:cNvCxnSpPr>
            <p:nvPr/>
          </p:nvCxnSpPr>
          <p:spPr>
            <a:xfrm flipH="1" flipV="1">
              <a:off x="7699267" y="2358540"/>
              <a:ext cx="1545317" cy="1199445"/>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807FA00-0B40-450A-895F-B4A2E86EB5A1}"/>
                </a:ext>
              </a:extLst>
            </p:cNvPr>
            <p:cNvCxnSpPr>
              <a:cxnSpLocks/>
            </p:cNvCxnSpPr>
            <p:nvPr/>
          </p:nvCxnSpPr>
          <p:spPr>
            <a:xfrm flipV="1">
              <a:off x="7699267" y="2375701"/>
              <a:ext cx="1545317" cy="1182284"/>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503D240A-F183-452C-A164-DF7DC50635BE}"/>
                </a:ext>
              </a:extLst>
            </p:cNvPr>
            <p:cNvSpPr/>
            <p:nvPr/>
          </p:nvSpPr>
          <p:spPr>
            <a:xfrm>
              <a:off x="7682332" y="3750440"/>
              <a:ext cx="760144" cy="307777"/>
            </a:xfrm>
            <a:prstGeom prst="rect">
              <a:avLst/>
            </a:prstGeom>
            <a:solidFill>
              <a:schemeClr val="bg1"/>
            </a:solidFill>
          </p:spPr>
          <p:txBody>
            <a:bodyPr wrap="square" lIns="0" tIns="0" rIns="0" bIns="0">
              <a:spAutoFit/>
            </a:bodyPr>
            <a:lstStyle/>
            <a:p>
              <a:pPr>
                <a:buFont typeface="Monotype Sorts"/>
                <a:buNone/>
              </a:pPr>
              <a:r>
                <a:rPr lang="en-US" sz="1000" b="1" dirty="0">
                  <a:solidFill>
                    <a:srgbClr val="00B050"/>
                  </a:solidFill>
                </a:rPr>
                <a:t>buffer</a:t>
              </a:r>
            </a:p>
            <a:p>
              <a:pPr>
                <a:buFont typeface="Monotype Sorts"/>
                <a:buNone/>
              </a:pPr>
              <a:r>
                <a:rPr lang="en-US" sz="1000" b="1" dirty="0">
                  <a:solidFill>
                    <a:srgbClr val="00B050"/>
                  </a:solidFill>
                </a:rPr>
                <a:t> has items;</a:t>
              </a:r>
            </a:p>
          </p:txBody>
        </p:sp>
        <p:sp>
          <p:nvSpPr>
            <p:cNvPr id="21" name="Rectangle 20">
              <a:extLst>
                <a:ext uri="{FF2B5EF4-FFF2-40B4-BE49-F238E27FC236}">
                  <a16:creationId xmlns:a16="http://schemas.microsoft.com/office/drawing/2014/main" id="{5DF347D7-211D-4A9A-A74B-47F9FCE92050}"/>
                </a:ext>
              </a:extLst>
            </p:cNvPr>
            <p:cNvSpPr/>
            <p:nvPr/>
          </p:nvSpPr>
          <p:spPr>
            <a:xfrm>
              <a:off x="9482744" y="3750440"/>
              <a:ext cx="575479" cy="307777"/>
            </a:xfrm>
            <a:prstGeom prst="rect">
              <a:avLst/>
            </a:prstGeom>
            <a:solidFill>
              <a:schemeClr val="bg1"/>
            </a:solidFill>
          </p:spPr>
          <p:txBody>
            <a:bodyPr wrap="none" lIns="0" tIns="0" rIns="0" bIns="0">
              <a:spAutoFit/>
            </a:bodyPr>
            <a:lstStyle/>
            <a:p>
              <a:pPr>
                <a:buFont typeface="Monotype Sorts"/>
                <a:buNone/>
              </a:pPr>
              <a:r>
                <a:rPr lang="en-US" sz="1000" b="1" dirty="0">
                  <a:solidFill>
                    <a:srgbClr val="00B050"/>
                  </a:solidFill>
                </a:rPr>
                <a:t>buffer</a:t>
              </a:r>
            </a:p>
            <a:p>
              <a:pPr>
                <a:buFont typeface="Monotype Sorts"/>
                <a:buNone/>
              </a:pPr>
              <a:r>
                <a:rPr lang="en-US" sz="1000" b="1" dirty="0">
                  <a:solidFill>
                    <a:srgbClr val="00B050"/>
                  </a:solidFill>
                </a:rPr>
                <a:t> has space;</a:t>
              </a:r>
            </a:p>
          </p:txBody>
        </p:sp>
      </p:grpSp>
      <p:sp>
        <p:nvSpPr>
          <p:cNvPr id="12" name="Title 1">
            <a:extLst>
              <a:ext uri="{FF2B5EF4-FFF2-40B4-BE49-F238E27FC236}">
                <a16:creationId xmlns:a16="http://schemas.microsoft.com/office/drawing/2014/main" id="{438876BB-5123-B129-F579-E6F0ED480D00}"/>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What synchronization do we need?</a:t>
            </a:r>
            <a:endParaRPr lang="sv-SE" sz="3600" b="1" dirty="0">
              <a:solidFill>
                <a:schemeClr val="accent1">
                  <a:lumMod val="50000"/>
                </a:schemeClr>
              </a:solidFill>
            </a:endParaRPr>
          </a:p>
        </p:txBody>
      </p:sp>
      <p:sp>
        <p:nvSpPr>
          <p:cNvPr id="3" name="Date Placeholder 2">
            <a:extLst>
              <a:ext uri="{FF2B5EF4-FFF2-40B4-BE49-F238E27FC236}">
                <a16:creationId xmlns:a16="http://schemas.microsoft.com/office/drawing/2014/main" id="{91CB422F-DA8D-2FF1-2C6C-0718264A2A19}"/>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6051069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type="body" idx="1"/>
          </p:nvPr>
        </p:nvSpPr>
        <p:spPr>
          <a:xfrm>
            <a:off x="349926" y="2181703"/>
            <a:ext cx="3203848" cy="3672408"/>
          </a:xfrm>
          <a:noFill/>
          <a:ln/>
        </p:spPr>
        <p:style>
          <a:lnRef idx="1">
            <a:schemeClr val="dk1"/>
          </a:lnRef>
          <a:fillRef idx="2">
            <a:schemeClr val="dk1"/>
          </a:fillRef>
          <a:effectRef idx="1">
            <a:schemeClr val="dk1"/>
          </a:effectRef>
          <a:fontRef idx="minor">
            <a:schemeClr val="dk1"/>
          </a:fontRef>
        </p:style>
        <p:txBody>
          <a:bodyPr>
            <a:normAutofit/>
          </a:bodyPr>
          <a:lstStyle/>
          <a:p>
            <a:pPr>
              <a:lnSpc>
                <a:spcPct val="100000"/>
              </a:lnSpc>
              <a:buFontTx/>
              <a:buNone/>
            </a:pPr>
            <a:r>
              <a:rPr lang="en-US" sz="1600" dirty="0"/>
              <a:t>producer </a:t>
            </a:r>
          </a:p>
          <a:p>
            <a:pPr>
              <a:lnSpc>
                <a:spcPct val="100000"/>
              </a:lnSpc>
              <a:buFontTx/>
              <a:buNone/>
            </a:pPr>
            <a:r>
              <a:rPr lang="en-US" sz="1600" dirty="0"/>
              <a:t>do {</a:t>
            </a:r>
          </a:p>
          <a:p>
            <a:pPr>
              <a:lnSpc>
                <a:spcPct val="100000"/>
              </a:lnSpc>
              <a:buFontTx/>
              <a:buNone/>
            </a:pPr>
            <a:r>
              <a:rPr lang="en-US" sz="1600" dirty="0"/>
              <a:t>       // produce item </a:t>
            </a:r>
          </a:p>
          <a:p>
            <a:pPr>
              <a:lnSpc>
                <a:spcPct val="100000"/>
              </a:lnSpc>
              <a:buFontTx/>
              <a:buNone/>
            </a:pPr>
            <a:r>
              <a:rPr lang="en-US" sz="1600" dirty="0"/>
              <a:t>       </a:t>
            </a:r>
            <a:r>
              <a:rPr lang="en-US" sz="1600" dirty="0">
                <a:solidFill>
                  <a:schemeClr val="accent1"/>
                </a:solidFill>
              </a:rPr>
              <a:t>wait(buffer-has-space);</a:t>
            </a:r>
          </a:p>
          <a:p>
            <a:pPr>
              <a:lnSpc>
                <a:spcPct val="100000"/>
              </a:lnSpc>
              <a:buFontTx/>
              <a:buNone/>
            </a:pPr>
            <a:r>
              <a:rPr lang="en-US" sz="1600" dirty="0">
                <a:solidFill>
                  <a:schemeClr val="accent1"/>
                </a:solidFill>
              </a:rPr>
              <a:t>       wait(</a:t>
            </a:r>
            <a:r>
              <a:rPr lang="en-US" sz="1600" dirty="0" err="1">
                <a:solidFill>
                  <a:schemeClr val="accent1"/>
                </a:solidFill>
              </a:rPr>
              <a:t>mutex_sem</a:t>
            </a:r>
            <a:r>
              <a:rPr lang="en-US" sz="1600" dirty="0">
                <a:solidFill>
                  <a:schemeClr val="accent1"/>
                </a:solidFill>
              </a:rPr>
              <a:t>);</a:t>
            </a:r>
          </a:p>
          <a:p>
            <a:pPr>
              <a:lnSpc>
                <a:spcPct val="100000"/>
              </a:lnSpc>
              <a:buFontTx/>
              <a:buNone/>
            </a:pPr>
            <a:r>
              <a:rPr lang="en-US" sz="1600" dirty="0"/>
              <a:t>       // add item to  buffer</a:t>
            </a:r>
          </a:p>
          <a:p>
            <a:pPr>
              <a:lnSpc>
                <a:spcPct val="100000"/>
              </a:lnSpc>
              <a:buFontTx/>
              <a:buNone/>
            </a:pPr>
            <a:r>
              <a:rPr lang="en-US" sz="1600" dirty="0">
                <a:solidFill>
                  <a:schemeClr val="accent1"/>
                </a:solidFill>
              </a:rPr>
              <a:t>       signal(</a:t>
            </a:r>
            <a:r>
              <a:rPr lang="en-US" sz="1600" dirty="0" err="1">
                <a:solidFill>
                  <a:schemeClr val="accent1"/>
                </a:solidFill>
              </a:rPr>
              <a:t>mutex_sem</a:t>
            </a:r>
            <a:r>
              <a:rPr lang="en-US" sz="1600" dirty="0">
                <a:solidFill>
                  <a:schemeClr val="accent1"/>
                </a:solidFill>
              </a:rPr>
              <a:t>);</a:t>
            </a:r>
          </a:p>
          <a:p>
            <a:pPr>
              <a:lnSpc>
                <a:spcPct val="100000"/>
              </a:lnSpc>
              <a:buFontTx/>
              <a:buNone/>
            </a:pPr>
            <a:r>
              <a:rPr lang="en-US" sz="1600" dirty="0">
                <a:solidFill>
                  <a:schemeClr val="accent1"/>
                </a:solidFill>
              </a:rPr>
              <a:t>       signal(buffer-has-items);</a:t>
            </a:r>
          </a:p>
          <a:p>
            <a:pPr>
              <a:lnSpc>
                <a:spcPct val="100000"/>
              </a:lnSpc>
              <a:buFontTx/>
              <a:buNone/>
            </a:pPr>
            <a:r>
              <a:rPr lang="en-US" sz="1600" dirty="0"/>
              <a:t>} while (TRUE);</a:t>
            </a:r>
            <a:endParaRPr lang="en-US" sz="1600" dirty="0">
              <a:solidFill>
                <a:srgbClr val="0000FF"/>
              </a:solidFill>
            </a:endParaRPr>
          </a:p>
        </p:txBody>
      </p:sp>
      <p:sp>
        <p:nvSpPr>
          <p:cNvPr id="6" name="Rectangle 3"/>
          <p:cNvSpPr txBox="1">
            <a:spLocks noChangeArrowheads="1"/>
          </p:cNvSpPr>
          <p:nvPr/>
        </p:nvSpPr>
        <p:spPr bwMode="auto">
          <a:xfrm>
            <a:off x="354934" y="859510"/>
            <a:ext cx="5184576" cy="1213393"/>
          </a:xfrm>
          <a:prstGeom prst="rect">
            <a:avLst/>
          </a:prstGeom>
          <a:noFill/>
          <a:ln>
            <a:headEnd/>
            <a:tailEnd/>
          </a:ln>
        </p:spPr>
        <p:style>
          <a:lnRef idx="1">
            <a:schemeClr val="dk1"/>
          </a:lnRef>
          <a:fillRef idx="2">
            <a:schemeClr val="dk1"/>
          </a:fillRef>
          <a:effectRef idx="1">
            <a:schemeClr val="dk1"/>
          </a:effectRef>
          <a:fontRef idx="minor">
            <a:schemeClr val="dk1"/>
          </a:fontRef>
        </p:style>
        <p:txBody>
          <a:bodyPr/>
          <a:lstStyle/>
          <a:p>
            <a:pPr>
              <a:spcBef>
                <a:spcPct val="20000"/>
              </a:spcBef>
              <a:buClr>
                <a:srgbClr val="FB5B5B"/>
              </a:buClr>
              <a:defRPr/>
            </a:pPr>
            <a:r>
              <a:rPr lang="en-US" sz="1600" kern="0" dirty="0">
                <a:solidFill>
                  <a:prstClr val="black"/>
                </a:solidFill>
              </a:rPr>
              <a:t>Synchronization variables:</a:t>
            </a:r>
          </a:p>
          <a:p>
            <a:pPr marL="342900" indent="-342900">
              <a:spcBef>
                <a:spcPct val="20000"/>
              </a:spcBef>
              <a:buClr>
                <a:srgbClr val="FB5B5B"/>
              </a:buClr>
              <a:buFontTx/>
              <a:buChar char="•"/>
              <a:defRPr/>
            </a:pPr>
            <a:r>
              <a:rPr lang="en-US" sz="1600" kern="0" dirty="0">
                <a:solidFill>
                  <a:prstClr val="black"/>
                </a:solidFill>
              </a:rPr>
              <a:t>Binary semaphore </a:t>
            </a:r>
            <a:r>
              <a:rPr lang="en-US" sz="1600" kern="0" dirty="0" err="1">
                <a:solidFill>
                  <a:srgbClr val="FF0000"/>
                </a:solidFill>
              </a:rPr>
              <a:t>mutex_sem</a:t>
            </a:r>
            <a:r>
              <a:rPr lang="en-US" sz="1600" kern="0" dirty="0">
                <a:solidFill>
                  <a:prstClr val="black"/>
                </a:solidFill>
              </a:rPr>
              <a:t> initialized to 1</a:t>
            </a:r>
          </a:p>
          <a:p>
            <a:pPr marL="342900" indent="-342900">
              <a:spcBef>
                <a:spcPct val="20000"/>
              </a:spcBef>
              <a:buClr>
                <a:srgbClr val="FB5B5B"/>
              </a:buClr>
              <a:buFontTx/>
              <a:buChar char="•"/>
              <a:defRPr/>
            </a:pPr>
            <a:r>
              <a:rPr lang="en-US" sz="1600" kern="0" dirty="0">
                <a:solidFill>
                  <a:prstClr val="black"/>
                </a:solidFill>
              </a:rPr>
              <a:t>General semaphore </a:t>
            </a:r>
            <a:r>
              <a:rPr lang="en-US" sz="1600" kern="0" dirty="0">
                <a:solidFill>
                  <a:srgbClr val="FF0000"/>
                </a:solidFill>
              </a:rPr>
              <a:t>buffer-has-items </a:t>
            </a:r>
            <a:r>
              <a:rPr lang="en-US" sz="1600" kern="0" dirty="0">
                <a:solidFill>
                  <a:prstClr val="black"/>
                </a:solidFill>
              </a:rPr>
              <a:t>initialized to  0</a:t>
            </a:r>
          </a:p>
          <a:p>
            <a:pPr marL="342900" indent="-342900">
              <a:spcBef>
                <a:spcPct val="20000"/>
              </a:spcBef>
              <a:buClr>
                <a:srgbClr val="FB5B5B"/>
              </a:buClr>
              <a:buFontTx/>
              <a:buChar char="•"/>
              <a:defRPr/>
            </a:pPr>
            <a:r>
              <a:rPr lang="en-US" sz="1600" kern="0" dirty="0">
                <a:solidFill>
                  <a:prstClr val="black"/>
                </a:solidFill>
              </a:rPr>
              <a:t>General semaphore </a:t>
            </a:r>
            <a:r>
              <a:rPr lang="en-US" sz="1600" kern="0" dirty="0">
                <a:solidFill>
                  <a:srgbClr val="FF0000"/>
                </a:solidFill>
              </a:rPr>
              <a:t>buffer-has-space</a:t>
            </a:r>
            <a:r>
              <a:rPr lang="en-US" sz="1600" kern="0" dirty="0">
                <a:solidFill>
                  <a:prstClr val="black"/>
                </a:solidFill>
              </a:rPr>
              <a:t> initialized to N</a:t>
            </a:r>
          </a:p>
        </p:txBody>
      </p:sp>
      <p:sp>
        <p:nvSpPr>
          <p:cNvPr id="2" name="Slide Number Placeholder 1"/>
          <p:cNvSpPr>
            <a:spLocks noGrp="1"/>
          </p:cNvSpPr>
          <p:nvPr>
            <p:ph type="sldNum" sz="quarter" idx="12"/>
          </p:nvPr>
        </p:nvSpPr>
        <p:spPr/>
        <p:txBody>
          <a:bodyPr/>
          <a:lstStyle/>
          <a:p>
            <a:pPr>
              <a:defRPr/>
            </a:pPr>
            <a:fld id="{3F19581E-C58F-4F83-8FA8-2E7A8A7C33AE}" type="slidenum">
              <a:rPr lang="en-US" smtClean="0">
                <a:solidFill>
                  <a:prstClr val="black">
                    <a:tint val="75000"/>
                  </a:prstClr>
                </a:solidFill>
              </a:rPr>
              <a:pPr>
                <a:defRPr/>
              </a:pPr>
              <a:t>8</a:t>
            </a:fld>
            <a:endParaRPr lang="en-US">
              <a:solidFill>
                <a:prstClr val="black">
                  <a:tint val="75000"/>
                </a:prstClr>
              </a:solidFill>
            </a:endParaRPr>
          </a:p>
        </p:txBody>
      </p:sp>
      <p:cxnSp>
        <p:nvCxnSpPr>
          <p:cNvPr id="8" name="Straight Arrow Connector 7"/>
          <p:cNvCxnSpPr>
            <a:cxnSpLocks/>
          </p:cNvCxnSpPr>
          <p:nvPr/>
        </p:nvCxnSpPr>
        <p:spPr>
          <a:xfrm flipH="1" flipV="1">
            <a:off x="2745431" y="3437239"/>
            <a:ext cx="1092904" cy="1154712"/>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cxnSpLocks/>
          </p:cNvCxnSpPr>
          <p:nvPr/>
        </p:nvCxnSpPr>
        <p:spPr>
          <a:xfrm flipV="1">
            <a:off x="2947222" y="3132005"/>
            <a:ext cx="891113" cy="1821282"/>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D6F0ECDF-033A-F09A-CE5D-8E46E92D524A}"/>
              </a:ext>
            </a:extLst>
          </p:cNvPr>
          <p:cNvSpPr txBox="1">
            <a:spLocks/>
          </p:cNvSpPr>
          <p:nvPr/>
        </p:nvSpPr>
        <p:spPr>
          <a:xfrm>
            <a:off x="223735" y="116634"/>
            <a:ext cx="11427087"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a solution to the Bounded buffer producer-consumer problem</a:t>
            </a:r>
            <a:endParaRPr lang="sv-SE" sz="3600" b="1" dirty="0">
              <a:solidFill>
                <a:schemeClr val="accent1">
                  <a:lumMod val="50000"/>
                </a:schemeClr>
              </a:solidFill>
            </a:endParaRPr>
          </a:p>
        </p:txBody>
      </p:sp>
      <p:grpSp>
        <p:nvGrpSpPr>
          <p:cNvPr id="14" name="Group 13">
            <a:extLst>
              <a:ext uri="{FF2B5EF4-FFF2-40B4-BE49-F238E27FC236}">
                <a16:creationId xmlns:a16="http://schemas.microsoft.com/office/drawing/2014/main" id="{83308074-D761-A614-A5A7-778DFB98AFFF}"/>
              </a:ext>
            </a:extLst>
          </p:cNvPr>
          <p:cNvGrpSpPr/>
          <p:nvPr/>
        </p:nvGrpSpPr>
        <p:grpSpPr>
          <a:xfrm>
            <a:off x="6917991" y="596265"/>
            <a:ext cx="4218095" cy="4501400"/>
            <a:chOff x="6836348" y="906507"/>
            <a:chExt cx="3552359" cy="3790950"/>
          </a:xfrm>
        </p:grpSpPr>
        <p:pic>
          <p:nvPicPr>
            <p:cNvPr id="20" name="Picture 2">
              <a:extLst>
                <a:ext uri="{FF2B5EF4-FFF2-40B4-BE49-F238E27FC236}">
                  <a16:creationId xmlns:a16="http://schemas.microsoft.com/office/drawing/2014/main" id="{C0A8606E-3AAF-406E-A412-700F4723CD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6348" y="906507"/>
              <a:ext cx="3514725" cy="3790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2" name="Rectangle 21">
              <a:extLst>
                <a:ext uri="{FF2B5EF4-FFF2-40B4-BE49-F238E27FC236}">
                  <a16:creationId xmlns:a16="http://schemas.microsoft.com/office/drawing/2014/main" id="{34755146-6FE5-FA88-FE64-1CD79A8DABB6}"/>
                </a:ext>
              </a:extLst>
            </p:cNvPr>
            <p:cNvSpPr/>
            <p:nvPr/>
          </p:nvSpPr>
          <p:spPr>
            <a:xfrm>
              <a:off x="7700443" y="1501945"/>
              <a:ext cx="216024" cy="14401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23" name="Rectangle 22">
              <a:extLst>
                <a:ext uri="{FF2B5EF4-FFF2-40B4-BE49-F238E27FC236}">
                  <a16:creationId xmlns:a16="http://schemas.microsoft.com/office/drawing/2014/main" id="{1FB3747E-0184-7229-1396-642112A49708}"/>
                </a:ext>
              </a:extLst>
            </p:cNvPr>
            <p:cNvSpPr/>
            <p:nvPr/>
          </p:nvSpPr>
          <p:spPr>
            <a:xfrm>
              <a:off x="9500643" y="1484784"/>
              <a:ext cx="216024" cy="14401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26" name="Rectangle 25">
              <a:extLst>
                <a:ext uri="{FF2B5EF4-FFF2-40B4-BE49-F238E27FC236}">
                  <a16:creationId xmlns:a16="http://schemas.microsoft.com/office/drawing/2014/main" id="{3C87ADCC-52CD-4DFB-D213-30170D5CD508}"/>
                </a:ext>
              </a:extLst>
            </p:cNvPr>
            <p:cNvSpPr/>
            <p:nvPr/>
          </p:nvSpPr>
          <p:spPr>
            <a:xfrm>
              <a:off x="7699267" y="1321023"/>
              <a:ext cx="888064" cy="307777"/>
            </a:xfrm>
            <a:prstGeom prst="rect">
              <a:avLst/>
            </a:prstGeom>
            <a:solidFill>
              <a:schemeClr val="bg1"/>
            </a:solidFill>
          </p:spPr>
          <p:txBody>
            <a:bodyPr wrap="none" lIns="0" tIns="0" rIns="0" bIns="0">
              <a:spAutoFit/>
            </a:bodyPr>
            <a:lstStyle/>
            <a:p>
              <a:pPr>
                <a:buFont typeface="Monotype Sorts"/>
                <a:buNone/>
              </a:pPr>
              <a:r>
                <a:rPr lang="en-US" sz="1000" b="1" dirty="0">
                  <a:solidFill>
                    <a:srgbClr val="C00000"/>
                  </a:solidFill>
                </a:rPr>
                <a:t>Wait until buffer</a:t>
              </a:r>
            </a:p>
            <a:p>
              <a:pPr>
                <a:buFont typeface="Monotype Sorts"/>
                <a:buNone/>
              </a:pPr>
              <a:r>
                <a:rPr lang="en-US" sz="1000" b="1" dirty="0">
                  <a:solidFill>
                    <a:srgbClr val="C00000"/>
                  </a:solidFill>
                </a:rPr>
                <a:t> has space;</a:t>
              </a:r>
            </a:p>
          </p:txBody>
        </p:sp>
        <p:sp>
          <p:nvSpPr>
            <p:cNvPr id="27" name="Rectangle 26">
              <a:extLst>
                <a:ext uri="{FF2B5EF4-FFF2-40B4-BE49-F238E27FC236}">
                  <a16:creationId xmlns:a16="http://schemas.microsoft.com/office/drawing/2014/main" id="{EBB9C998-8AAD-754E-4D29-C22AE9DED5A1}"/>
                </a:ext>
              </a:extLst>
            </p:cNvPr>
            <p:cNvSpPr/>
            <p:nvPr/>
          </p:nvSpPr>
          <p:spPr>
            <a:xfrm>
              <a:off x="9500643" y="1321023"/>
              <a:ext cx="888064" cy="307777"/>
            </a:xfrm>
            <a:prstGeom prst="rect">
              <a:avLst/>
            </a:prstGeom>
            <a:solidFill>
              <a:schemeClr val="bg1"/>
            </a:solidFill>
          </p:spPr>
          <p:txBody>
            <a:bodyPr wrap="none" lIns="0" tIns="0" rIns="0" bIns="0">
              <a:spAutoFit/>
            </a:bodyPr>
            <a:lstStyle/>
            <a:p>
              <a:pPr>
                <a:buFont typeface="Monotype Sorts"/>
                <a:buNone/>
              </a:pPr>
              <a:r>
                <a:rPr lang="en-US" sz="1000" b="1" dirty="0">
                  <a:solidFill>
                    <a:srgbClr val="C00000"/>
                  </a:solidFill>
                </a:rPr>
                <a:t>Wait until buffer</a:t>
              </a:r>
            </a:p>
            <a:p>
              <a:pPr>
                <a:buFont typeface="Monotype Sorts"/>
                <a:buNone/>
              </a:pPr>
              <a:r>
                <a:rPr lang="en-US" sz="1000" b="1" dirty="0">
                  <a:solidFill>
                    <a:srgbClr val="C00000"/>
                  </a:solidFill>
                </a:rPr>
                <a:t> has items;</a:t>
              </a:r>
            </a:p>
          </p:txBody>
        </p:sp>
        <p:cxnSp>
          <p:nvCxnSpPr>
            <p:cNvPr id="28" name="Straight Arrow Connector 27">
              <a:extLst>
                <a:ext uri="{FF2B5EF4-FFF2-40B4-BE49-F238E27FC236}">
                  <a16:creationId xmlns:a16="http://schemas.microsoft.com/office/drawing/2014/main" id="{9052C87E-5BA2-88D8-0344-3444E7777C15}"/>
                </a:ext>
              </a:extLst>
            </p:cNvPr>
            <p:cNvCxnSpPr>
              <a:cxnSpLocks/>
            </p:cNvCxnSpPr>
            <p:nvPr/>
          </p:nvCxnSpPr>
          <p:spPr>
            <a:xfrm flipH="1" flipV="1">
              <a:off x="7699267" y="2358540"/>
              <a:ext cx="1545317" cy="1199445"/>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5DB52B42-F5E5-2260-3F3B-48D5A4E05574}"/>
                </a:ext>
              </a:extLst>
            </p:cNvPr>
            <p:cNvCxnSpPr>
              <a:cxnSpLocks/>
            </p:cNvCxnSpPr>
            <p:nvPr/>
          </p:nvCxnSpPr>
          <p:spPr>
            <a:xfrm flipV="1">
              <a:off x="7699267" y="2375701"/>
              <a:ext cx="1545317" cy="1182284"/>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5C3395C9-76B7-E8FB-3A6F-920366F90CAB}"/>
                </a:ext>
              </a:extLst>
            </p:cNvPr>
            <p:cNvSpPr/>
            <p:nvPr/>
          </p:nvSpPr>
          <p:spPr>
            <a:xfrm>
              <a:off x="7682332" y="3750440"/>
              <a:ext cx="760144" cy="307777"/>
            </a:xfrm>
            <a:prstGeom prst="rect">
              <a:avLst/>
            </a:prstGeom>
            <a:solidFill>
              <a:schemeClr val="bg1"/>
            </a:solidFill>
          </p:spPr>
          <p:txBody>
            <a:bodyPr wrap="square" lIns="0" tIns="0" rIns="0" bIns="0">
              <a:spAutoFit/>
            </a:bodyPr>
            <a:lstStyle/>
            <a:p>
              <a:pPr>
                <a:buFont typeface="Monotype Sorts"/>
                <a:buNone/>
              </a:pPr>
              <a:r>
                <a:rPr lang="en-US" sz="1000" b="1" dirty="0">
                  <a:solidFill>
                    <a:srgbClr val="00B050"/>
                  </a:solidFill>
                </a:rPr>
                <a:t>buffer</a:t>
              </a:r>
            </a:p>
            <a:p>
              <a:pPr>
                <a:buFont typeface="Monotype Sorts"/>
                <a:buNone/>
              </a:pPr>
              <a:r>
                <a:rPr lang="en-US" sz="1000" b="1" dirty="0">
                  <a:solidFill>
                    <a:srgbClr val="00B050"/>
                  </a:solidFill>
                </a:rPr>
                <a:t> has items;</a:t>
              </a:r>
            </a:p>
          </p:txBody>
        </p:sp>
        <p:sp>
          <p:nvSpPr>
            <p:cNvPr id="31" name="Rectangle 30">
              <a:extLst>
                <a:ext uri="{FF2B5EF4-FFF2-40B4-BE49-F238E27FC236}">
                  <a16:creationId xmlns:a16="http://schemas.microsoft.com/office/drawing/2014/main" id="{61F5C55D-E757-F7FB-54F2-BCA5D68E9CB8}"/>
                </a:ext>
              </a:extLst>
            </p:cNvPr>
            <p:cNvSpPr/>
            <p:nvPr/>
          </p:nvSpPr>
          <p:spPr>
            <a:xfrm>
              <a:off x="9482744" y="3750440"/>
              <a:ext cx="575479" cy="307777"/>
            </a:xfrm>
            <a:prstGeom prst="rect">
              <a:avLst/>
            </a:prstGeom>
            <a:solidFill>
              <a:schemeClr val="bg1"/>
            </a:solidFill>
          </p:spPr>
          <p:txBody>
            <a:bodyPr wrap="none" lIns="0" tIns="0" rIns="0" bIns="0">
              <a:spAutoFit/>
            </a:bodyPr>
            <a:lstStyle/>
            <a:p>
              <a:pPr>
                <a:buFont typeface="Monotype Sorts"/>
                <a:buNone/>
              </a:pPr>
              <a:r>
                <a:rPr lang="en-US" sz="1000" b="1" dirty="0">
                  <a:solidFill>
                    <a:srgbClr val="00B050"/>
                  </a:solidFill>
                </a:rPr>
                <a:t>buffer</a:t>
              </a:r>
            </a:p>
            <a:p>
              <a:pPr>
                <a:buFont typeface="Monotype Sorts"/>
                <a:buNone/>
              </a:pPr>
              <a:r>
                <a:rPr lang="en-US" sz="1000" b="1" dirty="0">
                  <a:solidFill>
                    <a:srgbClr val="00B050"/>
                  </a:solidFill>
                </a:rPr>
                <a:t> has space;</a:t>
              </a:r>
            </a:p>
          </p:txBody>
        </p:sp>
      </p:grpSp>
      <p:sp>
        <p:nvSpPr>
          <p:cNvPr id="37" name="Rectangle 3">
            <a:extLst>
              <a:ext uri="{FF2B5EF4-FFF2-40B4-BE49-F238E27FC236}">
                <a16:creationId xmlns:a16="http://schemas.microsoft.com/office/drawing/2014/main" id="{E76BC44E-CAAF-B18F-E5BB-B082D4588A7E}"/>
              </a:ext>
            </a:extLst>
          </p:cNvPr>
          <p:cNvSpPr txBox="1">
            <a:spLocks noChangeArrowheads="1"/>
          </p:cNvSpPr>
          <p:nvPr/>
        </p:nvSpPr>
        <p:spPr>
          <a:xfrm>
            <a:off x="3553774" y="2196418"/>
            <a:ext cx="3203848" cy="3672408"/>
          </a:xfrm>
          <a:prstGeom prst="rect">
            <a:avLst/>
          </a:prstGeom>
          <a:noFill/>
        </p:spPr>
        <p:style>
          <a:lnRef idx="1">
            <a:schemeClr val="dk1"/>
          </a:lnRef>
          <a:fillRef idx="2">
            <a:schemeClr val="dk1"/>
          </a:fillRef>
          <a:effectRef idx="1">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a:lnSpc>
                <a:spcPct val="100000"/>
              </a:lnSpc>
              <a:buFontTx/>
              <a:buNone/>
            </a:pPr>
            <a:r>
              <a:rPr lang="en-US" sz="1600" dirty="0"/>
              <a:t>consumer </a:t>
            </a:r>
          </a:p>
          <a:p>
            <a:pPr>
              <a:lnSpc>
                <a:spcPct val="100000"/>
              </a:lnSpc>
              <a:buFontTx/>
              <a:buNone/>
            </a:pPr>
            <a:r>
              <a:rPr lang="en-US" sz="1600" dirty="0"/>
              <a:t>do {</a:t>
            </a:r>
          </a:p>
          <a:p>
            <a:pPr>
              <a:lnSpc>
                <a:spcPct val="100000"/>
              </a:lnSpc>
              <a:buFontTx/>
              <a:buNone/>
            </a:pPr>
            <a:r>
              <a:rPr lang="en-US" sz="1600" dirty="0"/>
              <a:t>       </a:t>
            </a:r>
            <a:r>
              <a:rPr lang="en-US" sz="1600" dirty="0">
                <a:solidFill>
                  <a:schemeClr val="accent1"/>
                </a:solidFill>
              </a:rPr>
              <a:t>wait(buffer-has-items)</a:t>
            </a:r>
          </a:p>
          <a:p>
            <a:pPr>
              <a:lnSpc>
                <a:spcPct val="100000"/>
              </a:lnSpc>
              <a:buFontTx/>
              <a:buNone/>
            </a:pPr>
            <a:r>
              <a:rPr lang="en-US" sz="1600" dirty="0">
                <a:solidFill>
                  <a:schemeClr val="accent1"/>
                </a:solidFill>
              </a:rPr>
              <a:t>       wait(</a:t>
            </a:r>
            <a:r>
              <a:rPr lang="en-US" sz="1600" dirty="0" err="1">
                <a:solidFill>
                  <a:schemeClr val="accent1"/>
                </a:solidFill>
              </a:rPr>
              <a:t>mutex_sem</a:t>
            </a:r>
            <a:r>
              <a:rPr lang="en-US" sz="1600" dirty="0">
                <a:solidFill>
                  <a:schemeClr val="accent1"/>
                </a:solidFill>
              </a:rPr>
              <a:t>);</a:t>
            </a:r>
          </a:p>
          <a:p>
            <a:pPr>
              <a:lnSpc>
                <a:spcPct val="100000"/>
              </a:lnSpc>
              <a:buFontTx/>
              <a:buNone/>
            </a:pPr>
            <a:r>
              <a:rPr lang="en-US" sz="1600" dirty="0"/>
              <a:t>       // remove item from buffer</a:t>
            </a:r>
          </a:p>
          <a:p>
            <a:pPr>
              <a:lnSpc>
                <a:spcPct val="100000"/>
              </a:lnSpc>
              <a:buFontTx/>
              <a:buNone/>
            </a:pPr>
            <a:r>
              <a:rPr lang="en-US" sz="1600" dirty="0"/>
              <a:t>       signal(</a:t>
            </a:r>
            <a:r>
              <a:rPr lang="en-US" sz="1600" dirty="0" err="1"/>
              <a:t>mutex_sem</a:t>
            </a:r>
            <a:r>
              <a:rPr lang="en-US" sz="1600" dirty="0"/>
              <a:t>);</a:t>
            </a:r>
          </a:p>
          <a:p>
            <a:pPr>
              <a:lnSpc>
                <a:spcPct val="100000"/>
              </a:lnSpc>
              <a:buFontTx/>
              <a:buNone/>
            </a:pPr>
            <a:r>
              <a:rPr lang="en-US" sz="1600" dirty="0"/>
              <a:t>       signal(buffer-has-space);</a:t>
            </a:r>
          </a:p>
          <a:p>
            <a:pPr>
              <a:lnSpc>
                <a:spcPct val="100000"/>
              </a:lnSpc>
              <a:buFontTx/>
              <a:buNone/>
            </a:pPr>
            <a:r>
              <a:rPr lang="en-US" sz="1600" dirty="0"/>
              <a:t>       // use the item</a:t>
            </a:r>
          </a:p>
          <a:p>
            <a:pPr>
              <a:lnSpc>
                <a:spcPct val="100000"/>
              </a:lnSpc>
              <a:buFontTx/>
              <a:buNone/>
            </a:pPr>
            <a:r>
              <a:rPr lang="en-US" sz="1600" dirty="0"/>
              <a:t>} while (TRUE);</a:t>
            </a:r>
            <a:endParaRPr lang="en-US" sz="1600" dirty="0">
              <a:solidFill>
                <a:srgbClr val="0000FF"/>
              </a:solidFill>
            </a:endParaRPr>
          </a:p>
        </p:txBody>
      </p:sp>
      <p:sp>
        <p:nvSpPr>
          <p:cNvPr id="3" name="Date Placeholder 2">
            <a:extLst>
              <a:ext uri="{FF2B5EF4-FFF2-40B4-BE49-F238E27FC236}">
                <a16:creationId xmlns:a16="http://schemas.microsoft.com/office/drawing/2014/main" id="{B4B1F737-869A-D464-FD17-97F6FFD530E2}"/>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42684893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2250A-5E5B-70FA-6A31-6DB2BEB91011}"/>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9227323-B622-2A52-0358-95FA49351F66}"/>
              </a:ext>
            </a:extLst>
          </p:cNvPr>
          <p:cNvSpPr>
            <a:spLocks noGrp="1"/>
          </p:cNvSpPr>
          <p:nvPr>
            <p:ph idx="1"/>
          </p:nvPr>
        </p:nvSpPr>
        <p:spPr/>
        <p:txBody>
          <a:bodyPr>
            <a:normAutofit lnSpcReduction="10000"/>
          </a:bodyPr>
          <a:lstStyle/>
          <a:p>
            <a:r>
              <a:rPr lang="en-US" dirty="0">
                <a:solidFill>
                  <a:schemeClr val="bg1">
                    <a:lumMod val="50000"/>
                  </a:schemeClr>
                </a:solidFill>
              </a:rPr>
              <a:t>Bounded-buffer producer/consumer</a:t>
            </a:r>
          </a:p>
          <a:p>
            <a:r>
              <a:rPr lang="en-US" dirty="0"/>
              <a:t>Resource allocation, deadlocks, and necessary conditions for deadlocks</a:t>
            </a:r>
            <a:endParaRPr lang="en-US" dirty="0">
              <a:solidFill>
                <a:schemeClr val="bg1">
                  <a:lumMod val="50000"/>
                </a:schemeClr>
              </a:solidFill>
            </a:endParaRPr>
          </a:p>
          <a:p>
            <a:r>
              <a:rPr lang="en-US" dirty="0">
                <a:solidFill>
                  <a:schemeClr val="bg1">
                    <a:lumMod val="50000"/>
                  </a:schemeClr>
                </a:solidFill>
              </a:rPr>
              <a:t>Dining philosophers</a:t>
            </a:r>
          </a:p>
          <a:p>
            <a:pPr lvl="1"/>
            <a:r>
              <a:rPr lang="en-US" dirty="0">
                <a:solidFill>
                  <a:schemeClr val="bg1">
                    <a:lumMod val="50000"/>
                  </a:schemeClr>
                </a:solidFill>
              </a:rPr>
              <a:t>without circular wait</a:t>
            </a:r>
          </a:p>
          <a:p>
            <a:pPr lvl="1"/>
            <a:r>
              <a:rPr lang="en-US" dirty="0">
                <a:solidFill>
                  <a:schemeClr val="bg1">
                    <a:lumMod val="50000"/>
                  </a:schemeClr>
                </a:solidFill>
              </a:rPr>
              <a:t>without no-preemption</a:t>
            </a:r>
          </a:p>
          <a:p>
            <a:pPr lvl="1"/>
            <a:r>
              <a:rPr lang="en-US" dirty="0">
                <a:solidFill>
                  <a:schemeClr val="bg1">
                    <a:lumMod val="50000"/>
                  </a:schemeClr>
                </a:solidFill>
              </a:rPr>
              <a:t>without hold-and-wait</a:t>
            </a:r>
          </a:p>
          <a:p>
            <a:r>
              <a:rPr lang="en-US" dirty="0" err="1">
                <a:solidFill>
                  <a:schemeClr val="bg1">
                    <a:lumMod val="50000"/>
                  </a:schemeClr>
                </a:solidFill>
              </a:rPr>
              <a:t>Lamport’s</a:t>
            </a:r>
            <a:r>
              <a:rPr lang="en-US" dirty="0">
                <a:solidFill>
                  <a:schemeClr val="bg1">
                    <a:lumMod val="50000"/>
                  </a:schemeClr>
                </a:solidFill>
              </a:rPr>
              <a:t> bakery algorithm</a:t>
            </a:r>
          </a:p>
          <a:p>
            <a:r>
              <a:rPr lang="en-US" dirty="0">
                <a:solidFill>
                  <a:schemeClr val="bg1">
                    <a:lumMod val="50000"/>
                  </a:schemeClr>
                </a:solidFill>
              </a:rPr>
              <a:t>Readers/Writers problem</a:t>
            </a:r>
          </a:p>
          <a:p>
            <a:r>
              <a:rPr lang="en-US" dirty="0">
                <a:solidFill>
                  <a:schemeClr val="bg1">
                    <a:lumMod val="50000"/>
                  </a:schemeClr>
                </a:solidFill>
              </a:rPr>
              <a:t>OS as arbitrator for deadlock avoidance/recovery</a:t>
            </a:r>
          </a:p>
          <a:p>
            <a:pPr lvl="1"/>
            <a:endParaRPr lang="en-US" dirty="0">
              <a:solidFill>
                <a:schemeClr val="bg1">
                  <a:lumMod val="50000"/>
                </a:schemeClr>
              </a:solidFill>
            </a:endParaRPr>
          </a:p>
          <a:p>
            <a:endParaRPr lang="en-US" dirty="0">
              <a:solidFill>
                <a:schemeClr val="bg1">
                  <a:lumMod val="50000"/>
                </a:schemeClr>
              </a:solidFill>
            </a:endParaRPr>
          </a:p>
          <a:p>
            <a:endParaRPr lang="en-US" dirty="0"/>
          </a:p>
        </p:txBody>
      </p:sp>
      <p:sp>
        <p:nvSpPr>
          <p:cNvPr id="4" name="Slide Number Placeholder 3">
            <a:extLst>
              <a:ext uri="{FF2B5EF4-FFF2-40B4-BE49-F238E27FC236}">
                <a16:creationId xmlns:a16="http://schemas.microsoft.com/office/drawing/2014/main" id="{ED1FB807-D6A8-3096-64F6-AA4269A50DBC}"/>
              </a:ext>
            </a:extLst>
          </p:cNvPr>
          <p:cNvSpPr>
            <a:spLocks noGrp="1"/>
          </p:cNvSpPr>
          <p:nvPr>
            <p:ph type="sldNum" sz="quarter" idx="12"/>
          </p:nvPr>
        </p:nvSpPr>
        <p:spPr/>
        <p:txBody>
          <a:bodyPr/>
          <a:lstStyle/>
          <a:p>
            <a:fld id="{67FCC1A6-2294-BF46-A2F7-E6BDB92DF1BF}" type="slidenum">
              <a:rPr lang="en-US" smtClean="0"/>
              <a:t>9</a:t>
            </a:fld>
            <a:endParaRPr lang="en-US"/>
          </a:p>
        </p:txBody>
      </p:sp>
      <p:sp>
        <p:nvSpPr>
          <p:cNvPr id="5" name="Date Placeholder 4">
            <a:extLst>
              <a:ext uri="{FF2B5EF4-FFF2-40B4-BE49-F238E27FC236}">
                <a16:creationId xmlns:a16="http://schemas.microsoft.com/office/drawing/2014/main" id="{CC847F7F-C42F-17A2-EEA5-65F61DA5A838}"/>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831648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2623" y="906459"/>
            <a:ext cx="7525307" cy="1741871"/>
          </a:xfrm>
          <a:noFill/>
          <a:ln>
            <a:noFill/>
          </a:ln>
          <a:effectLst/>
        </p:spPr>
        <p:style>
          <a:lnRef idx="1">
            <a:schemeClr val="dk1"/>
          </a:lnRef>
          <a:fillRef idx="2">
            <a:schemeClr val="dk1"/>
          </a:fillRef>
          <a:effectRef idx="1">
            <a:schemeClr val="dk1"/>
          </a:effectRef>
          <a:fontRef idx="minor">
            <a:schemeClr val="dk1"/>
          </a:fontRef>
        </p:style>
        <p:txBody>
          <a:bodyPr>
            <a:normAutofit fontScale="85000" lnSpcReduction="10000"/>
          </a:bodyPr>
          <a:lstStyle/>
          <a:p>
            <a:r>
              <a:rPr lang="en-US" dirty="0"/>
              <a:t>Processes/threads  need  resources (e.g., memory pages, printer, access to parts of shared data structure,  etc.)</a:t>
            </a:r>
          </a:p>
          <a:p>
            <a:pPr lvl="1"/>
            <a:r>
              <a:rPr lang="en-US" dirty="0"/>
              <a:t>Our focus: reusable resources</a:t>
            </a:r>
          </a:p>
          <a:p>
            <a:r>
              <a:rPr lang="en-US" dirty="0"/>
              <a:t>a human analogy: process = go fishing; needed resources: boat, fishing-rod</a:t>
            </a:r>
          </a:p>
        </p:txBody>
      </p:sp>
      <p:sp>
        <p:nvSpPr>
          <p:cNvPr id="4" name="Slide Number Placeholder 3"/>
          <p:cNvSpPr>
            <a:spLocks noGrp="1"/>
          </p:cNvSpPr>
          <p:nvPr>
            <p:ph type="sldNum" sz="quarter" idx="12"/>
          </p:nvPr>
        </p:nvSpPr>
        <p:spPr/>
        <p:txBody>
          <a:bodyPr/>
          <a:lstStyle/>
          <a:p>
            <a:pPr>
              <a:defRPr/>
            </a:pPr>
            <a:fld id="{D2221B3C-0061-41C4-8A2F-B03E83BC37BD}" type="slidenum">
              <a:rPr lang="en-US" smtClean="0">
                <a:solidFill>
                  <a:prstClr val="black">
                    <a:tint val="75000"/>
                  </a:prstClr>
                </a:solidFill>
              </a:rPr>
              <a:pPr>
                <a:defRPr/>
              </a:pPr>
              <a:t>10</a:t>
            </a:fld>
            <a:endParaRPr lang="en-US">
              <a:solidFill>
                <a:prstClr val="black">
                  <a:tint val="75000"/>
                </a:prstClr>
              </a:solidFill>
            </a:endParaRPr>
          </a:p>
        </p:txBody>
      </p:sp>
      <p:pic>
        <p:nvPicPr>
          <p:cNvPr id="12" name="Picture 11">
            <a:extLst>
              <a:ext uri="{FF2B5EF4-FFF2-40B4-BE49-F238E27FC236}">
                <a16:creationId xmlns:a16="http://schemas.microsoft.com/office/drawing/2014/main" id="{298820DD-FD1C-4109-9183-42BD6694C9EC}"/>
              </a:ext>
            </a:extLst>
          </p:cNvPr>
          <p:cNvPicPr>
            <a:picLocks noChangeAspect="1"/>
          </p:cNvPicPr>
          <p:nvPr/>
        </p:nvPicPr>
        <p:blipFill>
          <a:blip r:embed="rId3">
            <a:clrChange>
              <a:clrFrom>
                <a:srgbClr val="F6F6F6"/>
              </a:clrFrom>
              <a:clrTo>
                <a:srgbClr val="F6F6F6">
                  <a:alpha val="0"/>
                </a:srgbClr>
              </a:clrTo>
            </a:clrChange>
          </a:blip>
          <a:stretch>
            <a:fillRect/>
          </a:stretch>
        </p:blipFill>
        <p:spPr>
          <a:xfrm>
            <a:off x="2735476" y="2736853"/>
            <a:ext cx="571714" cy="740036"/>
          </a:xfrm>
          <a:prstGeom prst="rect">
            <a:avLst/>
          </a:prstGeom>
        </p:spPr>
      </p:pic>
      <p:sp>
        <p:nvSpPr>
          <p:cNvPr id="8" name="Title 1">
            <a:extLst>
              <a:ext uri="{FF2B5EF4-FFF2-40B4-BE49-F238E27FC236}">
                <a16:creationId xmlns:a16="http://schemas.microsoft.com/office/drawing/2014/main" id="{2EFE6D93-2A41-9515-5C36-DC2FB54B841F}"/>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Resource allocation</a:t>
            </a:r>
            <a:endParaRPr lang="sv-SE" sz="3600" b="1" dirty="0">
              <a:solidFill>
                <a:schemeClr val="accent1">
                  <a:lumMod val="50000"/>
                </a:schemeClr>
              </a:solidFill>
            </a:endParaRPr>
          </a:p>
        </p:txBody>
      </p:sp>
      <p:sp>
        <p:nvSpPr>
          <p:cNvPr id="9" name="Oval 8">
            <a:extLst>
              <a:ext uri="{FF2B5EF4-FFF2-40B4-BE49-F238E27FC236}">
                <a16:creationId xmlns:a16="http://schemas.microsoft.com/office/drawing/2014/main" id="{927DFC3C-8E8E-CEF0-9354-00AF9E73EBF0}"/>
              </a:ext>
            </a:extLst>
          </p:cNvPr>
          <p:cNvSpPr/>
          <p:nvPr/>
        </p:nvSpPr>
        <p:spPr>
          <a:xfrm>
            <a:off x="1263362" y="2893986"/>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11" name="Oval 10">
            <a:extLst>
              <a:ext uri="{FF2B5EF4-FFF2-40B4-BE49-F238E27FC236}">
                <a16:creationId xmlns:a16="http://schemas.microsoft.com/office/drawing/2014/main" id="{B74BCF32-19FE-C412-3B2A-0299A0AC9458}"/>
              </a:ext>
            </a:extLst>
          </p:cNvPr>
          <p:cNvSpPr/>
          <p:nvPr/>
        </p:nvSpPr>
        <p:spPr>
          <a:xfrm>
            <a:off x="3442088" y="2893986"/>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pic>
        <p:nvPicPr>
          <p:cNvPr id="17" name="Picture 16" descr="A picture containing dark, light, lit&#10;&#10;Description automatically generated">
            <a:extLst>
              <a:ext uri="{FF2B5EF4-FFF2-40B4-BE49-F238E27FC236}">
                <a16:creationId xmlns:a16="http://schemas.microsoft.com/office/drawing/2014/main" id="{A7FA267C-8DA4-3E14-E3CF-038B690FFA7F}"/>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1824029" y="2661229"/>
            <a:ext cx="776550" cy="891284"/>
          </a:xfrm>
          <a:prstGeom prst="rect">
            <a:avLst/>
          </a:prstGeom>
        </p:spPr>
      </p:pic>
      <p:sp>
        <p:nvSpPr>
          <p:cNvPr id="38" name="Rectangle 4">
            <a:extLst>
              <a:ext uri="{FF2B5EF4-FFF2-40B4-BE49-F238E27FC236}">
                <a16:creationId xmlns:a16="http://schemas.microsoft.com/office/drawing/2014/main" id="{C1F5F0EF-CEEB-C9E4-3FEA-50313DC63AFE}"/>
              </a:ext>
            </a:extLst>
          </p:cNvPr>
          <p:cNvSpPr txBox="1">
            <a:spLocks noChangeArrowheads="1"/>
          </p:cNvSpPr>
          <p:nvPr/>
        </p:nvSpPr>
        <p:spPr bwMode="auto">
          <a:xfrm>
            <a:off x="8022817" y="576978"/>
            <a:ext cx="3918765" cy="2431473"/>
          </a:xfrm>
          <a:prstGeom prst="rect">
            <a:avLst/>
          </a:prstGeom>
          <a:solidFill>
            <a:schemeClr val="accent6">
              <a:lumMod val="20000"/>
              <a:lumOff val="80000"/>
            </a:schemeClr>
          </a:solid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None/>
            </a:pPr>
            <a:r>
              <a:rPr lang="en-US" sz="2000" dirty="0">
                <a:solidFill>
                  <a:prstClr val="black"/>
                </a:solidFill>
              </a:rPr>
              <a:t>Structure of process/thread</a:t>
            </a:r>
            <a:r>
              <a:rPr lang="en-US" sz="2000" i="1" dirty="0">
                <a:solidFill>
                  <a:prstClr val="black"/>
                </a:solidFill>
              </a:rPr>
              <a:t> P</a:t>
            </a:r>
            <a:endParaRPr lang="en-US" sz="2000" i="1" baseline="-25000" dirty="0">
              <a:solidFill>
                <a:prstClr val="black"/>
              </a:solidFill>
            </a:endParaRPr>
          </a:p>
          <a:p>
            <a:pPr>
              <a:lnSpc>
                <a:spcPct val="90000"/>
              </a:lnSpc>
              <a:buFontTx/>
              <a:buNone/>
            </a:pPr>
            <a:r>
              <a:rPr lang="en-US" sz="2000" b="1" dirty="0">
                <a:solidFill>
                  <a:prstClr val="black"/>
                </a:solidFill>
              </a:rPr>
              <a:t>Repeat</a:t>
            </a:r>
            <a:r>
              <a:rPr lang="en-US" sz="2000" dirty="0">
                <a:solidFill>
                  <a:prstClr val="black"/>
                </a:solidFill>
              </a:rPr>
              <a:t> </a:t>
            </a:r>
          </a:p>
          <a:p>
            <a:pPr>
              <a:lnSpc>
                <a:spcPct val="90000"/>
              </a:lnSpc>
              <a:buFontTx/>
              <a:buNone/>
            </a:pPr>
            <a:r>
              <a:rPr lang="en-US" sz="2000" dirty="0">
                <a:solidFill>
                  <a:prstClr val="black"/>
                </a:solidFill>
              </a:rPr>
              <a:t>	</a:t>
            </a:r>
            <a:r>
              <a:rPr lang="en-US" sz="2000" i="1" dirty="0">
                <a:solidFill>
                  <a:srgbClr val="C00000"/>
                </a:solidFill>
              </a:rPr>
              <a:t>Request resources (entry section)</a:t>
            </a:r>
          </a:p>
          <a:p>
            <a:pPr>
              <a:lnSpc>
                <a:spcPct val="90000"/>
              </a:lnSpc>
              <a:buFontTx/>
              <a:buNone/>
            </a:pPr>
            <a:r>
              <a:rPr lang="en-US" sz="2000" dirty="0">
                <a:solidFill>
                  <a:prstClr val="black"/>
                </a:solidFill>
              </a:rPr>
              <a:t>	critical section</a:t>
            </a:r>
          </a:p>
          <a:p>
            <a:pPr>
              <a:lnSpc>
                <a:spcPct val="90000"/>
              </a:lnSpc>
              <a:buFontTx/>
              <a:buNone/>
            </a:pPr>
            <a:r>
              <a:rPr lang="en-US" sz="2000" dirty="0">
                <a:solidFill>
                  <a:prstClr val="black"/>
                </a:solidFill>
              </a:rPr>
              <a:t>	</a:t>
            </a:r>
            <a:r>
              <a:rPr lang="en-US" sz="2000" i="1" dirty="0">
                <a:solidFill>
                  <a:srgbClr val="C00000"/>
                </a:solidFill>
              </a:rPr>
              <a:t>Release resources (exit section)</a:t>
            </a:r>
            <a:endParaRPr lang="en-US" sz="2000" dirty="0">
              <a:solidFill>
                <a:srgbClr val="C00000"/>
              </a:solidFill>
            </a:endParaRPr>
          </a:p>
          <a:p>
            <a:pPr>
              <a:lnSpc>
                <a:spcPct val="90000"/>
              </a:lnSpc>
              <a:buFontTx/>
              <a:buNone/>
            </a:pPr>
            <a:r>
              <a:rPr lang="en-US" sz="2000" dirty="0">
                <a:solidFill>
                  <a:prstClr val="black"/>
                </a:solidFill>
              </a:rPr>
              <a:t>	remainder section</a:t>
            </a:r>
          </a:p>
          <a:p>
            <a:pPr>
              <a:lnSpc>
                <a:spcPct val="90000"/>
              </a:lnSpc>
              <a:buFontTx/>
              <a:buNone/>
            </a:pPr>
            <a:r>
              <a:rPr lang="en-US" sz="2000" b="1" dirty="0">
                <a:solidFill>
                  <a:prstClr val="black"/>
                </a:solidFill>
              </a:rPr>
              <a:t>Forever</a:t>
            </a:r>
            <a:endParaRPr lang="en-US" sz="2000" dirty="0">
              <a:solidFill>
                <a:prstClr val="black"/>
              </a:solidFill>
            </a:endParaRPr>
          </a:p>
          <a:p>
            <a:pPr lvl="4">
              <a:lnSpc>
                <a:spcPct val="90000"/>
              </a:lnSpc>
              <a:buFontTx/>
              <a:buNone/>
            </a:pPr>
            <a:endParaRPr lang="en-US" sz="2400" dirty="0">
              <a:solidFill>
                <a:prstClr val="black"/>
              </a:solidFill>
            </a:endParaRPr>
          </a:p>
        </p:txBody>
      </p:sp>
      <p:sp>
        <p:nvSpPr>
          <p:cNvPr id="39" name="Rectangle 4">
            <a:extLst>
              <a:ext uri="{FF2B5EF4-FFF2-40B4-BE49-F238E27FC236}">
                <a16:creationId xmlns:a16="http://schemas.microsoft.com/office/drawing/2014/main" id="{9B585B4B-7131-8469-271F-DD4F18AB1B40}"/>
              </a:ext>
            </a:extLst>
          </p:cNvPr>
          <p:cNvSpPr txBox="1">
            <a:spLocks noChangeArrowheads="1"/>
          </p:cNvSpPr>
          <p:nvPr/>
        </p:nvSpPr>
        <p:spPr bwMode="auto">
          <a:xfrm>
            <a:off x="5962002" y="3099857"/>
            <a:ext cx="5979580" cy="2308594"/>
          </a:xfrm>
          <a:prstGeom prst="rect">
            <a:avLst/>
          </a:prstGeom>
          <a:noFill/>
          <a:ln w="38100">
            <a:solidFill>
              <a:srgbClr val="FF0000"/>
            </a:solidFill>
            <a:headEnd/>
            <a:tailEnd/>
          </a:ln>
          <a:effectLst/>
        </p:spPr>
        <p:style>
          <a:lnRef idx="1">
            <a:schemeClr val="dk1"/>
          </a:lnRef>
          <a:fillRef idx="2">
            <a:schemeClr val="dk1"/>
          </a:fillRef>
          <a:effectRef idx="1">
            <a:schemeClr val="dk1"/>
          </a:effectRef>
          <a:fontRef idx="minor">
            <a:schemeClr val="dk1"/>
          </a:fontRef>
        </p:style>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b="1" dirty="0">
                <a:solidFill>
                  <a:prstClr val="black"/>
                </a:solidFill>
              </a:rPr>
              <a:t>Problem</a:t>
            </a:r>
            <a:r>
              <a:rPr lang="en-US" sz="1800" dirty="0">
                <a:solidFill>
                  <a:prstClr val="black"/>
                </a:solidFill>
              </a:rPr>
              <a:t> </a:t>
            </a:r>
            <a:r>
              <a:rPr lang="en-US" sz="1800" b="1" dirty="0">
                <a:solidFill>
                  <a:prstClr val="black"/>
                </a:solidFill>
              </a:rPr>
              <a:t>formulation</a:t>
            </a:r>
            <a:r>
              <a:rPr lang="en-US" sz="1800" dirty="0">
                <a:solidFill>
                  <a:prstClr val="black"/>
                </a:solidFill>
              </a:rPr>
              <a:t>: </a:t>
            </a:r>
          </a:p>
          <a:p>
            <a:pPr marL="0" indent="0">
              <a:buNone/>
            </a:pPr>
            <a:r>
              <a:rPr lang="en-US" sz="1800" dirty="0">
                <a:solidFill>
                  <a:prstClr val="black"/>
                </a:solidFill>
              </a:rPr>
              <a:t>A solution must </a:t>
            </a:r>
            <a:r>
              <a:rPr lang="en-US" sz="1800" dirty="0">
                <a:solidFill>
                  <a:srgbClr val="C00000"/>
                </a:solidFill>
              </a:rPr>
              <a:t>provide</a:t>
            </a:r>
            <a:r>
              <a:rPr lang="en-US" sz="1800" dirty="0">
                <a:solidFill>
                  <a:prstClr val="black"/>
                </a:solidFill>
              </a:rPr>
              <a:t> the </a:t>
            </a:r>
            <a:r>
              <a:rPr lang="en-US" sz="1800" dirty="0">
                <a:solidFill>
                  <a:srgbClr val="C00000"/>
                </a:solidFill>
              </a:rPr>
              <a:t>entry</a:t>
            </a:r>
            <a:r>
              <a:rPr lang="en-US" sz="1800" dirty="0">
                <a:solidFill>
                  <a:prstClr val="black"/>
                </a:solidFill>
              </a:rPr>
              <a:t> and </a:t>
            </a:r>
            <a:r>
              <a:rPr lang="en-US" sz="1800" dirty="0">
                <a:solidFill>
                  <a:srgbClr val="C00000"/>
                </a:solidFill>
              </a:rPr>
              <a:t>exit</a:t>
            </a:r>
            <a:r>
              <a:rPr lang="en-US" sz="1800" dirty="0">
                <a:solidFill>
                  <a:prstClr val="black"/>
                </a:solidFill>
              </a:rPr>
              <a:t> sections</a:t>
            </a:r>
          </a:p>
          <a:p>
            <a:pPr marL="0" indent="0">
              <a:buNone/>
            </a:pPr>
            <a:r>
              <a:rPr lang="en-US" sz="1800" dirty="0">
                <a:solidFill>
                  <a:prstClr val="black"/>
                </a:solidFill>
              </a:rPr>
              <a:t>It must </a:t>
            </a:r>
            <a:r>
              <a:rPr lang="en-US" sz="1800" dirty="0">
                <a:solidFill>
                  <a:srgbClr val="C00000"/>
                </a:solidFill>
              </a:rPr>
              <a:t>ensure</a:t>
            </a:r>
            <a:r>
              <a:rPr lang="en-US" sz="1800" dirty="0">
                <a:solidFill>
                  <a:prstClr val="black"/>
                </a:solidFill>
              </a:rPr>
              <a:t>:</a:t>
            </a:r>
          </a:p>
          <a:p>
            <a:pPr>
              <a:buFontTx/>
              <a:buAutoNum type="arabicPeriod"/>
            </a:pPr>
            <a:r>
              <a:rPr lang="en-US" sz="1800" b="1" dirty="0">
                <a:solidFill>
                  <a:prstClr val="black"/>
                </a:solidFill>
              </a:rPr>
              <a:t>Acquire/Release all the needed resources</a:t>
            </a:r>
          </a:p>
          <a:p>
            <a:pPr>
              <a:buFontTx/>
              <a:buAutoNum type="arabicPeriod"/>
            </a:pPr>
            <a:r>
              <a:rPr lang="en-US" sz="1800" b="1" dirty="0">
                <a:solidFill>
                  <a:prstClr val="black"/>
                </a:solidFill>
              </a:rPr>
              <a:t>Mutual Exclusion</a:t>
            </a:r>
            <a:r>
              <a:rPr lang="en-US" sz="1800" dirty="0">
                <a:solidFill>
                  <a:prstClr val="black"/>
                </a:solidFill>
              </a:rPr>
              <a:t>.</a:t>
            </a:r>
          </a:p>
          <a:p>
            <a:pPr>
              <a:buFontTx/>
              <a:buAutoNum type="arabicPeriod"/>
            </a:pPr>
            <a:r>
              <a:rPr lang="en-US" sz="1800" b="1" dirty="0">
                <a:solidFill>
                  <a:prstClr val="black"/>
                </a:solidFill>
              </a:rPr>
              <a:t>Progress: </a:t>
            </a:r>
            <a:r>
              <a:rPr lang="en-US" sz="1800" b="1" u="sng" dirty="0">
                <a:solidFill>
                  <a:prstClr val="black"/>
                </a:solidFill>
              </a:rPr>
              <a:t>no deadlock</a:t>
            </a:r>
          </a:p>
          <a:p>
            <a:pPr>
              <a:buFontTx/>
              <a:buAutoNum type="arabicPeriod"/>
            </a:pPr>
            <a:r>
              <a:rPr lang="en-US" sz="1800" b="1" dirty="0">
                <a:solidFill>
                  <a:prstClr val="black"/>
                </a:solidFill>
              </a:rPr>
              <a:t>Fairness (e.g., Bounded Waiting , no starvation</a:t>
            </a:r>
            <a:r>
              <a:rPr lang="en-US" sz="1800" dirty="0">
                <a:solidFill>
                  <a:prstClr val="black"/>
                </a:solidFill>
              </a:rPr>
              <a:t>)</a:t>
            </a:r>
          </a:p>
        </p:txBody>
      </p:sp>
      <p:sp>
        <p:nvSpPr>
          <p:cNvPr id="2" name="Date Placeholder 1">
            <a:extLst>
              <a:ext uri="{FF2B5EF4-FFF2-40B4-BE49-F238E27FC236}">
                <a16:creationId xmlns:a16="http://schemas.microsoft.com/office/drawing/2014/main" id="{C3555DD6-7959-1F1B-AF02-44BC85F2E94D}"/>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639351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4652" y="116632"/>
            <a:ext cx="8219256" cy="576064"/>
          </a:xfrm>
        </p:spPr>
        <p:txBody>
          <a:bodyPr>
            <a:normAutofit fontScale="90000"/>
          </a:bodyPr>
          <a:lstStyle/>
          <a:p>
            <a:r>
              <a:rPr lang="sv-SE" dirty="0"/>
              <a:t>What is a deadlock?</a:t>
            </a:r>
          </a:p>
        </p:txBody>
      </p:sp>
      <p:sp>
        <p:nvSpPr>
          <p:cNvPr id="4" name="Slide Number Placeholder 3"/>
          <p:cNvSpPr>
            <a:spLocks noGrp="1"/>
          </p:cNvSpPr>
          <p:nvPr>
            <p:ph type="sldNum" sz="quarter" idx="12"/>
          </p:nvPr>
        </p:nvSpPr>
        <p:spPr/>
        <p:txBody>
          <a:bodyPr/>
          <a:lstStyle/>
          <a:p>
            <a:pPr>
              <a:defRPr/>
            </a:pPr>
            <a:fld id="{D2221B3C-0061-41C4-8A2F-B03E83BC37BD}" type="slidenum">
              <a:rPr lang="en-US" smtClean="0">
                <a:solidFill>
                  <a:prstClr val="black">
                    <a:tint val="75000"/>
                  </a:prstClr>
                </a:solidFill>
              </a:rPr>
              <a:pPr>
                <a:defRPr/>
              </a:pPr>
              <a:t>11</a:t>
            </a:fld>
            <a:endParaRPr lang="en-US">
              <a:solidFill>
                <a:prstClr val="black">
                  <a:tint val="75000"/>
                </a:prstClr>
              </a:solidFill>
            </a:endParaRPr>
          </a:p>
        </p:txBody>
      </p:sp>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904875" y="1109935"/>
            <a:ext cx="3676650" cy="3676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5337398" y="2228671"/>
            <a:ext cx="6546404" cy="1200329"/>
          </a:xfrm>
          <a:prstGeom prst="rect">
            <a:avLst/>
          </a:prstGeom>
          <a:solidFill>
            <a:schemeClr val="accent6">
              <a:lumMod val="20000"/>
              <a:lumOff val="80000"/>
            </a:schemeClr>
          </a:solidFill>
        </p:spPr>
        <p:txBody>
          <a:bodyPr wrap="square" rtlCol="0">
            <a:spAutoFit/>
          </a:bodyPr>
          <a:lstStyle/>
          <a:p>
            <a:r>
              <a:rPr lang="en-US" sz="2400" dirty="0">
                <a:solidFill>
                  <a:prstClr val="black"/>
                </a:solidFill>
              </a:rPr>
              <a:t>A set of processes/threads  blocking each-other  so that none of them can proceed:</a:t>
            </a:r>
          </a:p>
          <a:p>
            <a:r>
              <a:rPr lang="en-US" sz="2400" dirty="0">
                <a:solidFill>
                  <a:srgbClr val="C00000"/>
                </a:solidFill>
              </a:rPr>
              <a:t>How can it occur?</a:t>
            </a:r>
          </a:p>
        </p:txBody>
      </p:sp>
      <p:sp>
        <p:nvSpPr>
          <p:cNvPr id="5" name="Date Placeholder 4">
            <a:extLst>
              <a:ext uri="{FF2B5EF4-FFF2-40B4-BE49-F238E27FC236}">
                <a16:creationId xmlns:a16="http://schemas.microsoft.com/office/drawing/2014/main" id="{B1A962EB-6415-2D3C-207D-2DDBC987551D}"/>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710048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Slide Number Placeholder 5"/>
          <p:cNvSpPr>
            <a:spLocks noGrp="1"/>
          </p:cNvSpPr>
          <p:nvPr>
            <p:ph type="sldNum" sz="quarter" idx="12"/>
          </p:nvPr>
        </p:nvSpPr>
        <p:spPr>
          <a:noFill/>
        </p:spPr>
        <p:txBody>
          <a:bodyPr/>
          <a:lstStyle/>
          <a:p>
            <a:fld id="{0FD6B7DC-5DA4-49C9-AD7E-833DB6604F41}" type="slidenum">
              <a:rPr lang="en-US" smtClean="0">
                <a:solidFill>
                  <a:prstClr val="black">
                    <a:tint val="75000"/>
                  </a:prstClr>
                </a:solidFill>
              </a:rPr>
              <a:pPr/>
              <a:t>12</a:t>
            </a:fld>
            <a:endParaRPr lang="en-US">
              <a:solidFill>
                <a:prstClr val="black">
                  <a:tint val="75000"/>
                </a:prstClr>
              </a:solidFill>
            </a:endParaRPr>
          </a:p>
        </p:txBody>
      </p:sp>
      <p:sp>
        <p:nvSpPr>
          <p:cNvPr id="4099" name="Rectangle 2"/>
          <p:cNvSpPr>
            <a:spLocks noGrp="1" noChangeArrowheads="1"/>
          </p:cNvSpPr>
          <p:nvPr>
            <p:ph type="title"/>
          </p:nvPr>
        </p:nvSpPr>
        <p:spPr>
          <a:xfrm>
            <a:off x="159769" y="118512"/>
            <a:ext cx="8219256" cy="576064"/>
          </a:xfrm>
        </p:spPr>
        <p:txBody>
          <a:bodyPr/>
          <a:lstStyle/>
          <a:p>
            <a:r>
              <a:rPr lang="en-US" sz="2800" dirty="0"/>
              <a:t>4 necessary conditions for Deadlock </a:t>
            </a:r>
            <a:r>
              <a:rPr lang="en-US" sz="2400" dirty="0">
                <a:latin typeface="+mn-lt"/>
              </a:rPr>
              <a:t>[Coffman et al 1971] </a:t>
            </a:r>
          </a:p>
        </p:txBody>
      </p:sp>
      <p:sp>
        <p:nvSpPr>
          <p:cNvPr id="132099" name="Rectangle 3"/>
          <p:cNvSpPr>
            <a:spLocks noGrp="1" noChangeArrowheads="1"/>
          </p:cNvSpPr>
          <p:nvPr>
            <p:ph type="body" idx="1"/>
          </p:nvPr>
        </p:nvSpPr>
        <p:spPr>
          <a:xfrm>
            <a:off x="4304192" y="1671144"/>
            <a:ext cx="7743013" cy="3780281"/>
          </a:xfrm>
          <a:noFill/>
          <a:ln>
            <a:noFill/>
          </a:ln>
          <a:effectLst/>
        </p:spPr>
        <p:style>
          <a:lnRef idx="1">
            <a:schemeClr val="dk1"/>
          </a:lnRef>
          <a:fillRef idx="2">
            <a:schemeClr val="dk1"/>
          </a:fillRef>
          <a:effectRef idx="1">
            <a:schemeClr val="dk1"/>
          </a:effectRef>
          <a:fontRef idx="minor">
            <a:schemeClr val="dk1"/>
          </a:fontRef>
        </p:style>
        <p:txBody>
          <a:bodyPr>
            <a:normAutofit/>
          </a:bodyPr>
          <a:lstStyle/>
          <a:p>
            <a:pPr marL="457200" indent="-457200">
              <a:lnSpc>
                <a:spcPct val="90000"/>
              </a:lnSpc>
              <a:buFont typeface="+mj-lt"/>
              <a:buAutoNum type="arabicPeriod"/>
            </a:pPr>
            <a:r>
              <a:rPr lang="en-US" sz="2000" b="1" dirty="0">
                <a:solidFill>
                  <a:srgbClr val="C00000"/>
                </a:solidFill>
              </a:rPr>
              <a:t>Mutual exclusion:</a:t>
            </a:r>
            <a:r>
              <a:rPr lang="en-US" sz="2000" dirty="0">
                <a:solidFill>
                  <a:srgbClr val="C00000"/>
                </a:solidFill>
              </a:rPr>
              <a:t>  </a:t>
            </a:r>
            <a:r>
              <a:rPr lang="en-US" sz="2000" dirty="0"/>
              <a:t>only one process at a time can use a resource.</a:t>
            </a:r>
            <a:endParaRPr lang="en-US" sz="2000" b="1" dirty="0">
              <a:solidFill>
                <a:srgbClr val="C00000"/>
              </a:solidFill>
            </a:endParaRPr>
          </a:p>
          <a:p>
            <a:pPr marL="457200" indent="-457200">
              <a:lnSpc>
                <a:spcPct val="90000"/>
              </a:lnSpc>
              <a:buFont typeface="+mj-lt"/>
              <a:buAutoNum type="arabicPeriod"/>
            </a:pPr>
            <a:r>
              <a:rPr lang="en-US" sz="2000" b="1" dirty="0">
                <a:solidFill>
                  <a:srgbClr val="C00000"/>
                </a:solidFill>
              </a:rPr>
              <a:t>Hold and wait:</a:t>
            </a:r>
            <a:r>
              <a:rPr lang="en-US" sz="2000" dirty="0">
                <a:solidFill>
                  <a:srgbClr val="C00000"/>
                </a:solidFill>
              </a:rPr>
              <a:t>  </a:t>
            </a:r>
            <a:r>
              <a:rPr lang="en-US" sz="2000" dirty="0"/>
              <a:t>a process holding some resource can request additional resources and wait for them if they are held by other processes.</a:t>
            </a:r>
            <a:endParaRPr lang="en-US" sz="2000" b="1" dirty="0">
              <a:solidFill>
                <a:schemeClr val="accent2"/>
              </a:solidFill>
            </a:endParaRPr>
          </a:p>
          <a:p>
            <a:pPr marL="457200" indent="-457200">
              <a:lnSpc>
                <a:spcPct val="90000"/>
              </a:lnSpc>
              <a:buFont typeface="+mj-lt"/>
              <a:buAutoNum type="arabicPeriod"/>
            </a:pPr>
            <a:r>
              <a:rPr lang="en-US" sz="2000" b="1" dirty="0">
                <a:solidFill>
                  <a:srgbClr val="C00000"/>
                </a:solidFill>
              </a:rPr>
              <a:t>No preemption:</a:t>
            </a:r>
            <a:r>
              <a:rPr lang="en-US" sz="2000" dirty="0">
                <a:solidFill>
                  <a:srgbClr val="C00000"/>
                </a:solidFill>
              </a:rPr>
              <a:t>  </a:t>
            </a:r>
            <a:r>
              <a:rPr lang="en-US" sz="2000" dirty="0"/>
              <a:t>a resource can only be released</a:t>
            </a:r>
            <a:r>
              <a:rPr lang="en-US" sz="2000" dirty="0">
                <a:solidFill>
                  <a:schemeClr val="accent2"/>
                </a:solidFill>
              </a:rPr>
              <a:t> </a:t>
            </a:r>
            <a:r>
              <a:rPr lang="en-US" sz="2000" dirty="0"/>
              <a:t>by the process holding it, after that process has completed its task.</a:t>
            </a:r>
            <a:endParaRPr lang="en-US" sz="2000" b="1" dirty="0">
              <a:solidFill>
                <a:schemeClr val="accent2"/>
              </a:solidFill>
            </a:endParaRPr>
          </a:p>
          <a:p>
            <a:pPr marL="457200" indent="-457200">
              <a:lnSpc>
                <a:spcPct val="90000"/>
              </a:lnSpc>
              <a:buFont typeface="+mj-lt"/>
              <a:buAutoNum type="arabicPeriod"/>
            </a:pPr>
            <a:r>
              <a:rPr lang="en-US" sz="2000" b="1" dirty="0">
                <a:solidFill>
                  <a:srgbClr val="C00000"/>
                </a:solidFill>
              </a:rPr>
              <a:t>Circular wait:</a:t>
            </a:r>
            <a:r>
              <a:rPr lang="en-US" sz="2000" dirty="0">
                <a:solidFill>
                  <a:srgbClr val="C00000"/>
                </a:solidFill>
              </a:rPr>
              <a:t>  </a:t>
            </a:r>
            <a:r>
              <a:rPr lang="en-US" sz="2000" dirty="0"/>
              <a:t>there exists a circular chain of 2 or more blocked processes, each waiting for a resource held by the next proc. in the chain </a:t>
            </a:r>
          </a:p>
        </p:txBody>
      </p:sp>
      <p:sp>
        <p:nvSpPr>
          <p:cNvPr id="4101" name="Text Box 4"/>
          <p:cNvSpPr txBox="1">
            <a:spLocks noChangeArrowheads="1"/>
          </p:cNvSpPr>
          <p:nvPr/>
        </p:nvSpPr>
        <p:spPr bwMode="auto">
          <a:xfrm>
            <a:off x="159769" y="1047983"/>
            <a:ext cx="11835007" cy="400110"/>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wrap="square" anchor="ctr">
            <a:spAutoFit/>
          </a:bodyPr>
          <a:lstStyle/>
          <a:p>
            <a:pPr>
              <a:spcBef>
                <a:spcPct val="50000"/>
              </a:spcBef>
            </a:pPr>
            <a:r>
              <a:rPr lang="en-US" sz="2000" b="1" u="sng" dirty="0">
                <a:solidFill>
                  <a:srgbClr val="C00000"/>
                </a:solidFill>
              </a:rPr>
              <a:t>Theorem: all 4  conditions hold simultaneously</a:t>
            </a:r>
            <a:r>
              <a:rPr lang="en-US" sz="2000" u="sng" dirty="0">
                <a:solidFill>
                  <a:srgbClr val="C00000"/>
                </a:solidFill>
              </a:rPr>
              <a:t> </a:t>
            </a:r>
            <a:r>
              <a:rPr lang="en-US" dirty="0">
                <a:solidFill>
                  <a:prstClr val="black"/>
                </a:solidFill>
              </a:rPr>
              <a:t>when a deadlock occurs:</a:t>
            </a:r>
          </a:p>
        </p:txBody>
      </p:sp>
      <p:grpSp>
        <p:nvGrpSpPr>
          <p:cNvPr id="53" name="Group 52">
            <a:extLst>
              <a:ext uri="{FF2B5EF4-FFF2-40B4-BE49-F238E27FC236}">
                <a16:creationId xmlns:a16="http://schemas.microsoft.com/office/drawing/2014/main" id="{05ED9F0D-A0C0-A337-E567-729EEBEAB5E6}"/>
              </a:ext>
            </a:extLst>
          </p:cNvPr>
          <p:cNvGrpSpPr/>
          <p:nvPr/>
        </p:nvGrpSpPr>
        <p:grpSpPr>
          <a:xfrm>
            <a:off x="389299" y="1532141"/>
            <a:ext cx="3643308" cy="3573917"/>
            <a:chOff x="55002" y="2348219"/>
            <a:chExt cx="3643308" cy="3573917"/>
          </a:xfrm>
        </p:grpSpPr>
        <p:sp>
          <p:nvSpPr>
            <p:cNvPr id="12" name="Cloud Callout 11"/>
            <p:cNvSpPr/>
            <p:nvPr/>
          </p:nvSpPr>
          <p:spPr bwMode="auto">
            <a:xfrm>
              <a:off x="2404173" y="2613391"/>
              <a:ext cx="1294137" cy="1096015"/>
            </a:xfrm>
            <a:prstGeom prst="cloudCallout">
              <a:avLst>
                <a:gd name="adj1" fmla="val -10843"/>
                <a:gd name="adj2" fmla="val 72354"/>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r>
                <a:rPr lang="en-US" sz="1600" dirty="0">
                  <a:solidFill>
                    <a:prstClr val="black"/>
                  </a:solidFill>
                </a:rPr>
                <a:t>Boat ok, I</a:t>
              </a:r>
            </a:p>
            <a:p>
              <a:pPr fontAlgn="base">
                <a:spcBef>
                  <a:spcPct val="0"/>
                </a:spcBef>
                <a:spcAft>
                  <a:spcPct val="0"/>
                </a:spcAft>
              </a:pPr>
              <a:r>
                <a:rPr lang="en-US" sz="1600" dirty="0">
                  <a:solidFill>
                    <a:prstClr val="black"/>
                  </a:solidFill>
                </a:rPr>
                <a:t>need the </a:t>
              </a:r>
            </a:p>
            <a:p>
              <a:pPr fontAlgn="base">
                <a:spcBef>
                  <a:spcPct val="0"/>
                </a:spcBef>
                <a:spcAft>
                  <a:spcPct val="0"/>
                </a:spcAft>
              </a:pPr>
              <a:r>
                <a:rPr lang="en-US" sz="1600" dirty="0">
                  <a:solidFill>
                    <a:prstClr val="black"/>
                  </a:solidFill>
                </a:rPr>
                <a:t>rod</a:t>
              </a:r>
              <a:r>
                <a:rPr lang="en-US" sz="1600" dirty="0">
                  <a:solidFill>
                    <a:srgbClr val="C00000"/>
                  </a:solidFill>
                </a:rPr>
                <a:t> </a:t>
              </a:r>
            </a:p>
          </p:txBody>
        </p:sp>
        <p:sp>
          <p:nvSpPr>
            <p:cNvPr id="13" name="Cloud Callout 12"/>
            <p:cNvSpPr/>
            <p:nvPr/>
          </p:nvSpPr>
          <p:spPr bwMode="auto">
            <a:xfrm>
              <a:off x="55002" y="2705233"/>
              <a:ext cx="1406588" cy="1008112"/>
            </a:xfrm>
            <a:prstGeom prst="cloudCallout">
              <a:avLst>
                <a:gd name="adj1" fmla="val 3731"/>
                <a:gd name="adj2" fmla="val 72334"/>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r>
                <a:rPr lang="en-US" sz="1400" dirty="0">
                  <a:solidFill>
                    <a:prstClr val="black"/>
                  </a:solidFill>
                </a:rPr>
                <a:t>Rod ok; I </a:t>
              </a:r>
            </a:p>
            <a:p>
              <a:pPr fontAlgn="base">
                <a:spcBef>
                  <a:spcPct val="0"/>
                </a:spcBef>
                <a:spcAft>
                  <a:spcPct val="0"/>
                </a:spcAft>
              </a:pPr>
              <a:r>
                <a:rPr lang="en-US" sz="1400" dirty="0">
                  <a:solidFill>
                    <a:prstClr val="black"/>
                  </a:solidFill>
                </a:rPr>
                <a:t>need the </a:t>
              </a:r>
            </a:p>
            <a:p>
              <a:pPr fontAlgn="base">
                <a:spcBef>
                  <a:spcPct val="0"/>
                </a:spcBef>
                <a:spcAft>
                  <a:spcPct val="0"/>
                </a:spcAft>
              </a:pPr>
              <a:r>
                <a:rPr lang="en-US" sz="1400" dirty="0"/>
                <a:t>boat</a:t>
              </a:r>
            </a:p>
          </p:txBody>
        </p:sp>
        <p:cxnSp>
          <p:nvCxnSpPr>
            <p:cNvPr id="5" name="Straight Arrow Connector 4">
              <a:extLst>
                <a:ext uri="{FF2B5EF4-FFF2-40B4-BE49-F238E27FC236}">
                  <a16:creationId xmlns:a16="http://schemas.microsoft.com/office/drawing/2014/main" id="{1F9D8474-A1D8-4257-82F1-856ED8E955F4}"/>
                </a:ext>
              </a:extLst>
            </p:cNvPr>
            <p:cNvCxnSpPr>
              <a:cxnSpLocks/>
              <a:stCxn id="2" idx="0"/>
              <a:endCxn id="3" idx="6"/>
            </p:cNvCxnSpPr>
            <p:nvPr/>
          </p:nvCxnSpPr>
          <p:spPr>
            <a:xfrm flipH="1" flipV="1">
              <a:off x="1113727" y="4135177"/>
              <a:ext cx="810132" cy="1046923"/>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EDDA4680-B3E5-57D7-774F-E3A1DBA12FA0}"/>
                </a:ext>
              </a:extLst>
            </p:cNvPr>
            <p:cNvGrpSpPr/>
            <p:nvPr/>
          </p:nvGrpSpPr>
          <p:grpSpPr>
            <a:xfrm>
              <a:off x="687957" y="3922292"/>
              <a:ext cx="2471805" cy="425770"/>
              <a:chOff x="687957" y="4139630"/>
              <a:chExt cx="2471805" cy="425770"/>
            </a:xfrm>
          </p:grpSpPr>
          <p:sp>
            <p:nvSpPr>
              <p:cNvPr id="3" name="Oval 2">
                <a:extLst>
                  <a:ext uri="{FF2B5EF4-FFF2-40B4-BE49-F238E27FC236}">
                    <a16:creationId xmlns:a16="http://schemas.microsoft.com/office/drawing/2014/main" id="{9D30FE48-72E6-AD72-575B-FD81BEEAE574}"/>
                  </a:ext>
                </a:extLst>
              </p:cNvPr>
              <p:cNvSpPr/>
              <p:nvPr/>
            </p:nvSpPr>
            <p:spPr>
              <a:xfrm>
                <a:off x="687957" y="4139630"/>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4" name="Oval 3">
                <a:extLst>
                  <a:ext uri="{FF2B5EF4-FFF2-40B4-BE49-F238E27FC236}">
                    <a16:creationId xmlns:a16="http://schemas.microsoft.com/office/drawing/2014/main" id="{528BA055-067F-7658-E1A5-90CC16301FD8}"/>
                  </a:ext>
                </a:extLst>
              </p:cNvPr>
              <p:cNvSpPr/>
              <p:nvPr/>
            </p:nvSpPr>
            <p:spPr>
              <a:xfrm>
                <a:off x="2733992" y="4139630"/>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grpSp>
          <p:nvGrpSpPr>
            <p:cNvPr id="36" name="Group 35">
              <a:extLst>
                <a:ext uri="{FF2B5EF4-FFF2-40B4-BE49-F238E27FC236}">
                  <a16:creationId xmlns:a16="http://schemas.microsoft.com/office/drawing/2014/main" id="{12471B88-EE06-FE9F-684E-A77972D56B75}"/>
                </a:ext>
              </a:extLst>
            </p:cNvPr>
            <p:cNvGrpSpPr/>
            <p:nvPr/>
          </p:nvGrpSpPr>
          <p:grpSpPr>
            <a:xfrm>
              <a:off x="1535584" y="2348219"/>
              <a:ext cx="776550" cy="3573917"/>
              <a:chOff x="1668279" y="2348219"/>
              <a:chExt cx="776550" cy="3573917"/>
            </a:xfrm>
          </p:grpSpPr>
          <p:pic>
            <p:nvPicPr>
              <p:cNvPr id="2" name="Picture 1">
                <a:extLst>
                  <a:ext uri="{FF2B5EF4-FFF2-40B4-BE49-F238E27FC236}">
                    <a16:creationId xmlns:a16="http://schemas.microsoft.com/office/drawing/2014/main" id="{8F01CB09-4195-390E-4BDE-980A049E3DC1}"/>
                  </a:ext>
                </a:extLst>
              </p:cNvPr>
              <p:cNvPicPr>
                <a:picLocks noChangeAspect="1"/>
              </p:cNvPicPr>
              <p:nvPr/>
            </p:nvPicPr>
            <p:blipFill>
              <a:blip r:embed="rId3">
                <a:clrChange>
                  <a:clrFrom>
                    <a:srgbClr val="F6F6F6"/>
                  </a:clrFrom>
                  <a:clrTo>
                    <a:srgbClr val="F6F6F6">
                      <a:alpha val="0"/>
                    </a:srgbClr>
                  </a:clrTo>
                </a:clrChange>
              </a:blip>
              <a:stretch>
                <a:fillRect/>
              </a:stretch>
            </p:blipFill>
            <p:spPr>
              <a:xfrm>
                <a:off x="1770697" y="5182100"/>
                <a:ext cx="571714" cy="740036"/>
              </a:xfrm>
              <a:prstGeom prst="rect">
                <a:avLst/>
              </a:prstGeom>
            </p:spPr>
          </p:pic>
          <p:pic>
            <p:nvPicPr>
              <p:cNvPr id="6" name="Picture 5" descr="A picture containing dark, light, lit&#10;&#10;Description automatically generated">
                <a:extLst>
                  <a:ext uri="{FF2B5EF4-FFF2-40B4-BE49-F238E27FC236}">
                    <a16:creationId xmlns:a16="http://schemas.microsoft.com/office/drawing/2014/main" id="{AF9E2BE1-0625-A067-B632-791B172ECF20}"/>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1668279" y="2348219"/>
                <a:ext cx="776550" cy="891284"/>
              </a:xfrm>
              <a:prstGeom prst="rect">
                <a:avLst/>
              </a:prstGeom>
            </p:spPr>
          </p:pic>
        </p:grpSp>
        <p:cxnSp>
          <p:nvCxnSpPr>
            <p:cNvPr id="7" name="Straight Arrow Connector 6">
              <a:extLst>
                <a:ext uri="{FF2B5EF4-FFF2-40B4-BE49-F238E27FC236}">
                  <a16:creationId xmlns:a16="http://schemas.microsoft.com/office/drawing/2014/main" id="{4790C6C2-32A3-90C9-108A-F2E66CE8BC6C}"/>
                </a:ext>
              </a:extLst>
            </p:cNvPr>
            <p:cNvCxnSpPr>
              <a:cxnSpLocks/>
              <a:stCxn id="3" idx="6"/>
              <a:endCxn id="6" idx="2"/>
            </p:cNvCxnSpPr>
            <p:nvPr/>
          </p:nvCxnSpPr>
          <p:spPr>
            <a:xfrm flipV="1">
              <a:off x="1113727" y="3239503"/>
              <a:ext cx="810132" cy="895674"/>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5E8A0A89-07F3-BE71-782C-56614B00F3FE}"/>
                </a:ext>
              </a:extLst>
            </p:cNvPr>
            <p:cNvCxnSpPr>
              <a:cxnSpLocks/>
              <a:stCxn id="6" idx="2"/>
              <a:endCxn id="4" idx="2"/>
            </p:cNvCxnSpPr>
            <p:nvPr/>
          </p:nvCxnSpPr>
          <p:spPr>
            <a:xfrm>
              <a:off x="1923859" y="3239503"/>
              <a:ext cx="810133" cy="895674"/>
            </a:xfrm>
            <a:prstGeom prst="straightConnector1">
              <a:avLst/>
            </a:prstGeom>
            <a:ln w="28575">
              <a:solidFill>
                <a:srgbClr val="FFC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B85DBB85-2BA9-D2A9-5ADD-28A3FF9BDA16}"/>
                </a:ext>
              </a:extLst>
            </p:cNvPr>
            <p:cNvCxnSpPr>
              <a:cxnSpLocks/>
              <a:stCxn id="4" idx="2"/>
              <a:endCxn id="2" idx="0"/>
            </p:cNvCxnSpPr>
            <p:nvPr/>
          </p:nvCxnSpPr>
          <p:spPr>
            <a:xfrm flipH="1">
              <a:off x="1923859" y="4135177"/>
              <a:ext cx="810133" cy="1046923"/>
            </a:xfrm>
            <a:prstGeom prst="straightConnector1">
              <a:avLst/>
            </a:prstGeom>
            <a:ln w="28575">
              <a:solidFill>
                <a:srgbClr val="FFC000"/>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11" name="Date Placeholder 10">
            <a:extLst>
              <a:ext uri="{FF2B5EF4-FFF2-40B4-BE49-F238E27FC236}">
                <a16:creationId xmlns:a16="http://schemas.microsoft.com/office/drawing/2014/main" id="{F682BBDE-879F-43C5-5997-193B562BAA56}"/>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2026278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Slide Number Placeholder 5"/>
          <p:cNvSpPr>
            <a:spLocks noGrp="1"/>
          </p:cNvSpPr>
          <p:nvPr>
            <p:ph type="sldNum" sz="quarter" idx="12"/>
          </p:nvPr>
        </p:nvSpPr>
        <p:spPr>
          <a:noFill/>
        </p:spPr>
        <p:txBody>
          <a:bodyPr/>
          <a:lstStyle/>
          <a:p>
            <a:fld id="{0FD6B7DC-5DA4-49C9-AD7E-833DB6604F41}" type="slidenum">
              <a:rPr lang="en-US" smtClean="0">
                <a:solidFill>
                  <a:prstClr val="black">
                    <a:tint val="75000"/>
                  </a:prstClr>
                </a:solidFill>
              </a:rPr>
              <a:pPr/>
              <a:t>13</a:t>
            </a:fld>
            <a:endParaRPr lang="en-US">
              <a:solidFill>
                <a:prstClr val="black">
                  <a:tint val="75000"/>
                </a:prstClr>
              </a:solidFill>
            </a:endParaRPr>
          </a:p>
        </p:txBody>
      </p:sp>
      <p:sp>
        <p:nvSpPr>
          <p:cNvPr id="4099" name="Rectangle 2"/>
          <p:cNvSpPr>
            <a:spLocks noGrp="1" noChangeArrowheads="1"/>
          </p:cNvSpPr>
          <p:nvPr>
            <p:ph type="title"/>
          </p:nvPr>
        </p:nvSpPr>
        <p:spPr>
          <a:xfrm>
            <a:off x="159769" y="118512"/>
            <a:ext cx="8219256" cy="576064"/>
          </a:xfrm>
        </p:spPr>
        <p:txBody>
          <a:bodyPr/>
          <a:lstStyle/>
          <a:p>
            <a:r>
              <a:rPr lang="en-US" sz="2800" dirty="0"/>
              <a:t>4 necessary conditions for Deadlock </a:t>
            </a:r>
            <a:r>
              <a:rPr lang="en-US" sz="2400" dirty="0">
                <a:latin typeface="+mn-lt"/>
              </a:rPr>
              <a:t>[Coffman et al 1971] </a:t>
            </a:r>
          </a:p>
        </p:txBody>
      </p:sp>
      <p:sp>
        <p:nvSpPr>
          <p:cNvPr id="132099" name="Rectangle 3"/>
          <p:cNvSpPr>
            <a:spLocks noGrp="1" noChangeArrowheads="1"/>
          </p:cNvSpPr>
          <p:nvPr>
            <p:ph type="body" idx="1"/>
          </p:nvPr>
        </p:nvSpPr>
        <p:spPr>
          <a:xfrm>
            <a:off x="4208206" y="1671144"/>
            <a:ext cx="7838999" cy="3780281"/>
          </a:xfrm>
          <a:noFill/>
          <a:ln>
            <a:noFill/>
          </a:ln>
          <a:effectLst/>
        </p:spPr>
        <p:style>
          <a:lnRef idx="1">
            <a:schemeClr val="dk1"/>
          </a:lnRef>
          <a:fillRef idx="2">
            <a:schemeClr val="dk1"/>
          </a:fillRef>
          <a:effectRef idx="1">
            <a:schemeClr val="dk1"/>
          </a:effectRef>
          <a:fontRef idx="minor">
            <a:schemeClr val="dk1"/>
          </a:fontRef>
        </p:style>
        <p:txBody>
          <a:bodyPr>
            <a:normAutofit/>
          </a:bodyPr>
          <a:lstStyle/>
          <a:p>
            <a:pPr marL="457200" indent="-457200">
              <a:lnSpc>
                <a:spcPct val="90000"/>
              </a:lnSpc>
              <a:buFont typeface="+mj-lt"/>
              <a:buAutoNum type="arabicPeriod"/>
            </a:pPr>
            <a:r>
              <a:rPr lang="en-US" sz="2000" b="1" dirty="0">
                <a:solidFill>
                  <a:srgbClr val="C00000"/>
                </a:solidFill>
              </a:rPr>
              <a:t>Mutual exclusion:</a:t>
            </a:r>
            <a:r>
              <a:rPr lang="en-US" sz="2000" dirty="0">
                <a:solidFill>
                  <a:srgbClr val="C00000"/>
                </a:solidFill>
              </a:rPr>
              <a:t>  </a:t>
            </a:r>
            <a:r>
              <a:rPr lang="en-US" sz="2000" dirty="0"/>
              <a:t>only one process at a time can use a resource.</a:t>
            </a:r>
            <a:endParaRPr lang="en-US" sz="2000" b="1" dirty="0">
              <a:solidFill>
                <a:srgbClr val="C00000"/>
              </a:solidFill>
            </a:endParaRPr>
          </a:p>
          <a:p>
            <a:pPr marL="457200" indent="-457200">
              <a:buFont typeface="+mj-lt"/>
              <a:buAutoNum type="arabicPeriod"/>
            </a:pPr>
            <a:r>
              <a:rPr lang="en-US" sz="2000" b="1" dirty="0">
                <a:solidFill>
                  <a:srgbClr val="C00000"/>
                </a:solidFill>
              </a:rPr>
              <a:t>Hold and wait:</a:t>
            </a:r>
            <a:r>
              <a:rPr lang="en-US" sz="2000" dirty="0">
                <a:solidFill>
                  <a:srgbClr val="C00000"/>
                </a:solidFill>
              </a:rPr>
              <a:t>  </a:t>
            </a:r>
            <a:r>
              <a:rPr lang="en-US" sz="2000" dirty="0"/>
              <a:t>a process holding some resource can request additional resources and wait for them if they are held by other processes. </a:t>
            </a:r>
            <a:r>
              <a:rPr lang="en-US" sz="2000" b="1" dirty="0">
                <a:solidFill>
                  <a:srgbClr val="92D050"/>
                </a:solidFill>
                <a:sym typeface="Wingdings" pitchFamily="2" charset="2"/>
              </a:rPr>
              <a:t> GET ALL RESOURCES AT ONCE</a:t>
            </a:r>
            <a:endParaRPr lang="en-US" sz="2000" b="1" dirty="0">
              <a:solidFill>
                <a:srgbClr val="92D050"/>
              </a:solidFill>
            </a:endParaRPr>
          </a:p>
          <a:p>
            <a:pPr marL="457200" indent="-457200">
              <a:buFont typeface="+mj-lt"/>
              <a:buAutoNum type="arabicPeriod"/>
            </a:pPr>
            <a:r>
              <a:rPr lang="en-US" sz="2000" b="1" dirty="0">
                <a:solidFill>
                  <a:srgbClr val="C00000"/>
                </a:solidFill>
              </a:rPr>
              <a:t>No preemption:</a:t>
            </a:r>
            <a:r>
              <a:rPr lang="en-US" sz="2000" dirty="0">
                <a:solidFill>
                  <a:srgbClr val="C00000"/>
                </a:solidFill>
              </a:rPr>
              <a:t>  </a:t>
            </a:r>
            <a:r>
              <a:rPr lang="en-US" sz="2000" dirty="0"/>
              <a:t>a resource can only be released</a:t>
            </a:r>
            <a:r>
              <a:rPr lang="en-US" sz="2000" dirty="0">
                <a:solidFill>
                  <a:schemeClr val="accent2"/>
                </a:solidFill>
              </a:rPr>
              <a:t> </a:t>
            </a:r>
            <a:r>
              <a:rPr lang="en-US" sz="2000" dirty="0"/>
              <a:t>by the process holding it, after that process has completed its task. </a:t>
            </a:r>
            <a:r>
              <a:rPr lang="en-US" sz="2000" b="1" dirty="0">
                <a:solidFill>
                  <a:srgbClr val="92D050"/>
                </a:solidFill>
                <a:sym typeface="Wingdings" pitchFamily="2" charset="2"/>
              </a:rPr>
              <a:t> THREADS RELEASE RESOURCES IF THEY MANAGE TO GET SOME BUT NOT ALL</a:t>
            </a:r>
            <a:endParaRPr lang="en-US" sz="2000" b="1" dirty="0">
              <a:solidFill>
                <a:schemeClr val="accent2"/>
              </a:solidFill>
            </a:endParaRPr>
          </a:p>
          <a:p>
            <a:pPr marL="457200" indent="-457200">
              <a:buFont typeface="+mj-lt"/>
              <a:buAutoNum type="arabicPeriod"/>
            </a:pPr>
            <a:r>
              <a:rPr lang="en-US" sz="2000" b="1" dirty="0">
                <a:solidFill>
                  <a:srgbClr val="C00000"/>
                </a:solidFill>
              </a:rPr>
              <a:t>Circular wait:</a:t>
            </a:r>
            <a:r>
              <a:rPr lang="en-US" sz="2000" dirty="0">
                <a:solidFill>
                  <a:srgbClr val="C00000"/>
                </a:solidFill>
              </a:rPr>
              <a:t>  </a:t>
            </a:r>
            <a:r>
              <a:rPr lang="en-US" sz="2000" dirty="0"/>
              <a:t>there exists a circular chain of 2 or more blocked processes, each waiting for a resource held by the next proc. in the chain. </a:t>
            </a:r>
            <a:r>
              <a:rPr lang="en-US" sz="2000" b="1" dirty="0">
                <a:solidFill>
                  <a:srgbClr val="92D050"/>
                </a:solidFill>
                <a:sym typeface="Wingdings" pitchFamily="2" charset="2"/>
              </a:rPr>
              <a:t> ACQUIRE RESOURCES IN A CERTAIN ORDER</a:t>
            </a:r>
            <a:endParaRPr lang="en-US" sz="2000" dirty="0"/>
          </a:p>
        </p:txBody>
      </p:sp>
      <p:sp>
        <p:nvSpPr>
          <p:cNvPr id="4101" name="Text Box 4"/>
          <p:cNvSpPr txBox="1">
            <a:spLocks noChangeArrowheads="1"/>
          </p:cNvSpPr>
          <p:nvPr/>
        </p:nvSpPr>
        <p:spPr bwMode="auto">
          <a:xfrm>
            <a:off x="159769" y="1047983"/>
            <a:ext cx="11835007" cy="400110"/>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wrap="square" anchor="ctr">
            <a:spAutoFit/>
          </a:bodyPr>
          <a:lstStyle/>
          <a:p>
            <a:pPr>
              <a:spcBef>
                <a:spcPct val="50000"/>
              </a:spcBef>
            </a:pPr>
            <a:r>
              <a:rPr lang="en-US" sz="2000" b="1" u="sng" dirty="0">
                <a:solidFill>
                  <a:srgbClr val="C00000"/>
                </a:solidFill>
              </a:rPr>
              <a:t>Theorem: all 4  conditions hold simultaneously</a:t>
            </a:r>
            <a:r>
              <a:rPr lang="en-US" sz="2000" u="sng" dirty="0">
                <a:solidFill>
                  <a:srgbClr val="C00000"/>
                </a:solidFill>
              </a:rPr>
              <a:t> </a:t>
            </a:r>
            <a:r>
              <a:rPr lang="en-US" dirty="0">
                <a:solidFill>
                  <a:prstClr val="black"/>
                </a:solidFill>
              </a:rPr>
              <a:t>when a deadlock occurs:</a:t>
            </a:r>
          </a:p>
        </p:txBody>
      </p:sp>
      <p:grpSp>
        <p:nvGrpSpPr>
          <p:cNvPr id="53" name="Group 52">
            <a:extLst>
              <a:ext uri="{FF2B5EF4-FFF2-40B4-BE49-F238E27FC236}">
                <a16:creationId xmlns:a16="http://schemas.microsoft.com/office/drawing/2014/main" id="{05ED9F0D-A0C0-A337-E567-729EEBEAB5E6}"/>
              </a:ext>
            </a:extLst>
          </p:cNvPr>
          <p:cNvGrpSpPr/>
          <p:nvPr/>
        </p:nvGrpSpPr>
        <p:grpSpPr>
          <a:xfrm>
            <a:off x="389299" y="1532141"/>
            <a:ext cx="3643308" cy="3573917"/>
            <a:chOff x="55002" y="2348219"/>
            <a:chExt cx="3643308" cy="3573917"/>
          </a:xfrm>
        </p:grpSpPr>
        <p:sp>
          <p:nvSpPr>
            <p:cNvPr id="12" name="Cloud Callout 11"/>
            <p:cNvSpPr/>
            <p:nvPr/>
          </p:nvSpPr>
          <p:spPr bwMode="auto">
            <a:xfrm>
              <a:off x="2404173" y="2613391"/>
              <a:ext cx="1294137" cy="1096015"/>
            </a:xfrm>
            <a:prstGeom prst="cloudCallout">
              <a:avLst>
                <a:gd name="adj1" fmla="val -10843"/>
                <a:gd name="adj2" fmla="val 72354"/>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r>
                <a:rPr lang="en-US" sz="1600" dirty="0">
                  <a:solidFill>
                    <a:prstClr val="black"/>
                  </a:solidFill>
                </a:rPr>
                <a:t>Boat ok, I</a:t>
              </a:r>
            </a:p>
            <a:p>
              <a:pPr fontAlgn="base">
                <a:spcBef>
                  <a:spcPct val="0"/>
                </a:spcBef>
                <a:spcAft>
                  <a:spcPct val="0"/>
                </a:spcAft>
              </a:pPr>
              <a:r>
                <a:rPr lang="en-US" sz="1600" dirty="0">
                  <a:solidFill>
                    <a:prstClr val="black"/>
                  </a:solidFill>
                </a:rPr>
                <a:t>need the </a:t>
              </a:r>
            </a:p>
            <a:p>
              <a:pPr fontAlgn="base">
                <a:spcBef>
                  <a:spcPct val="0"/>
                </a:spcBef>
                <a:spcAft>
                  <a:spcPct val="0"/>
                </a:spcAft>
              </a:pPr>
              <a:r>
                <a:rPr lang="en-US" sz="1600" dirty="0">
                  <a:solidFill>
                    <a:prstClr val="black"/>
                  </a:solidFill>
                </a:rPr>
                <a:t>rod</a:t>
              </a:r>
              <a:r>
                <a:rPr lang="en-US" sz="1600" dirty="0">
                  <a:solidFill>
                    <a:srgbClr val="C00000"/>
                  </a:solidFill>
                </a:rPr>
                <a:t> </a:t>
              </a:r>
            </a:p>
          </p:txBody>
        </p:sp>
        <p:sp>
          <p:nvSpPr>
            <p:cNvPr id="13" name="Cloud Callout 12"/>
            <p:cNvSpPr/>
            <p:nvPr/>
          </p:nvSpPr>
          <p:spPr bwMode="auto">
            <a:xfrm>
              <a:off x="55002" y="2705233"/>
              <a:ext cx="1406588" cy="1008112"/>
            </a:xfrm>
            <a:prstGeom prst="cloudCallout">
              <a:avLst>
                <a:gd name="adj1" fmla="val 3731"/>
                <a:gd name="adj2" fmla="val 72334"/>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r>
                <a:rPr lang="en-US" sz="1400" dirty="0">
                  <a:solidFill>
                    <a:prstClr val="black"/>
                  </a:solidFill>
                </a:rPr>
                <a:t>Rod ok; I </a:t>
              </a:r>
            </a:p>
            <a:p>
              <a:pPr fontAlgn="base">
                <a:spcBef>
                  <a:spcPct val="0"/>
                </a:spcBef>
                <a:spcAft>
                  <a:spcPct val="0"/>
                </a:spcAft>
              </a:pPr>
              <a:r>
                <a:rPr lang="en-US" sz="1400" dirty="0">
                  <a:solidFill>
                    <a:prstClr val="black"/>
                  </a:solidFill>
                </a:rPr>
                <a:t>need the </a:t>
              </a:r>
            </a:p>
            <a:p>
              <a:pPr fontAlgn="base">
                <a:spcBef>
                  <a:spcPct val="0"/>
                </a:spcBef>
                <a:spcAft>
                  <a:spcPct val="0"/>
                </a:spcAft>
              </a:pPr>
              <a:r>
                <a:rPr lang="en-US" sz="1400" dirty="0"/>
                <a:t>boat</a:t>
              </a:r>
            </a:p>
          </p:txBody>
        </p:sp>
        <p:cxnSp>
          <p:nvCxnSpPr>
            <p:cNvPr id="5" name="Straight Arrow Connector 4">
              <a:extLst>
                <a:ext uri="{FF2B5EF4-FFF2-40B4-BE49-F238E27FC236}">
                  <a16:creationId xmlns:a16="http://schemas.microsoft.com/office/drawing/2014/main" id="{1F9D8474-A1D8-4257-82F1-856ED8E955F4}"/>
                </a:ext>
              </a:extLst>
            </p:cNvPr>
            <p:cNvCxnSpPr>
              <a:cxnSpLocks/>
              <a:stCxn id="2" idx="0"/>
              <a:endCxn id="3" idx="6"/>
            </p:cNvCxnSpPr>
            <p:nvPr/>
          </p:nvCxnSpPr>
          <p:spPr>
            <a:xfrm flipH="1" flipV="1">
              <a:off x="1113727" y="4135177"/>
              <a:ext cx="810132" cy="1046923"/>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EDDA4680-B3E5-57D7-774F-E3A1DBA12FA0}"/>
                </a:ext>
              </a:extLst>
            </p:cNvPr>
            <p:cNvGrpSpPr/>
            <p:nvPr/>
          </p:nvGrpSpPr>
          <p:grpSpPr>
            <a:xfrm>
              <a:off x="687957" y="3922292"/>
              <a:ext cx="2471805" cy="425770"/>
              <a:chOff x="687957" y="4139630"/>
              <a:chExt cx="2471805" cy="425770"/>
            </a:xfrm>
          </p:grpSpPr>
          <p:sp>
            <p:nvSpPr>
              <p:cNvPr id="3" name="Oval 2">
                <a:extLst>
                  <a:ext uri="{FF2B5EF4-FFF2-40B4-BE49-F238E27FC236}">
                    <a16:creationId xmlns:a16="http://schemas.microsoft.com/office/drawing/2014/main" id="{9D30FE48-72E6-AD72-575B-FD81BEEAE574}"/>
                  </a:ext>
                </a:extLst>
              </p:cNvPr>
              <p:cNvSpPr/>
              <p:nvPr/>
            </p:nvSpPr>
            <p:spPr>
              <a:xfrm>
                <a:off x="687957" y="4139630"/>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4" name="Oval 3">
                <a:extLst>
                  <a:ext uri="{FF2B5EF4-FFF2-40B4-BE49-F238E27FC236}">
                    <a16:creationId xmlns:a16="http://schemas.microsoft.com/office/drawing/2014/main" id="{528BA055-067F-7658-E1A5-90CC16301FD8}"/>
                  </a:ext>
                </a:extLst>
              </p:cNvPr>
              <p:cNvSpPr/>
              <p:nvPr/>
            </p:nvSpPr>
            <p:spPr>
              <a:xfrm>
                <a:off x="2733992" y="4139630"/>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grpSp>
          <p:nvGrpSpPr>
            <p:cNvPr id="36" name="Group 35">
              <a:extLst>
                <a:ext uri="{FF2B5EF4-FFF2-40B4-BE49-F238E27FC236}">
                  <a16:creationId xmlns:a16="http://schemas.microsoft.com/office/drawing/2014/main" id="{12471B88-EE06-FE9F-684E-A77972D56B75}"/>
                </a:ext>
              </a:extLst>
            </p:cNvPr>
            <p:cNvGrpSpPr/>
            <p:nvPr/>
          </p:nvGrpSpPr>
          <p:grpSpPr>
            <a:xfrm>
              <a:off x="1535584" y="2348219"/>
              <a:ext cx="776550" cy="3573917"/>
              <a:chOff x="1668279" y="2348219"/>
              <a:chExt cx="776550" cy="3573917"/>
            </a:xfrm>
          </p:grpSpPr>
          <p:pic>
            <p:nvPicPr>
              <p:cNvPr id="2" name="Picture 1">
                <a:extLst>
                  <a:ext uri="{FF2B5EF4-FFF2-40B4-BE49-F238E27FC236}">
                    <a16:creationId xmlns:a16="http://schemas.microsoft.com/office/drawing/2014/main" id="{8F01CB09-4195-390E-4BDE-980A049E3DC1}"/>
                  </a:ext>
                </a:extLst>
              </p:cNvPr>
              <p:cNvPicPr>
                <a:picLocks noChangeAspect="1"/>
              </p:cNvPicPr>
              <p:nvPr/>
            </p:nvPicPr>
            <p:blipFill>
              <a:blip r:embed="rId3">
                <a:clrChange>
                  <a:clrFrom>
                    <a:srgbClr val="F6F6F6"/>
                  </a:clrFrom>
                  <a:clrTo>
                    <a:srgbClr val="F6F6F6">
                      <a:alpha val="0"/>
                    </a:srgbClr>
                  </a:clrTo>
                </a:clrChange>
              </a:blip>
              <a:stretch>
                <a:fillRect/>
              </a:stretch>
            </p:blipFill>
            <p:spPr>
              <a:xfrm>
                <a:off x="1770697" y="5182100"/>
                <a:ext cx="571714" cy="740036"/>
              </a:xfrm>
              <a:prstGeom prst="rect">
                <a:avLst/>
              </a:prstGeom>
            </p:spPr>
          </p:pic>
          <p:pic>
            <p:nvPicPr>
              <p:cNvPr id="6" name="Picture 5" descr="A picture containing dark, light, lit&#10;&#10;Description automatically generated">
                <a:extLst>
                  <a:ext uri="{FF2B5EF4-FFF2-40B4-BE49-F238E27FC236}">
                    <a16:creationId xmlns:a16="http://schemas.microsoft.com/office/drawing/2014/main" id="{AF9E2BE1-0625-A067-B632-791B172ECF20}"/>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1668279" y="2348219"/>
                <a:ext cx="776550" cy="891284"/>
              </a:xfrm>
              <a:prstGeom prst="rect">
                <a:avLst/>
              </a:prstGeom>
            </p:spPr>
          </p:pic>
        </p:grpSp>
        <p:cxnSp>
          <p:nvCxnSpPr>
            <p:cNvPr id="7" name="Straight Arrow Connector 6">
              <a:extLst>
                <a:ext uri="{FF2B5EF4-FFF2-40B4-BE49-F238E27FC236}">
                  <a16:creationId xmlns:a16="http://schemas.microsoft.com/office/drawing/2014/main" id="{4790C6C2-32A3-90C9-108A-F2E66CE8BC6C}"/>
                </a:ext>
              </a:extLst>
            </p:cNvPr>
            <p:cNvCxnSpPr>
              <a:cxnSpLocks/>
              <a:stCxn id="3" idx="6"/>
              <a:endCxn id="6" idx="2"/>
            </p:cNvCxnSpPr>
            <p:nvPr/>
          </p:nvCxnSpPr>
          <p:spPr>
            <a:xfrm flipV="1">
              <a:off x="1113727" y="3239503"/>
              <a:ext cx="810132" cy="895674"/>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5E8A0A89-07F3-BE71-782C-56614B00F3FE}"/>
                </a:ext>
              </a:extLst>
            </p:cNvPr>
            <p:cNvCxnSpPr>
              <a:cxnSpLocks/>
              <a:stCxn id="6" idx="2"/>
              <a:endCxn id="4" idx="2"/>
            </p:cNvCxnSpPr>
            <p:nvPr/>
          </p:nvCxnSpPr>
          <p:spPr>
            <a:xfrm>
              <a:off x="1923859" y="3239503"/>
              <a:ext cx="810133" cy="895674"/>
            </a:xfrm>
            <a:prstGeom prst="straightConnector1">
              <a:avLst/>
            </a:prstGeom>
            <a:ln w="28575">
              <a:solidFill>
                <a:srgbClr val="FFC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B85DBB85-2BA9-D2A9-5ADD-28A3FF9BDA16}"/>
                </a:ext>
              </a:extLst>
            </p:cNvPr>
            <p:cNvCxnSpPr>
              <a:cxnSpLocks/>
              <a:stCxn id="4" idx="2"/>
              <a:endCxn id="2" idx="0"/>
            </p:cNvCxnSpPr>
            <p:nvPr/>
          </p:nvCxnSpPr>
          <p:spPr>
            <a:xfrm flipH="1">
              <a:off x="1923859" y="4135177"/>
              <a:ext cx="810133" cy="1046923"/>
            </a:xfrm>
            <a:prstGeom prst="straightConnector1">
              <a:avLst/>
            </a:prstGeom>
            <a:ln w="28575">
              <a:solidFill>
                <a:srgbClr val="FFC000"/>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11" name="Date Placeholder 10">
            <a:extLst>
              <a:ext uri="{FF2B5EF4-FFF2-40B4-BE49-F238E27FC236}">
                <a16:creationId xmlns:a16="http://schemas.microsoft.com/office/drawing/2014/main" id="{9BEDDBC3-FA2B-E91A-A8B6-88C3ED9DA650}"/>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6251438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2250A-5E5B-70FA-6A31-6DB2BEB91011}"/>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9227323-B622-2A52-0358-95FA49351F66}"/>
              </a:ext>
            </a:extLst>
          </p:cNvPr>
          <p:cNvSpPr>
            <a:spLocks noGrp="1"/>
          </p:cNvSpPr>
          <p:nvPr>
            <p:ph idx="1"/>
          </p:nvPr>
        </p:nvSpPr>
        <p:spPr/>
        <p:txBody>
          <a:bodyPr>
            <a:normAutofit lnSpcReduction="10000"/>
          </a:bodyPr>
          <a:lstStyle/>
          <a:p>
            <a:r>
              <a:rPr lang="en-US" dirty="0"/>
              <a:t>Bounded-buffer producer/consumer</a:t>
            </a:r>
          </a:p>
          <a:p>
            <a:r>
              <a:rPr lang="en-US" dirty="0"/>
              <a:t>Resource allocation, deadlocks, and necessary conditions for deadlocks</a:t>
            </a:r>
          </a:p>
          <a:p>
            <a:r>
              <a:rPr lang="en-US" dirty="0"/>
              <a:t>Dining philosophers</a:t>
            </a:r>
          </a:p>
          <a:p>
            <a:pPr lvl="1"/>
            <a:r>
              <a:rPr lang="en-US" dirty="0">
                <a:solidFill>
                  <a:schemeClr val="bg1">
                    <a:lumMod val="50000"/>
                  </a:schemeClr>
                </a:solidFill>
              </a:rPr>
              <a:t>without circular wait</a:t>
            </a:r>
          </a:p>
          <a:p>
            <a:pPr lvl="1"/>
            <a:r>
              <a:rPr lang="en-US" dirty="0">
                <a:solidFill>
                  <a:schemeClr val="bg1">
                    <a:lumMod val="50000"/>
                  </a:schemeClr>
                </a:solidFill>
              </a:rPr>
              <a:t>without no-preemption</a:t>
            </a:r>
          </a:p>
          <a:p>
            <a:pPr lvl="1"/>
            <a:r>
              <a:rPr lang="en-US" dirty="0">
                <a:solidFill>
                  <a:schemeClr val="bg1">
                    <a:lumMod val="50000"/>
                  </a:schemeClr>
                </a:solidFill>
              </a:rPr>
              <a:t>without hold-and-wait</a:t>
            </a:r>
          </a:p>
          <a:p>
            <a:r>
              <a:rPr lang="en-US" dirty="0" err="1">
                <a:solidFill>
                  <a:schemeClr val="bg1">
                    <a:lumMod val="50000"/>
                  </a:schemeClr>
                </a:solidFill>
              </a:rPr>
              <a:t>Lamport’s</a:t>
            </a:r>
            <a:r>
              <a:rPr lang="en-US" dirty="0">
                <a:solidFill>
                  <a:schemeClr val="bg1">
                    <a:lumMod val="50000"/>
                  </a:schemeClr>
                </a:solidFill>
              </a:rPr>
              <a:t> bakery algorithm</a:t>
            </a:r>
          </a:p>
          <a:p>
            <a:r>
              <a:rPr lang="en-US" dirty="0">
                <a:solidFill>
                  <a:schemeClr val="bg1">
                    <a:lumMod val="50000"/>
                  </a:schemeClr>
                </a:solidFill>
              </a:rPr>
              <a:t>Readers/Writers problem</a:t>
            </a:r>
          </a:p>
          <a:p>
            <a:r>
              <a:rPr lang="en-US" dirty="0">
                <a:solidFill>
                  <a:schemeClr val="bg1">
                    <a:lumMod val="50000"/>
                  </a:schemeClr>
                </a:solidFill>
              </a:rPr>
              <a:t>OS as arbitrator for deadlock avoidance/recovery</a:t>
            </a:r>
          </a:p>
          <a:p>
            <a:pPr lvl="1"/>
            <a:endParaRPr lang="en-US" dirty="0">
              <a:solidFill>
                <a:schemeClr val="bg1">
                  <a:lumMod val="50000"/>
                </a:schemeClr>
              </a:solidFill>
            </a:endParaRPr>
          </a:p>
          <a:p>
            <a:endParaRPr lang="en-US" dirty="0"/>
          </a:p>
          <a:p>
            <a:endParaRPr lang="en-US" dirty="0"/>
          </a:p>
        </p:txBody>
      </p:sp>
      <p:sp>
        <p:nvSpPr>
          <p:cNvPr id="4" name="Slide Number Placeholder 3">
            <a:extLst>
              <a:ext uri="{FF2B5EF4-FFF2-40B4-BE49-F238E27FC236}">
                <a16:creationId xmlns:a16="http://schemas.microsoft.com/office/drawing/2014/main" id="{03F9350F-C366-0313-1E65-A4FFA43992D2}"/>
              </a:ext>
            </a:extLst>
          </p:cNvPr>
          <p:cNvSpPr>
            <a:spLocks noGrp="1"/>
          </p:cNvSpPr>
          <p:nvPr>
            <p:ph type="sldNum" sz="quarter" idx="12"/>
          </p:nvPr>
        </p:nvSpPr>
        <p:spPr/>
        <p:txBody>
          <a:bodyPr/>
          <a:lstStyle/>
          <a:p>
            <a:fld id="{67FCC1A6-2294-BF46-A2F7-E6BDB92DF1BF}" type="slidenum">
              <a:rPr lang="en-US" smtClean="0"/>
              <a:t>14</a:t>
            </a:fld>
            <a:endParaRPr lang="en-US"/>
          </a:p>
        </p:txBody>
      </p:sp>
      <p:sp>
        <p:nvSpPr>
          <p:cNvPr id="5" name="Date Placeholder 4">
            <a:extLst>
              <a:ext uri="{FF2B5EF4-FFF2-40B4-BE49-F238E27FC236}">
                <a16:creationId xmlns:a16="http://schemas.microsoft.com/office/drawing/2014/main" id="{53AA82CF-8C75-1399-E478-23141F3D60FF}"/>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4182236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4937" y="1066801"/>
            <a:ext cx="5964348" cy="1272954"/>
          </a:xfrm>
          <a:noFill/>
          <a:ln>
            <a:noFill/>
          </a:ln>
          <a:effectLst/>
        </p:spPr>
        <p:style>
          <a:lnRef idx="1">
            <a:schemeClr val="dk1"/>
          </a:lnRef>
          <a:fillRef idx="2">
            <a:schemeClr val="dk1"/>
          </a:fillRef>
          <a:effectRef idx="1">
            <a:schemeClr val="dk1"/>
          </a:effectRef>
          <a:fontRef idx="minor">
            <a:schemeClr val="dk1"/>
          </a:fontRef>
        </p:style>
        <p:txBody>
          <a:bodyPr/>
          <a:lstStyle/>
          <a:p>
            <a:pPr marL="0" indent="0">
              <a:buNone/>
            </a:pPr>
            <a:r>
              <a:rPr lang="en-US" sz="2200" i="1" dirty="0"/>
              <a:t>n</a:t>
            </a:r>
            <a:r>
              <a:rPr lang="en-US" sz="2200" dirty="0"/>
              <a:t> philosophers (processes); each philosopher </a:t>
            </a:r>
            <a:r>
              <a:rPr lang="en-US" sz="2200" i="1" dirty="0"/>
              <a:t>P</a:t>
            </a:r>
            <a:r>
              <a:rPr lang="en-US" sz="2200" i="1" baseline="-25000" dirty="0"/>
              <a:t>i</a:t>
            </a:r>
            <a:r>
              <a:rPr lang="en-US" sz="2200" dirty="0"/>
              <a:t>, when hungry, needs both left &amp; right chopstick, in order to eat </a:t>
            </a:r>
          </a:p>
        </p:txBody>
      </p:sp>
      <p:sp>
        <p:nvSpPr>
          <p:cNvPr id="4" name="Slide Number Placeholder 3"/>
          <p:cNvSpPr>
            <a:spLocks noGrp="1"/>
          </p:cNvSpPr>
          <p:nvPr>
            <p:ph type="sldNum" sz="quarter" idx="12"/>
          </p:nvPr>
        </p:nvSpPr>
        <p:spPr/>
        <p:txBody>
          <a:bodyPr/>
          <a:lstStyle/>
          <a:p>
            <a:pPr>
              <a:defRPr/>
            </a:pPr>
            <a:fld id="{D2221B3C-0061-41C4-8A2F-B03E83BC37BD}" type="slidenum">
              <a:rPr lang="en-US" smtClean="0">
                <a:solidFill>
                  <a:prstClr val="black">
                    <a:tint val="75000"/>
                  </a:prstClr>
                </a:solidFill>
              </a:rPr>
              <a:pPr>
                <a:defRPr/>
              </a:pPr>
              <a:t>15</a:t>
            </a:fld>
            <a:endParaRPr lang="en-US">
              <a:solidFill>
                <a:prstClr val="black">
                  <a:tint val="75000"/>
                </a:prstClr>
              </a:solidFill>
            </a:endParaRPr>
          </a:p>
        </p:txBody>
      </p:sp>
      <p:pic>
        <p:nvPicPr>
          <p:cNvPr id="1026" name="Picture 2" descr="Dining Philosopher Problem and Solution | by Zina Youhan | Medium">
            <a:extLst>
              <a:ext uri="{FF2B5EF4-FFF2-40B4-BE49-F238E27FC236}">
                <a16:creationId xmlns:a16="http://schemas.microsoft.com/office/drawing/2014/main" id="{979B791E-9DA3-62CE-5058-EE5E24A150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1125" y="1066801"/>
            <a:ext cx="3078068" cy="2934425"/>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4">
            <a:extLst>
              <a:ext uri="{FF2B5EF4-FFF2-40B4-BE49-F238E27FC236}">
                <a16:creationId xmlns:a16="http://schemas.microsoft.com/office/drawing/2014/main" id="{C2E70022-D4F4-F824-6D3D-A0AF95EB19BF}"/>
              </a:ext>
            </a:extLst>
          </p:cNvPr>
          <p:cNvSpPr txBox="1">
            <a:spLocks noChangeArrowheads="1"/>
          </p:cNvSpPr>
          <p:nvPr/>
        </p:nvSpPr>
        <p:spPr bwMode="auto">
          <a:xfrm>
            <a:off x="627718" y="2339755"/>
            <a:ext cx="5187156" cy="2431473"/>
          </a:xfrm>
          <a:prstGeom prst="rect">
            <a:avLst/>
          </a:prstGeom>
          <a:solidFill>
            <a:schemeClr val="accent6">
              <a:lumMod val="20000"/>
              <a:lumOff val="80000"/>
            </a:schemeClr>
          </a:solid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None/>
            </a:pPr>
            <a:r>
              <a:rPr lang="en-US" sz="2000" dirty="0">
                <a:solidFill>
                  <a:prstClr val="black"/>
                </a:solidFill>
              </a:rPr>
              <a:t>Structure of process/thread</a:t>
            </a:r>
            <a:r>
              <a:rPr lang="en-US" sz="2000" i="1" dirty="0">
                <a:solidFill>
                  <a:prstClr val="black"/>
                </a:solidFill>
              </a:rPr>
              <a:t> P</a:t>
            </a:r>
            <a:endParaRPr lang="en-US" sz="2000" i="1" baseline="-25000" dirty="0">
              <a:solidFill>
                <a:prstClr val="black"/>
              </a:solidFill>
            </a:endParaRPr>
          </a:p>
          <a:p>
            <a:pPr>
              <a:lnSpc>
                <a:spcPct val="90000"/>
              </a:lnSpc>
              <a:buFontTx/>
              <a:buNone/>
            </a:pPr>
            <a:r>
              <a:rPr lang="en-US" sz="2000" b="1" dirty="0">
                <a:solidFill>
                  <a:prstClr val="black"/>
                </a:solidFill>
              </a:rPr>
              <a:t>Repeat</a:t>
            </a:r>
            <a:r>
              <a:rPr lang="en-US" sz="2000" dirty="0">
                <a:solidFill>
                  <a:prstClr val="black"/>
                </a:solidFill>
              </a:rPr>
              <a:t> </a:t>
            </a:r>
          </a:p>
          <a:p>
            <a:pPr>
              <a:lnSpc>
                <a:spcPct val="90000"/>
              </a:lnSpc>
              <a:buFontTx/>
              <a:buNone/>
            </a:pPr>
            <a:r>
              <a:rPr lang="en-US" sz="2000" dirty="0">
                <a:solidFill>
                  <a:prstClr val="black"/>
                </a:solidFill>
              </a:rPr>
              <a:t>	</a:t>
            </a:r>
            <a:r>
              <a:rPr lang="en-US" sz="2000" i="1" dirty="0">
                <a:solidFill>
                  <a:srgbClr val="C00000"/>
                </a:solidFill>
              </a:rPr>
              <a:t>Request resources (left + right chopstick)</a:t>
            </a:r>
          </a:p>
          <a:p>
            <a:pPr>
              <a:lnSpc>
                <a:spcPct val="90000"/>
              </a:lnSpc>
              <a:buFontTx/>
              <a:buNone/>
            </a:pPr>
            <a:r>
              <a:rPr lang="en-US" sz="2000" dirty="0">
                <a:solidFill>
                  <a:prstClr val="black"/>
                </a:solidFill>
              </a:rPr>
              <a:t>	eat</a:t>
            </a:r>
          </a:p>
          <a:p>
            <a:pPr>
              <a:lnSpc>
                <a:spcPct val="90000"/>
              </a:lnSpc>
              <a:buFontTx/>
              <a:buNone/>
            </a:pPr>
            <a:r>
              <a:rPr lang="en-US" sz="2000" dirty="0">
                <a:solidFill>
                  <a:prstClr val="black"/>
                </a:solidFill>
              </a:rPr>
              <a:t>	</a:t>
            </a:r>
            <a:r>
              <a:rPr lang="en-US" sz="2000" i="1" dirty="0">
                <a:solidFill>
                  <a:srgbClr val="C00000"/>
                </a:solidFill>
              </a:rPr>
              <a:t>Release resources (left + right chopstick)</a:t>
            </a:r>
            <a:endParaRPr lang="en-US" sz="2000" dirty="0">
              <a:solidFill>
                <a:srgbClr val="C00000"/>
              </a:solidFill>
            </a:endParaRPr>
          </a:p>
          <a:p>
            <a:pPr>
              <a:lnSpc>
                <a:spcPct val="90000"/>
              </a:lnSpc>
              <a:buFontTx/>
              <a:buNone/>
            </a:pPr>
            <a:r>
              <a:rPr lang="en-US" sz="2000" dirty="0">
                <a:solidFill>
                  <a:prstClr val="black"/>
                </a:solidFill>
              </a:rPr>
              <a:t>	think</a:t>
            </a:r>
          </a:p>
          <a:p>
            <a:pPr>
              <a:lnSpc>
                <a:spcPct val="90000"/>
              </a:lnSpc>
              <a:buFontTx/>
              <a:buNone/>
            </a:pPr>
            <a:r>
              <a:rPr lang="en-US" sz="2000" b="1" dirty="0">
                <a:solidFill>
                  <a:prstClr val="black"/>
                </a:solidFill>
              </a:rPr>
              <a:t>Forever</a:t>
            </a:r>
            <a:endParaRPr lang="en-US" sz="2000" dirty="0">
              <a:solidFill>
                <a:prstClr val="black"/>
              </a:solidFill>
            </a:endParaRPr>
          </a:p>
          <a:p>
            <a:pPr lvl="4">
              <a:lnSpc>
                <a:spcPct val="90000"/>
              </a:lnSpc>
              <a:buFontTx/>
              <a:buNone/>
            </a:pPr>
            <a:endParaRPr lang="en-US" sz="2400" dirty="0">
              <a:solidFill>
                <a:prstClr val="black"/>
              </a:solidFill>
            </a:endParaRPr>
          </a:p>
        </p:txBody>
      </p:sp>
      <p:sp>
        <p:nvSpPr>
          <p:cNvPr id="13" name="Title 1">
            <a:extLst>
              <a:ext uri="{FF2B5EF4-FFF2-40B4-BE49-F238E27FC236}">
                <a16:creationId xmlns:a16="http://schemas.microsoft.com/office/drawing/2014/main" id="{CFF33C78-BD59-1FD6-3CEB-C545BCD69BF9}"/>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Dining philosophers [Dijkstra65]</a:t>
            </a:r>
            <a:endParaRPr lang="sv-SE" sz="3600" b="1" dirty="0">
              <a:solidFill>
                <a:schemeClr val="accent1">
                  <a:lumMod val="50000"/>
                </a:schemeClr>
              </a:solidFill>
            </a:endParaRPr>
          </a:p>
        </p:txBody>
      </p:sp>
      <p:sp>
        <p:nvSpPr>
          <p:cNvPr id="2" name="Date Placeholder 1">
            <a:extLst>
              <a:ext uri="{FF2B5EF4-FFF2-40B4-BE49-F238E27FC236}">
                <a16:creationId xmlns:a16="http://schemas.microsoft.com/office/drawing/2014/main" id="{F123C00D-BE15-43B4-4955-AEBCDB7A07C8}"/>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520394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1498" y="1110956"/>
            <a:ext cx="5784502" cy="3700742"/>
          </a:xfrm>
          <a:solidFill>
            <a:schemeClr val="accent6">
              <a:lumMod val="20000"/>
              <a:lumOff val="80000"/>
            </a:schemeClr>
          </a:solidFill>
          <a:ln w="9525">
            <a:noFill/>
            <a:miter lim="800000"/>
            <a:headEnd/>
            <a:tailEnd/>
          </a:ln>
        </p:spPr>
        <p:txBody>
          <a:bodyPr vert="horz" wrap="square" lIns="91440" tIns="45720" rIns="91440" bIns="45720" numCol="1" anchor="t" anchorCtr="0" compatLnSpc="1">
            <a:prstTxWarp prst="textNoShape">
              <a:avLst/>
            </a:prstTxWarp>
            <a:normAutofit/>
          </a:bodyPr>
          <a:lstStyle/>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Shared var c[0..n-1]: bin-semaphore </a:t>
            </a:r>
            <a:r>
              <a:rPr lang="en-US" sz="2000" dirty="0">
                <a:solidFill>
                  <a:schemeClr val="bg1">
                    <a:lumMod val="50000"/>
                  </a:schemeClr>
                </a:solidFill>
              </a:rPr>
              <a:t>// one for each chopstick; </a:t>
            </a:r>
            <a:r>
              <a:rPr lang="en-US" sz="2000" dirty="0" err="1">
                <a:solidFill>
                  <a:schemeClr val="bg1">
                    <a:lumMod val="50000"/>
                  </a:schemeClr>
                </a:solidFill>
              </a:rPr>
              <a:t>init</a:t>
            </a:r>
            <a:r>
              <a:rPr lang="en-US" sz="2000" dirty="0">
                <a:solidFill>
                  <a:schemeClr val="bg1">
                    <a:lumMod val="50000"/>
                  </a:schemeClr>
                </a:solidFill>
              </a:rPr>
              <a:t> all 1 </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P</a:t>
            </a:r>
            <a:r>
              <a:rPr lang="en-US" sz="2000" baseline="-25000" dirty="0">
                <a:solidFill>
                  <a:prstClr val="black"/>
                </a:solidFill>
              </a:rPr>
              <a:t>i</a:t>
            </a:r>
            <a:r>
              <a:rPr lang="en-US" sz="2000" dirty="0">
                <a:solidFill>
                  <a:prstClr val="black"/>
                </a:solidFill>
              </a:rPr>
              <a:t>:</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do </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	</a:t>
            </a:r>
            <a:r>
              <a:rPr lang="en-US" sz="2000" dirty="0">
                <a:solidFill>
                  <a:schemeClr val="tx1"/>
                </a:solidFill>
              </a:rPr>
              <a:t>Wait </a:t>
            </a:r>
            <a:r>
              <a:rPr lang="en-US" sz="2000" dirty="0"/>
              <a:t>c</a:t>
            </a:r>
            <a:r>
              <a:rPr lang="en-US" sz="2000" dirty="0">
                <a:solidFill>
                  <a:schemeClr val="tx1"/>
                </a:solidFill>
              </a:rPr>
              <a:t>[</a:t>
            </a:r>
            <a:r>
              <a:rPr lang="en-US" sz="2000" dirty="0" err="1">
                <a:solidFill>
                  <a:schemeClr val="tx1"/>
                </a:solidFill>
              </a:rPr>
              <a:t>i</a:t>
            </a:r>
            <a:r>
              <a:rPr lang="en-US" sz="2000" dirty="0">
                <a:solidFill>
                  <a:schemeClr val="tx1"/>
                </a:solidFill>
              </a:rPr>
              <a:t>];   </a:t>
            </a:r>
            <a:r>
              <a:rPr lang="en-US" sz="2000" dirty="0">
                <a:solidFill>
                  <a:schemeClr val="bg1">
                    <a:lumMod val="50000"/>
                  </a:schemeClr>
                </a:solidFill>
              </a:rPr>
              <a:t>// pick left chopstick</a:t>
            </a:r>
          </a:p>
          <a:p>
            <a:pPr marL="457200" indent="-457200" eaLnBrk="0" fontAlgn="base" hangingPunct="0">
              <a:spcBef>
                <a:spcPct val="20000"/>
              </a:spcBef>
              <a:spcAft>
                <a:spcPct val="0"/>
              </a:spcAft>
              <a:buFont typeface="+mj-lt"/>
              <a:buAutoNum type="arabicPeriod"/>
              <a:tabLst>
                <a:tab pos="263525" algn="l"/>
              </a:tabLst>
            </a:pPr>
            <a:r>
              <a:rPr lang="en-US" sz="2000" dirty="0"/>
              <a:t>	</a:t>
            </a:r>
            <a:r>
              <a:rPr lang="en-US" sz="2000" dirty="0">
                <a:solidFill>
                  <a:schemeClr val="tx1"/>
                </a:solidFill>
              </a:rPr>
              <a:t>Wait </a:t>
            </a:r>
            <a:r>
              <a:rPr lang="en-US" sz="2000" dirty="0"/>
              <a:t>c</a:t>
            </a:r>
            <a:r>
              <a:rPr lang="en-US" sz="2000" dirty="0">
                <a:solidFill>
                  <a:schemeClr val="tx1"/>
                </a:solidFill>
              </a:rPr>
              <a:t>[(i+1) mod n];  </a:t>
            </a:r>
            <a:r>
              <a:rPr lang="en-US" sz="2000" dirty="0">
                <a:solidFill>
                  <a:schemeClr val="bg1">
                    <a:lumMod val="50000"/>
                  </a:schemeClr>
                </a:solidFill>
              </a:rPr>
              <a:t>// pick right chopstick</a:t>
            </a:r>
          </a:p>
          <a:p>
            <a:pPr marL="457200" indent="-457200" eaLnBrk="0" fontAlgn="base" hangingPunct="0">
              <a:spcBef>
                <a:spcPct val="20000"/>
              </a:spcBef>
              <a:spcAft>
                <a:spcPct val="0"/>
              </a:spcAft>
              <a:buFont typeface="+mj-lt"/>
              <a:buAutoNum type="arabicPeriod"/>
              <a:tabLst>
                <a:tab pos="263525" algn="l"/>
              </a:tabLst>
            </a:pPr>
            <a:r>
              <a:rPr lang="en-US" sz="2000" dirty="0">
                <a:solidFill>
                  <a:schemeClr val="tx1"/>
                </a:solidFill>
              </a:rPr>
              <a:t>	</a:t>
            </a:r>
            <a:r>
              <a:rPr lang="en-US" sz="2000" dirty="0">
                <a:solidFill>
                  <a:schemeClr val="bg1">
                    <a:lumMod val="50000"/>
                  </a:schemeClr>
                </a:solidFill>
              </a:rPr>
              <a:t>// Eat</a:t>
            </a:r>
          </a:p>
          <a:p>
            <a:pPr marL="457200" indent="-457200" eaLnBrk="0" fontAlgn="base" hangingPunct="0">
              <a:spcBef>
                <a:spcPct val="20000"/>
              </a:spcBef>
              <a:spcAft>
                <a:spcPct val="0"/>
              </a:spcAft>
              <a:buFont typeface="+mj-lt"/>
              <a:buAutoNum type="arabicPeriod"/>
              <a:tabLst>
                <a:tab pos="263525" algn="l"/>
              </a:tabLst>
            </a:pPr>
            <a:r>
              <a:rPr lang="en-US" sz="2000" dirty="0">
                <a:solidFill>
                  <a:schemeClr val="tx1"/>
                </a:solidFill>
              </a:rPr>
              <a:t>	Signal </a:t>
            </a:r>
            <a:r>
              <a:rPr lang="en-US" sz="2000" dirty="0"/>
              <a:t>c</a:t>
            </a:r>
            <a:r>
              <a:rPr lang="en-US" sz="2000" dirty="0">
                <a:solidFill>
                  <a:schemeClr val="tx1"/>
                </a:solidFill>
              </a:rPr>
              <a:t>[</a:t>
            </a:r>
            <a:r>
              <a:rPr lang="en-US" sz="2000" dirty="0" err="1">
                <a:solidFill>
                  <a:schemeClr val="tx1"/>
                </a:solidFill>
              </a:rPr>
              <a:t>i</a:t>
            </a:r>
            <a:r>
              <a:rPr lang="en-US" sz="2000" dirty="0">
                <a:solidFill>
                  <a:schemeClr val="tx1"/>
                </a:solidFill>
              </a:rPr>
              <a:t>];  </a:t>
            </a:r>
            <a:r>
              <a:rPr lang="en-US" sz="2000" dirty="0">
                <a:solidFill>
                  <a:schemeClr val="bg1">
                    <a:lumMod val="50000"/>
                  </a:schemeClr>
                </a:solidFill>
              </a:rPr>
              <a:t>// leave left chopstick</a:t>
            </a:r>
            <a:r>
              <a:rPr lang="en-US" sz="2000" dirty="0">
                <a:solidFill>
                  <a:schemeClr val="tx1"/>
                </a:solidFill>
              </a:rPr>
              <a:t> </a:t>
            </a:r>
          </a:p>
          <a:p>
            <a:pPr marL="457200" indent="-457200" eaLnBrk="0" fontAlgn="base" hangingPunct="0">
              <a:spcBef>
                <a:spcPct val="20000"/>
              </a:spcBef>
              <a:spcAft>
                <a:spcPct val="0"/>
              </a:spcAft>
              <a:buFont typeface="+mj-lt"/>
              <a:buAutoNum type="arabicPeriod"/>
              <a:tabLst>
                <a:tab pos="263525" algn="l"/>
              </a:tabLst>
            </a:pPr>
            <a:r>
              <a:rPr lang="en-US" sz="2000" dirty="0"/>
              <a:t>	</a:t>
            </a:r>
            <a:r>
              <a:rPr lang="en-US" sz="2000" dirty="0">
                <a:solidFill>
                  <a:schemeClr val="tx1"/>
                </a:solidFill>
              </a:rPr>
              <a:t>Signal </a:t>
            </a:r>
            <a:r>
              <a:rPr lang="en-US" sz="2000" dirty="0"/>
              <a:t>c</a:t>
            </a:r>
            <a:r>
              <a:rPr lang="en-US" sz="2000" dirty="0">
                <a:solidFill>
                  <a:schemeClr val="tx1"/>
                </a:solidFill>
              </a:rPr>
              <a:t>[(i+1) mod n];  </a:t>
            </a:r>
            <a:r>
              <a:rPr lang="en-US" sz="2000" dirty="0">
                <a:solidFill>
                  <a:schemeClr val="bg1">
                    <a:lumMod val="50000"/>
                  </a:schemeClr>
                </a:solidFill>
              </a:rPr>
              <a:t>leave right chopstick</a:t>
            </a:r>
          </a:p>
          <a:p>
            <a:pPr marL="457200" indent="-457200" eaLnBrk="0" fontAlgn="base" hangingPunct="0">
              <a:spcBef>
                <a:spcPct val="20000"/>
              </a:spcBef>
              <a:spcAft>
                <a:spcPct val="0"/>
              </a:spcAft>
              <a:buFont typeface="+mj-lt"/>
              <a:buAutoNum type="arabicPeriod"/>
              <a:tabLst>
                <a:tab pos="263525" algn="l"/>
              </a:tabLst>
            </a:pPr>
            <a:r>
              <a:rPr lang="en-US" sz="2000" dirty="0">
                <a:solidFill>
                  <a:schemeClr val="tx1"/>
                </a:solidFill>
              </a:rPr>
              <a:t>	</a:t>
            </a:r>
            <a:r>
              <a:rPr lang="en-US" sz="2000" dirty="0">
                <a:solidFill>
                  <a:schemeClr val="bg1">
                    <a:lumMod val="50000"/>
                  </a:schemeClr>
                </a:solidFill>
              </a:rPr>
              <a:t>// Think</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forever </a:t>
            </a:r>
          </a:p>
        </p:txBody>
      </p:sp>
      <p:sp>
        <p:nvSpPr>
          <p:cNvPr id="4" name="Slide Number Placeholder 3"/>
          <p:cNvSpPr>
            <a:spLocks noGrp="1"/>
          </p:cNvSpPr>
          <p:nvPr>
            <p:ph type="sldNum" sz="quarter" idx="12"/>
          </p:nvPr>
        </p:nvSpPr>
        <p:spPr/>
        <p:txBody>
          <a:bodyPr/>
          <a:lstStyle/>
          <a:p>
            <a:pPr>
              <a:defRPr/>
            </a:pPr>
            <a:fld id="{D2221B3C-0061-41C4-8A2F-B03E83BC37BD}" type="slidenum">
              <a:rPr lang="en-US" smtClean="0">
                <a:solidFill>
                  <a:prstClr val="black">
                    <a:tint val="75000"/>
                  </a:prstClr>
                </a:solidFill>
              </a:rPr>
              <a:pPr>
                <a:defRPr/>
              </a:pPr>
              <a:t>16</a:t>
            </a:fld>
            <a:endParaRPr lang="en-US">
              <a:solidFill>
                <a:prstClr val="black">
                  <a:tint val="75000"/>
                </a:prstClr>
              </a:solidFill>
            </a:endParaRPr>
          </a:p>
        </p:txBody>
      </p:sp>
      <p:sp>
        <p:nvSpPr>
          <p:cNvPr id="11" name="Content Placeholder 2">
            <a:extLst>
              <a:ext uri="{FF2B5EF4-FFF2-40B4-BE49-F238E27FC236}">
                <a16:creationId xmlns:a16="http://schemas.microsoft.com/office/drawing/2014/main" id="{91F943BD-89FB-4E42-82FE-F3E27FB1AFF9}"/>
              </a:ext>
            </a:extLst>
          </p:cNvPr>
          <p:cNvSpPr txBox="1">
            <a:spLocks/>
          </p:cNvSpPr>
          <p:nvPr/>
        </p:nvSpPr>
        <p:spPr bwMode="auto">
          <a:xfrm>
            <a:off x="6269074" y="1110955"/>
            <a:ext cx="5784502" cy="2138271"/>
          </a:xfrm>
          <a:prstGeom prst="rect">
            <a:avLst/>
          </a:prstGeom>
          <a:noFill/>
          <a:ln>
            <a:solidFill>
              <a:srgbClr val="FF0000"/>
            </a:solidFill>
            <a:headEnd/>
            <a:tailEnd/>
          </a:ln>
          <a:effectLst/>
        </p:spPr>
        <p:style>
          <a:lnRef idx="1">
            <a:schemeClr val="dk1"/>
          </a:lnRef>
          <a:fillRef idx="2">
            <a:schemeClr val="dk1"/>
          </a:fillRef>
          <a:effectRef idx="1">
            <a:schemeClr val="dk1"/>
          </a:effectRef>
          <a:fontRef idx="minor">
            <a:schemeClr val="dk1"/>
          </a:fontRef>
        </p:style>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Arial" charset="0"/>
              <a:buNone/>
            </a:pPr>
            <a:r>
              <a:rPr lang="en-US" sz="2000" dirty="0">
                <a:solidFill>
                  <a:prstClr val="black"/>
                </a:solidFill>
              </a:rPr>
              <a:t>Recall the requirements:</a:t>
            </a:r>
          </a:p>
          <a:p>
            <a:pPr marL="457200" indent="-457200">
              <a:buFont typeface="+mj-lt"/>
              <a:buAutoNum type="arabicPeriod"/>
            </a:pPr>
            <a:r>
              <a:rPr lang="en-US" sz="2000" b="1" dirty="0">
                <a:solidFill>
                  <a:prstClr val="black"/>
                </a:solidFill>
              </a:rPr>
              <a:t>Mutual exclusion</a:t>
            </a:r>
            <a:r>
              <a:rPr lang="en-US" sz="2000" dirty="0">
                <a:solidFill>
                  <a:prstClr val="black"/>
                </a:solidFill>
              </a:rPr>
              <a:t>: each resource is used by only one process at a time</a:t>
            </a:r>
          </a:p>
          <a:p>
            <a:pPr marL="457200" indent="-457200">
              <a:buFont typeface="+mj-lt"/>
              <a:buAutoNum type="arabicPeriod"/>
            </a:pPr>
            <a:r>
              <a:rPr lang="en-US" sz="2000" b="1" dirty="0"/>
              <a:t>Progress</a:t>
            </a:r>
            <a:r>
              <a:rPr lang="en-US" sz="2000" dirty="0"/>
              <a:t>: </a:t>
            </a:r>
            <a:r>
              <a:rPr lang="en-US" sz="2000" dirty="0">
                <a:solidFill>
                  <a:srgbClr val="C00000"/>
                </a:solidFill>
              </a:rPr>
              <a:t>no deadlock</a:t>
            </a:r>
            <a:endParaRPr lang="en-US" sz="2000" dirty="0">
              <a:solidFill>
                <a:prstClr val="black"/>
              </a:solidFill>
            </a:endParaRPr>
          </a:p>
          <a:p>
            <a:pPr marL="457200" indent="-457200">
              <a:buFont typeface="+mj-lt"/>
              <a:buAutoNum type="arabicPeriod"/>
            </a:pPr>
            <a:r>
              <a:rPr lang="en-US" sz="2000" b="1" dirty="0">
                <a:solidFill>
                  <a:prstClr val="black"/>
                </a:solidFill>
              </a:rPr>
              <a:t>Fairness</a:t>
            </a:r>
            <a:r>
              <a:rPr lang="en-US" sz="2000" dirty="0">
                <a:solidFill>
                  <a:prstClr val="black"/>
                </a:solidFill>
              </a:rPr>
              <a:t>:  FCFS, or no starvation, or other fairness formulation</a:t>
            </a:r>
          </a:p>
        </p:txBody>
      </p:sp>
      <p:sp>
        <p:nvSpPr>
          <p:cNvPr id="5" name="Title 1">
            <a:extLst>
              <a:ext uri="{FF2B5EF4-FFF2-40B4-BE49-F238E27FC236}">
                <a16:creationId xmlns:a16="http://schemas.microsoft.com/office/drawing/2014/main" id="{719DEFE7-7F24-49A4-33AF-E2E191C2AEA9}"/>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Dining philosophers: pick-left-then-right approach</a:t>
            </a:r>
            <a:endParaRPr lang="sv-SE" sz="3600" b="1" dirty="0">
              <a:solidFill>
                <a:schemeClr val="accent1">
                  <a:lumMod val="50000"/>
                </a:schemeClr>
              </a:solidFill>
            </a:endParaRPr>
          </a:p>
        </p:txBody>
      </p:sp>
      <p:sp>
        <p:nvSpPr>
          <p:cNvPr id="2" name="Date Placeholder 1">
            <a:extLst>
              <a:ext uri="{FF2B5EF4-FFF2-40B4-BE49-F238E27FC236}">
                <a16:creationId xmlns:a16="http://schemas.microsoft.com/office/drawing/2014/main" id="{ABBC1872-738A-9B9D-2409-34E5F40C26E3}"/>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509757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614BBED-C310-4621-BE6D-148A655A5C8C}"/>
              </a:ext>
            </a:extLst>
          </p:cNvPr>
          <p:cNvSpPr>
            <a:spLocks noGrp="1"/>
          </p:cNvSpPr>
          <p:nvPr>
            <p:ph type="sldNum" sz="quarter" idx="12"/>
          </p:nvPr>
        </p:nvSpPr>
        <p:spPr/>
        <p:txBody>
          <a:bodyPr/>
          <a:lstStyle/>
          <a:p>
            <a:pPr>
              <a:defRPr/>
            </a:pPr>
            <a:fld id="{6FDBA504-7919-41DE-B9B2-CB6A22CC38B9}" type="slidenum">
              <a:rPr lang="en-US" smtClean="0">
                <a:solidFill>
                  <a:prstClr val="black">
                    <a:tint val="75000"/>
                  </a:prstClr>
                </a:solidFill>
              </a:rPr>
              <a:pPr>
                <a:defRPr/>
              </a:pPr>
              <a:t>17</a:t>
            </a:fld>
            <a:endParaRPr lang="en-US" dirty="0">
              <a:solidFill>
                <a:prstClr val="black">
                  <a:tint val="75000"/>
                </a:prstClr>
              </a:solidFill>
            </a:endParaRPr>
          </a:p>
        </p:txBody>
      </p:sp>
      <p:sp>
        <p:nvSpPr>
          <p:cNvPr id="11" name="Title 1">
            <a:extLst>
              <a:ext uri="{FF2B5EF4-FFF2-40B4-BE49-F238E27FC236}">
                <a16:creationId xmlns:a16="http://schemas.microsoft.com/office/drawing/2014/main" id="{206CC396-2907-E789-EA3D-FC61A16E97B9}"/>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Dining philosophers: pick-left-then-right approach</a:t>
            </a:r>
            <a:endParaRPr lang="sv-SE" sz="3600" b="1" dirty="0">
              <a:solidFill>
                <a:schemeClr val="accent1">
                  <a:lumMod val="50000"/>
                </a:schemeClr>
              </a:solidFill>
            </a:endParaRPr>
          </a:p>
        </p:txBody>
      </p:sp>
      <p:sp>
        <p:nvSpPr>
          <p:cNvPr id="39" name="Content Placeholder 2">
            <a:extLst>
              <a:ext uri="{FF2B5EF4-FFF2-40B4-BE49-F238E27FC236}">
                <a16:creationId xmlns:a16="http://schemas.microsoft.com/office/drawing/2014/main" id="{872A3E54-69DA-FEC0-F3E2-1E35DDA8389E}"/>
              </a:ext>
            </a:extLst>
          </p:cNvPr>
          <p:cNvSpPr>
            <a:spLocks noGrp="1"/>
          </p:cNvSpPr>
          <p:nvPr>
            <p:ph idx="1"/>
          </p:nvPr>
        </p:nvSpPr>
        <p:spPr>
          <a:xfrm>
            <a:off x="311498" y="1110956"/>
            <a:ext cx="5784502" cy="3700742"/>
          </a:xfrm>
          <a:solidFill>
            <a:schemeClr val="accent6">
              <a:lumMod val="20000"/>
              <a:lumOff val="80000"/>
            </a:schemeClr>
          </a:solidFill>
          <a:ln w="9525">
            <a:noFill/>
            <a:miter lim="800000"/>
            <a:headEnd/>
            <a:tailEnd/>
          </a:ln>
        </p:spPr>
        <p:txBody>
          <a:bodyPr vert="horz" wrap="square" lIns="91440" tIns="45720" rIns="91440" bIns="45720" numCol="1" anchor="t" anchorCtr="0" compatLnSpc="1">
            <a:prstTxWarp prst="textNoShape">
              <a:avLst/>
            </a:prstTxWarp>
            <a:normAutofit/>
          </a:bodyPr>
          <a:lstStyle/>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Shared var c[0..n-1]: bin-semaphore </a:t>
            </a:r>
            <a:r>
              <a:rPr lang="en-US" sz="2000" dirty="0">
                <a:solidFill>
                  <a:schemeClr val="bg1">
                    <a:lumMod val="50000"/>
                  </a:schemeClr>
                </a:solidFill>
              </a:rPr>
              <a:t>// one for each chopstick; </a:t>
            </a:r>
            <a:r>
              <a:rPr lang="en-US" sz="2000" dirty="0" err="1">
                <a:solidFill>
                  <a:schemeClr val="bg1">
                    <a:lumMod val="50000"/>
                  </a:schemeClr>
                </a:solidFill>
              </a:rPr>
              <a:t>init</a:t>
            </a:r>
            <a:r>
              <a:rPr lang="en-US" sz="2000" dirty="0">
                <a:solidFill>
                  <a:schemeClr val="bg1">
                    <a:lumMod val="50000"/>
                  </a:schemeClr>
                </a:solidFill>
              </a:rPr>
              <a:t> all 1 </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P</a:t>
            </a:r>
            <a:r>
              <a:rPr lang="en-US" sz="2000" baseline="-25000" dirty="0">
                <a:solidFill>
                  <a:prstClr val="black"/>
                </a:solidFill>
              </a:rPr>
              <a:t>i</a:t>
            </a:r>
            <a:r>
              <a:rPr lang="en-US" sz="2000" dirty="0">
                <a:solidFill>
                  <a:prstClr val="black"/>
                </a:solidFill>
              </a:rPr>
              <a:t>:</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do </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	</a:t>
            </a:r>
            <a:r>
              <a:rPr lang="en-US" sz="2000" dirty="0">
                <a:solidFill>
                  <a:schemeClr val="tx1"/>
                </a:solidFill>
              </a:rPr>
              <a:t>Wait </a:t>
            </a:r>
            <a:r>
              <a:rPr lang="en-US" sz="2000" dirty="0"/>
              <a:t>c</a:t>
            </a:r>
            <a:r>
              <a:rPr lang="en-US" sz="2000" dirty="0">
                <a:solidFill>
                  <a:schemeClr val="tx1"/>
                </a:solidFill>
              </a:rPr>
              <a:t>[</a:t>
            </a:r>
            <a:r>
              <a:rPr lang="en-US" sz="2000" dirty="0" err="1">
                <a:solidFill>
                  <a:schemeClr val="tx1"/>
                </a:solidFill>
              </a:rPr>
              <a:t>i</a:t>
            </a:r>
            <a:r>
              <a:rPr lang="en-US" sz="2000" dirty="0">
                <a:solidFill>
                  <a:schemeClr val="tx1"/>
                </a:solidFill>
              </a:rPr>
              <a:t>];   </a:t>
            </a:r>
            <a:r>
              <a:rPr lang="en-US" sz="2000" dirty="0">
                <a:solidFill>
                  <a:schemeClr val="bg1">
                    <a:lumMod val="50000"/>
                  </a:schemeClr>
                </a:solidFill>
              </a:rPr>
              <a:t>// pick left chopstick</a:t>
            </a:r>
          </a:p>
          <a:p>
            <a:pPr marL="457200" indent="-457200" eaLnBrk="0" fontAlgn="base" hangingPunct="0">
              <a:spcBef>
                <a:spcPct val="20000"/>
              </a:spcBef>
              <a:spcAft>
                <a:spcPct val="0"/>
              </a:spcAft>
              <a:buFont typeface="+mj-lt"/>
              <a:buAutoNum type="arabicPeriod"/>
              <a:tabLst>
                <a:tab pos="263525" algn="l"/>
              </a:tabLst>
            </a:pPr>
            <a:r>
              <a:rPr lang="en-US" sz="2000" dirty="0"/>
              <a:t>	</a:t>
            </a:r>
            <a:r>
              <a:rPr lang="en-US" sz="2000" dirty="0">
                <a:solidFill>
                  <a:schemeClr val="tx1"/>
                </a:solidFill>
              </a:rPr>
              <a:t>Wait </a:t>
            </a:r>
            <a:r>
              <a:rPr lang="en-US" sz="2000" dirty="0"/>
              <a:t>c</a:t>
            </a:r>
            <a:r>
              <a:rPr lang="en-US" sz="2000" dirty="0">
                <a:solidFill>
                  <a:schemeClr val="tx1"/>
                </a:solidFill>
              </a:rPr>
              <a:t>[(i+1) mod n];  </a:t>
            </a:r>
            <a:r>
              <a:rPr lang="en-US" sz="2000" dirty="0">
                <a:solidFill>
                  <a:schemeClr val="bg1">
                    <a:lumMod val="50000"/>
                  </a:schemeClr>
                </a:solidFill>
              </a:rPr>
              <a:t>// pick right chopstick</a:t>
            </a:r>
          </a:p>
          <a:p>
            <a:pPr marL="457200" indent="-457200" eaLnBrk="0" fontAlgn="base" hangingPunct="0">
              <a:spcBef>
                <a:spcPct val="20000"/>
              </a:spcBef>
              <a:spcAft>
                <a:spcPct val="0"/>
              </a:spcAft>
              <a:buFont typeface="+mj-lt"/>
              <a:buAutoNum type="arabicPeriod"/>
              <a:tabLst>
                <a:tab pos="263525" algn="l"/>
              </a:tabLst>
            </a:pPr>
            <a:r>
              <a:rPr lang="en-US" sz="2000" dirty="0">
                <a:solidFill>
                  <a:schemeClr val="tx1"/>
                </a:solidFill>
              </a:rPr>
              <a:t>	</a:t>
            </a:r>
            <a:r>
              <a:rPr lang="en-US" sz="2000" dirty="0">
                <a:solidFill>
                  <a:schemeClr val="bg1">
                    <a:lumMod val="50000"/>
                  </a:schemeClr>
                </a:solidFill>
              </a:rPr>
              <a:t>// Eat</a:t>
            </a:r>
          </a:p>
          <a:p>
            <a:pPr marL="457200" indent="-457200" eaLnBrk="0" fontAlgn="base" hangingPunct="0">
              <a:spcBef>
                <a:spcPct val="20000"/>
              </a:spcBef>
              <a:spcAft>
                <a:spcPct val="0"/>
              </a:spcAft>
              <a:buFont typeface="+mj-lt"/>
              <a:buAutoNum type="arabicPeriod"/>
              <a:tabLst>
                <a:tab pos="263525" algn="l"/>
              </a:tabLst>
            </a:pPr>
            <a:r>
              <a:rPr lang="en-US" sz="2000" dirty="0">
                <a:solidFill>
                  <a:schemeClr val="tx1"/>
                </a:solidFill>
              </a:rPr>
              <a:t>	Signal </a:t>
            </a:r>
            <a:r>
              <a:rPr lang="en-US" sz="2000" dirty="0"/>
              <a:t>c</a:t>
            </a:r>
            <a:r>
              <a:rPr lang="en-US" sz="2000" dirty="0">
                <a:solidFill>
                  <a:schemeClr val="tx1"/>
                </a:solidFill>
              </a:rPr>
              <a:t>[</a:t>
            </a:r>
            <a:r>
              <a:rPr lang="en-US" sz="2000" dirty="0" err="1">
                <a:solidFill>
                  <a:schemeClr val="tx1"/>
                </a:solidFill>
              </a:rPr>
              <a:t>i</a:t>
            </a:r>
            <a:r>
              <a:rPr lang="en-US" sz="2000" dirty="0">
                <a:solidFill>
                  <a:schemeClr val="tx1"/>
                </a:solidFill>
              </a:rPr>
              <a:t>];  </a:t>
            </a:r>
            <a:r>
              <a:rPr lang="en-US" sz="2000" dirty="0">
                <a:solidFill>
                  <a:schemeClr val="bg1">
                    <a:lumMod val="50000"/>
                  </a:schemeClr>
                </a:solidFill>
              </a:rPr>
              <a:t>// leave left chopstick</a:t>
            </a:r>
            <a:r>
              <a:rPr lang="en-US" sz="2000" dirty="0">
                <a:solidFill>
                  <a:schemeClr val="tx1"/>
                </a:solidFill>
              </a:rPr>
              <a:t> </a:t>
            </a:r>
          </a:p>
          <a:p>
            <a:pPr marL="457200" indent="-457200" eaLnBrk="0" fontAlgn="base" hangingPunct="0">
              <a:spcBef>
                <a:spcPct val="20000"/>
              </a:spcBef>
              <a:spcAft>
                <a:spcPct val="0"/>
              </a:spcAft>
              <a:buFont typeface="+mj-lt"/>
              <a:buAutoNum type="arabicPeriod"/>
              <a:tabLst>
                <a:tab pos="263525" algn="l"/>
              </a:tabLst>
            </a:pPr>
            <a:r>
              <a:rPr lang="en-US" sz="2000" dirty="0"/>
              <a:t>	</a:t>
            </a:r>
            <a:r>
              <a:rPr lang="en-US" sz="2000" dirty="0">
                <a:solidFill>
                  <a:schemeClr val="tx1"/>
                </a:solidFill>
              </a:rPr>
              <a:t>Signal </a:t>
            </a:r>
            <a:r>
              <a:rPr lang="en-US" sz="2000" dirty="0"/>
              <a:t>c</a:t>
            </a:r>
            <a:r>
              <a:rPr lang="en-US" sz="2000" dirty="0">
                <a:solidFill>
                  <a:schemeClr val="tx1"/>
                </a:solidFill>
              </a:rPr>
              <a:t>[(i+1) mod n];  </a:t>
            </a:r>
            <a:r>
              <a:rPr lang="en-US" sz="2000" dirty="0">
                <a:solidFill>
                  <a:schemeClr val="bg1">
                    <a:lumMod val="50000"/>
                  </a:schemeClr>
                </a:solidFill>
              </a:rPr>
              <a:t>leave right chopstick</a:t>
            </a:r>
          </a:p>
          <a:p>
            <a:pPr marL="457200" indent="-457200" eaLnBrk="0" fontAlgn="base" hangingPunct="0">
              <a:spcBef>
                <a:spcPct val="20000"/>
              </a:spcBef>
              <a:spcAft>
                <a:spcPct val="0"/>
              </a:spcAft>
              <a:buFont typeface="+mj-lt"/>
              <a:buAutoNum type="arabicPeriod"/>
              <a:tabLst>
                <a:tab pos="263525" algn="l"/>
              </a:tabLst>
            </a:pPr>
            <a:r>
              <a:rPr lang="en-US" sz="2000" dirty="0">
                <a:solidFill>
                  <a:schemeClr val="tx1"/>
                </a:solidFill>
              </a:rPr>
              <a:t>	</a:t>
            </a:r>
            <a:r>
              <a:rPr lang="en-US" sz="2000" dirty="0">
                <a:solidFill>
                  <a:schemeClr val="bg1">
                    <a:lumMod val="50000"/>
                  </a:schemeClr>
                </a:solidFill>
              </a:rPr>
              <a:t>// Think</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forever </a:t>
            </a:r>
          </a:p>
        </p:txBody>
      </p:sp>
      <p:grpSp>
        <p:nvGrpSpPr>
          <p:cNvPr id="44" name="Group 43">
            <a:extLst>
              <a:ext uri="{FF2B5EF4-FFF2-40B4-BE49-F238E27FC236}">
                <a16:creationId xmlns:a16="http://schemas.microsoft.com/office/drawing/2014/main" id="{D89F93E5-71D6-347B-7B26-1DD092AD4DDF}"/>
              </a:ext>
            </a:extLst>
          </p:cNvPr>
          <p:cNvGrpSpPr/>
          <p:nvPr/>
        </p:nvGrpSpPr>
        <p:grpSpPr>
          <a:xfrm>
            <a:off x="639192" y="2032710"/>
            <a:ext cx="4387227" cy="1136617"/>
            <a:chOff x="639192" y="2032710"/>
            <a:chExt cx="4387227" cy="1136617"/>
          </a:xfrm>
        </p:grpSpPr>
        <p:sp>
          <p:nvSpPr>
            <p:cNvPr id="40" name="Oval 39">
              <a:extLst>
                <a:ext uri="{FF2B5EF4-FFF2-40B4-BE49-F238E27FC236}">
                  <a16:creationId xmlns:a16="http://schemas.microsoft.com/office/drawing/2014/main" id="{16B62153-C3EF-41A5-5A35-7BBD73B9E9A3}"/>
                </a:ext>
              </a:extLst>
            </p:cNvPr>
            <p:cNvSpPr/>
            <p:nvPr/>
          </p:nvSpPr>
          <p:spPr>
            <a:xfrm>
              <a:off x="639192" y="2281560"/>
              <a:ext cx="3284738" cy="88776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F271990D-F1A2-E47C-DF3E-0E9930E26269}"/>
                </a:ext>
              </a:extLst>
            </p:cNvPr>
            <p:cNvSpPr txBox="1"/>
            <p:nvPr/>
          </p:nvSpPr>
          <p:spPr>
            <a:xfrm>
              <a:off x="3507349" y="2032710"/>
              <a:ext cx="1519070" cy="369332"/>
            </a:xfrm>
            <a:prstGeom prst="rect">
              <a:avLst/>
            </a:prstGeom>
            <a:noFill/>
          </p:spPr>
          <p:txBody>
            <a:bodyPr wrap="none" rtlCol="0">
              <a:spAutoFit/>
            </a:bodyPr>
            <a:lstStyle/>
            <a:p>
              <a:r>
                <a:rPr lang="en-US" b="1" dirty="0">
                  <a:solidFill>
                    <a:srgbClr val="FF0000"/>
                  </a:solidFill>
                </a:rPr>
                <a:t>Hold and wait</a:t>
              </a:r>
            </a:p>
          </p:txBody>
        </p:sp>
      </p:grpSp>
      <p:grpSp>
        <p:nvGrpSpPr>
          <p:cNvPr id="45" name="Group 44">
            <a:extLst>
              <a:ext uri="{FF2B5EF4-FFF2-40B4-BE49-F238E27FC236}">
                <a16:creationId xmlns:a16="http://schemas.microsoft.com/office/drawing/2014/main" id="{56F984DE-720A-8367-C247-F30E91E8BE56}"/>
              </a:ext>
            </a:extLst>
          </p:cNvPr>
          <p:cNvGrpSpPr/>
          <p:nvPr/>
        </p:nvGrpSpPr>
        <p:grpSpPr>
          <a:xfrm>
            <a:off x="639192" y="3312849"/>
            <a:ext cx="4589870" cy="1143110"/>
            <a:chOff x="639192" y="3312849"/>
            <a:chExt cx="4589870" cy="1143110"/>
          </a:xfrm>
        </p:grpSpPr>
        <p:sp>
          <p:nvSpPr>
            <p:cNvPr id="41" name="Oval 40">
              <a:extLst>
                <a:ext uri="{FF2B5EF4-FFF2-40B4-BE49-F238E27FC236}">
                  <a16:creationId xmlns:a16="http://schemas.microsoft.com/office/drawing/2014/main" id="{099165F0-2CE7-2E2C-E2AF-085F67FFA287}"/>
                </a:ext>
              </a:extLst>
            </p:cNvPr>
            <p:cNvSpPr/>
            <p:nvPr/>
          </p:nvSpPr>
          <p:spPr>
            <a:xfrm>
              <a:off x="639192" y="3312849"/>
              <a:ext cx="3284738" cy="88776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FE7D7AE5-D45A-6B0F-F933-49BA7D78AE2B}"/>
                </a:ext>
              </a:extLst>
            </p:cNvPr>
            <p:cNvSpPr txBox="1"/>
            <p:nvPr/>
          </p:nvSpPr>
          <p:spPr>
            <a:xfrm>
              <a:off x="3589126" y="4086627"/>
              <a:ext cx="1639936" cy="369332"/>
            </a:xfrm>
            <a:prstGeom prst="rect">
              <a:avLst/>
            </a:prstGeom>
            <a:noFill/>
          </p:spPr>
          <p:txBody>
            <a:bodyPr wrap="none" rtlCol="0">
              <a:spAutoFit/>
            </a:bodyPr>
            <a:lstStyle/>
            <a:p>
              <a:r>
                <a:rPr lang="en-US" b="1" dirty="0">
                  <a:solidFill>
                    <a:srgbClr val="FF0000"/>
                  </a:solidFill>
                </a:rPr>
                <a:t>No preemption</a:t>
              </a:r>
            </a:p>
          </p:txBody>
        </p:sp>
      </p:grpSp>
      <p:sp>
        <p:nvSpPr>
          <p:cNvPr id="2" name="Date Placeholder 1">
            <a:extLst>
              <a:ext uri="{FF2B5EF4-FFF2-40B4-BE49-F238E27FC236}">
                <a16:creationId xmlns:a16="http://schemas.microsoft.com/office/drawing/2014/main" id="{1A1519C6-F27E-29FD-4108-F07E0D7CF896}"/>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605333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614BBED-C310-4621-BE6D-148A655A5C8C}"/>
              </a:ext>
            </a:extLst>
          </p:cNvPr>
          <p:cNvSpPr>
            <a:spLocks noGrp="1"/>
          </p:cNvSpPr>
          <p:nvPr>
            <p:ph type="sldNum" sz="quarter" idx="12"/>
          </p:nvPr>
        </p:nvSpPr>
        <p:spPr/>
        <p:txBody>
          <a:bodyPr/>
          <a:lstStyle/>
          <a:p>
            <a:pPr>
              <a:defRPr/>
            </a:pPr>
            <a:fld id="{6FDBA504-7919-41DE-B9B2-CB6A22CC38B9}" type="slidenum">
              <a:rPr lang="en-US" smtClean="0">
                <a:solidFill>
                  <a:prstClr val="black">
                    <a:tint val="75000"/>
                  </a:prstClr>
                </a:solidFill>
              </a:rPr>
              <a:pPr>
                <a:defRPr/>
              </a:pPr>
              <a:t>18</a:t>
            </a:fld>
            <a:endParaRPr lang="en-US" dirty="0">
              <a:solidFill>
                <a:prstClr val="black">
                  <a:tint val="75000"/>
                </a:prstClr>
              </a:solidFill>
            </a:endParaRPr>
          </a:p>
        </p:txBody>
      </p:sp>
      <p:sp>
        <p:nvSpPr>
          <p:cNvPr id="11" name="Title 1">
            <a:extLst>
              <a:ext uri="{FF2B5EF4-FFF2-40B4-BE49-F238E27FC236}">
                <a16:creationId xmlns:a16="http://schemas.microsoft.com/office/drawing/2014/main" id="{206CC396-2907-E789-EA3D-FC61A16E97B9}"/>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Dining philosophers: pick-left-then-right approach</a:t>
            </a:r>
            <a:endParaRPr lang="sv-SE" sz="3600" b="1" dirty="0">
              <a:solidFill>
                <a:schemeClr val="accent1">
                  <a:lumMod val="50000"/>
                </a:schemeClr>
              </a:solidFill>
            </a:endParaRPr>
          </a:p>
        </p:txBody>
      </p:sp>
      <p:sp>
        <p:nvSpPr>
          <p:cNvPr id="39" name="Content Placeholder 2">
            <a:extLst>
              <a:ext uri="{FF2B5EF4-FFF2-40B4-BE49-F238E27FC236}">
                <a16:creationId xmlns:a16="http://schemas.microsoft.com/office/drawing/2014/main" id="{872A3E54-69DA-FEC0-F3E2-1E35DDA8389E}"/>
              </a:ext>
            </a:extLst>
          </p:cNvPr>
          <p:cNvSpPr>
            <a:spLocks noGrp="1"/>
          </p:cNvSpPr>
          <p:nvPr>
            <p:ph idx="1"/>
          </p:nvPr>
        </p:nvSpPr>
        <p:spPr>
          <a:xfrm>
            <a:off x="311498" y="1110956"/>
            <a:ext cx="5784502" cy="3700742"/>
          </a:xfrm>
          <a:solidFill>
            <a:schemeClr val="accent6">
              <a:lumMod val="20000"/>
              <a:lumOff val="80000"/>
            </a:schemeClr>
          </a:solidFill>
          <a:ln w="9525">
            <a:noFill/>
            <a:miter lim="800000"/>
            <a:headEnd/>
            <a:tailEnd/>
          </a:ln>
        </p:spPr>
        <p:txBody>
          <a:bodyPr vert="horz" wrap="square" lIns="91440" tIns="45720" rIns="91440" bIns="45720" numCol="1" anchor="t" anchorCtr="0" compatLnSpc="1">
            <a:prstTxWarp prst="textNoShape">
              <a:avLst/>
            </a:prstTxWarp>
            <a:normAutofit/>
          </a:bodyPr>
          <a:lstStyle/>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Shared var c[0..n-1]: bin-semaphore </a:t>
            </a:r>
            <a:r>
              <a:rPr lang="en-US" sz="2000" dirty="0">
                <a:solidFill>
                  <a:schemeClr val="bg1">
                    <a:lumMod val="50000"/>
                  </a:schemeClr>
                </a:solidFill>
              </a:rPr>
              <a:t>// one for each chopstick; </a:t>
            </a:r>
            <a:r>
              <a:rPr lang="en-US" sz="2000" dirty="0" err="1">
                <a:solidFill>
                  <a:schemeClr val="bg1">
                    <a:lumMod val="50000"/>
                  </a:schemeClr>
                </a:solidFill>
              </a:rPr>
              <a:t>init</a:t>
            </a:r>
            <a:r>
              <a:rPr lang="en-US" sz="2000" dirty="0">
                <a:solidFill>
                  <a:schemeClr val="bg1">
                    <a:lumMod val="50000"/>
                  </a:schemeClr>
                </a:solidFill>
              </a:rPr>
              <a:t> all 1 </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P</a:t>
            </a:r>
            <a:r>
              <a:rPr lang="en-US" sz="2000" baseline="-25000" dirty="0">
                <a:solidFill>
                  <a:prstClr val="black"/>
                </a:solidFill>
              </a:rPr>
              <a:t>i</a:t>
            </a:r>
            <a:r>
              <a:rPr lang="en-US" sz="2000" dirty="0">
                <a:solidFill>
                  <a:prstClr val="black"/>
                </a:solidFill>
              </a:rPr>
              <a:t>:</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do </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	</a:t>
            </a:r>
            <a:r>
              <a:rPr lang="en-US" sz="2000" dirty="0">
                <a:solidFill>
                  <a:schemeClr val="tx1"/>
                </a:solidFill>
              </a:rPr>
              <a:t>Wait </a:t>
            </a:r>
            <a:r>
              <a:rPr lang="en-US" sz="2000" dirty="0"/>
              <a:t>c</a:t>
            </a:r>
            <a:r>
              <a:rPr lang="en-US" sz="2000" dirty="0">
                <a:solidFill>
                  <a:schemeClr val="tx1"/>
                </a:solidFill>
              </a:rPr>
              <a:t>[</a:t>
            </a:r>
            <a:r>
              <a:rPr lang="en-US" sz="2000" dirty="0" err="1">
                <a:solidFill>
                  <a:schemeClr val="tx1"/>
                </a:solidFill>
              </a:rPr>
              <a:t>i</a:t>
            </a:r>
            <a:r>
              <a:rPr lang="en-US" sz="2000" dirty="0">
                <a:solidFill>
                  <a:schemeClr val="tx1"/>
                </a:solidFill>
              </a:rPr>
              <a:t>];   </a:t>
            </a:r>
            <a:r>
              <a:rPr lang="en-US" sz="2000" dirty="0">
                <a:solidFill>
                  <a:schemeClr val="bg1">
                    <a:lumMod val="50000"/>
                  </a:schemeClr>
                </a:solidFill>
              </a:rPr>
              <a:t>// pick left chopstick</a:t>
            </a:r>
          </a:p>
          <a:p>
            <a:pPr marL="457200" indent="-457200" eaLnBrk="0" fontAlgn="base" hangingPunct="0">
              <a:spcBef>
                <a:spcPct val="20000"/>
              </a:spcBef>
              <a:spcAft>
                <a:spcPct val="0"/>
              </a:spcAft>
              <a:buFont typeface="+mj-lt"/>
              <a:buAutoNum type="arabicPeriod"/>
              <a:tabLst>
                <a:tab pos="263525" algn="l"/>
              </a:tabLst>
            </a:pPr>
            <a:r>
              <a:rPr lang="en-US" sz="2000" dirty="0"/>
              <a:t>	</a:t>
            </a:r>
            <a:r>
              <a:rPr lang="en-US" sz="2000" dirty="0">
                <a:solidFill>
                  <a:schemeClr val="tx1"/>
                </a:solidFill>
              </a:rPr>
              <a:t>Wait </a:t>
            </a:r>
            <a:r>
              <a:rPr lang="en-US" sz="2000" dirty="0"/>
              <a:t>c</a:t>
            </a:r>
            <a:r>
              <a:rPr lang="en-US" sz="2000" dirty="0">
                <a:solidFill>
                  <a:schemeClr val="tx1"/>
                </a:solidFill>
              </a:rPr>
              <a:t>[(i+1) mod n];  </a:t>
            </a:r>
            <a:r>
              <a:rPr lang="en-US" sz="2000" dirty="0">
                <a:solidFill>
                  <a:schemeClr val="bg1">
                    <a:lumMod val="50000"/>
                  </a:schemeClr>
                </a:solidFill>
              </a:rPr>
              <a:t>// pick right chopstick</a:t>
            </a:r>
          </a:p>
          <a:p>
            <a:pPr marL="457200" indent="-457200" eaLnBrk="0" fontAlgn="base" hangingPunct="0">
              <a:spcBef>
                <a:spcPct val="20000"/>
              </a:spcBef>
              <a:spcAft>
                <a:spcPct val="0"/>
              </a:spcAft>
              <a:buFont typeface="+mj-lt"/>
              <a:buAutoNum type="arabicPeriod"/>
              <a:tabLst>
                <a:tab pos="263525" algn="l"/>
              </a:tabLst>
            </a:pPr>
            <a:r>
              <a:rPr lang="en-US" sz="2000" dirty="0">
                <a:solidFill>
                  <a:schemeClr val="tx1"/>
                </a:solidFill>
              </a:rPr>
              <a:t>	</a:t>
            </a:r>
            <a:r>
              <a:rPr lang="en-US" sz="2000" dirty="0">
                <a:solidFill>
                  <a:schemeClr val="bg1">
                    <a:lumMod val="50000"/>
                  </a:schemeClr>
                </a:solidFill>
              </a:rPr>
              <a:t>// Eat</a:t>
            </a:r>
          </a:p>
          <a:p>
            <a:pPr marL="457200" indent="-457200" eaLnBrk="0" fontAlgn="base" hangingPunct="0">
              <a:spcBef>
                <a:spcPct val="20000"/>
              </a:spcBef>
              <a:spcAft>
                <a:spcPct val="0"/>
              </a:spcAft>
              <a:buFont typeface="+mj-lt"/>
              <a:buAutoNum type="arabicPeriod"/>
              <a:tabLst>
                <a:tab pos="263525" algn="l"/>
              </a:tabLst>
            </a:pPr>
            <a:r>
              <a:rPr lang="en-US" sz="2000" dirty="0">
                <a:solidFill>
                  <a:schemeClr val="tx1"/>
                </a:solidFill>
              </a:rPr>
              <a:t>	Signal </a:t>
            </a:r>
            <a:r>
              <a:rPr lang="en-US" sz="2000" dirty="0"/>
              <a:t>c</a:t>
            </a:r>
            <a:r>
              <a:rPr lang="en-US" sz="2000" dirty="0">
                <a:solidFill>
                  <a:schemeClr val="tx1"/>
                </a:solidFill>
              </a:rPr>
              <a:t>[</a:t>
            </a:r>
            <a:r>
              <a:rPr lang="en-US" sz="2000" dirty="0" err="1">
                <a:solidFill>
                  <a:schemeClr val="tx1"/>
                </a:solidFill>
              </a:rPr>
              <a:t>i</a:t>
            </a:r>
            <a:r>
              <a:rPr lang="en-US" sz="2000" dirty="0">
                <a:solidFill>
                  <a:schemeClr val="tx1"/>
                </a:solidFill>
              </a:rPr>
              <a:t>];  </a:t>
            </a:r>
            <a:r>
              <a:rPr lang="en-US" sz="2000" dirty="0">
                <a:solidFill>
                  <a:schemeClr val="bg1">
                    <a:lumMod val="50000"/>
                  </a:schemeClr>
                </a:solidFill>
              </a:rPr>
              <a:t>// leave left chopstick</a:t>
            </a:r>
            <a:r>
              <a:rPr lang="en-US" sz="2000" dirty="0">
                <a:solidFill>
                  <a:schemeClr val="tx1"/>
                </a:solidFill>
              </a:rPr>
              <a:t> </a:t>
            </a:r>
          </a:p>
          <a:p>
            <a:pPr marL="457200" indent="-457200" eaLnBrk="0" fontAlgn="base" hangingPunct="0">
              <a:spcBef>
                <a:spcPct val="20000"/>
              </a:spcBef>
              <a:spcAft>
                <a:spcPct val="0"/>
              </a:spcAft>
              <a:buFont typeface="+mj-lt"/>
              <a:buAutoNum type="arabicPeriod"/>
              <a:tabLst>
                <a:tab pos="263525" algn="l"/>
              </a:tabLst>
            </a:pPr>
            <a:r>
              <a:rPr lang="en-US" sz="2000" dirty="0"/>
              <a:t>	</a:t>
            </a:r>
            <a:r>
              <a:rPr lang="en-US" sz="2000" dirty="0">
                <a:solidFill>
                  <a:schemeClr val="tx1"/>
                </a:solidFill>
              </a:rPr>
              <a:t>Signal </a:t>
            </a:r>
            <a:r>
              <a:rPr lang="en-US" sz="2000" dirty="0"/>
              <a:t>c</a:t>
            </a:r>
            <a:r>
              <a:rPr lang="en-US" sz="2000" dirty="0">
                <a:solidFill>
                  <a:schemeClr val="tx1"/>
                </a:solidFill>
              </a:rPr>
              <a:t>[(i+1) mod n];  </a:t>
            </a:r>
            <a:r>
              <a:rPr lang="en-US" sz="2000" dirty="0">
                <a:solidFill>
                  <a:schemeClr val="bg1">
                    <a:lumMod val="50000"/>
                  </a:schemeClr>
                </a:solidFill>
              </a:rPr>
              <a:t>leave right chopstick</a:t>
            </a:r>
          </a:p>
          <a:p>
            <a:pPr marL="457200" indent="-457200" eaLnBrk="0" fontAlgn="base" hangingPunct="0">
              <a:spcBef>
                <a:spcPct val="20000"/>
              </a:spcBef>
              <a:spcAft>
                <a:spcPct val="0"/>
              </a:spcAft>
              <a:buFont typeface="+mj-lt"/>
              <a:buAutoNum type="arabicPeriod"/>
              <a:tabLst>
                <a:tab pos="263525" algn="l"/>
              </a:tabLst>
            </a:pPr>
            <a:r>
              <a:rPr lang="en-US" sz="2000" dirty="0">
                <a:solidFill>
                  <a:schemeClr val="tx1"/>
                </a:solidFill>
              </a:rPr>
              <a:t>	</a:t>
            </a:r>
            <a:r>
              <a:rPr lang="en-US" sz="2000" dirty="0">
                <a:solidFill>
                  <a:schemeClr val="bg1">
                    <a:lumMod val="50000"/>
                  </a:schemeClr>
                </a:solidFill>
              </a:rPr>
              <a:t>// Think</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forever </a:t>
            </a:r>
          </a:p>
        </p:txBody>
      </p:sp>
      <p:grpSp>
        <p:nvGrpSpPr>
          <p:cNvPr id="44" name="Group 43">
            <a:extLst>
              <a:ext uri="{FF2B5EF4-FFF2-40B4-BE49-F238E27FC236}">
                <a16:creationId xmlns:a16="http://schemas.microsoft.com/office/drawing/2014/main" id="{D89F93E5-71D6-347B-7B26-1DD092AD4DDF}"/>
              </a:ext>
            </a:extLst>
          </p:cNvPr>
          <p:cNvGrpSpPr/>
          <p:nvPr/>
        </p:nvGrpSpPr>
        <p:grpSpPr>
          <a:xfrm>
            <a:off x="639192" y="2032710"/>
            <a:ext cx="4387227" cy="1136617"/>
            <a:chOff x="639192" y="2032710"/>
            <a:chExt cx="4387227" cy="1136617"/>
          </a:xfrm>
        </p:grpSpPr>
        <p:sp>
          <p:nvSpPr>
            <p:cNvPr id="40" name="Oval 39">
              <a:extLst>
                <a:ext uri="{FF2B5EF4-FFF2-40B4-BE49-F238E27FC236}">
                  <a16:creationId xmlns:a16="http://schemas.microsoft.com/office/drawing/2014/main" id="{16B62153-C3EF-41A5-5A35-7BBD73B9E9A3}"/>
                </a:ext>
              </a:extLst>
            </p:cNvPr>
            <p:cNvSpPr/>
            <p:nvPr/>
          </p:nvSpPr>
          <p:spPr>
            <a:xfrm>
              <a:off x="639192" y="2281560"/>
              <a:ext cx="3284738" cy="88776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F271990D-F1A2-E47C-DF3E-0E9930E26269}"/>
                </a:ext>
              </a:extLst>
            </p:cNvPr>
            <p:cNvSpPr txBox="1"/>
            <p:nvPr/>
          </p:nvSpPr>
          <p:spPr>
            <a:xfrm>
              <a:off x="3507349" y="2032710"/>
              <a:ext cx="1519070" cy="369332"/>
            </a:xfrm>
            <a:prstGeom prst="rect">
              <a:avLst/>
            </a:prstGeom>
            <a:noFill/>
          </p:spPr>
          <p:txBody>
            <a:bodyPr wrap="none" rtlCol="0">
              <a:spAutoFit/>
            </a:bodyPr>
            <a:lstStyle/>
            <a:p>
              <a:r>
                <a:rPr lang="en-US" b="1" dirty="0">
                  <a:solidFill>
                    <a:srgbClr val="FF0000"/>
                  </a:solidFill>
                </a:rPr>
                <a:t>Hold and wait</a:t>
              </a:r>
            </a:p>
          </p:txBody>
        </p:sp>
      </p:grpSp>
      <p:grpSp>
        <p:nvGrpSpPr>
          <p:cNvPr id="45" name="Group 44">
            <a:extLst>
              <a:ext uri="{FF2B5EF4-FFF2-40B4-BE49-F238E27FC236}">
                <a16:creationId xmlns:a16="http://schemas.microsoft.com/office/drawing/2014/main" id="{56F984DE-720A-8367-C247-F30E91E8BE56}"/>
              </a:ext>
            </a:extLst>
          </p:cNvPr>
          <p:cNvGrpSpPr/>
          <p:nvPr/>
        </p:nvGrpSpPr>
        <p:grpSpPr>
          <a:xfrm>
            <a:off x="639192" y="3312849"/>
            <a:ext cx="4589870" cy="1143110"/>
            <a:chOff x="639192" y="3312849"/>
            <a:chExt cx="4589870" cy="1143110"/>
          </a:xfrm>
        </p:grpSpPr>
        <p:sp>
          <p:nvSpPr>
            <p:cNvPr id="41" name="Oval 40">
              <a:extLst>
                <a:ext uri="{FF2B5EF4-FFF2-40B4-BE49-F238E27FC236}">
                  <a16:creationId xmlns:a16="http://schemas.microsoft.com/office/drawing/2014/main" id="{099165F0-2CE7-2E2C-E2AF-085F67FFA287}"/>
                </a:ext>
              </a:extLst>
            </p:cNvPr>
            <p:cNvSpPr/>
            <p:nvPr/>
          </p:nvSpPr>
          <p:spPr>
            <a:xfrm>
              <a:off x="639192" y="3312849"/>
              <a:ext cx="3284738" cy="88776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FE7D7AE5-D45A-6B0F-F933-49BA7D78AE2B}"/>
                </a:ext>
              </a:extLst>
            </p:cNvPr>
            <p:cNvSpPr txBox="1"/>
            <p:nvPr/>
          </p:nvSpPr>
          <p:spPr>
            <a:xfrm>
              <a:off x="3589126" y="4086627"/>
              <a:ext cx="1639936" cy="369332"/>
            </a:xfrm>
            <a:prstGeom prst="rect">
              <a:avLst/>
            </a:prstGeom>
            <a:noFill/>
          </p:spPr>
          <p:txBody>
            <a:bodyPr wrap="none" rtlCol="0">
              <a:spAutoFit/>
            </a:bodyPr>
            <a:lstStyle/>
            <a:p>
              <a:r>
                <a:rPr lang="en-US" b="1" dirty="0">
                  <a:solidFill>
                    <a:srgbClr val="FF0000"/>
                  </a:solidFill>
                </a:rPr>
                <a:t>No preemption</a:t>
              </a:r>
            </a:p>
          </p:txBody>
        </p:sp>
      </p:grpSp>
      <p:sp>
        <p:nvSpPr>
          <p:cNvPr id="3" name="Cloud Callout 2">
            <a:extLst>
              <a:ext uri="{FF2B5EF4-FFF2-40B4-BE49-F238E27FC236}">
                <a16:creationId xmlns:a16="http://schemas.microsoft.com/office/drawing/2014/main" id="{4C9473AC-1BF5-128D-2B08-B9406222D167}"/>
              </a:ext>
            </a:extLst>
          </p:cNvPr>
          <p:cNvSpPr/>
          <p:nvPr/>
        </p:nvSpPr>
        <p:spPr bwMode="auto">
          <a:xfrm>
            <a:off x="10099046" y="1429808"/>
            <a:ext cx="1613800" cy="1096015"/>
          </a:xfrm>
          <a:prstGeom prst="cloudCallout">
            <a:avLst>
              <a:gd name="adj1" fmla="val -49980"/>
              <a:gd name="adj2" fmla="val 74934"/>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r>
              <a:rPr lang="en-US" sz="1600" dirty="0">
                <a:solidFill>
                  <a:prstClr val="black"/>
                </a:solidFill>
              </a:rPr>
              <a:t>I got c[1], </a:t>
            </a:r>
          </a:p>
          <a:p>
            <a:pPr fontAlgn="base">
              <a:spcBef>
                <a:spcPct val="0"/>
              </a:spcBef>
              <a:spcAft>
                <a:spcPct val="0"/>
              </a:spcAft>
            </a:pPr>
            <a:r>
              <a:rPr lang="en-US" sz="1600" dirty="0">
                <a:solidFill>
                  <a:prstClr val="black"/>
                </a:solidFill>
              </a:rPr>
              <a:t>I want c[0]</a:t>
            </a:r>
            <a:endParaRPr lang="en-US" sz="1600" dirty="0"/>
          </a:p>
        </p:txBody>
      </p:sp>
      <p:sp>
        <p:nvSpPr>
          <p:cNvPr id="5" name="Cloud Callout 4">
            <a:extLst>
              <a:ext uri="{FF2B5EF4-FFF2-40B4-BE49-F238E27FC236}">
                <a16:creationId xmlns:a16="http://schemas.microsoft.com/office/drawing/2014/main" id="{434CAA56-AB65-B161-854D-81A95C0CBEB7}"/>
              </a:ext>
            </a:extLst>
          </p:cNvPr>
          <p:cNvSpPr/>
          <p:nvPr/>
        </p:nvSpPr>
        <p:spPr bwMode="auto">
          <a:xfrm>
            <a:off x="6348195" y="3429000"/>
            <a:ext cx="1406588" cy="1008112"/>
          </a:xfrm>
          <a:prstGeom prst="cloudCallout">
            <a:avLst>
              <a:gd name="adj1" fmla="val 37911"/>
              <a:gd name="adj2" fmla="val -74476"/>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r>
              <a:rPr lang="en-US" sz="1400" dirty="0">
                <a:solidFill>
                  <a:prstClr val="black"/>
                </a:solidFill>
              </a:rPr>
              <a:t>I got c[0], </a:t>
            </a:r>
          </a:p>
          <a:p>
            <a:pPr fontAlgn="base">
              <a:spcBef>
                <a:spcPct val="0"/>
              </a:spcBef>
              <a:spcAft>
                <a:spcPct val="0"/>
              </a:spcAft>
            </a:pPr>
            <a:r>
              <a:rPr lang="en-US" sz="1400" dirty="0">
                <a:solidFill>
                  <a:prstClr val="black"/>
                </a:solidFill>
              </a:rPr>
              <a:t>I want c[1]</a:t>
            </a:r>
            <a:endParaRPr lang="en-US" sz="1400" dirty="0"/>
          </a:p>
        </p:txBody>
      </p:sp>
      <p:cxnSp>
        <p:nvCxnSpPr>
          <p:cNvPr id="6" name="Straight Arrow Connector 5">
            <a:extLst>
              <a:ext uri="{FF2B5EF4-FFF2-40B4-BE49-F238E27FC236}">
                <a16:creationId xmlns:a16="http://schemas.microsoft.com/office/drawing/2014/main" id="{1B938B33-394D-857A-2B06-566BB4D62092}"/>
              </a:ext>
            </a:extLst>
          </p:cNvPr>
          <p:cNvCxnSpPr>
            <a:cxnSpLocks/>
            <a:endCxn id="15" idx="6"/>
          </p:cNvCxnSpPr>
          <p:nvPr/>
        </p:nvCxnSpPr>
        <p:spPr>
          <a:xfrm flipH="1" flipV="1">
            <a:off x="8053011" y="3024739"/>
            <a:ext cx="810132" cy="1046923"/>
          </a:xfrm>
          <a:prstGeom prst="straightConnector1">
            <a:avLst/>
          </a:prstGeom>
          <a:ln w="38100">
            <a:solidFill>
              <a:schemeClr val="accent6"/>
            </a:solidFill>
            <a:prstDash val="solid"/>
            <a:headEnd type="triangle" w="lg" len="lg"/>
            <a:tailEnd type="none" w="med" len="med"/>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022F8C47-EB4D-DF1F-86BC-C38A696D5391}"/>
              </a:ext>
            </a:extLst>
          </p:cNvPr>
          <p:cNvGrpSpPr/>
          <p:nvPr/>
        </p:nvGrpSpPr>
        <p:grpSpPr>
          <a:xfrm>
            <a:off x="7627241" y="2811854"/>
            <a:ext cx="2471805" cy="425770"/>
            <a:chOff x="687957" y="4139630"/>
            <a:chExt cx="2471805" cy="425770"/>
          </a:xfrm>
        </p:grpSpPr>
        <p:sp>
          <p:nvSpPr>
            <p:cNvPr id="15" name="Oval 14">
              <a:extLst>
                <a:ext uri="{FF2B5EF4-FFF2-40B4-BE49-F238E27FC236}">
                  <a16:creationId xmlns:a16="http://schemas.microsoft.com/office/drawing/2014/main" id="{C721BF6C-599A-2270-0E12-56E797B7F414}"/>
                </a:ext>
              </a:extLst>
            </p:cNvPr>
            <p:cNvSpPr/>
            <p:nvPr/>
          </p:nvSpPr>
          <p:spPr>
            <a:xfrm>
              <a:off x="687957" y="4139630"/>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16" name="Oval 15">
              <a:extLst>
                <a:ext uri="{FF2B5EF4-FFF2-40B4-BE49-F238E27FC236}">
                  <a16:creationId xmlns:a16="http://schemas.microsoft.com/office/drawing/2014/main" id="{11DCFB82-645D-9B96-D0DC-A87B8CC357D2}"/>
                </a:ext>
              </a:extLst>
            </p:cNvPr>
            <p:cNvSpPr/>
            <p:nvPr/>
          </p:nvSpPr>
          <p:spPr>
            <a:xfrm>
              <a:off x="2733992" y="4139630"/>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cxnSp>
        <p:nvCxnSpPr>
          <p:cNvPr id="9" name="Straight Arrow Connector 8">
            <a:extLst>
              <a:ext uri="{FF2B5EF4-FFF2-40B4-BE49-F238E27FC236}">
                <a16:creationId xmlns:a16="http://schemas.microsoft.com/office/drawing/2014/main" id="{8A768A85-9A4C-F54A-DAF0-804AEE7CB280}"/>
              </a:ext>
            </a:extLst>
          </p:cNvPr>
          <p:cNvCxnSpPr>
            <a:cxnSpLocks/>
            <a:stCxn id="15" idx="6"/>
          </p:cNvCxnSpPr>
          <p:nvPr/>
        </p:nvCxnSpPr>
        <p:spPr>
          <a:xfrm flipV="1">
            <a:off x="8053011" y="2129065"/>
            <a:ext cx="810132" cy="895674"/>
          </a:xfrm>
          <a:prstGeom prst="straightConnector1">
            <a:avLst/>
          </a:prstGeom>
          <a:ln w="38100">
            <a:prstDash val="dash"/>
            <a:headEnd type="triangle" w="lg" len="lg"/>
            <a:tailEnd type="none" w="med" len="med"/>
          </a:ln>
        </p:spPr>
        <p:style>
          <a:lnRef idx="3">
            <a:schemeClr val="accent2"/>
          </a:lnRef>
          <a:fillRef idx="0">
            <a:schemeClr val="accent2"/>
          </a:fillRef>
          <a:effectRef idx="2">
            <a:schemeClr val="accent2"/>
          </a:effectRef>
          <a:fontRef idx="minor">
            <a:schemeClr val="tx1"/>
          </a:fontRef>
        </p:style>
      </p:cxnSp>
      <p:cxnSp>
        <p:nvCxnSpPr>
          <p:cNvPr id="10" name="Straight Arrow Connector 9">
            <a:extLst>
              <a:ext uri="{FF2B5EF4-FFF2-40B4-BE49-F238E27FC236}">
                <a16:creationId xmlns:a16="http://schemas.microsoft.com/office/drawing/2014/main" id="{51E8D88F-3363-6A79-7282-C8CC7A10115A}"/>
              </a:ext>
            </a:extLst>
          </p:cNvPr>
          <p:cNvCxnSpPr>
            <a:cxnSpLocks/>
            <a:endCxn id="16" idx="2"/>
          </p:cNvCxnSpPr>
          <p:nvPr/>
        </p:nvCxnSpPr>
        <p:spPr>
          <a:xfrm>
            <a:off x="8863143" y="2129065"/>
            <a:ext cx="810133" cy="895674"/>
          </a:xfrm>
          <a:prstGeom prst="straightConnector1">
            <a:avLst/>
          </a:prstGeom>
          <a:ln w="38100">
            <a:solidFill>
              <a:schemeClr val="accent6"/>
            </a:solidFill>
            <a:prstDash val="solid"/>
            <a:headEnd type="triangle" w="lg" len="lg"/>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56456C7-4029-8015-F24C-D55DEFB1A3C1}"/>
              </a:ext>
            </a:extLst>
          </p:cNvPr>
          <p:cNvCxnSpPr>
            <a:cxnSpLocks/>
            <a:stCxn id="16" idx="2"/>
          </p:cNvCxnSpPr>
          <p:nvPr/>
        </p:nvCxnSpPr>
        <p:spPr>
          <a:xfrm flipH="1">
            <a:off x="8863143" y="3024739"/>
            <a:ext cx="810133" cy="1046923"/>
          </a:xfrm>
          <a:prstGeom prst="straightConnector1">
            <a:avLst/>
          </a:prstGeom>
          <a:ln w="38100">
            <a:prstDash val="dash"/>
            <a:headEnd type="triangle" w="lg" len="lg"/>
            <a:tailEnd type="none" w="med" len="med"/>
          </a:ln>
        </p:spPr>
        <p:style>
          <a:lnRef idx="3">
            <a:schemeClr val="accent2"/>
          </a:lnRef>
          <a:fillRef idx="0">
            <a:schemeClr val="accent2"/>
          </a:fillRef>
          <a:effectRef idx="2">
            <a:schemeClr val="accent2"/>
          </a:effectRef>
          <a:fontRef idx="minor">
            <a:schemeClr val="tx1"/>
          </a:fontRef>
        </p:style>
      </p:cxnSp>
      <p:grpSp>
        <p:nvGrpSpPr>
          <p:cNvPr id="21" name="Group 20">
            <a:extLst>
              <a:ext uri="{FF2B5EF4-FFF2-40B4-BE49-F238E27FC236}">
                <a16:creationId xmlns:a16="http://schemas.microsoft.com/office/drawing/2014/main" id="{E355F72C-7C4F-7BBF-46D0-3B3DEFF3FA72}"/>
              </a:ext>
            </a:extLst>
          </p:cNvPr>
          <p:cNvGrpSpPr/>
          <p:nvPr/>
        </p:nvGrpSpPr>
        <p:grpSpPr>
          <a:xfrm rot="3762263">
            <a:off x="8647269" y="3832705"/>
            <a:ext cx="439364" cy="1321579"/>
            <a:chOff x="4950514" y="2350245"/>
            <a:chExt cx="1233090" cy="3709057"/>
          </a:xfrm>
        </p:grpSpPr>
        <p:pic>
          <p:nvPicPr>
            <p:cNvPr id="18" name="Picture 17" descr="A fork and knife&#10;&#10;Description automatically generated with medium confidence">
              <a:extLst>
                <a:ext uri="{FF2B5EF4-FFF2-40B4-BE49-F238E27FC236}">
                  <a16:creationId xmlns:a16="http://schemas.microsoft.com/office/drawing/2014/main" id="{65409B07-65A8-AB83-7C88-41B33E1A4677}"/>
                </a:ext>
              </a:extLst>
            </p:cNvPr>
            <p:cNvPicPr>
              <a:picLocks noChangeAspect="1"/>
            </p:cNvPicPr>
            <p:nvPr/>
          </p:nvPicPr>
          <p:blipFill rotWithShape="1">
            <a:blip r:embed="rId3">
              <a:clrChange>
                <a:clrFrom>
                  <a:srgbClr val="FFFFFF"/>
                </a:clrFrom>
                <a:clrTo>
                  <a:srgbClr val="FFFFFF">
                    <a:alpha val="0"/>
                  </a:srgbClr>
                </a:clrTo>
              </a:clrChange>
              <a:extLst>
                <a:ext uri="{837473B0-CC2E-450A-ABE3-18F120FF3D39}">
                  <a1611:picAttrSrcUrl xmlns:a1611="http://schemas.microsoft.com/office/drawing/2016/11/main" r:id="rId4"/>
                </a:ext>
              </a:extLst>
            </a:blip>
            <a:srcRect l="10521" t="12777" r="70060" b="12121"/>
            <a:stretch/>
          </p:blipFill>
          <p:spPr>
            <a:xfrm>
              <a:off x="4950514" y="2350245"/>
              <a:ext cx="1233090" cy="3700742"/>
            </a:xfrm>
            <a:prstGeom prst="rect">
              <a:avLst/>
            </a:prstGeom>
          </p:spPr>
        </p:pic>
        <p:sp>
          <p:nvSpPr>
            <p:cNvPr id="20" name="Rectangle 19">
              <a:extLst>
                <a:ext uri="{FF2B5EF4-FFF2-40B4-BE49-F238E27FC236}">
                  <a16:creationId xmlns:a16="http://schemas.microsoft.com/office/drawing/2014/main" id="{A110D403-1CC9-2206-D3A2-6286CC766A30}"/>
                </a:ext>
              </a:extLst>
            </p:cNvPr>
            <p:cNvSpPr/>
            <p:nvPr/>
          </p:nvSpPr>
          <p:spPr>
            <a:xfrm rot="637901">
              <a:off x="5565856" y="2414542"/>
              <a:ext cx="306521" cy="36447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225439DD-90CA-197C-4C49-64421B0C0CEF}"/>
              </a:ext>
            </a:extLst>
          </p:cNvPr>
          <p:cNvGrpSpPr/>
          <p:nvPr/>
        </p:nvGrpSpPr>
        <p:grpSpPr>
          <a:xfrm rot="3762263">
            <a:off x="8649900" y="1060397"/>
            <a:ext cx="439364" cy="1321579"/>
            <a:chOff x="4950514" y="2350245"/>
            <a:chExt cx="1233090" cy="3709057"/>
          </a:xfrm>
        </p:grpSpPr>
        <p:pic>
          <p:nvPicPr>
            <p:cNvPr id="23" name="Picture 22" descr="A fork and knife&#10;&#10;Description automatically generated with medium confidence">
              <a:extLst>
                <a:ext uri="{FF2B5EF4-FFF2-40B4-BE49-F238E27FC236}">
                  <a16:creationId xmlns:a16="http://schemas.microsoft.com/office/drawing/2014/main" id="{3B974F38-2EAC-1539-10BB-C8611AAC2F3D}"/>
                </a:ext>
              </a:extLst>
            </p:cNvPr>
            <p:cNvPicPr>
              <a:picLocks noChangeAspect="1"/>
            </p:cNvPicPr>
            <p:nvPr/>
          </p:nvPicPr>
          <p:blipFill rotWithShape="1">
            <a:blip r:embed="rId3">
              <a:clrChange>
                <a:clrFrom>
                  <a:srgbClr val="FFFFFF"/>
                </a:clrFrom>
                <a:clrTo>
                  <a:srgbClr val="FFFFFF">
                    <a:alpha val="0"/>
                  </a:srgbClr>
                </a:clrTo>
              </a:clrChange>
              <a:extLst>
                <a:ext uri="{837473B0-CC2E-450A-ABE3-18F120FF3D39}">
                  <a1611:picAttrSrcUrl xmlns:a1611="http://schemas.microsoft.com/office/drawing/2016/11/main" r:id="rId4"/>
                </a:ext>
              </a:extLst>
            </a:blip>
            <a:srcRect l="10521" t="12777" r="70060" b="12121"/>
            <a:stretch/>
          </p:blipFill>
          <p:spPr>
            <a:xfrm>
              <a:off x="4950514" y="2350245"/>
              <a:ext cx="1233090" cy="3700742"/>
            </a:xfrm>
            <a:prstGeom prst="rect">
              <a:avLst/>
            </a:prstGeom>
          </p:spPr>
        </p:pic>
        <p:sp>
          <p:nvSpPr>
            <p:cNvPr id="24" name="Rectangle 23">
              <a:extLst>
                <a:ext uri="{FF2B5EF4-FFF2-40B4-BE49-F238E27FC236}">
                  <a16:creationId xmlns:a16="http://schemas.microsoft.com/office/drawing/2014/main" id="{079F7120-C872-5F43-F857-D0958844A889}"/>
                </a:ext>
              </a:extLst>
            </p:cNvPr>
            <p:cNvSpPr/>
            <p:nvPr/>
          </p:nvSpPr>
          <p:spPr>
            <a:xfrm rot="637901">
              <a:off x="5565856" y="2414542"/>
              <a:ext cx="306521" cy="36447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TextBox 25">
            <a:extLst>
              <a:ext uri="{FF2B5EF4-FFF2-40B4-BE49-F238E27FC236}">
                <a16:creationId xmlns:a16="http://schemas.microsoft.com/office/drawing/2014/main" id="{28ABED78-B8EC-05EB-BD8B-1BDCD61A19E0}"/>
              </a:ext>
            </a:extLst>
          </p:cNvPr>
          <p:cNvSpPr txBox="1"/>
          <p:nvPr/>
        </p:nvSpPr>
        <p:spPr>
          <a:xfrm>
            <a:off x="8589451" y="1136800"/>
            <a:ext cx="584332" cy="369332"/>
          </a:xfrm>
          <a:prstGeom prst="rect">
            <a:avLst/>
          </a:prstGeom>
          <a:noFill/>
        </p:spPr>
        <p:txBody>
          <a:bodyPr wrap="square">
            <a:spAutoFit/>
          </a:bodyPr>
          <a:lstStyle/>
          <a:p>
            <a:pPr algn="ctr"/>
            <a:r>
              <a:rPr lang="en-US" sz="1800" dirty="0">
                <a:solidFill>
                  <a:prstClr val="black"/>
                </a:solidFill>
              </a:rPr>
              <a:t>c[0]</a:t>
            </a:r>
            <a:endParaRPr lang="en-US" dirty="0"/>
          </a:p>
        </p:txBody>
      </p:sp>
      <p:sp>
        <p:nvSpPr>
          <p:cNvPr id="27" name="TextBox 26">
            <a:extLst>
              <a:ext uri="{FF2B5EF4-FFF2-40B4-BE49-F238E27FC236}">
                <a16:creationId xmlns:a16="http://schemas.microsoft.com/office/drawing/2014/main" id="{70C337E0-7583-D77B-5A61-A7FFDAADE5CE}"/>
              </a:ext>
            </a:extLst>
          </p:cNvPr>
          <p:cNvSpPr txBox="1"/>
          <p:nvPr/>
        </p:nvSpPr>
        <p:spPr>
          <a:xfrm>
            <a:off x="8570977" y="4541494"/>
            <a:ext cx="584332" cy="369332"/>
          </a:xfrm>
          <a:prstGeom prst="rect">
            <a:avLst/>
          </a:prstGeom>
          <a:noFill/>
        </p:spPr>
        <p:txBody>
          <a:bodyPr wrap="square">
            <a:spAutoFit/>
          </a:bodyPr>
          <a:lstStyle/>
          <a:p>
            <a:pPr algn="ctr"/>
            <a:r>
              <a:rPr lang="en-US" sz="1800" dirty="0">
                <a:solidFill>
                  <a:prstClr val="black"/>
                </a:solidFill>
              </a:rPr>
              <a:t>c[1]</a:t>
            </a:r>
            <a:endParaRPr lang="en-US" dirty="0"/>
          </a:p>
        </p:txBody>
      </p:sp>
      <p:sp>
        <p:nvSpPr>
          <p:cNvPr id="2" name="Date Placeholder 1">
            <a:extLst>
              <a:ext uri="{FF2B5EF4-FFF2-40B4-BE49-F238E27FC236}">
                <a16:creationId xmlns:a16="http://schemas.microsoft.com/office/drawing/2014/main" id="{4123AC75-16BB-9E0C-FBEF-CF3249BC58F8}"/>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0419640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2250A-5E5B-70FA-6A31-6DB2BEB91011}"/>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9227323-B622-2A52-0358-95FA49351F66}"/>
              </a:ext>
            </a:extLst>
          </p:cNvPr>
          <p:cNvSpPr>
            <a:spLocks noGrp="1"/>
          </p:cNvSpPr>
          <p:nvPr>
            <p:ph idx="1"/>
          </p:nvPr>
        </p:nvSpPr>
        <p:spPr/>
        <p:txBody>
          <a:bodyPr>
            <a:normAutofit lnSpcReduction="10000"/>
          </a:bodyPr>
          <a:lstStyle/>
          <a:p>
            <a:r>
              <a:rPr lang="en-US" dirty="0">
                <a:solidFill>
                  <a:schemeClr val="bg1">
                    <a:lumMod val="50000"/>
                  </a:schemeClr>
                </a:solidFill>
              </a:rPr>
              <a:t>Bounded-buffer producer/consumer</a:t>
            </a:r>
          </a:p>
          <a:p>
            <a:r>
              <a:rPr lang="en-US" dirty="0">
                <a:solidFill>
                  <a:schemeClr val="bg1">
                    <a:lumMod val="50000"/>
                  </a:schemeClr>
                </a:solidFill>
              </a:rPr>
              <a:t>Resource allocation, deadlocks, and necessary conditions for deadlocks</a:t>
            </a:r>
          </a:p>
          <a:p>
            <a:r>
              <a:rPr lang="en-US" dirty="0"/>
              <a:t>Dining philosophers</a:t>
            </a:r>
          </a:p>
          <a:p>
            <a:pPr lvl="1"/>
            <a:r>
              <a:rPr lang="en-US" dirty="0"/>
              <a:t>without circular wait</a:t>
            </a:r>
            <a:endParaRPr lang="en-US" dirty="0">
              <a:solidFill>
                <a:schemeClr val="bg1">
                  <a:lumMod val="50000"/>
                </a:schemeClr>
              </a:solidFill>
            </a:endParaRPr>
          </a:p>
          <a:p>
            <a:pPr lvl="1"/>
            <a:r>
              <a:rPr lang="en-US" dirty="0">
                <a:solidFill>
                  <a:schemeClr val="bg1">
                    <a:lumMod val="50000"/>
                  </a:schemeClr>
                </a:solidFill>
              </a:rPr>
              <a:t>without no-preemption</a:t>
            </a:r>
          </a:p>
          <a:p>
            <a:pPr lvl="1"/>
            <a:r>
              <a:rPr lang="en-US" dirty="0">
                <a:solidFill>
                  <a:schemeClr val="bg1">
                    <a:lumMod val="50000"/>
                  </a:schemeClr>
                </a:solidFill>
              </a:rPr>
              <a:t>without hold-and-wait</a:t>
            </a:r>
          </a:p>
          <a:p>
            <a:r>
              <a:rPr lang="en-US" dirty="0" err="1">
                <a:solidFill>
                  <a:schemeClr val="bg1">
                    <a:lumMod val="50000"/>
                  </a:schemeClr>
                </a:solidFill>
              </a:rPr>
              <a:t>Lamport’s</a:t>
            </a:r>
            <a:r>
              <a:rPr lang="en-US" dirty="0">
                <a:solidFill>
                  <a:schemeClr val="bg1">
                    <a:lumMod val="50000"/>
                  </a:schemeClr>
                </a:solidFill>
              </a:rPr>
              <a:t> bakery algorithm</a:t>
            </a:r>
          </a:p>
          <a:p>
            <a:r>
              <a:rPr lang="en-US" dirty="0">
                <a:solidFill>
                  <a:schemeClr val="bg1">
                    <a:lumMod val="50000"/>
                  </a:schemeClr>
                </a:solidFill>
              </a:rPr>
              <a:t>Readers/Writers problem</a:t>
            </a:r>
          </a:p>
          <a:p>
            <a:r>
              <a:rPr lang="en-US" dirty="0">
                <a:solidFill>
                  <a:schemeClr val="bg1">
                    <a:lumMod val="50000"/>
                  </a:schemeClr>
                </a:solidFill>
              </a:rPr>
              <a:t>OS as arbitrator for deadlock avoidance/recovery</a:t>
            </a:r>
          </a:p>
          <a:p>
            <a:pPr lvl="1"/>
            <a:endParaRPr lang="en-US" dirty="0">
              <a:solidFill>
                <a:schemeClr val="bg1">
                  <a:lumMod val="50000"/>
                </a:schemeClr>
              </a:solidFill>
            </a:endParaRPr>
          </a:p>
          <a:p>
            <a:endParaRPr lang="en-US" dirty="0">
              <a:solidFill>
                <a:schemeClr val="bg1">
                  <a:lumMod val="50000"/>
                </a:schemeClr>
              </a:solidFill>
            </a:endParaRPr>
          </a:p>
          <a:p>
            <a:endParaRPr lang="en-US" dirty="0"/>
          </a:p>
        </p:txBody>
      </p:sp>
      <p:sp>
        <p:nvSpPr>
          <p:cNvPr id="4" name="Slide Number Placeholder 3">
            <a:extLst>
              <a:ext uri="{FF2B5EF4-FFF2-40B4-BE49-F238E27FC236}">
                <a16:creationId xmlns:a16="http://schemas.microsoft.com/office/drawing/2014/main" id="{38732A6F-74B5-7BE7-BA5B-5674E0757FA2}"/>
              </a:ext>
            </a:extLst>
          </p:cNvPr>
          <p:cNvSpPr>
            <a:spLocks noGrp="1"/>
          </p:cNvSpPr>
          <p:nvPr>
            <p:ph type="sldNum" sz="quarter" idx="12"/>
          </p:nvPr>
        </p:nvSpPr>
        <p:spPr/>
        <p:txBody>
          <a:bodyPr/>
          <a:lstStyle/>
          <a:p>
            <a:fld id="{67FCC1A6-2294-BF46-A2F7-E6BDB92DF1BF}" type="slidenum">
              <a:rPr lang="en-US" smtClean="0"/>
              <a:t>19</a:t>
            </a:fld>
            <a:endParaRPr lang="en-US"/>
          </a:p>
        </p:txBody>
      </p:sp>
      <p:sp>
        <p:nvSpPr>
          <p:cNvPr id="5" name="Date Placeholder 4">
            <a:extLst>
              <a:ext uri="{FF2B5EF4-FFF2-40B4-BE49-F238E27FC236}">
                <a16:creationId xmlns:a16="http://schemas.microsoft.com/office/drawing/2014/main" id="{E3556EFF-71A0-EA44-B876-C8D4AF350CEC}"/>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4627505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15FCE6DB-A30D-70C5-EF84-6CE0D4C4A7A2}"/>
              </a:ext>
            </a:extLst>
          </p:cNvPr>
          <p:cNvSpPr txBox="1">
            <a:spLocks/>
          </p:cNvSpPr>
          <p:nvPr/>
        </p:nvSpPr>
        <p:spPr>
          <a:xfrm>
            <a:off x="165578" y="1110956"/>
            <a:ext cx="5784502" cy="3700742"/>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Shared var c[0..n-1]: bin-semaphore </a:t>
            </a:r>
            <a:r>
              <a:rPr lang="en-US" sz="2000" dirty="0">
                <a:solidFill>
                  <a:schemeClr val="bg1">
                    <a:lumMod val="50000"/>
                  </a:schemeClr>
                </a:solidFill>
              </a:rPr>
              <a:t>// one for each chopstick; </a:t>
            </a:r>
            <a:r>
              <a:rPr lang="en-US" sz="2000" dirty="0" err="1">
                <a:solidFill>
                  <a:schemeClr val="bg1">
                    <a:lumMod val="50000"/>
                  </a:schemeClr>
                </a:solidFill>
              </a:rPr>
              <a:t>init</a:t>
            </a:r>
            <a:r>
              <a:rPr lang="en-US" sz="2000" dirty="0">
                <a:solidFill>
                  <a:schemeClr val="bg1">
                    <a:lumMod val="50000"/>
                  </a:schemeClr>
                </a:solidFill>
              </a:rPr>
              <a:t> all 1 </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P</a:t>
            </a:r>
            <a:r>
              <a:rPr lang="en-US" sz="2000" baseline="-25000" dirty="0">
                <a:solidFill>
                  <a:prstClr val="black"/>
                </a:solidFill>
              </a:rPr>
              <a:t>i</a:t>
            </a:r>
            <a:r>
              <a:rPr lang="en-US" sz="2000" dirty="0">
                <a:solidFill>
                  <a:prstClr val="black"/>
                </a:solidFill>
              </a:rPr>
              <a:t> (except P</a:t>
            </a:r>
            <a:r>
              <a:rPr lang="en-US" sz="2000" baseline="-25000" dirty="0">
                <a:solidFill>
                  <a:prstClr val="black"/>
                </a:solidFill>
              </a:rPr>
              <a:t>n-1</a:t>
            </a:r>
            <a:r>
              <a:rPr lang="en-US" sz="2000" dirty="0">
                <a:solidFill>
                  <a:prstClr val="black"/>
                </a:solidFill>
              </a:rPr>
              <a:t>):</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do </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	</a:t>
            </a:r>
            <a:r>
              <a:rPr lang="en-US" sz="2000" dirty="0"/>
              <a:t>Wait c[</a:t>
            </a:r>
            <a:r>
              <a:rPr lang="en-US" sz="2000" dirty="0" err="1"/>
              <a:t>i</a:t>
            </a:r>
            <a:r>
              <a:rPr lang="en-US" sz="2000" dirty="0"/>
              <a:t>];   </a:t>
            </a:r>
            <a:r>
              <a:rPr lang="en-US" sz="2000" dirty="0">
                <a:solidFill>
                  <a:schemeClr val="bg1">
                    <a:lumMod val="50000"/>
                  </a:schemeClr>
                </a:solidFill>
              </a:rPr>
              <a:t>// pick left chopstick</a:t>
            </a:r>
          </a:p>
          <a:p>
            <a:pPr marL="457200" indent="-457200" eaLnBrk="0" fontAlgn="base" hangingPunct="0">
              <a:spcBef>
                <a:spcPct val="20000"/>
              </a:spcBef>
              <a:spcAft>
                <a:spcPct val="0"/>
              </a:spcAft>
              <a:buFont typeface="+mj-lt"/>
              <a:buAutoNum type="arabicPeriod"/>
              <a:tabLst>
                <a:tab pos="263525" algn="l"/>
              </a:tabLst>
            </a:pPr>
            <a:r>
              <a:rPr lang="en-US" sz="2000" dirty="0"/>
              <a:t>	Wait c[(i+1) mod n];  </a:t>
            </a:r>
            <a:r>
              <a:rPr lang="en-US" sz="2000" dirty="0">
                <a:solidFill>
                  <a:schemeClr val="bg1">
                    <a:lumMod val="50000"/>
                  </a:schemeClr>
                </a:solidFill>
              </a:rPr>
              <a:t>// pick right chopstick</a:t>
            </a:r>
          </a:p>
          <a:p>
            <a:pPr marL="457200" indent="-457200" eaLnBrk="0" fontAlgn="base" hangingPunct="0">
              <a:spcBef>
                <a:spcPct val="20000"/>
              </a:spcBef>
              <a:spcAft>
                <a:spcPct val="0"/>
              </a:spcAft>
              <a:buFont typeface="+mj-lt"/>
              <a:buAutoNum type="arabicPeriod"/>
              <a:tabLst>
                <a:tab pos="263525" algn="l"/>
              </a:tabLst>
            </a:pPr>
            <a:r>
              <a:rPr lang="en-US" sz="2000" dirty="0"/>
              <a:t>	</a:t>
            </a:r>
            <a:r>
              <a:rPr lang="en-US" sz="2000" dirty="0">
                <a:solidFill>
                  <a:schemeClr val="bg1">
                    <a:lumMod val="50000"/>
                  </a:schemeClr>
                </a:solidFill>
              </a:rPr>
              <a:t>// Eat</a:t>
            </a:r>
          </a:p>
          <a:p>
            <a:pPr marL="457200" indent="-457200" eaLnBrk="0" fontAlgn="base" hangingPunct="0">
              <a:spcBef>
                <a:spcPct val="20000"/>
              </a:spcBef>
              <a:spcAft>
                <a:spcPct val="0"/>
              </a:spcAft>
              <a:buFont typeface="+mj-lt"/>
              <a:buAutoNum type="arabicPeriod"/>
              <a:tabLst>
                <a:tab pos="263525" algn="l"/>
              </a:tabLst>
            </a:pPr>
            <a:r>
              <a:rPr lang="en-US" sz="2000" dirty="0"/>
              <a:t>	Signal c[(i+1) mod n];  </a:t>
            </a:r>
            <a:r>
              <a:rPr lang="en-US" sz="2000" dirty="0">
                <a:solidFill>
                  <a:schemeClr val="bg1">
                    <a:lumMod val="50000"/>
                  </a:schemeClr>
                </a:solidFill>
              </a:rPr>
              <a:t>leave right chopstick</a:t>
            </a:r>
          </a:p>
          <a:p>
            <a:pPr marL="457200" indent="-457200" eaLnBrk="0" fontAlgn="base" hangingPunct="0">
              <a:spcBef>
                <a:spcPct val="20000"/>
              </a:spcBef>
              <a:spcAft>
                <a:spcPct val="0"/>
              </a:spcAft>
              <a:buFont typeface="+mj-lt"/>
              <a:buAutoNum type="arabicPeriod"/>
              <a:tabLst>
                <a:tab pos="263525" algn="l"/>
              </a:tabLst>
            </a:pPr>
            <a:r>
              <a:rPr lang="en-US" sz="2000" dirty="0"/>
              <a:t>	Signal c[</a:t>
            </a:r>
            <a:r>
              <a:rPr lang="en-US" sz="2000" dirty="0" err="1"/>
              <a:t>i</a:t>
            </a:r>
            <a:r>
              <a:rPr lang="en-US" sz="2000" dirty="0"/>
              <a:t>];  </a:t>
            </a:r>
            <a:r>
              <a:rPr lang="en-US" sz="2000" dirty="0">
                <a:solidFill>
                  <a:schemeClr val="bg1">
                    <a:lumMod val="50000"/>
                  </a:schemeClr>
                </a:solidFill>
              </a:rPr>
              <a:t>// leave left chopstick</a:t>
            </a:r>
            <a:r>
              <a:rPr lang="en-US" sz="2000" dirty="0"/>
              <a:t> </a:t>
            </a:r>
          </a:p>
          <a:p>
            <a:pPr marL="457200" indent="-457200" eaLnBrk="0" fontAlgn="base" hangingPunct="0">
              <a:spcBef>
                <a:spcPct val="20000"/>
              </a:spcBef>
              <a:spcAft>
                <a:spcPct val="0"/>
              </a:spcAft>
              <a:buFont typeface="+mj-lt"/>
              <a:buAutoNum type="arabicPeriod"/>
              <a:tabLst>
                <a:tab pos="263525" algn="l"/>
              </a:tabLst>
            </a:pPr>
            <a:r>
              <a:rPr lang="en-US" sz="2000" dirty="0"/>
              <a:t>	</a:t>
            </a:r>
            <a:r>
              <a:rPr lang="en-US" sz="2000" dirty="0">
                <a:solidFill>
                  <a:schemeClr val="bg1">
                    <a:lumMod val="50000"/>
                  </a:schemeClr>
                </a:solidFill>
              </a:rPr>
              <a:t>// Think</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forever </a:t>
            </a:r>
          </a:p>
        </p:txBody>
      </p:sp>
      <p:sp>
        <p:nvSpPr>
          <p:cNvPr id="3" name="Content Placeholder 2">
            <a:extLst>
              <a:ext uri="{FF2B5EF4-FFF2-40B4-BE49-F238E27FC236}">
                <a16:creationId xmlns:a16="http://schemas.microsoft.com/office/drawing/2014/main" id="{95FC079E-976E-45E2-EFB9-C4AAEC3CD51B}"/>
              </a:ext>
            </a:extLst>
          </p:cNvPr>
          <p:cNvSpPr txBox="1">
            <a:spLocks/>
          </p:cNvSpPr>
          <p:nvPr/>
        </p:nvSpPr>
        <p:spPr>
          <a:xfrm>
            <a:off x="6241922" y="1107411"/>
            <a:ext cx="5784502" cy="3700742"/>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Shared var c[0..n-1]: bin-semaphore </a:t>
            </a:r>
            <a:r>
              <a:rPr lang="en-US" sz="2000" dirty="0">
                <a:solidFill>
                  <a:schemeClr val="bg1">
                    <a:lumMod val="50000"/>
                  </a:schemeClr>
                </a:solidFill>
              </a:rPr>
              <a:t>// one for each chopstick; </a:t>
            </a:r>
            <a:r>
              <a:rPr lang="en-US" sz="2000" dirty="0" err="1">
                <a:solidFill>
                  <a:schemeClr val="bg1">
                    <a:lumMod val="50000"/>
                  </a:schemeClr>
                </a:solidFill>
              </a:rPr>
              <a:t>init</a:t>
            </a:r>
            <a:r>
              <a:rPr lang="en-US" sz="2000" dirty="0">
                <a:solidFill>
                  <a:schemeClr val="bg1">
                    <a:lumMod val="50000"/>
                  </a:schemeClr>
                </a:solidFill>
              </a:rPr>
              <a:t> all 1 </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P</a:t>
            </a:r>
            <a:r>
              <a:rPr lang="en-US" sz="2000" baseline="-25000" dirty="0">
                <a:solidFill>
                  <a:prstClr val="black"/>
                </a:solidFill>
              </a:rPr>
              <a:t>n-1</a:t>
            </a:r>
            <a:r>
              <a:rPr lang="en-US" sz="2000" dirty="0">
                <a:solidFill>
                  <a:prstClr val="black"/>
                </a:solidFill>
              </a:rPr>
              <a:t>:</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do </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	</a:t>
            </a:r>
            <a:r>
              <a:rPr lang="en-US" sz="2000" dirty="0"/>
              <a:t>Wait c[(i+1) mod n];  </a:t>
            </a:r>
            <a:r>
              <a:rPr lang="en-US" sz="2000" dirty="0">
                <a:solidFill>
                  <a:schemeClr val="bg1">
                    <a:lumMod val="50000"/>
                  </a:schemeClr>
                </a:solidFill>
              </a:rPr>
              <a:t>// pick right chopstick</a:t>
            </a:r>
          </a:p>
          <a:p>
            <a:pPr marL="457200" indent="-457200" eaLnBrk="0" fontAlgn="base" hangingPunct="0">
              <a:spcBef>
                <a:spcPct val="20000"/>
              </a:spcBef>
              <a:spcAft>
                <a:spcPct val="0"/>
              </a:spcAft>
              <a:buFont typeface="+mj-lt"/>
              <a:buAutoNum type="arabicPeriod"/>
              <a:tabLst>
                <a:tab pos="263525" algn="l"/>
              </a:tabLst>
            </a:pPr>
            <a:r>
              <a:rPr lang="en-US" sz="2000" dirty="0"/>
              <a:t>	Wait c[</a:t>
            </a:r>
            <a:r>
              <a:rPr lang="en-US" sz="2000" dirty="0" err="1"/>
              <a:t>i</a:t>
            </a:r>
            <a:r>
              <a:rPr lang="en-US" sz="2000" dirty="0"/>
              <a:t>];   </a:t>
            </a:r>
            <a:r>
              <a:rPr lang="en-US" sz="2000" dirty="0">
                <a:solidFill>
                  <a:schemeClr val="bg1">
                    <a:lumMod val="50000"/>
                  </a:schemeClr>
                </a:solidFill>
              </a:rPr>
              <a:t>// pick left chopstick</a:t>
            </a:r>
          </a:p>
          <a:p>
            <a:pPr marL="457200" indent="-457200" eaLnBrk="0" fontAlgn="base" hangingPunct="0">
              <a:spcBef>
                <a:spcPct val="20000"/>
              </a:spcBef>
              <a:spcAft>
                <a:spcPct val="0"/>
              </a:spcAft>
              <a:buFont typeface="+mj-lt"/>
              <a:buAutoNum type="arabicPeriod"/>
              <a:tabLst>
                <a:tab pos="263525" algn="l"/>
              </a:tabLst>
            </a:pPr>
            <a:r>
              <a:rPr lang="en-US" sz="2000" dirty="0"/>
              <a:t>	</a:t>
            </a:r>
            <a:r>
              <a:rPr lang="en-US" sz="2000" dirty="0">
                <a:solidFill>
                  <a:schemeClr val="bg1">
                    <a:lumMod val="50000"/>
                  </a:schemeClr>
                </a:solidFill>
              </a:rPr>
              <a:t>// Eat</a:t>
            </a:r>
          </a:p>
          <a:p>
            <a:pPr marL="457200" indent="-457200" eaLnBrk="0" fontAlgn="base" hangingPunct="0">
              <a:spcBef>
                <a:spcPct val="20000"/>
              </a:spcBef>
              <a:spcAft>
                <a:spcPct val="0"/>
              </a:spcAft>
              <a:buFont typeface="+mj-lt"/>
              <a:buAutoNum type="arabicPeriod"/>
              <a:tabLst>
                <a:tab pos="263525" algn="l"/>
              </a:tabLst>
            </a:pPr>
            <a:r>
              <a:rPr lang="en-US" sz="2000" dirty="0"/>
              <a:t>	Signal c[</a:t>
            </a:r>
            <a:r>
              <a:rPr lang="en-US" sz="2000" dirty="0" err="1"/>
              <a:t>i</a:t>
            </a:r>
            <a:r>
              <a:rPr lang="en-US" sz="2000" dirty="0"/>
              <a:t>];  </a:t>
            </a:r>
            <a:r>
              <a:rPr lang="en-US" sz="2000" dirty="0">
                <a:solidFill>
                  <a:schemeClr val="bg1">
                    <a:lumMod val="50000"/>
                  </a:schemeClr>
                </a:solidFill>
              </a:rPr>
              <a:t>// leave left chopstick</a:t>
            </a:r>
            <a:r>
              <a:rPr lang="en-US" sz="2000" dirty="0"/>
              <a:t> </a:t>
            </a:r>
          </a:p>
          <a:p>
            <a:pPr marL="457200" indent="-457200" eaLnBrk="0" fontAlgn="base" hangingPunct="0">
              <a:spcBef>
                <a:spcPct val="20000"/>
              </a:spcBef>
              <a:spcAft>
                <a:spcPct val="0"/>
              </a:spcAft>
              <a:buFont typeface="+mj-lt"/>
              <a:buAutoNum type="arabicPeriod"/>
              <a:tabLst>
                <a:tab pos="263525" algn="l"/>
              </a:tabLst>
            </a:pPr>
            <a:r>
              <a:rPr lang="en-US" sz="2000" dirty="0"/>
              <a:t>	Signal c[(i+1) mod n];  </a:t>
            </a:r>
            <a:r>
              <a:rPr lang="en-US" sz="2000" dirty="0">
                <a:solidFill>
                  <a:schemeClr val="bg1">
                    <a:lumMod val="50000"/>
                  </a:schemeClr>
                </a:solidFill>
              </a:rPr>
              <a:t>leave right chopstick</a:t>
            </a:r>
          </a:p>
          <a:p>
            <a:pPr marL="457200" indent="-457200" eaLnBrk="0" fontAlgn="base" hangingPunct="0">
              <a:spcBef>
                <a:spcPct val="20000"/>
              </a:spcBef>
              <a:spcAft>
                <a:spcPct val="0"/>
              </a:spcAft>
              <a:buFont typeface="+mj-lt"/>
              <a:buAutoNum type="arabicPeriod"/>
              <a:tabLst>
                <a:tab pos="263525" algn="l"/>
              </a:tabLst>
            </a:pPr>
            <a:r>
              <a:rPr lang="en-US" sz="2000" dirty="0"/>
              <a:t>	</a:t>
            </a:r>
            <a:r>
              <a:rPr lang="en-US" sz="2000" dirty="0">
                <a:solidFill>
                  <a:schemeClr val="bg1">
                    <a:lumMod val="50000"/>
                  </a:schemeClr>
                </a:solidFill>
              </a:rPr>
              <a:t>// Think</a:t>
            </a:r>
          </a:p>
          <a:p>
            <a:pPr marL="457200" indent="-457200" eaLnBrk="0" fontAlgn="base" hangingPunct="0">
              <a:spcBef>
                <a:spcPct val="20000"/>
              </a:spcBef>
              <a:spcAft>
                <a:spcPct val="0"/>
              </a:spcAft>
              <a:buFont typeface="+mj-lt"/>
              <a:buAutoNum type="arabicPeriod"/>
              <a:tabLst>
                <a:tab pos="263525" algn="l"/>
              </a:tabLst>
            </a:pPr>
            <a:r>
              <a:rPr lang="en-US" sz="2000" dirty="0">
                <a:solidFill>
                  <a:prstClr val="black"/>
                </a:solidFill>
              </a:rPr>
              <a:t>forever </a:t>
            </a:r>
          </a:p>
        </p:txBody>
      </p:sp>
      <p:sp>
        <p:nvSpPr>
          <p:cNvPr id="6" name="Title 1">
            <a:extLst>
              <a:ext uri="{FF2B5EF4-FFF2-40B4-BE49-F238E27FC236}">
                <a16:creationId xmlns:a16="http://schemas.microsoft.com/office/drawing/2014/main" id="{AD038F9C-80DE-F359-6CFA-D698824CF300}"/>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Dining philosophers: pick-one-at-a-time without circular wait</a:t>
            </a:r>
            <a:endParaRPr lang="sv-SE" sz="3600" b="1" dirty="0">
              <a:solidFill>
                <a:schemeClr val="accent1">
                  <a:lumMod val="50000"/>
                </a:schemeClr>
              </a:solidFill>
            </a:endParaRPr>
          </a:p>
        </p:txBody>
      </p:sp>
      <p:sp>
        <p:nvSpPr>
          <p:cNvPr id="15" name="Oval 14">
            <a:extLst>
              <a:ext uri="{FF2B5EF4-FFF2-40B4-BE49-F238E27FC236}">
                <a16:creationId xmlns:a16="http://schemas.microsoft.com/office/drawing/2014/main" id="{01618B6F-F382-2557-1770-AC42A335DE17}"/>
              </a:ext>
            </a:extLst>
          </p:cNvPr>
          <p:cNvSpPr/>
          <p:nvPr/>
        </p:nvSpPr>
        <p:spPr>
          <a:xfrm>
            <a:off x="508564" y="1632857"/>
            <a:ext cx="1868876" cy="55675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E68F43A-43AC-E6C0-33E4-DD4E40E06961}"/>
              </a:ext>
            </a:extLst>
          </p:cNvPr>
          <p:cNvSpPr/>
          <p:nvPr/>
        </p:nvSpPr>
        <p:spPr>
          <a:xfrm>
            <a:off x="6544490" y="1632857"/>
            <a:ext cx="949235" cy="55675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CA6C180B-C441-E0E4-CF58-5D03181FBCD1}"/>
              </a:ext>
            </a:extLst>
          </p:cNvPr>
          <p:cNvCxnSpPr/>
          <p:nvPr/>
        </p:nvCxnSpPr>
        <p:spPr>
          <a:xfrm>
            <a:off x="5760720" y="2534194"/>
            <a:ext cx="335280" cy="404949"/>
          </a:xfrm>
          <a:prstGeom prst="straightConnector1">
            <a:avLst/>
          </a:prstGeom>
          <a:noFill/>
          <a:ln w="381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0" name="Straight Arrow Connector 19">
            <a:extLst>
              <a:ext uri="{FF2B5EF4-FFF2-40B4-BE49-F238E27FC236}">
                <a16:creationId xmlns:a16="http://schemas.microsoft.com/office/drawing/2014/main" id="{ECFFDB11-A1E8-2AD8-3DEC-9DC7D6DC0130}"/>
              </a:ext>
            </a:extLst>
          </p:cNvPr>
          <p:cNvCxnSpPr>
            <a:cxnSpLocks/>
          </p:cNvCxnSpPr>
          <p:nvPr/>
        </p:nvCxnSpPr>
        <p:spPr>
          <a:xfrm flipV="1">
            <a:off x="5760720" y="2534194"/>
            <a:ext cx="335280" cy="404949"/>
          </a:xfrm>
          <a:prstGeom prst="straightConnector1">
            <a:avLst/>
          </a:prstGeom>
          <a:noFill/>
          <a:ln w="381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grpSp>
        <p:nvGrpSpPr>
          <p:cNvPr id="25" name="Group 24">
            <a:extLst>
              <a:ext uri="{FF2B5EF4-FFF2-40B4-BE49-F238E27FC236}">
                <a16:creationId xmlns:a16="http://schemas.microsoft.com/office/drawing/2014/main" id="{322729F7-1415-BFA6-DF70-91EBD35CF713}"/>
              </a:ext>
            </a:extLst>
          </p:cNvPr>
          <p:cNvGrpSpPr/>
          <p:nvPr/>
        </p:nvGrpSpPr>
        <p:grpSpPr>
          <a:xfrm>
            <a:off x="5760720" y="3513909"/>
            <a:ext cx="335280" cy="404949"/>
            <a:chOff x="5913120" y="2686594"/>
            <a:chExt cx="335280" cy="404949"/>
          </a:xfrm>
        </p:grpSpPr>
        <p:cxnSp>
          <p:nvCxnSpPr>
            <p:cNvPr id="23" name="Straight Arrow Connector 22">
              <a:extLst>
                <a:ext uri="{FF2B5EF4-FFF2-40B4-BE49-F238E27FC236}">
                  <a16:creationId xmlns:a16="http://schemas.microsoft.com/office/drawing/2014/main" id="{9B674280-F5A3-0692-8187-C7022FBB5151}"/>
                </a:ext>
              </a:extLst>
            </p:cNvPr>
            <p:cNvCxnSpPr/>
            <p:nvPr/>
          </p:nvCxnSpPr>
          <p:spPr>
            <a:xfrm>
              <a:off x="5913120" y="2686594"/>
              <a:ext cx="335280" cy="404949"/>
            </a:xfrm>
            <a:prstGeom prst="straightConnector1">
              <a:avLst/>
            </a:prstGeom>
            <a:noFill/>
            <a:ln w="381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4" name="Straight Arrow Connector 23">
              <a:extLst>
                <a:ext uri="{FF2B5EF4-FFF2-40B4-BE49-F238E27FC236}">
                  <a16:creationId xmlns:a16="http://schemas.microsoft.com/office/drawing/2014/main" id="{93623940-92C4-28D1-5D45-988E10AA4528}"/>
                </a:ext>
              </a:extLst>
            </p:cNvPr>
            <p:cNvCxnSpPr>
              <a:cxnSpLocks/>
            </p:cNvCxnSpPr>
            <p:nvPr/>
          </p:nvCxnSpPr>
          <p:spPr>
            <a:xfrm flipV="1">
              <a:off x="5913120" y="2686594"/>
              <a:ext cx="335280" cy="404949"/>
            </a:xfrm>
            <a:prstGeom prst="straightConnector1">
              <a:avLst/>
            </a:prstGeom>
            <a:noFill/>
            <a:ln w="381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grpSp>
      <p:sp>
        <p:nvSpPr>
          <p:cNvPr id="4" name="Slide Number Placeholder 3">
            <a:extLst>
              <a:ext uri="{FF2B5EF4-FFF2-40B4-BE49-F238E27FC236}">
                <a16:creationId xmlns:a16="http://schemas.microsoft.com/office/drawing/2014/main" id="{8A9BD936-EC5C-BE47-4562-0E3741EB8920}"/>
              </a:ext>
            </a:extLst>
          </p:cNvPr>
          <p:cNvSpPr>
            <a:spLocks noGrp="1"/>
          </p:cNvSpPr>
          <p:nvPr>
            <p:ph type="sldNum" sz="quarter" idx="12"/>
          </p:nvPr>
        </p:nvSpPr>
        <p:spPr/>
        <p:txBody>
          <a:bodyPr/>
          <a:lstStyle/>
          <a:p>
            <a:fld id="{67FCC1A6-2294-BF46-A2F7-E6BDB92DF1BF}" type="slidenum">
              <a:rPr lang="en-US" smtClean="0"/>
              <a:t>20</a:t>
            </a:fld>
            <a:endParaRPr lang="en-US"/>
          </a:p>
        </p:txBody>
      </p:sp>
      <p:sp>
        <p:nvSpPr>
          <p:cNvPr id="5" name="Date Placeholder 4">
            <a:extLst>
              <a:ext uri="{FF2B5EF4-FFF2-40B4-BE49-F238E27FC236}">
                <a16:creationId xmlns:a16="http://schemas.microsoft.com/office/drawing/2014/main" id="{73703DB7-B4F9-2EA7-14A9-91ED1FF0A533}"/>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181749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4"/>
          <p:cNvSpPr>
            <a:spLocks noGrp="1"/>
          </p:cNvSpPr>
          <p:nvPr>
            <p:ph type="sldNum" sz="quarter" idx="12"/>
          </p:nvPr>
        </p:nvSpPr>
        <p:spPr>
          <a:noFill/>
        </p:spPr>
        <p:txBody>
          <a:bodyPr/>
          <a:lstStyle/>
          <a:p>
            <a:fld id="{958BD947-B3BB-4FA6-89A0-B881DCEF6520}" type="slidenum">
              <a:rPr lang="en-US" smtClean="0">
                <a:solidFill>
                  <a:prstClr val="black">
                    <a:tint val="75000"/>
                  </a:prstClr>
                </a:solidFill>
              </a:rPr>
              <a:pPr/>
              <a:t>21</a:t>
            </a:fld>
            <a:endParaRPr lang="en-US">
              <a:solidFill>
                <a:prstClr val="black">
                  <a:tint val="75000"/>
                </a:prstClr>
              </a:solidFill>
            </a:endParaRPr>
          </a:p>
        </p:txBody>
      </p:sp>
      <p:sp>
        <p:nvSpPr>
          <p:cNvPr id="12" name="Title 1">
            <a:extLst>
              <a:ext uri="{FF2B5EF4-FFF2-40B4-BE49-F238E27FC236}">
                <a16:creationId xmlns:a16="http://schemas.microsoft.com/office/drawing/2014/main" id="{59757220-38F1-A4E4-C672-E9D602D679CE}"/>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Dining philosophers: pick-one-at-a-time without circular wait</a:t>
            </a:r>
            <a:endParaRPr lang="sv-SE" sz="3600" b="1" dirty="0">
              <a:solidFill>
                <a:schemeClr val="accent1">
                  <a:lumMod val="50000"/>
                </a:schemeClr>
              </a:solidFill>
            </a:endParaRPr>
          </a:p>
        </p:txBody>
      </p:sp>
      <p:grpSp>
        <p:nvGrpSpPr>
          <p:cNvPr id="14" name="Group 13">
            <a:extLst>
              <a:ext uri="{FF2B5EF4-FFF2-40B4-BE49-F238E27FC236}">
                <a16:creationId xmlns:a16="http://schemas.microsoft.com/office/drawing/2014/main" id="{8ED9C208-E455-2002-A7BE-B5D6FF3787F5}"/>
              </a:ext>
            </a:extLst>
          </p:cNvPr>
          <p:cNvGrpSpPr/>
          <p:nvPr/>
        </p:nvGrpSpPr>
        <p:grpSpPr>
          <a:xfrm>
            <a:off x="9431385" y="1935631"/>
            <a:ext cx="2544128" cy="733226"/>
            <a:chOff x="680949" y="4139630"/>
            <a:chExt cx="2544128" cy="733226"/>
          </a:xfrm>
        </p:grpSpPr>
        <p:sp>
          <p:nvSpPr>
            <p:cNvPr id="15" name="Oval 14">
              <a:extLst>
                <a:ext uri="{FF2B5EF4-FFF2-40B4-BE49-F238E27FC236}">
                  <a16:creationId xmlns:a16="http://schemas.microsoft.com/office/drawing/2014/main" id="{53CB171A-79E5-71D4-E4B7-43DAA89B1EB0}"/>
                </a:ext>
              </a:extLst>
            </p:cNvPr>
            <p:cNvSpPr/>
            <p:nvPr/>
          </p:nvSpPr>
          <p:spPr>
            <a:xfrm>
              <a:off x="680949" y="4139630"/>
              <a:ext cx="733226" cy="73322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P</a:t>
              </a:r>
              <a:r>
                <a:rPr lang="en-US" sz="2800" baseline="-25000" dirty="0"/>
                <a:t>0</a:t>
              </a:r>
            </a:p>
          </p:txBody>
        </p:sp>
        <p:sp>
          <p:nvSpPr>
            <p:cNvPr id="17" name="Oval 16">
              <a:extLst>
                <a:ext uri="{FF2B5EF4-FFF2-40B4-BE49-F238E27FC236}">
                  <a16:creationId xmlns:a16="http://schemas.microsoft.com/office/drawing/2014/main" id="{B4B432B7-67AF-9DA5-666F-F661CAEC5E0C}"/>
                </a:ext>
              </a:extLst>
            </p:cNvPr>
            <p:cNvSpPr/>
            <p:nvPr/>
          </p:nvSpPr>
          <p:spPr>
            <a:xfrm>
              <a:off x="2491851" y="4139630"/>
              <a:ext cx="733226" cy="733226"/>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P</a:t>
              </a:r>
              <a:r>
                <a:rPr lang="en-US" sz="2800" baseline="-25000" dirty="0"/>
                <a:t>1</a:t>
              </a:r>
            </a:p>
          </p:txBody>
        </p:sp>
      </p:grpSp>
      <p:grpSp>
        <p:nvGrpSpPr>
          <p:cNvPr id="21" name="Group 20">
            <a:extLst>
              <a:ext uri="{FF2B5EF4-FFF2-40B4-BE49-F238E27FC236}">
                <a16:creationId xmlns:a16="http://schemas.microsoft.com/office/drawing/2014/main" id="{5BBEC359-F61E-4A23-AD1A-C4FA40B3F586}"/>
              </a:ext>
            </a:extLst>
          </p:cNvPr>
          <p:cNvGrpSpPr/>
          <p:nvPr/>
        </p:nvGrpSpPr>
        <p:grpSpPr>
          <a:xfrm rot="3762263">
            <a:off x="10497612" y="3163917"/>
            <a:ext cx="439364" cy="1321579"/>
            <a:chOff x="4950514" y="2350245"/>
            <a:chExt cx="1233090" cy="3709057"/>
          </a:xfrm>
        </p:grpSpPr>
        <p:pic>
          <p:nvPicPr>
            <p:cNvPr id="22" name="Picture 21" descr="A fork and knife&#10;&#10;Description automatically generated with medium confidence">
              <a:extLst>
                <a:ext uri="{FF2B5EF4-FFF2-40B4-BE49-F238E27FC236}">
                  <a16:creationId xmlns:a16="http://schemas.microsoft.com/office/drawing/2014/main" id="{56447AC0-4A23-17A7-64FE-3B2A6422A0DD}"/>
                </a:ext>
              </a:extLst>
            </p:cNvPr>
            <p:cNvPicPr>
              <a:picLocks noChangeAspect="1"/>
            </p:cNvPicPr>
            <p:nvPr/>
          </p:nvPicPr>
          <p:blipFill rotWithShape="1">
            <a:blip r:embed="rId3">
              <a:clrChange>
                <a:clrFrom>
                  <a:srgbClr val="FFFFFF"/>
                </a:clrFrom>
                <a:clrTo>
                  <a:srgbClr val="FFFFFF">
                    <a:alpha val="0"/>
                  </a:srgbClr>
                </a:clrTo>
              </a:clrChange>
              <a:extLst>
                <a:ext uri="{837473B0-CC2E-450A-ABE3-18F120FF3D39}">
                  <a1611:picAttrSrcUrl xmlns:a1611="http://schemas.microsoft.com/office/drawing/2016/11/main" r:id="rId4"/>
                </a:ext>
              </a:extLst>
            </a:blip>
            <a:srcRect l="10521" t="12777" r="70060" b="12121"/>
            <a:stretch/>
          </p:blipFill>
          <p:spPr>
            <a:xfrm>
              <a:off x="4950514" y="2350245"/>
              <a:ext cx="1233090" cy="3700742"/>
            </a:xfrm>
            <a:prstGeom prst="rect">
              <a:avLst/>
            </a:prstGeom>
          </p:spPr>
        </p:pic>
        <p:sp>
          <p:nvSpPr>
            <p:cNvPr id="23" name="Rectangle 22">
              <a:extLst>
                <a:ext uri="{FF2B5EF4-FFF2-40B4-BE49-F238E27FC236}">
                  <a16:creationId xmlns:a16="http://schemas.microsoft.com/office/drawing/2014/main" id="{330FAB2B-28DA-40C0-8197-F21C2A7DA3AE}"/>
                </a:ext>
              </a:extLst>
            </p:cNvPr>
            <p:cNvSpPr/>
            <p:nvPr/>
          </p:nvSpPr>
          <p:spPr>
            <a:xfrm rot="637901">
              <a:off x="5565856" y="2414542"/>
              <a:ext cx="306521" cy="36447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23">
            <a:extLst>
              <a:ext uri="{FF2B5EF4-FFF2-40B4-BE49-F238E27FC236}">
                <a16:creationId xmlns:a16="http://schemas.microsoft.com/office/drawing/2014/main" id="{45F8DE4B-EB36-7300-C2FC-318DFA0AA4B8}"/>
              </a:ext>
            </a:extLst>
          </p:cNvPr>
          <p:cNvGrpSpPr/>
          <p:nvPr/>
        </p:nvGrpSpPr>
        <p:grpSpPr>
          <a:xfrm rot="3762263">
            <a:off x="10500243" y="391609"/>
            <a:ext cx="439364" cy="1321579"/>
            <a:chOff x="4950514" y="2350245"/>
            <a:chExt cx="1233090" cy="3709057"/>
          </a:xfrm>
        </p:grpSpPr>
        <p:pic>
          <p:nvPicPr>
            <p:cNvPr id="25" name="Picture 24" descr="A fork and knife&#10;&#10;Description automatically generated with medium confidence">
              <a:extLst>
                <a:ext uri="{FF2B5EF4-FFF2-40B4-BE49-F238E27FC236}">
                  <a16:creationId xmlns:a16="http://schemas.microsoft.com/office/drawing/2014/main" id="{63D15F36-A132-BF0E-AFFC-CFABB53D3D01}"/>
                </a:ext>
              </a:extLst>
            </p:cNvPr>
            <p:cNvPicPr>
              <a:picLocks noChangeAspect="1"/>
            </p:cNvPicPr>
            <p:nvPr/>
          </p:nvPicPr>
          <p:blipFill rotWithShape="1">
            <a:blip r:embed="rId3">
              <a:clrChange>
                <a:clrFrom>
                  <a:srgbClr val="FFFFFF"/>
                </a:clrFrom>
                <a:clrTo>
                  <a:srgbClr val="FFFFFF">
                    <a:alpha val="0"/>
                  </a:srgbClr>
                </a:clrTo>
              </a:clrChange>
              <a:extLst>
                <a:ext uri="{837473B0-CC2E-450A-ABE3-18F120FF3D39}">
                  <a1611:picAttrSrcUrl xmlns:a1611="http://schemas.microsoft.com/office/drawing/2016/11/main" r:id="rId4"/>
                </a:ext>
              </a:extLst>
            </a:blip>
            <a:srcRect l="10521" t="12777" r="70060" b="12121"/>
            <a:stretch/>
          </p:blipFill>
          <p:spPr>
            <a:xfrm>
              <a:off x="4950514" y="2350245"/>
              <a:ext cx="1233090" cy="3700742"/>
            </a:xfrm>
            <a:prstGeom prst="rect">
              <a:avLst/>
            </a:prstGeom>
          </p:spPr>
        </p:pic>
        <p:sp>
          <p:nvSpPr>
            <p:cNvPr id="26" name="Rectangle 25">
              <a:extLst>
                <a:ext uri="{FF2B5EF4-FFF2-40B4-BE49-F238E27FC236}">
                  <a16:creationId xmlns:a16="http://schemas.microsoft.com/office/drawing/2014/main" id="{7FCF02FD-6FAC-4B22-301E-790CAD616C7D}"/>
                </a:ext>
              </a:extLst>
            </p:cNvPr>
            <p:cNvSpPr/>
            <p:nvPr/>
          </p:nvSpPr>
          <p:spPr>
            <a:xfrm rot="637901">
              <a:off x="5565856" y="2414542"/>
              <a:ext cx="306521" cy="36447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TextBox 26">
            <a:extLst>
              <a:ext uri="{FF2B5EF4-FFF2-40B4-BE49-F238E27FC236}">
                <a16:creationId xmlns:a16="http://schemas.microsoft.com/office/drawing/2014/main" id="{A886104B-565A-EBBC-D860-B3AC846B7954}"/>
              </a:ext>
            </a:extLst>
          </p:cNvPr>
          <p:cNvSpPr txBox="1"/>
          <p:nvPr/>
        </p:nvSpPr>
        <p:spPr>
          <a:xfrm>
            <a:off x="10439794" y="468012"/>
            <a:ext cx="584332" cy="369332"/>
          </a:xfrm>
          <a:prstGeom prst="rect">
            <a:avLst/>
          </a:prstGeom>
          <a:noFill/>
        </p:spPr>
        <p:txBody>
          <a:bodyPr wrap="square">
            <a:spAutoFit/>
          </a:bodyPr>
          <a:lstStyle/>
          <a:p>
            <a:pPr algn="ctr"/>
            <a:r>
              <a:rPr lang="en-US" sz="1800" dirty="0">
                <a:solidFill>
                  <a:prstClr val="black"/>
                </a:solidFill>
              </a:rPr>
              <a:t>c[0]</a:t>
            </a:r>
            <a:endParaRPr lang="en-US" dirty="0"/>
          </a:p>
        </p:txBody>
      </p:sp>
      <p:sp>
        <p:nvSpPr>
          <p:cNvPr id="28" name="TextBox 27">
            <a:extLst>
              <a:ext uri="{FF2B5EF4-FFF2-40B4-BE49-F238E27FC236}">
                <a16:creationId xmlns:a16="http://schemas.microsoft.com/office/drawing/2014/main" id="{02931051-B328-A6F7-5798-BF7DDB2BC33F}"/>
              </a:ext>
            </a:extLst>
          </p:cNvPr>
          <p:cNvSpPr txBox="1"/>
          <p:nvPr/>
        </p:nvSpPr>
        <p:spPr>
          <a:xfrm>
            <a:off x="10421320" y="3872706"/>
            <a:ext cx="584332" cy="369332"/>
          </a:xfrm>
          <a:prstGeom prst="rect">
            <a:avLst/>
          </a:prstGeom>
          <a:noFill/>
        </p:spPr>
        <p:txBody>
          <a:bodyPr wrap="square">
            <a:spAutoFit/>
          </a:bodyPr>
          <a:lstStyle/>
          <a:p>
            <a:pPr algn="ctr"/>
            <a:r>
              <a:rPr lang="en-US" sz="1800" dirty="0">
                <a:solidFill>
                  <a:prstClr val="black"/>
                </a:solidFill>
              </a:rPr>
              <a:t>c[1]</a:t>
            </a:r>
            <a:endParaRPr lang="en-US" dirty="0"/>
          </a:p>
        </p:txBody>
      </p:sp>
      <p:sp>
        <p:nvSpPr>
          <p:cNvPr id="29" name="Content Placeholder 2">
            <a:extLst>
              <a:ext uri="{FF2B5EF4-FFF2-40B4-BE49-F238E27FC236}">
                <a16:creationId xmlns:a16="http://schemas.microsoft.com/office/drawing/2014/main" id="{A0DC14D7-645B-B8AB-72BA-68B612B14F5A}"/>
              </a:ext>
            </a:extLst>
          </p:cNvPr>
          <p:cNvSpPr txBox="1">
            <a:spLocks/>
          </p:cNvSpPr>
          <p:nvPr/>
        </p:nvSpPr>
        <p:spPr>
          <a:xfrm>
            <a:off x="178353" y="880737"/>
            <a:ext cx="4197704" cy="2839816"/>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2438" indent="-452438" eaLnBrk="0" fontAlgn="base" hangingPunct="0">
              <a:spcBef>
                <a:spcPct val="20000"/>
              </a:spcBef>
              <a:spcAft>
                <a:spcPct val="0"/>
              </a:spcAft>
              <a:buFont typeface="+mj-lt"/>
              <a:buAutoNum type="arabicPeriod"/>
              <a:tabLst>
                <a:tab pos="530225" algn="l"/>
              </a:tabLst>
            </a:pPr>
            <a:r>
              <a:rPr lang="en-US" sz="1600" dirty="0">
                <a:solidFill>
                  <a:prstClr val="black"/>
                </a:solidFill>
              </a:rPr>
              <a:t>Shared var c[0..n-1]: bin-semaphore </a:t>
            </a:r>
            <a:r>
              <a:rPr lang="en-US" sz="1600" dirty="0">
                <a:solidFill>
                  <a:schemeClr val="bg1">
                    <a:lumMod val="50000"/>
                  </a:schemeClr>
                </a:solidFill>
              </a:rPr>
              <a:t>// one for each chopstick; </a:t>
            </a:r>
            <a:r>
              <a:rPr lang="en-US" sz="1600" dirty="0" err="1">
                <a:solidFill>
                  <a:schemeClr val="bg1">
                    <a:lumMod val="50000"/>
                  </a:schemeClr>
                </a:solidFill>
              </a:rPr>
              <a:t>init</a:t>
            </a:r>
            <a:r>
              <a:rPr lang="en-US" sz="1600" dirty="0">
                <a:solidFill>
                  <a:schemeClr val="bg1">
                    <a:lumMod val="50000"/>
                  </a:schemeClr>
                </a:solidFill>
              </a:rPr>
              <a:t> all 1 </a:t>
            </a:r>
          </a:p>
          <a:p>
            <a:pPr marL="452438" indent="-452438" eaLnBrk="0" fontAlgn="base" hangingPunct="0">
              <a:spcBef>
                <a:spcPct val="20000"/>
              </a:spcBef>
              <a:spcAft>
                <a:spcPct val="0"/>
              </a:spcAft>
              <a:buFont typeface="+mj-lt"/>
              <a:buAutoNum type="arabicPeriod"/>
              <a:tabLst>
                <a:tab pos="530225" algn="l"/>
              </a:tabLst>
            </a:pPr>
            <a:r>
              <a:rPr lang="en-US" sz="1600" dirty="0">
                <a:solidFill>
                  <a:prstClr val="black"/>
                </a:solidFill>
              </a:rPr>
              <a:t>P</a:t>
            </a:r>
            <a:r>
              <a:rPr lang="en-US" sz="1600" baseline="-25000" dirty="0">
                <a:solidFill>
                  <a:prstClr val="black"/>
                </a:solidFill>
              </a:rPr>
              <a:t>i</a:t>
            </a:r>
            <a:r>
              <a:rPr lang="en-US" sz="1600" dirty="0">
                <a:solidFill>
                  <a:prstClr val="black"/>
                </a:solidFill>
              </a:rPr>
              <a:t> (except P</a:t>
            </a:r>
            <a:r>
              <a:rPr lang="en-US" sz="1600" baseline="-25000" dirty="0">
                <a:solidFill>
                  <a:prstClr val="black"/>
                </a:solidFill>
              </a:rPr>
              <a:t>n-1</a:t>
            </a:r>
            <a:r>
              <a:rPr lang="en-US" sz="1600" dirty="0">
                <a:solidFill>
                  <a:prstClr val="black"/>
                </a:solidFill>
              </a:rPr>
              <a:t>):</a:t>
            </a:r>
          </a:p>
          <a:p>
            <a:pPr marL="452438" indent="-452438" eaLnBrk="0" fontAlgn="base" hangingPunct="0">
              <a:spcBef>
                <a:spcPct val="20000"/>
              </a:spcBef>
              <a:spcAft>
                <a:spcPct val="0"/>
              </a:spcAft>
              <a:buFont typeface="+mj-lt"/>
              <a:buAutoNum type="arabicPeriod"/>
              <a:tabLst>
                <a:tab pos="530225" algn="l"/>
              </a:tabLst>
            </a:pPr>
            <a:r>
              <a:rPr lang="en-US" sz="1600" dirty="0">
                <a:solidFill>
                  <a:prstClr val="black"/>
                </a:solidFill>
              </a:rPr>
              <a:t>do </a:t>
            </a:r>
          </a:p>
          <a:p>
            <a:pPr marL="452438" indent="-452438" eaLnBrk="0" fontAlgn="base" hangingPunct="0">
              <a:spcBef>
                <a:spcPct val="20000"/>
              </a:spcBef>
              <a:spcAft>
                <a:spcPct val="0"/>
              </a:spcAft>
              <a:buFont typeface="+mj-lt"/>
              <a:buAutoNum type="arabicPeriod"/>
              <a:tabLst>
                <a:tab pos="530225" algn="l"/>
              </a:tabLst>
            </a:pPr>
            <a:r>
              <a:rPr lang="en-US" sz="1600" dirty="0">
                <a:solidFill>
                  <a:prstClr val="black"/>
                </a:solidFill>
              </a:rPr>
              <a:t>	</a:t>
            </a:r>
            <a:r>
              <a:rPr lang="en-US" sz="1600" dirty="0"/>
              <a:t>Wait c[</a:t>
            </a:r>
            <a:r>
              <a:rPr lang="en-US" sz="1600" dirty="0" err="1"/>
              <a:t>i</a:t>
            </a:r>
            <a:r>
              <a:rPr lang="en-US" sz="1600" dirty="0"/>
              <a:t>];   </a:t>
            </a:r>
            <a:r>
              <a:rPr lang="en-US" sz="1600" dirty="0">
                <a:solidFill>
                  <a:schemeClr val="bg1">
                    <a:lumMod val="50000"/>
                  </a:schemeClr>
                </a:solidFill>
              </a:rPr>
              <a:t>// pick left chopstick</a:t>
            </a:r>
          </a:p>
          <a:p>
            <a:pPr marL="452438" indent="-452438" eaLnBrk="0" fontAlgn="base" hangingPunct="0">
              <a:spcBef>
                <a:spcPct val="20000"/>
              </a:spcBef>
              <a:spcAft>
                <a:spcPct val="0"/>
              </a:spcAft>
              <a:buFont typeface="+mj-lt"/>
              <a:buAutoNum type="arabicPeriod"/>
              <a:tabLst>
                <a:tab pos="530225" algn="l"/>
              </a:tabLst>
            </a:pPr>
            <a:r>
              <a:rPr lang="en-US" sz="1600" dirty="0"/>
              <a:t>	Wait c[(i+1) mod n];  </a:t>
            </a:r>
            <a:r>
              <a:rPr lang="en-US" sz="1600" dirty="0">
                <a:solidFill>
                  <a:schemeClr val="bg1">
                    <a:lumMod val="50000"/>
                  </a:schemeClr>
                </a:solidFill>
              </a:rPr>
              <a:t>// pick right chopstick</a:t>
            </a:r>
          </a:p>
          <a:p>
            <a:pPr marL="452438" indent="-452438" eaLnBrk="0" fontAlgn="base" hangingPunct="0">
              <a:spcBef>
                <a:spcPct val="20000"/>
              </a:spcBef>
              <a:spcAft>
                <a:spcPct val="0"/>
              </a:spcAft>
              <a:buFont typeface="+mj-lt"/>
              <a:buAutoNum type="arabicPeriod"/>
              <a:tabLst>
                <a:tab pos="530225" algn="l"/>
              </a:tabLst>
            </a:pPr>
            <a:r>
              <a:rPr lang="en-US" sz="1600" dirty="0"/>
              <a:t>	</a:t>
            </a:r>
            <a:r>
              <a:rPr lang="en-US" sz="1600" dirty="0">
                <a:solidFill>
                  <a:schemeClr val="bg1">
                    <a:lumMod val="50000"/>
                  </a:schemeClr>
                </a:solidFill>
              </a:rPr>
              <a:t>// Eat</a:t>
            </a:r>
          </a:p>
          <a:p>
            <a:pPr marL="452438" indent="-452438" eaLnBrk="0" fontAlgn="base" hangingPunct="0">
              <a:spcBef>
                <a:spcPct val="20000"/>
              </a:spcBef>
              <a:spcAft>
                <a:spcPct val="0"/>
              </a:spcAft>
              <a:buFont typeface="+mj-lt"/>
              <a:buAutoNum type="arabicPeriod"/>
              <a:tabLst>
                <a:tab pos="530225" algn="l"/>
              </a:tabLst>
            </a:pPr>
            <a:r>
              <a:rPr lang="en-US" sz="1600" dirty="0"/>
              <a:t>	Signal c[(i+1) mod n];  </a:t>
            </a:r>
            <a:r>
              <a:rPr lang="en-US" sz="1600" dirty="0">
                <a:solidFill>
                  <a:schemeClr val="bg1">
                    <a:lumMod val="50000"/>
                  </a:schemeClr>
                </a:solidFill>
              </a:rPr>
              <a:t>leave right chopstick</a:t>
            </a:r>
          </a:p>
          <a:p>
            <a:pPr marL="452438" indent="-452438" eaLnBrk="0" fontAlgn="base" hangingPunct="0">
              <a:spcBef>
                <a:spcPct val="20000"/>
              </a:spcBef>
              <a:spcAft>
                <a:spcPct val="0"/>
              </a:spcAft>
              <a:buFont typeface="+mj-lt"/>
              <a:buAutoNum type="arabicPeriod"/>
              <a:tabLst>
                <a:tab pos="530225" algn="l"/>
              </a:tabLst>
            </a:pPr>
            <a:r>
              <a:rPr lang="en-US" sz="1600" dirty="0"/>
              <a:t>	Signal c[</a:t>
            </a:r>
            <a:r>
              <a:rPr lang="en-US" sz="1600" dirty="0" err="1"/>
              <a:t>i</a:t>
            </a:r>
            <a:r>
              <a:rPr lang="en-US" sz="1600" dirty="0"/>
              <a:t>];  </a:t>
            </a:r>
            <a:r>
              <a:rPr lang="en-US" sz="1600" dirty="0">
                <a:solidFill>
                  <a:schemeClr val="bg1">
                    <a:lumMod val="50000"/>
                  </a:schemeClr>
                </a:solidFill>
              </a:rPr>
              <a:t>// leave left chopstick</a:t>
            </a:r>
            <a:r>
              <a:rPr lang="en-US" sz="1600" dirty="0"/>
              <a:t> </a:t>
            </a:r>
          </a:p>
          <a:p>
            <a:pPr marL="452438" indent="-452438" eaLnBrk="0" fontAlgn="base" hangingPunct="0">
              <a:spcBef>
                <a:spcPct val="20000"/>
              </a:spcBef>
              <a:spcAft>
                <a:spcPct val="0"/>
              </a:spcAft>
              <a:buFont typeface="+mj-lt"/>
              <a:buAutoNum type="arabicPeriod"/>
              <a:tabLst>
                <a:tab pos="530225" algn="l"/>
              </a:tabLst>
            </a:pPr>
            <a:r>
              <a:rPr lang="en-US" sz="1600" dirty="0"/>
              <a:t>	</a:t>
            </a:r>
            <a:r>
              <a:rPr lang="en-US" sz="1600" dirty="0">
                <a:solidFill>
                  <a:schemeClr val="bg1">
                    <a:lumMod val="50000"/>
                  </a:schemeClr>
                </a:solidFill>
              </a:rPr>
              <a:t>// Think</a:t>
            </a:r>
          </a:p>
          <a:p>
            <a:pPr marL="452438" indent="-452438" eaLnBrk="0" fontAlgn="base" hangingPunct="0">
              <a:spcBef>
                <a:spcPct val="20000"/>
              </a:spcBef>
              <a:spcAft>
                <a:spcPct val="0"/>
              </a:spcAft>
              <a:buFont typeface="+mj-lt"/>
              <a:buAutoNum type="arabicPeriod"/>
              <a:tabLst>
                <a:tab pos="530225" algn="l"/>
              </a:tabLst>
            </a:pPr>
            <a:r>
              <a:rPr lang="en-US" sz="1600" dirty="0">
                <a:solidFill>
                  <a:prstClr val="black"/>
                </a:solidFill>
              </a:rPr>
              <a:t>forever </a:t>
            </a:r>
          </a:p>
        </p:txBody>
      </p:sp>
      <p:sp>
        <p:nvSpPr>
          <p:cNvPr id="30" name="Content Placeholder 2">
            <a:extLst>
              <a:ext uri="{FF2B5EF4-FFF2-40B4-BE49-F238E27FC236}">
                <a16:creationId xmlns:a16="http://schemas.microsoft.com/office/drawing/2014/main" id="{E1D44BD7-02E4-748E-C693-86E6F8475F12}"/>
              </a:ext>
            </a:extLst>
          </p:cNvPr>
          <p:cNvSpPr txBox="1">
            <a:spLocks/>
          </p:cNvSpPr>
          <p:nvPr/>
        </p:nvSpPr>
        <p:spPr>
          <a:xfrm>
            <a:off x="4504675" y="880737"/>
            <a:ext cx="4197704" cy="2839816"/>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eaLnBrk="0" fontAlgn="base" hangingPunct="0">
              <a:spcBef>
                <a:spcPct val="20000"/>
              </a:spcBef>
              <a:spcAft>
                <a:spcPct val="0"/>
              </a:spcAft>
              <a:buFont typeface="+mj-lt"/>
              <a:buAutoNum type="arabicPeriod"/>
              <a:tabLst>
                <a:tab pos="530225" algn="l"/>
              </a:tabLst>
            </a:pPr>
            <a:r>
              <a:rPr lang="en-US" sz="1600" dirty="0">
                <a:solidFill>
                  <a:prstClr val="black"/>
                </a:solidFill>
              </a:rPr>
              <a:t>Shared var c[0..n-1]: bin-semaphore </a:t>
            </a:r>
            <a:r>
              <a:rPr lang="en-US" sz="1600" dirty="0">
                <a:solidFill>
                  <a:schemeClr val="bg1">
                    <a:lumMod val="50000"/>
                  </a:schemeClr>
                </a:solidFill>
              </a:rPr>
              <a:t>// one for each chopstick; </a:t>
            </a:r>
            <a:r>
              <a:rPr lang="en-US" sz="1600" dirty="0" err="1">
                <a:solidFill>
                  <a:schemeClr val="bg1">
                    <a:lumMod val="50000"/>
                  </a:schemeClr>
                </a:solidFill>
              </a:rPr>
              <a:t>init</a:t>
            </a:r>
            <a:r>
              <a:rPr lang="en-US" sz="1600" dirty="0">
                <a:solidFill>
                  <a:schemeClr val="bg1">
                    <a:lumMod val="50000"/>
                  </a:schemeClr>
                </a:solidFill>
              </a:rPr>
              <a:t> all 1 </a:t>
            </a:r>
          </a:p>
          <a:p>
            <a:pPr marL="457200" indent="-457200" eaLnBrk="0" fontAlgn="base" hangingPunct="0">
              <a:spcBef>
                <a:spcPct val="20000"/>
              </a:spcBef>
              <a:spcAft>
                <a:spcPct val="0"/>
              </a:spcAft>
              <a:buFont typeface="+mj-lt"/>
              <a:buAutoNum type="arabicPeriod"/>
              <a:tabLst>
                <a:tab pos="530225" algn="l"/>
              </a:tabLst>
            </a:pPr>
            <a:r>
              <a:rPr lang="en-US" sz="1600" dirty="0">
                <a:solidFill>
                  <a:prstClr val="black"/>
                </a:solidFill>
              </a:rPr>
              <a:t>P</a:t>
            </a:r>
            <a:r>
              <a:rPr lang="en-US" sz="1600" baseline="-25000" dirty="0">
                <a:solidFill>
                  <a:prstClr val="black"/>
                </a:solidFill>
              </a:rPr>
              <a:t>n-1</a:t>
            </a:r>
            <a:r>
              <a:rPr lang="en-US" sz="1600" dirty="0">
                <a:solidFill>
                  <a:prstClr val="black"/>
                </a:solidFill>
              </a:rPr>
              <a:t>:</a:t>
            </a:r>
          </a:p>
          <a:p>
            <a:pPr marL="457200" indent="-457200" eaLnBrk="0" fontAlgn="base" hangingPunct="0">
              <a:spcBef>
                <a:spcPct val="20000"/>
              </a:spcBef>
              <a:spcAft>
                <a:spcPct val="0"/>
              </a:spcAft>
              <a:buFont typeface="+mj-lt"/>
              <a:buAutoNum type="arabicPeriod"/>
              <a:tabLst>
                <a:tab pos="530225" algn="l"/>
              </a:tabLst>
            </a:pPr>
            <a:r>
              <a:rPr lang="en-US" sz="1600" dirty="0">
                <a:solidFill>
                  <a:prstClr val="black"/>
                </a:solidFill>
              </a:rPr>
              <a:t>do </a:t>
            </a:r>
          </a:p>
          <a:p>
            <a:pPr marL="457200" indent="-457200" eaLnBrk="0" fontAlgn="base" hangingPunct="0">
              <a:spcBef>
                <a:spcPct val="20000"/>
              </a:spcBef>
              <a:spcAft>
                <a:spcPct val="0"/>
              </a:spcAft>
              <a:buFont typeface="+mj-lt"/>
              <a:buAutoNum type="arabicPeriod"/>
              <a:tabLst>
                <a:tab pos="530225" algn="l"/>
              </a:tabLst>
            </a:pPr>
            <a:r>
              <a:rPr lang="en-US" sz="1600" dirty="0">
                <a:solidFill>
                  <a:prstClr val="black"/>
                </a:solidFill>
              </a:rPr>
              <a:t>	</a:t>
            </a:r>
            <a:r>
              <a:rPr lang="en-US" sz="1600" dirty="0"/>
              <a:t>Wait c[(i+1) mod n];  </a:t>
            </a:r>
            <a:r>
              <a:rPr lang="en-US" sz="1600" dirty="0">
                <a:solidFill>
                  <a:schemeClr val="bg1">
                    <a:lumMod val="50000"/>
                  </a:schemeClr>
                </a:solidFill>
              </a:rPr>
              <a:t>// pick right chopstick</a:t>
            </a:r>
          </a:p>
          <a:p>
            <a:pPr marL="457200" indent="-457200" eaLnBrk="0" fontAlgn="base" hangingPunct="0">
              <a:spcBef>
                <a:spcPct val="20000"/>
              </a:spcBef>
              <a:spcAft>
                <a:spcPct val="0"/>
              </a:spcAft>
              <a:buFont typeface="+mj-lt"/>
              <a:buAutoNum type="arabicPeriod"/>
              <a:tabLst>
                <a:tab pos="530225" algn="l"/>
              </a:tabLst>
            </a:pPr>
            <a:r>
              <a:rPr lang="en-US" sz="1600" dirty="0"/>
              <a:t>	Wait c[</a:t>
            </a:r>
            <a:r>
              <a:rPr lang="en-US" sz="1600" dirty="0" err="1"/>
              <a:t>i</a:t>
            </a:r>
            <a:r>
              <a:rPr lang="en-US" sz="1600" dirty="0"/>
              <a:t>];   </a:t>
            </a:r>
            <a:r>
              <a:rPr lang="en-US" sz="1600" dirty="0">
                <a:solidFill>
                  <a:schemeClr val="bg1">
                    <a:lumMod val="50000"/>
                  </a:schemeClr>
                </a:solidFill>
              </a:rPr>
              <a:t>// pick left chopstick</a:t>
            </a:r>
          </a:p>
          <a:p>
            <a:pPr marL="457200" indent="-457200" eaLnBrk="0" fontAlgn="base" hangingPunct="0">
              <a:spcBef>
                <a:spcPct val="20000"/>
              </a:spcBef>
              <a:spcAft>
                <a:spcPct val="0"/>
              </a:spcAft>
              <a:buFont typeface="+mj-lt"/>
              <a:buAutoNum type="arabicPeriod"/>
              <a:tabLst>
                <a:tab pos="530225" algn="l"/>
              </a:tabLst>
            </a:pPr>
            <a:r>
              <a:rPr lang="en-US" sz="1600" dirty="0"/>
              <a:t>	</a:t>
            </a:r>
            <a:r>
              <a:rPr lang="en-US" sz="1600" dirty="0">
                <a:solidFill>
                  <a:schemeClr val="bg1">
                    <a:lumMod val="50000"/>
                  </a:schemeClr>
                </a:solidFill>
              </a:rPr>
              <a:t>// Eat</a:t>
            </a:r>
          </a:p>
          <a:p>
            <a:pPr marL="457200" indent="-457200" eaLnBrk="0" fontAlgn="base" hangingPunct="0">
              <a:spcBef>
                <a:spcPct val="20000"/>
              </a:spcBef>
              <a:spcAft>
                <a:spcPct val="0"/>
              </a:spcAft>
              <a:buFont typeface="+mj-lt"/>
              <a:buAutoNum type="arabicPeriod"/>
              <a:tabLst>
                <a:tab pos="530225" algn="l"/>
              </a:tabLst>
            </a:pPr>
            <a:r>
              <a:rPr lang="en-US" sz="1600" dirty="0"/>
              <a:t>	Signal c[</a:t>
            </a:r>
            <a:r>
              <a:rPr lang="en-US" sz="1600" dirty="0" err="1"/>
              <a:t>i</a:t>
            </a:r>
            <a:r>
              <a:rPr lang="en-US" sz="1600" dirty="0"/>
              <a:t>];  </a:t>
            </a:r>
            <a:r>
              <a:rPr lang="en-US" sz="1600" dirty="0">
                <a:solidFill>
                  <a:schemeClr val="bg1">
                    <a:lumMod val="50000"/>
                  </a:schemeClr>
                </a:solidFill>
              </a:rPr>
              <a:t>// leave left chopstick</a:t>
            </a:r>
            <a:r>
              <a:rPr lang="en-US" sz="1600" dirty="0"/>
              <a:t> </a:t>
            </a:r>
          </a:p>
          <a:p>
            <a:pPr marL="457200" indent="-457200" eaLnBrk="0" fontAlgn="base" hangingPunct="0">
              <a:spcBef>
                <a:spcPct val="20000"/>
              </a:spcBef>
              <a:spcAft>
                <a:spcPct val="0"/>
              </a:spcAft>
              <a:buFont typeface="+mj-lt"/>
              <a:buAutoNum type="arabicPeriod"/>
              <a:tabLst>
                <a:tab pos="530225" algn="l"/>
              </a:tabLst>
            </a:pPr>
            <a:r>
              <a:rPr lang="en-US" sz="1600" dirty="0"/>
              <a:t>	Signal c[(i+1) mod n];  </a:t>
            </a:r>
            <a:r>
              <a:rPr lang="en-US" sz="1600" dirty="0">
                <a:solidFill>
                  <a:schemeClr val="bg1">
                    <a:lumMod val="50000"/>
                  </a:schemeClr>
                </a:solidFill>
              </a:rPr>
              <a:t>leave right chopstick</a:t>
            </a:r>
          </a:p>
          <a:p>
            <a:pPr marL="457200" indent="-457200" eaLnBrk="0" fontAlgn="base" hangingPunct="0">
              <a:spcBef>
                <a:spcPct val="20000"/>
              </a:spcBef>
              <a:spcAft>
                <a:spcPct val="0"/>
              </a:spcAft>
              <a:buFont typeface="+mj-lt"/>
              <a:buAutoNum type="arabicPeriod"/>
              <a:tabLst>
                <a:tab pos="530225" algn="l"/>
              </a:tabLst>
            </a:pPr>
            <a:r>
              <a:rPr lang="en-US" sz="1600" dirty="0"/>
              <a:t>	</a:t>
            </a:r>
            <a:r>
              <a:rPr lang="en-US" sz="1600" dirty="0">
                <a:solidFill>
                  <a:schemeClr val="bg1">
                    <a:lumMod val="50000"/>
                  </a:schemeClr>
                </a:solidFill>
              </a:rPr>
              <a:t>// Think</a:t>
            </a:r>
          </a:p>
          <a:p>
            <a:pPr marL="457200" indent="-457200" eaLnBrk="0" fontAlgn="base" hangingPunct="0">
              <a:spcBef>
                <a:spcPct val="20000"/>
              </a:spcBef>
              <a:spcAft>
                <a:spcPct val="0"/>
              </a:spcAft>
              <a:buFont typeface="+mj-lt"/>
              <a:buAutoNum type="arabicPeriod"/>
              <a:tabLst>
                <a:tab pos="530225" algn="l"/>
              </a:tabLst>
            </a:pPr>
            <a:r>
              <a:rPr lang="en-US" sz="1600" dirty="0">
                <a:solidFill>
                  <a:prstClr val="black"/>
                </a:solidFill>
              </a:rPr>
              <a:t>forever </a:t>
            </a:r>
          </a:p>
        </p:txBody>
      </p:sp>
      <p:cxnSp>
        <p:nvCxnSpPr>
          <p:cNvPr id="3" name="Straight Arrow Connector 2">
            <a:extLst>
              <a:ext uri="{FF2B5EF4-FFF2-40B4-BE49-F238E27FC236}">
                <a16:creationId xmlns:a16="http://schemas.microsoft.com/office/drawing/2014/main" id="{F12FD3D4-72D1-06CF-9D19-B4979E2C5F08}"/>
              </a:ext>
            </a:extLst>
          </p:cNvPr>
          <p:cNvCxnSpPr>
            <a:cxnSpLocks/>
            <a:endCxn id="26" idx="3"/>
          </p:cNvCxnSpPr>
          <p:nvPr/>
        </p:nvCxnSpPr>
        <p:spPr>
          <a:xfrm flipV="1">
            <a:off x="9980813" y="1158114"/>
            <a:ext cx="769437" cy="777517"/>
          </a:xfrm>
          <a:prstGeom prst="straightConnector1">
            <a:avLst/>
          </a:prstGeom>
          <a:ln w="38100">
            <a:prstDash val="dash"/>
            <a:headEnd type="triangle" w="lg" len="lg"/>
            <a:tailEnd type="none" w="med" len="med"/>
          </a:ln>
        </p:spPr>
        <p:style>
          <a:lnRef idx="3">
            <a:schemeClr val="accent2"/>
          </a:lnRef>
          <a:fillRef idx="0">
            <a:schemeClr val="accent2"/>
          </a:fillRef>
          <a:effectRef idx="2">
            <a:schemeClr val="accent2"/>
          </a:effectRef>
          <a:fontRef idx="minor">
            <a:schemeClr val="tx1"/>
          </a:fontRef>
        </p:style>
      </p:cxnSp>
      <p:cxnSp>
        <p:nvCxnSpPr>
          <p:cNvPr id="4" name="Straight Arrow Connector 3">
            <a:extLst>
              <a:ext uri="{FF2B5EF4-FFF2-40B4-BE49-F238E27FC236}">
                <a16:creationId xmlns:a16="http://schemas.microsoft.com/office/drawing/2014/main" id="{1646E6FA-DB1F-21E5-9E9B-1AA397977547}"/>
              </a:ext>
            </a:extLst>
          </p:cNvPr>
          <p:cNvCxnSpPr>
            <a:cxnSpLocks/>
            <a:stCxn id="26" idx="3"/>
          </p:cNvCxnSpPr>
          <p:nvPr/>
        </p:nvCxnSpPr>
        <p:spPr>
          <a:xfrm>
            <a:off x="10750250" y="1158114"/>
            <a:ext cx="746585" cy="777517"/>
          </a:xfrm>
          <a:prstGeom prst="straightConnector1">
            <a:avLst/>
          </a:prstGeom>
          <a:ln w="38100">
            <a:solidFill>
              <a:schemeClr val="accent6"/>
            </a:solidFill>
            <a:prstDash val="solid"/>
            <a:headEnd type="triangle" w="lg" len="lg"/>
            <a:tailEnd type="none" w="med" len="med"/>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135B366E-EEDD-7DBB-ABA2-E43AECB7CD54}"/>
              </a:ext>
            </a:extLst>
          </p:cNvPr>
          <p:cNvCxnSpPr>
            <a:cxnSpLocks/>
            <a:stCxn id="17" idx="4"/>
            <a:endCxn id="22" idx="1"/>
          </p:cNvCxnSpPr>
          <p:nvPr/>
        </p:nvCxnSpPr>
        <p:spPr>
          <a:xfrm flipH="1">
            <a:off x="10617868" y="2668857"/>
            <a:ext cx="991032" cy="959949"/>
          </a:xfrm>
          <a:prstGeom prst="straightConnector1">
            <a:avLst/>
          </a:prstGeom>
          <a:ln w="38100">
            <a:prstDash val="dash"/>
            <a:headEnd type="triangle" w="lg" len="lg"/>
            <a:tailEnd type="none" w="med" len="med"/>
          </a:ln>
        </p:spPr>
        <p:style>
          <a:lnRef idx="3">
            <a:schemeClr val="accent2"/>
          </a:lnRef>
          <a:fillRef idx="0">
            <a:schemeClr val="accent2"/>
          </a:fillRef>
          <a:effectRef idx="2">
            <a:schemeClr val="accent2"/>
          </a:effectRef>
          <a:fontRef idx="minor">
            <a:schemeClr val="tx1"/>
          </a:fontRef>
        </p:style>
      </p:cxnSp>
      <p:sp>
        <p:nvSpPr>
          <p:cNvPr id="2" name="Date Placeholder 1">
            <a:extLst>
              <a:ext uri="{FF2B5EF4-FFF2-40B4-BE49-F238E27FC236}">
                <a16:creationId xmlns:a16="http://schemas.microsoft.com/office/drawing/2014/main" id="{15DDEEC4-76F4-5746-8B1D-820725B7D06D}"/>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9482418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4"/>
          <p:cNvSpPr>
            <a:spLocks noGrp="1"/>
          </p:cNvSpPr>
          <p:nvPr>
            <p:ph type="sldNum" sz="quarter" idx="12"/>
          </p:nvPr>
        </p:nvSpPr>
        <p:spPr>
          <a:noFill/>
        </p:spPr>
        <p:txBody>
          <a:bodyPr/>
          <a:lstStyle/>
          <a:p>
            <a:fld id="{958BD947-B3BB-4FA6-89A0-B881DCEF6520}" type="slidenum">
              <a:rPr lang="en-US" smtClean="0">
                <a:solidFill>
                  <a:prstClr val="black">
                    <a:tint val="75000"/>
                  </a:prstClr>
                </a:solidFill>
              </a:rPr>
              <a:pPr/>
              <a:t>22</a:t>
            </a:fld>
            <a:endParaRPr lang="en-US">
              <a:solidFill>
                <a:prstClr val="black">
                  <a:tint val="75000"/>
                </a:prstClr>
              </a:solidFill>
            </a:endParaRPr>
          </a:p>
        </p:txBody>
      </p:sp>
      <p:sp>
        <p:nvSpPr>
          <p:cNvPr id="12" name="Title 1">
            <a:extLst>
              <a:ext uri="{FF2B5EF4-FFF2-40B4-BE49-F238E27FC236}">
                <a16:creationId xmlns:a16="http://schemas.microsoft.com/office/drawing/2014/main" id="{59757220-38F1-A4E4-C672-E9D602D679CE}"/>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Dining philosophers: pick-one-at-a-time without circular wait</a:t>
            </a:r>
            <a:endParaRPr lang="sv-SE" sz="3600" b="1" dirty="0">
              <a:solidFill>
                <a:schemeClr val="accent1">
                  <a:lumMod val="50000"/>
                </a:schemeClr>
              </a:solidFill>
            </a:endParaRPr>
          </a:p>
        </p:txBody>
      </p:sp>
      <p:grpSp>
        <p:nvGrpSpPr>
          <p:cNvPr id="14" name="Group 13">
            <a:extLst>
              <a:ext uri="{FF2B5EF4-FFF2-40B4-BE49-F238E27FC236}">
                <a16:creationId xmlns:a16="http://schemas.microsoft.com/office/drawing/2014/main" id="{8ED9C208-E455-2002-A7BE-B5D6FF3787F5}"/>
              </a:ext>
            </a:extLst>
          </p:cNvPr>
          <p:cNvGrpSpPr/>
          <p:nvPr/>
        </p:nvGrpSpPr>
        <p:grpSpPr>
          <a:xfrm>
            <a:off x="9431385" y="1935631"/>
            <a:ext cx="2544128" cy="733226"/>
            <a:chOff x="680949" y="4139630"/>
            <a:chExt cx="2544128" cy="733226"/>
          </a:xfrm>
        </p:grpSpPr>
        <p:sp>
          <p:nvSpPr>
            <p:cNvPr id="15" name="Oval 14">
              <a:extLst>
                <a:ext uri="{FF2B5EF4-FFF2-40B4-BE49-F238E27FC236}">
                  <a16:creationId xmlns:a16="http://schemas.microsoft.com/office/drawing/2014/main" id="{53CB171A-79E5-71D4-E4B7-43DAA89B1EB0}"/>
                </a:ext>
              </a:extLst>
            </p:cNvPr>
            <p:cNvSpPr/>
            <p:nvPr/>
          </p:nvSpPr>
          <p:spPr>
            <a:xfrm>
              <a:off x="680949" y="4139630"/>
              <a:ext cx="733226" cy="73322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P</a:t>
              </a:r>
              <a:r>
                <a:rPr lang="en-US" sz="2800" baseline="-25000" dirty="0"/>
                <a:t>0</a:t>
              </a:r>
            </a:p>
          </p:txBody>
        </p:sp>
        <p:sp>
          <p:nvSpPr>
            <p:cNvPr id="17" name="Oval 16">
              <a:extLst>
                <a:ext uri="{FF2B5EF4-FFF2-40B4-BE49-F238E27FC236}">
                  <a16:creationId xmlns:a16="http://schemas.microsoft.com/office/drawing/2014/main" id="{B4B432B7-67AF-9DA5-666F-F661CAEC5E0C}"/>
                </a:ext>
              </a:extLst>
            </p:cNvPr>
            <p:cNvSpPr/>
            <p:nvPr/>
          </p:nvSpPr>
          <p:spPr>
            <a:xfrm>
              <a:off x="2491851" y="4139630"/>
              <a:ext cx="733226" cy="733226"/>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P</a:t>
              </a:r>
              <a:r>
                <a:rPr lang="en-US" sz="2800" baseline="-25000" dirty="0"/>
                <a:t>1</a:t>
              </a:r>
            </a:p>
          </p:txBody>
        </p:sp>
      </p:grpSp>
      <p:grpSp>
        <p:nvGrpSpPr>
          <p:cNvPr id="21" name="Group 20">
            <a:extLst>
              <a:ext uri="{FF2B5EF4-FFF2-40B4-BE49-F238E27FC236}">
                <a16:creationId xmlns:a16="http://schemas.microsoft.com/office/drawing/2014/main" id="{5BBEC359-F61E-4A23-AD1A-C4FA40B3F586}"/>
              </a:ext>
            </a:extLst>
          </p:cNvPr>
          <p:cNvGrpSpPr/>
          <p:nvPr/>
        </p:nvGrpSpPr>
        <p:grpSpPr>
          <a:xfrm rot="3762263">
            <a:off x="10497612" y="3163917"/>
            <a:ext cx="439364" cy="1321579"/>
            <a:chOff x="4950514" y="2350245"/>
            <a:chExt cx="1233090" cy="3709057"/>
          </a:xfrm>
        </p:grpSpPr>
        <p:pic>
          <p:nvPicPr>
            <p:cNvPr id="22" name="Picture 21" descr="A fork and knife&#10;&#10;Description automatically generated with medium confidence">
              <a:extLst>
                <a:ext uri="{FF2B5EF4-FFF2-40B4-BE49-F238E27FC236}">
                  <a16:creationId xmlns:a16="http://schemas.microsoft.com/office/drawing/2014/main" id="{56447AC0-4A23-17A7-64FE-3B2A6422A0DD}"/>
                </a:ext>
              </a:extLst>
            </p:cNvPr>
            <p:cNvPicPr>
              <a:picLocks noChangeAspect="1"/>
            </p:cNvPicPr>
            <p:nvPr/>
          </p:nvPicPr>
          <p:blipFill rotWithShape="1">
            <a:blip r:embed="rId3">
              <a:clrChange>
                <a:clrFrom>
                  <a:srgbClr val="FFFFFF"/>
                </a:clrFrom>
                <a:clrTo>
                  <a:srgbClr val="FFFFFF">
                    <a:alpha val="0"/>
                  </a:srgbClr>
                </a:clrTo>
              </a:clrChange>
              <a:extLst>
                <a:ext uri="{837473B0-CC2E-450A-ABE3-18F120FF3D39}">
                  <a1611:picAttrSrcUrl xmlns:a1611="http://schemas.microsoft.com/office/drawing/2016/11/main" r:id="rId4"/>
                </a:ext>
              </a:extLst>
            </a:blip>
            <a:srcRect l="10521" t="12777" r="70060" b="12121"/>
            <a:stretch/>
          </p:blipFill>
          <p:spPr>
            <a:xfrm>
              <a:off x="4950514" y="2350245"/>
              <a:ext cx="1233090" cy="3700742"/>
            </a:xfrm>
            <a:prstGeom prst="rect">
              <a:avLst/>
            </a:prstGeom>
          </p:spPr>
        </p:pic>
        <p:sp>
          <p:nvSpPr>
            <p:cNvPr id="23" name="Rectangle 22">
              <a:extLst>
                <a:ext uri="{FF2B5EF4-FFF2-40B4-BE49-F238E27FC236}">
                  <a16:creationId xmlns:a16="http://schemas.microsoft.com/office/drawing/2014/main" id="{330FAB2B-28DA-40C0-8197-F21C2A7DA3AE}"/>
                </a:ext>
              </a:extLst>
            </p:cNvPr>
            <p:cNvSpPr/>
            <p:nvPr/>
          </p:nvSpPr>
          <p:spPr>
            <a:xfrm rot="637901">
              <a:off x="5565856" y="2414542"/>
              <a:ext cx="306521" cy="36447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23">
            <a:extLst>
              <a:ext uri="{FF2B5EF4-FFF2-40B4-BE49-F238E27FC236}">
                <a16:creationId xmlns:a16="http://schemas.microsoft.com/office/drawing/2014/main" id="{45F8DE4B-EB36-7300-C2FC-318DFA0AA4B8}"/>
              </a:ext>
            </a:extLst>
          </p:cNvPr>
          <p:cNvGrpSpPr/>
          <p:nvPr/>
        </p:nvGrpSpPr>
        <p:grpSpPr>
          <a:xfrm rot="3762263">
            <a:off x="10500243" y="391609"/>
            <a:ext cx="439364" cy="1321579"/>
            <a:chOff x="4950514" y="2350245"/>
            <a:chExt cx="1233090" cy="3709057"/>
          </a:xfrm>
        </p:grpSpPr>
        <p:pic>
          <p:nvPicPr>
            <p:cNvPr id="25" name="Picture 24" descr="A fork and knife&#10;&#10;Description automatically generated with medium confidence">
              <a:extLst>
                <a:ext uri="{FF2B5EF4-FFF2-40B4-BE49-F238E27FC236}">
                  <a16:creationId xmlns:a16="http://schemas.microsoft.com/office/drawing/2014/main" id="{63D15F36-A132-BF0E-AFFC-CFABB53D3D01}"/>
                </a:ext>
              </a:extLst>
            </p:cNvPr>
            <p:cNvPicPr>
              <a:picLocks noChangeAspect="1"/>
            </p:cNvPicPr>
            <p:nvPr/>
          </p:nvPicPr>
          <p:blipFill rotWithShape="1">
            <a:blip r:embed="rId3">
              <a:clrChange>
                <a:clrFrom>
                  <a:srgbClr val="FFFFFF"/>
                </a:clrFrom>
                <a:clrTo>
                  <a:srgbClr val="FFFFFF">
                    <a:alpha val="0"/>
                  </a:srgbClr>
                </a:clrTo>
              </a:clrChange>
              <a:extLst>
                <a:ext uri="{837473B0-CC2E-450A-ABE3-18F120FF3D39}">
                  <a1611:picAttrSrcUrl xmlns:a1611="http://schemas.microsoft.com/office/drawing/2016/11/main" r:id="rId4"/>
                </a:ext>
              </a:extLst>
            </a:blip>
            <a:srcRect l="10521" t="12777" r="70060" b="12121"/>
            <a:stretch/>
          </p:blipFill>
          <p:spPr>
            <a:xfrm>
              <a:off x="4950514" y="2350245"/>
              <a:ext cx="1233090" cy="3700742"/>
            </a:xfrm>
            <a:prstGeom prst="rect">
              <a:avLst/>
            </a:prstGeom>
          </p:spPr>
        </p:pic>
        <p:sp>
          <p:nvSpPr>
            <p:cNvPr id="26" name="Rectangle 25">
              <a:extLst>
                <a:ext uri="{FF2B5EF4-FFF2-40B4-BE49-F238E27FC236}">
                  <a16:creationId xmlns:a16="http://schemas.microsoft.com/office/drawing/2014/main" id="{7FCF02FD-6FAC-4B22-301E-790CAD616C7D}"/>
                </a:ext>
              </a:extLst>
            </p:cNvPr>
            <p:cNvSpPr/>
            <p:nvPr/>
          </p:nvSpPr>
          <p:spPr>
            <a:xfrm rot="637901">
              <a:off x="5565856" y="2414542"/>
              <a:ext cx="306521" cy="36447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TextBox 26">
            <a:extLst>
              <a:ext uri="{FF2B5EF4-FFF2-40B4-BE49-F238E27FC236}">
                <a16:creationId xmlns:a16="http://schemas.microsoft.com/office/drawing/2014/main" id="{A886104B-565A-EBBC-D860-B3AC846B7954}"/>
              </a:ext>
            </a:extLst>
          </p:cNvPr>
          <p:cNvSpPr txBox="1"/>
          <p:nvPr/>
        </p:nvSpPr>
        <p:spPr>
          <a:xfrm>
            <a:off x="10439794" y="468012"/>
            <a:ext cx="584332" cy="369332"/>
          </a:xfrm>
          <a:prstGeom prst="rect">
            <a:avLst/>
          </a:prstGeom>
          <a:noFill/>
        </p:spPr>
        <p:txBody>
          <a:bodyPr wrap="square">
            <a:spAutoFit/>
          </a:bodyPr>
          <a:lstStyle/>
          <a:p>
            <a:pPr algn="ctr"/>
            <a:r>
              <a:rPr lang="en-US" sz="1800" dirty="0">
                <a:solidFill>
                  <a:prstClr val="black"/>
                </a:solidFill>
              </a:rPr>
              <a:t>c[0]</a:t>
            </a:r>
            <a:endParaRPr lang="en-US" dirty="0"/>
          </a:p>
        </p:txBody>
      </p:sp>
      <p:sp>
        <p:nvSpPr>
          <p:cNvPr id="28" name="TextBox 27">
            <a:extLst>
              <a:ext uri="{FF2B5EF4-FFF2-40B4-BE49-F238E27FC236}">
                <a16:creationId xmlns:a16="http://schemas.microsoft.com/office/drawing/2014/main" id="{02931051-B328-A6F7-5798-BF7DDB2BC33F}"/>
              </a:ext>
            </a:extLst>
          </p:cNvPr>
          <p:cNvSpPr txBox="1"/>
          <p:nvPr/>
        </p:nvSpPr>
        <p:spPr>
          <a:xfrm>
            <a:off x="10421320" y="3872706"/>
            <a:ext cx="584332" cy="369332"/>
          </a:xfrm>
          <a:prstGeom prst="rect">
            <a:avLst/>
          </a:prstGeom>
          <a:noFill/>
        </p:spPr>
        <p:txBody>
          <a:bodyPr wrap="square">
            <a:spAutoFit/>
          </a:bodyPr>
          <a:lstStyle/>
          <a:p>
            <a:pPr algn="ctr"/>
            <a:r>
              <a:rPr lang="en-US" sz="1800" dirty="0">
                <a:solidFill>
                  <a:prstClr val="black"/>
                </a:solidFill>
              </a:rPr>
              <a:t>c[1]</a:t>
            </a:r>
            <a:endParaRPr lang="en-US" dirty="0"/>
          </a:p>
        </p:txBody>
      </p:sp>
      <p:sp>
        <p:nvSpPr>
          <p:cNvPr id="29" name="Content Placeholder 2">
            <a:extLst>
              <a:ext uri="{FF2B5EF4-FFF2-40B4-BE49-F238E27FC236}">
                <a16:creationId xmlns:a16="http://schemas.microsoft.com/office/drawing/2014/main" id="{A0DC14D7-645B-B8AB-72BA-68B612B14F5A}"/>
              </a:ext>
            </a:extLst>
          </p:cNvPr>
          <p:cNvSpPr txBox="1">
            <a:spLocks/>
          </p:cNvSpPr>
          <p:nvPr/>
        </p:nvSpPr>
        <p:spPr>
          <a:xfrm>
            <a:off x="178353" y="880737"/>
            <a:ext cx="4197704" cy="2839816"/>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2438" indent="-452438" eaLnBrk="0" fontAlgn="base" hangingPunct="0">
              <a:spcBef>
                <a:spcPct val="20000"/>
              </a:spcBef>
              <a:spcAft>
                <a:spcPct val="0"/>
              </a:spcAft>
              <a:buFont typeface="+mj-lt"/>
              <a:buAutoNum type="arabicPeriod"/>
              <a:tabLst>
                <a:tab pos="530225" algn="l"/>
              </a:tabLst>
            </a:pPr>
            <a:r>
              <a:rPr lang="en-US" sz="1600" dirty="0">
                <a:solidFill>
                  <a:prstClr val="black"/>
                </a:solidFill>
              </a:rPr>
              <a:t>Shared var c[0..n-1]: bin-semaphore </a:t>
            </a:r>
            <a:r>
              <a:rPr lang="en-US" sz="1600" dirty="0">
                <a:solidFill>
                  <a:schemeClr val="bg1">
                    <a:lumMod val="50000"/>
                  </a:schemeClr>
                </a:solidFill>
              </a:rPr>
              <a:t>// one for each chopstick; </a:t>
            </a:r>
            <a:r>
              <a:rPr lang="en-US" sz="1600" dirty="0" err="1">
                <a:solidFill>
                  <a:schemeClr val="bg1">
                    <a:lumMod val="50000"/>
                  </a:schemeClr>
                </a:solidFill>
              </a:rPr>
              <a:t>init</a:t>
            </a:r>
            <a:r>
              <a:rPr lang="en-US" sz="1600" dirty="0">
                <a:solidFill>
                  <a:schemeClr val="bg1">
                    <a:lumMod val="50000"/>
                  </a:schemeClr>
                </a:solidFill>
              </a:rPr>
              <a:t> all 1 </a:t>
            </a:r>
          </a:p>
          <a:p>
            <a:pPr marL="452438" indent="-452438" eaLnBrk="0" fontAlgn="base" hangingPunct="0">
              <a:spcBef>
                <a:spcPct val="20000"/>
              </a:spcBef>
              <a:spcAft>
                <a:spcPct val="0"/>
              </a:spcAft>
              <a:buFont typeface="+mj-lt"/>
              <a:buAutoNum type="arabicPeriod"/>
              <a:tabLst>
                <a:tab pos="530225" algn="l"/>
              </a:tabLst>
            </a:pPr>
            <a:r>
              <a:rPr lang="en-US" sz="1600" dirty="0">
                <a:solidFill>
                  <a:prstClr val="black"/>
                </a:solidFill>
              </a:rPr>
              <a:t>P</a:t>
            </a:r>
            <a:r>
              <a:rPr lang="en-US" sz="1600" baseline="-25000" dirty="0">
                <a:solidFill>
                  <a:prstClr val="black"/>
                </a:solidFill>
              </a:rPr>
              <a:t>i</a:t>
            </a:r>
            <a:r>
              <a:rPr lang="en-US" sz="1600" dirty="0">
                <a:solidFill>
                  <a:prstClr val="black"/>
                </a:solidFill>
              </a:rPr>
              <a:t> (except P</a:t>
            </a:r>
            <a:r>
              <a:rPr lang="en-US" sz="1600" baseline="-25000" dirty="0">
                <a:solidFill>
                  <a:prstClr val="black"/>
                </a:solidFill>
              </a:rPr>
              <a:t>n-1</a:t>
            </a:r>
            <a:r>
              <a:rPr lang="en-US" sz="1600" dirty="0">
                <a:solidFill>
                  <a:prstClr val="black"/>
                </a:solidFill>
              </a:rPr>
              <a:t>):</a:t>
            </a:r>
          </a:p>
          <a:p>
            <a:pPr marL="452438" indent="-452438" eaLnBrk="0" fontAlgn="base" hangingPunct="0">
              <a:spcBef>
                <a:spcPct val="20000"/>
              </a:spcBef>
              <a:spcAft>
                <a:spcPct val="0"/>
              </a:spcAft>
              <a:buFont typeface="+mj-lt"/>
              <a:buAutoNum type="arabicPeriod"/>
              <a:tabLst>
                <a:tab pos="530225" algn="l"/>
              </a:tabLst>
            </a:pPr>
            <a:r>
              <a:rPr lang="en-US" sz="1600" dirty="0">
                <a:solidFill>
                  <a:prstClr val="black"/>
                </a:solidFill>
              </a:rPr>
              <a:t>do </a:t>
            </a:r>
          </a:p>
          <a:p>
            <a:pPr marL="452438" indent="-452438" eaLnBrk="0" fontAlgn="base" hangingPunct="0">
              <a:spcBef>
                <a:spcPct val="20000"/>
              </a:spcBef>
              <a:spcAft>
                <a:spcPct val="0"/>
              </a:spcAft>
              <a:buFont typeface="+mj-lt"/>
              <a:buAutoNum type="arabicPeriod"/>
              <a:tabLst>
                <a:tab pos="530225" algn="l"/>
              </a:tabLst>
            </a:pPr>
            <a:r>
              <a:rPr lang="en-US" sz="1600" dirty="0">
                <a:solidFill>
                  <a:prstClr val="black"/>
                </a:solidFill>
              </a:rPr>
              <a:t>	</a:t>
            </a:r>
            <a:r>
              <a:rPr lang="en-US" sz="1600" dirty="0"/>
              <a:t>Wait c[</a:t>
            </a:r>
            <a:r>
              <a:rPr lang="en-US" sz="1600" dirty="0" err="1"/>
              <a:t>i</a:t>
            </a:r>
            <a:r>
              <a:rPr lang="en-US" sz="1600" dirty="0"/>
              <a:t>];   </a:t>
            </a:r>
            <a:r>
              <a:rPr lang="en-US" sz="1600" dirty="0">
                <a:solidFill>
                  <a:schemeClr val="bg1">
                    <a:lumMod val="50000"/>
                  </a:schemeClr>
                </a:solidFill>
              </a:rPr>
              <a:t>// pick left chopstick</a:t>
            </a:r>
          </a:p>
          <a:p>
            <a:pPr marL="452438" indent="-452438" eaLnBrk="0" fontAlgn="base" hangingPunct="0">
              <a:spcBef>
                <a:spcPct val="20000"/>
              </a:spcBef>
              <a:spcAft>
                <a:spcPct val="0"/>
              </a:spcAft>
              <a:buFont typeface="+mj-lt"/>
              <a:buAutoNum type="arabicPeriod"/>
              <a:tabLst>
                <a:tab pos="530225" algn="l"/>
              </a:tabLst>
            </a:pPr>
            <a:r>
              <a:rPr lang="en-US" sz="1600" dirty="0"/>
              <a:t>	Wait c[(i+1) mod n];  </a:t>
            </a:r>
            <a:r>
              <a:rPr lang="en-US" sz="1600" dirty="0">
                <a:solidFill>
                  <a:schemeClr val="bg1">
                    <a:lumMod val="50000"/>
                  </a:schemeClr>
                </a:solidFill>
              </a:rPr>
              <a:t>// pick right chopstick</a:t>
            </a:r>
          </a:p>
          <a:p>
            <a:pPr marL="452438" indent="-452438" eaLnBrk="0" fontAlgn="base" hangingPunct="0">
              <a:spcBef>
                <a:spcPct val="20000"/>
              </a:spcBef>
              <a:spcAft>
                <a:spcPct val="0"/>
              </a:spcAft>
              <a:buFont typeface="+mj-lt"/>
              <a:buAutoNum type="arabicPeriod"/>
              <a:tabLst>
                <a:tab pos="530225" algn="l"/>
              </a:tabLst>
            </a:pPr>
            <a:r>
              <a:rPr lang="en-US" sz="1600" dirty="0"/>
              <a:t>	</a:t>
            </a:r>
            <a:r>
              <a:rPr lang="en-US" sz="1600" dirty="0">
                <a:solidFill>
                  <a:schemeClr val="bg1">
                    <a:lumMod val="50000"/>
                  </a:schemeClr>
                </a:solidFill>
              </a:rPr>
              <a:t>// Eat</a:t>
            </a:r>
          </a:p>
          <a:p>
            <a:pPr marL="452438" indent="-452438" eaLnBrk="0" fontAlgn="base" hangingPunct="0">
              <a:spcBef>
                <a:spcPct val="20000"/>
              </a:spcBef>
              <a:spcAft>
                <a:spcPct val="0"/>
              </a:spcAft>
              <a:buFont typeface="+mj-lt"/>
              <a:buAutoNum type="arabicPeriod"/>
              <a:tabLst>
                <a:tab pos="530225" algn="l"/>
              </a:tabLst>
            </a:pPr>
            <a:r>
              <a:rPr lang="en-US" sz="1600" dirty="0"/>
              <a:t>	Signal c[(i+1) mod n];  </a:t>
            </a:r>
            <a:r>
              <a:rPr lang="en-US" sz="1600" dirty="0">
                <a:solidFill>
                  <a:schemeClr val="bg1">
                    <a:lumMod val="50000"/>
                  </a:schemeClr>
                </a:solidFill>
              </a:rPr>
              <a:t>leave right chopstick</a:t>
            </a:r>
          </a:p>
          <a:p>
            <a:pPr marL="452438" indent="-452438" eaLnBrk="0" fontAlgn="base" hangingPunct="0">
              <a:spcBef>
                <a:spcPct val="20000"/>
              </a:spcBef>
              <a:spcAft>
                <a:spcPct val="0"/>
              </a:spcAft>
              <a:buFont typeface="+mj-lt"/>
              <a:buAutoNum type="arabicPeriod"/>
              <a:tabLst>
                <a:tab pos="530225" algn="l"/>
              </a:tabLst>
            </a:pPr>
            <a:r>
              <a:rPr lang="en-US" sz="1600" dirty="0"/>
              <a:t>	Signal c[</a:t>
            </a:r>
            <a:r>
              <a:rPr lang="en-US" sz="1600" dirty="0" err="1"/>
              <a:t>i</a:t>
            </a:r>
            <a:r>
              <a:rPr lang="en-US" sz="1600" dirty="0"/>
              <a:t>];  </a:t>
            </a:r>
            <a:r>
              <a:rPr lang="en-US" sz="1600" dirty="0">
                <a:solidFill>
                  <a:schemeClr val="bg1">
                    <a:lumMod val="50000"/>
                  </a:schemeClr>
                </a:solidFill>
              </a:rPr>
              <a:t>// leave left chopstick</a:t>
            </a:r>
            <a:r>
              <a:rPr lang="en-US" sz="1600" dirty="0"/>
              <a:t> </a:t>
            </a:r>
          </a:p>
          <a:p>
            <a:pPr marL="452438" indent="-452438" eaLnBrk="0" fontAlgn="base" hangingPunct="0">
              <a:spcBef>
                <a:spcPct val="20000"/>
              </a:spcBef>
              <a:spcAft>
                <a:spcPct val="0"/>
              </a:spcAft>
              <a:buFont typeface="+mj-lt"/>
              <a:buAutoNum type="arabicPeriod"/>
              <a:tabLst>
                <a:tab pos="530225" algn="l"/>
              </a:tabLst>
            </a:pPr>
            <a:r>
              <a:rPr lang="en-US" sz="1600" dirty="0"/>
              <a:t>	</a:t>
            </a:r>
            <a:r>
              <a:rPr lang="en-US" sz="1600" dirty="0">
                <a:solidFill>
                  <a:schemeClr val="bg1">
                    <a:lumMod val="50000"/>
                  </a:schemeClr>
                </a:solidFill>
              </a:rPr>
              <a:t>// Think</a:t>
            </a:r>
          </a:p>
          <a:p>
            <a:pPr marL="452438" indent="-452438" eaLnBrk="0" fontAlgn="base" hangingPunct="0">
              <a:spcBef>
                <a:spcPct val="20000"/>
              </a:spcBef>
              <a:spcAft>
                <a:spcPct val="0"/>
              </a:spcAft>
              <a:buFont typeface="+mj-lt"/>
              <a:buAutoNum type="arabicPeriod"/>
              <a:tabLst>
                <a:tab pos="530225" algn="l"/>
              </a:tabLst>
            </a:pPr>
            <a:r>
              <a:rPr lang="en-US" sz="1600" dirty="0">
                <a:solidFill>
                  <a:prstClr val="black"/>
                </a:solidFill>
              </a:rPr>
              <a:t>forever </a:t>
            </a:r>
          </a:p>
        </p:txBody>
      </p:sp>
      <p:sp>
        <p:nvSpPr>
          <p:cNvPr id="30" name="Content Placeholder 2">
            <a:extLst>
              <a:ext uri="{FF2B5EF4-FFF2-40B4-BE49-F238E27FC236}">
                <a16:creationId xmlns:a16="http://schemas.microsoft.com/office/drawing/2014/main" id="{E1D44BD7-02E4-748E-C693-86E6F8475F12}"/>
              </a:ext>
            </a:extLst>
          </p:cNvPr>
          <p:cNvSpPr txBox="1">
            <a:spLocks/>
          </p:cNvSpPr>
          <p:nvPr/>
        </p:nvSpPr>
        <p:spPr>
          <a:xfrm>
            <a:off x="4504675" y="880737"/>
            <a:ext cx="4197704" cy="2839816"/>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eaLnBrk="0" fontAlgn="base" hangingPunct="0">
              <a:spcBef>
                <a:spcPct val="20000"/>
              </a:spcBef>
              <a:spcAft>
                <a:spcPct val="0"/>
              </a:spcAft>
              <a:buFont typeface="+mj-lt"/>
              <a:buAutoNum type="arabicPeriod"/>
              <a:tabLst>
                <a:tab pos="530225" algn="l"/>
              </a:tabLst>
            </a:pPr>
            <a:r>
              <a:rPr lang="en-US" sz="1600" dirty="0">
                <a:solidFill>
                  <a:prstClr val="black"/>
                </a:solidFill>
              </a:rPr>
              <a:t>Shared var c[0..n-1]: bin-semaphore </a:t>
            </a:r>
            <a:r>
              <a:rPr lang="en-US" sz="1600" dirty="0">
                <a:solidFill>
                  <a:schemeClr val="bg1">
                    <a:lumMod val="50000"/>
                  </a:schemeClr>
                </a:solidFill>
              </a:rPr>
              <a:t>// one for each chopstick; </a:t>
            </a:r>
            <a:r>
              <a:rPr lang="en-US" sz="1600" dirty="0" err="1">
                <a:solidFill>
                  <a:schemeClr val="bg1">
                    <a:lumMod val="50000"/>
                  </a:schemeClr>
                </a:solidFill>
              </a:rPr>
              <a:t>init</a:t>
            </a:r>
            <a:r>
              <a:rPr lang="en-US" sz="1600" dirty="0">
                <a:solidFill>
                  <a:schemeClr val="bg1">
                    <a:lumMod val="50000"/>
                  </a:schemeClr>
                </a:solidFill>
              </a:rPr>
              <a:t> all 1 </a:t>
            </a:r>
          </a:p>
          <a:p>
            <a:pPr marL="457200" indent="-457200" eaLnBrk="0" fontAlgn="base" hangingPunct="0">
              <a:spcBef>
                <a:spcPct val="20000"/>
              </a:spcBef>
              <a:spcAft>
                <a:spcPct val="0"/>
              </a:spcAft>
              <a:buFont typeface="+mj-lt"/>
              <a:buAutoNum type="arabicPeriod"/>
              <a:tabLst>
                <a:tab pos="530225" algn="l"/>
              </a:tabLst>
            </a:pPr>
            <a:r>
              <a:rPr lang="en-US" sz="1600" dirty="0">
                <a:solidFill>
                  <a:prstClr val="black"/>
                </a:solidFill>
              </a:rPr>
              <a:t>P</a:t>
            </a:r>
            <a:r>
              <a:rPr lang="en-US" sz="1600" baseline="-25000" dirty="0">
                <a:solidFill>
                  <a:prstClr val="black"/>
                </a:solidFill>
              </a:rPr>
              <a:t>n-1</a:t>
            </a:r>
            <a:r>
              <a:rPr lang="en-US" sz="1600" dirty="0">
                <a:solidFill>
                  <a:prstClr val="black"/>
                </a:solidFill>
              </a:rPr>
              <a:t>:</a:t>
            </a:r>
          </a:p>
          <a:p>
            <a:pPr marL="457200" indent="-457200" eaLnBrk="0" fontAlgn="base" hangingPunct="0">
              <a:spcBef>
                <a:spcPct val="20000"/>
              </a:spcBef>
              <a:spcAft>
                <a:spcPct val="0"/>
              </a:spcAft>
              <a:buFont typeface="+mj-lt"/>
              <a:buAutoNum type="arabicPeriod"/>
              <a:tabLst>
                <a:tab pos="530225" algn="l"/>
              </a:tabLst>
            </a:pPr>
            <a:r>
              <a:rPr lang="en-US" sz="1600" dirty="0">
                <a:solidFill>
                  <a:prstClr val="black"/>
                </a:solidFill>
              </a:rPr>
              <a:t>do </a:t>
            </a:r>
          </a:p>
          <a:p>
            <a:pPr marL="457200" indent="-457200" eaLnBrk="0" fontAlgn="base" hangingPunct="0">
              <a:spcBef>
                <a:spcPct val="20000"/>
              </a:spcBef>
              <a:spcAft>
                <a:spcPct val="0"/>
              </a:spcAft>
              <a:buFont typeface="+mj-lt"/>
              <a:buAutoNum type="arabicPeriod"/>
              <a:tabLst>
                <a:tab pos="530225" algn="l"/>
              </a:tabLst>
            </a:pPr>
            <a:r>
              <a:rPr lang="en-US" sz="1600" dirty="0">
                <a:solidFill>
                  <a:prstClr val="black"/>
                </a:solidFill>
              </a:rPr>
              <a:t>	</a:t>
            </a:r>
            <a:r>
              <a:rPr lang="en-US" sz="1600" dirty="0"/>
              <a:t>Wait c[(i+1) mod n];  </a:t>
            </a:r>
            <a:r>
              <a:rPr lang="en-US" sz="1600" dirty="0">
                <a:solidFill>
                  <a:schemeClr val="bg1">
                    <a:lumMod val="50000"/>
                  </a:schemeClr>
                </a:solidFill>
              </a:rPr>
              <a:t>// pick right chopstick</a:t>
            </a:r>
          </a:p>
          <a:p>
            <a:pPr marL="457200" indent="-457200" eaLnBrk="0" fontAlgn="base" hangingPunct="0">
              <a:spcBef>
                <a:spcPct val="20000"/>
              </a:spcBef>
              <a:spcAft>
                <a:spcPct val="0"/>
              </a:spcAft>
              <a:buFont typeface="+mj-lt"/>
              <a:buAutoNum type="arabicPeriod"/>
              <a:tabLst>
                <a:tab pos="530225" algn="l"/>
              </a:tabLst>
            </a:pPr>
            <a:r>
              <a:rPr lang="en-US" sz="1600" dirty="0"/>
              <a:t>	Wait c[</a:t>
            </a:r>
            <a:r>
              <a:rPr lang="en-US" sz="1600" dirty="0" err="1"/>
              <a:t>i</a:t>
            </a:r>
            <a:r>
              <a:rPr lang="en-US" sz="1600" dirty="0"/>
              <a:t>];   </a:t>
            </a:r>
            <a:r>
              <a:rPr lang="en-US" sz="1600" dirty="0">
                <a:solidFill>
                  <a:schemeClr val="bg1">
                    <a:lumMod val="50000"/>
                  </a:schemeClr>
                </a:solidFill>
              </a:rPr>
              <a:t>// pick left chopstick</a:t>
            </a:r>
          </a:p>
          <a:p>
            <a:pPr marL="457200" indent="-457200" eaLnBrk="0" fontAlgn="base" hangingPunct="0">
              <a:spcBef>
                <a:spcPct val="20000"/>
              </a:spcBef>
              <a:spcAft>
                <a:spcPct val="0"/>
              </a:spcAft>
              <a:buFont typeface="+mj-lt"/>
              <a:buAutoNum type="arabicPeriod"/>
              <a:tabLst>
                <a:tab pos="530225" algn="l"/>
              </a:tabLst>
            </a:pPr>
            <a:r>
              <a:rPr lang="en-US" sz="1600" dirty="0"/>
              <a:t>	</a:t>
            </a:r>
            <a:r>
              <a:rPr lang="en-US" sz="1600" dirty="0">
                <a:solidFill>
                  <a:schemeClr val="bg1">
                    <a:lumMod val="50000"/>
                  </a:schemeClr>
                </a:solidFill>
              </a:rPr>
              <a:t>// Eat</a:t>
            </a:r>
          </a:p>
          <a:p>
            <a:pPr marL="457200" indent="-457200" eaLnBrk="0" fontAlgn="base" hangingPunct="0">
              <a:spcBef>
                <a:spcPct val="20000"/>
              </a:spcBef>
              <a:spcAft>
                <a:spcPct val="0"/>
              </a:spcAft>
              <a:buFont typeface="+mj-lt"/>
              <a:buAutoNum type="arabicPeriod"/>
              <a:tabLst>
                <a:tab pos="530225" algn="l"/>
              </a:tabLst>
            </a:pPr>
            <a:r>
              <a:rPr lang="en-US" sz="1600" dirty="0"/>
              <a:t>	Signal c[</a:t>
            </a:r>
            <a:r>
              <a:rPr lang="en-US" sz="1600" dirty="0" err="1"/>
              <a:t>i</a:t>
            </a:r>
            <a:r>
              <a:rPr lang="en-US" sz="1600" dirty="0"/>
              <a:t>];  </a:t>
            </a:r>
            <a:r>
              <a:rPr lang="en-US" sz="1600" dirty="0">
                <a:solidFill>
                  <a:schemeClr val="bg1">
                    <a:lumMod val="50000"/>
                  </a:schemeClr>
                </a:solidFill>
              </a:rPr>
              <a:t>// leave left chopstick</a:t>
            </a:r>
            <a:r>
              <a:rPr lang="en-US" sz="1600" dirty="0"/>
              <a:t> </a:t>
            </a:r>
          </a:p>
          <a:p>
            <a:pPr marL="457200" indent="-457200" eaLnBrk="0" fontAlgn="base" hangingPunct="0">
              <a:spcBef>
                <a:spcPct val="20000"/>
              </a:spcBef>
              <a:spcAft>
                <a:spcPct val="0"/>
              </a:spcAft>
              <a:buFont typeface="+mj-lt"/>
              <a:buAutoNum type="arabicPeriod"/>
              <a:tabLst>
                <a:tab pos="530225" algn="l"/>
              </a:tabLst>
            </a:pPr>
            <a:r>
              <a:rPr lang="en-US" sz="1600" dirty="0"/>
              <a:t>	Signal c[(i+1) mod n];  </a:t>
            </a:r>
            <a:r>
              <a:rPr lang="en-US" sz="1600" dirty="0">
                <a:solidFill>
                  <a:schemeClr val="bg1">
                    <a:lumMod val="50000"/>
                  </a:schemeClr>
                </a:solidFill>
              </a:rPr>
              <a:t>leave right chopstick</a:t>
            </a:r>
          </a:p>
          <a:p>
            <a:pPr marL="457200" indent="-457200" eaLnBrk="0" fontAlgn="base" hangingPunct="0">
              <a:spcBef>
                <a:spcPct val="20000"/>
              </a:spcBef>
              <a:spcAft>
                <a:spcPct val="0"/>
              </a:spcAft>
              <a:buFont typeface="+mj-lt"/>
              <a:buAutoNum type="arabicPeriod"/>
              <a:tabLst>
                <a:tab pos="530225" algn="l"/>
              </a:tabLst>
            </a:pPr>
            <a:r>
              <a:rPr lang="en-US" sz="1600" dirty="0"/>
              <a:t>	</a:t>
            </a:r>
            <a:r>
              <a:rPr lang="en-US" sz="1600" dirty="0">
                <a:solidFill>
                  <a:schemeClr val="bg1">
                    <a:lumMod val="50000"/>
                  </a:schemeClr>
                </a:solidFill>
              </a:rPr>
              <a:t>// Think</a:t>
            </a:r>
          </a:p>
          <a:p>
            <a:pPr marL="457200" indent="-457200" eaLnBrk="0" fontAlgn="base" hangingPunct="0">
              <a:spcBef>
                <a:spcPct val="20000"/>
              </a:spcBef>
              <a:spcAft>
                <a:spcPct val="0"/>
              </a:spcAft>
              <a:buFont typeface="+mj-lt"/>
              <a:buAutoNum type="arabicPeriod"/>
              <a:tabLst>
                <a:tab pos="530225" algn="l"/>
              </a:tabLst>
            </a:pPr>
            <a:r>
              <a:rPr lang="en-US" sz="1600" dirty="0">
                <a:solidFill>
                  <a:prstClr val="black"/>
                </a:solidFill>
              </a:rPr>
              <a:t>forever </a:t>
            </a:r>
          </a:p>
        </p:txBody>
      </p:sp>
      <p:cxnSp>
        <p:nvCxnSpPr>
          <p:cNvPr id="6" name="Straight Arrow Connector 5">
            <a:extLst>
              <a:ext uri="{FF2B5EF4-FFF2-40B4-BE49-F238E27FC236}">
                <a16:creationId xmlns:a16="http://schemas.microsoft.com/office/drawing/2014/main" id="{0310B19F-2D96-A0CC-3391-82694C9B9D57}"/>
              </a:ext>
            </a:extLst>
          </p:cNvPr>
          <p:cNvCxnSpPr>
            <a:cxnSpLocks/>
          </p:cNvCxnSpPr>
          <p:nvPr/>
        </p:nvCxnSpPr>
        <p:spPr>
          <a:xfrm flipV="1">
            <a:off x="9980813" y="1158114"/>
            <a:ext cx="769437" cy="777517"/>
          </a:xfrm>
          <a:prstGeom prst="straightConnector1">
            <a:avLst/>
          </a:prstGeom>
          <a:ln w="38100">
            <a:prstDash val="dash"/>
            <a:headEnd type="triangle" w="lg" len="lg"/>
            <a:tailEnd type="none" w="med" len="med"/>
          </a:ln>
        </p:spPr>
        <p:style>
          <a:lnRef idx="3">
            <a:schemeClr val="accent2"/>
          </a:lnRef>
          <a:fillRef idx="0">
            <a:schemeClr val="accent2"/>
          </a:fillRef>
          <a:effectRef idx="2">
            <a:schemeClr val="accent2"/>
          </a:effectRef>
          <a:fontRef idx="minor">
            <a:schemeClr val="tx1"/>
          </a:fontRef>
        </p:style>
      </p:cxnSp>
      <p:cxnSp>
        <p:nvCxnSpPr>
          <p:cNvPr id="7" name="Straight Arrow Connector 6">
            <a:extLst>
              <a:ext uri="{FF2B5EF4-FFF2-40B4-BE49-F238E27FC236}">
                <a16:creationId xmlns:a16="http://schemas.microsoft.com/office/drawing/2014/main" id="{E2B0B9E4-8466-175B-6A8B-22D00920545C}"/>
              </a:ext>
            </a:extLst>
          </p:cNvPr>
          <p:cNvCxnSpPr>
            <a:cxnSpLocks/>
          </p:cNvCxnSpPr>
          <p:nvPr/>
        </p:nvCxnSpPr>
        <p:spPr>
          <a:xfrm>
            <a:off x="10750250" y="1158114"/>
            <a:ext cx="746585" cy="777517"/>
          </a:xfrm>
          <a:prstGeom prst="straightConnector1">
            <a:avLst/>
          </a:prstGeom>
          <a:ln w="38100">
            <a:solidFill>
              <a:schemeClr val="accent6"/>
            </a:solidFill>
            <a:prstDash val="solid"/>
            <a:headEnd type="triangle" w="lg" len="lg"/>
            <a:tailEnd type="none" w="med" len="med"/>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491A336-A03E-C987-9AC6-D429BD002549}"/>
              </a:ext>
            </a:extLst>
          </p:cNvPr>
          <p:cNvCxnSpPr>
            <a:cxnSpLocks/>
          </p:cNvCxnSpPr>
          <p:nvPr/>
        </p:nvCxnSpPr>
        <p:spPr>
          <a:xfrm flipH="1">
            <a:off x="10617868" y="2668857"/>
            <a:ext cx="991032" cy="959949"/>
          </a:xfrm>
          <a:prstGeom prst="straightConnector1">
            <a:avLst/>
          </a:prstGeom>
          <a:ln w="38100">
            <a:prstDash val="dash"/>
            <a:headEnd type="triangle" w="lg" len="lg"/>
            <a:tailEnd type="none" w="med" len="med"/>
          </a:ln>
        </p:spPr>
        <p:style>
          <a:lnRef idx="3">
            <a:schemeClr val="accent2"/>
          </a:lnRef>
          <a:fillRef idx="0">
            <a:schemeClr val="accent2"/>
          </a:fillRef>
          <a:effectRef idx="2">
            <a:schemeClr val="accent2"/>
          </a:effectRef>
          <a:fontRef idx="minor">
            <a:schemeClr val="tx1"/>
          </a:fontRef>
        </p:style>
      </p:cxnSp>
      <p:sp>
        <p:nvSpPr>
          <p:cNvPr id="2" name="Date Placeholder 1">
            <a:extLst>
              <a:ext uri="{FF2B5EF4-FFF2-40B4-BE49-F238E27FC236}">
                <a16:creationId xmlns:a16="http://schemas.microsoft.com/office/drawing/2014/main" id="{CBD368A5-5E28-7709-B5CC-13B2F36A469A}"/>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9717414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2250A-5E5B-70FA-6A31-6DB2BEB91011}"/>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9227323-B622-2A52-0358-95FA49351F66}"/>
              </a:ext>
            </a:extLst>
          </p:cNvPr>
          <p:cNvSpPr>
            <a:spLocks noGrp="1"/>
          </p:cNvSpPr>
          <p:nvPr>
            <p:ph idx="1"/>
          </p:nvPr>
        </p:nvSpPr>
        <p:spPr/>
        <p:txBody>
          <a:bodyPr>
            <a:normAutofit lnSpcReduction="10000"/>
          </a:bodyPr>
          <a:lstStyle/>
          <a:p>
            <a:r>
              <a:rPr lang="en-US" dirty="0">
                <a:solidFill>
                  <a:schemeClr val="bg1">
                    <a:lumMod val="50000"/>
                  </a:schemeClr>
                </a:solidFill>
              </a:rPr>
              <a:t>Bounded-buffer producer/consumer</a:t>
            </a:r>
          </a:p>
          <a:p>
            <a:r>
              <a:rPr lang="en-US" dirty="0">
                <a:solidFill>
                  <a:schemeClr val="bg1">
                    <a:lumMod val="50000"/>
                  </a:schemeClr>
                </a:solidFill>
              </a:rPr>
              <a:t>Resource allocation, deadlocks, and necessary conditions for deadlocks</a:t>
            </a:r>
          </a:p>
          <a:p>
            <a:r>
              <a:rPr lang="en-US" dirty="0"/>
              <a:t>Dining philosophers</a:t>
            </a:r>
            <a:endParaRPr lang="en-US" dirty="0">
              <a:solidFill>
                <a:schemeClr val="bg1">
                  <a:lumMod val="50000"/>
                </a:schemeClr>
              </a:solidFill>
            </a:endParaRPr>
          </a:p>
          <a:p>
            <a:pPr lvl="1"/>
            <a:r>
              <a:rPr lang="en-US" dirty="0">
                <a:solidFill>
                  <a:schemeClr val="bg1">
                    <a:lumMod val="50000"/>
                  </a:schemeClr>
                </a:solidFill>
              </a:rPr>
              <a:t>without circular wait</a:t>
            </a:r>
          </a:p>
          <a:p>
            <a:pPr lvl="1"/>
            <a:r>
              <a:rPr lang="en-US" dirty="0"/>
              <a:t>without no-preemption</a:t>
            </a:r>
            <a:endParaRPr lang="en-US" dirty="0">
              <a:solidFill>
                <a:schemeClr val="bg1">
                  <a:lumMod val="50000"/>
                </a:schemeClr>
              </a:solidFill>
            </a:endParaRPr>
          </a:p>
          <a:p>
            <a:pPr lvl="1"/>
            <a:r>
              <a:rPr lang="en-US" dirty="0">
                <a:solidFill>
                  <a:schemeClr val="bg1">
                    <a:lumMod val="50000"/>
                  </a:schemeClr>
                </a:solidFill>
              </a:rPr>
              <a:t>without hold-and-wait</a:t>
            </a:r>
          </a:p>
          <a:p>
            <a:r>
              <a:rPr lang="en-US" dirty="0" err="1">
                <a:solidFill>
                  <a:schemeClr val="bg1">
                    <a:lumMod val="50000"/>
                  </a:schemeClr>
                </a:solidFill>
              </a:rPr>
              <a:t>Lamport’s</a:t>
            </a:r>
            <a:r>
              <a:rPr lang="en-US" dirty="0">
                <a:solidFill>
                  <a:schemeClr val="bg1">
                    <a:lumMod val="50000"/>
                  </a:schemeClr>
                </a:solidFill>
              </a:rPr>
              <a:t> bakery algorithm</a:t>
            </a:r>
          </a:p>
          <a:p>
            <a:r>
              <a:rPr lang="en-US" dirty="0">
                <a:solidFill>
                  <a:schemeClr val="bg1">
                    <a:lumMod val="50000"/>
                  </a:schemeClr>
                </a:solidFill>
              </a:rPr>
              <a:t>Readers/Writers problem</a:t>
            </a:r>
          </a:p>
          <a:p>
            <a:r>
              <a:rPr lang="en-US" dirty="0">
                <a:solidFill>
                  <a:schemeClr val="bg1">
                    <a:lumMod val="50000"/>
                  </a:schemeClr>
                </a:solidFill>
              </a:rPr>
              <a:t>OS as arbitrator for deadlock avoidance/recovery</a:t>
            </a:r>
          </a:p>
          <a:p>
            <a:pPr lvl="1"/>
            <a:endParaRPr lang="en-US" dirty="0">
              <a:solidFill>
                <a:schemeClr val="bg1">
                  <a:lumMod val="50000"/>
                </a:schemeClr>
              </a:solidFill>
            </a:endParaRPr>
          </a:p>
          <a:p>
            <a:endParaRPr lang="en-US" dirty="0"/>
          </a:p>
          <a:p>
            <a:endParaRPr lang="en-US" dirty="0"/>
          </a:p>
        </p:txBody>
      </p:sp>
      <p:sp>
        <p:nvSpPr>
          <p:cNvPr id="4" name="Slide Number Placeholder 3">
            <a:extLst>
              <a:ext uri="{FF2B5EF4-FFF2-40B4-BE49-F238E27FC236}">
                <a16:creationId xmlns:a16="http://schemas.microsoft.com/office/drawing/2014/main" id="{F6B48027-367E-79E4-172D-0EE367C24367}"/>
              </a:ext>
            </a:extLst>
          </p:cNvPr>
          <p:cNvSpPr>
            <a:spLocks noGrp="1"/>
          </p:cNvSpPr>
          <p:nvPr>
            <p:ph type="sldNum" sz="quarter" idx="12"/>
          </p:nvPr>
        </p:nvSpPr>
        <p:spPr/>
        <p:txBody>
          <a:bodyPr/>
          <a:lstStyle/>
          <a:p>
            <a:fld id="{67FCC1A6-2294-BF46-A2F7-E6BDB92DF1BF}" type="slidenum">
              <a:rPr lang="en-US" smtClean="0"/>
              <a:t>23</a:t>
            </a:fld>
            <a:endParaRPr lang="en-US"/>
          </a:p>
        </p:txBody>
      </p:sp>
      <p:sp>
        <p:nvSpPr>
          <p:cNvPr id="5" name="Date Placeholder 4">
            <a:extLst>
              <a:ext uri="{FF2B5EF4-FFF2-40B4-BE49-F238E27FC236}">
                <a16:creationId xmlns:a16="http://schemas.microsoft.com/office/drawing/2014/main" id="{5F5096EE-981A-155A-A131-3E42362010C9}"/>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7984155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p:cNvSpPr>
            <a:spLocks noGrp="1"/>
          </p:cNvSpPr>
          <p:nvPr>
            <p:ph type="sldNum" sz="quarter" idx="12"/>
          </p:nvPr>
        </p:nvSpPr>
        <p:spPr>
          <a:noFill/>
        </p:spPr>
        <p:txBody>
          <a:bodyPr/>
          <a:lstStyle/>
          <a:p>
            <a:fld id="{6F258F6E-D265-466B-8374-EDD3F6F53EF8}" type="slidenum">
              <a:rPr lang="en-US" smtClean="0">
                <a:solidFill>
                  <a:prstClr val="black">
                    <a:tint val="75000"/>
                  </a:prstClr>
                </a:solidFill>
              </a:rPr>
              <a:pPr/>
              <a:t>24</a:t>
            </a:fld>
            <a:endParaRPr lang="en-US">
              <a:solidFill>
                <a:prstClr val="black">
                  <a:tint val="75000"/>
                </a:prstClr>
              </a:solidFill>
            </a:endParaRPr>
          </a:p>
        </p:txBody>
      </p:sp>
      <p:sp>
        <p:nvSpPr>
          <p:cNvPr id="9220" name="Rectangle 3"/>
          <p:cNvSpPr>
            <a:spLocks noGrp="1" noChangeArrowheads="1"/>
          </p:cNvSpPr>
          <p:nvPr>
            <p:ph type="body" idx="1"/>
          </p:nvPr>
        </p:nvSpPr>
        <p:spPr>
          <a:xfrm>
            <a:off x="126589" y="917065"/>
            <a:ext cx="6293202" cy="1137978"/>
          </a:xfr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p>
            <a:pPr marL="0" indent="0" eaLnBrk="0" fontAlgn="base" hangingPunct="0">
              <a:spcBef>
                <a:spcPct val="20000"/>
              </a:spcBef>
              <a:spcAft>
                <a:spcPct val="0"/>
              </a:spcAft>
              <a:buNone/>
              <a:tabLst>
                <a:tab pos="168275" algn="l"/>
                <a:tab pos="347663" algn="l"/>
                <a:tab pos="525463" algn="l"/>
              </a:tabLst>
            </a:pPr>
            <a:r>
              <a:rPr lang="en-US" sz="1600" dirty="0">
                <a:solidFill>
                  <a:prstClr val="black"/>
                </a:solidFill>
              </a:rPr>
              <a:t>shared var c[0..n-1]: of type </a:t>
            </a:r>
            <a:r>
              <a:rPr lang="en-US" sz="1600" dirty="0" err="1">
                <a:solidFill>
                  <a:prstClr val="black"/>
                </a:solidFill>
              </a:rPr>
              <a:t>chopstick_struct</a:t>
            </a:r>
            <a:r>
              <a:rPr lang="en-US" sz="1600" dirty="0">
                <a:solidFill>
                  <a:prstClr val="black"/>
                </a:solidFill>
              </a:rPr>
              <a:t> { </a:t>
            </a:r>
            <a:r>
              <a:rPr lang="en-US" sz="1600" dirty="0">
                <a:solidFill>
                  <a:schemeClr val="bg1">
                    <a:lumMod val="50000"/>
                  </a:schemeClr>
                </a:solidFill>
              </a:rPr>
              <a:t>// one for each chopstick</a:t>
            </a:r>
          </a:p>
          <a:p>
            <a:pPr marL="0" indent="0" eaLnBrk="0" fontAlgn="base" hangingPunct="0">
              <a:spcBef>
                <a:spcPct val="20000"/>
              </a:spcBef>
              <a:spcAft>
                <a:spcPct val="0"/>
              </a:spcAft>
              <a:buNone/>
              <a:tabLst>
                <a:tab pos="168275" algn="l"/>
                <a:tab pos="347663" algn="l"/>
                <a:tab pos="525463" algn="l"/>
              </a:tabLst>
            </a:pPr>
            <a:r>
              <a:rPr lang="en-US" sz="1600" dirty="0">
                <a:solidFill>
                  <a:prstClr val="black"/>
                </a:solidFill>
              </a:rPr>
              <a:t>        s: bin-semaphore  </a:t>
            </a:r>
            <a:r>
              <a:rPr lang="en-US" sz="1600" dirty="0">
                <a:solidFill>
                  <a:schemeClr val="bg1">
                    <a:lumMod val="50000"/>
                  </a:schemeClr>
                </a:solidFill>
              </a:rPr>
              <a:t>// </a:t>
            </a:r>
            <a:r>
              <a:rPr lang="en-US" sz="1600" dirty="0" err="1">
                <a:solidFill>
                  <a:schemeClr val="bg1">
                    <a:lumMod val="50000"/>
                  </a:schemeClr>
                </a:solidFill>
              </a:rPr>
              <a:t>init</a:t>
            </a:r>
            <a:r>
              <a:rPr lang="en-US" sz="1600" dirty="0">
                <a:solidFill>
                  <a:schemeClr val="bg1">
                    <a:lumMod val="50000"/>
                  </a:schemeClr>
                </a:solidFill>
              </a:rPr>
              <a:t> 1</a:t>
            </a:r>
          </a:p>
          <a:p>
            <a:pPr marL="0" indent="0" eaLnBrk="0" fontAlgn="base" hangingPunct="0">
              <a:spcBef>
                <a:spcPct val="20000"/>
              </a:spcBef>
              <a:spcAft>
                <a:spcPct val="0"/>
              </a:spcAft>
              <a:buNone/>
              <a:tabLst>
                <a:tab pos="168275" algn="l"/>
                <a:tab pos="347663" algn="l"/>
                <a:tab pos="525463" algn="l"/>
              </a:tabLst>
            </a:pPr>
            <a:r>
              <a:rPr lang="en-US" sz="1600" dirty="0">
                <a:solidFill>
                  <a:prstClr val="black"/>
                </a:solidFill>
              </a:rPr>
              <a:t>        available: </a:t>
            </a:r>
            <a:r>
              <a:rPr lang="en-US" sz="1600" dirty="0" err="1">
                <a:solidFill>
                  <a:prstClr val="black"/>
                </a:solidFill>
              </a:rPr>
              <a:t>boolean</a:t>
            </a:r>
            <a:r>
              <a:rPr lang="en-US" sz="1600" dirty="0">
                <a:solidFill>
                  <a:prstClr val="black"/>
                </a:solidFill>
              </a:rPr>
              <a:t> </a:t>
            </a:r>
            <a:r>
              <a:rPr lang="en-US" sz="1600" dirty="0">
                <a:solidFill>
                  <a:schemeClr val="bg1">
                    <a:lumMod val="50000"/>
                  </a:schemeClr>
                </a:solidFill>
              </a:rPr>
              <a:t>//</a:t>
            </a:r>
            <a:r>
              <a:rPr lang="en-US" sz="1600" dirty="0" err="1">
                <a:solidFill>
                  <a:schemeClr val="bg1">
                    <a:lumMod val="50000"/>
                  </a:schemeClr>
                </a:solidFill>
              </a:rPr>
              <a:t>init</a:t>
            </a:r>
            <a:r>
              <a:rPr lang="en-US" sz="1600" dirty="0">
                <a:solidFill>
                  <a:schemeClr val="bg1">
                    <a:lumMod val="50000"/>
                  </a:schemeClr>
                </a:solidFill>
              </a:rPr>
              <a:t> true</a:t>
            </a:r>
          </a:p>
          <a:p>
            <a:pPr marL="0" indent="0" eaLnBrk="0" fontAlgn="base" hangingPunct="0">
              <a:spcBef>
                <a:spcPct val="20000"/>
              </a:spcBef>
              <a:spcAft>
                <a:spcPct val="0"/>
              </a:spcAft>
              <a:buNone/>
              <a:tabLst>
                <a:tab pos="168275" algn="l"/>
                <a:tab pos="347663" algn="l"/>
                <a:tab pos="525463" algn="l"/>
              </a:tabLst>
            </a:pPr>
            <a:r>
              <a:rPr lang="en-US" sz="1600" dirty="0">
                <a:solidFill>
                  <a:prstClr val="black"/>
                </a:solidFill>
              </a:rPr>
              <a:t>}</a:t>
            </a:r>
          </a:p>
        </p:txBody>
      </p:sp>
      <p:sp>
        <p:nvSpPr>
          <p:cNvPr id="194565" name="Rectangle 5"/>
          <p:cNvSpPr>
            <a:spLocks noChangeArrowheads="1"/>
          </p:cNvSpPr>
          <p:nvPr/>
        </p:nvSpPr>
        <p:spPr bwMode="auto">
          <a:xfrm>
            <a:off x="6548021" y="912179"/>
            <a:ext cx="4957915" cy="2604019"/>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p>
            <a:pPr eaLnBrk="0" fontAlgn="base" hangingPunct="0">
              <a:lnSpc>
                <a:spcPct val="90000"/>
              </a:lnSpc>
              <a:spcBef>
                <a:spcPct val="20000"/>
              </a:spcBef>
              <a:spcAft>
                <a:spcPct val="0"/>
              </a:spcAft>
              <a:tabLst>
                <a:tab pos="168275" algn="l"/>
                <a:tab pos="347663" algn="l"/>
                <a:tab pos="525463" algn="l"/>
              </a:tabLst>
            </a:pPr>
            <a:r>
              <a:rPr lang="en-US" sz="1600" b="1" dirty="0" err="1">
                <a:solidFill>
                  <a:prstClr val="black"/>
                </a:solidFill>
              </a:rPr>
              <a:t>trylock</a:t>
            </a:r>
            <a:r>
              <a:rPr lang="en-US" sz="1600" dirty="0">
                <a:solidFill>
                  <a:prstClr val="black"/>
                </a:solidFill>
              </a:rPr>
              <a:t>(c: </a:t>
            </a:r>
            <a:r>
              <a:rPr lang="en-US" sz="1600" dirty="0" err="1">
                <a:solidFill>
                  <a:prstClr val="black"/>
                </a:solidFill>
              </a:rPr>
              <a:t>chopstick_structure</a:t>
            </a:r>
            <a:r>
              <a:rPr lang="en-US" sz="1600" dirty="0">
                <a:solidFill>
                  <a:prstClr val="black"/>
                </a:solidFill>
              </a:rPr>
              <a:t>):</a:t>
            </a:r>
          </a:p>
          <a:p>
            <a:pPr marL="0" lvl="1">
              <a:lnSpc>
                <a:spcPct val="90000"/>
              </a:lnSpc>
              <a:spcBef>
                <a:spcPts val="500"/>
              </a:spcBef>
              <a:tabLst>
                <a:tab pos="168275" algn="l"/>
                <a:tab pos="347663" algn="l"/>
                <a:tab pos="525463" algn="l"/>
              </a:tabLst>
            </a:pPr>
            <a:r>
              <a:rPr lang="en-US" sz="1600" dirty="0">
                <a:solidFill>
                  <a:schemeClr val="tx1"/>
                </a:solidFill>
              </a:rPr>
              <a:t>wait(</a:t>
            </a:r>
            <a:r>
              <a:rPr lang="en-US" sz="1600" dirty="0" err="1">
                <a:solidFill>
                  <a:schemeClr val="tx1"/>
                </a:solidFill>
              </a:rPr>
              <a:t>c.s</a:t>
            </a:r>
            <a:r>
              <a:rPr lang="en-US" sz="1600" dirty="0">
                <a:solidFill>
                  <a:schemeClr val="tx1"/>
                </a:solidFill>
              </a:rPr>
              <a:t>)</a:t>
            </a:r>
          </a:p>
          <a:p>
            <a:pPr marL="0" lvl="1">
              <a:lnSpc>
                <a:spcPct val="90000"/>
              </a:lnSpc>
              <a:spcBef>
                <a:spcPts val="500"/>
              </a:spcBef>
              <a:tabLst>
                <a:tab pos="168275" algn="l"/>
                <a:tab pos="347663" algn="l"/>
                <a:tab pos="525463" algn="l"/>
              </a:tabLst>
            </a:pPr>
            <a:r>
              <a:rPr lang="en-US" sz="1600" dirty="0">
                <a:solidFill>
                  <a:schemeClr val="tx1"/>
                </a:solidFill>
              </a:rPr>
              <a:t>if </a:t>
            </a:r>
            <a:r>
              <a:rPr lang="en-US" sz="1600" dirty="0" err="1">
                <a:solidFill>
                  <a:schemeClr val="tx1"/>
                </a:solidFill>
              </a:rPr>
              <a:t>c.available</a:t>
            </a:r>
            <a:r>
              <a:rPr lang="en-US" sz="1600" dirty="0">
                <a:solidFill>
                  <a:schemeClr val="tx1"/>
                </a:solidFill>
              </a:rPr>
              <a:t> then { </a:t>
            </a:r>
          </a:p>
          <a:p>
            <a:pPr marL="0" lvl="1">
              <a:lnSpc>
                <a:spcPct val="90000"/>
              </a:lnSpc>
              <a:spcBef>
                <a:spcPts val="500"/>
              </a:spcBef>
              <a:tabLst>
                <a:tab pos="168275" algn="l"/>
                <a:tab pos="347663" algn="l"/>
                <a:tab pos="525463" algn="l"/>
              </a:tabLst>
            </a:pPr>
            <a:r>
              <a:rPr lang="en-US" sz="1600" dirty="0"/>
              <a:t>	</a:t>
            </a:r>
            <a:r>
              <a:rPr lang="en-US" sz="1600" dirty="0" err="1">
                <a:solidFill>
                  <a:schemeClr val="tx1"/>
                </a:solidFill>
              </a:rPr>
              <a:t>c.available</a:t>
            </a:r>
            <a:r>
              <a:rPr lang="en-US" sz="1600" dirty="0">
                <a:solidFill>
                  <a:schemeClr val="tx1"/>
                </a:solidFill>
              </a:rPr>
              <a:t> := false</a:t>
            </a:r>
          </a:p>
          <a:p>
            <a:pPr marL="0" lvl="1">
              <a:lnSpc>
                <a:spcPct val="90000"/>
              </a:lnSpc>
              <a:spcBef>
                <a:spcPts val="500"/>
              </a:spcBef>
              <a:tabLst>
                <a:tab pos="168275" algn="l"/>
                <a:tab pos="347663" algn="l"/>
                <a:tab pos="525463" algn="l"/>
              </a:tabLst>
            </a:pPr>
            <a:r>
              <a:rPr lang="en-US" sz="1600" dirty="0"/>
              <a:t>	</a:t>
            </a:r>
            <a:r>
              <a:rPr lang="en-US" sz="1600" dirty="0">
                <a:solidFill>
                  <a:schemeClr val="tx1"/>
                </a:solidFill>
              </a:rPr>
              <a:t>ret:= true }</a:t>
            </a:r>
          </a:p>
          <a:p>
            <a:pPr marL="0" lvl="1">
              <a:lnSpc>
                <a:spcPct val="90000"/>
              </a:lnSpc>
              <a:spcBef>
                <a:spcPts val="500"/>
              </a:spcBef>
              <a:tabLst>
                <a:tab pos="168275" algn="l"/>
                <a:tab pos="347663" algn="l"/>
                <a:tab pos="525463" algn="l"/>
              </a:tabLst>
            </a:pPr>
            <a:r>
              <a:rPr lang="en-US" sz="1600" dirty="0">
                <a:solidFill>
                  <a:schemeClr val="tx1"/>
                </a:solidFill>
              </a:rPr>
              <a:t>else</a:t>
            </a:r>
          </a:p>
          <a:p>
            <a:pPr marL="0" lvl="1">
              <a:lnSpc>
                <a:spcPct val="90000"/>
              </a:lnSpc>
              <a:spcBef>
                <a:spcPts val="500"/>
              </a:spcBef>
              <a:tabLst>
                <a:tab pos="168275" algn="l"/>
                <a:tab pos="347663" algn="l"/>
                <a:tab pos="525463" algn="l"/>
              </a:tabLst>
            </a:pPr>
            <a:r>
              <a:rPr lang="en-US" sz="1600" dirty="0"/>
              <a:t>	</a:t>
            </a:r>
            <a:r>
              <a:rPr lang="en-US" sz="1600" dirty="0">
                <a:solidFill>
                  <a:schemeClr val="tx1"/>
                </a:solidFill>
              </a:rPr>
              <a:t>ret:= false;</a:t>
            </a:r>
          </a:p>
          <a:p>
            <a:pPr marL="0" lvl="1">
              <a:lnSpc>
                <a:spcPct val="90000"/>
              </a:lnSpc>
              <a:spcBef>
                <a:spcPts val="500"/>
              </a:spcBef>
              <a:tabLst>
                <a:tab pos="168275" algn="l"/>
                <a:tab pos="347663" algn="l"/>
                <a:tab pos="525463" algn="l"/>
              </a:tabLst>
            </a:pPr>
            <a:r>
              <a:rPr lang="en-US" sz="1600" dirty="0">
                <a:solidFill>
                  <a:schemeClr val="tx1"/>
                </a:solidFill>
              </a:rPr>
              <a:t>signal(</a:t>
            </a:r>
            <a:r>
              <a:rPr lang="en-US" sz="1600" dirty="0" err="1">
                <a:solidFill>
                  <a:schemeClr val="tx1"/>
                </a:solidFill>
              </a:rPr>
              <a:t>c.s</a:t>
            </a:r>
            <a:r>
              <a:rPr lang="en-US" sz="1600" dirty="0">
                <a:solidFill>
                  <a:schemeClr val="tx1"/>
                </a:solidFill>
              </a:rPr>
              <a:t>)</a:t>
            </a:r>
          </a:p>
          <a:p>
            <a:pPr marL="0" lvl="2">
              <a:lnSpc>
                <a:spcPct val="90000"/>
              </a:lnSpc>
              <a:spcBef>
                <a:spcPts val="500"/>
              </a:spcBef>
              <a:tabLst>
                <a:tab pos="168275" algn="l"/>
                <a:tab pos="347663" algn="l"/>
                <a:tab pos="525463" algn="l"/>
              </a:tabLst>
            </a:pPr>
            <a:r>
              <a:rPr lang="en-US" sz="1600" dirty="0"/>
              <a:t>return(ret)</a:t>
            </a:r>
            <a:endParaRPr lang="en-US" sz="1600" dirty="0">
              <a:solidFill>
                <a:prstClr val="black"/>
              </a:solidFill>
            </a:endParaRPr>
          </a:p>
        </p:txBody>
      </p:sp>
      <p:grpSp>
        <p:nvGrpSpPr>
          <p:cNvPr id="6" name="Group 5">
            <a:extLst>
              <a:ext uri="{FF2B5EF4-FFF2-40B4-BE49-F238E27FC236}">
                <a16:creationId xmlns:a16="http://schemas.microsoft.com/office/drawing/2014/main" id="{A99AACE8-D99C-E5C3-CE7C-B9F6CE5A5BAF}"/>
              </a:ext>
            </a:extLst>
          </p:cNvPr>
          <p:cNvGrpSpPr/>
          <p:nvPr/>
        </p:nvGrpSpPr>
        <p:grpSpPr>
          <a:xfrm>
            <a:off x="8004482" y="40525"/>
            <a:ext cx="3166741" cy="1042987"/>
            <a:chOff x="1291257" y="5744918"/>
            <a:chExt cx="3166741" cy="1042987"/>
          </a:xfrm>
        </p:grpSpPr>
        <p:sp>
          <p:nvSpPr>
            <p:cNvPr id="9" name="TextBox 8"/>
            <p:cNvSpPr txBox="1"/>
            <p:nvPr/>
          </p:nvSpPr>
          <p:spPr>
            <a:xfrm>
              <a:off x="1291257" y="5810389"/>
              <a:ext cx="2487551" cy="738664"/>
            </a:xfrm>
            <a:prstGeom prst="rect">
              <a:avLst/>
            </a:prstGeom>
            <a:solidFill>
              <a:schemeClr val="accent5">
                <a:lumMod val="20000"/>
                <a:lumOff val="80000"/>
              </a:schemeClr>
            </a:solidFill>
            <a:ln>
              <a:solidFill>
                <a:schemeClr val="accent1"/>
              </a:solidFill>
            </a:ln>
          </p:spPr>
          <p:txBody>
            <a:bodyPr wrap="square">
              <a:spAutoFit/>
            </a:bodyPr>
            <a:lstStyle/>
            <a:p>
              <a:pPr>
                <a:defRPr/>
              </a:pPr>
              <a:r>
                <a:rPr lang="en-US" sz="1400" b="1" dirty="0">
                  <a:solidFill>
                    <a:srgbClr val="C00000"/>
                  </a:solidFill>
                  <a:latin typeface="Arial" pitchFamily="34" charset="0"/>
                  <a:cs typeface="Arial" pitchFamily="34" charset="0"/>
                </a:rPr>
                <a:t>Idea: </a:t>
              </a:r>
              <a:r>
                <a:rPr lang="en-US" sz="1400" dirty="0">
                  <a:solidFill>
                    <a:prstClr val="black"/>
                  </a:solidFill>
                  <a:latin typeface="Arial" pitchFamily="34" charset="0"/>
                  <a:cs typeface="Arial" pitchFamily="34" charset="0"/>
                </a:rPr>
                <a:t>when the second resource is not available, release the first one and retry</a:t>
              </a:r>
            </a:p>
          </p:txBody>
        </p:sp>
        <p:pic>
          <p:nvPicPr>
            <p:cNvPr id="9223" name="Picture 5" descr="C:\Users\marina\AppData\Local\Microsoft\Windows\Temporary Internet Files\Content.IE5\AAZLPE4U\MCj04326170000[1].png"/>
            <p:cNvPicPr>
              <a:picLocks noChangeAspect="1" noChangeArrowheads="1"/>
            </p:cNvPicPr>
            <p:nvPr/>
          </p:nvPicPr>
          <p:blipFill>
            <a:blip r:embed="rId3" cstate="print"/>
            <a:srcRect/>
            <a:stretch>
              <a:fillRect/>
            </a:stretch>
          </p:blipFill>
          <p:spPr bwMode="auto">
            <a:xfrm>
              <a:off x="3415010" y="5744918"/>
              <a:ext cx="1042988" cy="1042987"/>
            </a:xfrm>
            <a:prstGeom prst="rect">
              <a:avLst/>
            </a:prstGeom>
            <a:noFill/>
            <a:ln w="9525">
              <a:noFill/>
              <a:miter lim="800000"/>
              <a:headEnd/>
              <a:tailEnd/>
            </a:ln>
          </p:spPr>
        </p:pic>
      </p:grpSp>
      <p:sp>
        <p:nvSpPr>
          <p:cNvPr id="3" name="Title 1">
            <a:extLst>
              <a:ext uri="{FF2B5EF4-FFF2-40B4-BE49-F238E27FC236}">
                <a16:creationId xmlns:a16="http://schemas.microsoft.com/office/drawing/2014/main" id="{BBDB3530-67A6-BF42-5FC2-1F0CBBF45BF7}"/>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Dining philosophers: Fight the no-preemption</a:t>
            </a:r>
            <a:endParaRPr lang="sv-SE" sz="3200" b="1" dirty="0">
              <a:solidFill>
                <a:schemeClr val="accent1">
                  <a:lumMod val="50000"/>
                </a:schemeClr>
              </a:solidFill>
            </a:endParaRPr>
          </a:p>
        </p:txBody>
      </p:sp>
      <p:sp>
        <p:nvSpPr>
          <p:cNvPr id="7" name="Rectangle 5">
            <a:extLst>
              <a:ext uri="{FF2B5EF4-FFF2-40B4-BE49-F238E27FC236}">
                <a16:creationId xmlns:a16="http://schemas.microsoft.com/office/drawing/2014/main" id="{B4551684-972A-231E-266F-3C5BB00852F5}"/>
              </a:ext>
            </a:extLst>
          </p:cNvPr>
          <p:cNvSpPr>
            <a:spLocks noChangeArrowheads="1"/>
          </p:cNvSpPr>
          <p:nvPr/>
        </p:nvSpPr>
        <p:spPr bwMode="auto">
          <a:xfrm>
            <a:off x="6548021" y="3650428"/>
            <a:ext cx="4957915" cy="902718"/>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p>
            <a:pPr eaLnBrk="0" fontAlgn="base" hangingPunct="0">
              <a:lnSpc>
                <a:spcPct val="90000"/>
              </a:lnSpc>
              <a:spcBef>
                <a:spcPct val="20000"/>
              </a:spcBef>
              <a:spcAft>
                <a:spcPct val="0"/>
              </a:spcAft>
              <a:tabLst>
                <a:tab pos="168275" algn="l"/>
                <a:tab pos="347663" algn="l"/>
                <a:tab pos="525463" algn="l"/>
              </a:tabLst>
            </a:pPr>
            <a:r>
              <a:rPr lang="en-US" sz="1600" b="1" dirty="0">
                <a:solidFill>
                  <a:prstClr val="black"/>
                </a:solidFill>
              </a:rPr>
              <a:t>lock</a:t>
            </a:r>
            <a:r>
              <a:rPr lang="en-US" sz="1600" dirty="0">
                <a:solidFill>
                  <a:prstClr val="black"/>
                </a:solidFill>
              </a:rPr>
              <a:t>(c : </a:t>
            </a:r>
            <a:r>
              <a:rPr lang="en-US" sz="1600" dirty="0" err="1">
                <a:solidFill>
                  <a:prstClr val="black"/>
                </a:solidFill>
              </a:rPr>
              <a:t>chopstick_structure</a:t>
            </a:r>
            <a:r>
              <a:rPr lang="en-US" sz="1600" dirty="0">
                <a:solidFill>
                  <a:prstClr val="black"/>
                </a:solidFill>
              </a:rPr>
              <a:t>):</a:t>
            </a:r>
          </a:p>
          <a:p>
            <a:pPr marL="0" lvl="1">
              <a:lnSpc>
                <a:spcPct val="90000"/>
              </a:lnSpc>
              <a:spcBef>
                <a:spcPts val="500"/>
              </a:spcBef>
              <a:tabLst>
                <a:tab pos="168275" algn="l"/>
                <a:tab pos="347663" algn="l"/>
                <a:tab pos="525463" algn="l"/>
              </a:tabLst>
            </a:pPr>
            <a:r>
              <a:rPr lang="en-US" sz="1600" dirty="0">
                <a:solidFill>
                  <a:schemeClr val="tx1"/>
                </a:solidFill>
              </a:rPr>
              <a:t>repeat</a:t>
            </a:r>
          </a:p>
          <a:p>
            <a:pPr marL="0" lvl="1">
              <a:lnSpc>
                <a:spcPct val="90000"/>
              </a:lnSpc>
              <a:spcBef>
                <a:spcPts val="500"/>
              </a:spcBef>
              <a:tabLst>
                <a:tab pos="168275" algn="l"/>
                <a:tab pos="347663" algn="l"/>
                <a:tab pos="525463" algn="l"/>
              </a:tabLst>
            </a:pPr>
            <a:r>
              <a:rPr lang="en-US" sz="1600" dirty="0">
                <a:solidFill>
                  <a:schemeClr val="tx1"/>
                </a:solidFill>
              </a:rPr>
              <a:t>until (</a:t>
            </a:r>
            <a:r>
              <a:rPr lang="en-US" sz="1600" dirty="0" err="1">
                <a:solidFill>
                  <a:schemeClr val="tx1"/>
                </a:solidFill>
              </a:rPr>
              <a:t>trylock</a:t>
            </a:r>
            <a:r>
              <a:rPr lang="en-US" sz="1600" dirty="0">
                <a:solidFill>
                  <a:schemeClr val="tx1"/>
                </a:solidFill>
              </a:rPr>
              <a:t>(c))</a:t>
            </a:r>
            <a:endParaRPr lang="en-US" sz="1600" dirty="0">
              <a:solidFill>
                <a:prstClr val="black"/>
              </a:solidFill>
            </a:endParaRPr>
          </a:p>
        </p:txBody>
      </p:sp>
      <p:sp>
        <p:nvSpPr>
          <p:cNvPr id="12" name="Rectangle 5">
            <a:extLst>
              <a:ext uri="{FF2B5EF4-FFF2-40B4-BE49-F238E27FC236}">
                <a16:creationId xmlns:a16="http://schemas.microsoft.com/office/drawing/2014/main" id="{2C833523-E9DC-7B4E-DFA3-790B262F9272}"/>
              </a:ext>
            </a:extLst>
          </p:cNvPr>
          <p:cNvSpPr>
            <a:spLocks noChangeArrowheads="1"/>
          </p:cNvSpPr>
          <p:nvPr/>
        </p:nvSpPr>
        <p:spPr bwMode="auto">
          <a:xfrm>
            <a:off x="6548020" y="4777168"/>
            <a:ext cx="4957915" cy="1124011"/>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p>
            <a:pPr eaLnBrk="0" fontAlgn="base" hangingPunct="0">
              <a:lnSpc>
                <a:spcPct val="90000"/>
              </a:lnSpc>
              <a:spcBef>
                <a:spcPct val="20000"/>
              </a:spcBef>
              <a:spcAft>
                <a:spcPct val="0"/>
              </a:spcAft>
              <a:tabLst>
                <a:tab pos="168275" algn="l"/>
                <a:tab pos="347663" algn="l"/>
                <a:tab pos="525463" algn="l"/>
              </a:tabLst>
            </a:pPr>
            <a:r>
              <a:rPr lang="en-US" sz="1600" b="1" dirty="0">
                <a:solidFill>
                  <a:prstClr val="black"/>
                </a:solidFill>
              </a:rPr>
              <a:t>release</a:t>
            </a:r>
            <a:r>
              <a:rPr lang="en-US" sz="1600" dirty="0">
                <a:solidFill>
                  <a:prstClr val="black"/>
                </a:solidFill>
              </a:rPr>
              <a:t>(c : </a:t>
            </a:r>
            <a:r>
              <a:rPr lang="en-US" sz="1600" dirty="0" err="1">
                <a:solidFill>
                  <a:prstClr val="black"/>
                </a:solidFill>
              </a:rPr>
              <a:t>chopstick_structure</a:t>
            </a:r>
            <a:r>
              <a:rPr lang="en-US" sz="1600" dirty="0">
                <a:solidFill>
                  <a:prstClr val="black"/>
                </a:solidFill>
              </a:rPr>
              <a:t>):</a:t>
            </a:r>
          </a:p>
          <a:p>
            <a:pPr marL="0" lvl="1">
              <a:lnSpc>
                <a:spcPct val="90000"/>
              </a:lnSpc>
              <a:spcBef>
                <a:spcPts val="500"/>
              </a:spcBef>
              <a:tabLst>
                <a:tab pos="168275" algn="l"/>
                <a:tab pos="347663" algn="l"/>
                <a:tab pos="525463" algn="l"/>
              </a:tabLst>
            </a:pPr>
            <a:r>
              <a:rPr lang="en-US" sz="1600" dirty="0">
                <a:solidFill>
                  <a:schemeClr val="tx1"/>
                </a:solidFill>
              </a:rPr>
              <a:t>wait(</a:t>
            </a:r>
            <a:r>
              <a:rPr lang="en-US" sz="1600" dirty="0" err="1">
                <a:solidFill>
                  <a:schemeClr val="tx1"/>
                </a:solidFill>
              </a:rPr>
              <a:t>c.s</a:t>
            </a:r>
            <a:r>
              <a:rPr lang="en-US" sz="1600" dirty="0">
                <a:solidFill>
                  <a:schemeClr val="tx1"/>
                </a:solidFill>
              </a:rPr>
              <a:t>)</a:t>
            </a:r>
          </a:p>
          <a:p>
            <a:pPr marL="0" lvl="1">
              <a:lnSpc>
                <a:spcPct val="90000"/>
              </a:lnSpc>
              <a:spcBef>
                <a:spcPts val="500"/>
              </a:spcBef>
              <a:tabLst>
                <a:tab pos="168275" algn="l"/>
                <a:tab pos="347663" algn="l"/>
                <a:tab pos="525463" algn="l"/>
              </a:tabLst>
            </a:pPr>
            <a:r>
              <a:rPr lang="en-US" sz="1600" dirty="0" err="1">
                <a:solidFill>
                  <a:schemeClr val="tx1"/>
                </a:solidFill>
              </a:rPr>
              <a:t>c.available</a:t>
            </a:r>
            <a:r>
              <a:rPr lang="en-US" sz="1600" dirty="0">
                <a:solidFill>
                  <a:schemeClr val="tx1"/>
                </a:solidFill>
              </a:rPr>
              <a:t> := true</a:t>
            </a:r>
          </a:p>
          <a:p>
            <a:pPr marL="0" lvl="1">
              <a:lnSpc>
                <a:spcPct val="90000"/>
              </a:lnSpc>
              <a:spcBef>
                <a:spcPts val="500"/>
              </a:spcBef>
              <a:tabLst>
                <a:tab pos="168275" algn="l"/>
                <a:tab pos="347663" algn="l"/>
                <a:tab pos="525463" algn="l"/>
              </a:tabLst>
            </a:pPr>
            <a:r>
              <a:rPr lang="en-US" sz="1600" dirty="0">
                <a:solidFill>
                  <a:schemeClr val="tx1"/>
                </a:solidFill>
              </a:rPr>
              <a:t>signal(</a:t>
            </a:r>
            <a:r>
              <a:rPr lang="en-US" sz="1600" dirty="0" err="1">
                <a:solidFill>
                  <a:schemeClr val="tx1"/>
                </a:solidFill>
              </a:rPr>
              <a:t>c.s</a:t>
            </a:r>
            <a:r>
              <a:rPr lang="en-US" sz="1600" dirty="0">
                <a:solidFill>
                  <a:schemeClr val="tx1"/>
                </a:solidFill>
              </a:rPr>
              <a:t>)</a:t>
            </a:r>
          </a:p>
          <a:p>
            <a:pPr eaLnBrk="0" fontAlgn="base" hangingPunct="0">
              <a:lnSpc>
                <a:spcPct val="90000"/>
              </a:lnSpc>
              <a:spcBef>
                <a:spcPct val="20000"/>
              </a:spcBef>
              <a:spcAft>
                <a:spcPct val="0"/>
              </a:spcAft>
              <a:tabLst>
                <a:tab pos="168275" algn="l"/>
                <a:tab pos="347663" algn="l"/>
                <a:tab pos="525463" algn="l"/>
              </a:tabLst>
            </a:pPr>
            <a:endParaRPr lang="en-US" sz="1600" dirty="0">
              <a:solidFill>
                <a:prstClr val="black"/>
              </a:solidFill>
            </a:endParaRPr>
          </a:p>
        </p:txBody>
      </p:sp>
      <p:sp>
        <p:nvSpPr>
          <p:cNvPr id="13" name="Rectangle 3">
            <a:extLst>
              <a:ext uri="{FF2B5EF4-FFF2-40B4-BE49-F238E27FC236}">
                <a16:creationId xmlns:a16="http://schemas.microsoft.com/office/drawing/2014/main" id="{E8628ADC-848E-F5DD-0FD6-50F39F48BCB9}"/>
              </a:ext>
            </a:extLst>
          </p:cNvPr>
          <p:cNvSpPr txBox="1">
            <a:spLocks noChangeArrowheads="1"/>
          </p:cNvSpPr>
          <p:nvPr/>
        </p:nvSpPr>
        <p:spPr>
          <a:xfrm>
            <a:off x="126589" y="2265098"/>
            <a:ext cx="6293202" cy="3636081"/>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spcBef>
                <a:spcPct val="20000"/>
              </a:spcBef>
              <a:spcAft>
                <a:spcPct val="0"/>
              </a:spcAft>
              <a:buFont typeface="Arial" panose="020B0604020202020204" pitchFamily="34" charset="0"/>
              <a:buNone/>
              <a:tabLst>
                <a:tab pos="168275" algn="l"/>
                <a:tab pos="347663" algn="l"/>
                <a:tab pos="525463" algn="l"/>
              </a:tabLst>
            </a:pPr>
            <a:r>
              <a:rPr lang="en-US" sz="1600" dirty="0">
                <a:solidFill>
                  <a:prstClr val="black"/>
                </a:solidFill>
              </a:rPr>
              <a:t>P</a:t>
            </a:r>
            <a:r>
              <a:rPr lang="en-US" sz="1600" baseline="-25000" dirty="0">
                <a:solidFill>
                  <a:prstClr val="black"/>
                </a:solidFill>
              </a:rPr>
              <a:t>i</a:t>
            </a:r>
            <a:r>
              <a:rPr lang="en-US" sz="1600" dirty="0">
                <a:solidFill>
                  <a:prstClr val="black"/>
                </a:solidFill>
              </a:rPr>
              <a:t>: </a:t>
            </a:r>
          </a:p>
          <a:p>
            <a:pPr marL="0" indent="0" eaLnBrk="0" fontAlgn="base" hangingPunct="0">
              <a:spcBef>
                <a:spcPct val="20000"/>
              </a:spcBef>
              <a:spcAft>
                <a:spcPct val="0"/>
              </a:spcAft>
              <a:buFont typeface="Arial" panose="020B0604020202020204" pitchFamily="34" charset="0"/>
              <a:buNone/>
              <a:tabLst>
                <a:tab pos="168275" algn="l"/>
                <a:tab pos="347663" algn="l"/>
                <a:tab pos="525463" algn="l"/>
              </a:tabLst>
            </a:pPr>
            <a:r>
              <a:rPr lang="en-US" sz="1600" dirty="0">
                <a:solidFill>
                  <a:prstClr val="black"/>
                </a:solidFill>
              </a:rPr>
              <a:t>	local var </a:t>
            </a:r>
            <a:r>
              <a:rPr lang="en-US" sz="1600" dirty="0" err="1">
                <a:solidFill>
                  <a:prstClr val="black"/>
                </a:solidFill>
              </a:rPr>
              <a:t>holding_both_chopsticks</a:t>
            </a:r>
            <a:r>
              <a:rPr lang="en-US" sz="1600" dirty="0">
                <a:solidFill>
                  <a:prstClr val="black"/>
                </a:solidFill>
              </a:rPr>
              <a:t>: </a:t>
            </a:r>
            <a:r>
              <a:rPr lang="en-US" sz="1600" dirty="0" err="1">
                <a:solidFill>
                  <a:prstClr val="black"/>
                </a:solidFill>
              </a:rPr>
              <a:t>boolean</a:t>
            </a:r>
            <a:r>
              <a:rPr lang="en-US" sz="1600" dirty="0">
                <a:solidFill>
                  <a:prstClr val="black"/>
                </a:solidFill>
              </a:rPr>
              <a:t>; </a:t>
            </a:r>
          </a:p>
          <a:p>
            <a:pPr marL="0" indent="0" eaLnBrk="0" fontAlgn="base" hangingPunct="0">
              <a:spcBef>
                <a:spcPct val="20000"/>
              </a:spcBef>
              <a:spcAft>
                <a:spcPct val="0"/>
              </a:spcAft>
              <a:buFont typeface="Arial" panose="020B0604020202020204" pitchFamily="34" charset="0"/>
              <a:buNone/>
              <a:tabLst>
                <a:tab pos="168275" algn="l"/>
                <a:tab pos="347663" algn="l"/>
                <a:tab pos="525463" algn="l"/>
              </a:tabLst>
            </a:pPr>
            <a:r>
              <a:rPr lang="en-US" sz="1600" dirty="0">
                <a:solidFill>
                  <a:prstClr val="black"/>
                </a:solidFill>
              </a:rPr>
              <a:t>	repeat</a:t>
            </a:r>
          </a:p>
          <a:p>
            <a:pPr marL="0" indent="0" eaLnBrk="0" fontAlgn="base" hangingPunct="0">
              <a:spcBef>
                <a:spcPct val="20000"/>
              </a:spcBef>
              <a:spcAft>
                <a:spcPct val="0"/>
              </a:spcAft>
              <a:buFont typeface="Arial" panose="020B0604020202020204" pitchFamily="34" charset="0"/>
              <a:buNone/>
              <a:tabLst>
                <a:tab pos="168275" algn="l"/>
                <a:tab pos="347663" algn="l"/>
                <a:tab pos="525463" algn="l"/>
              </a:tabLst>
            </a:pPr>
            <a:r>
              <a:rPr lang="en-US" sz="1600" dirty="0">
                <a:solidFill>
                  <a:srgbClr val="FF0000"/>
                </a:solidFill>
              </a:rPr>
              <a:t>		while (not </a:t>
            </a:r>
            <a:r>
              <a:rPr lang="en-US" sz="1600" dirty="0" err="1">
                <a:solidFill>
                  <a:srgbClr val="FF0000"/>
                </a:solidFill>
              </a:rPr>
              <a:t>holding_both_chopsticks</a:t>
            </a:r>
            <a:r>
              <a:rPr lang="en-US" sz="1600" dirty="0">
                <a:solidFill>
                  <a:srgbClr val="FF0000"/>
                </a:solidFill>
              </a:rPr>
              <a:t>) {</a:t>
            </a:r>
          </a:p>
          <a:p>
            <a:pPr marL="0" lvl="2" indent="0">
              <a:buFont typeface="Arial" panose="020B0604020202020204" pitchFamily="34" charset="0"/>
              <a:buNone/>
              <a:tabLst>
                <a:tab pos="168275" algn="l"/>
                <a:tab pos="347663" algn="l"/>
                <a:tab pos="525463" algn="l"/>
              </a:tabLst>
            </a:pPr>
            <a:r>
              <a:rPr lang="en-US" sz="1600" dirty="0">
                <a:solidFill>
                  <a:srgbClr val="FF0000"/>
                </a:solidFill>
              </a:rPr>
              <a:t>			lock(c[</a:t>
            </a:r>
            <a:r>
              <a:rPr lang="en-US" sz="1600" dirty="0" err="1">
                <a:solidFill>
                  <a:srgbClr val="FF0000"/>
                </a:solidFill>
              </a:rPr>
              <a:t>i</a:t>
            </a:r>
            <a:r>
              <a:rPr lang="en-US" sz="1600" dirty="0">
                <a:solidFill>
                  <a:srgbClr val="FF0000"/>
                </a:solidFill>
              </a:rPr>
              <a:t>]) </a:t>
            </a:r>
          </a:p>
          <a:p>
            <a:pPr marL="0" lvl="2" indent="0">
              <a:buFont typeface="Arial" panose="020B0604020202020204" pitchFamily="34" charset="0"/>
              <a:buNone/>
              <a:tabLst>
                <a:tab pos="168275" algn="l"/>
                <a:tab pos="347663" algn="l"/>
                <a:tab pos="525463" algn="l"/>
              </a:tabLst>
            </a:pPr>
            <a:r>
              <a:rPr lang="en-US" sz="1600" dirty="0">
                <a:solidFill>
                  <a:srgbClr val="FF0000"/>
                </a:solidFill>
              </a:rPr>
              <a:t>			if !</a:t>
            </a:r>
            <a:r>
              <a:rPr lang="en-US" sz="1600" dirty="0" err="1">
                <a:solidFill>
                  <a:srgbClr val="FF0000"/>
                </a:solidFill>
              </a:rPr>
              <a:t>trylock</a:t>
            </a:r>
            <a:r>
              <a:rPr lang="en-US" sz="1600" dirty="0">
                <a:solidFill>
                  <a:srgbClr val="FF0000"/>
                </a:solidFill>
              </a:rPr>
              <a:t>(c[(i+1)%n]) then release(c[</a:t>
            </a:r>
            <a:r>
              <a:rPr lang="en-US" sz="1600" dirty="0" err="1">
                <a:solidFill>
                  <a:srgbClr val="FF0000"/>
                </a:solidFill>
              </a:rPr>
              <a:t>i</a:t>
            </a:r>
            <a:r>
              <a:rPr lang="en-US" sz="1600" dirty="0">
                <a:solidFill>
                  <a:srgbClr val="FF0000"/>
                </a:solidFill>
              </a:rPr>
              <a:t>])</a:t>
            </a:r>
          </a:p>
          <a:p>
            <a:pPr marL="0" lvl="2" indent="0">
              <a:buFont typeface="Arial" panose="020B0604020202020204" pitchFamily="34" charset="0"/>
              <a:buNone/>
              <a:tabLst>
                <a:tab pos="168275" algn="l"/>
                <a:tab pos="347663" algn="l"/>
                <a:tab pos="525463" algn="l"/>
              </a:tabLst>
            </a:pPr>
            <a:r>
              <a:rPr lang="en-US" sz="1600" dirty="0">
                <a:solidFill>
                  <a:srgbClr val="FF0000"/>
                </a:solidFill>
              </a:rPr>
              <a:t>			else </a:t>
            </a:r>
            <a:r>
              <a:rPr lang="en-US" sz="1600" dirty="0" err="1">
                <a:solidFill>
                  <a:srgbClr val="FF0000"/>
                </a:solidFill>
              </a:rPr>
              <a:t>holding_both_chopsticks</a:t>
            </a:r>
            <a:r>
              <a:rPr lang="en-US" sz="1600" dirty="0">
                <a:solidFill>
                  <a:srgbClr val="FF0000"/>
                </a:solidFill>
              </a:rPr>
              <a:t> := true }</a:t>
            </a:r>
          </a:p>
          <a:p>
            <a:pPr marL="0" lvl="1" indent="0">
              <a:buFont typeface="Arial" panose="020B0604020202020204" pitchFamily="34" charset="0"/>
              <a:buNone/>
              <a:tabLst>
                <a:tab pos="168275" algn="l"/>
                <a:tab pos="347663" algn="l"/>
                <a:tab pos="525463" algn="l"/>
              </a:tabLst>
            </a:pPr>
            <a:r>
              <a:rPr lang="en-US" sz="1600" dirty="0"/>
              <a:t>		</a:t>
            </a:r>
            <a:r>
              <a:rPr lang="en-US" sz="1600" dirty="0">
                <a:solidFill>
                  <a:schemeClr val="bg1">
                    <a:lumMod val="50000"/>
                  </a:schemeClr>
                </a:solidFill>
              </a:rPr>
              <a:t>// Eat</a:t>
            </a:r>
          </a:p>
          <a:p>
            <a:pPr marL="0" lvl="1" indent="0">
              <a:buFont typeface="Arial" panose="020B0604020202020204" pitchFamily="34" charset="0"/>
              <a:buNone/>
              <a:tabLst>
                <a:tab pos="168275" algn="l"/>
                <a:tab pos="347663" algn="l"/>
                <a:tab pos="525463" algn="l"/>
              </a:tabLst>
            </a:pPr>
            <a:r>
              <a:rPr lang="en-US" sz="1600" dirty="0">
                <a:solidFill>
                  <a:srgbClr val="FF0000"/>
                </a:solidFill>
              </a:rPr>
              <a:t>		release(c[</a:t>
            </a:r>
            <a:r>
              <a:rPr lang="en-US" sz="1600" dirty="0" err="1">
                <a:solidFill>
                  <a:srgbClr val="FF0000"/>
                </a:solidFill>
              </a:rPr>
              <a:t>i</a:t>
            </a:r>
            <a:r>
              <a:rPr lang="en-US" sz="1600" dirty="0">
                <a:solidFill>
                  <a:srgbClr val="FF0000"/>
                </a:solidFill>
              </a:rPr>
              <a:t>])</a:t>
            </a:r>
          </a:p>
          <a:p>
            <a:pPr marL="0" lvl="1" indent="0">
              <a:buFont typeface="Arial" panose="020B0604020202020204" pitchFamily="34" charset="0"/>
              <a:buNone/>
              <a:tabLst>
                <a:tab pos="168275" algn="l"/>
                <a:tab pos="347663" algn="l"/>
                <a:tab pos="525463" algn="l"/>
              </a:tabLst>
            </a:pPr>
            <a:r>
              <a:rPr lang="en-US" sz="1600" dirty="0">
                <a:solidFill>
                  <a:srgbClr val="FF0000"/>
                </a:solidFill>
              </a:rPr>
              <a:t>		release(c[(i+1)%n]) </a:t>
            </a:r>
          </a:p>
          <a:p>
            <a:pPr marL="0" lvl="1" indent="0">
              <a:buFont typeface="Arial" panose="020B0604020202020204" pitchFamily="34" charset="0"/>
              <a:buNone/>
              <a:tabLst>
                <a:tab pos="168275" algn="l"/>
                <a:tab pos="347663" algn="l"/>
                <a:tab pos="525463" algn="l"/>
              </a:tabLst>
            </a:pPr>
            <a:r>
              <a:rPr lang="en-US" sz="1600" dirty="0">
                <a:solidFill>
                  <a:srgbClr val="FF0000"/>
                </a:solidFill>
              </a:rPr>
              <a:t>		</a:t>
            </a:r>
            <a:r>
              <a:rPr lang="en-US" sz="1600" dirty="0" err="1">
                <a:solidFill>
                  <a:srgbClr val="FF0000"/>
                </a:solidFill>
              </a:rPr>
              <a:t>holding_both_chopsticks</a:t>
            </a:r>
            <a:r>
              <a:rPr lang="en-US" sz="1600" dirty="0">
                <a:solidFill>
                  <a:srgbClr val="FF0000"/>
                </a:solidFill>
              </a:rPr>
              <a:t> := false </a:t>
            </a:r>
          </a:p>
          <a:p>
            <a:pPr marL="0" lvl="1" indent="0">
              <a:buFont typeface="Arial" panose="020B0604020202020204" pitchFamily="34" charset="0"/>
              <a:buNone/>
              <a:tabLst>
                <a:tab pos="168275" algn="l"/>
                <a:tab pos="347663" algn="l"/>
                <a:tab pos="525463" algn="l"/>
              </a:tabLst>
            </a:pPr>
            <a:r>
              <a:rPr lang="en-US" sz="1600" dirty="0">
                <a:solidFill>
                  <a:schemeClr val="bg1">
                    <a:lumMod val="50000"/>
                  </a:schemeClr>
                </a:solidFill>
              </a:rPr>
              <a:t>		// Think</a:t>
            </a:r>
          </a:p>
          <a:p>
            <a:pPr marL="0" indent="0" eaLnBrk="0" fontAlgn="base" hangingPunct="0">
              <a:spcBef>
                <a:spcPct val="20000"/>
              </a:spcBef>
              <a:spcAft>
                <a:spcPct val="0"/>
              </a:spcAft>
              <a:buFont typeface="Arial" panose="020B0604020202020204" pitchFamily="34" charset="0"/>
              <a:buNone/>
              <a:tabLst>
                <a:tab pos="168275" algn="l"/>
                <a:tab pos="347663" algn="l"/>
                <a:tab pos="525463" algn="l"/>
              </a:tabLst>
            </a:pPr>
            <a:r>
              <a:rPr lang="en-US" sz="1600" dirty="0">
                <a:solidFill>
                  <a:prstClr val="black"/>
                </a:solidFill>
              </a:rPr>
              <a:t>forever</a:t>
            </a:r>
          </a:p>
          <a:p>
            <a:pPr marL="0" indent="0" eaLnBrk="0" fontAlgn="base" hangingPunct="0">
              <a:spcBef>
                <a:spcPct val="20000"/>
              </a:spcBef>
              <a:spcAft>
                <a:spcPct val="0"/>
              </a:spcAft>
              <a:buFont typeface="Arial" panose="020B0604020202020204" pitchFamily="34" charset="0"/>
              <a:buNone/>
              <a:tabLst>
                <a:tab pos="168275" algn="l"/>
                <a:tab pos="347663" algn="l"/>
                <a:tab pos="525463" algn="l"/>
              </a:tabLst>
            </a:pPr>
            <a:endParaRPr lang="en-US" sz="1600" dirty="0">
              <a:solidFill>
                <a:prstClr val="black"/>
              </a:solidFill>
            </a:endParaRPr>
          </a:p>
        </p:txBody>
      </p:sp>
      <p:sp>
        <p:nvSpPr>
          <p:cNvPr id="2" name="Date Placeholder 1">
            <a:extLst>
              <a:ext uri="{FF2B5EF4-FFF2-40B4-BE49-F238E27FC236}">
                <a16:creationId xmlns:a16="http://schemas.microsoft.com/office/drawing/2014/main" id="{A4EB84B1-A72E-DEE0-D9A5-C4CE0407A802}"/>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489074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20">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220">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220">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220">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22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456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build="p" animBg="1"/>
      <p:bldP spid="194565" grpId="0" animBg="1"/>
      <p:bldP spid="7" grpId="0" animBg="1"/>
      <p:bldP spid="12" grpId="0" animBg="1"/>
      <p:bldP spid="1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126ED5-583D-4CB1-8BA5-5472C7197EF5}"/>
              </a:ext>
            </a:extLst>
          </p:cNvPr>
          <p:cNvSpPr>
            <a:spLocks noGrp="1"/>
          </p:cNvSpPr>
          <p:nvPr>
            <p:ph idx="1"/>
          </p:nvPr>
        </p:nvSpPr>
        <p:spPr>
          <a:xfrm>
            <a:off x="838200" y="1825625"/>
            <a:ext cx="5609734" cy="4351338"/>
          </a:xfrm>
        </p:spPr>
        <p:txBody>
          <a:bodyPr/>
          <a:lstStyle/>
          <a:p>
            <a:r>
              <a:rPr lang="en-US" dirty="0"/>
              <a:t>Mutual exclusion: ok </a:t>
            </a:r>
          </a:p>
          <a:p>
            <a:r>
              <a:rPr lang="en-US" dirty="0"/>
              <a:t>Progress: no deadlock … but </a:t>
            </a:r>
            <a:r>
              <a:rPr lang="en-US" dirty="0" err="1"/>
              <a:t>livelock</a:t>
            </a:r>
            <a:r>
              <a:rPr lang="en-US" dirty="0"/>
              <a:t> is possible!</a:t>
            </a:r>
          </a:p>
          <a:p>
            <a:r>
              <a:rPr lang="en-US" dirty="0"/>
              <a:t>Fairness: a process can starve…</a:t>
            </a:r>
          </a:p>
        </p:txBody>
      </p:sp>
      <p:sp>
        <p:nvSpPr>
          <p:cNvPr id="4" name="Slide Number Placeholder 3">
            <a:extLst>
              <a:ext uri="{FF2B5EF4-FFF2-40B4-BE49-F238E27FC236}">
                <a16:creationId xmlns:a16="http://schemas.microsoft.com/office/drawing/2014/main" id="{C0445493-AB84-4AD4-8911-49D134EF2CEA}"/>
              </a:ext>
            </a:extLst>
          </p:cNvPr>
          <p:cNvSpPr>
            <a:spLocks noGrp="1"/>
          </p:cNvSpPr>
          <p:nvPr>
            <p:ph type="sldNum" sz="quarter" idx="12"/>
          </p:nvPr>
        </p:nvSpPr>
        <p:spPr/>
        <p:txBody>
          <a:bodyPr/>
          <a:lstStyle/>
          <a:p>
            <a:pPr>
              <a:defRPr/>
            </a:pPr>
            <a:fld id="{6FDBA504-7919-41DE-B9B2-CB6A22CC38B9}" type="slidenum">
              <a:rPr lang="en-US" smtClean="0">
                <a:solidFill>
                  <a:prstClr val="black">
                    <a:tint val="75000"/>
                  </a:prstClr>
                </a:solidFill>
              </a:rPr>
              <a:pPr>
                <a:defRPr/>
              </a:pPr>
              <a:t>25</a:t>
            </a:fld>
            <a:endParaRPr lang="en-US" dirty="0">
              <a:solidFill>
                <a:prstClr val="black">
                  <a:tint val="75000"/>
                </a:prstClr>
              </a:solidFill>
            </a:endParaRPr>
          </a:p>
        </p:txBody>
      </p:sp>
      <p:sp>
        <p:nvSpPr>
          <p:cNvPr id="7" name="Title 1">
            <a:extLst>
              <a:ext uri="{FF2B5EF4-FFF2-40B4-BE49-F238E27FC236}">
                <a16:creationId xmlns:a16="http://schemas.microsoft.com/office/drawing/2014/main" id="{7AB522F4-BF84-DD5F-8EC1-50184B86D1D4}"/>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Dining philosophers: Fight the no-preemption</a:t>
            </a:r>
            <a:endParaRPr lang="sv-SE" sz="3200" b="1" dirty="0">
              <a:solidFill>
                <a:schemeClr val="accent1">
                  <a:lumMod val="50000"/>
                </a:schemeClr>
              </a:solidFill>
            </a:endParaRPr>
          </a:p>
        </p:txBody>
      </p:sp>
      <p:sp>
        <p:nvSpPr>
          <p:cNvPr id="8" name="Rectangle 3">
            <a:extLst>
              <a:ext uri="{FF2B5EF4-FFF2-40B4-BE49-F238E27FC236}">
                <a16:creationId xmlns:a16="http://schemas.microsoft.com/office/drawing/2014/main" id="{97A83C35-B591-9FFA-7449-03499311AAE8}"/>
              </a:ext>
            </a:extLst>
          </p:cNvPr>
          <p:cNvSpPr txBox="1">
            <a:spLocks noChangeArrowheads="1"/>
          </p:cNvSpPr>
          <p:nvPr/>
        </p:nvSpPr>
        <p:spPr>
          <a:xfrm>
            <a:off x="6376560" y="1190443"/>
            <a:ext cx="4087192" cy="3636081"/>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spcBef>
                <a:spcPct val="20000"/>
              </a:spcBef>
              <a:spcAft>
                <a:spcPct val="0"/>
              </a:spcAft>
              <a:buFont typeface="Arial" panose="020B0604020202020204" pitchFamily="34" charset="0"/>
              <a:buNone/>
              <a:tabLst>
                <a:tab pos="168275" algn="l"/>
                <a:tab pos="347663" algn="l"/>
                <a:tab pos="525463" algn="l"/>
              </a:tabLst>
            </a:pPr>
            <a:r>
              <a:rPr lang="en-US" sz="1600" dirty="0">
                <a:solidFill>
                  <a:prstClr val="black"/>
                </a:solidFill>
              </a:rPr>
              <a:t>P</a:t>
            </a:r>
            <a:r>
              <a:rPr lang="en-US" sz="1600" baseline="-25000" dirty="0">
                <a:solidFill>
                  <a:prstClr val="black"/>
                </a:solidFill>
              </a:rPr>
              <a:t>i</a:t>
            </a:r>
            <a:r>
              <a:rPr lang="en-US" sz="1600" dirty="0">
                <a:solidFill>
                  <a:prstClr val="black"/>
                </a:solidFill>
              </a:rPr>
              <a:t>: </a:t>
            </a:r>
          </a:p>
          <a:p>
            <a:pPr marL="0" indent="0" eaLnBrk="0" fontAlgn="base" hangingPunct="0">
              <a:spcBef>
                <a:spcPct val="20000"/>
              </a:spcBef>
              <a:spcAft>
                <a:spcPct val="0"/>
              </a:spcAft>
              <a:buFont typeface="Arial" panose="020B0604020202020204" pitchFamily="34" charset="0"/>
              <a:buNone/>
              <a:tabLst>
                <a:tab pos="168275" algn="l"/>
                <a:tab pos="347663" algn="l"/>
                <a:tab pos="525463" algn="l"/>
              </a:tabLst>
            </a:pPr>
            <a:r>
              <a:rPr lang="en-US" sz="1600" dirty="0">
                <a:solidFill>
                  <a:prstClr val="black"/>
                </a:solidFill>
              </a:rPr>
              <a:t>	local var </a:t>
            </a:r>
            <a:r>
              <a:rPr lang="en-US" sz="1600" dirty="0" err="1">
                <a:solidFill>
                  <a:prstClr val="black"/>
                </a:solidFill>
              </a:rPr>
              <a:t>holding_both_chopsticks</a:t>
            </a:r>
            <a:r>
              <a:rPr lang="en-US" sz="1600" dirty="0">
                <a:solidFill>
                  <a:prstClr val="black"/>
                </a:solidFill>
              </a:rPr>
              <a:t>: </a:t>
            </a:r>
            <a:r>
              <a:rPr lang="en-US" sz="1600" dirty="0" err="1">
                <a:solidFill>
                  <a:prstClr val="black"/>
                </a:solidFill>
              </a:rPr>
              <a:t>boolean</a:t>
            </a:r>
            <a:r>
              <a:rPr lang="en-US" sz="1600" dirty="0">
                <a:solidFill>
                  <a:prstClr val="black"/>
                </a:solidFill>
              </a:rPr>
              <a:t>; </a:t>
            </a:r>
          </a:p>
          <a:p>
            <a:pPr marL="0" indent="0" eaLnBrk="0" fontAlgn="base" hangingPunct="0">
              <a:spcBef>
                <a:spcPct val="20000"/>
              </a:spcBef>
              <a:spcAft>
                <a:spcPct val="0"/>
              </a:spcAft>
              <a:buFont typeface="Arial" panose="020B0604020202020204" pitchFamily="34" charset="0"/>
              <a:buNone/>
              <a:tabLst>
                <a:tab pos="168275" algn="l"/>
                <a:tab pos="347663" algn="l"/>
                <a:tab pos="525463" algn="l"/>
              </a:tabLst>
            </a:pPr>
            <a:r>
              <a:rPr lang="en-US" sz="1600" dirty="0">
                <a:solidFill>
                  <a:prstClr val="black"/>
                </a:solidFill>
              </a:rPr>
              <a:t>	repeat</a:t>
            </a:r>
          </a:p>
          <a:p>
            <a:pPr marL="0" indent="0" eaLnBrk="0" fontAlgn="base" hangingPunct="0">
              <a:spcBef>
                <a:spcPct val="20000"/>
              </a:spcBef>
              <a:spcAft>
                <a:spcPct val="0"/>
              </a:spcAft>
              <a:buFont typeface="Arial" panose="020B0604020202020204" pitchFamily="34" charset="0"/>
              <a:buNone/>
              <a:tabLst>
                <a:tab pos="168275" algn="l"/>
                <a:tab pos="347663" algn="l"/>
                <a:tab pos="525463" algn="l"/>
              </a:tabLst>
            </a:pPr>
            <a:r>
              <a:rPr lang="en-US" sz="1600" dirty="0">
                <a:solidFill>
                  <a:srgbClr val="FF0000"/>
                </a:solidFill>
              </a:rPr>
              <a:t>		while (not </a:t>
            </a:r>
            <a:r>
              <a:rPr lang="en-US" sz="1600" dirty="0" err="1">
                <a:solidFill>
                  <a:srgbClr val="FF0000"/>
                </a:solidFill>
              </a:rPr>
              <a:t>holding_both_chopsticks</a:t>
            </a:r>
            <a:r>
              <a:rPr lang="en-US" sz="1600" dirty="0">
                <a:solidFill>
                  <a:srgbClr val="FF0000"/>
                </a:solidFill>
              </a:rPr>
              <a:t>) {</a:t>
            </a:r>
          </a:p>
          <a:p>
            <a:pPr marL="0" lvl="2" indent="0">
              <a:buFont typeface="Arial" panose="020B0604020202020204" pitchFamily="34" charset="0"/>
              <a:buNone/>
              <a:tabLst>
                <a:tab pos="168275" algn="l"/>
                <a:tab pos="347663" algn="l"/>
                <a:tab pos="525463" algn="l"/>
              </a:tabLst>
            </a:pPr>
            <a:r>
              <a:rPr lang="en-US" sz="1600" dirty="0">
                <a:solidFill>
                  <a:srgbClr val="FF0000"/>
                </a:solidFill>
              </a:rPr>
              <a:t>			lock(c[</a:t>
            </a:r>
            <a:r>
              <a:rPr lang="en-US" sz="1600" dirty="0" err="1">
                <a:solidFill>
                  <a:srgbClr val="FF0000"/>
                </a:solidFill>
              </a:rPr>
              <a:t>i</a:t>
            </a:r>
            <a:r>
              <a:rPr lang="en-US" sz="1600" dirty="0">
                <a:solidFill>
                  <a:srgbClr val="FF0000"/>
                </a:solidFill>
              </a:rPr>
              <a:t>]) </a:t>
            </a:r>
          </a:p>
          <a:p>
            <a:pPr marL="0" lvl="2" indent="0">
              <a:buFont typeface="Arial" panose="020B0604020202020204" pitchFamily="34" charset="0"/>
              <a:buNone/>
              <a:tabLst>
                <a:tab pos="168275" algn="l"/>
                <a:tab pos="347663" algn="l"/>
                <a:tab pos="525463" algn="l"/>
              </a:tabLst>
            </a:pPr>
            <a:r>
              <a:rPr lang="en-US" sz="1600" dirty="0">
                <a:solidFill>
                  <a:srgbClr val="FF0000"/>
                </a:solidFill>
              </a:rPr>
              <a:t>			if !</a:t>
            </a:r>
            <a:r>
              <a:rPr lang="en-US" sz="1600" dirty="0" err="1">
                <a:solidFill>
                  <a:srgbClr val="FF0000"/>
                </a:solidFill>
              </a:rPr>
              <a:t>trylock</a:t>
            </a:r>
            <a:r>
              <a:rPr lang="en-US" sz="1600" dirty="0">
                <a:solidFill>
                  <a:srgbClr val="FF0000"/>
                </a:solidFill>
              </a:rPr>
              <a:t>(c[(i+1)%n]) then release(c[</a:t>
            </a:r>
            <a:r>
              <a:rPr lang="en-US" sz="1600" dirty="0" err="1">
                <a:solidFill>
                  <a:srgbClr val="FF0000"/>
                </a:solidFill>
              </a:rPr>
              <a:t>i</a:t>
            </a:r>
            <a:r>
              <a:rPr lang="en-US" sz="1600" dirty="0">
                <a:solidFill>
                  <a:srgbClr val="FF0000"/>
                </a:solidFill>
              </a:rPr>
              <a:t>])</a:t>
            </a:r>
          </a:p>
          <a:p>
            <a:pPr marL="0" lvl="2" indent="0">
              <a:buFont typeface="Arial" panose="020B0604020202020204" pitchFamily="34" charset="0"/>
              <a:buNone/>
              <a:tabLst>
                <a:tab pos="168275" algn="l"/>
                <a:tab pos="347663" algn="l"/>
                <a:tab pos="525463" algn="l"/>
              </a:tabLst>
            </a:pPr>
            <a:r>
              <a:rPr lang="en-US" sz="1600" dirty="0">
                <a:solidFill>
                  <a:srgbClr val="FF0000"/>
                </a:solidFill>
              </a:rPr>
              <a:t>			else </a:t>
            </a:r>
            <a:r>
              <a:rPr lang="en-US" sz="1600" dirty="0" err="1">
                <a:solidFill>
                  <a:srgbClr val="FF0000"/>
                </a:solidFill>
              </a:rPr>
              <a:t>holding_both_chopsticks</a:t>
            </a:r>
            <a:r>
              <a:rPr lang="en-US" sz="1600" dirty="0">
                <a:solidFill>
                  <a:srgbClr val="FF0000"/>
                </a:solidFill>
              </a:rPr>
              <a:t> := true }</a:t>
            </a:r>
          </a:p>
          <a:p>
            <a:pPr marL="0" lvl="1" indent="0">
              <a:buFont typeface="Arial" panose="020B0604020202020204" pitchFamily="34" charset="0"/>
              <a:buNone/>
              <a:tabLst>
                <a:tab pos="168275" algn="l"/>
                <a:tab pos="347663" algn="l"/>
                <a:tab pos="525463" algn="l"/>
              </a:tabLst>
            </a:pPr>
            <a:r>
              <a:rPr lang="en-US" sz="1600" dirty="0"/>
              <a:t>		</a:t>
            </a:r>
            <a:r>
              <a:rPr lang="en-US" sz="1600" dirty="0">
                <a:solidFill>
                  <a:schemeClr val="bg1">
                    <a:lumMod val="50000"/>
                  </a:schemeClr>
                </a:solidFill>
              </a:rPr>
              <a:t>// Eat</a:t>
            </a:r>
          </a:p>
          <a:p>
            <a:pPr marL="0" lvl="1" indent="0">
              <a:buFont typeface="Arial" panose="020B0604020202020204" pitchFamily="34" charset="0"/>
              <a:buNone/>
              <a:tabLst>
                <a:tab pos="168275" algn="l"/>
                <a:tab pos="347663" algn="l"/>
                <a:tab pos="525463" algn="l"/>
              </a:tabLst>
            </a:pPr>
            <a:r>
              <a:rPr lang="en-US" sz="1600" dirty="0">
                <a:solidFill>
                  <a:srgbClr val="FF0000"/>
                </a:solidFill>
              </a:rPr>
              <a:t>		release(c[</a:t>
            </a:r>
            <a:r>
              <a:rPr lang="en-US" sz="1600" dirty="0" err="1">
                <a:solidFill>
                  <a:srgbClr val="FF0000"/>
                </a:solidFill>
              </a:rPr>
              <a:t>i</a:t>
            </a:r>
            <a:r>
              <a:rPr lang="en-US" sz="1600" dirty="0">
                <a:solidFill>
                  <a:srgbClr val="FF0000"/>
                </a:solidFill>
              </a:rPr>
              <a:t>])</a:t>
            </a:r>
          </a:p>
          <a:p>
            <a:pPr marL="0" lvl="1" indent="0">
              <a:buFont typeface="Arial" panose="020B0604020202020204" pitchFamily="34" charset="0"/>
              <a:buNone/>
              <a:tabLst>
                <a:tab pos="168275" algn="l"/>
                <a:tab pos="347663" algn="l"/>
                <a:tab pos="525463" algn="l"/>
              </a:tabLst>
            </a:pPr>
            <a:r>
              <a:rPr lang="en-US" sz="1600" dirty="0">
                <a:solidFill>
                  <a:srgbClr val="FF0000"/>
                </a:solidFill>
              </a:rPr>
              <a:t>		release(c[(i+1)%n]) </a:t>
            </a:r>
          </a:p>
          <a:p>
            <a:pPr marL="0" lvl="1" indent="0">
              <a:buFont typeface="Arial" panose="020B0604020202020204" pitchFamily="34" charset="0"/>
              <a:buNone/>
              <a:tabLst>
                <a:tab pos="168275" algn="l"/>
                <a:tab pos="347663" algn="l"/>
                <a:tab pos="525463" algn="l"/>
              </a:tabLst>
            </a:pPr>
            <a:r>
              <a:rPr lang="en-US" sz="1600" dirty="0">
                <a:solidFill>
                  <a:srgbClr val="FF0000"/>
                </a:solidFill>
              </a:rPr>
              <a:t>		</a:t>
            </a:r>
            <a:r>
              <a:rPr lang="en-US" sz="1600" dirty="0" err="1">
                <a:solidFill>
                  <a:srgbClr val="FF0000"/>
                </a:solidFill>
              </a:rPr>
              <a:t>holding_both_chopsticks</a:t>
            </a:r>
            <a:r>
              <a:rPr lang="en-US" sz="1600" dirty="0">
                <a:solidFill>
                  <a:srgbClr val="FF0000"/>
                </a:solidFill>
              </a:rPr>
              <a:t> := false </a:t>
            </a:r>
          </a:p>
          <a:p>
            <a:pPr marL="0" lvl="1" indent="0">
              <a:buFont typeface="Arial" panose="020B0604020202020204" pitchFamily="34" charset="0"/>
              <a:buNone/>
              <a:tabLst>
                <a:tab pos="168275" algn="l"/>
                <a:tab pos="347663" algn="l"/>
                <a:tab pos="525463" algn="l"/>
              </a:tabLst>
            </a:pPr>
            <a:r>
              <a:rPr lang="en-US" sz="1600" dirty="0">
                <a:solidFill>
                  <a:schemeClr val="bg1">
                    <a:lumMod val="50000"/>
                  </a:schemeClr>
                </a:solidFill>
              </a:rPr>
              <a:t>		// Think</a:t>
            </a:r>
          </a:p>
          <a:p>
            <a:pPr marL="0" indent="0" eaLnBrk="0" fontAlgn="base" hangingPunct="0">
              <a:spcBef>
                <a:spcPct val="20000"/>
              </a:spcBef>
              <a:spcAft>
                <a:spcPct val="0"/>
              </a:spcAft>
              <a:buFont typeface="Arial" panose="020B0604020202020204" pitchFamily="34" charset="0"/>
              <a:buNone/>
              <a:tabLst>
                <a:tab pos="168275" algn="l"/>
                <a:tab pos="347663" algn="l"/>
                <a:tab pos="525463" algn="l"/>
              </a:tabLst>
            </a:pPr>
            <a:r>
              <a:rPr lang="en-US" sz="1600" dirty="0">
                <a:solidFill>
                  <a:prstClr val="black"/>
                </a:solidFill>
              </a:rPr>
              <a:t>forever</a:t>
            </a:r>
          </a:p>
          <a:p>
            <a:pPr marL="0" indent="0" eaLnBrk="0" fontAlgn="base" hangingPunct="0">
              <a:spcBef>
                <a:spcPct val="20000"/>
              </a:spcBef>
              <a:spcAft>
                <a:spcPct val="0"/>
              </a:spcAft>
              <a:buFont typeface="Arial" panose="020B0604020202020204" pitchFamily="34" charset="0"/>
              <a:buNone/>
              <a:tabLst>
                <a:tab pos="168275" algn="l"/>
                <a:tab pos="347663" algn="l"/>
                <a:tab pos="525463" algn="l"/>
              </a:tabLst>
            </a:pPr>
            <a:endParaRPr lang="en-US" sz="1600" dirty="0">
              <a:solidFill>
                <a:prstClr val="black"/>
              </a:solidFill>
            </a:endParaRPr>
          </a:p>
        </p:txBody>
      </p:sp>
      <p:sp>
        <p:nvSpPr>
          <p:cNvPr id="9" name="Oval 8">
            <a:extLst>
              <a:ext uri="{FF2B5EF4-FFF2-40B4-BE49-F238E27FC236}">
                <a16:creationId xmlns:a16="http://schemas.microsoft.com/office/drawing/2014/main" id="{57DC90D1-EEB6-CAED-CF94-91BA7E44BE9D}"/>
              </a:ext>
            </a:extLst>
          </p:cNvPr>
          <p:cNvSpPr/>
          <p:nvPr/>
        </p:nvSpPr>
        <p:spPr>
          <a:xfrm>
            <a:off x="6741724" y="2451727"/>
            <a:ext cx="3722028" cy="55675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893E6738-B4D0-A930-6F00-6FFF8FDBFFF9}"/>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9470034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2250A-5E5B-70FA-6A31-6DB2BEB91011}"/>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9227323-B622-2A52-0358-95FA49351F66}"/>
              </a:ext>
            </a:extLst>
          </p:cNvPr>
          <p:cNvSpPr>
            <a:spLocks noGrp="1"/>
          </p:cNvSpPr>
          <p:nvPr>
            <p:ph idx="1"/>
          </p:nvPr>
        </p:nvSpPr>
        <p:spPr/>
        <p:txBody>
          <a:bodyPr>
            <a:normAutofit lnSpcReduction="10000"/>
          </a:bodyPr>
          <a:lstStyle/>
          <a:p>
            <a:r>
              <a:rPr lang="en-US" dirty="0">
                <a:solidFill>
                  <a:schemeClr val="bg1">
                    <a:lumMod val="50000"/>
                  </a:schemeClr>
                </a:solidFill>
              </a:rPr>
              <a:t>Bounded-buffer producer/consumer</a:t>
            </a:r>
          </a:p>
          <a:p>
            <a:r>
              <a:rPr lang="en-US" dirty="0">
                <a:solidFill>
                  <a:schemeClr val="bg1">
                    <a:lumMod val="50000"/>
                  </a:schemeClr>
                </a:solidFill>
              </a:rPr>
              <a:t>Resource allocation, deadlocks, and necessary conditions for deadlocks</a:t>
            </a:r>
          </a:p>
          <a:p>
            <a:r>
              <a:rPr lang="en-US" dirty="0"/>
              <a:t>Dining philosophers</a:t>
            </a:r>
          </a:p>
          <a:p>
            <a:pPr lvl="1"/>
            <a:r>
              <a:rPr lang="en-US" dirty="0">
                <a:solidFill>
                  <a:schemeClr val="bg1">
                    <a:lumMod val="50000"/>
                  </a:schemeClr>
                </a:solidFill>
              </a:rPr>
              <a:t>without circular wait</a:t>
            </a:r>
          </a:p>
          <a:p>
            <a:pPr lvl="1"/>
            <a:r>
              <a:rPr lang="en-US" dirty="0">
                <a:solidFill>
                  <a:schemeClr val="bg1">
                    <a:lumMod val="50000"/>
                  </a:schemeClr>
                </a:solidFill>
              </a:rPr>
              <a:t>without no-preemption</a:t>
            </a:r>
          </a:p>
          <a:p>
            <a:pPr lvl="1"/>
            <a:r>
              <a:rPr lang="en-US" dirty="0"/>
              <a:t>without hold-and-wait</a:t>
            </a:r>
          </a:p>
          <a:p>
            <a:r>
              <a:rPr lang="en-US" dirty="0" err="1">
                <a:solidFill>
                  <a:schemeClr val="bg1">
                    <a:lumMod val="50000"/>
                  </a:schemeClr>
                </a:solidFill>
              </a:rPr>
              <a:t>Lamport’s</a:t>
            </a:r>
            <a:r>
              <a:rPr lang="en-US" dirty="0">
                <a:solidFill>
                  <a:schemeClr val="bg1">
                    <a:lumMod val="50000"/>
                  </a:schemeClr>
                </a:solidFill>
              </a:rPr>
              <a:t> bakery algorithm</a:t>
            </a:r>
          </a:p>
          <a:p>
            <a:r>
              <a:rPr lang="en-US" dirty="0">
                <a:solidFill>
                  <a:schemeClr val="bg1">
                    <a:lumMod val="50000"/>
                  </a:schemeClr>
                </a:solidFill>
              </a:rPr>
              <a:t>Readers/Writers problem</a:t>
            </a:r>
          </a:p>
          <a:p>
            <a:r>
              <a:rPr lang="en-US" dirty="0">
                <a:solidFill>
                  <a:schemeClr val="bg1">
                    <a:lumMod val="50000"/>
                  </a:schemeClr>
                </a:solidFill>
              </a:rPr>
              <a:t>OS as arbitrator for deadlock avoidance/recovery</a:t>
            </a:r>
          </a:p>
          <a:p>
            <a:pPr lvl="1"/>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97699DB7-C3E7-A0E7-5C2B-F82F4796A318}"/>
              </a:ext>
            </a:extLst>
          </p:cNvPr>
          <p:cNvSpPr>
            <a:spLocks noGrp="1"/>
          </p:cNvSpPr>
          <p:nvPr>
            <p:ph type="sldNum" sz="quarter" idx="12"/>
          </p:nvPr>
        </p:nvSpPr>
        <p:spPr/>
        <p:txBody>
          <a:bodyPr/>
          <a:lstStyle/>
          <a:p>
            <a:fld id="{67FCC1A6-2294-BF46-A2F7-E6BDB92DF1BF}" type="slidenum">
              <a:rPr lang="en-US" smtClean="0"/>
              <a:t>26</a:t>
            </a:fld>
            <a:endParaRPr lang="en-US"/>
          </a:p>
        </p:txBody>
      </p:sp>
      <p:sp>
        <p:nvSpPr>
          <p:cNvPr id="5" name="Date Placeholder 4">
            <a:extLst>
              <a:ext uri="{FF2B5EF4-FFF2-40B4-BE49-F238E27FC236}">
                <a16:creationId xmlns:a16="http://schemas.microsoft.com/office/drawing/2014/main" id="{7DFE7C32-4A76-846B-718D-330DD7B8B07B}"/>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5076212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p:cNvSpPr>
            <a:spLocks noGrp="1"/>
          </p:cNvSpPr>
          <p:nvPr>
            <p:ph type="sldNum" sz="quarter" idx="12"/>
          </p:nvPr>
        </p:nvSpPr>
        <p:spPr>
          <a:noFill/>
        </p:spPr>
        <p:txBody>
          <a:bodyPr/>
          <a:lstStyle/>
          <a:p>
            <a:fld id="{9EC81DAD-A1CF-4364-9C76-D341AA98445A}" type="slidenum">
              <a:rPr lang="en-US" smtClean="0">
                <a:solidFill>
                  <a:prstClr val="black">
                    <a:tint val="75000"/>
                  </a:prstClr>
                </a:solidFill>
              </a:rPr>
              <a:pPr/>
              <a:t>27</a:t>
            </a:fld>
            <a:endParaRPr lang="en-US">
              <a:solidFill>
                <a:prstClr val="black">
                  <a:tint val="75000"/>
                </a:prstClr>
              </a:solidFill>
            </a:endParaRPr>
          </a:p>
        </p:txBody>
      </p:sp>
      <p:sp>
        <p:nvSpPr>
          <p:cNvPr id="193540" name="Rectangle 4"/>
          <p:cNvSpPr>
            <a:spLocks noChangeArrowheads="1"/>
          </p:cNvSpPr>
          <p:nvPr/>
        </p:nvSpPr>
        <p:spPr bwMode="auto">
          <a:xfrm>
            <a:off x="294184" y="1143001"/>
            <a:ext cx="4881498" cy="2834196"/>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p>
            <a:pPr eaLnBrk="0" fontAlgn="base" hangingPunct="0">
              <a:lnSpc>
                <a:spcPct val="90000"/>
              </a:lnSpc>
              <a:spcBef>
                <a:spcPct val="20000"/>
              </a:spcBef>
              <a:spcAft>
                <a:spcPct val="0"/>
              </a:spcAft>
              <a:tabLst>
                <a:tab pos="168275" algn="l"/>
                <a:tab pos="347663" algn="l"/>
                <a:tab pos="525463" algn="l"/>
              </a:tabLst>
            </a:pPr>
            <a:r>
              <a:rPr lang="en-US" sz="1600" dirty="0">
                <a:solidFill>
                  <a:prstClr val="black"/>
                </a:solidFill>
              </a:rPr>
              <a:t>shared var semaphore S[0 .. n-1] </a:t>
            </a:r>
            <a:r>
              <a:rPr lang="en-US" sz="1600" dirty="0">
                <a:solidFill>
                  <a:schemeClr val="bg1">
                    <a:lumMod val="50000"/>
                  </a:schemeClr>
                </a:solidFill>
              </a:rPr>
              <a:t>// </a:t>
            </a:r>
            <a:r>
              <a:rPr lang="en-US" sz="1600" dirty="0" err="1">
                <a:solidFill>
                  <a:schemeClr val="bg1">
                    <a:lumMod val="50000"/>
                  </a:schemeClr>
                </a:solidFill>
              </a:rPr>
              <a:t>init</a:t>
            </a:r>
            <a:r>
              <a:rPr lang="en-US" sz="1600" dirty="0">
                <a:solidFill>
                  <a:schemeClr val="bg1">
                    <a:lumMod val="50000"/>
                  </a:schemeClr>
                </a:solidFill>
              </a:rPr>
              <a:t> all 0</a:t>
            </a:r>
          </a:p>
          <a:p>
            <a:pPr eaLnBrk="0" fontAlgn="base" hangingPunct="0">
              <a:lnSpc>
                <a:spcPct val="90000"/>
              </a:lnSpc>
              <a:spcBef>
                <a:spcPct val="20000"/>
              </a:spcBef>
              <a:spcAft>
                <a:spcPct val="0"/>
              </a:spcAft>
              <a:tabLst>
                <a:tab pos="168275" algn="l"/>
                <a:tab pos="347663" algn="l"/>
                <a:tab pos="525463" algn="l"/>
              </a:tabLst>
            </a:pPr>
            <a:r>
              <a:rPr lang="en-US" sz="1600" dirty="0">
                <a:solidFill>
                  <a:prstClr val="black"/>
                </a:solidFill>
              </a:rPr>
              <a:t>shared var semaphore mutex </a:t>
            </a:r>
            <a:r>
              <a:rPr lang="en-US" sz="1600" dirty="0">
                <a:solidFill>
                  <a:schemeClr val="bg1">
                    <a:lumMod val="50000"/>
                  </a:schemeClr>
                </a:solidFill>
              </a:rPr>
              <a:t>// </a:t>
            </a:r>
            <a:r>
              <a:rPr lang="en-US" sz="1600" dirty="0" err="1">
                <a:solidFill>
                  <a:schemeClr val="bg1">
                    <a:lumMod val="50000"/>
                  </a:schemeClr>
                </a:solidFill>
              </a:rPr>
              <a:t>init</a:t>
            </a:r>
            <a:r>
              <a:rPr lang="en-US" sz="1600" dirty="0">
                <a:solidFill>
                  <a:schemeClr val="bg1">
                    <a:lumMod val="50000"/>
                  </a:schemeClr>
                </a:solidFill>
              </a:rPr>
              <a:t> 1</a:t>
            </a:r>
          </a:p>
          <a:p>
            <a:pPr eaLnBrk="0" fontAlgn="base" hangingPunct="0">
              <a:lnSpc>
                <a:spcPct val="90000"/>
              </a:lnSpc>
              <a:spcBef>
                <a:spcPct val="20000"/>
              </a:spcBef>
              <a:spcAft>
                <a:spcPct val="0"/>
              </a:spcAft>
              <a:tabLst>
                <a:tab pos="168275" algn="l"/>
                <a:tab pos="347663" algn="l"/>
                <a:tab pos="525463" algn="l"/>
              </a:tabLst>
            </a:pPr>
            <a:r>
              <a:rPr lang="en-US" sz="1600" dirty="0">
                <a:solidFill>
                  <a:prstClr val="black"/>
                </a:solidFill>
              </a:rPr>
              <a:t>shared var state[0 .. n-1] in {HUNGRY, THINKING,EATING}</a:t>
            </a:r>
          </a:p>
          <a:p>
            <a:pPr eaLnBrk="0" fontAlgn="base" hangingPunct="0">
              <a:lnSpc>
                <a:spcPct val="90000"/>
              </a:lnSpc>
              <a:spcBef>
                <a:spcPct val="20000"/>
              </a:spcBef>
              <a:spcAft>
                <a:spcPct val="0"/>
              </a:spcAft>
              <a:tabLst>
                <a:tab pos="168275" algn="l"/>
                <a:tab pos="347663" algn="l"/>
                <a:tab pos="525463" algn="l"/>
              </a:tabLst>
            </a:pPr>
            <a:r>
              <a:rPr lang="en-US" sz="1600" dirty="0">
                <a:solidFill>
                  <a:prstClr val="black"/>
                </a:solidFill>
              </a:rPr>
              <a:t>P</a:t>
            </a:r>
            <a:r>
              <a:rPr lang="en-US" sz="1600" baseline="-25000" dirty="0">
                <a:solidFill>
                  <a:prstClr val="black"/>
                </a:solidFill>
              </a:rPr>
              <a:t>i</a:t>
            </a:r>
            <a:r>
              <a:rPr lang="en-US" sz="1600" dirty="0">
                <a:solidFill>
                  <a:prstClr val="black"/>
                </a:solidFill>
              </a:rPr>
              <a:t>: </a:t>
            </a:r>
          </a:p>
          <a:p>
            <a:pPr eaLnBrk="0" fontAlgn="base" hangingPunct="0">
              <a:lnSpc>
                <a:spcPct val="90000"/>
              </a:lnSpc>
              <a:spcBef>
                <a:spcPct val="20000"/>
              </a:spcBef>
              <a:spcAft>
                <a:spcPct val="0"/>
              </a:spcAft>
              <a:tabLst>
                <a:tab pos="168275" algn="l"/>
                <a:tab pos="347663" algn="l"/>
                <a:tab pos="525463" algn="l"/>
              </a:tabLst>
            </a:pPr>
            <a:r>
              <a:rPr lang="en-US" sz="1600" dirty="0">
                <a:solidFill>
                  <a:prstClr val="black"/>
                </a:solidFill>
              </a:rPr>
              <a:t>do</a:t>
            </a:r>
          </a:p>
          <a:p>
            <a:pPr marL="0" lvl="2">
              <a:lnSpc>
                <a:spcPct val="90000"/>
              </a:lnSpc>
              <a:spcBef>
                <a:spcPts val="500"/>
              </a:spcBef>
              <a:tabLst>
                <a:tab pos="168275" algn="l"/>
                <a:tab pos="347663" algn="l"/>
                <a:tab pos="525463" algn="l"/>
              </a:tabLst>
            </a:pPr>
            <a:r>
              <a:rPr lang="en-US" sz="1600" dirty="0">
                <a:solidFill>
                  <a:srgbClr val="FF0000"/>
                </a:solidFill>
              </a:rPr>
              <a:t>	</a:t>
            </a:r>
            <a:r>
              <a:rPr lang="en-US" sz="1600" dirty="0">
                <a:solidFill>
                  <a:schemeClr val="bg1">
                    <a:lumMod val="50000"/>
                  </a:schemeClr>
                </a:solidFill>
              </a:rPr>
              <a:t>// think</a:t>
            </a:r>
          </a:p>
          <a:p>
            <a:pPr marL="0" lvl="2">
              <a:lnSpc>
                <a:spcPct val="90000"/>
              </a:lnSpc>
              <a:spcBef>
                <a:spcPts val="500"/>
              </a:spcBef>
              <a:tabLst>
                <a:tab pos="168275" algn="l"/>
                <a:tab pos="347663" algn="l"/>
                <a:tab pos="525463" algn="l"/>
              </a:tabLst>
            </a:pPr>
            <a:r>
              <a:rPr lang="en-US" sz="1600" dirty="0">
                <a:solidFill>
                  <a:srgbClr val="FF0000"/>
                </a:solidFill>
              </a:rPr>
              <a:t>	</a:t>
            </a:r>
            <a:r>
              <a:rPr lang="en-US" sz="1600" dirty="0" err="1">
                <a:solidFill>
                  <a:srgbClr val="FF0000"/>
                </a:solidFill>
              </a:rPr>
              <a:t>enterCS</a:t>
            </a:r>
            <a:r>
              <a:rPr lang="en-US" sz="1600" dirty="0">
                <a:solidFill>
                  <a:srgbClr val="FF0000"/>
                </a:solidFill>
              </a:rPr>
              <a:t>(</a:t>
            </a:r>
            <a:r>
              <a:rPr lang="en-US" sz="1600" dirty="0" err="1">
                <a:solidFill>
                  <a:srgbClr val="FF0000"/>
                </a:solidFill>
              </a:rPr>
              <a:t>i</a:t>
            </a:r>
            <a:r>
              <a:rPr lang="en-US" sz="1600" dirty="0">
                <a:solidFill>
                  <a:srgbClr val="FF0000"/>
                </a:solidFill>
              </a:rPr>
              <a:t>) // i.e., get both chopsticks</a:t>
            </a:r>
          </a:p>
          <a:p>
            <a:pPr marL="0" lvl="2">
              <a:lnSpc>
                <a:spcPct val="90000"/>
              </a:lnSpc>
              <a:spcBef>
                <a:spcPts val="500"/>
              </a:spcBef>
              <a:tabLst>
                <a:tab pos="168275" algn="l"/>
                <a:tab pos="347663" algn="l"/>
                <a:tab pos="525463" algn="l"/>
              </a:tabLst>
            </a:pPr>
            <a:r>
              <a:rPr lang="en-US" sz="1600" dirty="0">
                <a:solidFill>
                  <a:srgbClr val="FF0000"/>
                </a:solidFill>
              </a:rPr>
              <a:t>	</a:t>
            </a:r>
            <a:r>
              <a:rPr lang="en-US" sz="1600" dirty="0">
                <a:solidFill>
                  <a:schemeClr val="bg1">
                    <a:lumMod val="50000"/>
                  </a:schemeClr>
                </a:solidFill>
              </a:rPr>
              <a:t>// eat</a:t>
            </a:r>
          </a:p>
          <a:p>
            <a:pPr marL="0" lvl="2">
              <a:lnSpc>
                <a:spcPct val="90000"/>
              </a:lnSpc>
              <a:spcBef>
                <a:spcPts val="500"/>
              </a:spcBef>
              <a:tabLst>
                <a:tab pos="168275" algn="l"/>
                <a:tab pos="347663" algn="l"/>
                <a:tab pos="525463" algn="l"/>
              </a:tabLst>
            </a:pPr>
            <a:r>
              <a:rPr lang="en-US" sz="1600" dirty="0">
                <a:solidFill>
                  <a:srgbClr val="FF0000"/>
                </a:solidFill>
              </a:rPr>
              <a:t>	</a:t>
            </a:r>
            <a:r>
              <a:rPr lang="en-US" sz="1600" dirty="0" err="1">
                <a:solidFill>
                  <a:srgbClr val="FF0000"/>
                </a:solidFill>
              </a:rPr>
              <a:t>exitCS</a:t>
            </a:r>
            <a:r>
              <a:rPr lang="en-US" sz="1600" dirty="0">
                <a:solidFill>
                  <a:srgbClr val="FF0000"/>
                </a:solidFill>
              </a:rPr>
              <a:t>(</a:t>
            </a:r>
            <a:r>
              <a:rPr lang="en-US" sz="1600" dirty="0" err="1">
                <a:solidFill>
                  <a:srgbClr val="FF0000"/>
                </a:solidFill>
              </a:rPr>
              <a:t>i</a:t>
            </a:r>
            <a:r>
              <a:rPr lang="en-US" sz="1600" dirty="0">
                <a:solidFill>
                  <a:srgbClr val="FF0000"/>
                </a:solidFill>
              </a:rPr>
              <a:t>) // i.e., leave chopsticks</a:t>
            </a:r>
          </a:p>
          <a:p>
            <a:pPr eaLnBrk="0" fontAlgn="base" hangingPunct="0">
              <a:lnSpc>
                <a:spcPct val="90000"/>
              </a:lnSpc>
              <a:spcBef>
                <a:spcPct val="20000"/>
              </a:spcBef>
              <a:spcAft>
                <a:spcPct val="0"/>
              </a:spcAft>
              <a:tabLst>
                <a:tab pos="168275" algn="l"/>
                <a:tab pos="347663" algn="l"/>
                <a:tab pos="525463" algn="l"/>
              </a:tabLst>
            </a:pPr>
            <a:r>
              <a:rPr lang="en-US" sz="1600" dirty="0">
                <a:solidFill>
                  <a:prstClr val="black"/>
                </a:solidFill>
              </a:rPr>
              <a:t>forever</a:t>
            </a:r>
          </a:p>
        </p:txBody>
      </p:sp>
      <p:sp>
        <p:nvSpPr>
          <p:cNvPr id="7" name="Rectangle 4"/>
          <p:cNvSpPr>
            <a:spLocks noChangeArrowheads="1"/>
          </p:cNvSpPr>
          <p:nvPr/>
        </p:nvSpPr>
        <p:spPr bwMode="auto">
          <a:xfrm>
            <a:off x="9256904" y="1143001"/>
            <a:ext cx="2222375" cy="1760894"/>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p>
            <a:pPr marL="457200" indent="-404813" eaLnBrk="0" fontAlgn="base" hangingPunct="0">
              <a:lnSpc>
                <a:spcPct val="90000"/>
              </a:lnSpc>
              <a:spcBef>
                <a:spcPct val="20000"/>
              </a:spcBef>
              <a:spcAft>
                <a:spcPct val="0"/>
              </a:spcAft>
              <a:tabLst>
                <a:tab pos="615950" algn="l"/>
              </a:tabLst>
            </a:pPr>
            <a:r>
              <a:rPr lang="en-US" sz="1600" b="1" dirty="0" err="1">
                <a:solidFill>
                  <a:prstClr val="black"/>
                </a:solidFill>
              </a:rPr>
              <a:t>enterCS</a:t>
            </a:r>
            <a:r>
              <a:rPr lang="en-US" sz="1600" b="1" dirty="0">
                <a:solidFill>
                  <a:prstClr val="black"/>
                </a:solidFill>
              </a:rPr>
              <a:t>(</a:t>
            </a:r>
            <a:r>
              <a:rPr lang="en-US" sz="1600" b="1" dirty="0" err="1">
                <a:solidFill>
                  <a:prstClr val="black"/>
                </a:solidFill>
              </a:rPr>
              <a:t>i</a:t>
            </a:r>
            <a:r>
              <a:rPr lang="en-US" sz="1600" b="1" dirty="0">
                <a:solidFill>
                  <a:prstClr val="black"/>
                </a:solidFill>
              </a:rPr>
              <a:t>)</a:t>
            </a:r>
          </a:p>
          <a:p>
            <a:pPr marL="184150" lvl="1" indent="-131763">
              <a:tabLst>
                <a:tab pos="263525" algn="l"/>
              </a:tabLst>
            </a:pPr>
            <a:r>
              <a:rPr lang="en-US" dirty="0">
                <a:solidFill>
                  <a:srgbClr val="FF0000"/>
                </a:solidFill>
              </a:rPr>
              <a:t>	wait(mutex)</a:t>
            </a:r>
          </a:p>
          <a:p>
            <a:pPr marL="184150" lvl="1" indent="-131763">
              <a:tabLst>
                <a:tab pos="263525" algn="l"/>
              </a:tabLst>
            </a:pPr>
            <a:r>
              <a:rPr lang="en-US" dirty="0">
                <a:solidFill>
                  <a:schemeClr val="tx1"/>
                </a:solidFill>
              </a:rPr>
              <a:t>	state(</a:t>
            </a:r>
            <a:r>
              <a:rPr lang="en-US" dirty="0" err="1">
                <a:solidFill>
                  <a:schemeClr val="tx1"/>
                </a:solidFill>
              </a:rPr>
              <a:t>i</a:t>
            </a:r>
            <a:r>
              <a:rPr lang="en-US" dirty="0">
                <a:solidFill>
                  <a:schemeClr val="tx1"/>
                </a:solidFill>
              </a:rPr>
              <a:t>) := HUNGRY</a:t>
            </a:r>
          </a:p>
          <a:p>
            <a:pPr marL="184150" lvl="1" indent="-131763">
              <a:tabLst>
                <a:tab pos="263525" algn="l"/>
              </a:tabLst>
            </a:pPr>
            <a:r>
              <a:rPr lang="en-US" dirty="0">
                <a:solidFill>
                  <a:schemeClr val="tx1"/>
                </a:solidFill>
              </a:rPr>
              <a:t>	help(</a:t>
            </a:r>
            <a:r>
              <a:rPr lang="en-US" dirty="0" err="1">
                <a:solidFill>
                  <a:schemeClr val="tx1"/>
                </a:solidFill>
              </a:rPr>
              <a:t>i</a:t>
            </a:r>
            <a:r>
              <a:rPr lang="en-US" dirty="0">
                <a:solidFill>
                  <a:schemeClr val="tx1"/>
                </a:solidFill>
              </a:rPr>
              <a:t>)</a:t>
            </a:r>
          </a:p>
          <a:p>
            <a:pPr marL="184150" lvl="1" indent="-131763">
              <a:tabLst>
                <a:tab pos="263525" algn="l"/>
              </a:tabLst>
            </a:pPr>
            <a:r>
              <a:rPr lang="en-US" dirty="0">
                <a:solidFill>
                  <a:srgbClr val="FF0000"/>
                </a:solidFill>
              </a:rPr>
              <a:t>	signal(mutex)</a:t>
            </a:r>
          </a:p>
          <a:p>
            <a:pPr marL="184150" lvl="1" indent="-131763">
              <a:tabLst>
                <a:tab pos="263525" algn="l"/>
              </a:tabLst>
            </a:pPr>
            <a:r>
              <a:rPr lang="en-US" dirty="0">
                <a:solidFill>
                  <a:srgbClr val="FF0000"/>
                </a:solidFill>
              </a:rPr>
              <a:t>	wait(S[</a:t>
            </a:r>
            <a:r>
              <a:rPr lang="en-US" dirty="0" err="1">
                <a:solidFill>
                  <a:srgbClr val="FF0000"/>
                </a:solidFill>
              </a:rPr>
              <a:t>i</a:t>
            </a:r>
            <a:r>
              <a:rPr lang="en-US" dirty="0">
                <a:solidFill>
                  <a:srgbClr val="FF0000"/>
                </a:solidFill>
              </a:rPr>
              <a:t>])</a:t>
            </a:r>
          </a:p>
        </p:txBody>
      </p:sp>
      <p:sp>
        <p:nvSpPr>
          <p:cNvPr id="8" name="Rectangle 4"/>
          <p:cNvSpPr>
            <a:spLocks noChangeArrowheads="1"/>
          </p:cNvSpPr>
          <p:nvPr/>
        </p:nvSpPr>
        <p:spPr bwMode="auto">
          <a:xfrm>
            <a:off x="9256904" y="3073659"/>
            <a:ext cx="2222375" cy="1760894"/>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p>
            <a:pPr marL="139700" indent="-87313" eaLnBrk="0" fontAlgn="base" hangingPunct="0">
              <a:lnSpc>
                <a:spcPct val="90000"/>
              </a:lnSpc>
              <a:spcBef>
                <a:spcPct val="20000"/>
              </a:spcBef>
              <a:spcAft>
                <a:spcPct val="0"/>
              </a:spcAft>
              <a:tabLst>
                <a:tab pos="263525" algn="l"/>
              </a:tabLst>
            </a:pPr>
            <a:r>
              <a:rPr lang="sv-SE" sz="1600" b="1" dirty="0" err="1">
                <a:solidFill>
                  <a:prstClr val="black"/>
                </a:solidFill>
              </a:rPr>
              <a:t>exitCS</a:t>
            </a:r>
            <a:r>
              <a:rPr lang="sv-SE" sz="1600" b="1" dirty="0">
                <a:solidFill>
                  <a:prstClr val="black"/>
                </a:solidFill>
              </a:rPr>
              <a:t>(i)</a:t>
            </a:r>
          </a:p>
          <a:p>
            <a:pPr marL="139700" lvl="1" indent="-87313">
              <a:tabLst>
                <a:tab pos="263525" algn="l"/>
              </a:tabLst>
            </a:pPr>
            <a:r>
              <a:rPr lang="sv-SE" dirty="0">
                <a:solidFill>
                  <a:srgbClr val="FF0000"/>
                </a:solidFill>
              </a:rPr>
              <a:t>	</a:t>
            </a:r>
            <a:r>
              <a:rPr lang="sv-SE" dirty="0" err="1">
                <a:solidFill>
                  <a:srgbClr val="FF0000"/>
                </a:solidFill>
              </a:rPr>
              <a:t>wait</a:t>
            </a:r>
            <a:r>
              <a:rPr lang="sv-SE" dirty="0">
                <a:solidFill>
                  <a:srgbClr val="FF0000"/>
                </a:solidFill>
              </a:rPr>
              <a:t>(mutex)</a:t>
            </a:r>
          </a:p>
          <a:p>
            <a:pPr marL="139700" lvl="1" indent="-87313">
              <a:tabLst>
                <a:tab pos="263525" algn="l"/>
              </a:tabLst>
            </a:pPr>
            <a:r>
              <a:rPr lang="sv-SE" dirty="0"/>
              <a:t>	</a:t>
            </a:r>
            <a:r>
              <a:rPr lang="sv-SE" dirty="0" err="1"/>
              <a:t>state</a:t>
            </a:r>
            <a:r>
              <a:rPr lang="sv-SE" dirty="0"/>
              <a:t>(i) := THINKING</a:t>
            </a:r>
          </a:p>
          <a:p>
            <a:pPr marL="139700" lvl="1" indent="-87313">
              <a:tabLst>
                <a:tab pos="263525" algn="l"/>
              </a:tabLst>
            </a:pPr>
            <a:r>
              <a:rPr lang="sv-SE" dirty="0">
                <a:solidFill>
                  <a:srgbClr val="FF0000"/>
                </a:solidFill>
              </a:rPr>
              <a:t>	</a:t>
            </a:r>
            <a:r>
              <a:rPr lang="sv-SE" dirty="0" err="1">
                <a:solidFill>
                  <a:srgbClr val="FF0000"/>
                </a:solidFill>
              </a:rPr>
              <a:t>help</a:t>
            </a:r>
            <a:r>
              <a:rPr lang="sv-SE" dirty="0">
                <a:solidFill>
                  <a:srgbClr val="FF0000"/>
                </a:solidFill>
              </a:rPr>
              <a:t>((i-1) mod n)</a:t>
            </a:r>
          </a:p>
          <a:p>
            <a:pPr marL="139700" lvl="1" indent="-87313">
              <a:tabLst>
                <a:tab pos="263525" algn="l"/>
              </a:tabLst>
            </a:pPr>
            <a:r>
              <a:rPr lang="sv-SE" dirty="0">
                <a:solidFill>
                  <a:srgbClr val="FF0000"/>
                </a:solidFill>
              </a:rPr>
              <a:t>	</a:t>
            </a:r>
            <a:r>
              <a:rPr lang="sv-SE" dirty="0" err="1">
                <a:solidFill>
                  <a:srgbClr val="FF0000"/>
                </a:solidFill>
              </a:rPr>
              <a:t>help</a:t>
            </a:r>
            <a:r>
              <a:rPr lang="sv-SE" dirty="0">
                <a:solidFill>
                  <a:srgbClr val="FF0000"/>
                </a:solidFill>
              </a:rPr>
              <a:t>((i+1) mod n)</a:t>
            </a:r>
          </a:p>
          <a:p>
            <a:pPr marL="139700" lvl="1" indent="-87313">
              <a:tabLst>
                <a:tab pos="263525" algn="l"/>
              </a:tabLst>
            </a:pPr>
            <a:r>
              <a:rPr lang="sv-SE" dirty="0">
                <a:solidFill>
                  <a:srgbClr val="FF0000"/>
                </a:solidFill>
              </a:rPr>
              <a:t>	signal(</a:t>
            </a:r>
            <a:r>
              <a:rPr lang="sv-SE" dirty="0" err="1">
                <a:solidFill>
                  <a:srgbClr val="FF0000"/>
                </a:solidFill>
              </a:rPr>
              <a:t>mutex</a:t>
            </a:r>
            <a:r>
              <a:rPr lang="sv-SE" dirty="0">
                <a:solidFill>
                  <a:srgbClr val="FF0000"/>
                </a:solidFill>
              </a:rPr>
              <a:t>)</a:t>
            </a:r>
            <a:endParaRPr lang="sv-SE" sz="1600" b="1" dirty="0">
              <a:solidFill>
                <a:prstClr val="black"/>
              </a:solidFill>
            </a:endParaRPr>
          </a:p>
        </p:txBody>
      </p:sp>
      <p:sp>
        <p:nvSpPr>
          <p:cNvPr id="9" name="Rectangle 4"/>
          <p:cNvSpPr>
            <a:spLocks noChangeArrowheads="1"/>
          </p:cNvSpPr>
          <p:nvPr/>
        </p:nvSpPr>
        <p:spPr bwMode="auto">
          <a:xfrm>
            <a:off x="5301161" y="1143001"/>
            <a:ext cx="3830264" cy="1455043"/>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p>
            <a:pPr marL="457200" indent="-404813" eaLnBrk="0" fontAlgn="base" hangingPunct="0">
              <a:lnSpc>
                <a:spcPct val="90000"/>
              </a:lnSpc>
              <a:spcBef>
                <a:spcPct val="20000"/>
              </a:spcBef>
              <a:spcAft>
                <a:spcPct val="0"/>
              </a:spcAft>
              <a:tabLst>
                <a:tab pos="615950" algn="l"/>
              </a:tabLst>
            </a:pPr>
            <a:r>
              <a:rPr lang="en-US" sz="1600" b="1" dirty="0">
                <a:solidFill>
                  <a:prstClr val="black"/>
                </a:solidFill>
              </a:rPr>
              <a:t>help(k)</a:t>
            </a:r>
          </a:p>
          <a:p>
            <a:pPr lvl="1" indent="-404813">
              <a:tabLst>
                <a:tab pos="615950" algn="l"/>
              </a:tabLst>
            </a:pPr>
            <a:r>
              <a:rPr lang="en-US" dirty="0">
                <a:solidFill>
                  <a:schemeClr val="tx1"/>
                </a:solidFill>
              </a:rPr>
              <a:t>if state[k] ==HUNGRY &amp;&amp; </a:t>
            </a:r>
          </a:p>
          <a:p>
            <a:pPr lvl="1" indent="-404813">
              <a:tabLst>
                <a:tab pos="615950" algn="l"/>
              </a:tabLst>
            </a:pPr>
            <a:r>
              <a:rPr lang="en-US" dirty="0"/>
              <a:t>	</a:t>
            </a:r>
            <a:r>
              <a:rPr lang="en-US" dirty="0">
                <a:solidFill>
                  <a:schemeClr val="tx1"/>
                </a:solidFill>
              </a:rPr>
              <a:t>state[(k-1) mod n] != EATING &amp;&amp; </a:t>
            </a:r>
          </a:p>
          <a:p>
            <a:pPr lvl="1" indent="-404813">
              <a:tabLst>
                <a:tab pos="615950" algn="l"/>
              </a:tabLst>
            </a:pPr>
            <a:r>
              <a:rPr lang="en-US" dirty="0"/>
              <a:t>	</a:t>
            </a:r>
            <a:r>
              <a:rPr lang="en-US" dirty="0">
                <a:solidFill>
                  <a:schemeClr val="tx1"/>
                </a:solidFill>
              </a:rPr>
              <a:t>state[(k+1) mod n] != EATING </a:t>
            </a:r>
          </a:p>
          <a:p>
            <a:pPr lvl="1" indent="-404813">
              <a:tabLst>
                <a:tab pos="615950" algn="l"/>
              </a:tabLst>
            </a:pPr>
            <a:r>
              <a:rPr lang="en-US" dirty="0">
                <a:solidFill>
                  <a:schemeClr val="tx1"/>
                </a:solidFill>
              </a:rPr>
              <a:t>then {state(k) := EATING ; signal(S[k]) }</a:t>
            </a:r>
          </a:p>
        </p:txBody>
      </p:sp>
      <p:sp>
        <p:nvSpPr>
          <p:cNvPr id="6" name="Title 1">
            <a:extLst>
              <a:ext uri="{FF2B5EF4-FFF2-40B4-BE49-F238E27FC236}">
                <a16:creationId xmlns:a16="http://schemas.microsoft.com/office/drawing/2014/main" id="{35A08A40-87F7-F4A3-532E-C05D25C18E23}"/>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Dining philosophers: Fight the hold-and-wait</a:t>
            </a:r>
            <a:endParaRPr lang="sv-SE" sz="3200" b="1" dirty="0">
              <a:solidFill>
                <a:schemeClr val="accent1">
                  <a:lumMod val="50000"/>
                </a:schemeClr>
              </a:solidFill>
            </a:endParaRPr>
          </a:p>
        </p:txBody>
      </p:sp>
      <p:grpSp>
        <p:nvGrpSpPr>
          <p:cNvPr id="11" name="Group 10">
            <a:extLst>
              <a:ext uri="{FF2B5EF4-FFF2-40B4-BE49-F238E27FC236}">
                <a16:creationId xmlns:a16="http://schemas.microsoft.com/office/drawing/2014/main" id="{89804FB2-F06B-00DD-18DB-03ABC659E506}"/>
              </a:ext>
            </a:extLst>
          </p:cNvPr>
          <p:cNvGrpSpPr/>
          <p:nvPr/>
        </p:nvGrpSpPr>
        <p:grpSpPr>
          <a:xfrm>
            <a:off x="7859019" y="68783"/>
            <a:ext cx="3264695" cy="1042987"/>
            <a:chOff x="1291256" y="5638882"/>
            <a:chExt cx="3264695" cy="1042987"/>
          </a:xfrm>
        </p:grpSpPr>
        <p:sp>
          <p:nvSpPr>
            <p:cNvPr id="12" name="TextBox 11">
              <a:extLst>
                <a:ext uri="{FF2B5EF4-FFF2-40B4-BE49-F238E27FC236}">
                  <a16:creationId xmlns:a16="http://schemas.microsoft.com/office/drawing/2014/main" id="{A6666F89-1637-F33C-06DC-9B2771D1B314}"/>
                </a:ext>
              </a:extLst>
            </p:cNvPr>
            <p:cNvSpPr txBox="1"/>
            <p:nvPr/>
          </p:nvSpPr>
          <p:spPr>
            <a:xfrm>
              <a:off x="1291256" y="5810389"/>
              <a:ext cx="2743201" cy="738664"/>
            </a:xfrm>
            <a:prstGeom prst="rect">
              <a:avLst/>
            </a:prstGeom>
            <a:solidFill>
              <a:schemeClr val="accent5">
                <a:lumMod val="20000"/>
                <a:lumOff val="80000"/>
              </a:schemeClr>
            </a:solidFill>
            <a:ln>
              <a:solidFill>
                <a:schemeClr val="accent1"/>
              </a:solidFill>
            </a:ln>
          </p:spPr>
          <p:txBody>
            <a:bodyPr wrap="square">
              <a:spAutoFit/>
            </a:bodyPr>
            <a:lstStyle/>
            <a:p>
              <a:pPr>
                <a:defRPr/>
              </a:pPr>
              <a:r>
                <a:rPr lang="en-US" sz="1400" b="1" dirty="0">
                  <a:solidFill>
                    <a:srgbClr val="C00000"/>
                  </a:solidFill>
                  <a:latin typeface="Arial" pitchFamily="34" charset="0"/>
                  <a:cs typeface="Arial" pitchFamily="34" charset="0"/>
                </a:rPr>
                <a:t>Idea: </a:t>
              </a:r>
              <a:r>
                <a:rPr lang="en-US" sz="1400" dirty="0">
                  <a:solidFill>
                    <a:prstClr val="black"/>
                  </a:solidFill>
                  <a:latin typeface="Arial" pitchFamily="34" charset="0"/>
                  <a:cs typeface="Arial" pitchFamily="34" charset="0"/>
                </a:rPr>
                <a:t>philosophers agree on who eats next instead of who gets a chopstick</a:t>
              </a:r>
            </a:p>
          </p:txBody>
        </p:sp>
        <p:pic>
          <p:nvPicPr>
            <p:cNvPr id="14" name="Picture 5" descr="C:\Users\marina\AppData\Local\Microsoft\Windows\Temporary Internet Files\Content.IE5\AAZLPE4U\MCj04326170000[1].png">
              <a:extLst>
                <a:ext uri="{FF2B5EF4-FFF2-40B4-BE49-F238E27FC236}">
                  <a16:creationId xmlns:a16="http://schemas.microsoft.com/office/drawing/2014/main" id="{8CFFE5C9-3E42-1A1F-5C52-B4C1A218B435}"/>
                </a:ext>
              </a:extLst>
            </p:cNvPr>
            <p:cNvPicPr>
              <a:picLocks noChangeAspect="1" noChangeArrowheads="1"/>
            </p:cNvPicPr>
            <p:nvPr/>
          </p:nvPicPr>
          <p:blipFill>
            <a:blip r:embed="rId3" cstate="print"/>
            <a:srcRect/>
            <a:stretch>
              <a:fillRect/>
            </a:stretch>
          </p:blipFill>
          <p:spPr bwMode="auto">
            <a:xfrm>
              <a:off x="3512963" y="5638882"/>
              <a:ext cx="1042988" cy="1042987"/>
            </a:xfrm>
            <a:prstGeom prst="rect">
              <a:avLst/>
            </a:prstGeom>
            <a:noFill/>
            <a:ln w="9525">
              <a:noFill/>
              <a:miter lim="800000"/>
              <a:headEnd/>
              <a:tailEnd/>
            </a:ln>
          </p:spPr>
        </p:pic>
      </p:grpSp>
      <p:sp>
        <p:nvSpPr>
          <p:cNvPr id="2" name="Date Placeholder 1">
            <a:extLst>
              <a:ext uri="{FF2B5EF4-FFF2-40B4-BE49-F238E27FC236}">
                <a16:creationId xmlns:a16="http://schemas.microsoft.com/office/drawing/2014/main" id="{4CC7AFDA-C573-E25A-E9C1-340ABA7B8572}"/>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6709303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126ED5-583D-4CB1-8BA5-5472C7197EF5}"/>
              </a:ext>
            </a:extLst>
          </p:cNvPr>
          <p:cNvSpPr>
            <a:spLocks noGrp="1"/>
          </p:cNvSpPr>
          <p:nvPr>
            <p:ph idx="1"/>
          </p:nvPr>
        </p:nvSpPr>
        <p:spPr>
          <a:xfrm>
            <a:off x="838200" y="1825625"/>
            <a:ext cx="10582656" cy="4351338"/>
          </a:xfrm>
        </p:spPr>
        <p:txBody>
          <a:bodyPr/>
          <a:lstStyle/>
          <a:p>
            <a:r>
              <a:rPr lang="en-US" dirty="0"/>
              <a:t>Mutual exclusion: ok </a:t>
            </a:r>
          </a:p>
          <a:p>
            <a:r>
              <a:rPr lang="en-US" dirty="0"/>
              <a:t>Progress: no deadlock</a:t>
            </a:r>
          </a:p>
          <a:p>
            <a:r>
              <a:rPr lang="en-US" dirty="0"/>
              <a:t>Fairness: a process can starve…</a:t>
            </a:r>
          </a:p>
          <a:p>
            <a:endParaRPr lang="en-US" dirty="0"/>
          </a:p>
          <a:p>
            <a:r>
              <a:rPr lang="en-US" dirty="0"/>
              <a:t>If you are interested in a solution with fairness too: </a:t>
            </a:r>
            <a:r>
              <a:rPr lang="en-US" dirty="0">
                <a:hlinkClick r:id="rId3"/>
              </a:rPr>
              <a:t>https://dl.acm.org/doi/pdf/10.1145/62546.62567?casa_token=4uO24jxkwEAAAAAA:jJlAILeISZe5Uu2ERv6O-dTq_0LbSmRpv0beOZ_3vDi50otRS-_HqB30GoWDib1zVQ9jjrhx4w0</a:t>
            </a:r>
            <a:endParaRPr lang="en-US" dirty="0"/>
          </a:p>
        </p:txBody>
      </p:sp>
      <p:sp>
        <p:nvSpPr>
          <p:cNvPr id="4" name="Slide Number Placeholder 3">
            <a:extLst>
              <a:ext uri="{FF2B5EF4-FFF2-40B4-BE49-F238E27FC236}">
                <a16:creationId xmlns:a16="http://schemas.microsoft.com/office/drawing/2014/main" id="{C0445493-AB84-4AD4-8911-49D134EF2CEA}"/>
              </a:ext>
            </a:extLst>
          </p:cNvPr>
          <p:cNvSpPr>
            <a:spLocks noGrp="1"/>
          </p:cNvSpPr>
          <p:nvPr>
            <p:ph type="sldNum" sz="quarter" idx="12"/>
          </p:nvPr>
        </p:nvSpPr>
        <p:spPr/>
        <p:txBody>
          <a:bodyPr/>
          <a:lstStyle/>
          <a:p>
            <a:pPr>
              <a:defRPr/>
            </a:pPr>
            <a:fld id="{6FDBA504-7919-41DE-B9B2-CB6A22CC38B9}" type="slidenum">
              <a:rPr lang="en-US" smtClean="0">
                <a:solidFill>
                  <a:prstClr val="black">
                    <a:tint val="75000"/>
                  </a:prstClr>
                </a:solidFill>
              </a:rPr>
              <a:pPr>
                <a:defRPr/>
              </a:pPr>
              <a:t>28</a:t>
            </a:fld>
            <a:endParaRPr lang="en-US" dirty="0">
              <a:solidFill>
                <a:prstClr val="black">
                  <a:tint val="75000"/>
                </a:prstClr>
              </a:solidFill>
            </a:endParaRPr>
          </a:p>
        </p:txBody>
      </p:sp>
      <p:sp>
        <p:nvSpPr>
          <p:cNvPr id="7" name="Title 1">
            <a:extLst>
              <a:ext uri="{FF2B5EF4-FFF2-40B4-BE49-F238E27FC236}">
                <a16:creationId xmlns:a16="http://schemas.microsoft.com/office/drawing/2014/main" id="{7AB522F4-BF84-DD5F-8EC1-50184B86D1D4}"/>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Dining philosophers: Fight the no-preemption</a:t>
            </a:r>
            <a:endParaRPr lang="sv-SE" sz="3200" b="1" dirty="0">
              <a:solidFill>
                <a:schemeClr val="accent1">
                  <a:lumMod val="50000"/>
                </a:schemeClr>
              </a:solidFill>
            </a:endParaRPr>
          </a:p>
        </p:txBody>
      </p:sp>
      <p:sp>
        <p:nvSpPr>
          <p:cNvPr id="2" name="Date Placeholder 1">
            <a:extLst>
              <a:ext uri="{FF2B5EF4-FFF2-40B4-BE49-F238E27FC236}">
                <a16:creationId xmlns:a16="http://schemas.microsoft.com/office/drawing/2014/main" id="{FF1B78D3-6C3E-2D4F-B22E-5A9D80765BBA}"/>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9163890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2250A-5E5B-70FA-6A31-6DB2BEB91011}"/>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9227323-B622-2A52-0358-95FA49351F66}"/>
              </a:ext>
            </a:extLst>
          </p:cNvPr>
          <p:cNvSpPr>
            <a:spLocks noGrp="1"/>
          </p:cNvSpPr>
          <p:nvPr>
            <p:ph idx="1"/>
          </p:nvPr>
        </p:nvSpPr>
        <p:spPr/>
        <p:txBody>
          <a:bodyPr>
            <a:normAutofit lnSpcReduction="10000"/>
          </a:bodyPr>
          <a:lstStyle/>
          <a:p>
            <a:r>
              <a:rPr lang="en-US" dirty="0">
                <a:solidFill>
                  <a:schemeClr val="bg1">
                    <a:lumMod val="50000"/>
                  </a:schemeClr>
                </a:solidFill>
              </a:rPr>
              <a:t>Bounded-buffer producer/consumer</a:t>
            </a:r>
          </a:p>
          <a:p>
            <a:r>
              <a:rPr lang="en-US" dirty="0">
                <a:solidFill>
                  <a:schemeClr val="bg1">
                    <a:lumMod val="50000"/>
                  </a:schemeClr>
                </a:solidFill>
              </a:rPr>
              <a:t>Resource allocation, deadlocks, and necessary conditions for deadlocks</a:t>
            </a:r>
          </a:p>
          <a:p>
            <a:r>
              <a:rPr lang="en-US" dirty="0">
                <a:solidFill>
                  <a:schemeClr val="bg1">
                    <a:lumMod val="50000"/>
                  </a:schemeClr>
                </a:solidFill>
              </a:rPr>
              <a:t>Dining philosophers</a:t>
            </a:r>
          </a:p>
          <a:p>
            <a:pPr lvl="1"/>
            <a:r>
              <a:rPr lang="en-US" dirty="0">
                <a:solidFill>
                  <a:schemeClr val="bg1">
                    <a:lumMod val="50000"/>
                  </a:schemeClr>
                </a:solidFill>
              </a:rPr>
              <a:t>without circular wait</a:t>
            </a:r>
          </a:p>
          <a:p>
            <a:pPr lvl="1"/>
            <a:r>
              <a:rPr lang="en-US" dirty="0">
                <a:solidFill>
                  <a:schemeClr val="bg1">
                    <a:lumMod val="50000"/>
                  </a:schemeClr>
                </a:solidFill>
              </a:rPr>
              <a:t>without no-preemption</a:t>
            </a:r>
          </a:p>
          <a:p>
            <a:pPr lvl="1"/>
            <a:r>
              <a:rPr lang="en-US" dirty="0">
                <a:solidFill>
                  <a:schemeClr val="bg1">
                    <a:lumMod val="50000"/>
                  </a:schemeClr>
                </a:solidFill>
              </a:rPr>
              <a:t>without hold-and-wait</a:t>
            </a:r>
          </a:p>
          <a:p>
            <a:r>
              <a:rPr lang="en-US" dirty="0" err="1"/>
              <a:t>Lamport’s</a:t>
            </a:r>
            <a:r>
              <a:rPr lang="en-US" dirty="0"/>
              <a:t> bakery algorithm</a:t>
            </a:r>
          </a:p>
          <a:p>
            <a:r>
              <a:rPr lang="en-US" dirty="0">
                <a:solidFill>
                  <a:schemeClr val="bg1">
                    <a:lumMod val="50000"/>
                  </a:schemeClr>
                </a:solidFill>
              </a:rPr>
              <a:t>Readers/Writers problem</a:t>
            </a:r>
          </a:p>
          <a:p>
            <a:r>
              <a:rPr lang="en-US" dirty="0">
                <a:solidFill>
                  <a:schemeClr val="bg1">
                    <a:lumMod val="50000"/>
                  </a:schemeClr>
                </a:solidFill>
              </a:rPr>
              <a:t>OS as arbitrator for deadlock avoidance/recovery</a:t>
            </a:r>
          </a:p>
          <a:p>
            <a:pPr lvl="1"/>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99B5CC4B-9664-FA2F-FFA0-D460BB5ADBC0}"/>
              </a:ext>
            </a:extLst>
          </p:cNvPr>
          <p:cNvSpPr>
            <a:spLocks noGrp="1"/>
          </p:cNvSpPr>
          <p:nvPr>
            <p:ph type="sldNum" sz="quarter" idx="12"/>
          </p:nvPr>
        </p:nvSpPr>
        <p:spPr/>
        <p:txBody>
          <a:bodyPr/>
          <a:lstStyle/>
          <a:p>
            <a:fld id="{67FCC1A6-2294-BF46-A2F7-E6BDB92DF1BF}" type="slidenum">
              <a:rPr lang="en-US" smtClean="0"/>
              <a:t>29</a:t>
            </a:fld>
            <a:endParaRPr lang="en-US"/>
          </a:p>
        </p:txBody>
      </p:sp>
      <p:sp>
        <p:nvSpPr>
          <p:cNvPr id="5" name="Date Placeholder 4">
            <a:extLst>
              <a:ext uri="{FF2B5EF4-FFF2-40B4-BE49-F238E27FC236}">
                <a16:creationId xmlns:a16="http://schemas.microsoft.com/office/drawing/2014/main" id="{EB6EF133-5D9D-6206-7A6E-1FAFDBFBB656}"/>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4990254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4" name="Slide Number Placeholder 5"/>
          <p:cNvSpPr>
            <a:spLocks noGrp="1"/>
          </p:cNvSpPr>
          <p:nvPr>
            <p:ph type="sldNum" sz="quarter" idx="12"/>
          </p:nvPr>
        </p:nvSpPr>
        <p:spPr>
          <a:noFill/>
        </p:spPr>
        <p:txBody>
          <a:bodyPr/>
          <a:lstStyle/>
          <a:p>
            <a:fld id="{274E1AE6-5A20-4B42-A1B4-28026F3D12F0}" type="slidenum">
              <a:rPr lang="en-US" smtClean="0">
                <a:solidFill>
                  <a:prstClr val="black">
                    <a:tint val="75000"/>
                  </a:prstClr>
                </a:solidFill>
              </a:rPr>
              <a:pPr/>
              <a:t>30</a:t>
            </a:fld>
            <a:endParaRPr lang="en-US">
              <a:solidFill>
                <a:prstClr val="black">
                  <a:tint val="75000"/>
                </a:prstClr>
              </a:solidFill>
            </a:endParaRPr>
          </a:p>
        </p:txBody>
      </p:sp>
      <p:sp>
        <p:nvSpPr>
          <p:cNvPr id="28675" name="Rectangle 1026"/>
          <p:cNvSpPr>
            <a:spLocks noGrp="1" noChangeArrowheads="1"/>
          </p:cNvSpPr>
          <p:nvPr>
            <p:ph type="title"/>
          </p:nvPr>
        </p:nvSpPr>
        <p:spPr>
          <a:xfrm>
            <a:off x="126589" y="1268760"/>
            <a:ext cx="4372259" cy="914400"/>
          </a:xfrm>
        </p:spPr>
        <p:txBody>
          <a:bodyPr/>
          <a:lstStyle/>
          <a:p>
            <a:r>
              <a:rPr lang="en-US" sz="2800" dirty="0"/>
              <a:t>Critical section for n threads:</a:t>
            </a:r>
            <a:endParaRPr lang="en-US" dirty="0"/>
          </a:p>
        </p:txBody>
      </p:sp>
      <p:pic>
        <p:nvPicPr>
          <p:cNvPr id="76802" name="Picture 2" descr="http://t0.gstatic.com/images?q=tbn:ANd9GcSrCGnRvG6OsjyQgVy-RA85yWNCqYQEbLl6c82J_6F1DG9PFwny9LvIZh4">
            <a:hlinkClick r:id="rId3"/>
          </p:cNvPr>
          <p:cNvPicPr>
            <a:picLocks noChangeAspect="1" noChangeArrowheads="1"/>
          </p:cNvPicPr>
          <p:nvPr/>
        </p:nvPicPr>
        <p:blipFill>
          <a:blip r:embed="rId4" cstate="print"/>
          <a:srcRect/>
          <a:stretch>
            <a:fillRect/>
          </a:stretch>
        </p:blipFill>
        <p:spPr bwMode="auto">
          <a:xfrm>
            <a:off x="10426840" y="969876"/>
            <a:ext cx="1512168" cy="1512168"/>
          </a:xfrm>
          <a:prstGeom prst="rect">
            <a:avLst/>
          </a:prstGeom>
          <a:noFill/>
        </p:spPr>
      </p:pic>
      <p:sp>
        <p:nvSpPr>
          <p:cNvPr id="2" name="Title 1">
            <a:extLst>
              <a:ext uri="{FF2B5EF4-FFF2-40B4-BE49-F238E27FC236}">
                <a16:creationId xmlns:a16="http://schemas.microsoft.com/office/drawing/2014/main" id="{6E4CE002-4CF4-8681-E841-F3877F254267}"/>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err="1">
                <a:solidFill>
                  <a:schemeClr val="accent1">
                    <a:lumMod val="50000"/>
                  </a:schemeClr>
                </a:solidFill>
              </a:rPr>
              <a:t>Lamport’s</a:t>
            </a:r>
            <a:r>
              <a:rPr lang="en-US" sz="3200" b="1" dirty="0">
                <a:solidFill>
                  <a:schemeClr val="accent1">
                    <a:lumMod val="50000"/>
                  </a:schemeClr>
                </a:solidFill>
              </a:rPr>
              <a:t> bakery algorithm</a:t>
            </a:r>
            <a:endParaRPr lang="sv-SE" sz="3200" b="1" dirty="0">
              <a:solidFill>
                <a:schemeClr val="accent1">
                  <a:lumMod val="50000"/>
                </a:schemeClr>
              </a:solidFill>
            </a:endParaRPr>
          </a:p>
        </p:txBody>
      </p:sp>
      <p:grpSp>
        <p:nvGrpSpPr>
          <p:cNvPr id="3" name="Group 2">
            <a:extLst>
              <a:ext uri="{FF2B5EF4-FFF2-40B4-BE49-F238E27FC236}">
                <a16:creationId xmlns:a16="http://schemas.microsoft.com/office/drawing/2014/main" id="{31E0BD20-3B21-32DA-521B-D74E295F0228}"/>
              </a:ext>
            </a:extLst>
          </p:cNvPr>
          <p:cNvGrpSpPr/>
          <p:nvPr/>
        </p:nvGrpSpPr>
        <p:grpSpPr>
          <a:xfrm>
            <a:off x="4498848" y="1055995"/>
            <a:ext cx="5861303" cy="1339930"/>
            <a:chOff x="1291256" y="5674918"/>
            <a:chExt cx="5861303" cy="1339930"/>
          </a:xfrm>
        </p:grpSpPr>
        <p:sp>
          <p:nvSpPr>
            <p:cNvPr id="4" name="TextBox 3">
              <a:extLst>
                <a:ext uri="{FF2B5EF4-FFF2-40B4-BE49-F238E27FC236}">
                  <a16:creationId xmlns:a16="http://schemas.microsoft.com/office/drawing/2014/main" id="{B1F6C39C-32A1-E967-D04F-112EE3770FAC}"/>
                </a:ext>
              </a:extLst>
            </p:cNvPr>
            <p:cNvSpPr txBox="1"/>
            <p:nvPr/>
          </p:nvSpPr>
          <p:spPr>
            <a:xfrm>
              <a:off x="1291256" y="5810389"/>
              <a:ext cx="5111496" cy="1015663"/>
            </a:xfrm>
            <a:prstGeom prst="rect">
              <a:avLst/>
            </a:prstGeom>
            <a:solidFill>
              <a:schemeClr val="accent5">
                <a:lumMod val="20000"/>
                <a:lumOff val="80000"/>
              </a:schemeClr>
            </a:solidFill>
            <a:ln>
              <a:solidFill>
                <a:schemeClr val="accent1"/>
              </a:solidFill>
            </a:ln>
          </p:spPr>
          <p:txBody>
            <a:bodyPr wrap="square">
              <a:spAutoFit/>
            </a:bodyPr>
            <a:lstStyle/>
            <a:p>
              <a:pPr>
                <a:defRPr/>
              </a:pPr>
              <a:r>
                <a:rPr lang="en-US" sz="2000" b="1" dirty="0">
                  <a:solidFill>
                    <a:srgbClr val="C00000"/>
                  </a:solidFill>
                  <a:latin typeface="Arial" pitchFamily="34" charset="0"/>
                  <a:cs typeface="Arial" pitchFamily="34" charset="0"/>
                </a:rPr>
                <a:t>Idea: </a:t>
              </a:r>
              <a:r>
                <a:rPr lang="en-US" sz="2000" dirty="0">
                  <a:solidFill>
                    <a:prstClr val="black"/>
                  </a:solidFill>
                  <a:latin typeface="Arial" pitchFamily="34" charset="0"/>
                  <a:cs typeface="Arial" pitchFamily="34" charset="0"/>
                </a:rPr>
                <a:t>before entering its critical section, each thread gets a number. Holder of the smallest number enters the critical section.</a:t>
              </a:r>
            </a:p>
          </p:txBody>
        </p:sp>
        <p:pic>
          <p:nvPicPr>
            <p:cNvPr id="5" name="Picture 5" descr="C:\Users\marina\AppData\Local\Microsoft\Windows\Temporary Internet Files\Content.IE5\AAZLPE4U\MCj04326170000[1].png">
              <a:extLst>
                <a:ext uri="{FF2B5EF4-FFF2-40B4-BE49-F238E27FC236}">
                  <a16:creationId xmlns:a16="http://schemas.microsoft.com/office/drawing/2014/main" id="{EDCE5D61-A36B-57D2-AA88-88D98278F083}"/>
                </a:ext>
              </a:extLst>
            </p:cNvPr>
            <p:cNvPicPr>
              <a:picLocks noChangeAspect="1" noChangeArrowheads="1"/>
            </p:cNvPicPr>
            <p:nvPr/>
          </p:nvPicPr>
          <p:blipFill>
            <a:blip r:embed="rId5" cstate="print"/>
            <a:srcRect/>
            <a:stretch>
              <a:fillRect/>
            </a:stretch>
          </p:blipFill>
          <p:spPr bwMode="auto">
            <a:xfrm>
              <a:off x="5812628" y="5674918"/>
              <a:ext cx="1339931" cy="1339930"/>
            </a:xfrm>
            <a:prstGeom prst="rect">
              <a:avLst/>
            </a:prstGeom>
            <a:noFill/>
            <a:ln w="9525">
              <a:noFill/>
              <a:miter lim="800000"/>
              <a:headEnd/>
              <a:tailEnd/>
            </a:ln>
          </p:spPr>
        </p:pic>
      </p:grpSp>
      <p:sp>
        <p:nvSpPr>
          <p:cNvPr id="9" name="Rectangle 8">
            <a:extLst>
              <a:ext uri="{FF2B5EF4-FFF2-40B4-BE49-F238E27FC236}">
                <a16:creationId xmlns:a16="http://schemas.microsoft.com/office/drawing/2014/main" id="{0A3EEAC5-E59E-31D5-7165-8BE1FAC57C46}"/>
              </a:ext>
            </a:extLst>
          </p:cNvPr>
          <p:cNvSpPr/>
          <p:nvPr/>
        </p:nvSpPr>
        <p:spPr>
          <a:xfrm>
            <a:off x="554023" y="2709254"/>
            <a:ext cx="11083954" cy="1569660"/>
          </a:xfrm>
          <a:prstGeom prst="rect">
            <a:avLst/>
          </a:prstGeom>
          <a:solidFill>
            <a:srgbClr val="E6E0EC"/>
          </a:solidFill>
        </p:spPr>
        <p:txBody>
          <a:bodyPr wrap="square">
            <a:spAutoFit/>
          </a:bodyPr>
          <a:lstStyle/>
          <a:p>
            <a:pPr marL="90488" lvl="1"/>
            <a:r>
              <a:rPr lang="en-US" sz="2000" dirty="0"/>
              <a:t>Note: the decentralized scheme generates numbers in non-decreasing order; e.g., 1, 2, 3, 3, 4, 5, 5, 5, 6</a:t>
            </a:r>
          </a:p>
          <a:p>
            <a:pPr marL="90488" lvl="1"/>
            <a:endParaRPr lang="en-US" sz="2000" dirty="0"/>
          </a:p>
          <a:p>
            <a:pPr marL="90488" lvl="1"/>
            <a:r>
              <a:rPr lang="en-US" sz="2000" dirty="0"/>
              <a:t>If threads </a:t>
            </a:r>
            <a:r>
              <a:rPr lang="en-US" sz="2000" dirty="0">
                <a:solidFill>
                  <a:srgbClr val="C00000"/>
                </a:solidFill>
              </a:rPr>
              <a:t>P</a:t>
            </a:r>
            <a:r>
              <a:rPr lang="en-US" sz="2000" baseline="-25000" dirty="0">
                <a:solidFill>
                  <a:srgbClr val="C00000"/>
                </a:solidFill>
              </a:rPr>
              <a:t>i</a:t>
            </a:r>
            <a:r>
              <a:rPr lang="en-US" sz="2000" dirty="0">
                <a:solidFill>
                  <a:srgbClr val="C00000"/>
                </a:solidFill>
              </a:rPr>
              <a:t> and </a:t>
            </a:r>
            <a:r>
              <a:rPr lang="en-US" sz="2000" dirty="0" err="1">
                <a:solidFill>
                  <a:srgbClr val="C00000"/>
                </a:solidFill>
              </a:rPr>
              <a:t>P</a:t>
            </a:r>
            <a:r>
              <a:rPr lang="en-US" sz="2000" baseline="-25000" dirty="0" err="1">
                <a:solidFill>
                  <a:srgbClr val="C00000"/>
                </a:solidFill>
              </a:rPr>
              <a:t>j</a:t>
            </a:r>
            <a:r>
              <a:rPr lang="en-US" sz="2000" dirty="0">
                <a:solidFill>
                  <a:srgbClr val="C00000"/>
                </a:solidFill>
              </a:rPr>
              <a:t> choose the same number</a:t>
            </a:r>
            <a:r>
              <a:rPr lang="en-US" sz="2000" dirty="0"/>
              <a:t>: </a:t>
            </a:r>
          </a:p>
          <a:p>
            <a:pPr marL="90488" lvl="2"/>
            <a:r>
              <a:rPr lang="en-US" dirty="0"/>
              <a:t>if </a:t>
            </a:r>
            <a:r>
              <a:rPr lang="en-US" dirty="0" err="1"/>
              <a:t>i</a:t>
            </a:r>
            <a:r>
              <a:rPr lang="en-US" dirty="0"/>
              <a:t>&lt;j, then P</a:t>
            </a:r>
            <a:r>
              <a:rPr lang="en-US" baseline="-25000" dirty="0"/>
              <a:t>i</a:t>
            </a:r>
            <a:r>
              <a:rPr lang="en-US" dirty="0"/>
              <a:t> goes first;  else </a:t>
            </a:r>
            <a:r>
              <a:rPr lang="en-US" dirty="0" err="1"/>
              <a:t>P</a:t>
            </a:r>
            <a:r>
              <a:rPr lang="en-US" baseline="-25000" dirty="0" err="1"/>
              <a:t>j</a:t>
            </a:r>
            <a:r>
              <a:rPr lang="en-US" dirty="0"/>
              <a:t> goes first.</a:t>
            </a:r>
          </a:p>
          <a:p>
            <a:pPr marL="90488" lvl="1"/>
            <a:r>
              <a:rPr lang="en-US" dirty="0">
                <a:solidFill>
                  <a:srgbClr val="C00000"/>
                </a:solidFill>
              </a:rPr>
              <a:t>I.e., we use threads’ ids to break ties</a:t>
            </a:r>
          </a:p>
        </p:txBody>
      </p:sp>
      <p:sp>
        <p:nvSpPr>
          <p:cNvPr id="6" name="Date Placeholder 5">
            <a:extLst>
              <a:ext uri="{FF2B5EF4-FFF2-40B4-BE49-F238E27FC236}">
                <a16:creationId xmlns:a16="http://schemas.microsoft.com/office/drawing/2014/main" id="{CF636F78-0607-ABCF-436A-FFDF24C1D6A9}"/>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8962358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p:cNvSpPr>
            <a:spLocks noGrp="1"/>
          </p:cNvSpPr>
          <p:nvPr>
            <p:ph type="sldNum" sz="quarter" idx="12"/>
          </p:nvPr>
        </p:nvSpPr>
        <p:spPr>
          <a:noFill/>
        </p:spPr>
        <p:txBody>
          <a:bodyPr/>
          <a:lstStyle/>
          <a:p>
            <a:fld id="{BB24471E-ABEB-4FE1-92BA-6F057EA607EB}" type="slidenum">
              <a:rPr lang="en-US" smtClean="0">
                <a:solidFill>
                  <a:prstClr val="black">
                    <a:tint val="75000"/>
                  </a:prstClr>
                </a:solidFill>
              </a:rPr>
              <a:pPr/>
              <a:t>31</a:t>
            </a:fld>
            <a:endParaRPr lang="en-US">
              <a:solidFill>
                <a:prstClr val="black">
                  <a:tint val="75000"/>
                </a:prstClr>
              </a:solidFill>
            </a:endParaRPr>
          </a:p>
        </p:txBody>
      </p:sp>
      <p:sp>
        <p:nvSpPr>
          <p:cNvPr id="29700" name="Rectangle 3"/>
          <p:cNvSpPr>
            <a:spLocks noGrp="1" noChangeArrowheads="1"/>
          </p:cNvSpPr>
          <p:nvPr>
            <p:ph type="body" idx="1"/>
          </p:nvPr>
        </p:nvSpPr>
        <p:spPr>
          <a:xfrm>
            <a:off x="381000" y="817409"/>
            <a:ext cx="7772400" cy="3818599"/>
          </a:xfr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p>
            <a:pPr marL="0" indent="0" eaLnBrk="0" fontAlgn="base" hangingPunct="0">
              <a:spcBef>
                <a:spcPct val="20000"/>
              </a:spcBef>
              <a:spcAft>
                <a:spcPct val="0"/>
              </a:spcAft>
              <a:buNone/>
              <a:tabLst>
                <a:tab pos="168275" algn="l"/>
                <a:tab pos="347663" algn="l"/>
                <a:tab pos="525463" algn="l"/>
              </a:tabLst>
            </a:pPr>
            <a:r>
              <a:rPr lang="en-US" sz="1600" b="1" dirty="0">
                <a:solidFill>
                  <a:prstClr val="black"/>
                </a:solidFill>
              </a:rPr>
              <a:t>Shared var</a:t>
            </a:r>
            <a:r>
              <a:rPr lang="en-US" sz="1600" dirty="0">
                <a:solidFill>
                  <a:prstClr val="black"/>
                </a:solidFill>
              </a:rPr>
              <a:t> choosing: </a:t>
            </a:r>
            <a:r>
              <a:rPr lang="en-US" sz="1600" b="1" dirty="0">
                <a:solidFill>
                  <a:prstClr val="black"/>
                </a:solidFill>
              </a:rPr>
              <a:t>array</a:t>
            </a:r>
            <a:r>
              <a:rPr lang="en-US" sz="1600" dirty="0">
                <a:solidFill>
                  <a:prstClr val="black"/>
                </a:solidFill>
              </a:rPr>
              <a:t> [0..n </a:t>
            </a:r>
            <a:r>
              <a:rPr lang="en-US" sz="1600" dirty="0">
                <a:solidFill>
                  <a:prstClr val="black"/>
                </a:solidFill>
                <a:sym typeface="Symbol" pitchFamily="18" charset="2"/>
              </a:rPr>
              <a:t>– 1] </a:t>
            </a:r>
            <a:r>
              <a:rPr lang="en-US" sz="1600" b="1" dirty="0">
                <a:solidFill>
                  <a:prstClr val="black"/>
                </a:solidFill>
                <a:sym typeface="Symbol" pitchFamily="18" charset="2"/>
              </a:rPr>
              <a:t>of</a:t>
            </a:r>
            <a:r>
              <a:rPr lang="en-US" sz="1600" dirty="0">
                <a:solidFill>
                  <a:prstClr val="black"/>
                </a:solidFill>
                <a:sym typeface="Symbol" pitchFamily="18" charset="2"/>
              </a:rPr>
              <a:t> </a:t>
            </a:r>
            <a:r>
              <a:rPr lang="en-US" sz="1600" dirty="0" err="1">
                <a:solidFill>
                  <a:prstClr val="black"/>
                </a:solidFill>
                <a:sym typeface="Symbol" pitchFamily="18" charset="2"/>
              </a:rPr>
              <a:t>boolean</a:t>
            </a:r>
            <a:r>
              <a:rPr lang="en-US" sz="1600" dirty="0">
                <a:solidFill>
                  <a:prstClr val="black"/>
                </a:solidFill>
                <a:sym typeface="Symbol" pitchFamily="18" charset="2"/>
              </a:rPr>
              <a:t> (</a:t>
            </a:r>
            <a:r>
              <a:rPr lang="en-US" sz="1600" dirty="0" err="1">
                <a:solidFill>
                  <a:prstClr val="black"/>
                </a:solidFill>
                <a:sym typeface="Symbol" pitchFamily="18" charset="2"/>
              </a:rPr>
              <a:t>init</a:t>
            </a:r>
            <a:r>
              <a:rPr lang="en-US" sz="1600" dirty="0">
                <a:solidFill>
                  <a:prstClr val="black"/>
                </a:solidFill>
                <a:sym typeface="Symbol" pitchFamily="18" charset="2"/>
              </a:rPr>
              <a:t> </a:t>
            </a:r>
            <a:r>
              <a:rPr lang="en-US" sz="1600" dirty="0" err="1">
                <a:solidFill>
                  <a:prstClr val="black"/>
                </a:solidFill>
                <a:sym typeface="Symbol" pitchFamily="18" charset="2"/>
              </a:rPr>
              <a:t>fasle</a:t>
            </a:r>
            <a:r>
              <a:rPr lang="en-US" sz="1600" dirty="0">
                <a:solidFill>
                  <a:prstClr val="black"/>
                </a:solidFill>
                <a:sym typeface="Symbol" pitchFamily="18" charset="2"/>
              </a:rPr>
              <a:t>);</a:t>
            </a:r>
          </a:p>
          <a:p>
            <a:pPr marL="0" indent="0" eaLnBrk="0" fontAlgn="base" hangingPunct="0">
              <a:spcBef>
                <a:spcPct val="20000"/>
              </a:spcBef>
              <a:spcAft>
                <a:spcPct val="0"/>
              </a:spcAft>
              <a:buNone/>
              <a:tabLst>
                <a:tab pos="168275" algn="l"/>
                <a:tab pos="347663" algn="l"/>
                <a:tab pos="525463" algn="l"/>
              </a:tabLst>
            </a:pPr>
            <a:r>
              <a:rPr lang="en-US" sz="1600" dirty="0">
                <a:solidFill>
                  <a:prstClr val="black"/>
                </a:solidFill>
                <a:sym typeface="Symbol" pitchFamily="18" charset="2"/>
              </a:rPr>
              <a:t>                   number: </a:t>
            </a:r>
            <a:r>
              <a:rPr lang="en-US" sz="1600" b="1" dirty="0">
                <a:solidFill>
                  <a:prstClr val="black"/>
                </a:solidFill>
                <a:sym typeface="Symbol" pitchFamily="18" charset="2"/>
              </a:rPr>
              <a:t>array</a:t>
            </a:r>
            <a:r>
              <a:rPr lang="en-US" sz="1600" dirty="0">
                <a:solidFill>
                  <a:prstClr val="black"/>
                </a:solidFill>
                <a:sym typeface="Symbol" pitchFamily="18" charset="2"/>
              </a:rPr>
              <a:t> [0..n – 1] </a:t>
            </a:r>
            <a:r>
              <a:rPr lang="en-US" sz="1600" b="1" dirty="0">
                <a:solidFill>
                  <a:prstClr val="black"/>
                </a:solidFill>
                <a:sym typeface="Symbol" pitchFamily="18" charset="2"/>
              </a:rPr>
              <a:t>of</a:t>
            </a:r>
            <a:r>
              <a:rPr lang="en-US" sz="1600" dirty="0">
                <a:solidFill>
                  <a:prstClr val="black"/>
                </a:solidFill>
                <a:sym typeface="Symbol" pitchFamily="18" charset="2"/>
              </a:rPr>
              <a:t> integer (</a:t>
            </a:r>
            <a:r>
              <a:rPr lang="en-US" sz="1600" dirty="0" err="1">
                <a:solidFill>
                  <a:prstClr val="black"/>
                </a:solidFill>
                <a:sym typeface="Symbol" pitchFamily="18" charset="2"/>
              </a:rPr>
              <a:t>init</a:t>
            </a:r>
            <a:r>
              <a:rPr lang="en-US" sz="1600" dirty="0">
                <a:solidFill>
                  <a:prstClr val="black"/>
                </a:solidFill>
                <a:sym typeface="Symbol" pitchFamily="18" charset="2"/>
              </a:rPr>
              <a:t> 0);</a:t>
            </a:r>
            <a:endParaRPr lang="en-US" sz="1600" dirty="0">
              <a:solidFill>
                <a:prstClr val="black"/>
              </a:solidFill>
            </a:endParaRPr>
          </a:p>
          <a:p>
            <a:pPr marL="0" indent="0" eaLnBrk="0" fontAlgn="base" hangingPunct="0">
              <a:spcBef>
                <a:spcPct val="20000"/>
              </a:spcBef>
              <a:spcAft>
                <a:spcPct val="0"/>
              </a:spcAft>
              <a:buNone/>
              <a:tabLst>
                <a:tab pos="168275" algn="l"/>
                <a:tab pos="347663" algn="l"/>
                <a:tab pos="525463" algn="l"/>
              </a:tabLst>
            </a:pPr>
            <a:r>
              <a:rPr lang="en-US" sz="1600" b="1" dirty="0">
                <a:solidFill>
                  <a:prstClr val="black"/>
                </a:solidFill>
              </a:rPr>
              <a:t>repeat</a:t>
            </a:r>
          </a:p>
          <a:p>
            <a:pPr marL="0" indent="0" eaLnBrk="0" fontAlgn="base" hangingPunct="0">
              <a:spcBef>
                <a:spcPct val="20000"/>
              </a:spcBef>
              <a:spcAft>
                <a:spcPct val="0"/>
              </a:spcAft>
              <a:buNone/>
              <a:tabLst>
                <a:tab pos="168275" algn="l"/>
                <a:tab pos="347663" algn="l"/>
                <a:tab pos="525463" algn="l"/>
              </a:tabLst>
            </a:pPr>
            <a:r>
              <a:rPr lang="en-US" sz="1600" b="1" dirty="0">
                <a:solidFill>
                  <a:prstClr val="black"/>
                </a:solidFill>
              </a:rPr>
              <a:t>	</a:t>
            </a:r>
            <a:r>
              <a:rPr lang="en-US" sz="1600" dirty="0">
                <a:solidFill>
                  <a:srgbClr val="FF0000"/>
                </a:solidFill>
              </a:rPr>
              <a:t>choosing[</a:t>
            </a:r>
            <a:r>
              <a:rPr lang="en-US" sz="1600" dirty="0" err="1">
                <a:solidFill>
                  <a:srgbClr val="FF0000"/>
                </a:solidFill>
              </a:rPr>
              <a:t>i</a:t>
            </a:r>
            <a:r>
              <a:rPr lang="en-US" sz="1600" dirty="0">
                <a:solidFill>
                  <a:srgbClr val="FF0000"/>
                </a:solidFill>
              </a:rPr>
              <a:t>] := true;</a:t>
            </a:r>
          </a:p>
          <a:p>
            <a:pPr marL="0" indent="0" eaLnBrk="0" fontAlgn="base" hangingPunct="0">
              <a:spcBef>
                <a:spcPct val="20000"/>
              </a:spcBef>
              <a:spcAft>
                <a:spcPct val="0"/>
              </a:spcAft>
              <a:buNone/>
              <a:tabLst>
                <a:tab pos="168275" algn="l"/>
                <a:tab pos="347663" algn="l"/>
                <a:tab pos="525463" algn="l"/>
              </a:tabLst>
            </a:pPr>
            <a:r>
              <a:rPr lang="en-US" sz="1600" dirty="0">
                <a:solidFill>
                  <a:srgbClr val="FF0000"/>
                </a:solidFill>
              </a:rPr>
              <a:t>	number[</a:t>
            </a:r>
            <a:r>
              <a:rPr lang="en-US" sz="1600" dirty="0" err="1">
                <a:solidFill>
                  <a:srgbClr val="FF0000"/>
                </a:solidFill>
              </a:rPr>
              <a:t>i</a:t>
            </a:r>
            <a:r>
              <a:rPr lang="en-US" sz="1600" dirty="0">
                <a:solidFill>
                  <a:srgbClr val="FF0000"/>
                </a:solidFill>
              </a:rPr>
              <a:t>] := max(number[0], number[1], …, number [n – 1])+1;</a:t>
            </a:r>
          </a:p>
          <a:p>
            <a:pPr marL="0" indent="0" eaLnBrk="0" fontAlgn="base" hangingPunct="0">
              <a:spcBef>
                <a:spcPct val="20000"/>
              </a:spcBef>
              <a:spcAft>
                <a:spcPct val="0"/>
              </a:spcAft>
              <a:buNone/>
              <a:tabLst>
                <a:tab pos="168275" algn="l"/>
                <a:tab pos="347663" algn="l"/>
                <a:tab pos="525463" algn="l"/>
              </a:tabLst>
            </a:pPr>
            <a:r>
              <a:rPr lang="en-US" sz="1600" dirty="0">
                <a:solidFill>
                  <a:srgbClr val="FF0000"/>
                </a:solidFill>
              </a:rPr>
              <a:t>	choosing[</a:t>
            </a:r>
            <a:r>
              <a:rPr lang="en-US" sz="1600" dirty="0" err="1">
                <a:solidFill>
                  <a:srgbClr val="FF0000"/>
                </a:solidFill>
              </a:rPr>
              <a:t>i</a:t>
            </a:r>
            <a:r>
              <a:rPr lang="en-US" sz="1600" dirty="0">
                <a:solidFill>
                  <a:srgbClr val="FF0000"/>
                </a:solidFill>
              </a:rPr>
              <a:t>] := false;</a:t>
            </a:r>
          </a:p>
          <a:p>
            <a:pPr marL="0" indent="0" eaLnBrk="0" fontAlgn="base" hangingPunct="0">
              <a:spcBef>
                <a:spcPct val="20000"/>
              </a:spcBef>
              <a:spcAft>
                <a:spcPct val="0"/>
              </a:spcAft>
              <a:buNone/>
              <a:tabLst>
                <a:tab pos="168275" algn="l"/>
                <a:tab pos="347663" algn="l"/>
                <a:tab pos="525463" algn="l"/>
              </a:tabLst>
            </a:pPr>
            <a:r>
              <a:rPr lang="en-US" sz="1600" dirty="0">
                <a:solidFill>
                  <a:srgbClr val="FF0000"/>
                </a:solidFill>
              </a:rPr>
              <a:t>	for j := 0 to n – 1 do begin</a:t>
            </a:r>
          </a:p>
          <a:p>
            <a:pPr marL="0" indent="0" eaLnBrk="0" fontAlgn="base" hangingPunct="0">
              <a:spcBef>
                <a:spcPct val="20000"/>
              </a:spcBef>
              <a:spcAft>
                <a:spcPct val="0"/>
              </a:spcAft>
              <a:buNone/>
              <a:tabLst>
                <a:tab pos="168275" algn="l"/>
                <a:tab pos="347663" algn="l"/>
                <a:tab pos="525463" algn="l"/>
              </a:tabLst>
            </a:pPr>
            <a:r>
              <a:rPr lang="en-US" sz="1600" dirty="0">
                <a:solidFill>
                  <a:srgbClr val="FF0000"/>
                </a:solidFill>
              </a:rPr>
              <a:t>		while choosing[j] do [nothing]; </a:t>
            </a:r>
            <a:r>
              <a:rPr lang="en-US" sz="1600" dirty="0">
                <a:solidFill>
                  <a:schemeClr val="bg1">
                    <a:lumMod val="50000"/>
                  </a:schemeClr>
                </a:solidFill>
              </a:rPr>
              <a:t>// spin</a:t>
            </a:r>
          </a:p>
          <a:p>
            <a:pPr marL="0" indent="0" eaLnBrk="0" fontAlgn="base" hangingPunct="0">
              <a:spcBef>
                <a:spcPct val="20000"/>
              </a:spcBef>
              <a:spcAft>
                <a:spcPct val="0"/>
              </a:spcAft>
              <a:buNone/>
              <a:tabLst>
                <a:tab pos="168275" algn="l"/>
                <a:tab pos="347663" algn="l"/>
                <a:tab pos="525463" algn="l"/>
              </a:tabLst>
            </a:pPr>
            <a:r>
              <a:rPr lang="en-US" sz="1600" dirty="0">
                <a:solidFill>
                  <a:srgbClr val="FF0000"/>
                </a:solidFill>
              </a:rPr>
              <a:t>		while number[j] </a:t>
            </a:r>
            <a:r>
              <a:rPr lang="en-US" sz="1600" dirty="0">
                <a:solidFill>
                  <a:srgbClr val="FF0000"/>
                </a:solidFill>
                <a:sym typeface="Symbol" pitchFamily="18" charset="2"/>
              </a:rPr>
              <a:t> 0 and (number[j],j) &lt; (number[</a:t>
            </a:r>
            <a:r>
              <a:rPr lang="en-US" sz="1600" dirty="0" err="1">
                <a:solidFill>
                  <a:srgbClr val="FF0000"/>
                </a:solidFill>
                <a:sym typeface="Symbol" pitchFamily="18" charset="2"/>
              </a:rPr>
              <a:t>i</a:t>
            </a:r>
            <a:r>
              <a:rPr lang="en-US" sz="1600" dirty="0">
                <a:solidFill>
                  <a:srgbClr val="FF0000"/>
                </a:solidFill>
                <a:sym typeface="Symbol" pitchFamily="18" charset="2"/>
              </a:rPr>
              <a:t>], </a:t>
            </a:r>
            <a:r>
              <a:rPr lang="en-US" sz="1600" dirty="0" err="1">
                <a:solidFill>
                  <a:srgbClr val="FF0000"/>
                </a:solidFill>
                <a:sym typeface="Symbol" pitchFamily="18" charset="2"/>
              </a:rPr>
              <a:t>i</a:t>
            </a:r>
            <a:r>
              <a:rPr lang="en-US" sz="1600" dirty="0">
                <a:solidFill>
                  <a:srgbClr val="FF0000"/>
                </a:solidFill>
                <a:sym typeface="Symbol" pitchFamily="18" charset="2"/>
              </a:rPr>
              <a:t>) do [nothing]; </a:t>
            </a:r>
            <a:r>
              <a:rPr lang="en-US" sz="1600" dirty="0">
                <a:solidFill>
                  <a:schemeClr val="bg1">
                    <a:lumMod val="50000"/>
                  </a:schemeClr>
                </a:solidFill>
                <a:sym typeface="Symbol" pitchFamily="18" charset="2"/>
              </a:rPr>
              <a:t>// spin</a:t>
            </a:r>
          </a:p>
          <a:p>
            <a:pPr marL="0" indent="0" eaLnBrk="0" fontAlgn="base" hangingPunct="0">
              <a:spcBef>
                <a:spcPct val="20000"/>
              </a:spcBef>
              <a:spcAft>
                <a:spcPct val="0"/>
              </a:spcAft>
              <a:buNone/>
              <a:tabLst>
                <a:tab pos="168275" algn="l"/>
                <a:tab pos="347663" algn="l"/>
                <a:tab pos="525463" algn="l"/>
              </a:tabLst>
            </a:pPr>
            <a:r>
              <a:rPr lang="en-US" sz="1600" dirty="0">
                <a:solidFill>
                  <a:srgbClr val="FF0000"/>
                </a:solidFill>
                <a:sym typeface="Symbol" pitchFamily="18" charset="2"/>
              </a:rPr>
              <a:t>	end;</a:t>
            </a:r>
          </a:p>
          <a:p>
            <a:pPr marL="0" indent="0" eaLnBrk="0" fontAlgn="base" hangingPunct="0">
              <a:spcBef>
                <a:spcPct val="20000"/>
              </a:spcBef>
              <a:spcAft>
                <a:spcPct val="0"/>
              </a:spcAft>
              <a:buNone/>
              <a:tabLst>
                <a:tab pos="168275" algn="l"/>
                <a:tab pos="347663" algn="l"/>
                <a:tab pos="525463" algn="l"/>
              </a:tabLst>
            </a:pPr>
            <a:r>
              <a:rPr lang="en-US" sz="1600" dirty="0">
                <a:solidFill>
                  <a:prstClr val="black"/>
                </a:solidFill>
                <a:sym typeface="Symbol" pitchFamily="18" charset="2"/>
              </a:rPr>
              <a:t>	</a:t>
            </a:r>
            <a:r>
              <a:rPr lang="en-US" sz="1600" dirty="0">
                <a:solidFill>
                  <a:schemeClr val="bg1">
                    <a:lumMod val="50000"/>
                  </a:schemeClr>
                </a:solidFill>
                <a:sym typeface="Symbol" pitchFamily="18" charset="2"/>
              </a:rPr>
              <a:t>// critical section</a:t>
            </a:r>
          </a:p>
          <a:p>
            <a:pPr marL="0" indent="0" eaLnBrk="0" fontAlgn="base" hangingPunct="0">
              <a:spcBef>
                <a:spcPct val="20000"/>
              </a:spcBef>
              <a:spcAft>
                <a:spcPct val="0"/>
              </a:spcAft>
              <a:buNone/>
              <a:tabLst>
                <a:tab pos="168275" algn="l"/>
                <a:tab pos="347663" algn="l"/>
                <a:tab pos="525463" algn="l"/>
              </a:tabLst>
            </a:pPr>
            <a:r>
              <a:rPr lang="en-US" sz="1600" dirty="0">
                <a:solidFill>
                  <a:prstClr val="black"/>
                </a:solidFill>
                <a:sym typeface="Symbol" pitchFamily="18" charset="2"/>
              </a:rPr>
              <a:t>	</a:t>
            </a:r>
            <a:r>
              <a:rPr lang="en-US" sz="1600" dirty="0">
                <a:solidFill>
                  <a:srgbClr val="FF0000"/>
                </a:solidFill>
                <a:sym typeface="Symbol" pitchFamily="18" charset="2"/>
              </a:rPr>
              <a:t>number[</a:t>
            </a:r>
            <a:r>
              <a:rPr lang="en-US" sz="1600" dirty="0" err="1">
                <a:solidFill>
                  <a:srgbClr val="FF0000"/>
                </a:solidFill>
                <a:sym typeface="Symbol" pitchFamily="18" charset="2"/>
              </a:rPr>
              <a:t>i</a:t>
            </a:r>
            <a:r>
              <a:rPr lang="en-US" sz="1600" dirty="0">
                <a:solidFill>
                  <a:srgbClr val="FF0000"/>
                </a:solidFill>
                <a:sym typeface="Symbol" pitchFamily="18" charset="2"/>
              </a:rPr>
              <a:t>] := 0;</a:t>
            </a:r>
          </a:p>
          <a:p>
            <a:pPr marL="0" indent="0" eaLnBrk="0" fontAlgn="base" hangingPunct="0">
              <a:spcBef>
                <a:spcPct val="20000"/>
              </a:spcBef>
              <a:spcAft>
                <a:spcPct val="0"/>
              </a:spcAft>
              <a:buNone/>
              <a:tabLst>
                <a:tab pos="168275" algn="l"/>
                <a:tab pos="347663" algn="l"/>
                <a:tab pos="525463" algn="l"/>
              </a:tabLst>
            </a:pPr>
            <a:r>
              <a:rPr lang="en-US" sz="1600" dirty="0">
                <a:solidFill>
                  <a:prstClr val="black"/>
                </a:solidFill>
                <a:sym typeface="Symbol" pitchFamily="18" charset="2"/>
              </a:rPr>
              <a:t>	</a:t>
            </a:r>
            <a:r>
              <a:rPr lang="en-US" sz="1600" dirty="0">
                <a:solidFill>
                  <a:schemeClr val="bg1">
                    <a:lumMod val="50000"/>
                  </a:schemeClr>
                </a:solidFill>
                <a:sym typeface="Symbol" pitchFamily="18" charset="2"/>
              </a:rPr>
              <a:t>// remainder section</a:t>
            </a:r>
          </a:p>
          <a:p>
            <a:pPr marL="0" indent="0" eaLnBrk="0" fontAlgn="base" hangingPunct="0">
              <a:spcBef>
                <a:spcPct val="20000"/>
              </a:spcBef>
              <a:spcAft>
                <a:spcPct val="0"/>
              </a:spcAft>
              <a:buNone/>
              <a:tabLst>
                <a:tab pos="168275" algn="l"/>
                <a:tab pos="347663" algn="l"/>
                <a:tab pos="525463" algn="l"/>
              </a:tabLst>
            </a:pPr>
            <a:r>
              <a:rPr lang="en-US" sz="1600" b="1" dirty="0">
                <a:solidFill>
                  <a:prstClr val="black"/>
                </a:solidFill>
                <a:sym typeface="Symbol" pitchFamily="18" charset="2"/>
              </a:rPr>
              <a:t>until</a:t>
            </a:r>
            <a:r>
              <a:rPr lang="en-US" sz="1600" dirty="0">
                <a:solidFill>
                  <a:prstClr val="black"/>
                </a:solidFill>
                <a:sym typeface="Symbol" pitchFamily="18" charset="2"/>
              </a:rPr>
              <a:t> false;</a:t>
            </a:r>
            <a:endParaRPr lang="en-US" sz="1600" dirty="0">
              <a:solidFill>
                <a:prstClr val="black"/>
              </a:solidFill>
            </a:endParaRPr>
          </a:p>
        </p:txBody>
      </p:sp>
      <p:sp>
        <p:nvSpPr>
          <p:cNvPr id="5" name="Rectangle 4"/>
          <p:cNvSpPr/>
          <p:nvPr/>
        </p:nvSpPr>
        <p:spPr>
          <a:xfrm>
            <a:off x="380999" y="4695394"/>
            <a:ext cx="11452855" cy="369332"/>
          </a:xfrm>
          <a:prstGeom prst="rect">
            <a:avLst/>
          </a:prstGeom>
          <a:solidFill>
            <a:srgbClr val="FFFF99"/>
          </a:solidFill>
          <a:ln>
            <a:solidFill>
              <a:srgbClr val="CC0000"/>
            </a:solidFill>
          </a:ln>
        </p:spPr>
        <p:txBody>
          <a:bodyPr wrap="square">
            <a:spAutoFit/>
          </a:bodyPr>
          <a:lstStyle/>
          <a:p>
            <a:r>
              <a:rPr lang="en-US" i="1" dirty="0">
                <a:solidFill>
                  <a:srgbClr val="C00000"/>
                </a:solidFill>
              </a:rPr>
              <a:t>This is a more  </a:t>
            </a:r>
            <a:r>
              <a:rPr lang="en-US" b="1" i="1" dirty="0">
                <a:solidFill>
                  <a:srgbClr val="C00000"/>
                </a:solidFill>
              </a:rPr>
              <a:t>decentralized</a:t>
            </a:r>
            <a:r>
              <a:rPr lang="en-US" i="1" dirty="0">
                <a:solidFill>
                  <a:srgbClr val="C00000"/>
                </a:solidFill>
              </a:rPr>
              <a:t> method than e.g., Peterson’s: no variable is  “writable” by all threads</a:t>
            </a:r>
            <a:endParaRPr lang="en-US" sz="3600" i="1" dirty="0">
              <a:solidFill>
                <a:srgbClr val="C00000"/>
              </a:solidFill>
            </a:endParaRPr>
          </a:p>
        </p:txBody>
      </p:sp>
      <p:sp>
        <p:nvSpPr>
          <p:cNvPr id="2" name="TextBox 1">
            <a:extLst>
              <a:ext uri="{FF2B5EF4-FFF2-40B4-BE49-F238E27FC236}">
                <a16:creationId xmlns:a16="http://schemas.microsoft.com/office/drawing/2014/main" id="{0E99A282-39D6-4FDF-A822-266739794ADA}"/>
              </a:ext>
            </a:extLst>
          </p:cNvPr>
          <p:cNvSpPr txBox="1"/>
          <p:nvPr/>
        </p:nvSpPr>
        <p:spPr>
          <a:xfrm>
            <a:off x="8153400" y="758023"/>
            <a:ext cx="3680455" cy="3877985"/>
          </a:xfrm>
          <a:prstGeom prst="rect">
            <a:avLst/>
          </a:prstGeom>
          <a:noFill/>
        </p:spPr>
        <p:txBody>
          <a:bodyPr wrap="square" rtlCol="0">
            <a:spAutoFit/>
          </a:bodyPr>
          <a:lstStyle/>
          <a:p>
            <a:r>
              <a:rPr lang="en-US" sz="1600" b="1" dirty="0">
                <a:highlight>
                  <a:srgbClr val="FFFF00"/>
                </a:highlight>
              </a:rPr>
              <a:t>Why does it satisfy the 3 conditions: </a:t>
            </a:r>
          </a:p>
          <a:p>
            <a:r>
              <a:rPr lang="en-US" sz="1600" b="1" dirty="0"/>
              <a:t>Mutex</a:t>
            </a:r>
            <a:r>
              <a:rPr lang="en-US" sz="1600" dirty="0"/>
              <a:t> (no 2 threads A and B in CS concurrently): Consider the time between A’s decision step and A’s entry to CS; A decided to move because: </a:t>
            </a:r>
          </a:p>
          <a:p>
            <a:pPr marL="285750" indent="-285750">
              <a:buFont typeface="Arial" panose="020B0604020202020204" pitchFamily="34" charset="0"/>
              <a:buChar char="•"/>
            </a:pPr>
            <a:r>
              <a:rPr lang="en-US" sz="1400" dirty="0"/>
              <a:t>B had higher number: when B checks , it will wait for A since A has smaller number</a:t>
            </a:r>
          </a:p>
          <a:p>
            <a:pPr marL="285750" indent="-285750">
              <a:buFont typeface="Arial" panose="020B0604020202020204" pitchFamily="34" charset="0"/>
              <a:buChar char="•"/>
            </a:pPr>
            <a:r>
              <a:rPr lang="en-US" sz="1400" dirty="0"/>
              <a:t>or B was not interested; when B gets interested, it will choose a number &gt; A’s number, hence it will wait</a:t>
            </a:r>
          </a:p>
          <a:p>
            <a:r>
              <a:rPr lang="en-US" sz="1600" b="1" dirty="0"/>
              <a:t>Progress</a:t>
            </a:r>
            <a:r>
              <a:rPr lang="en-US" sz="1600" dirty="0"/>
              <a:t>: the thread with the smaller number can proceed</a:t>
            </a:r>
          </a:p>
          <a:p>
            <a:r>
              <a:rPr lang="en-US" sz="1600" b="1" dirty="0"/>
              <a:t>Fairness: </a:t>
            </a:r>
            <a:r>
              <a:rPr lang="en-US" sz="1600" dirty="0"/>
              <a:t>If A waits for B and B exits and wants to enter CS again, if A still waits, B will choose a number &gt; A’s, number, hence B cannot bypass A</a:t>
            </a:r>
          </a:p>
        </p:txBody>
      </p:sp>
      <p:sp>
        <p:nvSpPr>
          <p:cNvPr id="8" name="Title 1">
            <a:extLst>
              <a:ext uri="{FF2B5EF4-FFF2-40B4-BE49-F238E27FC236}">
                <a16:creationId xmlns:a16="http://schemas.microsoft.com/office/drawing/2014/main" id="{7296AF05-A0F3-6F33-4B3C-2E3C2A991FEC}"/>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err="1">
                <a:solidFill>
                  <a:schemeClr val="accent1">
                    <a:lumMod val="50000"/>
                  </a:schemeClr>
                </a:solidFill>
              </a:rPr>
              <a:t>Lamport’s</a:t>
            </a:r>
            <a:r>
              <a:rPr lang="en-US" sz="3200" b="1" dirty="0">
                <a:solidFill>
                  <a:schemeClr val="accent1">
                    <a:lumMod val="50000"/>
                  </a:schemeClr>
                </a:solidFill>
              </a:rPr>
              <a:t> bakery algorithm</a:t>
            </a:r>
            <a:endParaRPr lang="sv-SE" sz="3200" b="1" dirty="0">
              <a:solidFill>
                <a:schemeClr val="accent1">
                  <a:lumMod val="50000"/>
                </a:schemeClr>
              </a:solidFill>
            </a:endParaRPr>
          </a:p>
        </p:txBody>
      </p:sp>
      <p:sp>
        <p:nvSpPr>
          <p:cNvPr id="3" name="Date Placeholder 2">
            <a:extLst>
              <a:ext uri="{FF2B5EF4-FFF2-40B4-BE49-F238E27FC236}">
                <a16:creationId xmlns:a16="http://schemas.microsoft.com/office/drawing/2014/main" id="{7190F9AF-C188-6F44-A19C-F0030ED10D27}"/>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4075867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2250A-5E5B-70FA-6A31-6DB2BEB91011}"/>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9227323-B622-2A52-0358-95FA49351F66}"/>
              </a:ext>
            </a:extLst>
          </p:cNvPr>
          <p:cNvSpPr>
            <a:spLocks noGrp="1"/>
          </p:cNvSpPr>
          <p:nvPr>
            <p:ph idx="1"/>
          </p:nvPr>
        </p:nvSpPr>
        <p:spPr/>
        <p:txBody>
          <a:bodyPr>
            <a:normAutofit lnSpcReduction="10000"/>
          </a:bodyPr>
          <a:lstStyle/>
          <a:p>
            <a:r>
              <a:rPr lang="en-US" dirty="0">
                <a:solidFill>
                  <a:schemeClr val="bg1">
                    <a:lumMod val="50000"/>
                  </a:schemeClr>
                </a:solidFill>
              </a:rPr>
              <a:t>Bounded-buffer producer/consumer</a:t>
            </a:r>
          </a:p>
          <a:p>
            <a:r>
              <a:rPr lang="en-US" dirty="0">
                <a:solidFill>
                  <a:schemeClr val="bg1">
                    <a:lumMod val="50000"/>
                  </a:schemeClr>
                </a:solidFill>
              </a:rPr>
              <a:t>Resource allocation, deadlocks, and necessary conditions for deadlocks</a:t>
            </a:r>
          </a:p>
          <a:p>
            <a:r>
              <a:rPr lang="en-US" dirty="0">
                <a:solidFill>
                  <a:schemeClr val="bg1">
                    <a:lumMod val="50000"/>
                  </a:schemeClr>
                </a:solidFill>
              </a:rPr>
              <a:t>Dining philosophers</a:t>
            </a:r>
          </a:p>
          <a:p>
            <a:pPr lvl="1"/>
            <a:r>
              <a:rPr lang="en-US" dirty="0">
                <a:solidFill>
                  <a:schemeClr val="bg1">
                    <a:lumMod val="50000"/>
                  </a:schemeClr>
                </a:solidFill>
              </a:rPr>
              <a:t>without circular wait</a:t>
            </a:r>
          </a:p>
          <a:p>
            <a:pPr lvl="1"/>
            <a:r>
              <a:rPr lang="en-US" dirty="0">
                <a:solidFill>
                  <a:schemeClr val="bg1">
                    <a:lumMod val="50000"/>
                  </a:schemeClr>
                </a:solidFill>
              </a:rPr>
              <a:t>without no-preemption</a:t>
            </a:r>
          </a:p>
          <a:p>
            <a:pPr lvl="1"/>
            <a:r>
              <a:rPr lang="en-US" dirty="0">
                <a:solidFill>
                  <a:schemeClr val="bg1">
                    <a:lumMod val="50000"/>
                  </a:schemeClr>
                </a:solidFill>
              </a:rPr>
              <a:t>without hold-and-wait</a:t>
            </a:r>
          </a:p>
          <a:p>
            <a:r>
              <a:rPr lang="en-US" dirty="0" err="1">
                <a:solidFill>
                  <a:schemeClr val="bg1">
                    <a:lumMod val="50000"/>
                  </a:schemeClr>
                </a:solidFill>
              </a:rPr>
              <a:t>Lamport’s</a:t>
            </a:r>
            <a:r>
              <a:rPr lang="en-US" dirty="0">
                <a:solidFill>
                  <a:schemeClr val="bg1">
                    <a:lumMod val="50000"/>
                  </a:schemeClr>
                </a:solidFill>
              </a:rPr>
              <a:t> bakery algorithm</a:t>
            </a:r>
          </a:p>
          <a:p>
            <a:r>
              <a:rPr lang="en-US" dirty="0"/>
              <a:t>Readers/Writers problem</a:t>
            </a:r>
          </a:p>
          <a:p>
            <a:r>
              <a:rPr lang="en-US" dirty="0">
                <a:solidFill>
                  <a:schemeClr val="bg1">
                    <a:lumMod val="50000"/>
                  </a:schemeClr>
                </a:solidFill>
              </a:rPr>
              <a:t>OS as arbitrator for deadlock avoidance/recovery</a:t>
            </a:r>
          </a:p>
          <a:p>
            <a:pPr lvl="1"/>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33922B23-3D98-F913-5A74-7AF9C88A93E5}"/>
              </a:ext>
            </a:extLst>
          </p:cNvPr>
          <p:cNvSpPr>
            <a:spLocks noGrp="1"/>
          </p:cNvSpPr>
          <p:nvPr>
            <p:ph type="sldNum" sz="quarter" idx="12"/>
          </p:nvPr>
        </p:nvSpPr>
        <p:spPr/>
        <p:txBody>
          <a:bodyPr/>
          <a:lstStyle/>
          <a:p>
            <a:fld id="{67FCC1A6-2294-BF46-A2F7-E6BDB92DF1BF}" type="slidenum">
              <a:rPr lang="en-US" smtClean="0"/>
              <a:t>32</a:t>
            </a:fld>
            <a:endParaRPr lang="en-US"/>
          </a:p>
        </p:txBody>
      </p:sp>
      <p:sp>
        <p:nvSpPr>
          <p:cNvPr id="5" name="Date Placeholder 4">
            <a:extLst>
              <a:ext uri="{FF2B5EF4-FFF2-40B4-BE49-F238E27FC236}">
                <a16:creationId xmlns:a16="http://schemas.microsoft.com/office/drawing/2014/main" id="{62A92929-E084-4C23-D43D-DED649D3D9D1}"/>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7290713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896289" y="4492686"/>
            <a:ext cx="10399423" cy="365126"/>
          </a:xfrm>
          <a:prstGeom prst="rect">
            <a:avLst/>
          </a:prstGeom>
          <a:noFill/>
          <a:ln>
            <a:headEnd/>
            <a:tailEnd/>
          </a:ln>
          <a:effectLst/>
        </p:spPr>
        <p:style>
          <a:lnRef idx="1">
            <a:schemeClr val="dk1"/>
          </a:lnRef>
          <a:fillRef idx="2">
            <a:schemeClr val="dk1"/>
          </a:fillRef>
          <a:effectRef idx="1">
            <a:schemeClr val="dk1"/>
          </a:effectRef>
          <a:fontRef idx="minor">
            <a:schemeClr val="dk1"/>
          </a:fontRef>
        </p:style>
        <p:txBody>
          <a:bodyPr/>
          <a:lstStyle/>
          <a:p>
            <a:pPr>
              <a:spcBef>
                <a:spcPct val="20000"/>
              </a:spcBef>
              <a:buClr>
                <a:srgbClr val="FB5B5B"/>
              </a:buClr>
              <a:defRPr/>
            </a:pPr>
            <a:r>
              <a:rPr lang="en-US" dirty="0"/>
              <a:t>Solve this synch problem using semaphores; we require  1. the safety properties mentioned here; 2. progress</a:t>
            </a:r>
          </a:p>
        </p:txBody>
      </p:sp>
      <p:sp>
        <p:nvSpPr>
          <p:cNvPr id="2" name="Slide Number Placeholder 1"/>
          <p:cNvSpPr>
            <a:spLocks noGrp="1"/>
          </p:cNvSpPr>
          <p:nvPr>
            <p:ph type="sldNum" sz="quarter" idx="12"/>
          </p:nvPr>
        </p:nvSpPr>
        <p:spPr/>
        <p:txBody>
          <a:bodyPr/>
          <a:lstStyle/>
          <a:p>
            <a:pPr>
              <a:defRPr/>
            </a:pPr>
            <a:fld id="{3F19581E-C58F-4F83-8FA8-2E7A8A7C33AE}" type="slidenum">
              <a:rPr lang="en-US" smtClean="0">
                <a:solidFill>
                  <a:prstClr val="black">
                    <a:tint val="75000"/>
                  </a:prstClr>
                </a:solidFill>
              </a:rPr>
              <a:pPr>
                <a:defRPr/>
              </a:pPr>
              <a:t>33</a:t>
            </a:fld>
            <a:endParaRPr lang="en-US" dirty="0">
              <a:solidFill>
                <a:prstClr val="black">
                  <a:tint val="75000"/>
                </a:prstClr>
              </a:solidFill>
            </a:endParaRPr>
          </a:p>
        </p:txBody>
      </p:sp>
      <p:sp>
        <p:nvSpPr>
          <p:cNvPr id="8" name="Rectangle 7">
            <a:extLst>
              <a:ext uri="{FF2B5EF4-FFF2-40B4-BE49-F238E27FC236}">
                <a16:creationId xmlns:a16="http://schemas.microsoft.com/office/drawing/2014/main" id="{EC33D6F7-E55E-4337-AE89-4C228E288BEC}"/>
              </a:ext>
            </a:extLst>
          </p:cNvPr>
          <p:cNvSpPr/>
          <p:nvPr/>
        </p:nvSpPr>
        <p:spPr>
          <a:xfrm>
            <a:off x="246529" y="1050547"/>
            <a:ext cx="4846197" cy="923330"/>
          </a:xfrm>
          <a:prstGeom prst="rect">
            <a:avLst/>
          </a:prstGeom>
        </p:spPr>
        <p:txBody>
          <a:bodyPr wrap="square">
            <a:spAutoFit/>
          </a:bodyPr>
          <a:lstStyle/>
          <a:p>
            <a:pPr>
              <a:spcBef>
                <a:spcPct val="20000"/>
              </a:spcBef>
              <a:buClr>
                <a:srgbClr val="FB5B5B"/>
              </a:buClr>
              <a:defRPr/>
            </a:pPr>
            <a:r>
              <a:rPr lang="en-US" b="1" kern="0" dirty="0">
                <a:solidFill>
                  <a:prstClr val="black"/>
                </a:solidFill>
              </a:rPr>
              <a:t>Writers </a:t>
            </a:r>
            <a:r>
              <a:rPr lang="en-US" kern="0" dirty="0">
                <a:solidFill>
                  <a:prstClr val="black"/>
                </a:solidFill>
              </a:rPr>
              <a:t>write; must wait if some writer or reader is accessing the shared data object (i.e., </a:t>
            </a:r>
            <a:r>
              <a:rPr lang="en-US" i="1" kern="0" dirty="0">
                <a:solidFill>
                  <a:prstClr val="black"/>
                </a:solidFill>
              </a:rPr>
              <a:t>only one writer is allowed to write at a time</a:t>
            </a:r>
            <a:r>
              <a:rPr lang="en-US" kern="0" dirty="0">
                <a:solidFill>
                  <a:prstClr val="black"/>
                </a:solidFill>
              </a:rPr>
              <a:t>)</a:t>
            </a:r>
          </a:p>
        </p:txBody>
      </p:sp>
      <p:sp>
        <p:nvSpPr>
          <p:cNvPr id="12" name="Rectangle 11">
            <a:extLst>
              <a:ext uri="{FF2B5EF4-FFF2-40B4-BE49-F238E27FC236}">
                <a16:creationId xmlns:a16="http://schemas.microsoft.com/office/drawing/2014/main" id="{4F3216B9-5892-42EB-83B4-E32CC5A06E82}"/>
              </a:ext>
            </a:extLst>
          </p:cNvPr>
          <p:cNvSpPr/>
          <p:nvPr/>
        </p:nvSpPr>
        <p:spPr>
          <a:xfrm>
            <a:off x="6477924" y="1045021"/>
            <a:ext cx="5467547" cy="923330"/>
          </a:xfrm>
          <a:prstGeom prst="rect">
            <a:avLst/>
          </a:prstGeom>
        </p:spPr>
        <p:txBody>
          <a:bodyPr wrap="square">
            <a:spAutoFit/>
          </a:bodyPr>
          <a:lstStyle/>
          <a:p>
            <a:pPr algn="r">
              <a:spcBef>
                <a:spcPct val="20000"/>
              </a:spcBef>
              <a:buClr>
                <a:srgbClr val="FB5B5B"/>
              </a:buClr>
              <a:defRPr/>
            </a:pPr>
            <a:r>
              <a:rPr lang="en-US" b="1" kern="0" dirty="0">
                <a:solidFill>
                  <a:prstClr val="black"/>
                </a:solidFill>
              </a:rPr>
              <a:t>Readers</a:t>
            </a:r>
            <a:r>
              <a:rPr lang="en-US" kern="0" dirty="0">
                <a:solidFill>
                  <a:prstClr val="black"/>
                </a:solidFill>
              </a:rPr>
              <a:t> read; must wait if some writer is accessing the shared data object (i.e., </a:t>
            </a:r>
            <a:r>
              <a:rPr lang="en-US" i="1" kern="0" dirty="0">
                <a:solidFill>
                  <a:prstClr val="black"/>
                </a:solidFill>
              </a:rPr>
              <a:t>multiple readers are allowed to read at a time but not concurrently with any writer</a:t>
            </a:r>
            <a:r>
              <a:rPr lang="en-US" kern="0" dirty="0">
                <a:solidFill>
                  <a:prstClr val="black"/>
                </a:solidFill>
              </a:rPr>
              <a:t>)</a:t>
            </a:r>
          </a:p>
        </p:txBody>
      </p:sp>
      <p:sp>
        <p:nvSpPr>
          <p:cNvPr id="3" name="TextBox 2">
            <a:extLst>
              <a:ext uri="{FF2B5EF4-FFF2-40B4-BE49-F238E27FC236}">
                <a16:creationId xmlns:a16="http://schemas.microsoft.com/office/drawing/2014/main" id="{45E342E0-E6BF-4FF3-B4AB-1A705A8F9F33}"/>
              </a:ext>
            </a:extLst>
          </p:cNvPr>
          <p:cNvSpPr txBox="1"/>
          <p:nvPr/>
        </p:nvSpPr>
        <p:spPr>
          <a:xfrm rot="16200000">
            <a:off x="1850749" y="2832039"/>
            <a:ext cx="538930" cy="707886"/>
          </a:xfrm>
          <a:prstGeom prst="rect">
            <a:avLst/>
          </a:prstGeom>
          <a:noFill/>
        </p:spPr>
        <p:txBody>
          <a:bodyPr wrap="none" rtlCol="0">
            <a:spAutoFit/>
          </a:bodyPr>
          <a:lstStyle/>
          <a:p>
            <a:r>
              <a:rPr lang="sv-SE" sz="4000" dirty="0"/>
              <a:t>…</a:t>
            </a:r>
          </a:p>
        </p:txBody>
      </p:sp>
      <p:sp>
        <p:nvSpPr>
          <p:cNvPr id="100" name="TextBox 99">
            <a:extLst>
              <a:ext uri="{FF2B5EF4-FFF2-40B4-BE49-F238E27FC236}">
                <a16:creationId xmlns:a16="http://schemas.microsoft.com/office/drawing/2014/main" id="{2EBEE26C-3FE4-4D46-B6EA-A4A5423280DE}"/>
              </a:ext>
            </a:extLst>
          </p:cNvPr>
          <p:cNvSpPr txBox="1"/>
          <p:nvPr/>
        </p:nvSpPr>
        <p:spPr>
          <a:xfrm rot="5400000">
            <a:off x="9528849" y="2832039"/>
            <a:ext cx="538930" cy="707886"/>
          </a:xfrm>
          <a:prstGeom prst="rect">
            <a:avLst/>
          </a:prstGeom>
          <a:noFill/>
        </p:spPr>
        <p:txBody>
          <a:bodyPr wrap="none" rtlCol="0">
            <a:spAutoFit/>
          </a:bodyPr>
          <a:lstStyle/>
          <a:p>
            <a:r>
              <a:rPr lang="sv-SE" sz="4000" dirty="0"/>
              <a:t>…</a:t>
            </a:r>
          </a:p>
        </p:txBody>
      </p:sp>
      <p:sp>
        <p:nvSpPr>
          <p:cNvPr id="10" name="Title 1">
            <a:extLst>
              <a:ext uri="{FF2B5EF4-FFF2-40B4-BE49-F238E27FC236}">
                <a16:creationId xmlns:a16="http://schemas.microsoft.com/office/drawing/2014/main" id="{50ADA4B6-0297-4042-3487-062FCDA1F890}"/>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Readers/Writers problem</a:t>
            </a:r>
            <a:endParaRPr lang="sv-SE" sz="3200" b="1" dirty="0">
              <a:solidFill>
                <a:schemeClr val="accent1">
                  <a:lumMod val="50000"/>
                </a:schemeClr>
              </a:solidFill>
            </a:endParaRPr>
          </a:p>
        </p:txBody>
      </p:sp>
      <p:sp>
        <p:nvSpPr>
          <p:cNvPr id="25" name="Oval 24">
            <a:extLst>
              <a:ext uri="{FF2B5EF4-FFF2-40B4-BE49-F238E27FC236}">
                <a16:creationId xmlns:a16="http://schemas.microsoft.com/office/drawing/2014/main" id="{B090E615-24CF-136D-3FFB-A31CCC040976}"/>
              </a:ext>
            </a:extLst>
          </p:cNvPr>
          <p:cNvSpPr>
            <a:spLocks noChangeAspect="1"/>
          </p:cNvSpPr>
          <p:nvPr/>
        </p:nvSpPr>
        <p:spPr>
          <a:xfrm>
            <a:off x="1889173" y="2116239"/>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800" dirty="0"/>
              <a:t>W</a:t>
            </a:r>
            <a:r>
              <a:rPr lang="en-US" sz="2800" baseline="-25000" dirty="0"/>
              <a:t>1</a:t>
            </a:r>
          </a:p>
        </p:txBody>
      </p:sp>
      <p:sp>
        <p:nvSpPr>
          <p:cNvPr id="28" name="Oval 27">
            <a:extLst>
              <a:ext uri="{FF2B5EF4-FFF2-40B4-BE49-F238E27FC236}">
                <a16:creationId xmlns:a16="http://schemas.microsoft.com/office/drawing/2014/main" id="{B4CA6D4B-7848-8BE1-B125-159811FC6340}"/>
              </a:ext>
            </a:extLst>
          </p:cNvPr>
          <p:cNvSpPr>
            <a:spLocks noChangeAspect="1"/>
          </p:cNvSpPr>
          <p:nvPr/>
        </p:nvSpPr>
        <p:spPr>
          <a:xfrm>
            <a:off x="9286166" y="2116239"/>
            <a:ext cx="720000" cy="7200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sz="2800" dirty="0"/>
              <a:t>R</a:t>
            </a:r>
            <a:r>
              <a:rPr lang="en-US" sz="2800" baseline="-25000" dirty="0"/>
              <a:t>1</a:t>
            </a:r>
          </a:p>
        </p:txBody>
      </p:sp>
      <p:sp>
        <p:nvSpPr>
          <p:cNvPr id="36" name="Oval 35">
            <a:extLst>
              <a:ext uri="{FF2B5EF4-FFF2-40B4-BE49-F238E27FC236}">
                <a16:creationId xmlns:a16="http://schemas.microsoft.com/office/drawing/2014/main" id="{B05E5154-6066-A43F-FB9E-58462F6F04FE}"/>
              </a:ext>
            </a:extLst>
          </p:cNvPr>
          <p:cNvSpPr>
            <a:spLocks noChangeAspect="1"/>
          </p:cNvSpPr>
          <p:nvPr/>
        </p:nvSpPr>
        <p:spPr>
          <a:xfrm>
            <a:off x="1889173" y="3527854"/>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800" dirty="0"/>
              <a:t>W</a:t>
            </a:r>
            <a:r>
              <a:rPr lang="en-US" sz="2800" baseline="-25000" dirty="0"/>
              <a:t>m</a:t>
            </a:r>
          </a:p>
        </p:txBody>
      </p:sp>
      <p:sp>
        <p:nvSpPr>
          <p:cNvPr id="37" name="Oval 36">
            <a:extLst>
              <a:ext uri="{FF2B5EF4-FFF2-40B4-BE49-F238E27FC236}">
                <a16:creationId xmlns:a16="http://schemas.microsoft.com/office/drawing/2014/main" id="{DA7629CD-5167-3AE6-78B8-C33A420DF650}"/>
              </a:ext>
            </a:extLst>
          </p:cNvPr>
          <p:cNvSpPr>
            <a:spLocks noChangeAspect="1"/>
          </p:cNvSpPr>
          <p:nvPr/>
        </p:nvSpPr>
        <p:spPr>
          <a:xfrm>
            <a:off x="9286166" y="3527854"/>
            <a:ext cx="720000" cy="7200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sz="2800" dirty="0"/>
              <a:t>R</a:t>
            </a:r>
            <a:r>
              <a:rPr lang="en-US" sz="2800" baseline="-25000" dirty="0"/>
              <a:t>n</a:t>
            </a:r>
          </a:p>
        </p:txBody>
      </p:sp>
      <p:grpSp>
        <p:nvGrpSpPr>
          <p:cNvPr id="40" name="Group 39">
            <a:extLst>
              <a:ext uri="{FF2B5EF4-FFF2-40B4-BE49-F238E27FC236}">
                <a16:creationId xmlns:a16="http://schemas.microsoft.com/office/drawing/2014/main" id="{8A4E899A-6DF8-3DFF-00EF-6030B0E43065}"/>
              </a:ext>
            </a:extLst>
          </p:cNvPr>
          <p:cNvGrpSpPr/>
          <p:nvPr/>
        </p:nvGrpSpPr>
        <p:grpSpPr>
          <a:xfrm>
            <a:off x="4406483" y="2430520"/>
            <a:ext cx="3379034" cy="1375607"/>
            <a:chOff x="4394819" y="3348637"/>
            <a:chExt cx="3379034" cy="1375607"/>
          </a:xfrm>
        </p:grpSpPr>
        <p:sp>
          <p:nvSpPr>
            <p:cNvPr id="6" name="Rectangle 5">
              <a:extLst>
                <a:ext uri="{FF2B5EF4-FFF2-40B4-BE49-F238E27FC236}">
                  <a16:creationId xmlns:a16="http://schemas.microsoft.com/office/drawing/2014/main" id="{4FD3B21A-8286-4416-BBF4-2804177FAA7D}"/>
                </a:ext>
              </a:extLst>
            </p:cNvPr>
            <p:cNvSpPr/>
            <p:nvPr/>
          </p:nvSpPr>
          <p:spPr>
            <a:xfrm>
              <a:off x="4394819" y="3378843"/>
              <a:ext cx="3379034" cy="13454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3" name="Rectangle 12">
              <a:extLst>
                <a:ext uri="{FF2B5EF4-FFF2-40B4-BE49-F238E27FC236}">
                  <a16:creationId xmlns:a16="http://schemas.microsoft.com/office/drawing/2014/main" id="{F4DBF325-DF9F-4970-8E79-4B38CA526FB9}"/>
                </a:ext>
              </a:extLst>
            </p:cNvPr>
            <p:cNvSpPr/>
            <p:nvPr/>
          </p:nvSpPr>
          <p:spPr>
            <a:xfrm>
              <a:off x="4598994" y="3348637"/>
              <a:ext cx="2970685" cy="369332"/>
            </a:xfrm>
            <a:prstGeom prst="rect">
              <a:avLst/>
            </a:prstGeom>
          </p:spPr>
          <p:txBody>
            <a:bodyPr wrap="none">
              <a:spAutoFit/>
            </a:bodyPr>
            <a:lstStyle/>
            <a:p>
              <a:pPr>
                <a:spcBef>
                  <a:spcPct val="20000"/>
                </a:spcBef>
                <a:buClr>
                  <a:srgbClr val="FB5B5B"/>
                </a:buClr>
                <a:defRPr/>
              </a:pPr>
              <a:r>
                <a:rPr lang="en-US" kern="0" dirty="0">
                  <a:solidFill>
                    <a:prstClr val="black"/>
                  </a:solidFill>
                </a:rPr>
                <a:t>Shared data object, e.g., a file</a:t>
              </a:r>
              <a:endParaRPr lang="en-US" b="1" kern="0" dirty="0">
                <a:solidFill>
                  <a:prstClr val="black"/>
                </a:solidFill>
              </a:endParaRPr>
            </a:p>
          </p:txBody>
        </p:sp>
        <p:pic>
          <p:nvPicPr>
            <p:cNvPr id="39" name="Picture 38" descr="Icon&#10;&#10;Description automatically generated">
              <a:extLst>
                <a:ext uri="{FF2B5EF4-FFF2-40B4-BE49-F238E27FC236}">
                  <a16:creationId xmlns:a16="http://schemas.microsoft.com/office/drawing/2014/main" id="{7F64EC6C-8F48-FCC5-570B-B2ED1F2B3692}"/>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5618153" y="3704822"/>
              <a:ext cx="932366" cy="932366"/>
            </a:xfrm>
            <a:prstGeom prst="rect">
              <a:avLst/>
            </a:prstGeom>
          </p:spPr>
        </p:pic>
      </p:grpSp>
      <p:cxnSp>
        <p:nvCxnSpPr>
          <p:cNvPr id="43" name="Straight Arrow Connector 42">
            <a:extLst>
              <a:ext uri="{FF2B5EF4-FFF2-40B4-BE49-F238E27FC236}">
                <a16:creationId xmlns:a16="http://schemas.microsoft.com/office/drawing/2014/main" id="{B47A11DD-945E-091E-B0D3-F0117E5C7433}"/>
              </a:ext>
            </a:extLst>
          </p:cNvPr>
          <p:cNvCxnSpPr>
            <a:stCxn id="25" idx="6"/>
            <a:endCxn id="6" idx="1"/>
          </p:cNvCxnSpPr>
          <p:nvPr/>
        </p:nvCxnSpPr>
        <p:spPr>
          <a:xfrm>
            <a:off x="2609173" y="2476239"/>
            <a:ext cx="1797310" cy="657188"/>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4923F2BF-DEC5-31FF-99C3-BF9AA5EAC76A}"/>
              </a:ext>
            </a:extLst>
          </p:cNvPr>
          <p:cNvCxnSpPr>
            <a:cxnSpLocks/>
            <a:stCxn id="36" idx="6"/>
            <a:endCxn id="6" idx="1"/>
          </p:cNvCxnSpPr>
          <p:nvPr/>
        </p:nvCxnSpPr>
        <p:spPr>
          <a:xfrm flipV="1">
            <a:off x="2609173" y="3133427"/>
            <a:ext cx="1797310" cy="754427"/>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1FF09B8-5E0C-148A-BC49-0C102ABC09E5}"/>
              </a:ext>
            </a:extLst>
          </p:cNvPr>
          <p:cNvCxnSpPr>
            <a:cxnSpLocks/>
            <a:stCxn id="28" idx="2"/>
            <a:endCxn id="6" idx="3"/>
          </p:cNvCxnSpPr>
          <p:nvPr/>
        </p:nvCxnSpPr>
        <p:spPr>
          <a:xfrm flipH="1">
            <a:off x="7785517" y="2476239"/>
            <a:ext cx="1500649" cy="657188"/>
          </a:xfrm>
          <a:prstGeom prst="straightConnector1">
            <a:avLst/>
          </a:prstGeom>
          <a:ln>
            <a:tailEnd type="triangle" w="lg" len="lg"/>
          </a:ln>
        </p:spPr>
        <p:style>
          <a:lnRef idx="1">
            <a:schemeClr val="accent2"/>
          </a:lnRef>
          <a:fillRef idx="0">
            <a:schemeClr val="accent2"/>
          </a:fillRef>
          <a:effectRef idx="0">
            <a:schemeClr val="accent2"/>
          </a:effectRef>
          <a:fontRef idx="minor">
            <a:schemeClr val="tx1"/>
          </a:fontRef>
        </p:style>
      </p:cxnSp>
      <p:cxnSp>
        <p:nvCxnSpPr>
          <p:cNvPr id="52" name="Straight Arrow Connector 51">
            <a:extLst>
              <a:ext uri="{FF2B5EF4-FFF2-40B4-BE49-F238E27FC236}">
                <a16:creationId xmlns:a16="http://schemas.microsoft.com/office/drawing/2014/main" id="{18A31656-CF4D-1C02-20DB-997FA7295531}"/>
              </a:ext>
            </a:extLst>
          </p:cNvPr>
          <p:cNvCxnSpPr>
            <a:cxnSpLocks/>
            <a:stCxn id="37" idx="2"/>
            <a:endCxn id="6" idx="3"/>
          </p:cNvCxnSpPr>
          <p:nvPr/>
        </p:nvCxnSpPr>
        <p:spPr>
          <a:xfrm flipH="1" flipV="1">
            <a:off x="7785517" y="3133427"/>
            <a:ext cx="1500649" cy="754427"/>
          </a:xfrm>
          <a:prstGeom prst="straightConnector1">
            <a:avLst/>
          </a:prstGeom>
          <a:ln>
            <a:tailEnd type="triangle" w="lg" len="lg"/>
          </a:ln>
        </p:spPr>
        <p:style>
          <a:lnRef idx="1">
            <a:schemeClr val="accent2"/>
          </a:lnRef>
          <a:fillRef idx="0">
            <a:schemeClr val="accent2"/>
          </a:fillRef>
          <a:effectRef idx="0">
            <a:schemeClr val="accent2"/>
          </a:effectRef>
          <a:fontRef idx="minor">
            <a:schemeClr val="tx1"/>
          </a:fontRef>
        </p:style>
      </p:cxnSp>
      <p:sp>
        <p:nvSpPr>
          <p:cNvPr id="4" name="Date Placeholder 3">
            <a:extLst>
              <a:ext uri="{FF2B5EF4-FFF2-40B4-BE49-F238E27FC236}">
                <a16:creationId xmlns:a16="http://schemas.microsoft.com/office/drawing/2014/main" id="{76890433-2114-4386-1DD5-9F6E3D8F2D54}"/>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978989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tangle 54">
            <a:extLst>
              <a:ext uri="{FF2B5EF4-FFF2-40B4-BE49-F238E27FC236}">
                <a16:creationId xmlns:a16="http://schemas.microsoft.com/office/drawing/2014/main" id="{91E483DB-4A3B-4534-9587-BF13D482F495}"/>
              </a:ext>
            </a:extLst>
          </p:cNvPr>
          <p:cNvSpPr/>
          <p:nvPr/>
        </p:nvSpPr>
        <p:spPr>
          <a:xfrm>
            <a:off x="5820571" y="855363"/>
            <a:ext cx="3133855" cy="4745915"/>
          </a:xfrm>
          <a:prstGeom prst="rect">
            <a:avLst/>
          </a:prstGeom>
        </p:spPr>
        <p:txBody>
          <a:bodyPr wrap="square">
            <a:spAutoFit/>
          </a:bodyPr>
          <a:lstStyle/>
          <a:p>
            <a:pPr>
              <a:spcBef>
                <a:spcPct val="20000"/>
              </a:spcBef>
              <a:buClr>
                <a:srgbClr val="FB5B5B"/>
              </a:buClr>
              <a:defRPr/>
            </a:pPr>
            <a:r>
              <a:rPr lang="en-US" b="1" kern="0" dirty="0">
                <a:solidFill>
                  <a:prstClr val="black"/>
                </a:solidFill>
              </a:rPr>
              <a:t>Reader</a:t>
            </a:r>
          </a:p>
          <a:p>
            <a:pPr>
              <a:spcBef>
                <a:spcPct val="20000"/>
              </a:spcBef>
              <a:buClr>
                <a:srgbClr val="FB5B5B"/>
              </a:buClr>
              <a:defRPr/>
            </a:pPr>
            <a:endParaRPr lang="en-US" kern="0" dirty="0">
              <a:solidFill>
                <a:prstClr val="black"/>
              </a:solidFill>
            </a:endParaRPr>
          </a:p>
          <a:p>
            <a:pPr>
              <a:spcBef>
                <a:spcPct val="20000"/>
              </a:spcBef>
              <a:buClr>
                <a:srgbClr val="FB5B5B"/>
              </a:buClr>
              <a:defRPr/>
            </a:pPr>
            <a:r>
              <a:rPr lang="en-US" kern="0" dirty="0">
                <a:solidFill>
                  <a:prstClr val="black"/>
                </a:solidFill>
              </a:rPr>
              <a:t>if I am first in a batch of readers to check</a:t>
            </a:r>
          </a:p>
          <a:p>
            <a:pPr>
              <a:spcBef>
                <a:spcPct val="20000"/>
              </a:spcBef>
              <a:buClr>
                <a:srgbClr val="FB5B5B"/>
              </a:buClr>
              <a:defRPr/>
            </a:pPr>
            <a:r>
              <a:rPr lang="en-US" kern="0" dirty="0">
                <a:solidFill>
                  <a:prstClr val="black"/>
                </a:solidFill>
              </a:rPr>
              <a:t>  </a:t>
            </a:r>
            <a:r>
              <a:rPr lang="en-US" kern="0" dirty="0">
                <a:solidFill>
                  <a:srgbClr val="C00000"/>
                </a:solidFill>
              </a:rPr>
              <a:t>wait until no one accesses the object (else others read, hence go on)</a:t>
            </a:r>
          </a:p>
          <a:p>
            <a:pPr>
              <a:spcBef>
                <a:spcPct val="20000"/>
              </a:spcBef>
              <a:buClr>
                <a:srgbClr val="FB5B5B"/>
              </a:buClr>
              <a:defRPr/>
            </a:pPr>
            <a:endParaRPr lang="en-US" kern="0" dirty="0">
              <a:solidFill>
                <a:prstClr val="black"/>
              </a:solidFill>
            </a:endParaRPr>
          </a:p>
          <a:p>
            <a:pPr>
              <a:spcBef>
                <a:spcPct val="20000"/>
              </a:spcBef>
              <a:buClr>
                <a:srgbClr val="FB5B5B"/>
              </a:buClr>
              <a:defRPr/>
            </a:pPr>
            <a:r>
              <a:rPr lang="en-US" kern="0" dirty="0">
                <a:solidFill>
                  <a:prstClr val="black"/>
                </a:solidFill>
              </a:rPr>
              <a:t>// READ</a:t>
            </a:r>
          </a:p>
          <a:p>
            <a:pPr>
              <a:spcBef>
                <a:spcPct val="20000"/>
              </a:spcBef>
              <a:buClr>
                <a:srgbClr val="FB5B5B"/>
              </a:buClr>
              <a:defRPr/>
            </a:pPr>
            <a:endParaRPr lang="en-US" kern="0" dirty="0">
              <a:solidFill>
                <a:prstClr val="black"/>
              </a:solidFill>
            </a:endParaRPr>
          </a:p>
          <a:p>
            <a:pPr>
              <a:spcBef>
                <a:spcPct val="20000"/>
              </a:spcBef>
              <a:buClr>
                <a:srgbClr val="FB5B5B"/>
              </a:buClr>
              <a:defRPr/>
            </a:pPr>
            <a:r>
              <a:rPr lang="en-US" kern="0" dirty="0">
                <a:solidFill>
                  <a:srgbClr val="00B050"/>
                </a:solidFill>
              </a:rPr>
              <a:t>inform: no longer accessing the object</a:t>
            </a:r>
          </a:p>
          <a:p>
            <a:pPr>
              <a:spcBef>
                <a:spcPct val="20000"/>
              </a:spcBef>
              <a:buClr>
                <a:srgbClr val="FB5B5B"/>
              </a:buClr>
              <a:defRPr/>
            </a:pPr>
            <a:r>
              <a:rPr lang="en-US" kern="0" dirty="0">
                <a:solidFill>
                  <a:prstClr val="black"/>
                </a:solidFill>
              </a:rPr>
              <a:t> (… + if I am last in a batch of readers who read, tell that </a:t>
            </a:r>
            <a:r>
              <a:rPr lang="en-US" kern="0" dirty="0">
                <a:solidFill>
                  <a:srgbClr val="00B050"/>
                </a:solidFill>
              </a:rPr>
              <a:t>no one accesses the object </a:t>
            </a:r>
            <a:r>
              <a:rPr lang="en-US" kern="0" dirty="0">
                <a:solidFill>
                  <a:prstClr val="black"/>
                </a:solidFill>
              </a:rPr>
              <a:t>…)</a:t>
            </a:r>
          </a:p>
        </p:txBody>
      </p:sp>
      <p:sp>
        <p:nvSpPr>
          <p:cNvPr id="54" name="Rectangle 53">
            <a:extLst>
              <a:ext uri="{FF2B5EF4-FFF2-40B4-BE49-F238E27FC236}">
                <a16:creationId xmlns:a16="http://schemas.microsoft.com/office/drawing/2014/main" id="{13747834-0E03-45C6-BF00-EE00CFF76162}"/>
              </a:ext>
            </a:extLst>
          </p:cNvPr>
          <p:cNvSpPr/>
          <p:nvPr/>
        </p:nvSpPr>
        <p:spPr>
          <a:xfrm>
            <a:off x="3287859" y="1538505"/>
            <a:ext cx="1622993" cy="3471720"/>
          </a:xfrm>
          <a:prstGeom prst="rect">
            <a:avLst/>
          </a:prstGeom>
        </p:spPr>
        <p:txBody>
          <a:bodyPr wrap="square">
            <a:spAutoFit/>
          </a:bodyPr>
          <a:lstStyle/>
          <a:p>
            <a:pPr>
              <a:spcBef>
                <a:spcPct val="20000"/>
              </a:spcBef>
              <a:buClr>
                <a:srgbClr val="FB5B5B"/>
              </a:buClr>
              <a:defRPr/>
            </a:pPr>
            <a:r>
              <a:rPr lang="en-US" b="1" kern="0" dirty="0">
                <a:solidFill>
                  <a:prstClr val="black"/>
                </a:solidFill>
              </a:rPr>
              <a:t>Writer </a:t>
            </a:r>
            <a:r>
              <a:rPr lang="en-US" kern="0" dirty="0">
                <a:solidFill>
                  <a:prstClr val="black"/>
                </a:solidFill>
              </a:rPr>
              <a:t> </a:t>
            </a:r>
          </a:p>
          <a:p>
            <a:pPr>
              <a:spcBef>
                <a:spcPct val="20000"/>
              </a:spcBef>
              <a:buClr>
                <a:srgbClr val="FB5B5B"/>
              </a:buClr>
              <a:defRPr/>
            </a:pPr>
            <a:endParaRPr lang="en-US" kern="0" dirty="0">
              <a:solidFill>
                <a:prstClr val="black"/>
              </a:solidFill>
            </a:endParaRPr>
          </a:p>
          <a:p>
            <a:pPr>
              <a:spcBef>
                <a:spcPct val="20000"/>
              </a:spcBef>
              <a:buClr>
                <a:srgbClr val="FB5B5B"/>
              </a:buClr>
              <a:defRPr/>
            </a:pPr>
            <a:r>
              <a:rPr lang="en-US" kern="0" dirty="0">
                <a:solidFill>
                  <a:srgbClr val="C00000"/>
                </a:solidFill>
              </a:rPr>
              <a:t>wait  until no one accesses the object</a:t>
            </a:r>
          </a:p>
          <a:p>
            <a:pPr>
              <a:spcBef>
                <a:spcPct val="20000"/>
              </a:spcBef>
              <a:buClr>
                <a:srgbClr val="FB5B5B"/>
              </a:buClr>
              <a:defRPr/>
            </a:pPr>
            <a:endParaRPr lang="en-US" kern="0" dirty="0">
              <a:solidFill>
                <a:prstClr val="black"/>
              </a:solidFill>
            </a:endParaRPr>
          </a:p>
          <a:p>
            <a:pPr>
              <a:spcBef>
                <a:spcPct val="20000"/>
              </a:spcBef>
              <a:buClr>
                <a:srgbClr val="FB5B5B"/>
              </a:buClr>
              <a:defRPr/>
            </a:pPr>
            <a:r>
              <a:rPr lang="en-US" kern="0" dirty="0">
                <a:solidFill>
                  <a:prstClr val="black"/>
                </a:solidFill>
              </a:rPr>
              <a:t>// WRITE</a:t>
            </a:r>
          </a:p>
          <a:p>
            <a:pPr>
              <a:spcBef>
                <a:spcPct val="20000"/>
              </a:spcBef>
              <a:buClr>
                <a:srgbClr val="FB5B5B"/>
              </a:buClr>
              <a:defRPr/>
            </a:pPr>
            <a:endParaRPr lang="en-US" kern="0" dirty="0">
              <a:solidFill>
                <a:prstClr val="black"/>
              </a:solidFill>
            </a:endParaRPr>
          </a:p>
          <a:p>
            <a:pPr>
              <a:spcBef>
                <a:spcPct val="20000"/>
              </a:spcBef>
              <a:buClr>
                <a:srgbClr val="FB5B5B"/>
              </a:buClr>
              <a:defRPr/>
            </a:pPr>
            <a:r>
              <a:rPr lang="en-US" kern="0" dirty="0">
                <a:solidFill>
                  <a:srgbClr val="00B050"/>
                </a:solidFill>
              </a:rPr>
              <a:t>no longer / no one accessing the object</a:t>
            </a:r>
          </a:p>
        </p:txBody>
      </p:sp>
      <p:sp>
        <p:nvSpPr>
          <p:cNvPr id="2" name="Slide Number Placeholder 1"/>
          <p:cNvSpPr>
            <a:spLocks noGrp="1"/>
          </p:cNvSpPr>
          <p:nvPr>
            <p:ph type="sldNum" sz="quarter" idx="12"/>
          </p:nvPr>
        </p:nvSpPr>
        <p:spPr/>
        <p:txBody>
          <a:bodyPr/>
          <a:lstStyle/>
          <a:p>
            <a:pPr>
              <a:defRPr/>
            </a:pPr>
            <a:fld id="{3F19581E-C58F-4F83-8FA8-2E7A8A7C33AE}" type="slidenum">
              <a:rPr lang="en-US" smtClean="0">
                <a:solidFill>
                  <a:prstClr val="black">
                    <a:tint val="75000"/>
                  </a:prstClr>
                </a:solidFill>
              </a:rPr>
              <a:pPr>
                <a:defRPr/>
              </a:pPr>
              <a:t>34</a:t>
            </a:fld>
            <a:endParaRPr lang="en-US" dirty="0">
              <a:solidFill>
                <a:prstClr val="black">
                  <a:tint val="75000"/>
                </a:prstClr>
              </a:solidFill>
            </a:endParaRPr>
          </a:p>
        </p:txBody>
      </p:sp>
      <p:cxnSp>
        <p:nvCxnSpPr>
          <p:cNvPr id="9" name="Straight Arrow Connector 8">
            <a:extLst>
              <a:ext uri="{FF2B5EF4-FFF2-40B4-BE49-F238E27FC236}">
                <a16:creationId xmlns:a16="http://schemas.microsoft.com/office/drawing/2014/main" id="{6CA03520-8505-459C-958A-2978D453F8B2}"/>
              </a:ext>
            </a:extLst>
          </p:cNvPr>
          <p:cNvCxnSpPr>
            <a:cxnSpLocks/>
          </p:cNvCxnSpPr>
          <p:nvPr/>
        </p:nvCxnSpPr>
        <p:spPr>
          <a:xfrm flipV="1">
            <a:off x="4838759" y="2152783"/>
            <a:ext cx="909719" cy="2111868"/>
          </a:xfrm>
          <a:prstGeom prst="straightConnector1">
            <a:avLst/>
          </a:prstGeom>
          <a:ln w="38100">
            <a:solidFill>
              <a:srgbClr val="00B05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56DAD37A-EDB3-4202-8788-A399053083C9}"/>
              </a:ext>
            </a:extLst>
          </p:cNvPr>
          <p:cNvCxnSpPr>
            <a:cxnSpLocks/>
          </p:cNvCxnSpPr>
          <p:nvPr/>
        </p:nvCxnSpPr>
        <p:spPr>
          <a:xfrm flipH="1" flipV="1">
            <a:off x="4736172" y="2697602"/>
            <a:ext cx="1012306" cy="1914835"/>
          </a:xfrm>
          <a:prstGeom prst="straightConnector1">
            <a:avLst/>
          </a:prstGeom>
          <a:ln w="38100">
            <a:solidFill>
              <a:srgbClr val="00B05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92B3EECF-B1C6-4D62-9323-72A849FBA5EC}"/>
              </a:ext>
            </a:extLst>
          </p:cNvPr>
          <p:cNvCxnSpPr>
            <a:cxnSpLocks/>
          </p:cNvCxnSpPr>
          <p:nvPr/>
        </p:nvCxnSpPr>
        <p:spPr>
          <a:xfrm rot="5400000" flipH="1" flipV="1">
            <a:off x="3916448" y="3532592"/>
            <a:ext cx="1082733" cy="1"/>
          </a:xfrm>
          <a:prstGeom prst="bentConnector3">
            <a:avLst>
              <a:gd name="adj1" fmla="val 18656"/>
            </a:avLst>
          </a:prstGeom>
          <a:ln w="38100">
            <a:solidFill>
              <a:srgbClr val="00B05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F34D28BE-C826-431D-9208-55D33F4F2627}"/>
              </a:ext>
            </a:extLst>
          </p:cNvPr>
          <p:cNvCxnSpPr>
            <a:cxnSpLocks/>
          </p:cNvCxnSpPr>
          <p:nvPr/>
        </p:nvCxnSpPr>
        <p:spPr>
          <a:xfrm flipV="1">
            <a:off x="8020801" y="2758085"/>
            <a:ext cx="0" cy="1238880"/>
          </a:xfrm>
          <a:prstGeom prst="straightConnector1">
            <a:avLst/>
          </a:prstGeom>
          <a:ln w="38100">
            <a:solidFill>
              <a:srgbClr val="00B05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51CF7A7A-4515-40AA-A8EB-A2F2BE65ADD4}"/>
              </a:ext>
            </a:extLst>
          </p:cNvPr>
          <p:cNvSpPr/>
          <p:nvPr/>
        </p:nvSpPr>
        <p:spPr>
          <a:xfrm>
            <a:off x="5854293" y="1467408"/>
            <a:ext cx="2834996" cy="68537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90" name="Rectangle 89">
            <a:extLst>
              <a:ext uri="{FF2B5EF4-FFF2-40B4-BE49-F238E27FC236}">
                <a16:creationId xmlns:a16="http://schemas.microsoft.com/office/drawing/2014/main" id="{3ED61BE5-E5FA-43CB-A25C-7D58524AD8A1}"/>
              </a:ext>
            </a:extLst>
          </p:cNvPr>
          <p:cNvSpPr/>
          <p:nvPr/>
        </p:nvSpPr>
        <p:spPr>
          <a:xfrm>
            <a:off x="5871065" y="4612437"/>
            <a:ext cx="3260326" cy="90224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58" name="Graphic 57" descr="Warning">
            <a:extLst>
              <a:ext uri="{FF2B5EF4-FFF2-40B4-BE49-F238E27FC236}">
                <a16:creationId xmlns:a16="http://schemas.microsoft.com/office/drawing/2014/main" id="{7808E227-6F03-4CF3-9523-29745D1D56A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47338" y="1707287"/>
            <a:ext cx="438063" cy="438063"/>
          </a:xfrm>
          <a:prstGeom prst="rect">
            <a:avLst/>
          </a:prstGeom>
        </p:spPr>
      </p:pic>
      <p:pic>
        <p:nvPicPr>
          <p:cNvPr id="91" name="Graphic 90" descr="Warning">
            <a:extLst>
              <a:ext uri="{FF2B5EF4-FFF2-40B4-BE49-F238E27FC236}">
                <a16:creationId xmlns:a16="http://schemas.microsoft.com/office/drawing/2014/main" id="{45AECDCA-9759-4492-BD08-7E029D3A058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81819" y="5088564"/>
            <a:ext cx="438063" cy="438063"/>
          </a:xfrm>
          <a:prstGeom prst="rect">
            <a:avLst/>
          </a:prstGeom>
        </p:spPr>
      </p:pic>
      <p:sp>
        <p:nvSpPr>
          <p:cNvPr id="5" name="Title 1">
            <a:extLst>
              <a:ext uri="{FF2B5EF4-FFF2-40B4-BE49-F238E27FC236}">
                <a16:creationId xmlns:a16="http://schemas.microsoft.com/office/drawing/2014/main" id="{55AE8D60-6786-F001-0EB6-E10529F5B9BD}"/>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Readers/Writers problem</a:t>
            </a:r>
            <a:endParaRPr lang="sv-SE" sz="3200" b="1" dirty="0">
              <a:solidFill>
                <a:schemeClr val="accent1">
                  <a:lumMod val="50000"/>
                </a:schemeClr>
              </a:solidFill>
            </a:endParaRPr>
          </a:p>
        </p:txBody>
      </p:sp>
      <p:sp>
        <p:nvSpPr>
          <p:cNvPr id="10" name="Oval 9">
            <a:extLst>
              <a:ext uri="{FF2B5EF4-FFF2-40B4-BE49-F238E27FC236}">
                <a16:creationId xmlns:a16="http://schemas.microsoft.com/office/drawing/2014/main" id="{6D0131CF-47EB-7728-ABD2-967302B01EF2}"/>
              </a:ext>
            </a:extLst>
          </p:cNvPr>
          <p:cNvSpPr>
            <a:spLocks noChangeAspect="1"/>
          </p:cNvSpPr>
          <p:nvPr/>
        </p:nvSpPr>
        <p:spPr>
          <a:xfrm>
            <a:off x="4118759" y="1347287"/>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800" dirty="0"/>
              <a:t>W</a:t>
            </a:r>
            <a:r>
              <a:rPr lang="en-US" sz="2800" baseline="-25000" dirty="0"/>
              <a:t>i</a:t>
            </a:r>
          </a:p>
        </p:txBody>
      </p:sp>
      <p:sp>
        <p:nvSpPr>
          <p:cNvPr id="11" name="Oval 10">
            <a:extLst>
              <a:ext uri="{FF2B5EF4-FFF2-40B4-BE49-F238E27FC236}">
                <a16:creationId xmlns:a16="http://schemas.microsoft.com/office/drawing/2014/main" id="{088F11DD-550A-2EA3-FC90-78AF18C7A593}"/>
              </a:ext>
            </a:extLst>
          </p:cNvPr>
          <p:cNvSpPr>
            <a:spLocks noChangeAspect="1"/>
          </p:cNvSpPr>
          <p:nvPr/>
        </p:nvSpPr>
        <p:spPr>
          <a:xfrm>
            <a:off x="6667498" y="630273"/>
            <a:ext cx="720000" cy="7200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sz="2800" dirty="0" err="1"/>
              <a:t>R</a:t>
            </a:r>
            <a:r>
              <a:rPr lang="en-US" sz="2800" baseline="-25000" dirty="0" err="1"/>
              <a:t>j</a:t>
            </a:r>
            <a:endParaRPr lang="en-US" sz="2800" baseline="-25000" dirty="0"/>
          </a:p>
        </p:txBody>
      </p:sp>
      <p:sp>
        <p:nvSpPr>
          <p:cNvPr id="3" name="Date Placeholder 2">
            <a:extLst>
              <a:ext uri="{FF2B5EF4-FFF2-40B4-BE49-F238E27FC236}">
                <a16:creationId xmlns:a16="http://schemas.microsoft.com/office/drawing/2014/main" id="{5E254752-67E2-50F2-D230-E477AFE5946A}"/>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7887817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4"/>
          <p:cNvSpPr>
            <a:spLocks noGrp="1"/>
          </p:cNvSpPr>
          <p:nvPr>
            <p:ph type="sldNum" sz="quarter" idx="12"/>
          </p:nvPr>
        </p:nvSpPr>
        <p:spPr>
          <a:noFill/>
        </p:spPr>
        <p:txBody>
          <a:bodyPr/>
          <a:lstStyle/>
          <a:p>
            <a:fld id="{B7B5D5D3-304D-4ED7-9AC4-EF4BA0F9E13D}" type="slidenum">
              <a:rPr lang="sv-SE" smtClean="0">
                <a:solidFill>
                  <a:prstClr val="black">
                    <a:tint val="75000"/>
                  </a:prstClr>
                </a:solidFill>
              </a:rPr>
              <a:pPr/>
              <a:t>35</a:t>
            </a:fld>
            <a:endParaRPr lang="sv-SE">
              <a:solidFill>
                <a:prstClr val="black">
                  <a:tint val="75000"/>
                </a:prstClr>
              </a:solidFill>
            </a:endParaRPr>
          </a:p>
        </p:txBody>
      </p:sp>
      <p:sp>
        <p:nvSpPr>
          <p:cNvPr id="6" name="Title 1">
            <a:extLst>
              <a:ext uri="{FF2B5EF4-FFF2-40B4-BE49-F238E27FC236}">
                <a16:creationId xmlns:a16="http://schemas.microsoft.com/office/drawing/2014/main" id="{B01DEB5E-3F35-74D7-8098-CAF5FD04D79C}"/>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Readers/Writers problem</a:t>
            </a:r>
            <a:endParaRPr lang="sv-SE" sz="3200" b="1" dirty="0">
              <a:solidFill>
                <a:schemeClr val="accent1">
                  <a:lumMod val="50000"/>
                </a:schemeClr>
              </a:solidFill>
            </a:endParaRPr>
          </a:p>
        </p:txBody>
      </p:sp>
      <p:grpSp>
        <p:nvGrpSpPr>
          <p:cNvPr id="9" name="Group 8">
            <a:extLst>
              <a:ext uri="{FF2B5EF4-FFF2-40B4-BE49-F238E27FC236}">
                <a16:creationId xmlns:a16="http://schemas.microsoft.com/office/drawing/2014/main" id="{7AFB81E6-7648-B920-65F6-111636C2274C}"/>
              </a:ext>
            </a:extLst>
          </p:cNvPr>
          <p:cNvGrpSpPr/>
          <p:nvPr/>
        </p:nvGrpSpPr>
        <p:grpSpPr>
          <a:xfrm>
            <a:off x="2153175" y="1853287"/>
            <a:ext cx="2683355" cy="2074644"/>
            <a:chOff x="282558" y="2157992"/>
            <a:chExt cx="2683355" cy="2074644"/>
          </a:xfrm>
        </p:grpSpPr>
        <p:sp>
          <p:nvSpPr>
            <p:cNvPr id="12295" name="Text Box 6"/>
            <p:cNvSpPr txBox="1">
              <a:spLocks noChangeArrowheads="1"/>
            </p:cNvSpPr>
            <p:nvPr/>
          </p:nvSpPr>
          <p:spPr bwMode="auto">
            <a:xfrm>
              <a:off x="282558" y="2273606"/>
              <a:ext cx="2615656" cy="1959030"/>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lvl1pPr indent="0" eaLnBrk="0" fontAlgn="base" hangingPunct="0">
                <a:lnSpc>
                  <a:spcPct val="90000"/>
                </a:lnSpc>
                <a:spcBef>
                  <a:spcPct val="20000"/>
                </a:spcBef>
                <a:spcAft>
                  <a:spcPct val="0"/>
                </a:spcAft>
                <a:buFont typeface="Arial" panose="020B0604020202020204" pitchFamily="34" charset="0"/>
                <a:buNone/>
                <a:tabLst>
                  <a:tab pos="168275" algn="l"/>
                  <a:tab pos="347663" algn="l"/>
                  <a:tab pos="525463" algn="l"/>
                </a:tabLst>
                <a:defRPr sz="1600" b="1">
                  <a:solidFill>
                    <a:prstClr val="black"/>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Writer</a:t>
              </a:r>
            </a:p>
            <a:p>
              <a:endParaRPr lang="en-US" dirty="0"/>
            </a:p>
            <a:p>
              <a:r>
                <a:rPr lang="en-US" dirty="0"/>
                <a:t>Repeat</a:t>
              </a:r>
            </a:p>
            <a:p>
              <a:r>
                <a:rPr lang="en-US" dirty="0"/>
                <a:t>	wait(</a:t>
              </a:r>
              <a:r>
                <a:rPr lang="en-US" dirty="0" err="1"/>
                <a:t>noone_accesses</a:t>
              </a:r>
              <a:r>
                <a:rPr lang="en-US" dirty="0"/>
                <a:t>); </a:t>
              </a:r>
            </a:p>
            <a:p>
              <a:r>
                <a:rPr lang="en-US" dirty="0">
                  <a:solidFill>
                    <a:schemeClr val="bg1">
                      <a:lumMod val="50000"/>
                    </a:schemeClr>
                  </a:solidFill>
                </a:rPr>
                <a:t>	// WRITE</a:t>
              </a:r>
            </a:p>
            <a:p>
              <a:r>
                <a:rPr lang="en-US" dirty="0">
                  <a:solidFill>
                    <a:schemeClr val="bg1">
                      <a:lumMod val="50000"/>
                    </a:schemeClr>
                  </a:solidFill>
                </a:rPr>
                <a:t>	</a:t>
              </a:r>
              <a:r>
                <a:rPr lang="en-US" dirty="0"/>
                <a:t>signal(</a:t>
              </a:r>
              <a:r>
                <a:rPr lang="en-US" dirty="0" err="1"/>
                <a:t>noone_accesses</a:t>
              </a:r>
              <a:r>
                <a:rPr lang="en-US" dirty="0"/>
                <a:t>)</a:t>
              </a:r>
            </a:p>
            <a:p>
              <a:r>
                <a:rPr lang="en-US" dirty="0"/>
                <a:t>forever</a:t>
              </a:r>
            </a:p>
          </p:txBody>
        </p:sp>
        <p:sp>
          <p:nvSpPr>
            <p:cNvPr id="7" name="Oval 6">
              <a:extLst>
                <a:ext uri="{FF2B5EF4-FFF2-40B4-BE49-F238E27FC236}">
                  <a16:creationId xmlns:a16="http://schemas.microsoft.com/office/drawing/2014/main" id="{A71F724E-FE90-B114-EB35-C29FB4E19B0E}"/>
                </a:ext>
              </a:extLst>
            </p:cNvPr>
            <p:cNvSpPr>
              <a:spLocks noChangeAspect="1"/>
            </p:cNvSpPr>
            <p:nvPr/>
          </p:nvSpPr>
          <p:spPr>
            <a:xfrm>
              <a:off x="2245913" y="2157992"/>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800" dirty="0"/>
                <a:t>W</a:t>
              </a:r>
              <a:r>
                <a:rPr lang="en-US" sz="2800" baseline="-25000" dirty="0"/>
                <a:t>i</a:t>
              </a:r>
            </a:p>
          </p:txBody>
        </p:sp>
      </p:grpSp>
      <p:grpSp>
        <p:nvGrpSpPr>
          <p:cNvPr id="10" name="Group 9">
            <a:extLst>
              <a:ext uri="{FF2B5EF4-FFF2-40B4-BE49-F238E27FC236}">
                <a16:creationId xmlns:a16="http://schemas.microsoft.com/office/drawing/2014/main" id="{1E436C02-0A15-5FB7-240C-A72101DB8FEC}"/>
              </a:ext>
            </a:extLst>
          </p:cNvPr>
          <p:cNvGrpSpPr/>
          <p:nvPr/>
        </p:nvGrpSpPr>
        <p:grpSpPr>
          <a:xfrm>
            <a:off x="4904226" y="1853287"/>
            <a:ext cx="6142091" cy="3339964"/>
            <a:chOff x="3033610" y="1759019"/>
            <a:chExt cx="6142091" cy="3339964"/>
          </a:xfrm>
        </p:grpSpPr>
        <p:sp>
          <p:nvSpPr>
            <p:cNvPr id="12294" name="Text Box 5"/>
            <p:cNvSpPr txBox="1">
              <a:spLocks noChangeArrowheads="1"/>
            </p:cNvSpPr>
            <p:nvPr/>
          </p:nvSpPr>
          <p:spPr bwMode="auto">
            <a:xfrm>
              <a:off x="3033610" y="1873497"/>
              <a:ext cx="6006695" cy="3225486"/>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defPPr>
                <a:defRPr lang="en-SE"/>
              </a:defPPr>
              <a:lvl1pPr indent="0" eaLnBrk="0" fontAlgn="base" hangingPunct="0">
                <a:lnSpc>
                  <a:spcPct val="90000"/>
                </a:lnSpc>
                <a:spcBef>
                  <a:spcPct val="20000"/>
                </a:spcBef>
                <a:spcAft>
                  <a:spcPct val="0"/>
                </a:spcAft>
                <a:buFont typeface="Arial" panose="020B0604020202020204" pitchFamily="34" charset="0"/>
                <a:buNone/>
                <a:tabLst>
                  <a:tab pos="168275" algn="l"/>
                  <a:tab pos="347663" algn="l"/>
                  <a:tab pos="525463" algn="l"/>
                </a:tabLst>
                <a:defRPr sz="1600" b="1">
                  <a:solidFill>
                    <a:prstClr val="black"/>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Reader</a:t>
              </a:r>
            </a:p>
            <a:p>
              <a:endParaRPr lang="en-US" dirty="0"/>
            </a:p>
            <a:p>
              <a:r>
                <a:rPr lang="en-US" dirty="0"/>
                <a:t>repeat</a:t>
              </a:r>
            </a:p>
            <a:p>
              <a:r>
                <a:rPr lang="en-US" dirty="0"/>
                <a:t>	wait(</a:t>
              </a:r>
              <a:r>
                <a:rPr lang="en-US" dirty="0" err="1"/>
                <a:t>protect_check</a:t>
              </a:r>
              <a:r>
                <a:rPr lang="en-US" dirty="0"/>
                <a:t>); </a:t>
              </a:r>
              <a:r>
                <a:rPr lang="en-US" dirty="0">
                  <a:solidFill>
                    <a:schemeClr val="bg1">
                      <a:lumMod val="50000"/>
                    </a:schemeClr>
                  </a:solidFill>
                </a:rPr>
                <a:t>// CS to change and check </a:t>
              </a:r>
              <a:r>
                <a:rPr lang="en-US" dirty="0" err="1">
                  <a:solidFill>
                    <a:schemeClr val="bg1">
                      <a:lumMod val="50000"/>
                    </a:schemeClr>
                  </a:solidFill>
                </a:rPr>
                <a:t>rc</a:t>
              </a:r>
              <a:r>
                <a:rPr lang="en-US" dirty="0">
                  <a:solidFill>
                    <a:schemeClr val="bg1">
                      <a:lumMod val="50000"/>
                    </a:schemeClr>
                  </a:solidFill>
                </a:rPr>
                <a:t> variable </a:t>
              </a:r>
            </a:p>
            <a:p>
              <a:r>
                <a:rPr lang="en-US" dirty="0">
                  <a:solidFill>
                    <a:schemeClr val="bg1">
                      <a:lumMod val="50000"/>
                    </a:schemeClr>
                  </a:solidFill>
                </a:rPr>
                <a:t>	</a:t>
              </a:r>
              <a:r>
                <a:rPr lang="en-US" dirty="0"/>
                <a:t>if </a:t>
              </a:r>
              <a:r>
                <a:rPr lang="en-US" dirty="0" err="1"/>
                <a:t>rc</a:t>
              </a:r>
              <a:r>
                <a:rPr lang="en-US" dirty="0"/>
                <a:t>++ == 1 then wait(</a:t>
              </a:r>
              <a:r>
                <a:rPr lang="en-US" dirty="0" err="1"/>
                <a:t>noone_accesses</a:t>
              </a:r>
              <a:r>
                <a:rPr lang="en-US" dirty="0"/>
                <a:t>) </a:t>
              </a:r>
              <a:r>
                <a:rPr lang="en-US" dirty="0">
                  <a:solidFill>
                    <a:schemeClr val="bg1">
                      <a:lumMod val="50000"/>
                    </a:schemeClr>
                  </a:solidFill>
                </a:rPr>
                <a:t>// “first” reader: block writers or wait if some of them writes</a:t>
              </a:r>
            </a:p>
            <a:p>
              <a:r>
                <a:rPr lang="en-US" dirty="0">
                  <a:solidFill>
                    <a:schemeClr val="bg1">
                      <a:lumMod val="50000"/>
                    </a:schemeClr>
                  </a:solidFill>
                </a:rPr>
                <a:t>	</a:t>
              </a:r>
              <a:r>
                <a:rPr lang="en-US" dirty="0"/>
                <a:t>signal(</a:t>
              </a:r>
              <a:r>
                <a:rPr lang="en-US" dirty="0" err="1"/>
                <a:t>protect_check</a:t>
              </a:r>
              <a:r>
                <a:rPr lang="en-US" dirty="0"/>
                <a:t>);</a:t>
              </a:r>
            </a:p>
            <a:p>
              <a:r>
                <a:rPr lang="en-US" dirty="0">
                  <a:solidFill>
                    <a:schemeClr val="bg1">
                      <a:lumMod val="50000"/>
                    </a:schemeClr>
                  </a:solidFill>
                </a:rPr>
                <a:t>	// READ</a:t>
              </a:r>
            </a:p>
            <a:p>
              <a:r>
                <a:rPr lang="en-US" dirty="0">
                  <a:solidFill>
                    <a:schemeClr val="bg1">
                      <a:lumMod val="50000"/>
                    </a:schemeClr>
                  </a:solidFill>
                </a:rPr>
                <a:t>	</a:t>
              </a:r>
              <a:r>
                <a:rPr lang="en-US" dirty="0"/>
                <a:t>wait(</a:t>
              </a:r>
              <a:r>
                <a:rPr lang="en-US" dirty="0" err="1"/>
                <a:t>protect_check</a:t>
              </a:r>
              <a:r>
                <a:rPr lang="en-US" dirty="0"/>
                <a:t>); </a:t>
              </a:r>
              <a:r>
                <a:rPr lang="en-US" dirty="0">
                  <a:solidFill>
                    <a:schemeClr val="bg1">
                      <a:lumMod val="50000"/>
                    </a:schemeClr>
                  </a:solidFill>
                </a:rPr>
                <a:t>// CS to change and check  </a:t>
              </a:r>
              <a:r>
                <a:rPr lang="en-US" dirty="0" err="1">
                  <a:solidFill>
                    <a:schemeClr val="bg1">
                      <a:lumMod val="50000"/>
                    </a:schemeClr>
                  </a:solidFill>
                </a:rPr>
                <a:t>rc</a:t>
              </a:r>
              <a:r>
                <a:rPr lang="en-US" dirty="0"/>
                <a:t> </a:t>
              </a:r>
            </a:p>
            <a:p>
              <a:r>
                <a:rPr lang="en-US" dirty="0"/>
                <a:t>	if </a:t>
              </a:r>
              <a:r>
                <a:rPr lang="en-US" dirty="0" err="1"/>
                <a:t>rc</a:t>
              </a:r>
              <a:r>
                <a:rPr lang="en-US" dirty="0"/>
                <a:t>--  == 0 then signal(</a:t>
              </a:r>
              <a:r>
                <a:rPr lang="en-US" dirty="0" err="1"/>
                <a:t>noone_accesses</a:t>
              </a:r>
              <a:r>
                <a:rPr lang="en-US" dirty="0"/>
                <a:t>) fi </a:t>
              </a:r>
              <a:r>
                <a:rPr lang="en-US" dirty="0">
                  <a:solidFill>
                    <a:schemeClr val="bg1">
                      <a:lumMod val="50000"/>
                    </a:schemeClr>
                  </a:solidFill>
                </a:rPr>
                <a:t>// “last” reader: signals</a:t>
              </a:r>
              <a:r>
                <a:rPr lang="en-US" dirty="0"/>
                <a:t>  </a:t>
              </a:r>
            </a:p>
            <a:p>
              <a:r>
                <a:rPr lang="en-US" dirty="0"/>
                <a:t>	signal(</a:t>
              </a:r>
              <a:r>
                <a:rPr lang="en-US" dirty="0" err="1"/>
                <a:t>protect_check</a:t>
              </a:r>
              <a:r>
                <a:rPr lang="en-US" dirty="0"/>
                <a:t>)</a:t>
              </a:r>
            </a:p>
            <a:p>
              <a:r>
                <a:rPr lang="en-US" dirty="0"/>
                <a:t>forever</a:t>
              </a:r>
            </a:p>
          </p:txBody>
        </p:sp>
        <p:sp>
          <p:nvSpPr>
            <p:cNvPr id="8" name="Oval 7">
              <a:extLst>
                <a:ext uri="{FF2B5EF4-FFF2-40B4-BE49-F238E27FC236}">
                  <a16:creationId xmlns:a16="http://schemas.microsoft.com/office/drawing/2014/main" id="{530A4428-7E4C-6849-750A-70778ABE45BD}"/>
                </a:ext>
              </a:extLst>
            </p:cNvPr>
            <p:cNvSpPr>
              <a:spLocks noChangeAspect="1"/>
            </p:cNvSpPr>
            <p:nvPr/>
          </p:nvSpPr>
          <p:spPr>
            <a:xfrm>
              <a:off x="8455701" y="1759019"/>
              <a:ext cx="720000" cy="7200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sz="2800" dirty="0" err="1"/>
                <a:t>R</a:t>
              </a:r>
              <a:r>
                <a:rPr lang="en-US" sz="2800" baseline="-25000" dirty="0" err="1"/>
                <a:t>j</a:t>
              </a:r>
              <a:endParaRPr lang="en-US" sz="2800" baseline="-25000" dirty="0"/>
            </a:p>
          </p:txBody>
        </p:sp>
      </p:grpSp>
      <p:grpSp>
        <p:nvGrpSpPr>
          <p:cNvPr id="13" name="Group 12">
            <a:extLst>
              <a:ext uri="{FF2B5EF4-FFF2-40B4-BE49-F238E27FC236}">
                <a16:creationId xmlns:a16="http://schemas.microsoft.com/office/drawing/2014/main" id="{941BDE0C-E9C3-F22D-A7E9-6BE213E618C1}"/>
              </a:ext>
            </a:extLst>
          </p:cNvPr>
          <p:cNvGrpSpPr/>
          <p:nvPr/>
        </p:nvGrpSpPr>
        <p:grpSpPr>
          <a:xfrm>
            <a:off x="2153175" y="596374"/>
            <a:ext cx="7254096" cy="1189202"/>
            <a:chOff x="282559" y="502106"/>
            <a:chExt cx="7254096" cy="1189202"/>
          </a:xfrm>
        </p:grpSpPr>
        <p:sp>
          <p:nvSpPr>
            <p:cNvPr id="2" name="Rectangle 1"/>
            <p:cNvSpPr/>
            <p:nvPr/>
          </p:nvSpPr>
          <p:spPr>
            <a:xfrm>
              <a:off x="282559" y="835689"/>
              <a:ext cx="6894096" cy="855619"/>
            </a:xfrm>
            <a:prstGeom prst="rect">
              <a:avLst/>
            </a:prstGeom>
            <a:solidFill>
              <a:schemeClr val="accent6">
                <a:lumMod val="20000"/>
                <a:lumOff val="80000"/>
              </a:schemeClr>
            </a:solidFill>
            <a:ln w="9525">
              <a:noFill/>
              <a:miter lim="800000"/>
              <a:headEnd/>
              <a:tailEnd/>
            </a:ln>
          </p:spPr>
          <p:txBody>
            <a:bodyPr vert="horz" wrap="square" lIns="91440" tIns="45720" rIns="91440" bIns="45720" numCol="1" rtlCol="0" anchor="t" anchorCtr="0" compatLnSpc="1">
              <a:prstTxWarp prst="textNoShape">
                <a:avLst/>
              </a:prstTxWarp>
              <a:noAutofit/>
            </a:bodyPr>
            <a:lstStyle/>
            <a:p>
              <a:pPr eaLnBrk="0" fontAlgn="base" hangingPunct="0">
                <a:lnSpc>
                  <a:spcPct val="90000"/>
                </a:lnSpc>
                <a:spcBef>
                  <a:spcPct val="20000"/>
                </a:spcBef>
                <a:spcAft>
                  <a:spcPct val="0"/>
                </a:spcAft>
                <a:tabLst>
                  <a:tab pos="168275" algn="l"/>
                  <a:tab pos="347663" algn="l"/>
                  <a:tab pos="525463" algn="l"/>
                </a:tabLst>
              </a:pPr>
              <a:r>
                <a:rPr lang="en-US" sz="1600" b="1" dirty="0">
                  <a:solidFill>
                    <a:prstClr val="black"/>
                  </a:solidFill>
                </a:rPr>
                <a:t>shared var: </a:t>
              </a:r>
            </a:p>
            <a:p>
              <a:pPr eaLnBrk="0" fontAlgn="base" hangingPunct="0">
                <a:lnSpc>
                  <a:spcPct val="90000"/>
                </a:lnSpc>
                <a:spcBef>
                  <a:spcPct val="20000"/>
                </a:spcBef>
                <a:spcAft>
                  <a:spcPct val="0"/>
                </a:spcAft>
                <a:tabLst>
                  <a:tab pos="168275" algn="l"/>
                  <a:tab pos="347663" algn="l"/>
                  <a:tab pos="525463" algn="l"/>
                </a:tabLst>
              </a:pPr>
              <a:r>
                <a:rPr lang="en-US" sz="1600" b="1" dirty="0" err="1">
                  <a:solidFill>
                    <a:prstClr val="black"/>
                  </a:solidFill>
                </a:rPr>
                <a:t>noone_accesses</a:t>
              </a:r>
              <a:r>
                <a:rPr lang="en-US" sz="1600" b="1" dirty="0">
                  <a:solidFill>
                    <a:prstClr val="black"/>
                  </a:solidFill>
                </a:rPr>
                <a:t>, </a:t>
              </a:r>
              <a:r>
                <a:rPr lang="en-US" sz="1600" b="1" dirty="0" err="1">
                  <a:solidFill>
                    <a:prstClr val="black"/>
                  </a:solidFill>
                </a:rPr>
                <a:t>protect_check</a:t>
              </a:r>
              <a:r>
                <a:rPr lang="en-US" sz="1600" b="1" dirty="0">
                  <a:solidFill>
                    <a:prstClr val="black"/>
                  </a:solidFill>
                </a:rPr>
                <a:t>: binary semaphore; </a:t>
              </a:r>
              <a:r>
                <a:rPr lang="en-US" sz="1600" b="1" dirty="0">
                  <a:solidFill>
                    <a:schemeClr val="bg1">
                      <a:lumMod val="50000"/>
                    </a:schemeClr>
                  </a:solidFill>
                </a:rPr>
                <a:t>// initially 1</a:t>
              </a:r>
            </a:p>
            <a:p>
              <a:pPr eaLnBrk="0" fontAlgn="base" hangingPunct="0">
                <a:lnSpc>
                  <a:spcPct val="90000"/>
                </a:lnSpc>
                <a:spcBef>
                  <a:spcPct val="20000"/>
                </a:spcBef>
                <a:spcAft>
                  <a:spcPct val="0"/>
                </a:spcAft>
                <a:tabLst>
                  <a:tab pos="168275" algn="l"/>
                  <a:tab pos="347663" algn="l"/>
                  <a:tab pos="525463" algn="l"/>
                </a:tabLst>
              </a:pPr>
              <a:r>
                <a:rPr lang="en-US" sz="1600" b="1" dirty="0" err="1">
                  <a:solidFill>
                    <a:prstClr val="black"/>
                  </a:solidFill>
                </a:rPr>
                <a:t>rc</a:t>
              </a:r>
              <a:r>
                <a:rPr lang="en-US" sz="1600" b="1" dirty="0">
                  <a:solidFill>
                    <a:prstClr val="black"/>
                  </a:solidFill>
                </a:rPr>
                <a:t>: int ;  </a:t>
              </a:r>
              <a:r>
                <a:rPr lang="en-US" sz="1600" b="1" dirty="0">
                  <a:solidFill>
                    <a:schemeClr val="bg1">
                      <a:lumMod val="50000"/>
                    </a:schemeClr>
                  </a:solidFill>
                </a:rPr>
                <a:t>// active readers counter, </a:t>
              </a:r>
              <a:r>
                <a:rPr lang="en-US" sz="1600" b="1" dirty="0" err="1">
                  <a:solidFill>
                    <a:schemeClr val="bg1">
                      <a:lumMod val="50000"/>
                    </a:schemeClr>
                  </a:solidFill>
                </a:rPr>
                <a:t>init</a:t>
              </a:r>
              <a:r>
                <a:rPr lang="en-US" sz="1600" b="1" dirty="0">
                  <a:solidFill>
                    <a:schemeClr val="bg1">
                      <a:lumMod val="50000"/>
                    </a:schemeClr>
                  </a:solidFill>
                </a:rPr>
                <a:t> 0</a:t>
              </a:r>
            </a:p>
          </p:txBody>
        </p:sp>
        <p:sp>
          <p:nvSpPr>
            <p:cNvPr id="11" name="Oval 10">
              <a:extLst>
                <a:ext uri="{FF2B5EF4-FFF2-40B4-BE49-F238E27FC236}">
                  <a16:creationId xmlns:a16="http://schemas.microsoft.com/office/drawing/2014/main" id="{78AD4B39-712B-F82B-BCE3-820FFE8C3007}"/>
                </a:ext>
              </a:extLst>
            </p:cNvPr>
            <p:cNvSpPr>
              <a:spLocks noChangeAspect="1"/>
            </p:cNvSpPr>
            <p:nvPr/>
          </p:nvSpPr>
          <p:spPr>
            <a:xfrm>
              <a:off x="6036957" y="502106"/>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800" dirty="0"/>
                <a:t>W</a:t>
              </a:r>
              <a:r>
                <a:rPr lang="en-US" sz="2800" baseline="-25000" dirty="0"/>
                <a:t>i</a:t>
              </a:r>
            </a:p>
          </p:txBody>
        </p:sp>
        <p:sp>
          <p:nvSpPr>
            <p:cNvPr id="12" name="Oval 11">
              <a:extLst>
                <a:ext uri="{FF2B5EF4-FFF2-40B4-BE49-F238E27FC236}">
                  <a16:creationId xmlns:a16="http://schemas.microsoft.com/office/drawing/2014/main" id="{21F71970-92CB-1417-751E-0430D2CE2AE5}"/>
                </a:ext>
              </a:extLst>
            </p:cNvPr>
            <p:cNvSpPr>
              <a:spLocks noChangeAspect="1"/>
            </p:cNvSpPr>
            <p:nvPr/>
          </p:nvSpPr>
          <p:spPr>
            <a:xfrm>
              <a:off x="6816655" y="502106"/>
              <a:ext cx="720000" cy="7200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sz="2800" dirty="0" err="1"/>
                <a:t>R</a:t>
              </a:r>
              <a:r>
                <a:rPr lang="en-US" sz="2800" baseline="-25000" dirty="0" err="1"/>
                <a:t>j</a:t>
              </a:r>
              <a:endParaRPr lang="en-US" sz="2800" baseline="-25000" dirty="0"/>
            </a:p>
          </p:txBody>
        </p:sp>
      </p:grpSp>
      <p:sp>
        <p:nvSpPr>
          <p:cNvPr id="3" name="Date Placeholder 2">
            <a:extLst>
              <a:ext uri="{FF2B5EF4-FFF2-40B4-BE49-F238E27FC236}">
                <a16:creationId xmlns:a16="http://schemas.microsoft.com/office/drawing/2014/main" id="{61894EA9-CE77-5B27-110D-F6A04071C987}"/>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3541199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2250A-5E5B-70FA-6A31-6DB2BEB91011}"/>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9227323-B622-2A52-0358-95FA49351F66}"/>
              </a:ext>
            </a:extLst>
          </p:cNvPr>
          <p:cNvSpPr>
            <a:spLocks noGrp="1"/>
          </p:cNvSpPr>
          <p:nvPr>
            <p:ph idx="1"/>
          </p:nvPr>
        </p:nvSpPr>
        <p:spPr/>
        <p:txBody>
          <a:bodyPr>
            <a:normAutofit lnSpcReduction="10000"/>
          </a:bodyPr>
          <a:lstStyle/>
          <a:p>
            <a:r>
              <a:rPr lang="en-US" dirty="0">
                <a:solidFill>
                  <a:schemeClr val="bg1">
                    <a:lumMod val="50000"/>
                  </a:schemeClr>
                </a:solidFill>
              </a:rPr>
              <a:t>Bounded-buffer producer/consumer</a:t>
            </a:r>
          </a:p>
          <a:p>
            <a:r>
              <a:rPr lang="en-US" dirty="0">
                <a:solidFill>
                  <a:schemeClr val="bg1">
                    <a:lumMod val="50000"/>
                  </a:schemeClr>
                </a:solidFill>
              </a:rPr>
              <a:t>Resource allocation, deadlocks, and necessary conditions for deadlocks</a:t>
            </a:r>
          </a:p>
          <a:p>
            <a:r>
              <a:rPr lang="en-US" dirty="0">
                <a:solidFill>
                  <a:schemeClr val="bg1">
                    <a:lumMod val="50000"/>
                  </a:schemeClr>
                </a:solidFill>
              </a:rPr>
              <a:t>Dining philosophers</a:t>
            </a:r>
          </a:p>
          <a:p>
            <a:pPr lvl="1"/>
            <a:r>
              <a:rPr lang="en-US" dirty="0">
                <a:solidFill>
                  <a:schemeClr val="bg1">
                    <a:lumMod val="50000"/>
                  </a:schemeClr>
                </a:solidFill>
              </a:rPr>
              <a:t>without circular wait</a:t>
            </a:r>
          </a:p>
          <a:p>
            <a:pPr lvl="1"/>
            <a:r>
              <a:rPr lang="en-US" dirty="0">
                <a:solidFill>
                  <a:schemeClr val="bg1">
                    <a:lumMod val="50000"/>
                  </a:schemeClr>
                </a:solidFill>
              </a:rPr>
              <a:t>without no-preemption</a:t>
            </a:r>
          </a:p>
          <a:p>
            <a:pPr lvl="1"/>
            <a:r>
              <a:rPr lang="en-US" dirty="0">
                <a:solidFill>
                  <a:schemeClr val="bg1">
                    <a:lumMod val="50000"/>
                  </a:schemeClr>
                </a:solidFill>
              </a:rPr>
              <a:t>without hold-and-wait</a:t>
            </a:r>
          </a:p>
          <a:p>
            <a:r>
              <a:rPr lang="en-US" dirty="0" err="1">
                <a:solidFill>
                  <a:schemeClr val="bg1">
                    <a:lumMod val="50000"/>
                  </a:schemeClr>
                </a:solidFill>
              </a:rPr>
              <a:t>Lamport’s</a:t>
            </a:r>
            <a:r>
              <a:rPr lang="en-US" dirty="0">
                <a:solidFill>
                  <a:schemeClr val="bg1">
                    <a:lumMod val="50000"/>
                  </a:schemeClr>
                </a:solidFill>
              </a:rPr>
              <a:t> bakery algorithm</a:t>
            </a:r>
          </a:p>
          <a:p>
            <a:r>
              <a:rPr lang="en-US" dirty="0">
                <a:solidFill>
                  <a:schemeClr val="bg1">
                    <a:lumMod val="50000"/>
                  </a:schemeClr>
                </a:solidFill>
              </a:rPr>
              <a:t>Readers/Writers problem</a:t>
            </a:r>
          </a:p>
          <a:p>
            <a:r>
              <a:rPr lang="en-US" dirty="0"/>
              <a:t>OS as arbitrator for deadlock avoidance/recovery</a:t>
            </a:r>
          </a:p>
          <a:p>
            <a:pPr lvl="1"/>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AE5EEEB9-C4A1-3C88-7BB6-50A561E923A4}"/>
              </a:ext>
            </a:extLst>
          </p:cNvPr>
          <p:cNvSpPr>
            <a:spLocks noGrp="1"/>
          </p:cNvSpPr>
          <p:nvPr>
            <p:ph type="sldNum" sz="quarter" idx="12"/>
          </p:nvPr>
        </p:nvSpPr>
        <p:spPr/>
        <p:txBody>
          <a:bodyPr/>
          <a:lstStyle/>
          <a:p>
            <a:fld id="{67FCC1A6-2294-BF46-A2F7-E6BDB92DF1BF}" type="slidenum">
              <a:rPr lang="en-US" smtClean="0"/>
              <a:t>36</a:t>
            </a:fld>
            <a:endParaRPr lang="en-US"/>
          </a:p>
        </p:txBody>
      </p:sp>
      <p:sp>
        <p:nvSpPr>
          <p:cNvPr id="5" name="Date Placeholder 4">
            <a:extLst>
              <a:ext uri="{FF2B5EF4-FFF2-40B4-BE49-F238E27FC236}">
                <a16:creationId xmlns:a16="http://schemas.microsoft.com/office/drawing/2014/main" id="{1A36B018-5FAF-A041-5713-426C989AAD47}"/>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2536559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Slide Number Placeholder 5"/>
          <p:cNvSpPr>
            <a:spLocks noGrp="1"/>
          </p:cNvSpPr>
          <p:nvPr>
            <p:ph type="sldNum" sz="quarter" idx="12"/>
          </p:nvPr>
        </p:nvSpPr>
        <p:spPr>
          <a:noFill/>
        </p:spPr>
        <p:txBody>
          <a:bodyPr/>
          <a:lstStyle/>
          <a:p>
            <a:fld id="{7C60CCE7-AE37-4A34-B533-C66B535C81D0}" type="slidenum">
              <a:rPr lang="en-US" smtClean="0">
                <a:solidFill>
                  <a:prstClr val="black">
                    <a:tint val="75000"/>
                  </a:prstClr>
                </a:solidFill>
              </a:rPr>
              <a:pPr/>
              <a:t>37</a:t>
            </a:fld>
            <a:endParaRPr lang="en-US" dirty="0">
              <a:solidFill>
                <a:prstClr val="black">
                  <a:tint val="75000"/>
                </a:prstClr>
              </a:solidFill>
            </a:endParaRPr>
          </a:p>
        </p:txBody>
      </p:sp>
      <p:sp>
        <p:nvSpPr>
          <p:cNvPr id="139267" name="Rectangle 3"/>
          <p:cNvSpPr>
            <a:spLocks noGrp="1" noChangeArrowheads="1"/>
          </p:cNvSpPr>
          <p:nvPr>
            <p:ph type="body" idx="1"/>
          </p:nvPr>
        </p:nvSpPr>
        <p:spPr>
          <a:xfrm>
            <a:off x="960240" y="2056492"/>
            <a:ext cx="10568741" cy="3827512"/>
          </a:xfrm>
          <a:ln>
            <a:noFill/>
          </a:ln>
        </p:spPr>
        <p:style>
          <a:lnRef idx="2">
            <a:schemeClr val="dk1"/>
          </a:lnRef>
          <a:fillRef idx="1">
            <a:schemeClr val="lt1"/>
          </a:fillRef>
          <a:effectRef idx="0">
            <a:schemeClr val="dk1"/>
          </a:effectRef>
          <a:fontRef idx="minor">
            <a:schemeClr val="dk1"/>
          </a:fontRef>
        </p:style>
        <p:txBody>
          <a:bodyPr/>
          <a:lstStyle/>
          <a:p>
            <a:pPr marL="0" indent="0">
              <a:buNone/>
            </a:pPr>
            <a:r>
              <a:rPr lang="en-US" sz="2000" b="1" dirty="0">
                <a:solidFill>
                  <a:srgbClr val="C00000"/>
                </a:solidFill>
              </a:rPr>
              <a:t>Resource request &amp; allocation is managed by the OS</a:t>
            </a:r>
          </a:p>
          <a:p>
            <a:pPr marL="0" indent="0">
              <a:buNone/>
            </a:pPr>
            <a:endParaRPr lang="en-US" sz="2000" dirty="0"/>
          </a:p>
          <a:p>
            <a:pPr marL="0" indent="0">
              <a:buNone/>
            </a:pPr>
            <a:r>
              <a:rPr lang="en-US" sz="2000" dirty="0">
                <a:solidFill>
                  <a:srgbClr val="C00000"/>
                </a:solidFill>
              </a:rPr>
              <a:t>Deadlock </a:t>
            </a:r>
            <a:r>
              <a:rPr lang="en-US" sz="2000" i="1" dirty="0">
                <a:solidFill>
                  <a:srgbClr val="C00000"/>
                </a:solidFill>
              </a:rPr>
              <a:t>avoidance</a:t>
            </a:r>
            <a:r>
              <a:rPr lang="en-US" sz="2000" dirty="0">
                <a:solidFill>
                  <a:schemeClr val="tx1"/>
                </a:solidFill>
              </a:rPr>
              <a:t>: </a:t>
            </a:r>
          </a:p>
          <a:p>
            <a:r>
              <a:rPr lang="en-US" sz="2000" dirty="0">
                <a:solidFill>
                  <a:schemeClr val="tx1"/>
                </a:solidFill>
              </a:rPr>
              <a:t>deadlock</a:t>
            </a:r>
            <a:r>
              <a:rPr lang="en-US" sz="2000" i="1" dirty="0">
                <a:solidFill>
                  <a:schemeClr val="tx1"/>
                </a:solidFill>
              </a:rPr>
              <a:t> might be </a:t>
            </a:r>
            <a:r>
              <a:rPr lang="en-US" sz="2000" dirty="0">
                <a:solidFill>
                  <a:schemeClr val="tx1"/>
                </a:solidFill>
              </a:rPr>
              <a:t>possible if resources are granted arbitrarily, </a:t>
            </a:r>
          </a:p>
          <a:p>
            <a:r>
              <a:rPr lang="en-US" sz="2000" dirty="0">
                <a:solidFill>
                  <a:schemeClr val="tx1"/>
                </a:solidFill>
              </a:rPr>
              <a:t>but OS uses extra info to grant requests and schedule processes so that it avoids deadlock</a:t>
            </a:r>
          </a:p>
          <a:p>
            <a:r>
              <a:rPr lang="en-US" sz="2000" b="1" dirty="0">
                <a:solidFill>
                  <a:schemeClr val="tx1"/>
                </a:solidFill>
              </a:rPr>
              <a:t>Banker’s algorithm[Dijkstra]</a:t>
            </a:r>
            <a:endParaRPr lang="en-US" sz="2000" dirty="0">
              <a:solidFill>
                <a:schemeClr val="accent2"/>
              </a:solidFill>
            </a:endParaRPr>
          </a:p>
          <a:p>
            <a:pPr marL="457200" indent="-457200"/>
            <a:endParaRPr lang="en-US" sz="2000" dirty="0">
              <a:solidFill>
                <a:schemeClr val="accent2"/>
              </a:solidFill>
            </a:endParaRPr>
          </a:p>
        </p:txBody>
      </p:sp>
      <p:sp>
        <p:nvSpPr>
          <p:cNvPr id="2" name="Title 1">
            <a:extLst>
              <a:ext uri="{FF2B5EF4-FFF2-40B4-BE49-F238E27FC236}">
                <a16:creationId xmlns:a16="http://schemas.microsoft.com/office/drawing/2014/main" id="{8498EFA4-E386-ADF4-5160-D9E5F2BEE227}"/>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Deadlock avoidance using the OS as arbitrator</a:t>
            </a:r>
            <a:endParaRPr lang="sv-SE" sz="3200" b="1" dirty="0">
              <a:solidFill>
                <a:schemeClr val="accent1">
                  <a:lumMod val="50000"/>
                </a:schemeClr>
              </a:solidFill>
            </a:endParaRPr>
          </a:p>
        </p:txBody>
      </p:sp>
      <p:sp>
        <p:nvSpPr>
          <p:cNvPr id="3" name="Date Placeholder 2">
            <a:extLst>
              <a:ext uri="{FF2B5EF4-FFF2-40B4-BE49-F238E27FC236}">
                <a16:creationId xmlns:a16="http://schemas.microsoft.com/office/drawing/2014/main" id="{08CFBCBC-D596-F7E4-7CE2-C7AAE5AC0E03}"/>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2628765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p:cNvSpPr>
            <a:spLocks noGrp="1"/>
          </p:cNvSpPr>
          <p:nvPr>
            <p:ph type="sldNum" sz="quarter" idx="12"/>
          </p:nvPr>
        </p:nvSpPr>
        <p:spPr>
          <a:noFill/>
        </p:spPr>
        <p:txBody>
          <a:bodyPr/>
          <a:lstStyle/>
          <a:p>
            <a:fld id="{D98A319E-0922-488B-AEFB-6F17E87389C9}" type="slidenum">
              <a:rPr lang="en-US" smtClean="0">
                <a:solidFill>
                  <a:prstClr val="black">
                    <a:tint val="75000"/>
                  </a:prstClr>
                </a:solidFill>
              </a:rPr>
              <a:pPr/>
              <a:t>38</a:t>
            </a:fld>
            <a:endParaRPr lang="en-US">
              <a:solidFill>
                <a:prstClr val="black">
                  <a:tint val="75000"/>
                </a:prstClr>
              </a:solidFill>
            </a:endParaRPr>
          </a:p>
        </p:txBody>
      </p:sp>
      <p:sp>
        <p:nvSpPr>
          <p:cNvPr id="10244" name="Rectangle 3"/>
          <p:cNvSpPr>
            <a:spLocks noGrp="1" noChangeArrowheads="1"/>
          </p:cNvSpPr>
          <p:nvPr>
            <p:ph type="body" idx="1"/>
          </p:nvPr>
        </p:nvSpPr>
        <p:spPr>
          <a:xfrm>
            <a:off x="321503" y="946948"/>
            <a:ext cx="6041589" cy="3983271"/>
          </a:xfrm>
          <a:noFill/>
          <a:ln>
            <a:noFill/>
          </a:ln>
          <a:effectLst/>
        </p:spPr>
        <p:style>
          <a:lnRef idx="1">
            <a:schemeClr val="dk1"/>
          </a:lnRef>
          <a:fillRef idx="2">
            <a:schemeClr val="dk1"/>
          </a:fillRef>
          <a:effectRef idx="1">
            <a:schemeClr val="dk1"/>
          </a:effectRef>
          <a:fontRef idx="minor">
            <a:schemeClr val="dk1"/>
          </a:fontRef>
        </p:style>
        <p:txBody>
          <a:bodyPr/>
          <a:lstStyle/>
          <a:p>
            <a:pPr marL="0" indent="0">
              <a:buNone/>
            </a:pPr>
            <a:r>
              <a:rPr lang="en-US" sz="2000" dirty="0">
                <a:solidFill>
                  <a:srgbClr val="C00000"/>
                </a:solidFill>
              </a:rPr>
              <a:t>Resource types </a:t>
            </a:r>
            <a:r>
              <a:rPr lang="en-US" sz="2000" i="1" dirty="0"/>
              <a:t>R</a:t>
            </a:r>
            <a:r>
              <a:rPr lang="en-US" sz="2000" baseline="-25000" dirty="0"/>
              <a:t>1</a:t>
            </a:r>
            <a:r>
              <a:rPr lang="en-US" sz="2000" dirty="0"/>
              <a:t>, </a:t>
            </a:r>
            <a:r>
              <a:rPr lang="en-US" sz="2000" i="1" dirty="0"/>
              <a:t>R</a:t>
            </a:r>
            <a:r>
              <a:rPr lang="en-US" sz="2000" baseline="-25000" dirty="0"/>
              <a:t>2</a:t>
            </a:r>
            <a:r>
              <a:rPr lang="en-US" sz="2000" dirty="0"/>
              <a:t>, . . ., </a:t>
            </a:r>
            <a:r>
              <a:rPr lang="en-US" sz="2000" i="1" dirty="0"/>
              <a:t>R</a:t>
            </a:r>
            <a:r>
              <a:rPr lang="en-US" sz="2000" baseline="-25000" dirty="0"/>
              <a:t>m</a:t>
            </a:r>
          </a:p>
          <a:p>
            <a:pPr lvl="1"/>
            <a:r>
              <a:rPr lang="en-US" sz="2000" i="1" dirty="0"/>
              <a:t>e.g., CPU, memory space, I/O devices, files</a:t>
            </a:r>
          </a:p>
          <a:p>
            <a:pPr lvl="1"/>
            <a:r>
              <a:rPr lang="en-US" sz="2000" dirty="0"/>
              <a:t>each resource type </a:t>
            </a:r>
            <a:r>
              <a:rPr lang="en-US" sz="2000" i="1" dirty="0"/>
              <a:t>R</a:t>
            </a:r>
            <a:r>
              <a:rPr lang="en-US" sz="2000" baseline="-25000" dirty="0"/>
              <a:t>i</a:t>
            </a:r>
            <a:r>
              <a:rPr lang="en-US" sz="2000" dirty="0"/>
              <a:t> has </a:t>
            </a:r>
            <a:r>
              <a:rPr lang="en-US" sz="2000" i="1" dirty="0"/>
              <a:t>W</a:t>
            </a:r>
            <a:r>
              <a:rPr lang="en-US" sz="2000" baseline="-25000" dirty="0"/>
              <a:t>i</a:t>
            </a:r>
            <a:r>
              <a:rPr lang="en-US" sz="2000" dirty="0"/>
              <a:t> instances.</a:t>
            </a:r>
            <a:endParaRPr lang="en-US" sz="2000" dirty="0">
              <a:solidFill>
                <a:schemeClr val="accent2"/>
              </a:solidFill>
            </a:endParaRPr>
          </a:p>
          <a:p>
            <a:pPr>
              <a:buFontTx/>
              <a:buNone/>
            </a:pPr>
            <a:r>
              <a:rPr lang="en-US" sz="2000" b="1" dirty="0">
                <a:solidFill>
                  <a:srgbClr val="C00000"/>
                </a:solidFill>
              </a:rPr>
              <a:t>Resource-Allocation Bipartite Graph G(V,E) </a:t>
            </a:r>
          </a:p>
          <a:p>
            <a:r>
              <a:rPr lang="en-US" sz="2000" dirty="0"/>
              <a:t>nodes:</a:t>
            </a:r>
          </a:p>
          <a:p>
            <a:pPr lvl="1"/>
            <a:r>
              <a:rPr lang="en-US" sz="2000" i="1" dirty="0"/>
              <a:t>P</a:t>
            </a:r>
            <a:r>
              <a:rPr lang="en-US" sz="2000" dirty="0"/>
              <a:t> = {</a:t>
            </a:r>
            <a:r>
              <a:rPr lang="en-US" sz="2000" i="1" dirty="0"/>
              <a:t>P</a:t>
            </a:r>
            <a:r>
              <a:rPr lang="en-US" sz="2000" baseline="-25000" dirty="0"/>
              <a:t>1</a:t>
            </a:r>
            <a:r>
              <a:rPr lang="en-US" sz="2000" dirty="0"/>
              <a:t>, </a:t>
            </a:r>
            <a:r>
              <a:rPr lang="en-US" sz="2000" i="1" dirty="0"/>
              <a:t>P</a:t>
            </a:r>
            <a:r>
              <a:rPr lang="en-US" sz="2000" baseline="-25000" dirty="0"/>
              <a:t>2</a:t>
            </a:r>
            <a:r>
              <a:rPr lang="en-US" sz="2000" dirty="0"/>
              <a:t>, …, </a:t>
            </a:r>
            <a:r>
              <a:rPr lang="en-US" sz="2000" i="1" dirty="0" err="1"/>
              <a:t>P</a:t>
            </a:r>
            <a:r>
              <a:rPr lang="en-US" sz="2000" i="1" baseline="-25000" dirty="0" err="1"/>
              <a:t>n</a:t>
            </a:r>
            <a:r>
              <a:rPr lang="en-US" sz="2000" dirty="0"/>
              <a:t>} the set of </a:t>
            </a:r>
            <a:r>
              <a:rPr lang="en-US" sz="2000" dirty="0">
                <a:solidFill>
                  <a:srgbClr val="C00000"/>
                </a:solidFill>
              </a:rPr>
              <a:t>processes</a:t>
            </a:r>
            <a:r>
              <a:rPr lang="en-US" sz="2000" dirty="0"/>
              <a:t> </a:t>
            </a:r>
          </a:p>
          <a:p>
            <a:pPr lvl="1"/>
            <a:r>
              <a:rPr lang="en-US" sz="2000" i="1" dirty="0"/>
              <a:t>R</a:t>
            </a:r>
            <a:r>
              <a:rPr lang="en-US" sz="2000" dirty="0"/>
              <a:t> = {</a:t>
            </a:r>
            <a:r>
              <a:rPr lang="en-US" sz="2000" i="1" dirty="0"/>
              <a:t>R</a:t>
            </a:r>
            <a:r>
              <a:rPr lang="en-US" sz="2000" baseline="-25000" dirty="0"/>
              <a:t>1</a:t>
            </a:r>
            <a:r>
              <a:rPr lang="en-US" sz="2000" dirty="0"/>
              <a:t>, </a:t>
            </a:r>
            <a:r>
              <a:rPr lang="en-US" sz="2000" i="1" dirty="0"/>
              <a:t>R</a:t>
            </a:r>
            <a:r>
              <a:rPr lang="en-US" sz="2000" baseline="-25000" dirty="0"/>
              <a:t>2</a:t>
            </a:r>
            <a:r>
              <a:rPr lang="en-US" sz="2000" dirty="0"/>
              <a:t>, …, </a:t>
            </a:r>
            <a:r>
              <a:rPr lang="en-US" sz="2000" i="1" dirty="0"/>
              <a:t>R</a:t>
            </a:r>
            <a:r>
              <a:rPr lang="en-US" sz="2000" i="1" baseline="-25000" dirty="0"/>
              <a:t>m</a:t>
            </a:r>
            <a:r>
              <a:rPr lang="en-US" sz="2000" dirty="0"/>
              <a:t>} the set of </a:t>
            </a:r>
            <a:r>
              <a:rPr lang="en-US" sz="2000" dirty="0">
                <a:solidFill>
                  <a:srgbClr val="C00000"/>
                </a:solidFill>
              </a:rPr>
              <a:t>resources types </a:t>
            </a:r>
          </a:p>
          <a:p>
            <a:r>
              <a:rPr lang="en-US" sz="2000" dirty="0">
                <a:solidFill>
                  <a:schemeClr val="tx1"/>
                </a:solidFill>
              </a:rPr>
              <a:t>edges: </a:t>
            </a:r>
          </a:p>
          <a:p>
            <a:pPr lvl="1"/>
            <a:r>
              <a:rPr lang="en-US" sz="2000" dirty="0">
                <a:solidFill>
                  <a:srgbClr val="C00000"/>
                </a:solidFill>
              </a:rPr>
              <a:t>request edge: </a:t>
            </a:r>
            <a:r>
              <a:rPr lang="en-US" sz="2000" i="1" dirty="0"/>
              <a:t>P</a:t>
            </a:r>
            <a:r>
              <a:rPr lang="en-US" sz="2000" baseline="-25000" dirty="0"/>
              <a:t>i </a:t>
            </a:r>
            <a:r>
              <a:rPr lang="en-US" sz="2000" dirty="0">
                <a:sym typeface="Symbol" pitchFamily="18" charset="2"/>
              </a:rPr>
              <a:t> </a:t>
            </a:r>
            <a:r>
              <a:rPr lang="en-US" sz="2000" i="1" dirty="0" err="1">
                <a:sym typeface="Symbol" pitchFamily="18" charset="2"/>
              </a:rPr>
              <a:t>R</a:t>
            </a:r>
            <a:r>
              <a:rPr lang="en-US" sz="2000" i="1" baseline="-25000" dirty="0" err="1">
                <a:sym typeface="Symbol" pitchFamily="18" charset="2"/>
              </a:rPr>
              <a:t>j</a:t>
            </a:r>
            <a:endParaRPr lang="en-US" sz="2000" i="1" baseline="-25000" dirty="0">
              <a:sym typeface="Symbol" pitchFamily="18" charset="2"/>
            </a:endParaRPr>
          </a:p>
          <a:p>
            <a:pPr lvl="2"/>
            <a:r>
              <a:rPr lang="en-US" sz="1600" dirty="0">
                <a:sym typeface="Symbol" pitchFamily="18" charset="2"/>
              </a:rPr>
              <a:t>If dotted: potential request</a:t>
            </a:r>
          </a:p>
          <a:p>
            <a:pPr lvl="1"/>
            <a:r>
              <a:rPr lang="en-US" sz="2000" dirty="0">
                <a:solidFill>
                  <a:srgbClr val="C00000"/>
                </a:solidFill>
                <a:sym typeface="Symbol" pitchFamily="18" charset="2"/>
              </a:rPr>
              <a:t>assignment edge</a:t>
            </a:r>
            <a:r>
              <a:rPr lang="en-US" sz="2000" dirty="0">
                <a:sym typeface="Symbol" pitchFamily="18" charset="2"/>
              </a:rPr>
              <a:t>: </a:t>
            </a:r>
            <a:r>
              <a:rPr lang="en-US" sz="2000" i="1" dirty="0" err="1"/>
              <a:t>R</a:t>
            </a:r>
            <a:r>
              <a:rPr lang="en-US" sz="2000" i="1" baseline="-25000" dirty="0" err="1"/>
              <a:t>j</a:t>
            </a:r>
            <a:r>
              <a:rPr lang="en-US" sz="2000" i="1" dirty="0"/>
              <a:t> </a:t>
            </a:r>
            <a:r>
              <a:rPr lang="en-US" sz="2000" dirty="0">
                <a:sym typeface="Symbol" pitchFamily="18" charset="2"/>
              </a:rPr>
              <a:t> </a:t>
            </a:r>
            <a:r>
              <a:rPr lang="en-US" sz="2000" i="1" dirty="0">
                <a:sym typeface="Symbol" pitchFamily="18" charset="2"/>
              </a:rPr>
              <a:t>P</a:t>
            </a:r>
            <a:r>
              <a:rPr lang="en-US" sz="2000" i="1" baseline="-25000" dirty="0">
                <a:sym typeface="Symbol" pitchFamily="18" charset="2"/>
              </a:rPr>
              <a:t>i</a:t>
            </a:r>
          </a:p>
        </p:txBody>
      </p:sp>
      <p:pic>
        <p:nvPicPr>
          <p:cNvPr id="6" name="Picture 3"/>
          <p:cNvPicPr>
            <a:picLocks noChangeAspect="1" noChangeArrowheads="1"/>
          </p:cNvPicPr>
          <p:nvPr/>
        </p:nvPicPr>
        <p:blipFill>
          <a:blip r:embed="rId3" cstate="print"/>
          <a:srcRect l="23024" t="871" r="23206" b="1060"/>
          <a:stretch>
            <a:fillRect/>
          </a:stretch>
        </p:blipFill>
        <p:spPr bwMode="auto">
          <a:xfrm>
            <a:off x="7881724" y="347155"/>
            <a:ext cx="3333750" cy="4864100"/>
          </a:xfrm>
          <a:prstGeom prst="rect">
            <a:avLst/>
          </a:prstGeom>
          <a:noFill/>
          <a:ln w="9525">
            <a:noFill/>
            <a:miter lim="800000"/>
            <a:headEnd/>
            <a:tailEnd/>
          </a:ln>
        </p:spPr>
      </p:pic>
      <p:sp>
        <p:nvSpPr>
          <p:cNvPr id="4" name="Title 1">
            <a:extLst>
              <a:ext uri="{FF2B5EF4-FFF2-40B4-BE49-F238E27FC236}">
                <a16:creationId xmlns:a16="http://schemas.microsoft.com/office/drawing/2014/main" id="{B53BAA97-214E-2113-57A6-571C0EDBC9BA}"/>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Deadlock avoidance by the OS: system model</a:t>
            </a:r>
            <a:endParaRPr lang="sv-SE" sz="3200" b="1" dirty="0">
              <a:solidFill>
                <a:schemeClr val="accent1">
                  <a:lumMod val="50000"/>
                </a:schemeClr>
              </a:solidFill>
            </a:endParaRPr>
          </a:p>
        </p:txBody>
      </p:sp>
      <p:cxnSp>
        <p:nvCxnSpPr>
          <p:cNvPr id="7" name="Straight Arrow Connector 6">
            <a:extLst>
              <a:ext uri="{FF2B5EF4-FFF2-40B4-BE49-F238E27FC236}">
                <a16:creationId xmlns:a16="http://schemas.microsoft.com/office/drawing/2014/main" id="{B4C27D1E-3DD2-4A02-FE88-7AD143002FD5}"/>
              </a:ext>
            </a:extLst>
          </p:cNvPr>
          <p:cNvCxnSpPr/>
          <p:nvPr/>
        </p:nvCxnSpPr>
        <p:spPr>
          <a:xfrm flipH="1">
            <a:off x="10275216" y="2507530"/>
            <a:ext cx="593889" cy="1310326"/>
          </a:xfrm>
          <a:prstGeom prst="straightConnector1">
            <a:avLst/>
          </a:prstGeom>
          <a:ln w="34925">
            <a:solidFill>
              <a:srgbClr val="000000"/>
            </a:solidFill>
            <a:prstDash val="dash"/>
            <a:tailEnd type="triangle" w="lg" len="lg"/>
          </a:ln>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55E9F55F-BCAE-BCF6-8CDF-D3705774C5DC}"/>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2432227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p:cNvSpPr>
            <a:spLocks noGrp="1"/>
          </p:cNvSpPr>
          <p:nvPr>
            <p:ph type="sldNum" sz="quarter" idx="12"/>
          </p:nvPr>
        </p:nvSpPr>
        <p:spPr>
          <a:noFill/>
        </p:spPr>
        <p:txBody>
          <a:bodyPr/>
          <a:lstStyle/>
          <a:p>
            <a:fld id="{7E3E812E-7693-48B3-B4C0-CE9508F45D61}" type="slidenum">
              <a:rPr lang="en-US" smtClean="0">
                <a:solidFill>
                  <a:prstClr val="black">
                    <a:tint val="75000"/>
                  </a:prstClr>
                </a:solidFill>
              </a:rPr>
              <a:pPr/>
              <a:t>39</a:t>
            </a:fld>
            <a:endParaRPr lang="en-US">
              <a:solidFill>
                <a:prstClr val="black">
                  <a:tint val="75000"/>
                </a:prstClr>
              </a:solidFill>
            </a:endParaRPr>
          </a:p>
        </p:txBody>
      </p:sp>
      <p:sp>
        <p:nvSpPr>
          <p:cNvPr id="141315" name="Rectangle 3"/>
          <p:cNvSpPr>
            <a:spLocks noGrp="1" noChangeArrowheads="1"/>
          </p:cNvSpPr>
          <p:nvPr>
            <p:ph type="body" idx="1"/>
          </p:nvPr>
        </p:nvSpPr>
        <p:spPr>
          <a:xfrm>
            <a:off x="3340150" y="1165430"/>
            <a:ext cx="8224224" cy="3600400"/>
          </a:xfrm>
          <a:noFill/>
          <a:ln/>
          <a:effectLst/>
        </p:spPr>
        <p:style>
          <a:lnRef idx="1">
            <a:schemeClr val="dk1"/>
          </a:lnRef>
          <a:fillRef idx="2">
            <a:schemeClr val="dk1"/>
          </a:fillRef>
          <a:effectRef idx="1">
            <a:schemeClr val="dk1"/>
          </a:effectRef>
          <a:fontRef idx="minor">
            <a:schemeClr val="dk1"/>
          </a:fontRef>
        </p:style>
        <p:txBody>
          <a:bodyPr/>
          <a:lstStyle/>
          <a:p>
            <a:pPr>
              <a:lnSpc>
                <a:spcPct val="90000"/>
              </a:lnSpc>
              <a:buFontTx/>
              <a:buNone/>
              <a:defRPr/>
            </a:pPr>
            <a:r>
              <a:rPr lang="en-US" sz="2000" b="1" i="1" dirty="0">
                <a:solidFill>
                  <a:srgbClr val="C00000"/>
                </a:solidFill>
              </a:rPr>
              <a:t>Deadlock-avoidance </a:t>
            </a:r>
            <a:r>
              <a:rPr lang="en-US" sz="2000" b="1" i="1" dirty="0" err="1">
                <a:solidFill>
                  <a:srgbClr val="C00000"/>
                </a:solidFill>
              </a:rPr>
              <a:t>algo</a:t>
            </a:r>
            <a:r>
              <a:rPr lang="en-US" sz="2000" b="1" i="1" dirty="0">
                <a:solidFill>
                  <a:srgbClr val="C00000"/>
                </a:solidFill>
              </a:rPr>
              <a:t>, run by OS</a:t>
            </a:r>
            <a:r>
              <a:rPr lang="en-US" sz="2000" dirty="0">
                <a:solidFill>
                  <a:srgbClr val="C00000"/>
                </a:solidFill>
              </a:rPr>
              <a:t>:</a:t>
            </a:r>
          </a:p>
          <a:p>
            <a:pPr>
              <a:lnSpc>
                <a:spcPct val="90000"/>
              </a:lnSpc>
              <a:defRPr/>
            </a:pPr>
            <a:r>
              <a:rPr lang="en-US" sz="2000" dirty="0"/>
              <a:t>examines the </a:t>
            </a:r>
            <a:r>
              <a:rPr lang="en-US" sz="2000" dirty="0">
                <a:solidFill>
                  <a:srgbClr val="C00000"/>
                </a:solidFill>
              </a:rPr>
              <a:t>resource-allocation state… </a:t>
            </a:r>
          </a:p>
          <a:p>
            <a:pPr lvl="1">
              <a:lnSpc>
                <a:spcPct val="90000"/>
              </a:lnSpc>
              <a:defRPr/>
            </a:pPr>
            <a:r>
              <a:rPr lang="en-US" sz="2000" i="1" dirty="0"/>
              <a:t>Available, allocated resources</a:t>
            </a:r>
            <a:endParaRPr lang="en-US" sz="2000" dirty="0"/>
          </a:p>
          <a:p>
            <a:pPr lvl="1">
              <a:lnSpc>
                <a:spcPct val="90000"/>
              </a:lnSpc>
              <a:defRPr/>
            </a:pPr>
            <a:r>
              <a:rPr lang="en-US" sz="2000" i="1" dirty="0"/>
              <a:t>maximum possible demands</a:t>
            </a:r>
            <a:r>
              <a:rPr lang="en-US" sz="2000" dirty="0"/>
              <a:t> of the processes.</a:t>
            </a:r>
          </a:p>
          <a:p>
            <a:pPr>
              <a:lnSpc>
                <a:spcPct val="90000"/>
              </a:lnSpc>
              <a:defRPr/>
            </a:pPr>
            <a:r>
              <a:rPr lang="en-US" sz="2000" dirty="0"/>
              <a:t>…to </a:t>
            </a:r>
            <a:r>
              <a:rPr lang="en-US" sz="2000" dirty="0">
                <a:solidFill>
                  <a:srgbClr val="C00000"/>
                </a:solidFill>
              </a:rPr>
              <a:t>ensure there is </a:t>
            </a:r>
            <a:r>
              <a:rPr lang="en-US" sz="2000" i="1" dirty="0">
                <a:solidFill>
                  <a:srgbClr val="C00000"/>
                </a:solidFill>
              </a:rPr>
              <a:t>no potential deadlock</a:t>
            </a:r>
            <a:r>
              <a:rPr lang="en-US" sz="2000" dirty="0"/>
              <a:t>: </a:t>
            </a:r>
          </a:p>
          <a:p>
            <a:pPr lvl="1">
              <a:lnSpc>
                <a:spcPct val="90000"/>
              </a:lnSpc>
              <a:defRPr/>
            </a:pPr>
            <a:r>
              <a:rPr lang="en-US" sz="2000" dirty="0">
                <a:solidFill>
                  <a:srgbClr val="C00000"/>
                </a:solidFill>
                <a:sym typeface="Symbol" pitchFamily="18" charset="2"/>
              </a:rPr>
              <a:t>unsafe</a:t>
            </a:r>
            <a:r>
              <a:rPr lang="en-US" sz="2000" dirty="0">
                <a:solidFill>
                  <a:schemeClr val="accent2"/>
                </a:solidFill>
                <a:sym typeface="Symbol" pitchFamily="18" charset="2"/>
              </a:rPr>
              <a:t> </a:t>
            </a:r>
            <a:r>
              <a:rPr lang="en-US" sz="2000" dirty="0">
                <a:sym typeface="Symbol" pitchFamily="18" charset="2"/>
              </a:rPr>
              <a:t>state  </a:t>
            </a:r>
            <a:r>
              <a:rPr lang="en-US" sz="2000" dirty="0">
                <a:solidFill>
                  <a:srgbClr val="C00000"/>
                </a:solidFill>
                <a:sym typeface="Symbol" pitchFamily="18" charset="2"/>
              </a:rPr>
              <a:t>deadlock might </a:t>
            </a:r>
            <a:r>
              <a:rPr lang="en-US" sz="2000" dirty="0">
                <a:sym typeface="Symbol" pitchFamily="18" charset="2"/>
              </a:rPr>
              <a:t>occur (i.e., later, if all procs request their maximum and no-one can be granted)</a:t>
            </a:r>
          </a:p>
          <a:p>
            <a:pPr marL="457200" lvl="1" indent="0">
              <a:lnSpc>
                <a:spcPct val="90000"/>
              </a:lnSpc>
              <a:buNone/>
              <a:defRPr/>
            </a:pPr>
            <a:endParaRPr lang="en-US" sz="2000" dirty="0">
              <a:sym typeface="Symbol" pitchFamily="18" charset="2"/>
            </a:endParaRPr>
          </a:p>
          <a:p>
            <a:pPr>
              <a:lnSpc>
                <a:spcPct val="90000"/>
              </a:lnSpc>
              <a:defRPr/>
            </a:pPr>
            <a:r>
              <a:rPr lang="en-US" sz="2000" i="1" dirty="0">
                <a:solidFill>
                  <a:srgbClr val="C00000"/>
                </a:solidFill>
                <a:sym typeface="Symbol" pitchFamily="18" charset="2"/>
              </a:rPr>
              <a:t>Avoidance</a:t>
            </a:r>
            <a:r>
              <a:rPr lang="en-US" sz="2000" dirty="0">
                <a:sym typeface="Symbol" pitchFamily="18" charset="2"/>
              </a:rPr>
              <a:t> = ensure that </a:t>
            </a:r>
            <a:r>
              <a:rPr lang="en-US" sz="2000" i="1" dirty="0">
                <a:sym typeface="Symbol" pitchFamily="18" charset="2"/>
              </a:rPr>
              <a:t>system will not enter an unsafe</a:t>
            </a:r>
            <a:r>
              <a:rPr lang="en-US" sz="2000" dirty="0">
                <a:sym typeface="Symbol" pitchFamily="18" charset="2"/>
              </a:rPr>
              <a:t> state, by </a:t>
            </a:r>
            <a:r>
              <a:rPr lang="en-US" sz="2000" i="1" dirty="0">
                <a:solidFill>
                  <a:srgbClr val="C00000"/>
                </a:solidFill>
                <a:sym typeface="Symbol" pitchFamily="18" charset="2"/>
              </a:rPr>
              <a:t>suspending processes with risky requests</a:t>
            </a:r>
            <a:r>
              <a:rPr lang="en-US" sz="2000" dirty="0">
                <a:sym typeface="Symbol" pitchFamily="18" charset="2"/>
              </a:rPr>
              <a:t>, until enough resources are freed.</a:t>
            </a:r>
            <a:r>
              <a:rPr lang="en-US" sz="2000" dirty="0">
                <a:solidFill>
                  <a:srgbClr val="FB5B5B"/>
                </a:solidFill>
                <a:sym typeface="Symbol" pitchFamily="18" charset="2"/>
              </a:rPr>
              <a:t> </a:t>
            </a:r>
            <a:endParaRPr lang="en-US" sz="2000" dirty="0">
              <a:sym typeface="Symbol" pitchFamily="18" charset="2"/>
            </a:endParaRPr>
          </a:p>
          <a:p>
            <a:pPr lvl="1">
              <a:lnSpc>
                <a:spcPct val="90000"/>
              </a:lnSpc>
              <a:defRPr/>
            </a:pPr>
            <a:endParaRPr lang="en-US" sz="1800" dirty="0">
              <a:solidFill>
                <a:srgbClr val="FB5B5B"/>
              </a:solidFill>
              <a:sym typeface="Symbol" pitchFamily="18" charset="2"/>
            </a:endParaRPr>
          </a:p>
        </p:txBody>
      </p:sp>
      <p:pic>
        <p:nvPicPr>
          <p:cNvPr id="15365" name="Picture 4"/>
          <p:cNvPicPr>
            <a:picLocks noChangeAspect="1" noChangeArrowheads="1"/>
          </p:cNvPicPr>
          <p:nvPr/>
        </p:nvPicPr>
        <p:blipFill>
          <a:blip r:embed="rId3" cstate="print"/>
          <a:srcRect l="10608" t="1381" r="10387" b="829"/>
          <a:stretch>
            <a:fillRect/>
          </a:stretch>
        </p:blipFill>
        <p:spPr bwMode="auto">
          <a:xfrm>
            <a:off x="627626" y="1165430"/>
            <a:ext cx="2339975" cy="2912186"/>
          </a:xfrm>
          <a:prstGeom prst="rect">
            <a:avLst/>
          </a:prstGeom>
          <a:noFill/>
          <a:ln w="9525">
            <a:noFill/>
            <a:miter lim="800000"/>
            <a:headEnd/>
            <a:tailEnd/>
          </a:ln>
        </p:spPr>
      </p:pic>
      <p:pic>
        <p:nvPicPr>
          <p:cNvPr id="7" name="Picture 5" descr="C:\Users\marina\AppData\Local\Microsoft\Windows\Temporary Internet Files\Content.IE5\AAZLPE4U\MCj04326170000[1].png"/>
          <p:cNvPicPr>
            <a:picLocks noChangeAspect="1" noChangeArrowheads="1"/>
          </p:cNvPicPr>
          <p:nvPr/>
        </p:nvPicPr>
        <p:blipFill>
          <a:blip r:embed="rId4" cstate="print"/>
          <a:srcRect/>
          <a:stretch>
            <a:fillRect/>
          </a:stretch>
        </p:blipFill>
        <p:spPr bwMode="auto">
          <a:xfrm>
            <a:off x="11149012" y="3897935"/>
            <a:ext cx="1042988" cy="1042987"/>
          </a:xfrm>
          <a:prstGeom prst="rect">
            <a:avLst/>
          </a:prstGeom>
          <a:noFill/>
          <a:ln w="9525">
            <a:noFill/>
            <a:miter lim="800000"/>
            <a:headEnd/>
            <a:tailEnd/>
          </a:ln>
        </p:spPr>
      </p:pic>
      <p:sp>
        <p:nvSpPr>
          <p:cNvPr id="2" name="Title 1">
            <a:extLst>
              <a:ext uri="{FF2B5EF4-FFF2-40B4-BE49-F238E27FC236}">
                <a16:creationId xmlns:a16="http://schemas.microsoft.com/office/drawing/2014/main" id="{A42FBF80-5E86-9FA9-8768-BFBBEA2897B2}"/>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Deadlock avoidance using the OS as arbitrator</a:t>
            </a:r>
            <a:endParaRPr lang="sv-SE" sz="3200" b="1" dirty="0">
              <a:solidFill>
                <a:schemeClr val="accent1">
                  <a:lumMod val="50000"/>
                </a:schemeClr>
              </a:solidFill>
            </a:endParaRPr>
          </a:p>
        </p:txBody>
      </p:sp>
      <p:sp>
        <p:nvSpPr>
          <p:cNvPr id="3" name="Date Placeholder 2">
            <a:extLst>
              <a:ext uri="{FF2B5EF4-FFF2-40B4-BE49-F238E27FC236}">
                <a16:creationId xmlns:a16="http://schemas.microsoft.com/office/drawing/2014/main" id="{6095D3BD-3AE4-B3E3-8469-C331AA1FDEE6}"/>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6544985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4"/>
          <p:cNvSpPr>
            <a:spLocks noGrp="1"/>
          </p:cNvSpPr>
          <p:nvPr>
            <p:ph type="sldNum" sz="quarter" idx="12"/>
          </p:nvPr>
        </p:nvSpPr>
        <p:spPr>
          <a:noFill/>
        </p:spPr>
        <p:txBody>
          <a:bodyPr/>
          <a:lstStyle/>
          <a:p>
            <a:fld id="{5E10D822-4591-48FD-81CB-976D599B7E72}" type="slidenum">
              <a:rPr lang="en-US" smtClean="0">
                <a:solidFill>
                  <a:prstClr val="black">
                    <a:tint val="75000"/>
                  </a:prstClr>
                </a:solidFill>
              </a:rPr>
              <a:pPr/>
              <a:t>40</a:t>
            </a:fld>
            <a:endParaRPr lang="en-US">
              <a:solidFill>
                <a:prstClr val="black">
                  <a:tint val="75000"/>
                </a:prstClr>
              </a:solidFill>
            </a:endParaRPr>
          </a:p>
        </p:txBody>
      </p:sp>
      <p:pic>
        <p:nvPicPr>
          <p:cNvPr id="17412" name="Picture 3"/>
          <p:cNvPicPr>
            <a:picLocks noChangeAspect="1" noChangeArrowheads="1"/>
          </p:cNvPicPr>
          <p:nvPr/>
        </p:nvPicPr>
        <p:blipFill>
          <a:blip r:embed="rId3" cstate="print"/>
          <a:srcRect l="15321" t="6532" r="15155" b="7086"/>
          <a:stretch>
            <a:fillRect/>
          </a:stretch>
        </p:blipFill>
        <p:spPr bwMode="auto">
          <a:xfrm>
            <a:off x="507155" y="818142"/>
            <a:ext cx="3623525" cy="3601615"/>
          </a:xfrm>
          <a:prstGeom prst="rect">
            <a:avLst/>
          </a:prstGeom>
          <a:noFill/>
          <a:ln w="9525">
            <a:noFill/>
            <a:miter lim="800000"/>
            <a:headEnd/>
            <a:tailEnd/>
          </a:ln>
        </p:spPr>
      </p:pic>
      <p:sp>
        <p:nvSpPr>
          <p:cNvPr id="2" name="Rectangle 1"/>
          <p:cNvSpPr/>
          <p:nvPr/>
        </p:nvSpPr>
        <p:spPr>
          <a:xfrm>
            <a:off x="1013463" y="4528290"/>
            <a:ext cx="2610908" cy="461665"/>
          </a:xfrm>
          <a:prstGeom prst="rect">
            <a:avLst/>
          </a:prstGeom>
          <a:solidFill>
            <a:schemeClr val="accent6">
              <a:lumMod val="20000"/>
              <a:lumOff val="80000"/>
            </a:schemeClr>
          </a:solidFill>
        </p:spPr>
        <p:txBody>
          <a:bodyPr wrap="none">
            <a:spAutoFit/>
          </a:bodyPr>
          <a:lstStyle/>
          <a:p>
            <a:r>
              <a:rPr lang="en-US" sz="2400" b="1" dirty="0">
                <a:solidFill>
                  <a:srgbClr val="4F81BD">
                    <a:lumMod val="50000"/>
                  </a:srgbClr>
                </a:solidFill>
              </a:rPr>
              <a:t>Example Safe State</a:t>
            </a:r>
            <a:endParaRPr lang="sv-SE" dirty="0">
              <a:solidFill>
                <a:prstClr val="black"/>
              </a:solidFill>
            </a:endParaRPr>
          </a:p>
        </p:txBody>
      </p:sp>
      <p:grpSp>
        <p:nvGrpSpPr>
          <p:cNvPr id="18" name="Group 17">
            <a:extLst>
              <a:ext uri="{FF2B5EF4-FFF2-40B4-BE49-F238E27FC236}">
                <a16:creationId xmlns:a16="http://schemas.microsoft.com/office/drawing/2014/main" id="{4FFD23EE-CF98-C807-E48C-D9F67DC35888}"/>
              </a:ext>
            </a:extLst>
          </p:cNvPr>
          <p:cNvGrpSpPr/>
          <p:nvPr/>
        </p:nvGrpSpPr>
        <p:grpSpPr>
          <a:xfrm>
            <a:off x="4284237" y="818141"/>
            <a:ext cx="3623525" cy="4171814"/>
            <a:chOff x="4284237" y="818141"/>
            <a:chExt cx="3623525" cy="4171814"/>
          </a:xfrm>
        </p:grpSpPr>
        <p:pic>
          <p:nvPicPr>
            <p:cNvPr id="14" name="Picture 3">
              <a:extLst>
                <a:ext uri="{FF2B5EF4-FFF2-40B4-BE49-F238E27FC236}">
                  <a16:creationId xmlns:a16="http://schemas.microsoft.com/office/drawing/2014/main" id="{DDB25C72-5C87-619A-BBBF-7736DBB8616D}"/>
                </a:ext>
              </a:extLst>
            </p:cNvPr>
            <p:cNvPicPr>
              <a:picLocks noChangeAspect="1" noChangeArrowheads="1"/>
            </p:cNvPicPr>
            <p:nvPr/>
          </p:nvPicPr>
          <p:blipFill>
            <a:blip r:embed="rId3" cstate="print"/>
            <a:srcRect l="15321" t="6532" r="15155" b="7086"/>
            <a:stretch>
              <a:fillRect/>
            </a:stretch>
          </p:blipFill>
          <p:spPr bwMode="auto">
            <a:xfrm>
              <a:off x="4284237" y="818141"/>
              <a:ext cx="3623525" cy="3601615"/>
            </a:xfrm>
            <a:prstGeom prst="rect">
              <a:avLst/>
            </a:prstGeom>
            <a:noFill/>
            <a:ln w="9525">
              <a:noFill/>
              <a:miter lim="800000"/>
              <a:headEnd/>
              <a:tailEnd/>
            </a:ln>
          </p:spPr>
        </p:pic>
        <p:sp>
          <p:nvSpPr>
            <p:cNvPr id="13" name="Rectangle 12">
              <a:extLst>
                <a:ext uri="{FF2B5EF4-FFF2-40B4-BE49-F238E27FC236}">
                  <a16:creationId xmlns:a16="http://schemas.microsoft.com/office/drawing/2014/main" id="{E4FC0557-0F43-42FD-B9A2-1B4406CD7662}"/>
                </a:ext>
              </a:extLst>
            </p:cNvPr>
            <p:cNvSpPr/>
            <p:nvPr/>
          </p:nvSpPr>
          <p:spPr>
            <a:xfrm>
              <a:off x="5464512" y="4528290"/>
              <a:ext cx="1525674" cy="461665"/>
            </a:xfrm>
            <a:prstGeom prst="rect">
              <a:avLst/>
            </a:prstGeom>
            <a:solidFill>
              <a:schemeClr val="accent6">
                <a:lumMod val="20000"/>
                <a:lumOff val="80000"/>
              </a:schemeClr>
            </a:solidFill>
          </p:spPr>
          <p:txBody>
            <a:bodyPr wrap="none">
              <a:spAutoFit/>
            </a:bodyPr>
            <a:lstStyle/>
            <a:p>
              <a:r>
                <a:rPr lang="en-US" sz="2400" b="1" dirty="0">
                  <a:solidFill>
                    <a:srgbClr val="4F81BD">
                      <a:lumMod val="50000"/>
                    </a:srgbClr>
                  </a:solidFill>
                </a:rPr>
                <a:t> Safe State</a:t>
              </a:r>
              <a:endParaRPr lang="sv-SE" dirty="0">
                <a:solidFill>
                  <a:prstClr val="black"/>
                </a:solidFill>
              </a:endParaRPr>
            </a:p>
          </p:txBody>
        </p:sp>
        <p:cxnSp>
          <p:nvCxnSpPr>
            <p:cNvPr id="5" name="Straight Arrow Connector 4">
              <a:extLst>
                <a:ext uri="{FF2B5EF4-FFF2-40B4-BE49-F238E27FC236}">
                  <a16:creationId xmlns:a16="http://schemas.microsoft.com/office/drawing/2014/main" id="{B5858535-3F89-49C8-B690-474D620B0E8B}"/>
                </a:ext>
              </a:extLst>
            </p:cNvPr>
            <p:cNvCxnSpPr>
              <a:cxnSpLocks/>
            </p:cNvCxnSpPr>
            <p:nvPr/>
          </p:nvCxnSpPr>
          <p:spPr>
            <a:xfrm flipH="1" flipV="1">
              <a:off x="4734594" y="2694025"/>
              <a:ext cx="942656" cy="946850"/>
            </a:xfrm>
            <a:prstGeom prst="straightConnector1">
              <a:avLst/>
            </a:prstGeom>
            <a:ln w="158750">
              <a:solidFill>
                <a:srgbClr val="000000"/>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itle 1">
            <a:extLst>
              <a:ext uri="{FF2B5EF4-FFF2-40B4-BE49-F238E27FC236}">
                <a16:creationId xmlns:a16="http://schemas.microsoft.com/office/drawing/2014/main" id="{6250A586-9971-0C73-9D91-E35065188071}"/>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Deadlock avoidance by the OS: example</a:t>
            </a:r>
            <a:endParaRPr lang="sv-SE" sz="3200" b="1" dirty="0">
              <a:solidFill>
                <a:schemeClr val="accent1">
                  <a:lumMod val="50000"/>
                </a:schemeClr>
              </a:solidFill>
            </a:endParaRPr>
          </a:p>
        </p:txBody>
      </p:sp>
      <p:grpSp>
        <p:nvGrpSpPr>
          <p:cNvPr id="19" name="Group 18">
            <a:extLst>
              <a:ext uri="{FF2B5EF4-FFF2-40B4-BE49-F238E27FC236}">
                <a16:creationId xmlns:a16="http://schemas.microsoft.com/office/drawing/2014/main" id="{8DBCA357-EC8F-42EE-429E-D2F6975360B9}"/>
              </a:ext>
            </a:extLst>
          </p:cNvPr>
          <p:cNvGrpSpPr/>
          <p:nvPr/>
        </p:nvGrpSpPr>
        <p:grpSpPr>
          <a:xfrm>
            <a:off x="8170437" y="818140"/>
            <a:ext cx="3898776" cy="4722684"/>
            <a:chOff x="8170437" y="818140"/>
            <a:chExt cx="3898776" cy="4722684"/>
          </a:xfrm>
        </p:grpSpPr>
        <p:sp>
          <p:nvSpPr>
            <p:cNvPr id="11" name="Rectangle 10"/>
            <p:cNvSpPr/>
            <p:nvPr/>
          </p:nvSpPr>
          <p:spPr>
            <a:xfrm>
              <a:off x="8170437" y="4525161"/>
              <a:ext cx="3898776" cy="1015663"/>
            </a:xfrm>
            <a:prstGeom prst="rect">
              <a:avLst/>
            </a:prstGeom>
            <a:solidFill>
              <a:schemeClr val="accent6">
                <a:lumMod val="20000"/>
                <a:lumOff val="80000"/>
              </a:schemeClr>
            </a:solidFill>
          </p:spPr>
          <p:txBody>
            <a:bodyPr wrap="square">
              <a:spAutoFit/>
            </a:bodyPr>
            <a:lstStyle/>
            <a:p>
              <a:r>
                <a:rPr lang="en-US" sz="2400" b="1" dirty="0">
                  <a:solidFill>
                    <a:srgbClr val="4F81BD">
                      <a:lumMod val="50000"/>
                    </a:srgbClr>
                  </a:solidFill>
                </a:rPr>
                <a:t>Example </a:t>
              </a:r>
              <a:r>
                <a:rPr lang="en-US" sz="2400" b="1" dirty="0">
                  <a:solidFill>
                    <a:srgbClr val="C00000"/>
                  </a:solidFill>
                </a:rPr>
                <a:t>Un</a:t>
              </a:r>
              <a:r>
                <a:rPr lang="en-US" sz="2400" b="1" dirty="0">
                  <a:solidFill>
                    <a:srgbClr val="4F81BD">
                      <a:lumMod val="50000"/>
                    </a:srgbClr>
                  </a:solidFill>
                </a:rPr>
                <a:t>safe State:</a:t>
              </a:r>
            </a:p>
            <a:p>
              <a:r>
                <a:rPr lang="en-US" b="1" dirty="0">
                  <a:solidFill>
                    <a:srgbClr val="4F81BD">
                      <a:lumMod val="50000"/>
                    </a:srgbClr>
                  </a:solidFill>
                </a:rPr>
                <a:t>i.e., granting the P2-R2 request should not be made until P1 finishes</a:t>
              </a:r>
              <a:endParaRPr lang="sv-SE" sz="1400" dirty="0">
                <a:solidFill>
                  <a:prstClr val="black"/>
                </a:solidFill>
              </a:endParaRPr>
            </a:p>
          </p:txBody>
        </p:sp>
        <p:pic>
          <p:nvPicPr>
            <p:cNvPr id="16" name="Picture 3">
              <a:extLst>
                <a:ext uri="{FF2B5EF4-FFF2-40B4-BE49-F238E27FC236}">
                  <a16:creationId xmlns:a16="http://schemas.microsoft.com/office/drawing/2014/main" id="{4C3E7092-4091-ACDA-6103-80A3B4B1F7E5}"/>
                </a:ext>
              </a:extLst>
            </p:cNvPr>
            <p:cNvPicPr>
              <a:picLocks noChangeAspect="1" noChangeArrowheads="1"/>
            </p:cNvPicPr>
            <p:nvPr/>
          </p:nvPicPr>
          <p:blipFill>
            <a:blip r:embed="rId3" cstate="print"/>
            <a:srcRect l="15321" t="6532" r="15155" b="7086"/>
            <a:stretch>
              <a:fillRect/>
            </a:stretch>
          </p:blipFill>
          <p:spPr bwMode="auto">
            <a:xfrm>
              <a:off x="8170437" y="818140"/>
              <a:ext cx="3623525" cy="3601615"/>
            </a:xfrm>
            <a:prstGeom prst="rect">
              <a:avLst/>
            </a:prstGeom>
            <a:noFill/>
            <a:ln w="9525">
              <a:noFill/>
              <a:miter lim="800000"/>
              <a:headEnd/>
              <a:tailEnd/>
            </a:ln>
          </p:spPr>
        </p:pic>
        <p:cxnSp>
          <p:nvCxnSpPr>
            <p:cNvPr id="17" name="Straight Arrow Connector 16">
              <a:extLst>
                <a:ext uri="{FF2B5EF4-FFF2-40B4-BE49-F238E27FC236}">
                  <a16:creationId xmlns:a16="http://schemas.microsoft.com/office/drawing/2014/main" id="{54BAAA6D-EF79-CBAA-43CB-D7887569B0E5}"/>
                </a:ext>
              </a:extLst>
            </p:cNvPr>
            <p:cNvCxnSpPr>
              <a:cxnSpLocks/>
            </p:cNvCxnSpPr>
            <p:nvPr/>
          </p:nvCxnSpPr>
          <p:spPr>
            <a:xfrm flipV="1">
              <a:off x="10399112" y="2706057"/>
              <a:ext cx="942656" cy="946850"/>
            </a:xfrm>
            <a:prstGeom prst="straightConnector1">
              <a:avLst/>
            </a:prstGeom>
            <a:ln w="158750">
              <a:solidFill>
                <a:srgbClr val="000000"/>
              </a:solidFill>
              <a:tailEnd type="triangle"/>
            </a:ln>
          </p:spPr>
          <p:style>
            <a:lnRef idx="1">
              <a:schemeClr val="accent1"/>
            </a:lnRef>
            <a:fillRef idx="0">
              <a:schemeClr val="accent1"/>
            </a:fillRef>
            <a:effectRef idx="0">
              <a:schemeClr val="accent1"/>
            </a:effectRef>
            <a:fontRef idx="minor">
              <a:schemeClr val="tx1"/>
            </a:fontRef>
          </p:style>
        </p:cxnSp>
      </p:grpSp>
      <p:sp>
        <p:nvSpPr>
          <p:cNvPr id="3" name="Date Placeholder 2">
            <a:extLst>
              <a:ext uri="{FF2B5EF4-FFF2-40B4-BE49-F238E27FC236}">
                <a16:creationId xmlns:a16="http://schemas.microsoft.com/office/drawing/2014/main" id="{B62091CA-9502-4C39-1BA0-CB454B76998F}"/>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742123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Slide Number Placeholder 5"/>
          <p:cNvSpPr>
            <a:spLocks noGrp="1"/>
          </p:cNvSpPr>
          <p:nvPr>
            <p:ph type="sldNum" sz="quarter" idx="12"/>
          </p:nvPr>
        </p:nvSpPr>
        <p:spPr>
          <a:noFill/>
        </p:spPr>
        <p:txBody>
          <a:bodyPr/>
          <a:lstStyle/>
          <a:p>
            <a:fld id="{F8BC93DE-9945-478F-BF2F-E331C846076F}" type="slidenum">
              <a:rPr lang="en-US" smtClean="0">
                <a:solidFill>
                  <a:prstClr val="black">
                    <a:tint val="75000"/>
                  </a:prstClr>
                </a:solidFill>
              </a:rPr>
              <a:pPr/>
              <a:t>41</a:t>
            </a:fld>
            <a:endParaRPr lang="en-US">
              <a:solidFill>
                <a:prstClr val="black">
                  <a:tint val="75000"/>
                </a:prstClr>
              </a:solidFill>
            </a:endParaRPr>
          </a:p>
        </p:txBody>
      </p:sp>
      <p:sp>
        <p:nvSpPr>
          <p:cNvPr id="6" name="Alternative Process 5"/>
          <p:cNvSpPr/>
          <p:nvPr/>
        </p:nvSpPr>
        <p:spPr bwMode="auto">
          <a:xfrm>
            <a:off x="977271" y="1988818"/>
            <a:ext cx="4100055" cy="753384"/>
          </a:xfrm>
          <a:prstGeom prst="flowChartAlternateProcess">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0" scaled="1"/>
            <a:tileRect/>
          </a:gra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nSpc>
                <a:spcPct val="90000"/>
              </a:lnSpc>
            </a:pPr>
            <a:r>
              <a:rPr lang="en-US" sz="2000" b="1" dirty="0">
                <a:solidFill>
                  <a:prstClr val="black"/>
                </a:solidFill>
                <a:latin typeface="Arial Narrow" pitchFamily="34" charset="0"/>
              </a:rPr>
              <a:t>Allocation[</a:t>
            </a:r>
            <a:r>
              <a:rPr lang="en-US" sz="2000" b="1" dirty="0" err="1">
                <a:solidFill>
                  <a:prstClr val="black"/>
                </a:solidFill>
                <a:latin typeface="Arial Narrow" pitchFamily="34" charset="0"/>
              </a:rPr>
              <a:t>i,j</a:t>
            </a:r>
            <a:r>
              <a:rPr lang="en-US" sz="2000" dirty="0">
                <a:solidFill>
                  <a:prstClr val="black"/>
                </a:solidFill>
                <a:latin typeface="Arial Narrow" pitchFamily="34" charset="0"/>
              </a:rPr>
              <a:t>] = k:</a:t>
            </a:r>
          </a:p>
          <a:p>
            <a:pPr>
              <a:lnSpc>
                <a:spcPct val="90000"/>
              </a:lnSpc>
              <a:tabLst>
                <a:tab pos="263525" algn="l"/>
              </a:tabLst>
            </a:pPr>
            <a:r>
              <a:rPr lang="en-US" sz="2200" dirty="0">
                <a:solidFill>
                  <a:prstClr val="black"/>
                </a:solidFill>
                <a:latin typeface="Arial Narrow" pitchFamily="34" charset="0"/>
              </a:rPr>
              <a:t> 	</a:t>
            </a:r>
            <a:r>
              <a:rPr lang="en-US" sz="2000" dirty="0">
                <a:solidFill>
                  <a:prstClr val="black"/>
                </a:solidFill>
                <a:latin typeface="Arial Narrow" pitchFamily="34" charset="0"/>
              </a:rPr>
              <a:t>Pi holds k instances of </a:t>
            </a:r>
            <a:r>
              <a:rPr lang="en-US" sz="2000" dirty="0" err="1">
                <a:solidFill>
                  <a:prstClr val="black"/>
                </a:solidFill>
                <a:latin typeface="Arial Narrow" pitchFamily="34" charset="0"/>
              </a:rPr>
              <a:t>Rj</a:t>
            </a:r>
            <a:endParaRPr lang="en-US" sz="1400" dirty="0">
              <a:solidFill>
                <a:prstClr val="black"/>
              </a:solidFill>
              <a:latin typeface="Arial Narrow" pitchFamily="34" charset="0"/>
            </a:endParaRPr>
          </a:p>
        </p:txBody>
      </p:sp>
      <p:sp>
        <p:nvSpPr>
          <p:cNvPr id="7" name="Alternative Process 6"/>
          <p:cNvSpPr/>
          <p:nvPr/>
        </p:nvSpPr>
        <p:spPr bwMode="auto">
          <a:xfrm>
            <a:off x="977271" y="1138702"/>
            <a:ext cx="4100055" cy="753385"/>
          </a:xfrm>
          <a:prstGeom prst="flowChartAlternateProcess">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0" scaled="1"/>
            <a:tileRect/>
          </a:gra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nSpc>
                <a:spcPct val="90000"/>
              </a:lnSpc>
            </a:pPr>
            <a:r>
              <a:rPr lang="en-US" sz="2000" b="1" dirty="0">
                <a:solidFill>
                  <a:prstClr val="black"/>
                </a:solidFill>
                <a:latin typeface="Arial Narrow" pitchFamily="34" charset="0"/>
              </a:rPr>
              <a:t>Max [</a:t>
            </a:r>
            <a:r>
              <a:rPr lang="en-US" sz="2000" b="1" dirty="0" err="1">
                <a:solidFill>
                  <a:prstClr val="black"/>
                </a:solidFill>
                <a:latin typeface="Arial Narrow" pitchFamily="34" charset="0"/>
              </a:rPr>
              <a:t>i,j</a:t>
            </a:r>
            <a:r>
              <a:rPr lang="en-US" sz="2000" b="1" dirty="0">
                <a:solidFill>
                  <a:prstClr val="black"/>
                </a:solidFill>
                <a:latin typeface="Arial Narrow" pitchFamily="34" charset="0"/>
              </a:rPr>
              <a:t>] </a:t>
            </a:r>
            <a:r>
              <a:rPr lang="en-US" sz="2000" dirty="0">
                <a:solidFill>
                  <a:prstClr val="black"/>
                </a:solidFill>
                <a:latin typeface="Arial Narrow" pitchFamily="34" charset="0"/>
              </a:rPr>
              <a:t>= k: </a:t>
            </a:r>
          </a:p>
          <a:p>
            <a:pPr>
              <a:lnSpc>
                <a:spcPct val="90000"/>
              </a:lnSpc>
              <a:tabLst>
                <a:tab pos="263525" algn="l"/>
              </a:tabLst>
            </a:pPr>
            <a:r>
              <a:rPr lang="en-US" sz="2000" dirty="0">
                <a:solidFill>
                  <a:prstClr val="black"/>
                </a:solidFill>
                <a:latin typeface="Arial Narrow" pitchFamily="34" charset="0"/>
              </a:rPr>
              <a:t>	P</a:t>
            </a:r>
            <a:r>
              <a:rPr lang="en-US" sz="2000" baseline="-25000" dirty="0">
                <a:solidFill>
                  <a:prstClr val="black"/>
                </a:solidFill>
                <a:latin typeface="Arial Narrow" pitchFamily="34" charset="0"/>
              </a:rPr>
              <a:t>i</a:t>
            </a:r>
            <a:r>
              <a:rPr lang="en-US" sz="2000" dirty="0">
                <a:solidFill>
                  <a:prstClr val="black"/>
                </a:solidFill>
                <a:latin typeface="Arial Narrow" pitchFamily="34" charset="0"/>
              </a:rPr>
              <a:t> may request max k instances of  </a:t>
            </a:r>
            <a:r>
              <a:rPr lang="en-US" sz="2000" dirty="0" err="1">
                <a:solidFill>
                  <a:prstClr val="black"/>
                </a:solidFill>
                <a:latin typeface="Arial Narrow" pitchFamily="34" charset="0"/>
              </a:rPr>
              <a:t>R</a:t>
            </a:r>
            <a:r>
              <a:rPr lang="en-US" sz="2000" baseline="-25000" dirty="0" err="1">
                <a:solidFill>
                  <a:prstClr val="black"/>
                </a:solidFill>
                <a:latin typeface="Arial Narrow" pitchFamily="34" charset="0"/>
              </a:rPr>
              <a:t>j</a:t>
            </a:r>
            <a:r>
              <a:rPr lang="en-US" sz="2200" dirty="0">
                <a:solidFill>
                  <a:prstClr val="black"/>
                </a:solidFill>
                <a:latin typeface="Arial Narrow" pitchFamily="34" charset="0"/>
              </a:rPr>
              <a:t>. </a:t>
            </a:r>
          </a:p>
        </p:txBody>
      </p:sp>
      <p:sp>
        <p:nvSpPr>
          <p:cNvPr id="8" name="Alternative Process 7"/>
          <p:cNvSpPr/>
          <p:nvPr/>
        </p:nvSpPr>
        <p:spPr bwMode="auto">
          <a:xfrm>
            <a:off x="977270" y="2838933"/>
            <a:ext cx="4100055" cy="753384"/>
          </a:xfrm>
          <a:prstGeom prst="flowChartAlternateProcess">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0" scaled="1"/>
            <a:tileRect/>
          </a:gra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nSpc>
                <a:spcPct val="90000"/>
              </a:lnSpc>
            </a:pPr>
            <a:r>
              <a:rPr lang="en-US" sz="2000" b="1" dirty="0">
                <a:solidFill>
                  <a:prstClr val="black"/>
                </a:solidFill>
                <a:latin typeface="Arial Narrow" pitchFamily="34" charset="0"/>
              </a:rPr>
              <a:t>Available [j] </a:t>
            </a:r>
            <a:r>
              <a:rPr lang="en-US" sz="2000" dirty="0">
                <a:solidFill>
                  <a:prstClr val="black"/>
                </a:solidFill>
                <a:latin typeface="Arial Narrow" pitchFamily="34" charset="0"/>
              </a:rPr>
              <a:t>= k:</a:t>
            </a:r>
            <a:endParaRPr lang="en-US" sz="1400" dirty="0">
              <a:solidFill>
                <a:prstClr val="black"/>
              </a:solidFill>
              <a:latin typeface="Arial Narrow" pitchFamily="34" charset="0"/>
            </a:endParaRPr>
          </a:p>
          <a:p>
            <a:pPr>
              <a:lnSpc>
                <a:spcPct val="90000"/>
              </a:lnSpc>
              <a:tabLst>
                <a:tab pos="263525" algn="l"/>
              </a:tabLst>
            </a:pPr>
            <a:r>
              <a:rPr lang="en-US" sz="2000" dirty="0">
                <a:solidFill>
                  <a:prstClr val="black"/>
                </a:solidFill>
                <a:latin typeface="Arial Narrow" pitchFamily="34" charset="0"/>
              </a:rPr>
              <a:t>	k instances of </a:t>
            </a:r>
            <a:r>
              <a:rPr lang="en-US" sz="2000" dirty="0" err="1">
                <a:solidFill>
                  <a:prstClr val="black"/>
                </a:solidFill>
                <a:latin typeface="Arial Narrow" pitchFamily="34" charset="0"/>
              </a:rPr>
              <a:t>Rj</a:t>
            </a:r>
            <a:r>
              <a:rPr lang="en-US" sz="2000" dirty="0">
                <a:solidFill>
                  <a:prstClr val="black"/>
                </a:solidFill>
                <a:latin typeface="Arial Narrow" pitchFamily="34" charset="0"/>
              </a:rPr>
              <a:t>  are still available.</a:t>
            </a:r>
            <a:endParaRPr lang="en-US" sz="1400" dirty="0">
              <a:solidFill>
                <a:prstClr val="black"/>
              </a:solidFill>
              <a:latin typeface="Arial Narrow" pitchFamily="34" charset="0"/>
            </a:endParaRPr>
          </a:p>
        </p:txBody>
      </p:sp>
      <p:sp>
        <p:nvSpPr>
          <p:cNvPr id="179203" name="Rectangle 3"/>
          <p:cNvSpPr>
            <a:spLocks noGrp="1" noChangeArrowheads="1"/>
          </p:cNvSpPr>
          <p:nvPr>
            <p:ph type="body" idx="1"/>
          </p:nvPr>
        </p:nvSpPr>
        <p:spPr>
          <a:xfrm>
            <a:off x="5173579" y="926600"/>
            <a:ext cx="6903834" cy="3982284"/>
          </a:xfrm>
          <a:noFill/>
          <a:ln>
            <a:noFill/>
          </a:ln>
          <a:effectLst/>
        </p:spPr>
        <p:style>
          <a:lnRef idx="1">
            <a:schemeClr val="dk1"/>
          </a:lnRef>
          <a:fillRef idx="2">
            <a:schemeClr val="dk1"/>
          </a:fillRef>
          <a:effectRef idx="1">
            <a:schemeClr val="dk1"/>
          </a:effectRef>
          <a:fontRef idx="minor">
            <a:schemeClr val="dk1"/>
          </a:fontRef>
        </p:style>
        <p:txBody>
          <a:bodyPr>
            <a:normAutofit/>
          </a:bodyPr>
          <a:lstStyle/>
          <a:p>
            <a:pPr>
              <a:lnSpc>
                <a:spcPct val="90000"/>
              </a:lnSpc>
              <a:buFontTx/>
              <a:buNone/>
            </a:pPr>
            <a:r>
              <a:rPr lang="en-US" sz="2000" i="1" dirty="0">
                <a:solidFill>
                  <a:srgbClr val="C00000"/>
                </a:solidFill>
                <a:sym typeface="Symbol" pitchFamily="18" charset="2"/>
              </a:rPr>
              <a:t>Avoidance</a:t>
            </a:r>
            <a:r>
              <a:rPr lang="en-US" sz="2000" dirty="0">
                <a:sym typeface="Symbol" pitchFamily="18" charset="2"/>
              </a:rPr>
              <a:t> = ensure that </a:t>
            </a:r>
            <a:r>
              <a:rPr lang="en-US" sz="2000" i="1" dirty="0">
                <a:sym typeface="Symbol" pitchFamily="18" charset="2"/>
              </a:rPr>
              <a:t>system will not enter an unsafe</a:t>
            </a:r>
            <a:r>
              <a:rPr lang="en-US" sz="2000" dirty="0">
                <a:sym typeface="Symbol" pitchFamily="18" charset="2"/>
              </a:rPr>
              <a:t> state.</a:t>
            </a:r>
          </a:p>
          <a:p>
            <a:pPr>
              <a:lnSpc>
                <a:spcPct val="90000"/>
              </a:lnSpc>
              <a:buFontTx/>
              <a:buNone/>
            </a:pPr>
            <a:r>
              <a:rPr lang="en-US" sz="2000" b="1" dirty="0">
                <a:solidFill>
                  <a:srgbClr val="C00000"/>
                </a:solidFill>
              </a:rPr>
              <a:t>Idea</a:t>
            </a:r>
            <a:r>
              <a:rPr lang="en-US" sz="2000" dirty="0"/>
              <a:t>: </a:t>
            </a:r>
          </a:p>
          <a:p>
            <a:pPr lvl="1">
              <a:lnSpc>
                <a:spcPct val="90000"/>
              </a:lnSpc>
              <a:buFontTx/>
              <a:buNone/>
            </a:pPr>
            <a:r>
              <a:rPr lang="en-US" sz="2000" b="1" dirty="0"/>
              <a:t>If</a:t>
            </a:r>
            <a:r>
              <a:rPr lang="en-US" sz="2000" dirty="0"/>
              <a:t> </a:t>
            </a:r>
            <a:r>
              <a:rPr lang="en-US" sz="2000" i="1" dirty="0">
                <a:solidFill>
                  <a:srgbClr val="C00000"/>
                </a:solidFill>
              </a:rPr>
              <a:t>potentially satisfying a request</a:t>
            </a:r>
            <a:r>
              <a:rPr lang="en-US" sz="2000" dirty="0">
                <a:solidFill>
                  <a:srgbClr val="C00000"/>
                </a:solidFill>
              </a:rPr>
              <a:t> can </a:t>
            </a:r>
            <a:r>
              <a:rPr lang="en-US" sz="2000" dirty="0"/>
              <a:t>result in an </a:t>
            </a:r>
            <a:r>
              <a:rPr lang="en-US" sz="2000" i="1" dirty="0">
                <a:solidFill>
                  <a:srgbClr val="C00000"/>
                </a:solidFill>
              </a:rPr>
              <a:t>unsafe state </a:t>
            </a:r>
            <a:r>
              <a:rPr lang="en-US" sz="2000" i="1" dirty="0">
                <a:solidFill>
                  <a:schemeClr val="bg1">
                    <a:lumMod val="50000"/>
                  </a:schemeClr>
                </a:solidFill>
              </a:rPr>
              <a:t>// i.e., bank will have not enough to let its customers finish and return their loans in case someone requests its max needs</a:t>
            </a:r>
            <a:endParaRPr lang="en-US" sz="2000" dirty="0">
              <a:solidFill>
                <a:schemeClr val="bg1">
                  <a:lumMod val="50000"/>
                </a:schemeClr>
              </a:solidFill>
            </a:endParaRPr>
          </a:p>
          <a:p>
            <a:pPr lvl="1">
              <a:lnSpc>
                <a:spcPct val="90000"/>
              </a:lnSpc>
              <a:buFontTx/>
              <a:buNone/>
            </a:pPr>
            <a:r>
              <a:rPr lang="en-US" sz="2000" b="1" dirty="0"/>
              <a:t>then</a:t>
            </a:r>
            <a:r>
              <a:rPr lang="en-US" sz="2000" dirty="0"/>
              <a:t> the </a:t>
            </a:r>
            <a:r>
              <a:rPr lang="en-US" sz="2000" i="1" dirty="0">
                <a:solidFill>
                  <a:srgbClr val="C00000"/>
                </a:solidFill>
              </a:rPr>
              <a:t>requesting process is </a:t>
            </a:r>
            <a:r>
              <a:rPr lang="en-US" sz="2000" b="1" i="1" dirty="0">
                <a:solidFill>
                  <a:srgbClr val="C00000"/>
                </a:solidFill>
              </a:rPr>
              <a:t>suspended</a:t>
            </a:r>
            <a:endParaRPr lang="en-US" sz="2000" i="1" dirty="0">
              <a:solidFill>
                <a:schemeClr val="bg1">
                  <a:lumMod val="50000"/>
                </a:schemeClr>
              </a:solidFill>
            </a:endParaRPr>
          </a:p>
          <a:p>
            <a:pPr lvl="1">
              <a:lnSpc>
                <a:spcPct val="90000"/>
              </a:lnSpc>
              <a:buFontTx/>
              <a:buNone/>
            </a:pPr>
            <a:r>
              <a:rPr lang="en-US" sz="2000" b="1" i="1" dirty="0">
                <a:solidFill>
                  <a:srgbClr val="C00000"/>
                </a:solidFill>
              </a:rPr>
              <a:t>until</a:t>
            </a:r>
            <a:r>
              <a:rPr lang="en-US" sz="2000" i="1" dirty="0">
                <a:solidFill>
                  <a:srgbClr val="C00000"/>
                </a:solidFill>
              </a:rPr>
              <a:t> enough resources are free-</a:t>
            </a:r>
            <a:r>
              <a:rPr lang="en-US" sz="2000" i="1" dirty="0" err="1">
                <a:solidFill>
                  <a:srgbClr val="C00000"/>
                </a:solidFill>
              </a:rPr>
              <a:t>ed</a:t>
            </a:r>
            <a:r>
              <a:rPr lang="en-US" sz="2000" dirty="0">
                <a:solidFill>
                  <a:srgbClr val="C00000"/>
                </a:solidFill>
              </a:rPr>
              <a:t> </a:t>
            </a:r>
            <a:r>
              <a:rPr lang="en-US" sz="2000" i="1" dirty="0">
                <a:solidFill>
                  <a:schemeClr val="bg1">
                    <a:lumMod val="50000"/>
                  </a:schemeClr>
                </a:solidFill>
              </a:rPr>
              <a:t>// by processes that will terminate in the meanwhile</a:t>
            </a:r>
          </a:p>
          <a:p>
            <a:pPr>
              <a:lnSpc>
                <a:spcPct val="90000"/>
              </a:lnSpc>
              <a:buFontTx/>
              <a:buNone/>
            </a:pPr>
            <a:r>
              <a:rPr lang="en-US" sz="2000" b="1" dirty="0">
                <a:solidFill>
                  <a:srgbClr val="C00000"/>
                </a:solidFill>
              </a:rPr>
              <a:t>How to do the safety check efficiently? </a:t>
            </a:r>
          </a:p>
          <a:p>
            <a:pPr lvl="1">
              <a:lnSpc>
                <a:spcPct val="90000"/>
              </a:lnSpc>
              <a:buFontTx/>
              <a:buNone/>
            </a:pPr>
            <a:r>
              <a:rPr lang="en-US" sz="2000" dirty="0"/>
              <a:t>Banker’s algo gives criterion that can be checked in linear time using the </a:t>
            </a:r>
            <a:r>
              <a:rPr lang="en-US" sz="2000" dirty="0">
                <a:latin typeface="Arial Narrow" panose="020B0606020202030204" pitchFamily="34" charset="0"/>
              </a:rPr>
              <a:t>Max, Allocation, Available </a:t>
            </a:r>
            <a:r>
              <a:rPr lang="en-US" sz="2000" dirty="0"/>
              <a:t>matrices</a:t>
            </a:r>
            <a:endParaRPr lang="en-US" sz="2000" dirty="0">
              <a:solidFill>
                <a:schemeClr val="bg1">
                  <a:lumMod val="50000"/>
                </a:schemeClr>
              </a:solidFill>
            </a:endParaRPr>
          </a:p>
          <a:p>
            <a:pPr lvl="1">
              <a:lnSpc>
                <a:spcPct val="90000"/>
              </a:lnSpc>
            </a:pPr>
            <a:endParaRPr lang="en-US" sz="2000" dirty="0"/>
          </a:p>
        </p:txBody>
      </p:sp>
      <p:pic>
        <p:nvPicPr>
          <p:cNvPr id="2" name="Picture 1">
            <a:extLst>
              <a:ext uri="{FF2B5EF4-FFF2-40B4-BE49-F238E27FC236}">
                <a16:creationId xmlns:a16="http://schemas.microsoft.com/office/drawing/2014/main" id="{A9FE2A30-F81A-403C-8EC6-29F5192FE1D5}"/>
              </a:ext>
            </a:extLst>
          </p:cNvPr>
          <p:cNvPicPr>
            <a:picLocks noChangeAspect="1"/>
          </p:cNvPicPr>
          <p:nvPr/>
        </p:nvPicPr>
        <p:blipFill>
          <a:blip r:embed="rId3">
            <a:clrChange>
              <a:clrFrom>
                <a:srgbClr val="FFFFFF"/>
              </a:clrFrom>
              <a:clrTo>
                <a:srgbClr val="FFFFFF">
                  <a:alpha val="0"/>
                </a:srgbClr>
              </a:clrTo>
            </a:clrChange>
            <a:duotone>
              <a:schemeClr val="accent5">
                <a:shade val="45000"/>
                <a:satMod val="135000"/>
              </a:schemeClr>
              <a:prstClr val="white"/>
            </a:duotone>
          </a:blip>
          <a:stretch>
            <a:fillRect/>
          </a:stretch>
        </p:blipFill>
        <p:spPr>
          <a:xfrm>
            <a:off x="0" y="778662"/>
            <a:ext cx="1352978" cy="1352978"/>
          </a:xfrm>
          <a:prstGeom prst="rect">
            <a:avLst/>
          </a:prstGeom>
        </p:spPr>
      </p:pic>
      <p:sp>
        <p:nvSpPr>
          <p:cNvPr id="4" name="Title 1">
            <a:extLst>
              <a:ext uri="{FF2B5EF4-FFF2-40B4-BE49-F238E27FC236}">
                <a16:creationId xmlns:a16="http://schemas.microsoft.com/office/drawing/2014/main" id="{DB5B90D8-AD23-0C28-BFFD-7D2D292DCE05}"/>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Deadlock avoidance by the OS: banker’s algorithm</a:t>
            </a:r>
            <a:endParaRPr lang="sv-SE" sz="3200" b="1" dirty="0">
              <a:solidFill>
                <a:schemeClr val="accent1">
                  <a:lumMod val="50000"/>
                </a:schemeClr>
              </a:solidFill>
            </a:endParaRPr>
          </a:p>
        </p:txBody>
      </p:sp>
      <p:sp>
        <p:nvSpPr>
          <p:cNvPr id="3" name="Date Placeholder 2">
            <a:extLst>
              <a:ext uri="{FF2B5EF4-FFF2-40B4-BE49-F238E27FC236}">
                <a16:creationId xmlns:a16="http://schemas.microsoft.com/office/drawing/2014/main" id="{8F4D7D7C-51B2-4D21-A8E1-77B4443D4328}"/>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7496081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Slide Number Placeholder 5"/>
          <p:cNvSpPr>
            <a:spLocks noGrp="1"/>
          </p:cNvSpPr>
          <p:nvPr>
            <p:ph type="sldNum" sz="quarter" idx="12"/>
          </p:nvPr>
        </p:nvSpPr>
        <p:spPr>
          <a:noFill/>
        </p:spPr>
        <p:txBody>
          <a:bodyPr/>
          <a:lstStyle/>
          <a:p>
            <a:fld id="{7C60CCE7-AE37-4A34-B533-C66B535C81D0}" type="slidenum">
              <a:rPr lang="en-US" smtClean="0">
                <a:solidFill>
                  <a:prstClr val="black">
                    <a:tint val="75000"/>
                  </a:prstClr>
                </a:solidFill>
              </a:rPr>
              <a:pPr/>
              <a:t>42</a:t>
            </a:fld>
            <a:endParaRPr lang="en-US" dirty="0">
              <a:solidFill>
                <a:prstClr val="black">
                  <a:tint val="75000"/>
                </a:prstClr>
              </a:solidFill>
            </a:endParaRPr>
          </a:p>
        </p:txBody>
      </p:sp>
      <p:sp>
        <p:nvSpPr>
          <p:cNvPr id="139267" name="Rectangle 3"/>
          <p:cNvSpPr>
            <a:spLocks noGrp="1" noChangeArrowheads="1"/>
          </p:cNvSpPr>
          <p:nvPr>
            <p:ph type="body" idx="1"/>
          </p:nvPr>
        </p:nvSpPr>
        <p:spPr>
          <a:xfrm>
            <a:off x="511444" y="972312"/>
            <a:ext cx="5408590" cy="2027312"/>
          </a:xfrm>
          <a:ln>
            <a:noFill/>
          </a:ln>
        </p:spPr>
        <p:style>
          <a:lnRef idx="2">
            <a:schemeClr val="dk1"/>
          </a:lnRef>
          <a:fillRef idx="1">
            <a:schemeClr val="lt1"/>
          </a:fillRef>
          <a:effectRef idx="0">
            <a:schemeClr val="dk1"/>
          </a:effectRef>
          <a:fontRef idx="minor">
            <a:schemeClr val="dk1"/>
          </a:fontRef>
        </p:style>
        <p:txBody>
          <a:bodyPr/>
          <a:lstStyle/>
          <a:p>
            <a:pPr marL="0" indent="0">
              <a:buNone/>
            </a:pPr>
            <a:endParaRPr lang="en-US" sz="2000" dirty="0">
              <a:solidFill>
                <a:schemeClr val="accent2"/>
              </a:solidFill>
            </a:endParaRPr>
          </a:p>
          <a:p>
            <a:pPr marL="457200" indent="-457200"/>
            <a:r>
              <a:rPr lang="en-US" sz="2000" dirty="0">
                <a:solidFill>
                  <a:srgbClr val="C00000"/>
                </a:solidFill>
              </a:rPr>
              <a:t>If OS grants requests without checking safety upon every request</a:t>
            </a:r>
          </a:p>
          <a:p>
            <a:pPr marL="457200" indent="-457200"/>
            <a:r>
              <a:rPr lang="en-US" sz="2000" dirty="0">
                <a:solidFill>
                  <a:srgbClr val="C00000"/>
                </a:solidFill>
              </a:rPr>
              <a:t>It can allow</a:t>
            </a:r>
            <a:r>
              <a:rPr lang="en-US" sz="2000" dirty="0"/>
              <a:t> a deadlock state and when detected (e.g., through detection of cyclical waits), </a:t>
            </a:r>
            <a:r>
              <a:rPr lang="en-US" sz="2000" i="1" dirty="0">
                <a:solidFill>
                  <a:srgbClr val="C00000"/>
                </a:solidFill>
              </a:rPr>
              <a:t>recover</a:t>
            </a:r>
            <a:r>
              <a:rPr lang="en-US" sz="2000" dirty="0">
                <a:solidFill>
                  <a:schemeClr val="accent2"/>
                </a:solidFill>
              </a:rPr>
              <a:t> </a:t>
            </a:r>
          </a:p>
          <a:p>
            <a:pPr marL="457200" indent="-457200"/>
            <a:endParaRPr lang="en-US" sz="2000" dirty="0">
              <a:solidFill>
                <a:schemeClr val="accent2"/>
              </a:solidFill>
            </a:endParaRPr>
          </a:p>
        </p:txBody>
      </p:sp>
      <p:sp>
        <p:nvSpPr>
          <p:cNvPr id="2" name="Title 1">
            <a:extLst>
              <a:ext uri="{FF2B5EF4-FFF2-40B4-BE49-F238E27FC236}">
                <a16:creationId xmlns:a16="http://schemas.microsoft.com/office/drawing/2014/main" id="{9BD43FDC-5A98-E7C7-1960-2D3282C5EFA2}"/>
              </a:ext>
            </a:extLst>
          </p:cNvPr>
          <p:cNvSpPr txBox="1">
            <a:spLocks/>
          </p:cNvSpPr>
          <p:nvPr/>
        </p:nvSpPr>
        <p:spPr>
          <a:xfrm>
            <a:off x="126589" y="261932"/>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200" b="1" dirty="0">
                <a:solidFill>
                  <a:schemeClr val="accent1">
                    <a:lumMod val="50000"/>
                  </a:schemeClr>
                </a:solidFill>
              </a:rPr>
              <a:t>Deadlock detection and recovery</a:t>
            </a:r>
            <a:endParaRPr lang="sv-SE" sz="3200" b="1" dirty="0">
              <a:solidFill>
                <a:schemeClr val="accent1">
                  <a:lumMod val="50000"/>
                </a:schemeClr>
              </a:solidFill>
            </a:endParaRPr>
          </a:p>
        </p:txBody>
      </p:sp>
      <p:sp>
        <p:nvSpPr>
          <p:cNvPr id="3" name="Rectangle 3">
            <a:extLst>
              <a:ext uri="{FF2B5EF4-FFF2-40B4-BE49-F238E27FC236}">
                <a16:creationId xmlns:a16="http://schemas.microsoft.com/office/drawing/2014/main" id="{A0D104BC-433B-A1C9-F97C-31007666B779}"/>
              </a:ext>
            </a:extLst>
          </p:cNvPr>
          <p:cNvSpPr txBox="1">
            <a:spLocks noChangeArrowheads="1"/>
          </p:cNvSpPr>
          <p:nvPr/>
        </p:nvSpPr>
        <p:spPr>
          <a:xfrm>
            <a:off x="6132513" y="1196976"/>
            <a:ext cx="5726407" cy="1855334"/>
          </a:xfrm>
          <a:prstGeom prst="rect">
            <a:avLst/>
          </a:prstGeom>
          <a:noFill/>
        </p:spPr>
        <p:style>
          <a:lnRef idx="1">
            <a:schemeClr val="dk1"/>
          </a:lnRef>
          <a:fillRef idx="2">
            <a:schemeClr val="dk1"/>
          </a:fillRef>
          <a:effectRef idx="1">
            <a:schemeClr val="dk1"/>
          </a:effectRef>
          <a:fontRef idx="minor">
            <a:schemeClr val="dk1"/>
          </a:fontRef>
        </p:style>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57200" indent="-457200">
              <a:buFont typeface="Arial" panose="020B0604020202020204" pitchFamily="34" charset="0"/>
              <a:buAutoNum type="arabicParenBoth"/>
            </a:pPr>
            <a:r>
              <a:rPr lang="en-US" sz="2000" b="1" dirty="0">
                <a:solidFill>
                  <a:srgbClr val="C00000"/>
                </a:solidFill>
              </a:rPr>
              <a:t>Process Termination: </a:t>
            </a:r>
            <a:r>
              <a:rPr lang="en-US" sz="2000" dirty="0">
                <a:solidFill>
                  <a:srgbClr val="C00000"/>
                </a:solidFill>
              </a:rPr>
              <a:t>Abort all or some deadlocked processes </a:t>
            </a:r>
            <a:r>
              <a:rPr lang="en-US" sz="2000" dirty="0"/>
              <a:t>until deadlock is eliminated.</a:t>
            </a:r>
          </a:p>
          <a:p>
            <a:pPr marL="457200" indent="-457200">
              <a:buFont typeface="Arial" panose="020B0604020202020204" pitchFamily="34" charset="0"/>
              <a:buAutoNum type="arabicParenBoth"/>
            </a:pPr>
            <a:endParaRPr lang="en-US" sz="2000" dirty="0"/>
          </a:p>
          <a:p>
            <a:pPr marL="0" indent="0">
              <a:buFont typeface="Arial" panose="020B0604020202020204" pitchFamily="34" charset="0"/>
              <a:buNone/>
            </a:pPr>
            <a:r>
              <a:rPr lang="en-US" sz="2000" b="1" dirty="0">
                <a:solidFill>
                  <a:srgbClr val="C00000"/>
                </a:solidFill>
              </a:rPr>
              <a:t>(2) Resource Preemption: </a:t>
            </a:r>
            <a:r>
              <a:rPr lang="en-US" sz="2000" dirty="0">
                <a:solidFill>
                  <a:srgbClr val="C00000"/>
                </a:solidFill>
              </a:rPr>
              <a:t>Select  victim  and rollback </a:t>
            </a:r>
            <a:r>
              <a:rPr lang="en-US" sz="2000" dirty="0"/>
              <a:t>– return to some safe state, restart process from that state </a:t>
            </a:r>
          </a:p>
          <a:p>
            <a:pPr lvl="1"/>
            <a:endParaRPr lang="en-US" sz="2000" dirty="0"/>
          </a:p>
        </p:txBody>
      </p:sp>
      <p:sp>
        <p:nvSpPr>
          <p:cNvPr id="4" name="Rectangle 3">
            <a:extLst>
              <a:ext uri="{FF2B5EF4-FFF2-40B4-BE49-F238E27FC236}">
                <a16:creationId xmlns:a16="http://schemas.microsoft.com/office/drawing/2014/main" id="{057500CE-B8E6-8A09-CF6F-141A0F5A0CFA}"/>
              </a:ext>
            </a:extLst>
          </p:cNvPr>
          <p:cNvSpPr txBox="1">
            <a:spLocks noChangeArrowheads="1"/>
          </p:cNvSpPr>
          <p:nvPr/>
        </p:nvSpPr>
        <p:spPr bwMode="auto">
          <a:xfrm>
            <a:off x="6132512" y="3312902"/>
            <a:ext cx="5726407" cy="1207486"/>
          </a:xfrm>
          <a:prstGeom prst="rect">
            <a:avLst/>
          </a:prstGeom>
          <a:noFill/>
          <a:ln>
            <a:headEnd/>
            <a:tailEnd/>
          </a:ln>
        </p:spPr>
        <p:style>
          <a:lnRef idx="1">
            <a:schemeClr val="dk1"/>
          </a:lnRef>
          <a:fillRef idx="2">
            <a:schemeClr val="dk1"/>
          </a:fillRef>
          <a:effectRef idx="1">
            <a:schemeClr val="dk1"/>
          </a:effectRef>
          <a:fontRef idx="minor">
            <a:schemeClr val="dk1"/>
          </a:fontRef>
        </p:style>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solidFill>
                  <a:prstClr val="black"/>
                </a:solidFill>
              </a:rPr>
              <a:t>Must decide on selection criteria (cost, starvation risks, …)</a:t>
            </a:r>
            <a:endParaRPr lang="en-US" sz="2000" b="1" dirty="0">
              <a:solidFill>
                <a:srgbClr val="C00000"/>
              </a:solidFill>
            </a:endParaRPr>
          </a:p>
          <a:p>
            <a:pPr marL="0" indent="0" algn="ctr">
              <a:buNone/>
            </a:pPr>
            <a:r>
              <a:rPr lang="en-US" sz="2000" b="1" dirty="0">
                <a:solidFill>
                  <a:srgbClr val="C00000"/>
                </a:solidFill>
              </a:rPr>
              <a:t>Recovery is pretty expensive as  a method ….</a:t>
            </a:r>
          </a:p>
          <a:p>
            <a:pPr marL="0" indent="0">
              <a:buNone/>
            </a:pPr>
            <a:endParaRPr lang="en-US" sz="2000" dirty="0">
              <a:solidFill>
                <a:prstClr val="black"/>
              </a:solidFill>
            </a:endParaRPr>
          </a:p>
        </p:txBody>
      </p:sp>
      <p:sp>
        <p:nvSpPr>
          <p:cNvPr id="5" name="Date Placeholder 4">
            <a:extLst>
              <a:ext uri="{FF2B5EF4-FFF2-40B4-BE49-F238E27FC236}">
                <a16:creationId xmlns:a16="http://schemas.microsoft.com/office/drawing/2014/main" id="{9A102997-1980-D940-A5C6-044E2391E66F}"/>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41306795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902</TotalTime>
  <Words>9040</Words>
  <Application>Microsoft Macintosh PowerPoint</Application>
  <PresentationFormat>Widescreen</PresentationFormat>
  <Paragraphs>896</Paragraphs>
  <Slides>42</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42</vt:i4>
      </vt:variant>
    </vt:vector>
  </HeadingPairs>
  <TitlesOfParts>
    <vt:vector size="51" baseType="lpstr">
      <vt:lpstr>Arial</vt:lpstr>
      <vt:lpstr>Arial Narrow</vt:lpstr>
      <vt:lpstr>Calibri</vt:lpstr>
      <vt:lpstr>Calibri Light</vt:lpstr>
      <vt:lpstr>Monotype Sorts</vt:lpstr>
      <vt:lpstr>Symbol</vt:lpstr>
      <vt:lpstr>Times New Roman</vt:lpstr>
      <vt:lpstr>Wingdings</vt:lpstr>
      <vt:lpstr>Office Theme</vt:lpstr>
      <vt:lpstr>Synchronization - Part 2 Operating Systems – EDA093/DIT401  Vincenzo Gulisano vincenzo.gulisano@chalmers.se</vt:lpstr>
      <vt:lpstr>What to read (Main textbook)  - Both for part 1 and part 2</vt:lpstr>
      <vt:lpstr>Agenda</vt:lpstr>
      <vt:lpstr>Agenda</vt:lpstr>
      <vt:lpstr>PowerPoint Presentation</vt:lpstr>
      <vt:lpstr>PowerPoint Presentation</vt:lpstr>
      <vt:lpstr>PowerPoint Presentation</vt:lpstr>
      <vt:lpstr>PowerPoint Presentation</vt:lpstr>
      <vt:lpstr>Agenda</vt:lpstr>
      <vt:lpstr>PowerPoint Presentation</vt:lpstr>
      <vt:lpstr>What is a deadlock?</vt:lpstr>
      <vt:lpstr>4 necessary conditions for Deadlock [Coffman et al 1971] </vt:lpstr>
      <vt:lpstr>4 necessary conditions for Deadlock [Coffman et al 1971] </vt:lpstr>
      <vt:lpstr>Agenda</vt:lpstr>
      <vt:lpstr>PowerPoint Presentation</vt:lpstr>
      <vt:lpstr>PowerPoint Presentation</vt:lpstr>
      <vt:lpstr>PowerPoint Presentation</vt:lpstr>
      <vt:lpstr>PowerPoint Presentation</vt:lpstr>
      <vt:lpstr>Agenda</vt:lpstr>
      <vt:lpstr>PowerPoint Presentation</vt:lpstr>
      <vt:lpstr>PowerPoint Presentation</vt:lpstr>
      <vt:lpstr>PowerPoint Presentation</vt:lpstr>
      <vt:lpstr>Agenda</vt:lpstr>
      <vt:lpstr>PowerPoint Presentation</vt:lpstr>
      <vt:lpstr>PowerPoint Presentation</vt:lpstr>
      <vt:lpstr>Agenda</vt:lpstr>
      <vt:lpstr>PowerPoint Presentation</vt:lpstr>
      <vt:lpstr>PowerPoint Presentation</vt:lpstr>
      <vt:lpstr>Agenda</vt:lpstr>
      <vt:lpstr>Critical section for n threads:</vt:lpstr>
      <vt:lpstr>PowerPoint Presentation</vt:lpstr>
      <vt:lpstr>Agenda</vt:lpstr>
      <vt:lpstr>PowerPoint Presentation</vt:lpstr>
      <vt:lpstr>PowerPoint Presentation</vt:lpstr>
      <vt:lpstr>PowerPoint Presentation</vt:lpstr>
      <vt:lpstr>Agenda</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Vincenzo Massimiliano Gulisano</dc:creator>
  <cp:lastModifiedBy>Vincenzo Massimiliano Gulisano</cp:lastModifiedBy>
  <cp:revision>3</cp:revision>
  <dcterms:created xsi:type="dcterms:W3CDTF">2022-07-22T10:28:46Z</dcterms:created>
  <dcterms:modified xsi:type="dcterms:W3CDTF">2026-07-14T05:15:34Z</dcterms:modified>
</cp:coreProperties>
</file>