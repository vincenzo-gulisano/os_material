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ppt/tags/tag3.xml" ContentType="application/vnd.openxmlformats-officedocument.presentationml.tags+xml"/>
  <Override PartName="/ppt/notesSlides/notesSlide6.xml" ContentType="application/vnd.openxmlformats-officedocument.presentationml.notesSlide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tags/tag5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71" r:id="rId1"/>
    <p:sldMasterId id="2147483836" r:id="rId2"/>
  </p:sldMasterIdLst>
  <p:notesMasterIdLst>
    <p:notesMasterId r:id="rId78"/>
  </p:notesMasterIdLst>
  <p:handoutMasterIdLst>
    <p:handoutMasterId r:id="rId79"/>
  </p:handoutMasterIdLst>
  <p:sldIdLst>
    <p:sldId id="391" r:id="rId3"/>
    <p:sldId id="398" r:id="rId4"/>
    <p:sldId id="369" r:id="rId5"/>
    <p:sldId id="400" r:id="rId6"/>
    <p:sldId id="481" r:id="rId7"/>
    <p:sldId id="492" r:id="rId8"/>
    <p:sldId id="493" r:id="rId9"/>
    <p:sldId id="508" r:id="rId10"/>
    <p:sldId id="509" r:id="rId11"/>
    <p:sldId id="494" r:id="rId12"/>
    <p:sldId id="399" r:id="rId13"/>
    <p:sldId id="482" r:id="rId14"/>
    <p:sldId id="407" r:id="rId15"/>
    <p:sldId id="408" r:id="rId16"/>
    <p:sldId id="409" r:id="rId17"/>
    <p:sldId id="410" r:id="rId18"/>
    <p:sldId id="411" r:id="rId19"/>
    <p:sldId id="412" r:id="rId20"/>
    <p:sldId id="413" r:id="rId21"/>
    <p:sldId id="415" r:id="rId22"/>
    <p:sldId id="416" r:id="rId23"/>
    <p:sldId id="265" r:id="rId24"/>
    <p:sldId id="266" r:id="rId25"/>
    <p:sldId id="267" r:id="rId26"/>
    <p:sldId id="484" r:id="rId27"/>
    <p:sldId id="419" r:id="rId28"/>
    <p:sldId id="420" r:id="rId29"/>
    <p:sldId id="421" r:id="rId30"/>
    <p:sldId id="507" r:id="rId31"/>
    <p:sldId id="485" r:id="rId32"/>
    <p:sldId id="424" r:id="rId33"/>
    <p:sldId id="495" r:id="rId34"/>
    <p:sldId id="423" r:id="rId35"/>
    <p:sldId id="425" r:id="rId36"/>
    <p:sldId id="496" r:id="rId37"/>
    <p:sldId id="426" r:id="rId38"/>
    <p:sldId id="427" r:id="rId39"/>
    <p:sldId id="428" r:id="rId40"/>
    <p:sldId id="429" r:id="rId41"/>
    <p:sldId id="498" r:id="rId42"/>
    <p:sldId id="499" r:id="rId43"/>
    <p:sldId id="501" r:id="rId44"/>
    <p:sldId id="502" r:id="rId45"/>
    <p:sldId id="497" r:id="rId46"/>
    <p:sldId id="430" r:id="rId47"/>
    <p:sldId id="431" r:id="rId48"/>
    <p:sldId id="432" r:id="rId49"/>
    <p:sldId id="433" r:id="rId50"/>
    <p:sldId id="434" r:id="rId51"/>
    <p:sldId id="435" r:id="rId52"/>
    <p:sldId id="436" r:id="rId53"/>
    <p:sldId id="486" r:id="rId54"/>
    <p:sldId id="505" r:id="rId55"/>
    <p:sldId id="441" r:id="rId56"/>
    <p:sldId id="442" r:id="rId57"/>
    <p:sldId id="443" r:id="rId58"/>
    <p:sldId id="444" r:id="rId59"/>
    <p:sldId id="487" r:id="rId60"/>
    <p:sldId id="446" r:id="rId61"/>
    <p:sldId id="479" r:id="rId62"/>
    <p:sldId id="447" r:id="rId63"/>
    <p:sldId id="448" r:id="rId64"/>
    <p:sldId id="449" r:id="rId65"/>
    <p:sldId id="506" r:id="rId66"/>
    <p:sldId id="450" r:id="rId67"/>
    <p:sldId id="452" r:id="rId68"/>
    <p:sldId id="453" r:id="rId69"/>
    <p:sldId id="268" r:id="rId70"/>
    <p:sldId id="269" r:id="rId71"/>
    <p:sldId id="270" r:id="rId72"/>
    <p:sldId id="488" r:id="rId73"/>
    <p:sldId id="454" r:id="rId74"/>
    <p:sldId id="456" r:id="rId75"/>
    <p:sldId id="457" r:id="rId76"/>
    <p:sldId id="489" r:id="rId77"/>
  </p:sldIdLst>
  <p:sldSz cx="13716000" cy="9144000"/>
  <p:notesSz cx="6997700" cy="9283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MS PGothic" charset="-128"/>
        <a:cs typeface="+mn-cs"/>
      </a:defRPr>
    </a:lvl1pPr>
    <a:lvl2pPr marL="652463" indent="-195263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MS PGothic" charset="-128"/>
        <a:cs typeface="+mn-cs"/>
      </a:defRPr>
    </a:lvl2pPr>
    <a:lvl3pPr marL="1304925" indent="-39052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MS PGothic" charset="-128"/>
        <a:cs typeface="+mn-cs"/>
      </a:defRPr>
    </a:lvl3pPr>
    <a:lvl4pPr marL="1958975" indent="-58737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MS PGothic" charset="-128"/>
        <a:cs typeface="+mn-cs"/>
      </a:defRPr>
    </a:lvl4pPr>
    <a:lvl5pPr marL="2611438" indent="-78263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MS PGothic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charset="0"/>
        <a:ea typeface="MS PGothic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charset="0"/>
        <a:ea typeface="MS PGothic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charset="0"/>
        <a:ea typeface="MS PGothic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charset="0"/>
        <a:ea typeface="MS PGothic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28">
          <p15:clr>
            <a:srgbClr val="A4A3A4"/>
          </p15:clr>
        </p15:guide>
        <p15:guide id="2" pos="1964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Office" lastIdx="1" clrIdx="0"/>
  <p:cmAuthor id="2" name="Microsoft Office User" initials="Office [2]" lastIdx="1" clrIdx="1"/>
  <p:cmAuthor id="3" name="Microsoft Office User" initials="Office [3]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9900"/>
    <a:srgbClr val="663300"/>
    <a:srgbClr val="0000CC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45D356-7D79-874A-8730-0AF9B54D52B4}" v="5" dt="2025-09-29T12:14:09.9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/>
    <p:restoredTop sz="74590" autoAdjust="0"/>
  </p:normalViewPr>
  <p:slideViewPr>
    <p:cSldViewPr snapToGrid="0">
      <p:cViewPr varScale="1">
        <p:scale>
          <a:sx n="63" d="100"/>
          <a:sy n="63" d="100"/>
        </p:scale>
        <p:origin x="2472" y="200"/>
      </p:cViewPr>
      <p:guideLst>
        <p:guide orient="horz" pos="1528"/>
        <p:guide pos="19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364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tableStyles" Target="tableStyles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commentAuthors" Target="commentAuthors.xml"/><Relationship Id="rId85" Type="http://schemas.microsoft.com/office/2016/11/relationships/changesInfo" Target="changesInfos/changesInfo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notesMaster" Target="notesMasters/notesMaster1.xml"/><Relationship Id="rId81" Type="http://schemas.openxmlformats.org/officeDocument/2006/relationships/presProps" Target="presProps.xml"/><Relationship Id="rId86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61" Type="http://schemas.openxmlformats.org/officeDocument/2006/relationships/slide" Target="slides/slide59.xml"/><Relationship Id="rId8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cenzo Massimiliano Gulisano" userId="887d7398-9e41-4331-abd4-9c23f064ea90" providerId="ADAL" clId="{8EA10870-6395-588A-9409-E8E4CA631CF7}"/>
    <pc:docChg chg="custSel addSld delSld modSld">
      <pc:chgData name="Vincenzo Massimiliano Gulisano" userId="887d7398-9e41-4331-abd4-9c23f064ea90" providerId="ADAL" clId="{8EA10870-6395-588A-9409-E8E4CA631CF7}" dt="2025-09-29T12:14:09.906" v="37" actId="33524"/>
      <pc:docMkLst>
        <pc:docMk/>
      </pc:docMkLst>
      <pc:sldChg chg="modSp add mod modNotesTx">
        <pc:chgData name="Vincenzo Massimiliano Gulisano" userId="887d7398-9e41-4331-abd4-9c23f064ea90" providerId="ADAL" clId="{8EA10870-6395-588A-9409-E8E4CA631CF7}" dt="2025-09-26T07:34:57.400" v="4" actId="20577"/>
        <pc:sldMkLst>
          <pc:docMk/>
          <pc:sldMk cId="3107918595" sldId="265"/>
        </pc:sldMkLst>
        <pc:spChg chg="mod">
          <ac:chgData name="Vincenzo Massimiliano Gulisano" userId="887d7398-9e41-4331-abd4-9c23f064ea90" providerId="ADAL" clId="{8EA10870-6395-588A-9409-E8E4CA631CF7}" dt="2025-09-26T07:34:57.400" v="4" actId="20577"/>
          <ac:spMkLst>
            <pc:docMk/>
            <pc:sldMk cId="3107918595" sldId="265"/>
            <ac:spMk id="3" creationId="{290DD50C-B6D7-3E00-0C89-290C212BA825}"/>
          </ac:spMkLst>
        </pc:spChg>
      </pc:sldChg>
      <pc:sldChg chg="modSp add mod modNotesTx">
        <pc:chgData name="Vincenzo Massimiliano Gulisano" userId="887d7398-9e41-4331-abd4-9c23f064ea90" providerId="ADAL" clId="{8EA10870-6395-588A-9409-E8E4CA631CF7}" dt="2025-09-26T07:35:11.577" v="8" actId="20577"/>
        <pc:sldMkLst>
          <pc:docMk/>
          <pc:sldMk cId="1150321690" sldId="266"/>
        </pc:sldMkLst>
        <pc:spChg chg="mod">
          <ac:chgData name="Vincenzo Massimiliano Gulisano" userId="887d7398-9e41-4331-abd4-9c23f064ea90" providerId="ADAL" clId="{8EA10870-6395-588A-9409-E8E4CA631CF7}" dt="2025-09-26T07:35:11.577" v="8" actId="20577"/>
          <ac:spMkLst>
            <pc:docMk/>
            <pc:sldMk cId="1150321690" sldId="266"/>
            <ac:spMk id="3" creationId="{6BCC5F87-99EF-F2E9-2A2D-6ABE8AAD5DBB}"/>
          </ac:spMkLst>
        </pc:spChg>
      </pc:sldChg>
      <pc:sldChg chg="modSp add mod modNotesTx">
        <pc:chgData name="Vincenzo Massimiliano Gulisano" userId="887d7398-9e41-4331-abd4-9c23f064ea90" providerId="ADAL" clId="{8EA10870-6395-588A-9409-E8E4CA631CF7}" dt="2025-09-26T07:35:21.662" v="18" actId="20577"/>
        <pc:sldMkLst>
          <pc:docMk/>
          <pc:sldMk cId="859074945" sldId="267"/>
        </pc:sldMkLst>
        <pc:spChg chg="mod">
          <ac:chgData name="Vincenzo Massimiliano Gulisano" userId="887d7398-9e41-4331-abd4-9c23f064ea90" providerId="ADAL" clId="{8EA10870-6395-588A-9409-E8E4CA631CF7}" dt="2025-09-26T07:35:19.098" v="13" actId="20577"/>
          <ac:spMkLst>
            <pc:docMk/>
            <pc:sldMk cId="859074945" sldId="267"/>
            <ac:spMk id="3" creationId="{D0F39A7A-5F76-30EC-4A87-B714A4EF30C3}"/>
          </ac:spMkLst>
        </pc:spChg>
      </pc:sldChg>
      <pc:sldChg chg="modSp add del mod modNotesTx">
        <pc:chgData name="Vincenzo Massimiliano Gulisano" userId="887d7398-9e41-4331-abd4-9c23f064ea90" providerId="ADAL" clId="{8EA10870-6395-588A-9409-E8E4CA631CF7}" dt="2025-09-26T07:36:05.440" v="25" actId="20577"/>
        <pc:sldMkLst>
          <pc:docMk/>
          <pc:sldMk cId="2587233204" sldId="268"/>
        </pc:sldMkLst>
        <pc:spChg chg="mod">
          <ac:chgData name="Vincenzo Massimiliano Gulisano" userId="887d7398-9e41-4331-abd4-9c23f064ea90" providerId="ADAL" clId="{8EA10870-6395-588A-9409-E8E4CA631CF7}" dt="2025-09-26T07:36:05.440" v="25" actId="20577"/>
          <ac:spMkLst>
            <pc:docMk/>
            <pc:sldMk cId="2587233204" sldId="268"/>
            <ac:spMk id="3" creationId="{B10B6747-D304-94ED-3557-3512E7A10F1C}"/>
          </ac:spMkLst>
        </pc:spChg>
      </pc:sldChg>
      <pc:sldChg chg="modSp add del mod modNotesTx">
        <pc:chgData name="Vincenzo Massimiliano Gulisano" userId="887d7398-9e41-4331-abd4-9c23f064ea90" providerId="ADAL" clId="{8EA10870-6395-588A-9409-E8E4CA631CF7}" dt="2025-09-26T07:36:21.097" v="29" actId="20577"/>
        <pc:sldMkLst>
          <pc:docMk/>
          <pc:sldMk cId="244429734" sldId="269"/>
        </pc:sldMkLst>
        <pc:spChg chg="mod">
          <ac:chgData name="Vincenzo Massimiliano Gulisano" userId="887d7398-9e41-4331-abd4-9c23f064ea90" providerId="ADAL" clId="{8EA10870-6395-588A-9409-E8E4CA631CF7}" dt="2025-09-26T07:36:19.524" v="28" actId="20577"/>
          <ac:spMkLst>
            <pc:docMk/>
            <pc:sldMk cId="244429734" sldId="269"/>
            <ac:spMk id="3" creationId="{EBD61E97-854A-C7D5-5C7B-8E5B547B5489}"/>
          </ac:spMkLst>
        </pc:spChg>
      </pc:sldChg>
      <pc:sldChg chg="modSp add del mod modNotesTx">
        <pc:chgData name="Vincenzo Massimiliano Gulisano" userId="887d7398-9e41-4331-abd4-9c23f064ea90" providerId="ADAL" clId="{8EA10870-6395-588A-9409-E8E4CA631CF7}" dt="2025-09-26T07:36:32.558" v="35" actId="12"/>
        <pc:sldMkLst>
          <pc:docMk/>
          <pc:sldMk cId="3726659625" sldId="270"/>
        </pc:sldMkLst>
        <pc:spChg chg="mod">
          <ac:chgData name="Vincenzo Massimiliano Gulisano" userId="887d7398-9e41-4331-abd4-9c23f064ea90" providerId="ADAL" clId="{8EA10870-6395-588A-9409-E8E4CA631CF7}" dt="2025-09-26T07:36:32.558" v="35" actId="12"/>
          <ac:spMkLst>
            <pc:docMk/>
            <pc:sldMk cId="3726659625" sldId="270"/>
            <ac:spMk id="3" creationId="{0E4C0826-55E5-A06A-0E50-9B1A11630930}"/>
          </ac:spMkLst>
        </pc:spChg>
      </pc:sldChg>
      <pc:sldChg chg="modSp">
        <pc:chgData name="Vincenzo Massimiliano Gulisano" userId="887d7398-9e41-4331-abd4-9c23f064ea90" providerId="ADAL" clId="{8EA10870-6395-588A-9409-E8E4CA631CF7}" dt="2025-09-29T12:14:09.906" v="37" actId="33524"/>
        <pc:sldMkLst>
          <pc:docMk/>
          <pc:sldMk cId="0" sldId="424"/>
        </pc:sldMkLst>
        <pc:spChg chg="mod">
          <ac:chgData name="Vincenzo Massimiliano Gulisano" userId="887d7398-9e41-4331-abd4-9c23f064ea90" providerId="ADAL" clId="{8EA10870-6395-588A-9409-E8E4CA631CF7}" dt="2025-09-29T12:14:09.906" v="37" actId="33524"/>
          <ac:spMkLst>
            <pc:docMk/>
            <pc:sldMk cId="0" sldId="424"/>
            <ac:spMk id="9" creationId="{00000000-0000-0000-0000-000000000000}"/>
          </ac:spMkLst>
        </pc:spChg>
      </pc:sldChg>
      <pc:sldChg chg="modSp mod">
        <pc:chgData name="Vincenzo Massimiliano Gulisano" userId="887d7398-9e41-4331-abd4-9c23f064ea90" providerId="ADAL" clId="{8EA10870-6395-588A-9409-E8E4CA631CF7}" dt="2025-09-29T12:14:01.074" v="36" actId="33524"/>
        <pc:sldMkLst>
          <pc:docMk/>
          <pc:sldMk cId="407946797" sldId="495"/>
        </pc:sldMkLst>
        <pc:spChg chg="mod">
          <ac:chgData name="Vincenzo Massimiliano Gulisano" userId="887d7398-9e41-4331-abd4-9c23f064ea90" providerId="ADAL" clId="{8EA10870-6395-588A-9409-E8E4CA631CF7}" dt="2025-09-29T12:14:01.074" v="36" actId="33524"/>
          <ac:spMkLst>
            <pc:docMk/>
            <pc:sldMk cId="407946797" sldId="495"/>
            <ac:spMk id="9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67050" cy="44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134" tIns="44067" rIns="88134" bIns="44067" numCol="1" anchor="ctr" anchorCtr="0" compatLnSpc="1">
            <a:prstTxWarp prst="textNoShape">
              <a:avLst/>
            </a:prstTxWarp>
          </a:bodyPr>
          <a:lstStyle>
            <a:lvl1pPr defTabSz="881063">
              <a:defRPr sz="1200">
                <a:latin typeface="Helvetica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464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43350" y="0"/>
            <a:ext cx="3067050" cy="44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134" tIns="44067" rIns="88134" bIns="44067" numCol="1" anchor="ctr" anchorCtr="0" compatLnSpc="1">
            <a:prstTxWarp prst="textNoShape">
              <a:avLst/>
            </a:prstTxWarp>
          </a:bodyPr>
          <a:lstStyle>
            <a:lvl1pPr algn="r" defTabSz="881063">
              <a:defRPr sz="1200">
                <a:latin typeface="Helvetica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464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53488"/>
            <a:ext cx="30670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134" tIns="44067" rIns="88134" bIns="44067" numCol="1" anchor="b" anchorCtr="0" compatLnSpc="1">
            <a:prstTxWarp prst="textNoShape">
              <a:avLst/>
            </a:prstTxWarp>
          </a:bodyPr>
          <a:lstStyle>
            <a:lvl1pPr defTabSz="881063">
              <a:defRPr sz="1200">
                <a:latin typeface="Helvetica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464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43350" y="8853488"/>
            <a:ext cx="30670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134" tIns="44067" rIns="88134" bIns="44067" numCol="1" anchor="b" anchorCtr="0" compatLnSpc="1">
            <a:prstTxWarp prst="textNoShape">
              <a:avLst/>
            </a:prstTxWarp>
          </a:bodyPr>
          <a:lstStyle>
            <a:lvl1pPr algn="r" defTabSz="881063">
              <a:defRPr sz="1200">
                <a:latin typeface="Helvetica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8C3B23BF-0B98-DF43-B25B-AF41F13B2F4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65032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053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26" tIns="46512" rIns="93026" bIns="46512" numCol="1" anchor="ctr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7163" y="0"/>
            <a:ext cx="303053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26" tIns="46512" rIns="93026" bIns="46512" numCol="1" anchor="ctr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89000" y="696913"/>
            <a:ext cx="521970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26" tIns="46512" rIns="93026" bIns="465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053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26" tIns="46512" rIns="93026" bIns="46512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7163" y="8820150"/>
            <a:ext cx="303053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26" tIns="46512" rIns="93026" bIns="46512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1502907E-AA43-014C-AC91-D1F640DDA9B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81343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652463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1304925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958975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2611438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326555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391866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457177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5224882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AA479674-9656-8A49-8795-7F9314B05D4D}" type="slidenum">
              <a:rPr lang="en-US" altLang="en-US">
                <a:latin typeface="Helvetica" charset="0"/>
              </a:rPr>
              <a:pPr/>
              <a:t>1</a:t>
            </a:fld>
            <a:endParaRPr lang="en-US" altLang="en-US">
              <a:latin typeface="Helvetica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133929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53FA8D31-03CD-4C45-BC64-E37AD80A60E2}" type="slidenum">
              <a:rPr lang="en-US" altLang="en-US">
                <a:latin typeface="Times New Roman" charset="0"/>
              </a:rPr>
              <a:pPr/>
              <a:t>3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949974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external fragmentation / Internal Fragmentation and so on</a:t>
            </a:r>
          </a:p>
          <a:p>
            <a:endParaRPr lang="en-US" dirty="0"/>
          </a:p>
          <a:p>
            <a:r>
              <a:rPr lang="en-US" dirty="0"/>
              <a:t>pages power of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502907E-AA43-014C-AC91-D1F640DDA9B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05644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Question, wait for answers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502907E-AA43-014C-AC91-D1F640DDA9B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89709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Question, wait for answers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502907E-AA43-014C-AC91-D1F640DDA9B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79720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Question, wait for answers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502907E-AA43-014C-AC91-D1F640DDA9B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89245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Java cleans code looking for methods that are never executed / called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502907E-AA43-014C-AC91-D1F640DDA9B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00660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EA6AD583-009B-7D4A-923E-2C2C1E744834}" type="slidenum">
              <a:rPr lang="en-US" altLang="en-US">
                <a:latin typeface="Times New Roman" charset="0"/>
              </a:rPr>
              <a:pPr/>
              <a:t>13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569341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9E92A65F-ECA5-1A44-9A18-35E62685DACC}" type="slidenum">
              <a:rPr lang="en-US" altLang="en-US">
                <a:latin typeface="Times New Roman" charset="0"/>
              </a:rPr>
              <a:pPr/>
              <a:t>15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582397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00DD88AA-54D5-B845-A71D-421494D81BD7}" type="slidenum">
              <a:rPr lang="en-US" altLang="en-US">
                <a:latin typeface="Times New Roman" charset="0"/>
              </a:rPr>
              <a:pPr/>
              <a:t>16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394348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62BD040D-1F47-9247-BC2A-6E838DC0604B}" type="slidenum">
              <a:rPr lang="en-US" altLang="en-US">
                <a:latin typeface="Times New Roman" charset="0"/>
              </a:rPr>
              <a:pPr/>
              <a:t>17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r>
              <a:rPr lang="en-US" altLang="en-US" dirty="0">
                <a:ea typeface="MS PGothic" charset="-128"/>
              </a:rPr>
              <a:t>Invalid</a:t>
            </a:r>
            <a:r>
              <a:rPr lang="en-US" altLang="en-US" baseline="0" dirty="0">
                <a:ea typeface="MS PGothic" charset="-128"/>
              </a:rPr>
              <a:t> reference (as I understand) is because the OS only knows there was an invalid reference, it still has to check in the table to see what it is exactly</a:t>
            </a:r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7671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927976FA-1BED-EC43-9FC5-A50DA61D908E}" type="slidenum">
              <a:rPr lang="en-US" altLang="en-US">
                <a:latin typeface="Times New Roman" charset="0"/>
              </a:rPr>
              <a:pPr/>
              <a:t>18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307698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ea typeface="MS PGothic" charset="-128"/>
              </a:rPr>
              <a:t>Do</a:t>
            </a:r>
            <a:r>
              <a:rPr lang="en-US" altLang="en-US" baseline="0" dirty="0">
                <a:ea typeface="MS PGothic" charset="-128"/>
              </a:rPr>
              <a:t> we need this page?</a:t>
            </a:r>
            <a:endParaRPr lang="en-US" altLang="en-US" dirty="0">
              <a:ea typeface="MS PGothic" charset="-128"/>
            </a:endParaRPr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defTabSz="930275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defTabSz="930275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defTabSz="930275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defTabSz="930275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3068638" indent="-782638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3525838" indent="-782638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983038" indent="-782638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4440238" indent="-782638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15666A47-BD60-C64E-BE4C-EC317061C287}" type="slidenum">
              <a:rPr lang="en-US" altLang="en-US">
                <a:latin typeface="Times New Roman" charset="0"/>
              </a:rPr>
              <a:pPr/>
              <a:t>19</a:t>
            </a:fld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55911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885AFDFA-A496-3E42-873E-2422698EE166}" type="slidenum">
              <a:rPr lang="en-US" altLang="en-US">
                <a:latin typeface="Times New Roman" charset="0"/>
              </a:rPr>
              <a:pPr/>
              <a:t>20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r>
              <a:rPr lang="en-US" altLang="en-US" dirty="0">
                <a:ea typeface="MS PGothic" charset="-128"/>
              </a:rPr>
              <a:t>trap / interrupt difference</a:t>
            </a:r>
          </a:p>
        </p:txBody>
      </p:sp>
    </p:spTree>
    <p:extLst>
      <p:ext uri="{BB962C8B-B14F-4D97-AF65-F5344CB8AC3E}">
        <p14:creationId xmlns:p14="http://schemas.microsoft.com/office/powerpoint/2010/main" val="11676568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69E2107A-C827-084C-A362-9DCFC3585394}" type="slidenum">
              <a:rPr lang="en-US" altLang="en-US">
                <a:latin typeface="Times New Roman" charset="0"/>
              </a:rPr>
              <a:pPr/>
              <a:t>21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024057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502907E-AA43-014C-AC91-D1F640DDA9B3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21506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502907E-AA43-014C-AC91-D1F640DDA9B3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48720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&amp;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502907E-AA43-014C-AC91-D1F640DDA9B3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58441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8CA77528-C66C-D845-A1F9-7699CED81EE7}" type="slidenum">
              <a:rPr lang="en-US" altLang="en-US">
                <a:latin typeface="Times New Roman" charset="0"/>
              </a:rPr>
              <a:pPr/>
              <a:t>26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a typeface="MS PGothic" charset="-128"/>
              </a:rPr>
              <a:t>Fast creation? Copy on write</a:t>
            </a:r>
          </a:p>
          <a:p>
            <a:r>
              <a:rPr lang="en-US" altLang="en-US">
                <a:ea typeface="MS PGothic" charset="-128"/>
              </a:rPr>
              <a:t>Fast creation + exec? Vfork()</a:t>
            </a:r>
          </a:p>
        </p:txBody>
      </p:sp>
    </p:spTree>
    <p:extLst>
      <p:ext uri="{BB962C8B-B14F-4D97-AF65-F5344CB8AC3E}">
        <p14:creationId xmlns:p14="http://schemas.microsoft.com/office/powerpoint/2010/main" val="655276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8CDA3E4D-F144-F744-9976-83C9E3F084EB}" type="slidenum">
              <a:rPr lang="en-US" altLang="en-US">
                <a:latin typeface="Times New Roman" charset="0"/>
              </a:rPr>
              <a:pPr/>
              <a:t>27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117711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366F7967-39EA-C740-96AB-50018F6F4D5A}" type="slidenum">
              <a:rPr lang="en-US" altLang="en-US">
                <a:latin typeface="Times New Roman" charset="0"/>
              </a:rPr>
              <a:pPr/>
              <a:t>28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673057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794CB26F-AD04-B14F-A8BD-5863B6E7FA41}" type="slidenum">
              <a:rPr lang="en-US" altLang="en-US">
                <a:latin typeface="Times New Roman" charset="0"/>
              </a:rPr>
              <a:pPr/>
              <a:t>31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ea typeface="MS PGothic" charset="-128"/>
              </a:rPr>
              <a:t>About the page that is faster to swap out, possible question is how? They have all the same size…</a:t>
            </a:r>
          </a:p>
          <a:p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865322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794CB26F-AD04-B14F-A8BD-5863B6E7FA41}" type="slidenum">
              <a:rPr lang="en-US" altLang="en-US">
                <a:latin typeface="Times New Roman" charset="0"/>
              </a:rPr>
              <a:pPr/>
              <a:t>32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940159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65C57030-70CB-D641-93C7-B6134C1270ED}" type="slidenum">
              <a:rPr lang="en-US" altLang="en-US">
                <a:latin typeface="Times New Roman" charset="0"/>
              </a:rPr>
              <a:pPr/>
              <a:t>33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a typeface="MS PGothic" charset="-128"/>
              </a:rPr>
              <a:t>If we need a frame but there’s no free one, which one do we free?</a:t>
            </a:r>
          </a:p>
        </p:txBody>
      </p:sp>
    </p:spTree>
    <p:extLst>
      <p:ext uri="{BB962C8B-B14F-4D97-AF65-F5344CB8AC3E}">
        <p14:creationId xmlns:p14="http://schemas.microsoft.com/office/powerpoint/2010/main" val="77800124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8031E20E-A2FB-094C-A0C5-25507DE88809}" type="slidenum">
              <a:rPr lang="en-US" altLang="en-US">
                <a:latin typeface="Times New Roman" charset="0"/>
              </a:rPr>
              <a:pPr/>
              <a:t>34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ea typeface="MS PGothic" charset="-128"/>
              </a:rPr>
              <a:t>Note now potentially 2 page transfers for page fault – increasing EAT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>
                <a:ea typeface="MS PGothic" charset="-128"/>
              </a:rPr>
              <a:t>Actually, dirty bit is to reduce EAT (effective access time)</a:t>
            </a:r>
          </a:p>
        </p:txBody>
      </p:sp>
    </p:spTree>
    <p:extLst>
      <p:ext uri="{BB962C8B-B14F-4D97-AF65-F5344CB8AC3E}">
        <p14:creationId xmlns:p14="http://schemas.microsoft.com/office/powerpoint/2010/main" val="7184254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FE403E8D-1C0D-154A-A824-25DA79C588D3}" type="slidenum">
              <a:rPr lang="en-US" altLang="en-US">
                <a:latin typeface="Times New Roman" charset="0"/>
              </a:rPr>
              <a:pPr/>
              <a:t>36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2416380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9859AF26-271C-B143-9073-206180423867}" type="slidenum">
              <a:rPr lang="en-US" altLang="en-US">
                <a:latin typeface="Times New Roman" charset="0"/>
              </a:rPr>
              <a:pPr/>
              <a:t>37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830755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5B0CD403-321A-9842-85EE-80C338742029}" type="slidenum">
              <a:rPr lang="en-US" altLang="en-US">
                <a:latin typeface="Times New Roman" charset="0"/>
              </a:rPr>
              <a:pPr/>
              <a:t>38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a typeface="MS PGothic" charset="-128"/>
              </a:rPr>
              <a:t>This is what we expect</a:t>
            </a:r>
          </a:p>
        </p:txBody>
      </p:sp>
    </p:spTree>
    <p:extLst>
      <p:ext uri="{BB962C8B-B14F-4D97-AF65-F5344CB8AC3E}">
        <p14:creationId xmlns:p14="http://schemas.microsoft.com/office/powerpoint/2010/main" val="128887661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5ECCF373-E4E5-4D48-844E-BC308849E896}" type="slidenum">
              <a:rPr lang="en-US" altLang="en-US">
                <a:latin typeface="Times New Roman" charset="0"/>
              </a:rPr>
              <a:pPr/>
              <a:t>39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r>
              <a:rPr lang="en-US" altLang="en-US" dirty="0">
                <a:ea typeface="MS PGothic" charset="-128"/>
              </a:rPr>
              <a:t>Wrong ANIMATION</a:t>
            </a:r>
          </a:p>
        </p:txBody>
      </p:sp>
    </p:spTree>
    <p:extLst>
      <p:ext uri="{BB962C8B-B14F-4D97-AF65-F5344CB8AC3E}">
        <p14:creationId xmlns:p14="http://schemas.microsoft.com/office/powerpoint/2010/main" val="48172101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5ECCF373-E4E5-4D48-844E-BC308849E896}" type="slidenum">
              <a:rPr lang="en-US" altLang="en-US">
                <a:latin typeface="Times New Roman" charset="0"/>
              </a:rPr>
              <a:pPr/>
              <a:t>40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468392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5ECCF373-E4E5-4D48-844E-BC308849E896}" type="slidenum">
              <a:rPr lang="en-US" altLang="en-US">
                <a:latin typeface="Times New Roman" charset="0"/>
              </a:rPr>
              <a:pPr/>
              <a:t>41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2000805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5ECCF373-E4E5-4D48-844E-BC308849E896}" type="slidenum">
              <a:rPr lang="en-US" altLang="en-US">
                <a:latin typeface="Times New Roman" charset="0"/>
              </a:rPr>
              <a:pPr/>
              <a:t>42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r>
              <a:rPr lang="en-US" altLang="en-US" dirty="0">
                <a:ea typeface="MS PGothic" charset="-128"/>
              </a:rPr>
              <a:t>Could say the first 3 are faults because we are just</a:t>
            </a:r>
            <a:r>
              <a:rPr lang="en-US" altLang="en-US" baseline="0" dirty="0">
                <a:ea typeface="MS PGothic" charset="-128"/>
              </a:rPr>
              <a:t> starting</a:t>
            </a:r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0144533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5ECCF373-E4E5-4D48-844E-BC308849E896}" type="slidenum">
              <a:rPr lang="en-US" altLang="en-US">
                <a:latin typeface="Times New Roman" charset="0"/>
              </a:rPr>
              <a:pPr/>
              <a:t>43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5756320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5ECCF373-E4E5-4D48-844E-BC308849E896}" type="slidenum">
              <a:rPr lang="en-US" altLang="en-US">
                <a:latin typeface="Times New Roman" charset="0"/>
              </a:rPr>
              <a:pPr/>
              <a:t>44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8718014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93EA1B4D-4E91-1147-A23A-C8ADA7DA60CD}" type="slidenum">
              <a:rPr lang="en-US" altLang="en-US">
                <a:latin typeface="Times New Roman" charset="0"/>
              </a:rPr>
              <a:pPr/>
              <a:t>45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176672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E6551C8F-6409-2A4E-9107-E49716AA5281}" type="slidenum">
              <a:rPr lang="en-US" altLang="en-US">
                <a:latin typeface="Times New Roman" charset="0"/>
              </a:rPr>
              <a:pPr/>
              <a:t>46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ea typeface="MS PGothic" charset="-128"/>
              </a:rPr>
              <a:t>This one does not suffer the </a:t>
            </a:r>
            <a:r>
              <a:rPr lang="en-US" altLang="en-US" dirty="0" err="1">
                <a:ea typeface="MS PGothic" charset="-128"/>
              </a:rPr>
              <a:t>Belady’s</a:t>
            </a:r>
            <a:r>
              <a:rPr lang="en-US" altLang="en-US" dirty="0">
                <a:ea typeface="MS PGothic" charset="-128"/>
              </a:rPr>
              <a:t> anomaly</a:t>
            </a:r>
          </a:p>
        </p:txBody>
      </p:sp>
    </p:spTree>
    <p:extLst>
      <p:ext uri="{BB962C8B-B14F-4D97-AF65-F5344CB8AC3E}">
        <p14:creationId xmlns:p14="http://schemas.microsoft.com/office/powerpoint/2010/main" val="203306313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CF574FEF-B116-E24E-8CA8-CF48C95B1B7C}" type="slidenum">
              <a:rPr lang="en-US" altLang="en-US">
                <a:latin typeface="Times New Roman" charset="0"/>
              </a:rPr>
              <a:pPr/>
              <a:t>47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7975210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B8D9FEC4-FE57-9241-9C34-7B0D6F84A0D9}" type="slidenum">
              <a:rPr lang="en-US" altLang="en-US">
                <a:latin typeface="Times New Roman" charset="0"/>
              </a:rPr>
              <a:pPr/>
              <a:t>48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5684519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A1CDA032-8140-1548-A3C4-44E463947EB4}" type="slidenum">
              <a:rPr lang="en-US" altLang="en-US">
                <a:latin typeface="Times New Roman" charset="0"/>
              </a:rPr>
              <a:pPr/>
              <a:t>49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2780330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F021DF42-6F02-C240-9FCD-63B55BEC716D}" type="slidenum">
              <a:rPr lang="en-US" altLang="en-US">
                <a:latin typeface="Times New Roman" charset="0"/>
              </a:rPr>
              <a:pPr/>
              <a:t>50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a typeface="MS PGothic" charset="-128"/>
              </a:rPr>
              <a:t>If a page is used a lot, it does not get replaced</a:t>
            </a:r>
          </a:p>
        </p:txBody>
      </p:sp>
    </p:spTree>
    <p:extLst>
      <p:ext uri="{BB962C8B-B14F-4D97-AF65-F5344CB8AC3E}">
        <p14:creationId xmlns:p14="http://schemas.microsoft.com/office/powerpoint/2010/main" val="150431442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AEE75986-AF9F-D94E-963C-0BFEE7C52F7F}" type="slidenum">
              <a:rPr lang="en-US" altLang="en-US">
                <a:latin typeface="Times New Roman" charset="0"/>
              </a:rPr>
              <a:pPr/>
              <a:t>51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8756484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794CB26F-AD04-B14F-A8BD-5863B6E7FA41}" type="slidenum">
              <a:rPr lang="en-US" altLang="en-US">
                <a:latin typeface="Times New Roman" charset="0"/>
              </a:rPr>
              <a:pPr/>
              <a:t>53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332177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D6CDBF17-DF7E-114D-870E-2DBF8CFC6ED3}" type="slidenum">
              <a:rPr lang="en-US" altLang="en-US">
                <a:latin typeface="Times New Roman" charset="0"/>
              </a:rPr>
              <a:pPr/>
              <a:t>54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3207582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7F6383AF-3A82-9445-81A0-2DA2F51401F6}" type="slidenum">
              <a:rPr lang="en-US" altLang="en-US">
                <a:latin typeface="Times New Roman" charset="0"/>
              </a:rPr>
              <a:pPr/>
              <a:t>55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7300757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8D651FA0-4C6C-C046-9BE4-78675195E90F}" type="slidenum">
              <a:rPr lang="en-US" altLang="en-US">
                <a:latin typeface="Times New Roman" charset="0"/>
              </a:rPr>
              <a:pPr/>
              <a:t>56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2995268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38CD1757-08B0-C141-A9DB-4D727A2DC4C6}" type="slidenum">
              <a:rPr lang="en-US" altLang="en-US">
                <a:latin typeface="Times New Roman" charset="0"/>
              </a:rPr>
              <a:pPr/>
              <a:t>57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/>
            <a:r>
              <a:rPr lang="en-US" altLang="en-US">
                <a:ea typeface="MS PGothic" charset="-128"/>
              </a:rPr>
              <a:t>But then process execution time can vary greatly BECAUSE OF EXTERNAL REASONS</a:t>
            </a:r>
          </a:p>
        </p:txBody>
      </p:sp>
    </p:spTree>
    <p:extLst>
      <p:ext uri="{BB962C8B-B14F-4D97-AF65-F5344CB8AC3E}">
        <p14:creationId xmlns:p14="http://schemas.microsoft.com/office/powerpoint/2010/main" val="169659878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146D766E-D190-2A4F-8B3E-133BABCC0D1D}" type="slidenum">
              <a:rPr lang="en-US" altLang="en-US">
                <a:latin typeface="Times New Roman" charset="0"/>
              </a:rPr>
              <a:pPr/>
              <a:t>59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2">
              <a:defRPr/>
            </a:pPr>
            <a:r>
              <a:rPr lang="en-US" altLang="en-US" sz="2250" dirty="0"/>
              <a:t>increase the degree of multiprogramming</a:t>
            </a:r>
            <a:r>
              <a:rPr lang="en-US" altLang="en-US" dirty="0">
                <a:latin typeface="Times New Roman" panose="02020603050405020304" pitchFamily="18" charset="0"/>
              </a:rPr>
              <a:t> MEANS schedule more processes (e.g., long-term scheduler ?)</a:t>
            </a:r>
            <a:endParaRPr lang="en-US" altLang="en-US" sz="2250" dirty="0"/>
          </a:p>
        </p:txBody>
      </p:sp>
    </p:spTree>
    <p:extLst>
      <p:ext uri="{BB962C8B-B14F-4D97-AF65-F5344CB8AC3E}">
        <p14:creationId xmlns:p14="http://schemas.microsoft.com/office/powerpoint/2010/main" val="44786420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95FA6232-3897-3543-A212-2BDBA1E023C9}" type="slidenum">
              <a:rPr lang="en-US" altLang="en-US">
                <a:latin typeface="Times New Roman" charset="0"/>
              </a:rPr>
              <a:pPr/>
              <a:t>61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356112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22FE1838-11C7-F943-BD3E-57D33FFB7FF1}" type="slidenum">
              <a:rPr lang="en-US" altLang="en-US">
                <a:latin typeface="Times New Roman" charset="0"/>
              </a:rPr>
              <a:pPr/>
              <a:t>62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6316644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F0FAD09E-37F5-A34F-877D-878E32C72381}" type="slidenum">
              <a:rPr lang="en-US" altLang="en-US">
                <a:latin typeface="Times New Roman" charset="0"/>
              </a:rPr>
              <a:pPr/>
              <a:t>63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827957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3F057F9A-8A85-EC42-9273-676D2F392F0F}" type="slidenum">
              <a:rPr lang="en-US" altLang="en-US">
                <a:latin typeface="Times New Roman" charset="0"/>
              </a:rPr>
              <a:pPr/>
              <a:t>65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r>
              <a:rPr lang="en-US" altLang="en-US" dirty="0">
                <a:ea typeface="MS PGothic" charset="-128"/>
              </a:rPr>
              <a:t>How could we avoid trashing</a:t>
            </a:r>
          </a:p>
        </p:txBody>
      </p:sp>
    </p:spTree>
    <p:extLst>
      <p:ext uri="{BB962C8B-B14F-4D97-AF65-F5344CB8AC3E}">
        <p14:creationId xmlns:p14="http://schemas.microsoft.com/office/powerpoint/2010/main" val="17822209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EA19BDD3-9B94-E943-8A1B-BF47EE7B8A63}" type="slidenum">
              <a:rPr lang="en-US" altLang="en-US">
                <a:latin typeface="Times New Roman" charset="0"/>
              </a:rPr>
              <a:pPr/>
              <a:t>66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2225022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7839759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502907E-AA43-014C-AC91-D1F640DDA9B3}" type="slidenum">
              <a:rPr lang="en-US" altLang="en-US" smtClean="0"/>
              <a:pPr>
                <a:defRPr/>
              </a:pPr>
              <a:t>68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92498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502907E-AA43-014C-AC91-D1F640DDA9B3}" type="slidenum">
              <a:rPr lang="en-US" altLang="en-US" smtClean="0"/>
              <a:pPr>
                <a:defRPr/>
              </a:pPr>
              <a:t>69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067246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502907E-AA43-014C-AC91-D1F640DDA9B3}" type="slidenum">
              <a:rPr lang="en-US" altLang="en-US" smtClean="0"/>
              <a:pPr>
                <a:defRPr/>
              </a:pPr>
              <a:t>70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310136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117FCCB0-61E6-BF48-9171-B06CA5ED399B}" type="slidenum">
              <a:rPr lang="en-US" altLang="en-US">
                <a:latin typeface="Times New Roman" charset="0"/>
              </a:rPr>
              <a:pPr/>
              <a:t>72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3074304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2109D888-368D-4942-BC7D-37DE014F52E7}" type="slidenum">
              <a:rPr lang="en-US" altLang="en-US">
                <a:latin typeface="Times New Roman" charset="0"/>
              </a:rPr>
              <a:pPr/>
              <a:t>73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1210472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B033FF26-1E5E-834F-94F6-22D545B8C906}" type="slidenum">
              <a:rPr lang="en-US" altLang="en-US">
                <a:latin typeface="Times New Roman" charset="0"/>
              </a:rPr>
              <a:pPr/>
              <a:t>74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1067650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4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 dirty="0">
              <a:ea typeface="MS PGothic" charset="-128"/>
            </a:endParaRPr>
          </a:p>
        </p:txBody>
      </p:sp>
      <p:sp>
        <p:nvSpPr>
          <p:cNvPr id="1341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defTabSz="930275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defTabSz="930275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defTabSz="930275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defTabSz="930275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3068638" indent="-782638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3525838" indent="-782638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983038" indent="-782638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4440238" indent="-782638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55CCF5AF-A038-F24D-AEAA-815673F2A02B}" type="slidenum">
              <a:rPr lang="en-US" altLang="en-US">
                <a:latin typeface="Times New Roman" charset="0"/>
              </a:rPr>
              <a:pPr/>
              <a:t>75</a:t>
            </a:fld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2396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4500" y="1496484"/>
            <a:ext cx="10287000" cy="3183467"/>
          </a:xfrm>
        </p:spPr>
        <p:txBody>
          <a:bodyPr anchor="b"/>
          <a:lstStyle>
            <a:lvl1pPr algn="ctr">
              <a:defRPr sz="67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4500" y="4802717"/>
            <a:ext cx="10287000" cy="2207683"/>
          </a:xfrm>
        </p:spPr>
        <p:txBody>
          <a:bodyPr/>
          <a:lstStyle>
            <a:lvl1pPr marL="0" indent="0" algn="ctr">
              <a:buNone/>
              <a:defRPr sz="2700"/>
            </a:lvl1pPr>
            <a:lvl2pPr marL="514350" indent="0" algn="ctr">
              <a:buNone/>
              <a:defRPr sz="2250"/>
            </a:lvl2pPr>
            <a:lvl3pPr marL="1028700" indent="0" algn="ctr">
              <a:buNone/>
              <a:defRPr sz="2025"/>
            </a:lvl3pPr>
            <a:lvl4pPr marL="1543050" indent="0" algn="ctr">
              <a:buNone/>
              <a:defRPr sz="1800"/>
            </a:lvl4pPr>
            <a:lvl5pPr marL="2057400" indent="0" algn="ctr">
              <a:buNone/>
              <a:defRPr sz="1800"/>
            </a:lvl5pPr>
            <a:lvl6pPr marL="2571750" indent="0" algn="ctr">
              <a:buNone/>
              <a:defRPr sz="1800"/>
            </a:lvl6pPr>
            <a:lvl7pPr marL="3086100" indent="0" algn="ctr">
              <a:buNone/>
              <a:defRPr sz="1800"/>
            </a:lvl7pPr>
            <a:lvl8pPr marL="3600450" indent="0" algn="ctr">
              <a:buNone/>
              <a:defRPr sz="1800"/>
            </a:lvl8pPr>
            <a:lvl9pPr marL="41148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34E8BD-0B24-9F4C-871F-0A8202FFB8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15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65A73B-1BF2-6741-A7C7-88E869CE9B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389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5831" y="2279652"/>
            <a:ext cx="11830050" cy="3803649"/>
          </a:xfrm>
        </p:spPr>
        <p:txBody>
          <a:bodyPr anchor="b"/>
          <a:lstStyle>
            <a:lvl1pPr>
              <a:defRPr sz="67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5831" y="6119285"/>
            <a:ext cx="11830050" cy="2000249"/>
          </a:xfrm>
        </p:spPr>
        <p:txBody>
          <a:bodyPr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514350" indent="0">
              <a:buNone/>
              <a:defRPr sz="2250">
                <a:solidFill>
                  <a:schemeClr val="tx1">
                    <a:tint val="75000"/>
                  </a:schemeClr>
                </a:solidFill>
              </a:defRPr>
            </a:lvl2pPr>
            <a:lvl3pPr marL="1028700" indent="0">
              <a:buNone/>
              <a:defRPr sz="2025">
                <a:solidFill>
                  <a:schemeClr val="tx1">
                    <a:tint val="75000"/>
                  </a:schemeClr>
                </a:solidFill>
              </a:defRPr>
            </a:lvl3pPr>
            <a:lvl4pPr marL="15430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057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5717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0861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36004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1148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A8C4F8-7937-5546-9438-7050BA7C99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315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2434167"/>
            <a:ext cx="58293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725" y="2434167"/>
            <a:ext cx="58293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D29080-BEB2-224C-BAD5-D0030AC92F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735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486834"/>
            <a:ext cx="11830050" cy="17674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4762" y="2241551"/>
            <a:ext cx="5802510" cy="1098549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250" b="1"/>
            </a:lvl2pPr>
            <a:lvl3pPr marL="1028700" indent="0">
              <a:buNone/>
              <a:defRPr sz="2025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4762" y="3340100"/>
            <a:ext cx="5802510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43725" y="2241551"/>
            <a:ext cx="5831087" cy="1098549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250" b="1"/>
            </a:lvl2pPr>
            <a:lvl3pPr marL="1028700" indent="0">
              <a:buNone/>
              <a:defRPr sz="2025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43725" y="3340100"/>
            <a:ext cx="583108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484345-966F-C746-81B6-7A014706D8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400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759D35-99C5-3A48-86D5-31C64F9121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420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4A8100-10A7-4249-A497-8DE0246681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80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609600"/>
            <a:ext cx="4423767" cy="21336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1087" y="1316567"/>
            <a:ext cx="6943725" cy="6498167"/>
          </a:xfrm>
        </p:spPr>
        <p:txBody>
          <a:bodyPr/>
          <a:lstStyle>
            <a:lvl1pPr>
              <a:defRPr sz="3600"/>
            </a:lvl1pPr>
            <a:lvl2pPr>
              <a:defRPr sz="3150"/>
            </a:lvl2pPr>
            <a:lvl3pPr>
              <a:defRPr sz="2700"/>
            </a:lvl3pPr>
            <a:lvl4pPr>
              <a:defRPr sz="2250"/>
            </a:lvl4pPr>
            <a:lvl5pPr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2743200"/>
            <a:ext cx="4423767" cy="5082117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575"/>
            </a:lvl2pPr>
            <a:lvl3pPr marL="1028700" indent="0">
              <a:buNone/>
              <a:defRPr sz="1350"/>
            </a:lvl3pPr>
            <a:lvl4pPr marL="1543050" indent="0">
              <a:buNone/>
              <a:defRPr sz="1125"/>
            </a:lvl4pPr>
            <a:lvl5pPr marL="2057400" indent="0">
              <a:buNone/>
              <a:defRPr sz="1125"/>
            </a:lvl5pPr>
            <a:lvl6pPr marL="2571750" indent="0">
              <a:buNone/>
              <a:defRPr sz="1125"/>
            </a:lvl6pPr>
            <a:lvl7pPr marL="3086100" indent="0">
              <a:buNone/>
              <a:defRPr sz="1125"/>
            </a:lvl7pPr>
            <a:lvl8pPr marL="3600450" indent="0">
              <a:buNone/>
              <a:defRPr sz="1125"/>
            </a:lvl8pPr>
            <a:lvl9pPr marL="4114800" indent="0">
              <a:buNone/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47C977-F029-054F-B79B-7A1339746D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400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609600"/>
            <a:ext cx="4423767" cy="21336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831087" y="1316567"/>
            <a:ext cx="6943725" cy="6498167"/>
          </a:xfrm>
        </p:spPr>
        <p:txBody>
          <a:bodyPr rtlCol="0">
            <a:normAutofit/>
          </a:bodyPr>
          <a:lstStyle>
            <a:lvl1pPr marL="0" indent="0">
              <a:buNone/>
              <a:defRPr sz="3600"/>
            </a:lvl1pPr>
            <a:lvl2pPr marL="514350" indent="0">
              <a:buNone/>
              <a:defRPr sz="3150"/>
            </a:lvl2pPr>
            <a:lvl3pPr marL="1028700" indent="0">
              <a:buNone/>
              <a:defRPr sz="2700"/>
            </a:lvl3pPr>
            <a:lvl4pPr marL="1543050" indent="0">
              <a:buNone/>
              <a:defRPr sz="2250"/>
            </a:lvl4pPr>
            <a:lvl5pPr marL="2057400" indent="0">
              <a:buNone/>
              <a:defRPr sz="2250"/>
            </a:lvl5pPr>
            <a:lvl6pPr marL="2571750" indent="0">
              <a:buNone/>
              <a:defRPr sz="2250"/>
            </a:lvl6pPr>
            <a:lvl7pPr marL="3086100" indent="0">
              <a:buNone/>
              <a:defRPr sz="2250"/>
            </a:lvl7pPr>
            <a:lvl8pPr marL="3600450" indent="0">
              <a:buNone/>
              <a:defRPr sz="2250"/>
            </a:lvl8pPr>
            <a:lvl9pPr marL="4114800" indent="0">
              <a:buNone/>
              <a:defRPr sz="225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2743200"/>
            <a:ext cx="4423767" cy="5082117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575"/>
            </a:lvl2pPr>
            <a:lvl3pPr marL="1028700" indent="0">
              <a:buNone/>
              <a:defRPr sz="1350"/>
            </a:lvl3pPr>
            <a:lvl4pPr marL="1543050" indent="0">
              <a:buNone/>
              <a:defRPr sz="1125"/>
            </a:lvl4pPr>
            <a:lvl5pPr marL="2057400" indent="0">
              <a:buNone/>
              <a:defRPr sz="1125"/>
            </a:lvl5pPr>
            <a:lvl6pPr marL="2571750" indent="0">
              <a:buNone/>
              <a:defRPr sz="1125"/>
            </a:lvl6pPr>
            <a:lvl7pPr marL="3086100" indent="0">
              <a:buNone/>
              <a:defRPr sz="1125"/>
            </a:lvl7pPr>
            <a:lvl8pPr marL="3600450" indent="0">
              <a:buNone/>
              <a:defRPr sz="1125"/>
            </a:lvl8pPr>
            <a:lvl9pPr marL="4114800" indent="0">
              <a:buNone/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4761FC-113E-714A-BDC8-1557871AB2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545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B43F10-5897-344B-8D1C-057F7351F1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796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15512" y="486834"/>
            <a:ext cx="2957513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5" y="486834"/>
            <a:ext cx="8701088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3740B1-3D39-8D40-BDB1-D7E83F5086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0345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28700" y="914400"/>
            <a:ext cx="11658600" cy="2836333"/>
          </a:xfrm>
        </p:spPr>
        <p:txBody>
          <a:bodyPr/>
          <a:lstStyle>
            <a:lvl1pPr>
              <a:defRPr sz="61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679610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79812-7922-F572-FBF4-DD8EA42A7C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4500" y="1496484"/>
            <a:ext cx="10287000" cy="3183467"/>
          </a:xfrm>
        </p:spPr>
        <p:txBody>
          <a:bodyPr anchor="b"/>
          <a:lstStyle>
            <a:lvl1pPr algn="ctr">
              <a:defRPr sz="675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BDCA14-D8CD-7EC4-4379-8F747B1542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4500" y="4802717"/>
            <a:ext cx="10287000" cy="2207683"/>
          </a:xfrm>
        </p:spPr>
        <p:txBody>
          <a:bodyPr/>
          <a:lstStyle>
            <a:lvl1pPr marL="0" indent="0" algn="ctr">
              <a:buNone/>
              <a:defRPr sz="2700"/>
            </a:lvl1pPr>
            <a:lvl2pPr marL="514350" indent="0" algn="ctr">
              <a:buNone/>
              <a:defRPr sz="2250"/>
            </a:lvl2pPr>
            <a:lvl3pPr marL="1028700" indent="0" algn="ctr">
              <a:buNone/>
              <a:defRPr sz="2025"/>
            </a:lvl3pPr>
            <a:lvl4pPr marL="1543050" indent="0" algn="ctr">
              <a:buNone/>
              <a:defRPr sz="1800"/>
            </a:lvl4pPr>
            <a:lvl5pPr marL="2057400" indent="0" algn="ctr">
              <a:buNone/>
              <a:defRPr sz="1800"/>
            </a:lvl5pPr>
            <a:lvl6pPr marL="2571750" indent="0" algn="ctr">
              <a:buNone/>
              <a:defRPr sz="1800"/>
            </a:lvl6pPr>
            <a:lvl7pPr marL="3086100" indent="0" algn="ctr">
              <a:buNone/>
              <a:defRPr sz="1800"/>
            </a:lvl7pPr>
            <a:lvl8pPr marL="3600450" indent="0" algn="ctr">
              <a:buNone/>
              <a:defRPr sz="1800"/>
            </a:lvl8pPr>
            <a:lvl9pPr marL="4114800" indent="0" algn="ctr">
              <a:buNone/>
              <a:defRPr sz="1800"/>
            </a:lvl9pPr>
          </a:lstStyle>
          <a:p>
            <a:r>
              <a:rPr lang="en-GB"/>
              <a:t>Click to edit Master subtitle style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E1525-4B3B-62BB-AEC4-3717A8D72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84849-4810-414A-ACFE-FE33101D47E1}" type="datetimeFigureOut">
              <a:rPr lang="en-SE" smtClean="0"/>
              <a:t>9/29/25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05C6B-C68A-2246-B76C-47CEEB719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0407D-879E-F928-BEB7-EF9231411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7530073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BFBF7-5873-10B0-9757-E649F2C5B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4E676-6F6B-F88F-8188-716C99498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173FE5-95F9-28B1-736D-8595BFD5D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84849-4810-414A-ACFE-FE33101D47E1}" type="datetimeFigureOut">
              <a:rPr lang="en-SE" smtClean="0"/>
              <a:t>9/29/25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7F0D8-4BC6-B5DD-8742-1139CAC18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8186D-B6F3-BA3E-B41B-3ED606701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5827257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CCB8A-3B4C-FD93-4189-DBE9A57D1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831" y="2279652"/>
            <a:ext cx="11830050" cy="3803649"/>
          </a:xfrm>
        </p:spPr>
        <p:txBody>
          <a:bodyPr anchor="b"/>
          <a:lstStyle>
            <a:lvl1pPr>
              <a:defRPr sz="675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78525E-4244-E2FB-46D6-5C464D838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831" y="6119285"/>
            <a:ext cx="11830050" cy="2000249"/>
          </a:xfrm>
        </p:spPr>
        <p:txBody>
          <a:bodyPr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514350" indent="0">
              <a:buNone/>
              <a:defRPr sz="2250">
                <a:solidFill>
                  <a:schemeClr val="tx1">
                    <a:tint val="75000"/>
                  </a:schemeClr>
                </a:solidFill>
              </a:defRPr>
            </a:lvl2pPr>
            <a:lvl3pPr marL="1028700" indent="0">
              <a:buNone/>
              <a:defRPr sz="2025">
                <a:solidFill>
                  <a:schemeClr val="tx1">
                    <a:tint val="75000"/>
                  </a:schemeClr>
                </a:solidFill>
              </a:defRPr>
            </a:lvl3pPr>
            <a:lvl4pPr marL="15430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057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5717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0861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36004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1148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5DD53-BEAA-0F2B-D537-033D2CF9F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84849-4810-414A-ACFE-FE33101D47E1}" type="datetimeFigureOut">
              <a:rPr lang="en-SE" smtClean="0"/>
              <a:t>9/29/25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B11E0-3D79-7837-9C0C-1DA40974D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00861-D42C-A73A-D630-B6B7BFB29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8117415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CA19E-845B-1661-6821-DF218196A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D2967-9105-9FE1-17C9-9F2A19E4EA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42975" y="2434167"/>
            <a:ext cx="5829300" cy="580178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65FB82-CD83-312A-4471-42A432503F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43725" y="2434167"/>
            <a:ext cx="5829300" cy="580178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FF9E22-737E-2E7C-E3DA-8CA180138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84849-4810-414A-ACFE-FE33101D47E1}" type="datetimeFigureOut">
              <a:rPr lang="en-SE" smtClean="0"/>
              <a:t>9/29/25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6404B9-175B-6B12-2F8E-A61C886B9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A6A131-949B-8DCD-F714-920633044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4523321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4C652-8B98-9526-560D-70865BE44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761" y="486834"/>
            <a:ext cx="11830050" cy="176741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288DE9-A5B0-990E-BB8B-A31D61E40E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4762" y="2241551"/>
            <a:ext cx="5802510" cy="1098549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250" b="1"/>
            </a:lvl2pPr>
            <a:lvl3pPr marL="1028700" indent="0">
              <a:buNone/>
              <a:defRPr sz="2025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B54AB7-F18E-95A9-03A1-98F4030C8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44762" y="3340100"/>
            <a:ext cx="5802510" cy="491278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6ED570-D069-9521-D4CF-AEBD9630DD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43725" y="2241551"/>
            <a:ext cx="5831087" cy="1098549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250" b="1"/>
            </a:lvl2pPr>
            <a:lvl3pPr marL="1028700" indent="0">
              <a:buNone/>
              <a:defRPr sz="2025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292C33-3C07-678D-88B9-1615C87180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43725" y="3340100"/>
            <a:ext cx="5831087" cy="491278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727F4A-7354-3CB0-5B9B-1FFD762AC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84849-4810-414A-ACFE-FE33101D47E1}" type="datetimeFigureOut">
              <a:rPr lang="en-SE" smtClean="0"/>
              <a:t>9/29/25</a:t>
            </a:fld>
            <a:endParaRPr lang="en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C7CABA-3CE2-733D-2E38-1A95A389E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9D0B67-9A9C-FD36-D4AF-5606F2414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7866779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BFD02-C951-2E5A-76C7-5AD87510E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EEE3E6-1578-7FFA-392B-40975533A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84849-4810-414A-ACFE-FE33101D47E1}" type="datetimeFigureOut">
              <a:rPr lang="en-SE" smtClean="0"/>
              <a:t>9/29/25</a:t>
            </a:fld>
            <a:endParaRPr lang="en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84A12A-450B-ED62-D0EB-D539A22A7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0D9527-1330-18FB-012C-9A2B1E0B3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9548482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618DAA-258A-EB1C-D3D6-394B92572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84849-4810-414A-ACFE-FE33101D47E1}" type="datetimeFigureOut">
              <a:rPr lang="en-SE" smtClean="0"/>
              <a:t>9/29/25</a:t>
            </a:fld>
            <a:endParaRPr lang="en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EB1676-85F6-2216-F0C7-7AE6D31D1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980289-5B94-C267-05E1-354B788DA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8679342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A8B85-D958-749C-9116-203D9B65B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762" y="609600"/>
            <a:ext cx="4423767" cy="21336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C1DD2-68AE-7E77-D7EA-B111BEF94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1086" y="1316567"/>
            <a:ext cx="6943725" cy="6498167"/>
          </a:xfrm>
        </p:spPr>
        <p:txBody>
          <a:bodyPr/>
          <a:lstStyle>
            <a:lvl1pPr>
              <a:defRPr sz="3600"/>
            </a:lvl1pPr>
            <a:lvl2pPr>
              <a:defRPr sz="3150"/>
            </a:lvl2pPr>
            <a:lvl3pPr>
              <a:defRPr sz="2700"/>
            </a:lvl3pPr>
            <a:lvl4pPr>
              <a:defRPr sz="2250"/>
            </a:lvl4pPr>
            <a:lvl5pPr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D4BBE9-7271-908B-0204-B2B47ADD56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44762" y="2743200"/>
            <a:ext cx="4423767" cy="5082117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575"/>
            </a:lvl2pPr>
            <a:lvl3pPr marL="1028700" indent="0">
              <a:buNone/>
              <a:defRPr sz="1350"/>
            </a:lvl3pPr>
            <a:lvl4pPr marL="1543050" indent="0">
              <a:buNone/>
              <a:defRPr sz="1125"/>
            </a:lvl4pPr>
            <a:lvl5pPr marL="2057400" indent="0">
              <a:buNone/>
              <a:defRPr sz="1125"/>
            </a:lvl5pPr>
            <a:lvl6pPr marL="2571750" indent="0">
              <a:buNone/>
              <a:defRPr sz="1125"/>
            </a:lvl6pPr>
            <a:lvl7pPr marL="3086100" indent="0">
              <a:buNone/>
              <a:defRPr sz="1125"/>
            </a:lvl7pPr>
            <a:lvl8pPr marL="3600450" indent="0">
              <a:buNone/>
              <a:defRPr sz="1125"/>
            </a:lvl8pPr>
            <a:lvl9pPr marL="4114800" indent="0">
              <a:buNone/>
              <a:defRPr sz="112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7395D6-4FCE-3CE4-23C7-CAB7BDB10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84849-4810-414A-ACFE-FE33101D47E1}" type="datetimeFigureOut">
              <a:rPr lang="en-SE" smtClean="0"/>
              <a:t>9/29/25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928C22-87DC-2299-6204-65D186D78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8E40D-4572-3D5A-9C0E-67B04AC11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0020523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8F4D2-E977-38C0-C4D6-7D8B4E066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762" y="609600"/>
            <a:ext cx="4423767" cy="21336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F48638-1DF6-AB77-87DB-AA1DE982A9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831086" y="1316567"/>
            <a:ext cx="6943725" cy="6498167"/>
          </a:xfrm>
        </p:spPr>
        <p:txBody>
          <a:bodyPr/>
          <a:lstStyle>
            <a:lvl1pPr marL="0" indent="0">
              <a:buNone/>
              <a:defRPr sz="3600"/>
            </a:lvl1pPr>
            <a:lvl2pPr marL="514350" indent="0">
              <a:buNone/>
              <a:defRPr sz="3150"/>
            </a:lvl2pPr>
            <a:lvl3pPr marL="1028700" indent="0">
              <a:buNone/>
              <a:defRPr sz="2700"/>
            </a:lvl3pPr>
            <a:lvl4pPr marL="1543050" indent="0">
              <a:buNone/>
              <a:defRPr sz="2250"/>
            </a:lvl4pPr>
            <a:lvl5pPr marL="2057400" indent="0">
              <a:buNone/>
              <a:defRPr sz="2250"/>
            </a:lvl5pPr>
            <a:lvl6pPr marL="2571750" indent="0">
              <a:buNone/>
              <a:defRPr sz="2250"/>
            </a:lvl6pPr>
            <a:lvl7pPr marL="3086100" indent="0">
              <a:buNone/>
              <a:defRPr sz="2250"/>
            </a:lvl7pPr>
            <a:lvl8pPr marL="3600450" indent="0">
              <a:buNone/>
              <a:defRPr sz="2250"/>
            </a:lvl8pPr>
            <a:lvl9pPr marL="4114800" indent="0">
              <a:buNone/>
              <a:defRPr sz="2250"/>
            </a:lvl9pPr>
          </a:lstStyle>
          <a:p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18019C-1380-F34C-35D3-58CBA0B81B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44762" y="2743200"/>
            <a:ext cx="4423767" cy="5082117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575"/>
            </a:lvl2pPr>
            <a:lvl3pPr marL="1028700" indent="0">
              <a:buNone/>
              <a:defRPr sz="1350"/>
            </a:lvl3pPr>
            <a:lvl4pPr marL="1543050" indent="0">
              <a:buNone/>
              <a:defRPr sz="1125"/>
            </a:lvl4pPr>
            <a:lvl5pPr marL="2057400" indent="0">
              <a:buNone/>
              <a:defRPr sz="1125"/>
            </a:lvl5pPr>
            <a:lvl6pPr marL="2571750" indent="0">
              <a:buNone/>
              <a:defRPr sz="1125"/>
            </a:lvl6pPr>
            <a:lvl7pPr marL="3086100" indent="0">
              <a:buNone/>
              <a:defRPr sz="1125"/>
            </a:lvl7pPr>
            <a:lvl8pPr marL="3600450" indent="0">
              <a:buNone/>
              <a:defRPr sz="1125"/>
            </a:lvl8pPr>
            <a:lvl9pPr marL="4114800" indent="0">
              <a:buNone/>
              <a:defRPr sz="112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3CFD3B-3CF6-314F-F0BB-DE9D4B762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84849-4810-414A-ACFE-FE33101D47E1}" type="datetimeFigureOut">
              <a:rPr lang="en-SE" smtClean="0"/>
              <a:t>9/29/25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8F8E86-733B-9A0D-B37F-6CB5147F6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9532F0-C700-8BE6-7D00-C7F1B7677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1354759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27387-51E0-FC74-B175-161E2B8BF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A668C1-69AC-4367-6A8A-9EE60604C4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9F18E-27A7-F9B0-28F8-17C0D4782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84849-4810-414A-ACFE-FE33101D47E1}" type="datetimeFigureOut">
              <a:rPr lang="en-SE" smtClean="0"/>
              <a:t>9/29/25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A4AF4E-3016-B845-88C5-561A60CCD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3DC10-0C07-A92A-B10C-3391C19EE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554951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E003F2-C044-A65C-BBEB-8E25B16A7F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815512" y="486833"/>
            <a:ext cx="2957513" cy="774911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1C09FE-D623-7D09-AB88-15D3DF8793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42975" y="486833"/>
            <a:ext cx="8701088" cy="774911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E6A8B-0060-B490-615E-03E460A38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84849-4810-414A-ACFE-FE33101D47E1}" type="datetimeFigureOut">
              <a:rPr lang="en-SE" smtClean="0"/>
              <a:t>9/29/25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AB895-5930-D4D2-7DF5-C2143383A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D876F0-760A-D2BB-53A6-0C9BDAB6D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627635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942975" y="487363"/>
            <a:ext cx="11830050" cy="176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42975" y="2433638"/>
            <a:ext cx="11830050" cy="580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975" y="8475663"/>
            <a:ext cx="3086100" cy="4857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3425" y="8475663"/>
            <a:ext cx="4629150" cy="4857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5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86925" y="8475663"/>
            <a:ext cx="3086100" cy="4857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9CC1259D-6A92-1141-8817-F0285C67B7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6" r:id="rId3"/>
    <p:sldLayoutId id="2147483827" r:id="rId4"/>
    <p:sldLayoutId id="2147483828" r:id="rId5"/>
    <p:sldLayoutId id="2147483829" r:id="rId6"/>
    <p:sldLayoutId id="2147483830" r:id="rId7"/>
    <p:sldLayoutId id="2147483831" r:id="rId8"/>
    <p:sldLayoutId id="2147483832" r:id="rId9"/>
    <p:sldLayoutId id="2147483833" r:id="rId10"/>
    <p:sldLayoutId id="2147483834" r:id="rId11"/>
    <p:sldLayoutId id="2147483835" r:id="rId12"/>
  </p:sldLayoutIdLst>
  <p:hf hdr="0"/>
  <p:txStyles>
    <p:titleStyle>
      <a:lvl1pPr algn="l" defTabSz="10287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9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10287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Garamond" panose="02020404030301010803" pitchFamily="18" charset="0"/>
        </a:defRPr>
      </a:lvl2pPr>
      <a:lvl3pPr algn="l" defTabSz="10287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Garamond" panose="02020404030301010803" pitchFamily="18" charset="0"/>
        </a:defRPr>
      </a:lvl3pPr>
      <a:lvl4pPr algn="l" defTabSz="10287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Garamond" panose="02020404030301010803" pitchFamily="18" charset="0"/>
        </a:defRPr>
      </a:lvl4pPr>
      <a:lvl5pPr algn="l" defTabSz="10287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Garamond" panose="02020404030301010803" pitchFamily="18" charset="0"/>
        </a:defRPr>
      </a:lvl5pPr>
      <a:lvl6pPr marL="457200" algn="l" defTabSz="1028700" rtl="0" fontAlgn="base">
        <a:lnSpc>
          <a:spcPct val="90000"/>
        </a:lnSpc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Garamond" panose="02020404030301010803" pitchFamily="18" charset="0"/>
        </a:defRPr>
      </a:lvl6pPr>
      <a:lvl7pPr marL="914400" algn="l" defTabSz="1028700" rtl="0" fontAlgn="base">
        <a:lnSpc>
          <a:spcPct val="90000"/>
        </a:lnSpc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Garamond" panose="02020404030301010803" pitchFamily="18" charset="0"/>
        </a:defRPr>
      </a:lvl7pPr>
      <a:lvl8pPr marL="1371600" algn="l" defTabSz="1028700" rtl="0" fontAlgn="base">
        <a:lnSpc>
          <a:spcPct val="90000"/>
        </a:lnSpc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Garamond" panose="02020404030301010803" pitchFamily="18" charset="0"/>
        </a:defRPr>
      </a:lvl8pPr>
      <a:lvl9pPr marL="1828800" algn="l" defTabSz="1028700" rtl="0" fontAlgn="base">
        <a:lnSpc>
          <a:spcPct val="90000"/>
        </a:lnSpc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Garamond" panose="02020404030301010803" pitchFamily="18" charset="0"/>
        </a:defRPr>
      </a:lvl9pPr>
    </p:titleStyle>
    <p:bodyStyle>
      <a:lvl1pPr marL="257175" indent="-257175" algn="l" defTabSz="1028700" rtl="0" eaLnBrk="0" fontAlgn="base" hangingPunct="0">
        <a:lnSpc>
          <a:spcPct val="90000"/>
        </a:lnSpc>
        <a:spcBef>
          <a:spcPts val="1125"/>
        </a:spcBef>
        <a:spcAft>
          <a:spcPct val="0"/>
        </a:spcAft>
        <a:buFont typeface="Arial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771525" indent="-257175" algn="l" defTabSz="1028700" rtl="0" eaLnBrk="0" fontAlgn="base" hangingPunct="0">
        <a:lnSpc>
          <a:spcPct val="90000"/>
        </a:lnSpc>
        <a:spcBef>
          <a:spcPts val="563"/>
        </a:spcBef>
        <a:spcAft>
          <a:spcPct val="0"/>
        </a:spcAft>
        <a:buFont typeface="Arial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285875" indent="-257175" algn="l" defTabSz="1028700" rtl="0" eaLnBrk="0" fontAlgn="base" hangingPunct="0">
        <a:lnSpc>
          <a:spcPct val="90000"/>
        </a:lnSpc>
        <a:spcBef>
          <a:spcPts val="563"/>
        </a:spcBef>
        <a:spcAft>
          <a:spcPct val="0"/>
        </a:spcAft>
        <a:buFont typeface="Arial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800225" indent="-257175" algn="l" defTabSz="1028700" rtl="0" eaLnBrk="0" fontAlgn="base" hangingPunct="0">
        <a:lnSpc>
          <a:spcPct val="90000"/>
        </a:lnSpc>
        <a:spcBef>
          <a:spcPts val="563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314575" indent="-257175" algn="l" defTabSz="1028700" rtl="0" eaLnBrk="0" fontAlgn="base" hangingPunct="0">
        <a:lnSpc>
          <a:spcPct val="90000"/>
        </a:lnSpc>
        <a:spcBef>
          <a:spcPts val="563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8289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3432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8576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3719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3pPr>
      <a:lvl4pPr marL="15430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5717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0861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1148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208A73-CD14-71D4-6762-D42704258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975" y="486834"/>
            <a:ext cx="1183005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46A26D-F8DF-E1B7-C797-1B953F065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2975" y="2434167"/>
            <a:ext cx="1183005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98A65-F014-0AA3-2291-081A9AE268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2975" y="8475134"/>
            <a:ext cx="30861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E84849-4810-414A-ACFE-FE33101D47E1}" type="datetimeFigureOut">
              <a:rPr lang="en-SE" smtClean="0"/>
              <a:t>9/29/25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645CC-3E41-464B-DC9B-B736B5A40A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43425" y="8475134"/>
            <a:ext cx="46291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EFE334-C90F-ECAC-73FF-C31C66E56C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686925" y="8475134"/>
            <a:ext cx="30861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79AA98-1CDB-B74D-913E-0EAC104F29A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460923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7" r:id="rId1"/>
    <p:sldLayoutId id="2147483838" r:id="rId2"/>
    <p:sldLayoutId id="2147483839" r:id="rId3"/>
    <p:sldLayoutId id="2147483840" r:id="rId4"/>
    <p:sldLayoutId id="2147483841" r:id="rId5"/>
    <p:sldLayoutId id="2147483842" r:id="rId6"/>
    <p:sldLayoutId id="2147483843" r:id="rId7"/>
    <p:sldLayoutId id="2147483844" r:id="rId8"/>
    <p:sldLayoutId id="2147483845" r:id="rId9"/>
    <p:sldLayoutId id="2147483846" r:id="rId10"/>
    <p:sldLayoutId id="2147483847" r:id="rId11"/>
  </p:sldLayoutIdLst>
  <p:txStyles>
    <p:titleStyle>
      <a:lvl1pPr algn="l" defTabSz="1028700" rtl="0" eaLnBrk="1" latinLnBrk="0" hangingPunct="1">
        <a:lnSpc>
          <a:spcPct val="90000"/>
        </a:lnSpc>
        <a:spcBef>
          <a:spcPct val="0"/>
        </a:spcBef>
        <a:buNone/>
        <a:defRPr sz="49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1028700" rtl="0" eaLnBrk="1" latinLnBrk="0" hangingPunct="1">
        <a:lnSpc>
          <a:spcPct val="90000"/>
        </a:lnSpc>
        <a:spcBef>
          <a:spcPts val="1125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1pPr>
      <a:lvl2pPr marL="7715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2858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3pPr>
      <a:lvl4pPr marL="18002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3145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8289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3432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8576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3719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3pPr>
      <a:lvl4pPr marL="15430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5717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0861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1148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5" Type="http://schemas.openxmlformats.org/officeDocument/2006/relationships/image" Target="../media/image5.tiff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5.tiff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6.tiff"/><Relationship Id="rId5" Type="http://schemas.openxmlformats.org/officeDocument/2006/relationships/image" Target="../media/image5.tiff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iff"/><Relationship Id="rId2" Type="http://schemas.openxmlformats.org/officeDocument/2006/relationships/image" Target="../media/image14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tif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tif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6.wmf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1604963" y="1900238"/>
            <a:ext cx="10363200" cy="2835275"/>
          </a:xfrm>
          <a:prstGeom prst="rect">
            <a:avLst/>
          </a:prstGeom>
        </p:spPr>
        <p:txBody>
          <a:bodyPr lIns="121920" tIns="60960" rIns="121920" bIns="60960" anchor="ctr">
            <a:normAutofit fontScale="90000"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 sz="5333" dirty="0"/>
              <a:t>Virtual Memory</a:t>
            </a:r>
            <a:br>
              <a:rPr lang="en-US" altLang="en-US" sz="5333" dirty="0"/>
            </a:br>
            <a:r>
              <a:rPr lang="en-US" altLang="en-US" sz="5333" dirty="0"/>
              <a:t>Operating Systems – EDA093/DIT401</a:t>
            </a:r>
            <a:br>
              <a:rPr lang="en-US" altLang="en-US" sz="5733" dirty="0"/>
            </a:br>
            <a:br>
              <a:rPr lang="en-US" altLang="en-US" sz="5733" dirty="0"/>
            </a:br>
            <a:r>
              <a:rPr lang="en-US" altLang="en-US" sz="4267" dirty="0"/>
              <a:t>Vincenzo Gulisano</a:t>
            </a:r>
            <a:br>
              <a:rPr lang="en-US" altLang="en-US" sz="4267" dirty="0"/>
            </a:br>
            <a:r>
              <a:rPr lang="en-US" altLang="en-US" sz="2667" dirty="0"/>
              <a:t>vincenzo.gulisano@chalmers.se</a:t>
            </a:r>
            <a:endParaRPr lang="en-US" altLang="en-US" sz="3600" dirty="0"/>
          </a:p>
        </p:txBody>
      </p:sp>
      <p:pic>
        <p:nvPicPr>
          <p:cNvPr id="5123" name="Picture 6" descr="http://upload.wikimedia.org/wikipedia/en/5/5c/Chalmers_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7350" y="6016625"/>
            <a:ext cx="2508250" cy="233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8" descr="http://sgroup.be/sites/default/files/LOGUeng_cen2r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1188" y="6149975"/>
            <a:ext cx="2771775" cy="206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950" dirty="0"/>
              <a:t>Reading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200"/>
              <a:t>Chapter 3.3 to 3.6 </a:t>
            </a:r>
            <a:br>
              <a:rPr lang="en-US" sz="3200" dirty="0"/>
            </a:br>
            <a:br>
              <a:rPr lang="en-US" sz="3200" dirty="0"/>
            </a:br>
            <a:r>
              <a:rPr lang="en-US" sz="3200" dirty="0"/>
              <a:t>(extra facultative reading: 9.1-9.4.5, 9.5 to 9.7.1 from </a:t>
            </a:r>
            <a:r>
              <a:rPr lang="en-US" sz="3200" dirty="0" err="1"/>
              <a:t>Silberschatz</a:t>
            </a:r>
            <a:r>
              <a:rPr lang="en-US" sz="3200" dirty="0"/>
              <a:t> Operating System Concepts)</a:t>
            </a:r>
            <a:endParaRPr lang="en-US" sz="275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54499E-E7BC-5D4D-86C8-A4879F14E8F7}" type="slidenum">
              <a:rPr lang="en-US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Objectives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1209675" y="2254250"/>
            <a:ext cx="11482388" cy="543083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To describe the benefits of a virtual memory system</a:t>
            </a:r>
            <a:br>
              <a:rPr lang="en-US" altLang="en-US" sz="3150" dirty="0"/>
            </a:b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To explain the concepts of demand paging, page-replacement algorithms, and allocation of page frames</a:t>
            </a:r>
            <a:br>
              <a:rPr lang="en-US" altLang="en-US" sz="3150" dirty="0"/>
            </a:b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To discuss the principle of the working-set model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E3F3E2-7D1A-4241-A911-4FD6B95B355F}" type="slidenum">
              <a:rPr lang="en-US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950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/>
              <a:t>Recap / Introduction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/>
              <a:t>Demand Paging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/>
              <a:t>Copy-on-Write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/>
              <a:t>Page Replacement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/>
              <a:t>Allocation of Frames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/>
              <a:t>Thrashing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/>
              <a:t>Memory-Mapped files </a:t>
            </a:r>
            <a:r>
              <a:rPr lang="en-US" sz="2400" dirty="0"/>
              <a:t>[Self-reading]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0D01A4-9E4C-6A4B-8BF7-E87B04FE64DF}" type="slidenum">
              <a:rPr lang="en-US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950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/>
              <a:t>Recap / Introduction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Demand Paging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Copy-on-Write</a:t>
            </a:r>
            <a:endParaRPr lang="en-US" sz="2400" dirty="0">
              <a:solidFill>
                <a:schemeClr val="bg1">
                  <a:lumMod val="65000"/>
                </a:schemeClr>
              </a:solidFill>
            </a:endParaRP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Page Replacement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Allocation of Frames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Thrashing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Memory-Mapped files 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[Self-reading]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E4914A-1274-7942-AC73-B04B6BBE6856}" type="slidenum">
              <a:rPr lang="en-US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 we discussed paging!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65A73B-1BF2-6741-A7C7-88E869CE9B2E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pic>
        <p:nvPicPr>
          <p:cNvPr id="7" name="Picture 1030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22" r="82913" b="38182"/>
          <a:stretch/>
        </p:blipFill>
        <p:spPr bwMode="auto">
          <a:xfrm>
            <a:off x="942975" y="2655863"/>
            <a:ext cx="843883" cy="2467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030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044"/>
          <a:stretch/>
        </p:blipFill>
        <p:spPr bwMode="auto">
          <a:xfrm>
            <a:off x="2082748" y="2254250"/>
            <a:ext cx="1479448" cy="461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7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36" r="82460" b="35561"/>
          <a:stretch/>
        </p:blipFill>
        <p:spPr bwMode="auto">
          <a:xfrm>
            <a:off x="4286300" y="2655863"/>
            <a:ext cx="1035563" cy="1622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8126663" y="2655863"/>
            <a:ext cx="5350899" cy="4351338"/>
          </a:xfrm>
        </p:spPr>
        <p:txBody>
          <a:bodyPr/>
          <a:lstStyle/>
          <a:p>
            <a:r>
              <a:rPr lang="en-US" dirty="0"/>
              <a:t>Split logical memory in pages</a:t>
            </a:r>
          </a:p>
          <a:p>
            <a:r>
              <a:rPr lang="en-US" dirty="0"/>
              <a:t>Split physical memory in frames</a:t>
            </a:r>
          </a:p>
          <a:p>
            <a:r>
              <a:rPr lang="en-US" dirty="0"/>
              <a:t>Keep a program (disk) organized in pages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u="sng" dirty="0"/>
              <a:t>Page size = Frame size!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428936" y="5655202"/>
            <a:ext cx="922389" cy="218276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4804094" y="4915885"/>
            <a:ext cx="217207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Logical and physical memory more and more separated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63549" y="5910826"/>
            <a:ext cx="2682242" cy="59976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Less fragmentation (better memory utilization)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17961" y="6598521"/>
            <a:ext cx="1256564" cy="29612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Protection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66106" y="6688228"/>
            <a:ext cx="1580414" cy="59299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Faster loading / swapping</a:t>
            </a:r>
          </a:p>
        </p:txBody>
      </p:sp>
    </p:spTree>
    <p:extLst>
      <p:ext uri="{BB962C8B-B14F-4D97-AF65-F5344CB8AC3E}">
        <p14:creationId xmlns:p14="http://schemas.microsoft.com/office/powerpoint/2010/main" val="412154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3" grpId="0" animBg="1"/>
      <p:bldP spid="14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intuition behind Virtual Memory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65A73B-1BF2-6741-A7C7-88E869CE9B2E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pic>
        <p:nvPicPr>
          <p:cNvPr id="7" name="Picture 103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75" y="2380236"/>
            <a:ext cx="4938712" cy="461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6504744" y="2807643"/>
            <a:ext cx="5759280" cy="1454406"/>
            <a:chOff x="3773492" y="4321838"/>
            <a:chExt cx="5759280" cy="1454406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773492" y="4321838"/>
              <a:ext cx="1228725" cy="1228725"/>
            </a:xfrm>
            <a:prstGeom prst="rect">
              <a:avLst/>
            </a:prstGeom>
          </p:spPr>
        </p:pic>
        <p:sp>
          <p:nvSpPr>
            <p:cNvPr id="10" name="Content Placeholder 2"/>
            <p:cNvSpPr txBox="1">
              <a:spLocks/>
            </p:cNvSpPr>
            <p:nvPr/>
          </p:nvSpPr>
          <p:spPr>
            <a:xfrm>
              <a:off x="4747736" y="4547519"/>
              <a:ext cx="4785036" cy="122872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auto">
                <a:spcAft>
                  <a:spcPts val="0"/>
                </a:spcAft>
                <a:buNone/>
              </a:pPr>
              <a:r>
                <a:rPr lang="en-US" sz="2800" i="1" dirty="0"/>
                <a:t>What would happen if the OS does not load page 3 in frame 7?</a:t>
              </a:r>
              <a:br>
                <a:rPr lang="en-US" sz="2800" i="1" dirty="0"/>
              </a:br>
              <a:r>
                <a:rPr lang="en-US" sz="2400" i="1" dirty="0"/>
                <a:t>(does not load at all, not in a different frame)</a:t>
              </a:r>
              <a:endParaRPr lang="en-US" sz="2800" i="1" dirty="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402058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intuition behind Virtual Memory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65A73B-1BF2-6741-A7C7-88E869CE9B2E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pic>
        <p:nvPicPr>
          <p:cNvPr id="7" name="Picture 103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75" y="2380236"/>
            <a:ext cx="4938712" cy="461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6504744" y="2807643"/>
            <a:ext cx="5759280" cy="1454406"/>
            <a:chOff x="3773492" y="4321838"/>
            <a:chExt cx="5759280" cy="1454406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773492" y="4321838"/>
              <a:ext cx="1228725" cy="1228725"/>
            </a:xfrm>
            <a:prstGeom prst="rect">
              <a:avLst/>
            </a:prstGeom>
          </p:spPr>
        </p:pic>
        <p:sp>
          <p:nvSpPr>
            <p:cNvPr id="10" name="Content Placeholder 2"/>
            <p:cNvSpPr txBox="1">
              <a:spLocks/>
            </p:cNvSpPr>
            <p:nvPr/>
          </p:nvSpPr>
          <p:spPr>
            <a:xfrm>
              <a:off x="4747736" y="4547519"/>
              <a:ext cx="4785036" cy="122872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auto">
                <a:spcAft>
                  <a:spcPts val="0"/>
                </a:spcAft>
                <a:buNone/>
              </a:pPr>
              <a:r>
                <a:rPr lang="en-US" sz="2800" i="1" dirty="0"/>
                <a:t>What would happen if the OS does not load page 3 in frame 7?</a:t>
              </a:r>
              <a:br>
                <a:rPr lang="en-US" sz="2800" i="1" dirty="0"/>
              </a:br>
              <a:r>
                <a:rPr lang="en-US" sz="2400" i="1" dirty="0"/>
                <a:t>(does not load at all, not in a different frame)</a:t>
              </a:r>
              <a:endParaRPr lang="en-US" sz="2800" i="1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6504744" y="4589761"/>
            <a:ext cx="5759280" cy="2894780"/>
            <a:chOff x="3773492" y="4321838"/>
            <a:chExt cx="5759280" cy="2894780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773492" y="4321838"/>
              <a:ext cx="1228725" cy="1228725"/>
            </a:xfrm>
            <a:prstGeom prst="rect">
              <a:avLst/>
            </a:prstGeom>
          </p:spPr>
        </p:pic>
        <p:sp>
          <p:nvSpPr>
            <p:cNvPr id="14" name="Content Placeholder 2"/>
            <p:cNvSpPr txBox="1">
              <a:spLocks/>
            </p:cNvSpPr>
            <p:nvPr/>
          </p:nvSpPr>
          <p:spPr>
            <a:xfrm>
              <a:off x="4747736" y="4547519"/>
              <a:ext cx="4785036" cy="2669099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auto">
                <a:spcAft>
                  <a:spcPts val="0"/>
                </a:spcAft>
                <a:buNone/>
              </a:pPr>
              <a:r>
                <a:rPr lang="en-US" sz="2800" i="1" dirty="0"/>
                <a:t>When would that be a problem?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824088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intuition behind Virtual Memory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65A73B-1BF2-6741-A7C7-88E869CE9B2E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pic>
        <p:nvPicPr>
          <p:cNvPr id="7" name="Picture 103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75" y="2380236"/>
            <a:ext cx="4938712" cy="461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6504744" y="2807643"/>
            <a:ext cx="5759280" cy="1454406"/>
            <a:chOff x="3773492" y="4321838"/>
            <a:chExt cx="5759280" cy="1454406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773492" y="4321838"/>
              <a:ext cx="1228725" cy="1228725"/>
            </a:xfrm>
            <a:prstGeom prst="rect">
              <a:avLst/>
            </a:prstGeom>
          </p:spPr>
        </p:pic>
        <p:sp>
          <p:nvSpPr>
            <p:cNvPr id="10" name="Content Placeholder 2"/>
            <p:cNvSpPr txBox="1">
              <a:spLocks/>
            </p:cNvSpPr>
            <p:nvPr/>
          </p:nvSpPr>
          <p:spPr>
            <a:xfrm>
              <a:off x="4747736" y="4547519"/>
              <a:ext cx="4785036" cy="122872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auto">
                <a:spcAft>
                  <a:spcPts val="0"/>
                </a:spcAft>
                <a:buNone/>
              </a:pPr>
              <a:r>
                <a:rPr lang="en-US" sz="2800" i="1" dirty="0"/>
                <a:t>What would happen if the OS does not load page 3 in frame 7?</a:t>
              </a:r>
              <a:br>
                <a:rPr lang="en-US" sz="2800" i="1" dirty="0"/>
              </a:br>
              <a:r>
                <a:rPr lang="en-US" sz="2400" i="1" dirty="0"/>
                <a:t>(does not load at all, not in a different frame)</a:t>
              </a:r>
              <a:endParaRPr lang="en-US" sz="2800" i="1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6504744" y="4589761"/>
            <a:ext cx="5759280" cy="2894780"/>
            <a:chOff x="3773492" y="4321838"/>
            <a:chExt cx="5759280" cy="2894780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773492" y="4321838"/>
              <a:ext cx="1228725" cy="1228725"/>
            </a:xfrm>
            <a:prstGeom prst="rect">
              <a:avLst/>
            </a:prstGeom>
          </p:spPr>
        </p:pic>
        <p:sp>
          <p:nvSpPr>
            <p:cNvPr id="14" name="Content Placeholder 2"/>
            <p:cNvSpPr txBox="1">
              <a:spLocks/>
            </p:cNvSpPr>
            <p:nvPr/>
          </p:nvSpPr>
          <p:spPr>
            <a:xfrm>
              <a:off x="4747736" y="4547519"/>
              <a:ext cx="4785036" cy="2669099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auto">
                <a:spcAft>
                  <a:spcPts val="0"/>
                </a:spcAft>
                <a:buNone/>
              </a:pPr>
              <a:r>
                <a:rPr lang="en-US" sz="2800" i="1" dirty="0"/>
                <a:t>When would that be a problem?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858000" y="6294001"/>
            <a:ext cx="5406024" cy="1399019"/>
            <a:chOff x="6855931" y="6294001"/>
            <a:chExt cx="5406024" cy="1399019"/>
          </a:xfrm>
        </p:grpSpPr>
        <p:pic>
          <p:nvPicPr>
            <p:cNvPr id="15" name="Picture 14"/>
            <p:cNvPicPr>
              <a:picLocks noChangeAspect="1"/>
            </p:cNvPicPr>
            <p:nvPr/>
          </p:nvPicPr>
          <p:blipFill rotWithShape="1">
            <a:blip r:embed="rId6"/>
            <a:srcRect r="61891"/>
            <a:stretch/>
          </p:blipFill>
          <p:spPr>
            <a:xfrm>
              <a:off x="6855931" y="6294001"/>
              <a:ext cx="509824" cy="1399019"/>
            </a:xfrm>
            <a:prstGeom prst="rect">
              <a:avLst/>
            </a:prstGeom>
          </p:spPr>
        </p:pic>
        <p:sp>
          <p:nvSpPr>
            <p:cNvPr id="16" name="Content Placeholder 2"/>
            <p:cNvSpPr txBox="1">
              <a:spLocks/>
            </p:cNvSpPr>
            <p:nvPr/>
          </p:nvSpPr>
          <p:spPr>
            <a:xfrm>
              <a:off x="7476919" y="6481497"/>
              <a:ext cx="4785036" cy="115544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lnSpcReduction="10000"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auto">
                <a:spcAft>
                  <a:spcPts val="0"/>
                </a:spcAft>
                <a:buNone/>
              </a:pPr>
              <a:r>
                <a:rPr lang="en-US" sz="2800" dirty="0"/>
                <a:t>Let’s wait until the process tries to access page 3… If it does, then we will load it into frame 7!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633536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Memory in a Nutshell (</a:t>
            </a:r>
            <a:r>
              <a:rPr lang="en-US" dirty="0" err="1"/>
              <a:t>i</a:t>
            </a:r>
            <a:r>
              <a:rPr lang="en-US" dirty="0"/>
              <a:t>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65A73B-1BF2-6741-A7C7-88E869CE9B2E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pic>
        <p:nvPicPr>
          <p:cNvPr id="7" name="Picture 103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75" y="2380236"/>
            <a:ext cx="4938712" cy="461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310858" y="2433638"/>
            <a:ext cx="7000407" cy="580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lnSpcReduction="10000"/>
          </a:bodyPr>
          <a:lstStyle>
            <a:lvl1pPr marL="257175" indent="-257175" algn="l" defTabSz="1028700" rtl="0" eaLnBrk="0" fontAlgn="base" hangingPunct="0">
              <a:lnSpc>
                <a:spcPct val="90000"/>
              </a:lnSpc>
              <a:spcBef>
                <a:spcPts val="1125"/>
              </a:spcBef>
              <a:spcAft>
                <a:spcPct val="0"/>
              </a:spcAft>
              <a:buFont typeface="Arial" charset="0"/>
              <a:buChar char="•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7152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587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022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1457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2892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327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762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197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Code needs to be in memory to execute, but entire program rarely used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Entire program code not needed at same time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If we manage to execute partially-loaded programs: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Program no longer constrained by limits of physical memory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Each program takes less memory while running -&gt; more programs run at the same time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Less I/O needed to load or swap programs into memory -&gt; each user program runs faster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dirty="0"/>
          </a:p>
        </p:txBody>
      </p:sp>
      <p:grpSp>
        <p:nvGrpSpPr>
          <p:cNvPr id="14" name="Group 13"/>
          <p:cNvGrpSpPr/>
          <p:nvPr/>
        </p:nvGrpSpPr>
        <p:grpSpPr>
          <a:xfrm>
            <a:off x="1694939" y="4002374"/>
            <a:ext cx="2598788" cy="2197764"/>
            <a:chOff x="1694939" y="4002374"/>
            <a:chExt cx="2598788" cy="2197764"/>
          </a:xfrm>
        </p:grpSpPr>
        <p:sp>
          <p:nvSpPr>
            <p:cNvPr id="9" name="Rectangle 8"/>
            <p:cNvSpPr/>
            <p:nvPr/>
          </p:nvSpPr>
          <p:spPr>
            <a:xfrm>
              <a:off x="1694939" y="5830806"/>
              <a:ext cx="184858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457200" lvl="1" indent="0" eaLnBrk="1" fontAlgn="auto" hangingPunct="1">
                <a:spcAft>
                  <a:spcPts val="0"/>
                </a:spcAft>
                <a:defRPr/>
              </a:pPr>
              <a:r>
                <a:rPr lang="en-US" altLang="en-US" dirty="0">
                  <a:solidFill>
                    <a:schemeClr val="accent6">
                      <a:lumMod val="75000"/>
                    </a:schemeClr>
                  </a:solidFill>
                </a:rPr>
                <a:t>Error code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694939" y="5333766"/>
              <a:ext cx="259878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457200" lvl="1" indent="0" eaLnBrk="1" fontAlgn="auto" hangingPunct="1">
                <a:spcAft>
                  <a:spcPts val="0"/>
                </a:spcAft>
                <a:defRPr/>
              </a:pPr>
              <a:r>
                <a:rPr lang="en-US" altLang="en-US" dirty="0">
                  <a:solidFill>
                    <a:schemeClr val="accent1">
                      <a:lumMod val="75000"/>
                    </a:schemeClr>
                  </a:solidFill>
                </a:rPr>
                <a:t>Unusual routines</a:t>
              </a:r>
            </a:p>
          </p:txBody>
        </p:sp>
        <p:cxnSp>
          <p:nvCxnSpPr>
            <p:cNvPr id="12" name="Straight Arrow Connector 11"/>
            <p:cNvCxnSpPr/>
            <p:nvPr/>
          </p:nvCxnSpPr>
          <p:spPr>
            <a:xfrm>
              <a:off x="1843790" y="4002374"/>
              <a:ext cx="449705" cy="133242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1843790" y="4557066"/>
              <a:ext cx="449705" cy="133242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9124580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950" dirty="0"/>
              <a:t>Virtual Memory in a Nutshell (ii)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What are the costs / trade-offs / complications when executing partially-loaded programs: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417DA6-2D80-4A48-AC72-81574C639B89}" type="slidenum">
              <a:rPr lang="en-US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5345345" y="3897913"/>
            <a:ext cx="7291361" cy="4008438"/>
          </a:xfrm>
          <a:prstGeom prst="rect">
            <a:avLst/>
          </a:prstGeom>
        </p:spPr>
        <p:txBody>
          <a:bodyPr>
            <a:normAutofit/>
          </a:bodyPr>
          <a:lstStyle>
            <a:lvl1pPr marL="257175" indent="-257175" algn="l" defTabSz="1028700" rtl="0" fontAlgn="base">
              <a:lnSpc>
                <a:spcPct val="90000"/>
              </a:lnSpc>
              <a:spcBef>
                <a:spcPts val="112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71525" indent="-257175" algn="l" defTabSz="1028700" rtl="0" fontAlgn="base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5875" indent="-257175" algn="l" defTabSz="1028700" rtl="0" fontAlgn="base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0225" indent="-257175" algn="l" defTabSz="1028700" rtl="0" fontAlgn="base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14575" indent="-257175" algn="l" defTabSz="1028700" rtl="0" fontAlgn="base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2892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327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762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197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3150" dirty="0"/>
              <a:t>Need a mechanism to check if a page is actually in the frame or not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150" dirty="0"/>
              <a:t>Because of this mechanism, sometimes accessing a page might require more time than expected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150" dirty="0"/>
              <a:t>… and more …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sz="3150" dirty="0"/>
          </a:p>
        </p:txBody>
      </p:sp>
      <p:grpSp>
        <p:nvGrpSpPr>
          <p:cNvPr id="12" name="Group 11"/>
          <p:cNvGrpSpPr/>
          <p:nvPr/>
        </p:nvGrpSpPr>
        <p:grpSpPr>
          <a:xfrm>
            <a:off x="1368875" y="3673247"/>
            <a:ext cx="3328853" cy="4457771"/>
            <a:chOff x="1295399" y="1828800"/>
            <a:chExt cx="3056187" cy="4092635"/>
          </a:xfrm>
        </p:grpSpPr>
        <p:pic>
          <p:nvPicPr>
            <p:cNvPr id="13" name="Picture 12" descr="http://4.bp.blogspot.com/-Kc_jYOMfj-g/UCakbvK3gyI/AAAAAAAAGTo/8Fa5sfZjQkI/s1600/coperta_corta.jpe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5399" y="1828800"/>
              <a:ext cx="3056187" cy="4092635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Up Arrow 13"/>
            <p:cNvSpPr/>
            <p:nvPr/>
          </p:nvSpPr>
          <p:spPr>
            <a:xfrm rot="1459553">
              <a:off x="3380403" y="2723383"/>
              <a:ext cx="484632" cy="978408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5" name="Up Arrow 14"/>
            <p:cNvSpPr/>
            <p:nvPr/>
          </p:nvSpPr>
          <p:spPr>
            <a:xfrm rot="12307406">
              <a:off x="2530992" y="4552399"/>
              <a:ext cx="484632" cy="978408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950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Recap / Introduction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/>
              <a:t>Demand Paging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Copy-on-Write</a:t>
            </a:r>
            <a:endParaRPr lang="en-US" sz="3200" dirty="0">
              <a:solidFill>
                <a:schemeClr val="bg1">
                  <a:lumMod val="65000"/>
                </a:schemeClr>
              </a:solidFill>
            </a:endParaRP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Page Replacement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Allocation of Frames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Thrashing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Memory-Mapped files</a:t>
            </a:r>
            <a:r>
              <a:rPr lang="en-US" sz="32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200" dirty="0">
                <a:solidFill>
                  <a:schemeClr val="bg1">
                    <a:lumMod val="65000"/>
                  </a:schemeClr>
                </a:solidFill>
              </a:rPr>
              <a:t>[Self-reading]</a:t>
            </a:r>
            <a:endParaRPr lang="en-US" sz="315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1F4320-77CA-7E4D-8175-74FC97C2B752}" type="slidenum">
              <a:rPr lang="en-US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Demand Paging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975" y="2433638"/>
            <a:ext cx="11505334" cy="5802312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Could bring entire process into memory at load time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Or bring a page into memory only when it is needed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Less I/O needed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Less memory needed 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More users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Page is needed </a:t>
            </a:r>
            <a:r>
              <a:rPr lang="en-US" altLang="en-US" sz="3150" dirty="0">
                <a:sym typeface="Symbol" panose="05050102010706020507" pitchFamily="18" charset="2"/>
              </a:rPr>
              <a:t> reference to it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>
                <a:sym typeface="Symbol" panose="05050102010706020507" pitchFamily="18" charset="2"/>
              </a:rPr>
              <a:t>not-in-memory  bring to memory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>
                <a:solidFill>
                  <a:schemeClr val="accent1">
                    <a:lumMod val="75000"/>
                  </a:schemeClr>
                </a:solidFill>
                <a:sym typeface="Symbol" panose="05050102010706020507" pitchFamily="18" charset="2"/>
              </a:rPr>
              <a:t>Lazy swapper / pager </a:t>
            </a:r>
            <a:r>
              <a:rPr lang="en-US" altLang="en-US" sz="3150" dirty="0">
                <a:sym typeface="Symbol" panose="05050102010706020507" pitchFamily="18" charset="2"/>
              </a:rPr>
              <a:t>– never swaps a page into memory unless page will be needed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33B7E8-DB4E-9A45-BEAF-BDB752A398AF}" type="slidenum">
              <a:rPr lang="en-US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Basic Concepts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600" dirty="0"/>
              <a:t>Pager brings in only those pages into memory</a:t>
            </a:r>
          </a:p>
          <a:p>
            <a:r>
              <a:rPr lang="en-US" altLang="en-US" sz="3600" dirty="0"/>
              <a:t>Need new MMU functionality to implement demand paging</a:t>
            </a:r>
          </a:p>
          <a:p>
            <a:r>
              <a:rPr lang="en-US" altLang="en-US" sz="3600" dirty="0"/>
              <a:t>If pages needed are already memory resident</a:t>
            </a:r>
          </a:p>
          <a:p>
            <a:pPr lvl="1"/>
            <a:r>
              <a:rPr lang="en-US" altLang="en-US" sz="3200" dirty="0"/>
              <a:t>No difference from non demand-paging</a:t>
            </a:r>
          </a:p>
          <a:p>
            <a:r>
              <a:rPr lang="en-US" altLang="en-US" sz="3600" dirty="0"/>
              <a:t>If page needed and not memory resident</a:t>
            </a:r>
          </a:p>
          <a:p>
            <a:pPr lvl="1"/>
            <a:r>
              <a:rPr lang="en-US" altLang="en-US" sz="3200" dirty="0"/>
              <a:t>Need to detect and load the page into memory from storage</a:t>
            </a:r>
          </a:p>
          <a:p>
            <a:pPr lvl="2"/>
            <a:r>
              <a:rPr lang="en-US" altLang="en-US" sz="2800" dirty="0"/>
              <a:t>Without changing program behavior</a:t>
            </a:r>
          </a:p>
          <a:p>
            <a:pPr lvl="2"/>
            <a:r>
              <a:rPr lang="en-US" altLang="en-US" sz="2800" dirty="0"/>
              <a:t>Without programmer needing to change code</a:t>
            </a:r>
          </a:p>
          <a:p>
            <a:endParaRPr lang="en-US" altLang="en-US" sz="36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1F95B5-0294-E340-BC73-6A7C8802E5D1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Valid-Invalid Bit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975" y="2036763"/>
            <a:ext cx="8345488" cy="5802312"/>
          </a:xfrm>
        </p:spPr>
        <p:txBody>
          <a:bodyPr rtlCol="0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With each page table entry a valid–invalid bit is associated</a:t>
            </a:r>
            <a:br>
              <a:rPr lang="en-US" altLang="en-US" sz="3150" dirty="0"/>
            </a:br>
            <a:r>
              <a:rPr lang="en-US" altLang="en-US" sz="3150" dirty="0"/>
              <a:t>(</a:t>
            </a:r>
            <a:r>
              <a:rPr lang="en-US" altLang="en-US" sz="3150" dirty="0">
                <a:solidFill>
                  <a:srgbClr val="FF0000"/>
                </a:solidFill>
              </a:rPr>
              <a:t>v</a:t>
            </a:r>
            <a:r>
              <a:rPr lang="en-US" altLang="en-US" sz="3150" dirty="0"/>
              <a:t> </a:t>
            </a:r>
            <a:r>
              <a:rPr lang="en-US" altLang="en-US" sz="3150" dirty="0">
                <a:sym typeface="Symbol" panose="05050102010706020507" pitchFamily="18" charset="2"/>
              </a:rPr>
              <a:t> in-memory – </a:t>
            </a:r>
            <a:r>
              <a:rPr lang="en-US" altLang="en-US" sz="3150" dirty="0">
                <a:solidFill>
                  <a:schemeClr val="accent1">
                    <a:lumMod val="75000"/>
                  </a:schemeClr>
                </a:solidFill>
                <a:sym typeface="Symbol" panose="05050102010706020507" pitchFamily="18" charset="2"/>
              </a:rPr>
              <a:t>memory resident</a:t>
            </a:r>
            <a:r>
              <a:rPr lang="en-US" altLang="en-US" sz="3150" dirty="0">
                <a:sym typeface="Symbol" panose="05050102010706020507" pitchFamily="18" charset="2"/>
              </a:rPr>
              <a:t>, </a:t>
            </a:r>
            <a:r>
              <a:rPr lang="en-US" altLang="en-US" sz="3150" dirty="0" err="1">
                <a:solidFill>
                  <a:srgbClr val="FF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3150" dirty="0">
                <a:sym typeface="Symbol" panose="05050102010706020507" pitchFamily="18" charset="2"/>
              </a:rPr>
              <a:t>  not-in-memory)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>
                <a:sym typeface="Symbol" panose="05050102010706020507" pitchFamily="18" charset="2"/>
              </a:rPr>
              <a:t>Initially valid–invalid bit is set to </a:t>
            </a:r>
            <a:r>
              <a:rPr lang="en-US" altLang="en-US" sz="3150" dirty="0" err="1">
                <a:sym typeface="Symbol" panose="05050102010706020507" pitchFamily="18" charset="2"/>
              </a:rPr>
              <a:t>i</a:t>
            </a:r>
            <a:r>
              <a:rPr lang="en-US" altLang="en-US" sz="3150" dirty="0">
                <a:sym typeface="Symbol" panose="05050102010706020507" pitchFamily="18" charset="2"/>
              </a:rPr>
              <a:t> on all entries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>
                <a:sym typeface="Symbol" panose="05050102010706020507" pitchFamily="18" charset="2"/>
              </a:rPr>
              <a:t>Example of a page table snapshot:</a:t>
            </a:r>
            <a:br>
              <a:rPr lang="en-US" altLang="en-US" sz="3150" dirty="0">
                <a:sym typeface="Symbol" panose="05050102010706020507" pitchFamily="18" charset="2"/>
              </a:rPr>
            </a:br>
            <a:br>
              <a:rPr lang="en-US" altLang="en-US" sz="3150" dirty="0">
                <a:sym typeface="Symbol" panose="05050102010706020507" pitchFamily="18" charset="2"/>
              </a:rPr>
            </a:br>
            <a:br>
              <a:rPr lang="en-US" altLang="en-US" sz="3150" dirty="0">
                <a:sym typeface="Symbol" panose="05050102010706020507" pitchFamily="18" charset="2"/>
              </a:rPr>
            </a:br>
            <a:br>
              <a:rPr lang="en-US" altLang="en-US" sz="3150" dirty="0">
                <a:sym typeface="Symbol" panose="05050102010706020507" pitchFamily="18" charset="2"/>
              </a:rPr>
            </a:br>
            <a:br>
              <a:rPr lang="en-US" altLang="en-US" sz="3150" dirty="0">
                <a:sym typeface="Symbol" panose="05050102010706020507" pitchFamily="18" charset="2"/>
              </a:rPr>
            </a:br>
            <a:br>
              <a:rPr lang="en-US" altLang="en-US" sz="3150" dirty="0">
                <a:sym typeface="Symbol" panose="05050102010706020507" pitchFamily="18" charset="2"/>
              </a:rPr>
            </a:br>
            <a:br>
              <a:rPr lang="en-US" altLang="en-US" sz="3150" dirty="0">
                <a:sym typeface="Symbol" panose="05050102010706020507" pitchFamily="18" charset="2"/>
              </a:rPr>
            </a:br>
            <a:br>
              <a:rPr lang="en-US" altLang="en-US" sz="3150" dirty="0">
                <a:sym typeface="Symbol" panose="05050102010706020507" pitchFamily="18" charset="2"/>
              </a:rPr>
            </a:br>
            <a:br>
              <a:rPr lang="en-US" altLang="en-US" sz="3150" dirty="0">
                <a:sym typeface="Symbol" panose="05050102010706020507" pitchFamily="18" charset="2"/>
              </a:rPr>
            </a:br>
            <a:endParaRPr lang="en-US" altLang="en-US" sz="3150" dirty="0">
              <a:sym typeface="Symbol" panose="05050102010706020507" pitchFamily="18" charset="2"/>
            </a:endParaRP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>
                <a:sym typeface="Symbol" panose="05050102010706020507" pitchFamily="18" charset="2"/>
              </a:rPr>
              <a:t>During MMU address translation, if valid–invalid bit in page table entry is </a:t>
            </a:r>
            <a:r>
              <a:rPr lang="en-US" altLang="en-US" sz="3150" dirty="0" err="1">
                <a:solidFill>
                  <a:srgbClr val="FF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3150" dirty="0">
                <a:sym typeface="Symbol" panose="05050102010706020507" pitchFamily="18" charset="2"/>
              </a:rPr>
              <a:t>  page fault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7552DF-38E6-8249-9100-9E8DEB63E539}" type="slidenum">
              <a:rPr lang="en-US"/>
              <a:pPr>
                <a:defRPr/>
              </a:pPr>
              <a:t>15</a:t>
            </a:fld>
            <a:endParaRPr lang="en-US"/>
          </a:p>
        </p:txBody>
      </p:sp>
      <p:pic>
        <p:nvPicPr>
          <p:cNvPr id="29703" name="Picture 1"/>
          <p:cNvPicPr>
            <a:picLocks noChangeAspect="1"/>
          </p:cNvPicPr>
          <p:nvPr/>
        </p:nvPicPr>
        <p:blipFill>
          <a:blip r:embed="rId3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4025" y="2762250"/>
            <a:ext cx="37719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2217738" y="185738"/>
            <a:ext cx="11061700" cy="66992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667"/>
              <a:t>Page Table When Some Pages Are Not in Main Memory</a:t>
            </a:r>
          </a:p>
        </p:txBody>
      </p:sp>
      <p:pic>
        <p:nvPicPr>
          <p:cNvPr id="31747" name="Picture 4" descr="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9463" y="1566863"/>
            <a:ext cx="6623050" cy="642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426C86-1986-D144-8F8E-FBAAB2EC4FFC}" type="slidenum">
              <a:rPr lang="en-US"/>
              <a:pPr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268288"/>
            <a:ext cx="10972800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Page Fault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44688" y="1206500"/>
            <a:ext cx="10399712" cy="700231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If there is a reference to a page, first reference to that page will trap to operating system:</a:t>
            </a:r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r>
              <a:rPr lang="en-US" altLang="en-US" sz="3150" dirty="0">
                <a:solidFill>
                  <a:srgbClr val="3366FF"/>
                </a:solidFill>
                <a:sym typeface="Symbol" panose="05050102010706020507" pitchFamily="18" charset="2"/>
              </a:rPr>
              <a:t>              </a:t>
            </a:r>
            <a:r>
              <a:rPr lang="en-US" altLang="en-US" sz="3150" b="1" dirty="0">
                <a:solidFill>
                  <a:srgbClr val="3366FF"/>
                </a:solidFill>
                <a:sym typeface="Symbol" panose="05050102010706020507" pitchFamily="18" charset="2"/>
              </a:rPr>
              <a:t>page fault</a:t>
            </a:r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AutoNum type="arabicPeriod"/>
              <a:defRPr/>
            </a:pPr>
            <a:r>
              <a:rPr lang="en-US" altLang="en-US" sz="3150" dirty="0">
                <a:sym typeface="Symbol" panose="05050102010706020507" pitchFamily="18" charset="2"/>
              </a:rPr>
              <a:t>Operating system looks at another table to decide:</a:t>
            </a:r>
          </a:p>
          <a:p>
            <a:pPr marL="1064657" lvl="1" indent="-455073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Invalid reference </a:t>
            </a:r>
            <a:r>
              <a:rPr lang="en-US" altLang="en-US" dirty="0">
                <a:sym typeface="Symbol" panose="05050102010706020507" pitchFamily="18" charset="2"/>
              </a:rPr>
              <a:t> abort</a:t>
            </a:r>
          </a:p>
          <a:p>
            <a:pPr marL="1064657" lvl="1" indent="-455073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>
                <a:sym typeface="Symbol" panose="05050102010706020507" pitchFamily="18" charset="2"/>
              </a:rPr>
              <a:t>Just not in memory</a:t>
            </a:r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AutoNum type="arabicPeriod"/>
              <a:defRPr/>
            </a:pPr>
            <a:r>
              <a:rPr lang="en-US" altLang="en-US" sz="3150" dirty="0">
                <a:sym typeface="Symbol" panose="05050102010706020507" pitchFamily="18" charset="2"/>
              </a:rPr>
              <a:t>Find free frame</a:t>
            </a:r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AutoNum type="arabicPeriod"/>
              <a:defRPr/>
            </a:pPr>
            <a:r>
              <a:rPr lang="en-US" altLang="en-US" sz="3150" dirty="0">
                <a:sym typeface="Symbol" panose="05050102010706020507" pitchFamily="18" charset="2"/>
              </a:rPr>
              <a:t>Swap page into frame via scheduled disk operation</a:t>
            </a:r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AutoNum type="arabicPeriod"/>
              <a:defRPr/>
            </a:pPr>
            <a:r>
              <a:rPr lang="en-US" altLang="en-US" sz="3150" dirty="0">
                <a:sym typeface="Symbol" panose="05050102010706020507" pitchFamily="18" charset="2"/>
              </a:rPr>
              <a:t>Reset tables to indicate page now in memory</a:t>
            </a:r>
            <a:br>
              <a:rPr lang="en-US" altLang="en-US" sz="3150" dirty="0">
                <a:sym typeface="Symbol" panose="05050102010706020507" pitchFamily="18" charset="2"/>
              </a:rPr>
            </a:br>
            <a:r>
              <a:rPr lang="en-US" altLang="en-US" sz="3150" dirty="0">
                <a:sym typeface="Symbol" panose="05050102010706020507" pitchFamily="18" charset="2"/>
              </a:rPr>
              <a:t>Set validation bit = </a:t>
            </a:r>
            <a:r>
              <a:rPr lang="en-US" altLang="en-US" sz="3150" b="1" dirty="0">
                <a:solidFill>
                  <a:srgbClr val="FF0000"/>
                </a:solidFill>
                <a:sym typeface="Symbol" panose="05050102010706020507" pitchFamily="18" charset="2"/>
              </a:rPr>
              <a:t>v</a:t>
            </a:r>
            <a:endParaRPr lang="en-US" altLang="en-US" sz="3150" dirty="0">
              <a:sym typeface="Symbol" panose="05050102010706020507" pitchFamily="18" charset="2"/>
            </a:endParaRPr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AutoNum type="arabicPeriod"/>
              <a:defRPr/>
            </a:pPr>
            <a:r>
              <a:rPr lang="en-US" altLang="en-US" sz="3150" dirty="0">
                <a:sym typeface="Symbol" panose="05050102010706020507" pitchFamily="18" charset="2"/>
              </a:rPr>
              <a:t>Restart the instruction that caused the page fault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C05E3F-9ABC-AE48-AFCD-2922C449AC70}" type="slidenum">
              <a:rPr lang="en-US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682750" y="252413"/>
            <a:ext cx="10661650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Steps in Handling a Page Fault</a:t>
            </a:r>
          </a:p>
        </p:txBody>
      </p:sp>
      <p:pic>
        <p:nvPicPr>
          <p:cNvPr id="35843" name="Picture 4" descr="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1338" y="1624013"/>
            <a:ext cx="7734300" cy="645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E65E14-9232-B74C-B8A2-39F89D1C8F8B}" type="slidenum">
              <a:rPr lang="en-US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1371600" y="268288"/>
            <a:ext cx="10972800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Aspects of Demand Paging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519545" y="1441450"/>
            <a:ext cx="12253479" cy="6516688"/>
          </a:xfrm>
        </p:spPr>
        <p:txBody>
          <a:bodyPr rtlCol="0">
            <a:normAutofit/>
          </a:bodyPr>
          <a:lstStyle/>
          <a:p>
            <a:pPr marL="257175" lvl="1" eaLnBrk="1" fontAlgn="auto" hangingPunct="1">
              <a:spcBef>
                <a:spcPts val="1125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200" b="1" dirty="0">
                <a:solidFill>
                  <a:srgbClr val="3366FF"/>
                </a:solidFill>
              </a:rPr>
              <a:t>Pure demand paging </a:t>
            </a:r>
            <a:r>
              <a:rPr lang="en-US" altLang="en-US" sz="3200" dirty="0"/>
              <a:t>– start process with </a:t>
            </a:r>
            <a:r>
              <a:rPr lang="en-US" altLang="en-US" sz="3200" i="1" dirty="0"/>
              <a:t>no</a:t>
            </a:r>
            <a:r>
              <a:rPr lang="en-US" altLang="en-US" sz="3200" dirty="0"/>
              <a:t> pages in memory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OS sets instruction pointer to first instruction of process, non-memory-resident -&gt; page fault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And for every other process pages on first access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dirty="0"/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Hardware support needed for demand paging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Page table with valid / invalid bit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Secondary memory (swap device with </a:t>
            </a:r>
            <a:r>
              <a:rPr lang="en-US" altLang="en-US" b="1" dirty="0">
                <a:solidFill>
                  <a:srgbClr val="3366FF"/>
                </a:solidFill>
              </a:rPr>
              <a:t>swap space</a:t>
            </a:r>
            <a:r>
              <a:rPr lang="en-US" altLang="en-US" dirty="0"/>
              <a:t>)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Instruction restart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363F5A8-5AE9-E440-9123-9779757DD5D3}" type="slidenum">
              <a:rPr lang="en-US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852613" y="268288"/>
            <a:ext cx="10491787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Performance of Demand Paging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38338" y="1441450"/>
            <a:ext cx="10388600" cy="646588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884945" algn="l"/>
                <a:tab pos="3807789" algn="l"/>
              </a:tabLst>
              <a:defRPr/>
            </a:pPr>
            <a:r>
              <a:rPr lang="en-US" altLang="en-US" sz="3150" dirty="0"/>
              <a:t>Stages in Demand Paging (worse case)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tabLst>
                <a:tab pos="2884945" algn="l"/>
                <a:tab pos="3807789" algn="l"/>
              </a:tabLst>
              <a:defRPr/>
            </a:pPr>
            <a:r>
              <a:rPr lang="en-US" altLang="en-US" sz="1867" dirty="0"/>
              <a:t>Trap to the operating system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tabLst>
                <a:tab pos="2884945" algn="l"/>
                <a:tab pos="3807789" algn="l"/>
              </a:tabLst>
              <a:defRPr/>
            </a:pPr>
            <a:r>
              <a:rPr lang="en-US" altLang="en-US" sz="1867" dirty="0"/>
              <a:t>Save the user registers and process state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tabLst>
                <a:tab pos="2884945" algn="l"/>
                <a:tab pos="3807789" algn="l"/>
              </a:tabLst>
              <a:defRPr/>
            </a:pPr>
            <a:r>
              <a:rPr lang="en-US" altLang="en-US" sz="1867" dirty="0"/>
              <a:t>Determine that the interrupt was a page fault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tabLst>
                <a:tab pos="2884945" algn="l"/>
                <a:tab pos="3807789" algn="l"/>
              </a:tabLst>
              <a:defRPr/>
            </a:pPr>
            <a:r>
              <a:rPr lang="en-US" altLang="en-US" sz="1867" dirty="0"/>
              <a:t>Check that the page reference was legal and determine the location of the page on the disk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tabLst>
                <a:tab pos="2884945" algn="l"/>
                <a:tab pos="3807789" algn="l"/>
              </a:tabLst>
              <a:defRPr/>
            </a:pPr>
            <a:r>
              <a:rPr lang="en-US" altLang="en-US" sz="1867" dirty="0"/>
              <a:t>Issue a read from the disk to a free frame:</a:t>
            </a:r>
          </a:p>
          <a:p>
            <a:pPr marL="1064657" lvl="1" indent="-455073"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tabLst>
                <a:tab pos="2884945" algn="l"/>
                <a:tab pos="3807789" algn="l"/>
              </a:tabLst>
              <a:defRPr/>
            </a:pPr>
            <a:r>
              <a:rPr lang="en-US" altLang="en-US" sz="1867" dirty="0"/>
              <a:t>Wait in a queue for this device until the read request is serviced</a:t>
            </a:r>
          </a:p>
          <a:p>
            <a:pPr marL="1064657" lvl="1" indent="-455073"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tabLst>
                <a:tab pos="2884945" algn="l"/>
                <a:tab pos="3807789" algn="l"/>
              </a:tabLst>
              <a:defRPr/>
            </a:pPr>
            <a:r>
              <a:rPr lang="en-US" altLang="en-US" sz="1867" dirty="0"/>
              <a:t>Wait for the device seek and/or latency time</a:t>
            </a:r>
          </a:p>
          <a:p>
            <a:pPr marL="1064657" lvl="1" indent="-455073"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tabLst>
                <a:tab pos="2884945" algn="l"/>
                <a:tab pos="3807789" algn="l"/>
              </a:tabLst>
              <a:defRPr/>
            </a:pPr>
            <a:r>
              <a:rPr lang="en-US" altLang="en-US" sz="1867" dirty="0"/>
              <a:t>Begin the transfer of the page to a free frame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tabLst>
                <a:tab pos="2884945" algn="l"/>
                <a:tab pos="3807789" algn="l"/>
              </a:tabLst>
              <a:defRPr/>
            </a:pPr>
            <a:r>
              <a:rPr lang="en-US" altLang="en-US" sz="1867" dirty="0"/>
              <a:t>While waiting, allocate the CPU to some other user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tabLst>
                <a:tab pos="2884945" algn="l"/>
                <a:tab pos="3807789" algn="l"/>
              </a:tabLst>
              <a:defRPr/>
            </a:pPr>
            <a:r>
              <a:rPr lang="en-US" altLang="en-US" sz="1867" dirty="0"/>
              <a:t>Receive an interrupt from the disk I/O subsystem (I/O completed)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tabLst>
                <a:tab pos="2884945" algn="l"/>
                <a:tab pos="3807789" algn="l"/>
              </a:tabLst>
              <a:defRPr/>
            </a:pPr>
            <a:r>
              <a:rPr lang="en-US" altLang="en-US" sz="1867" dirty="0"/>
              <a:t>Save the registers and process state for the other user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tabLst>
                <a:tab pos="2884945" algn="l"/>
                <a:tab pos="3807789" algn="l"/>
              </a:tabLst>
              <a:defRPr/>
            </a:pPr>
            <a:r>
              <a:rPr lang="en-US" altLang="en-US" sz="1867" dirty="0"/>
              <a:t>Determine that the interrupt was from the disk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tabLst>
                <a:tab pos="2884945" algn="l"/>
                <a:tab pos="3807789" algn="l"/>
              </a:tabLst>
              <a:defRPr/>
            </a:pPr>
            <a:r>
              <a:rPr lang="en-US" altLang="en-US" sz="1867" dirty="0"/>
              <a:t>Correct the page table and other tables to show page is now in memory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tabLst>
                <a:tab pos="2884945" algn="l"/>
                <a:tab pos="3807789" algn="l"/>
              </a:tabLst>
              <a:defRPr/>
            </a:pPr>
            <a:r>
              <a:rPr lang="en-US" altLang="en-US" sz="1867" dirty="0"/>
              <a:t>Wait for the CPU to be allocated to this process again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tabLst>
                <a:tab pos="2884945" algn="l"/>
                <a:tab pos="3807789" algn="l"/>
              </a:tabLst>
              <a:defRPr/>
            </a:pPr>
            <a:r>
              <a:rPr lang="en-US" altLang="en-US" sz="1867" dirty="0"/>
              <a:t>Restore the user registers, process state, and new page table, and then resume the interrupted instruction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884945" algn="l"/>
                <a:tab pos="3807789" algn="l"/>
              </a:tabLst>
              <a:defRPr/>
            </a:pPr>
            <a:endParaRPr lang="en-US" altLang="en-US" sz="3150" dirty="0">
              <a:sym typeface="Symbol" panose="05050102010706020507" pitchFamily="18" charset="2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78DD2E-6C7F-9942-BB03-58B2F8A9C030}" type="slidenum">
              <a:rPr lang="en-US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2501900" y="252413"/>
            <a:ext cx="10590213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Performance of Demand Paging (Cont.)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92382" y="1492250"/>
            <a:ext cx="11561618" cy="6196013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884945" algn="l"/>
                <a:tab pos="3807789" algn="l"/>
              </a:tabLst>
              <a:defRPr/>
            </a:pPr>
            <a:r>
              <a:rPr lang="en-US" altLang="en-US" sz="3150" dirty="0"/>
              <a:t>Three major activities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884945" algn="l"/>
                <a:tab pos="3807789" algn="l"/>
              </a:tabLst>
              <a:defRPr/>
            </a:pPr>
            <a:r>
              <a:rPr lang="en-US" altLang="en-US" dirty="0"/>
              <a:t>Service the interrupt – careful coding means just several hundred instructions needed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884945" algn="l"/>
                <a:tab pos="3807789" algn="l"/>
              </a:tabLst>
              <a:defRPr/>
            </a:pPr>
            <a:r>
              <a:rPr lang="en-US" altLang="en-US" dirty="0"/>
              <a:t>Read the page – lots of time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884945" algn="l"/>
                <a:tab pos="3807789" algn="l"/>
              </a:tabLst>
              <a:defRPr/>
            </a:pPr>
            <a:r>
              <a:rPr lang="en-US" altLang="en-US" dirty="0"/>
              <a:t>Restart the process – again just a small amount of time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884945" algn="l"/>
                <a:tab pos="3807789" algn="l"/>
              </a:tabLst>
              <a:defRPr/>
            </a:pPr>
            <a:r>
              <a:rPr lang="en-US" altLang="en-US" sz="3150" dirty="0"/>
              <a:t>Page Fault Rate 0 </a:t>
            </a:r>
            <a:r>
              <a:rPr lang="en-US" altLang="en-US" sz="3150" dirty="0">
                <a:sym typeface="Symbol" panose="05050102010706020507" pitchFamily="18" charset="2"/>
              </a:rPr>
              <a:t> </a:t>
            </a:r>
            <a:r>
              <a:rPr lang="en-US" altLang="en-US" sz="3150" i="1" dirty="0">
                <a:sym typeface="Symbol" panose="05050102010706020507" pitchFamily="18" charset="2"/>
              </a:rPr>
              <a:t>p</a:t>
            </a:r>
            <a:r>
              <a:rPr lang="en-US" altLang="en-US" sz="3150" dirty="0">
                <a:sym typeface="Symbol" panose="05050102010706020507" pitchFamily="18" charset="2"/>
              </a:rPr>
              <a:t>  1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884945" algn="l"/>
                <a:tab pos="3807789" algn="l"/>
              </a:tabLst>
              <a:defRPr/>
            </a:pPr>
            <a:r>
              <a:rPr lang="en-US" altLang="en-US" dirty="0">
                <a:sym typeface="Symbol" panose="05050102010706020507" pitchFamily="18" charset="2"/>
              </a:rPr>
              <a:t>if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 = 0 no page faults 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884945" algn="l"/>
                <a:tab pos="3807789" algn="l"/>
              </a:tabLst>
              <a:defRPr/>
            </a:pPr>
            <a:r>
              <a:rPr lang="en-US" altLang="en-US" dirty="0">
                <a:sym typeface="Symbol" panose="05050102010706020507" pitchFamily="18" charset="2"/>
              </a:rPr>
              <a:t>if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 = 1, every reference is a fault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884945" algn="l"/>
                <a:tab pos="3807789" algn="l"/>
              </a:tabLst>
              <a:defRPr/>
            </a:pPr>
            <a:r>
              <a:rPr lang="en-US" altLang="en-US" sz="3150" dirty="0">
                <a:sym typeface="Symbol" panose="05050102010706020507" pitchFamily="18" charset="2"/>
              </a:rPr>
              <a:t>Effective Access Time (EAT)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tabLst>
                <a:tab pos="2884945" algn="l"/>
                <a:tab pos="3807789" algn="l"/>
              </a:tabLst>
              <a:defRPr/>
            </a:pPr>
            <a:r>
              <a:rPr lang="en-US" altLang="en-US" sz="3150" dirty="0">
                <a:sym typeface="Symbol" panose="05050102010706020507" pitchFamily="18" charset="2"/>
              </a:rPr>
              <a:t>		EAT = (1 – </a:t>
            </a:r>
            <a:r>
              <a:rPr lang="en-US" altLang="en-US" sz="3150" i="1" dirty="0">
                <a:sym typeface="Symbol" panose="05050102010706020507" pitchFamily="18" charset="2"/>
              </a:rPr>
              <a:t>p</a:t>
            </a:r>
            <a:r>
              <a:rPr lang="en-US" altLang="en-US" sz="3150" dirty="0">
                <a:sym typeface="Symbol" panose="05050102010706020507" pitchFamily="18" charset="2"/>
              </a:rPr>
              <a:t>) x memory access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tabLst>
                <a:tab pos="2884945" algn="l"/>
                <a:tab pos="3807789" algn="l"/>
              </a:tabLst>
              <a:defRPr/>
            </a:pPr>
            <a:r>
              <a:rPr lang="en-US" altLang="en-US" sz="3150" dirty="0">
                <a:sym typeface="Symbol" panose="05050102010706020507" pitchFamily="18" charset="2"/>
              </a:rPr>
              <a:t>			+ </a:t>
            </a:r>
            <a:r>
              <a:rPr lang="en-US" altLang="en-US" sz="3150" i="1" dirty="0">
                <a:sym typeface="Symbol" panose="05050102010706020507" pitchFamily="18" charset="2"/>
              </a:rPr>
              <a:t>p</a:t>
            </a:r>
            <a:r>
              <a:rPr lang="en-US" altLang="en-US" sz="3150" dirty="0">
                <a:sym typeface="Symbol" panose="05050102010706020507" pitchFamily="18" charset="2"/>
              </a:rPr>
              <a:t> (page fault overhead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tabLst>
                <a:tab pos="2884945" algn="l"/>
                <a:tab pos="3807789" algn="l"/>
              </a:tabLst>
              <a:defRPr/>
            </a:pPr>
            <a:r>
              <a:rPr lang="en-US" altLang="en-US" sz="3150" dirty="0">
                <a:sym typeface="Symbol" panose="05050102010706020507" pitchFamily="18" charset="2"/>
              </a:rPr>
              <a:t>			           + swap page out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tabLst>
                <a:tab pos="2884945" algn="l"/>
                <a:tab pos="3807789" algn="l"/>
              </a:tabLst>
              <a:defRPr/>
            </a:pPr>
            <a:r>
              <a:rPr lang="en-US" altLang="en-US" sz="3150" dirty="0">
                <a:sym typeface="Symbol" panose="05050102010706020507" pitchFamily="18" charset="2"/>
              </a:rPr>
              <a:t>			           + swap page in )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tabLst>
                <a:tab pos="2884945" algn="l"/>
                <a:tab pos="3807789" algn="l"/>
              </a:tabLst>
              <a:defRPr/>
            </a:pPr>
            <a:r>
              <a:rPr lang="en-US" altLang="en-US" sz="3150" dirty="0">
                <a:sym typeface="Symbol" panose="05050102010706020507" pitchFamily="18" charset="2"/>
              </a:rPr>
              <a:t>				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667F4B-1994-C041-8213-A1DEBFB1EDB5}" type="slidenum">
              <a:rPr lang="en-US"/>
              <a:pPr>
                <a:defRPr/>
              </a:pPr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0AEAE-D9FF-5143-364C-67C0B9D30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GB" b="1" dirty="0">
                <a:effectLst/>
                <a:latin typeface="inherit"/>
              </a:rPr>
              <a:t>Access to page 3 generates a page fault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DD50C-B6D7-3E00-0C89-290C212BA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I agree</a:t>
            </a:r>
          </a:p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I don't think so...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038DEE3-8CB6-D68D-A475-1EAA033D13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6163" y="2867104"/>
            <a:ext cx="5041432" cy="4895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79185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83EA4-FD3D-55E1-44A7-39101DC1E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GB" b="1" dirty="0">
                <a:effectLst/>
                <a:latin typeface="inherit"/>
              </a:rPr>
              <a:t>When using Virtual Memory, if there are 4 free frames and a process spans 5 pages...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C5F87-99EF-F2E9-2A2D-6ABE8AAD5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The process cannot run</a:t>
            </a:r>
          </a:p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The process can run</a:t>
            </a:r>
          </a:p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Whether it can run depends on its concurrent execution</a:t>
            </a:r>
          </a:p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Whether it can run depends on its parallel execution</a:t>
            </a:r>
          </a:p>
        </p:txBody>
      </p:sp>
    </p:spTree>
    <p:extLst>
      <p:ext uri="{BB962C8B-B14F-4D97-AF65-F5344CB8AC3E}">
        <p14:creationId xmlns:p14="http://schemas.microsoft.com/office/powerpoint/2010/main" val="11503216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B299F-C552-7697-53DB-1538C98E9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GB" b="1" dirty="0">
                <a:effectLst/>
                <a:latin typeface="inherit"/>
              </a:rPr>
              <a:t>Access to pages 3,4,3 and 5 generates ...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39A7A-5F76-30EC-4A87-B714A4EF30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2 page faults</a:t>
            </a:r>
          </a:p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4 page faults</a:t>
            </a:r>
          </a:p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at least 2 page faults</a:t>
            </a:r>
          </a:p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at least 4 page faults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8C2E9E3-7B52-B76D-69AE-6F3EC1C911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7517" y="2944866"/>
            <a:ext cx="5225508" cy="5073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90749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950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Recap / Introduction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Demand Paging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/>
              <a:t>Copy-on-Write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Page Replacement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Allocation of Frames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Thrashing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Memory-Mapped files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200" dirty="0">
                <a:solidFill>
                  <a:schemeClr val="bg1">
                    <a:lumMod val="65000"/>
                  </a:schemeClr>
                </a:solidFill>
              </a:rPr>
              <a:t>[Self-reading]</a:t>
            </a:r>
            <a:endParaRPr lang="en-US" sz="315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79BC32-8FC1-1D4B-9BFF-782D2E7B7BBB}" type="slidenum">
              <a:rPr lang="en-US"/>
              <a:pPr>
                <a:defRPr/>
              </a:pPr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166688"/>
            <a:ext cx="10972800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 dirty="0"/>
              <a:t>Copy-on-Write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22463" y="1474788"/>
            <a:ext cx="9779000" cy="604202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133" b="1" dirty="0"/>
              <a:t>Example of optimization enabled by separation of Logical from Physical memory and by demand paging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sz="2133" b="1" dirty="0">
              <a:solidFill>
                <a:srgbClr val="3366FF"/>
              </a:solidFill>
            </a:endParaRP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133" b="1" dirty="0">
                <a:solidFill>
                  <a:srgbClr val="3366FF"/>
                </a:solidFill>
              </a:rPr>
              <a:t>Copy-on-Write </a:t>
            </a:r>
            <a:r>
              <a:rPr lang="en-US" altLang="en-US" sz="2133" dirty="0"/>
              <a:t>(COW) allows both parent and child processes to initially </a:t>
            </a:r>
            <a:r>
              <a:rPr lang="en-US" altLang="en-US" sz="2133" b="1" i="1" dirty="0"/>
              <a:t>share</a:t>
            </a:r>
            <a:r>
              <a:rPr lang="en-US" altLang="en-US" sz="2133" dirty="0"/>
              <a:t> the same pages in memory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133" dirty="0"/>
              <a:t>If either process modifies a shared page, only then is the page copied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133" dirty="0"/>
              <a:t>COW allows more efficient process creation as only modified pages are copied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sz="2133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133" dirty="0" err="1">
                <a:latin typeface="Courier New" panose="02070309020205020404" pitchFamily="49" charset="0"/>
                <a:cs typeface="Courier New" panose="02070309020205020404" pitchFamily="49" charset="0"/>
              </a:rPr>
              <a:t>vfork</a:t>
            </a:r>
            <a:r>
              <a:rPr lang="en-US" altLang="en-US" sz="2133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en-US" sz="2133" dirty="0"/>
              <a:t> variation on </a:t>
            </a:r>
            <a:r>
              <a:rPr lang="en-US" altLang="en-US" sz="2133" dirty="0">
                <a:latin typeface="Courier New" panose="02070309020205020404" pitchFamily="49" charset="0"/>
                <a:cs typeface="Courier New" panose="02070309020205020404" pitchFamily="49" charset="0"/>
              </a:rPr>
              <a:t>fork() </a:t>
            </a:r>
            <a:r>
              <a:rPr lang="en-US" altLang="en-US" sz="2133" dirty="0"/>
              <a:t>system call has parent suspend and child using copy-on-write address space of parent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133" dirty="0"/>
              <a:t>Designed to have child call </a:t>
            </a:r>
            <a:r>
              <a:rPr lang="en-US" altLang="en-US" sz="2133" dirty="0">
                <a:latin typeface="Courier New" panose="02070309020205020404" pitchFamily="49" charset="0"/>
                <a:cs typeface="Courier New" panose="02070309020205020404" pitchFamily="49" charset="0"/>
              </a:rPr>
              <a:t>exec()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133" dirty="0"/>
              <a:t>Very efficient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0C0950-63F7-B047-83E1-D8423D8AFA5C}" type="slidenum">
              <a:rPr lang="en-US"/>
              <a:pPr>
                <a:defRPr/>
              </a:pPr>
              <a:t>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2074863" y="303213"/>
            <a:ext cx="10388600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Before Process 1 Modifies Page C</a:t>
            </a:r>
          </a:p>
        </p:txBody>
      </p:sp>
      <p:pic>
        <p:nvPicPr>
          <p:cNvPr id="54275" name="Picture 4" descr="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1738" y="1804988"/>
            <a:ext cx="9785350" cy="393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323281-BDD7-0A41-942C-2849AC745D8D}" type="slidenum">
              <a:rPr lang="en-US"/>
              <a:pPr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947863" y="184150"/>
            <a:ext cx="10414000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After Process 1 Modifies Page C</a:t>
            </a:r>
          </a:p>
        </p:txBody>
      </p:sp>
      <p:pic>
        <p:nvPicPr>
          <p:cNvPr id="56323" name="Picture 4" descr="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6400" y="1758950"/>
            <a:ext cx="8539163" cy="394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B62BBA-B034-9244-9882-910C88A2B7BF}" type="slidenum">
              <a:rPr lang="en-US"/>
              <a:pPr>
                <a:defRPr/>
              </a:pPr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65A73B-1BF2-6741-A7C7-88E869CE9B2E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1432560"/>
            <a:ext cx="2794000" cy="32004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7145" y="693866"/>
            <a:ext cx="5448300" cy="3060700"/>
          </a:xfrm>
          <a:prstGeom prst="rect">
            <a:avLst/>
          </a:prstGeom>
        </p:spPr>
      </p:pic>
      <p:grpSp>
        <p:nvGrpSpPr>
          <p:cNvPr id="12" name="Group 11"/>
          <p:cNvGrpSpPr/>
          <p:nvPr/>
        </p:nvGrpSpPr>
        <p:grpSpPr>
          <a:xfrm>
            <a:off x="4987290" y="4019917"/>
            <a:ext cx="8370570" cy="4190395"/>
            <a:chOff x="4987290" y="4019917"/>
            <a:chExt cx="8370570" cy="4190395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87290" y="4019917"/>
              <a:ext cx="8370570" cy="4190395"/>
            </a:xfrm>
            <a:prstGeom prst="rect">
              <a:avLst/>
            </a:prstGeom>
          </p:spPr>
        </p:pic>
        <p:sp>
          <p:nvSpPr>
            <p:cNvPr id="10" name="Oval 9"/>
            <p:cNvSpPr/>
            <p:nvPr/>
          </p:nvSpPr>
          <p:spPr>
            <a:xfrm>
              <a:off x="6551294" y="6705600"/>
              <a:ext cx="2486025" cy="48768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5308281" y="7164587"/>
              <a:ext cx="3454719" cy="48768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70944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950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Recap / Introduction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Demand Paging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Copy-on-Write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/>
              <a:t>Page Replacement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Allocation of Frames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Thrashing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Memory-Mapped files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200" dirty="0">
                <a:solidFill>
                  <a:schemeClr val="bg1">
                    <a:lumMod val="65000"/>
                  </a:schemeClr>
                </a:solidFill>
              </a:rPr>
              <a:t>[Self-reading]</a:t>
            </a:r>
            <a:endParaRPr lang="en-US" sz="315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7D74BB-97FF-8D4B-938C-884D63C312BE}" type="slidenum">
              <a:rPr lang="en-US"/>
              <a:pPr>
                <a:defRPr/>
              </a:pPr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351693" y="252413"/>
            <a:ext cx="12421332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 dirty="0"/>
              <a:t>Suppose we end up in </a:t>
            </a:r>
            <a:r>
              <a:rPr lang="en-US" altLang="en-US" sz="4950"/>
              <a:t>a situation like the following one</a:t>
            </a:r>
            <a:endParaRPr lang="en-US" altLang="en-US" sz="4950" dirty="0"/>
          </a:p>
        </p:txBody>
      </p:sp>
      <p:pic>
        <p:nvPicPr>
          <p:cNvPr id="63491" name="Picture 4" descr="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693" y="1602088"/>
            <a:ext cx="7154506" cy="5213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8636BE-D784-0D42-9655-8FF5DE1AD1B9}" type="slidenum">
              <a:rPr lang="en-US"/>
              <a:pPr>
                <a:defRPr/>
              </a:pPr>
              <a:t>31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955" y="1797702"/>
            <a:ext cx="1228725" cy="1228725"/>
          </a:xfrm>
          <a:prstGeom prst="rect">
            <a:avLst/>
          </a:prstGeom>
        </p:spPr>
      </p:pic>
      <p:sp>
        <p:nvSpPr>
          <p:cNvPr id="9" name="Content Placeholder 2"/>
          <p:cNvSpPr txBox="1">
            <a:spLocks/>
          </p:cNvSpPr>
          <p:nvPr/>
        </p:nvSpPr>
        <p:spPr>
          <a:xfrm>
            <a:off x="8838199" y="2023384"/>
            <a:ext cx="4785036" cy="611345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2800" i="1" dirty="0"/>
              <a:t>What to do now?</a:t>
            </a:r>
          </a:p>
          <a:p>
            <a:pPr fontAlgn="auto">
              <a:spcAft>
                <a:spcPts val="0"/>
              </a:spcAft>
            </a:pPr>
            <a:r>
              <a:rPr lang="en-US" sz="2800" i="1" dirty="0"/>
              <a:t>Can we replace an existing page?</a:t>
            </a:r>
          </a:p>
          <a:p>
            <a:pPr fontAlgn="auto">
              <a:spcAft>
                <a:spcPts val="0"/>
              </a:spcAft>
            </a:pPr>
            <a:r>
              <a:rPr lang="en-US" sz="2800" i="1" dirty="0"/>
              <a:t>Should it be from process 1 or can it also be from process 2?</a:t>
            </a:r>
          </a:p>
          <a:p>
            <a:pPr fontAlgn="auto">
              <a:spcAft>
                <a:spcPts val="0"/>
              </a:spcAft>
            </a:pPr>
            <a:r>
              <a:rPr lang="en-US" sz="2800" i="1" dirty="0"/>
              <a:t>Is there any page that is faster to swap out than others?</a:t>
            </a:r>
          </a:p>
          <a:p>
            <a:pPr fontAlgn="auto">
              <a:spcAft>
                <a:spcPts val="0"/>
              </a:spcAft>
            </a:pPr>
            <a:r>
              <a:rPr lang="en-US" sz="2800" i="1" dirty="0"/>
              <a:t>Is there any page that has lower probability of being needed later on?</a:t>
            </a:r>
          </a:p>
          <a:p>
            <a:pPr fontAlgn="auto">
              <a:spcAft>
                <a:spcPts val="0"/>
              </a:spcAft>
            </a:pPr>
            <a:r>
              <a:rPr lang="en-US" sz="2800" i="1" dirty="0"/>
              <a:t>Could have we prevented this situation?</a:t>
            </a:r>
          </a:p>
          <a:p>
            <a:pPr fontAlgn="auto">
              <a:spcAft>
                <a:spcPts val="0"/>
              </a:spcAft>
            </a:pPr>
            <a:r>
              <a:rPr lang="en-US" sz="2800" i="1" dirty="0"/>
              <a:t>How many page should we have allocated to the OS and to processes 1 and 2 to prevent this?</a:t>
            </a:r>
          </a:p>
          <a:p>
            <a:pPr fontAlgn="auto">
              <a:spcAft>
                <a:spcPts val="0"/>
              </a:spcAft>
            </a:pPr>
            <a:r>
              <a:rPr lang="en-US" sz="2800" i="1" dirty="0"/>
              <a:t>…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808707" y="6951902"/>
            <a:ext cx="7924475" cy="26690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en-US" sz="2800" dirty="0"/>
              <a:t>Process 1 needs a free frame (but 0 available!)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1430034" y="3599044"/>
            <a:ext cx="889097" cy="244085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en-US" sz="1800" dirty="0"/>
              <a:t>process 1</a:t>
            </a: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2888582" y="3563047"/>
            <a:ext cx="889097" cy="244085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en-US" sz="1800" dirty="0"/>
              <a:t>process 1</a:t>
            </a: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1430034" y="6568669"/>
            <a:ext cx="889097" cy="244085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en-US" sz="1800" dirty="0"/>
              <a:t>process 2</a:t>
            </a: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2888582" y="6532672"/>
            <a:ext cx="889097" cy="244085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en-US" sz="1800" dirty="0"/>
              <a:t>Process 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351693" y="252413"/>
            <a:ext cx="12421332" cy="768350"/>
          </a:xfrm>
        </p:spPr>
        <p:txBody>
          <a:bodyPr rtlCol="0"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en-US" sz="5400"/>
              <a:t>Page and Frame Replacement Algorithms</a:t>
            </a:r>
            <a:endParaRPr lang="en-US" altLang="en-US" sz="495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8636BE-D784-0D42-9655-8FF5DE1AD1B9}" type="slidenum">
              <a:rPr lang="en-US"/>
              <a:pPr>
                <a:defRPr/>
              </a:pPr>
              <a:t>32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747" y="1850711"/>
            <a:ext cx="1228725" cy="1228725"/>
          </a:xfrm>
          <a:prstGeom prst="rect">
            <a:avLst/>
          </a:prstGeom>
        </p:spPr>
      </p:pic>
      <p:sp>
        <p:nvSpPr>
          <p:cNvPr id="9" name="Content Placeholder 2"/>
          <p:cNvSpPr txBox="1">
            <a:spLocks/>
          </p:cNvSpPr>
          <p:nvPr/>
        </p:nvSpPr>
        <p:spPr>
          <a:xfrm>
            <a:off x="1469991" y="2076393"/>
            <a:ext cx="4785036" cy="611345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2800" i="1" dirty="0"/>
              <a:t>What to do now?</a:t>
            </a:r>
          </a:p>
          <a:p>
            <a:pPr fontAlgn="auto">
              <a:spcAft>
                <a:spcPts val="0"/>
              </a:spcAft>
            </a:pPr>
            <a:r>
              <a:rPr lang="en-US" sz="2800" i="1" dirty="0"/>
              <a:t>Can we replace an existing page?</a:t>
            </a:r>
          </a:p>
          <a:p>
            <a:pPr fontAlgn="auto">
              <a:spcAft>
                <a:spcPts val="0"/>
              </a:spcAft>
            </a:pPr>
            <a:r>
              <a:rPr lang="en-US" sz="2800" i="1" dirty="0"/>
              <a:t>Should it be from process 1 or can it also be from process 2?</a:t>
            </a:r>
          </a:p>
          <a:p>
            <a:pPr fontAlgn="auto">
              <a:spcAft>
                <a:spcPts val="0"/>
              </a:spcAft>
            </a:pPr>
            <a:r>
              <a:rPr lang="en-US" sz="2800" i="1" dirty="0"/>
              <a:t>Is there any page that is faster to swap out than others?</a:t>
            </a:r>
          </a:p>
          <a:p>
            <a:pPr fontAlgn="auto">
              <a:spcAft>
                <a:spcPts val="0"/>
              </a:spcAft>
            </a:pPr>
            <a:r>
              <a:rPr lang="en-US" sz="2800" i="1" dirty="0"/>
              <a:t>Is there any page that has lower probability of being needed later on?</a:t>
            </a:r>
          </a:p>
          <a:p>
            <a:pPr fontAlgn="auto">
              <a:spcAft>
                <a:spcPts val="0"/>
              </a:spcAft>
            </a:pPr>
            <a:r>
              <a:rPr lang="en-US" sz="2800" i="1" dirty="0"/>
              <a:t>Could have we prevented this situation?</a:t>
            </a:r>
          </a:p>
          <a:p>
            <a:pPr fontAlgn="auto">
              <a:spcAft>
                <a:spcPts val="0"/>
              </a:spcAft>
            </a:pPr>
            <a:r>
              <a:rPr lang="en-US" sz="2800" i="1" dirty="0"/>
              <a:t>How many page should we have allocated to the OS and to processes 1 and 2 to prevent this?</a:t>
            </a:r>
          </a:p>
          <a:p>
            <a:pPr fontAlgn="auto">
              <a:spcAft>
                <a:spcPts val="0"/>
              </a:spcAft>
            </a:pPr>
            <a:r>
              <a:rPr lang="en-US" sz="2800" i="1" dirty="0"/>
              <a:t>…</a:t>
            </a:r>
          </a:p>
        </p:txBody>
      </p:sp>
      <p:sp>
        <p:nvSpPr>
          <p:cNvPr id="5" name="Right Brace 4"/>
          <p:cNvSpPr/>
          <p:nvPr/>
        </p:nvSpPr>
        <p:spPr>
          <a:xfrm>
            <a:off x="6115879" y="1739969"/>
            <a:ext cx="278295" cy="6016487"/>
          </a:xfrm>
          <a:prstGeom prst="rightBrac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6562359" y="3233530"/>
            <a:ext cx="1614232" cy="1514682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rot="5400000" flipV="1">
            <a:off x="6512584" y="4797987"/>
            <a:ext cx="1614232" cy="1514682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45227" y="2617977"/>
            <a:ext cx="514639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Aft>
                <a:spcPts val="0"/>
              </a:spcAft>
              <a:tabLst>
                <a:tab pos="4193013" algn="ctr"/>
              </a:tabLst>
              <a:defRPr/>
            </a:pPr>
            <a:r>
              <a:rPr lang="en-US" altLang="en-US" sz="2000" b="1" dirty="0">
                <a:solidFill>
                  <a:srgbClr val="3366FF"/>
                </a:solidFill>
              </a:rPr>
              <a:t>Frame-allocation algorithm </a:t>
            </a:r>
            <a:br>
              <a:rPr lang="en-US" altLang="en-US" sz="2000" b="1" dirty="0">
                <a:solidFill>
                  <a:srgbClr val="3366FF"/>
                </a:solidFill>
              </a:rPr>
            </a:br>
            <a:r>
              <a:rPr lang="en-US" altLang="en-US" dirty="0"/>
              <a:t>determines how many frames to give each process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45227" y="6033145"/>
            <a:ext cx="4702147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Aft>
                <a:spcPts val="0"/>
              </a:spcAft>
              <a:tabLst>
                <a:tab pos="4193013" algn="ctr"/>
              </a:tabLst>
              <a:defRPr/>
            </a:pPr>
            <a:r>
              <a:rPr lang="en-US" altLang="en-US" sz="2000" b="1" dirty="0">
                <a:solidFill>
                  <a:srgbClr val="3366FF"/>
                </a:solidFill>
              </a:rPr>
              <a:t>Page-replacement algorithm</a:t>
            </a:r>
            <a:br>
              <a:rPr lang="en-US" altLang="en-US" sz="3150" b="1" dirty="0">
                <a:solidFill>
                  <a:srgbClr val="3366FF"/>
                </a:solidFill>
              </a:rPr>
            </a:br>
            <a:r>
              <a:rPr lang="en-US" altLang="en-US" dirty="0"/>
              <a:t>Which page to replace? Want lowest page-fault rate on both first access and re-access</a:t>
            </a:r>
          </a:p>
        </p:txBody>
      </p:sp>
    </p:spTree>
    <p:extLst>
      <p:ext uri="{BB962C8B-B14F-4D97-AF65-F5344CB8AC3E}">
        <p14:creationId xmlns:p14="http://schemas.microsoft.com/office/powerpoint/2010/main" val="4079467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2044700" y="252413"/>
            <a:ext cx="10299700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Page Replacement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49387" y="1727994"/>
            <a:ext cx="10817225" cy="604043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Prevent </a:t>
            </a:r>
            <a:r>
              <a:rPr lang="en-US" altLang="en-US" sz="3150" b="1" dirty="0">
                <a:solidFill>
                  <a:srgbClr val="3366FF"/>
                </a:solidFill>
              </a:rPr>
              <a:t>over-allocation</a:t>
            </a:r>
            <a:r>
              <a:rPr lang="en-US" altLang="en-US" sz="3150" dirty="0"/>
              <a:t> of memory by modifying page-fault service routine to include page replacement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Use </a:t>
            </a:r>
            <a:r>
              <a:rPr lang="en-US" altLang="en-US" sz="3150" b="1" dirty="0">
                <a:solidFill>
                  <a:srgbClr val="3366FF"/>
                </a:solidFill>
              </a:rPr>
              <a:t>modify </a:t>
            </a:r>
            <a:r>
              <a:rPr lang="en-US" altLang="en-US" sz="3150" dirty="0"/>
              <a:t>(</a:t>
            </a:r>
            <a:r>
              <a:rPr lang="en-US" altLang="en-US" sz="3150" b="1" dirty="0">
                <a:solidFill>
                  <a:srgbClr val="3366FF"/>
                </a:solidFill>
              </a:rPr>
              <a:t>dirty</a:t>
            </a:r>
            <a:r>
              <a:rPr lang="en-US" altLang="en-US" sz="3150" dirty="0"/>
              <a:t>)</a:t>
            </a:r>
            <a:r>
              <a:rPr lang="en-US" altLang="en-US" sz="3150" b="1" dirty="0">
                <a:solidFill>
                  <a:srgbClr val="3366FF"/>
                </a:solidFill>
              </a:rPr>
              <a:t> bit </a:t>
            </a:r>
            <a:r>
              <a:rPr lang="en-US" altLang="en-US" sz="3150" dirty="0"/>
              <a:t>to reduce overhead of page transfers – only modified pages are written to disk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Page replacement completes separation between logical memory and physical memory – large virtual memory can be provided on a smaller physical memory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C5DDA2E-75D1-6549-B176-2158931C31F0}" type="slidenum">
              <a:rPr lang="en-US"/>
              <a:pPr>
                <a:defRPr/>
              </a:pPr>
              <a:t>33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2201863" y="217488"/>
            <a:ext cx="10142537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Basic Page Replacement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3263" y="1497013"/>
            <a:ext cx="10204450" cy="5943600"/>
          </a:xfrm>
        </p:spPr>
        <p:txBody>
          <a:bodyPr rtlCol="0">
            <a:normAutofit fontScale="92500" lnSpcReduction="20000"/>
          </a:bodyPr>
          <a:lstStyle/>
          <a:p>
            <a:pPr marL="505871" indent="-505871" eaLnBrk="1" fontAlgn="auto" hangingPunct="1">
              <a:spcAft>
                <a:spcPts val="0"/>
              </a:spcAft>
              <a:buFont typeface="Monotype Sorts" pitchFamily="-84" charset="2"/>
              <a:buAutoNum type="arabicPeriod"/>
              <a:defRPr/>
            </a:pPr>
            <a:r>
              <a:rPr lang="en-US" altLang="en-US" sz="3150" dirty="0"/>
              <a:t>Find the location of the desired page on disk</a:t>
            </a:r>
            <a:br>
              <a:rPr lang="en-US" altLang="en-US" sz="3150" dirty="0"/>
            </a:br>
            <a:endParaRPr lang="en-US" altLang="en-US" sz="3150" dirty="0"/>
          </a:p>
          <a:p>
            <a:pPr marL="505871" indent="-505871" eaLnBrk="1" fontAlgn="auto" hangingPunct="1">
              <a:spcAft>
                <a:spcPts val="0"/>
              </a:spcAft>
              <a:buFont typeface="Monotype Sorts" pitchFamily="-84" charset="2"/>
              <a:buAutoNum type="arabicPeriod"/>
              <a:defRPr/>
            </a:pPr>
            <a:r>
              <a:rPr lang="en-US" altLang="en-US" sz="3150" dirty="0"/>
              <a:t>Find a free frame:</a:t>
            </a:r>
            <a:br>
              <a:rPr lang="en-US" altLang="en-US" sz="3150" dirty="0"/>
            </a:br>
            <a:r>
              <a:rPr lang="en-US" altLang="en-US" sz="3150" dirty="0"/>
              <a:t>   -  If there is a free frame, use it</a:t>
            </a:r>
            <a:br>
              <a:rPr lang="en-US" altLang="en-US" sz="3150" dirty="0"/>
            </a:br>
            <a:r>
              <a:rPr lang="en-US" altLang="en-US" sz="3150" dirty="0"/>
              <a:t>   -  If there is no free frame, use a page replacement algorithm to select a </a:t>
            </a:r>
            <a:r>
              <a:rPr lang="en-US" altLang="en-US" sz="3150" b="1" dirty="0">
                <a:solidFill>
                  <a:srgbClr val="3366FF"/>
                </a:solidFill>
              </a:rPr>
              <a:t>victim</a:t>
            </a:r>
            <a:r>
              <a:rPr lang="en-US" altLang="en-US" sz="3150" dirty="0">
                <a:solidFill>
                  <a:srgbClr val="3366FF"/>
                </a:solidFill>
              </a:rPr>
              <a:t> </a:t>
            </a:r>
            <a:r>
              <a:rPr lang="en-US" altLang="en-US" sz="3150" b="1" dirty="0">
                <a:solidFill>
                  <a:srgbClr val="3366FF"/>
                </a:solidFill>
              </a:rPr>
              <a:t>frame</a:t>
            </a:r>
            <a:br>
              <a:rPr lang="en-US" altLang="en-US" sz="3150" b="1" dirty="0">
                <a:solidFill>
                  <a:srgbClr val="3366FF"/>
                </a:solidFill>
              </a:rPr>
            </a:br>
            <a:r>
              <a:rPr lang="en-US" altLang="en-US" sz="3150" b="1" dirty="0">
                <a:solidFill>
                  <a:srgbClr val="3366FF"/>
                </a:solidFill>
              </a:rPr>
              <a:t>	- </a:t>
            </a:r>
            <a:r>
              <a:rPr lang="en-US" altLang="en-US" sz="3150" dirty="0"/>
              <a:t>Write victim frame to disk if dirty</a:t>
            </a:r>
            <a:br>
              <a:rPr lang="en-US" altLang="en-US" sz="3150" dirty="0"/>
            </a:br>
            <a:endParaRPr lang="en-US" altLang="en-US" sz="3150" dirty="0"/>
          </a:p>
          <a:p>
            <a:pPr marL="505871" indent="-505871" eaLnBrk="1" fontAlgn="auto" hangingPunct="1">
              <a:spcAft>
                <a:spcPts val="0"/>
              </a:spcAft>
              <a:buFont typeface="Monotype Sorts" pitchFamily="-84" charset="2"/>
              <a:buAutoNum type="arabicPeriod"/>
              <a:defRPr/>
            </a:pPr>
            <a:r>
              <a:rPr lang="en-US" altLang="en-US" sz="3150" dirty="0"/>
              <a:t>Bring  the desired page into the (newly) free frame; update the page and frame tables</a:t>
            </a:r>
            <a:br>
              <a:rPr lang="en-US" altLang="en-US" sz="3150" dirty="0"/>
            </a:br>
            <a:endParaRPr lang="en-US" altLang="en-US" sz="3150" dirty="0"/>
          </a:p>
          <a:p>
            <a:pPr marL="505871" indent="-505871" eaLnBrk="1" fontAlgn="auto" hangingPunct="1">
              <a:spcAft>
                <a:spcPts val="0"/>
              </a:spcAft>
              <a:buFont typeface="Monotype Sorts" pitchFamily="-84" charset="2"/>
              <a:buAutoNum type="arabicPeriod"/>
              <a:defRPr/>
            </a:pPr>
            <a:r>
              <a:rPr lang="en-US" altLang="en-US" sz="3150" dirty="0"/>
              <a:t>Continue the process by restarting the instruction that caused the trap</a:t>
            </a:r>
          </a:p>
          <a:p>
            <a:pPr marL="505871" indent="-505871" eaLnBrk="1" fontAlgn="auto" hangingPunct="1">
              <a:spcAft>
                <a:spcPts val="0"/>
              </a:spcAft>
              <a:buFont typeface="Monotype Sorts" pitchFamily="-84" charset="2"/>
              <a:buAutoNum type="arabicPeriod"/>
              <a:defRPr/>
            </a:pPr>
            <a:endParaRPr lang="en-US" altLang="en-US" sz="3150" dirty="0"/>
          </a:p>
          <a:p>
            <a:pPr marL="505871" indent="-505871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en-US" sz="3150" dirty="0"/>
              <a:t>Note now potentially 2 page transfers for page fault – increasing EAT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A75759-738C-9A4C-99F9-1200BDC9AD77}" type="slidenum">
              <a:rPr lang="en-US"/>
              <a:pPr>
                <a:defRPr/>
              </a:pPr>
              <a:t>34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Page replacement algorithms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759D35-99C5-3A48-86D5-31C64F9121F9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922463" y="2796209"/>
            <a:ext cx="9982200" cy="5247654"/>
          </a:xfrm>
          <a:prstGeom prst="rect">
            <a:avLst/>
          </a:prstGeom>
        </p:spPr>
        <p:txBody>
          <a:bodyPr rtlCol="0">
            <a:normAutofit/>
          </a:bodyPr>
          <a:lstStyle>
            <a:lvl1pPr marL="257175" indent="-257175" algn="l" defTabSz="1028700" rtl="0" eaLnBrk="0" fontAlgn="base" hangingPunct="0">
              <a:lnSpc>
                <a:spcPct val="90000"/>
              </a:lnSpc>
              <a:spcBef>
                <a:spcPts val="1125"/>
              </a:spcBef>
              <a:spcAft>
                <a:spcPct val="0"/>
              </a:spcAft>
              <a:buFont typeface="Arial" charset="0"/>
              <a:buChar char="•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7152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587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022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1457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2892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327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762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197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193013" algn="ctr"/>
              </a:tabLst>
              <a:defRPr/>
            </a:pPr>
            <a:r>
              <a:rPr lang="en-US" altLang="en-US" sz="3150" dirty="0"/>
              <a:t>We are going to take into account: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193013" algn="ctr"/>
              </a:tabLst>
              <a:defRPr/>
            </a:pP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193013" algn="ctr"/>
              </a:tabLst>
              <a:defRPr/>
            </a:pPr>
            <a:r>
              <a:rPr lang="en-US" altLang="en-US" sz="3150" dirty="0"/>
              <a:t>FIFO (First-In-First-Out)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193013" algn="ctr"/>
              </a:tabLst>
              <a:defRPr/>
            </a:pPr>
            <a:r>
              <a:rPr lang="en-US" altLang="en-US" sz="3150" dirty="0"/>
              <a:t>Optimal algorithm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193013" algn="ctr"/>
              </a:tabLst>
              <a:defRPr/>
            </a:pPr>
            <a:r>
              <a:rPr lang="en-US" altLang="en-US" sz="3200" dirty="0"/>
              <a:t>Least Recently Used (LRU)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193013" algn="ctr"/>
              </a:tabLst>
              <a:defRPr/>
            </a:pPr>
            <a:r>
              <a:rPr lang="en-US" altLang="en-US" sz="3200" dirty="0"/>
              <a:t>Approximated LRU</a:t>
            </a:r>
            <a:endParaRPr lang="en-US" altLang="en-US" sz="3150" dirty="0"/>
          </a:p>
        </p:txBody>
      </p:sp>
    </p:spTree>
    <p:extLst>
      <p:ext uri="{BB962C8B-B14F-4D97-AF65-F5344CB8AC3E}">
        <p14:creationId xmlns:p14="http://schemas.microsoft.com/office/powerpoint/2010/main" val="18252034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2125663" y="234950"/>
            <a:ext cx="10218737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Page Replacement</a:t>
            </a:r>
          </a:p>
        </p:txBody>
      </p:sp>
      <p:pic>
        <p:nvPicPr>
          <p:cNvPr id="67587" name="Picture 4" descr="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7863" y="1631950"/>
            <a:ext cx="8356600" cy="615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FAB60D2-BE58-1543-91E1-D7A91849FB58}" type="slidenum">
              <a:rPr lang="en-US"/>
              <a:pPr>
                <a:defRPr/>
              </a:pPr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2414588" y="217488"/>
            <a:ext cx="10234612" cy="76835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733" dirty="0"/>
              <a:t>How to evaluate a page replacement algorithm?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22463" y="1511300"/>
            <a:ext cx="9982200" cy="6532563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193013" algn="ctr"/>
              </a:tabLst>
              <a:defRPr/>
            </a:pPr>
            <a:r>
              <a:rPr lang="en-US" altLang="en-US" sz="3150" b="1" dirty="0"/>
              <a:t>Run</a:t>
            </a:r>
            <a:r>
              <a:rPr lang="en-US" altLang="en-US" sz="3150" b="1" dirty="0">
                <a:solidFill>
                  <a:srgbClr val="3366FF"/>
                </a:solidFill>
              </a:rPr>
              <a:t> </a:t>
            </a:r>
            <a:r>
              <a:rPr lang="en-US" altLang="en-US" sz="3150" dirty="0"/>
              <a:t>it on a particular string of memory references (reference string) and computing the number of page faults on that string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193013" algn="ctr"/>
              </a:tabLst>
              <a:defRPr/>
            </a:pPr>
            <a:r>
              <a:rPr lang="en-US" altLang="en-US" dirty="0"/>
              <a:t>String is just page numbers, not full addresses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193013" algn="ctr"/>
              </a:tabLst>
              <a:defRPr/>
            </a:pPr>
            <a:r>
              <a:rPr lang="en-US" altLang="en-US" dirty="0"/>
              <a:t>Repeated access to the same page does not cause a page fault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193013" algn="ctr"/>
              </a:tabLst>
              <a:defRPr/>
            </a:pPr>
            <a:r>
              <a:rPr lang="en-US" altLang="en-US" dirty="0"/>
              <a:t>Results depend on number of frames available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193013" algn="ctr"/>
              </a:tabLst>
              <a:defRPr/>
            </a:pPr>
            <a:endParaRPr lang="en-US" altLang="en-US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193013" algn="ctr"/>
              </a:tabLst>
              <a:defRPr/>
            </a:pPr>
            <a:r>
              <a:rPr lang="en-US" altLang="en-US" sz="3150" dirty="0"/>
              <a:t>In all our examples, the </a:t>
            </a:r>
            <a:r>
              <a:rPr lang="en-US" altLang="en-US" sz="3150" b="1" dirty="0">
                <a:solidFill>
                  <a:srgbClr val="3366FF"/>
                </a:solidFill>
              </a:rPr>
              <a:t>reference string </a:t>
            </a:r>
            <a:r>
              <a:rPr lang="en-US" altLang="en-US" sz="3150" dirty="0"/>
              <a:t>of referenced page numbers is 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tabLst>
                <a:tab pos="4193013" algn="ctr"/>
              </a:tabLst>
              <a:defRPr/>
            </a:pPr>
            <a:r>
              <a:rPr lang="en-US" altLang="en-US" sz="3150" dirty="0"/>
              <a:t>	               </a:t>
            </a:r>
            <a:r>
              <a:rPr lang="en-US" altLang="en-US" sz="3150" b="1" dirty="0">
                <a:solidFill>
                  <a:srgbClr val="FF0000"/>
                </a:solidFill>
              </a:rPr>
              <a:t>7,0,1,2,0,3,0,4,2,3,0,3,0,3,2,1,2,0,1,7,0,1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12A181-9E3D-7142-B6A5-551CEEA7E051}" type="slidenum">
              <a:rPr lang="en-US"/>
              <a:pPr>
                <a:defRPr/>
              </a:pPr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1405731" y="555833"/>
            <a:ext cx="10972800" cy="768350"/>
          </a:xfrm>
        </p:spPr>
        <p:txBody>
          <a:bodyPr/>
          <a:lstStyle/>
          <a:p>
            <a:pPr algn="ctr" eaLnBrk="1" hangingPunct="1"/>
            <a:r>
              <a:rPr lang="en-US" altLang="en-US" sz="3200" dirty="0"/>
              <a:t>What do we expect</a:t>
            </a:r>
            <a:r>
              <a:rPr lang="en-US" altLang="en-US" sz="3200"/>
              <a:t>? </a:t>
            </a:r>
            <a:br>
              <a:rPr lang="en-US" altLang="en-US" sz="3200"/>
            </a:br>
            <a:r>
              <a:rPr lang="en-US" altLang="en-US" sz="3200" dirty="0"/>
              <a:t>(Graph of Page Faults Versus The Number of Frames)</a:t>
            </a:r>
          </a:p>
        </p:txBody>
      </p:sp>
      <p:pic>
        <p:nvPicPr>
          <p:cNvPr id="7168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8131" y="2234096"/>
            <a:ext cx="8059737" cy="474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61D4FE-81B5-4647-B4B7-2746611D9A6D}" type="slidenum">
              <a:rPr lang="en-US"/>
              <a:pPr>
                <a:defRPr/>
              </a:pPr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2017713" y="234950"/>
            <a:ext cx="10428287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First-In-First-Out (FIFO) Algorithm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6835" y="1403350"/>
            <a:ext cx="13199165" cy="76835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If all frames are used, free the one containing the page loaded more time ago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Reference string: </a:t>
            </a:r>
            <a:r>
              <a:rPr lang="en-US" altLang="en-US" sz="3150" b="1" dirty="0">
                <a:solidFill>
                  <a:srgbClr val="FF0000"/>
                </a:solidFill>
              </a:rPr>
              <a:t>7,0,1,2,0,3,0,4,2,3,0,3,0,3,2,1,2,0,1,7,0,1</a:t>
            </a: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3 frames (3 pages can be in memory at a time per process)</a:t>
            </a:r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br>
              <a:rPr lang="en-US" altLang="en-US" sz="3150" dirty="0"/>
            </a:b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1067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1BC3E7-0362-6549-AE65-310C7D7759E6}" type="slidenum">
              <a:rPr lang="en-US"/>
              <a:pPr>
                <a:defRPr/>
              </a:pPr>
              <a:t>39</a:t>
            </a:fld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1116807" y="3188110"/>
            <a:ext cx="8223673" cy="4494281"/>
            <a:chOff x="1116807" y="3188110"/>
            <a:chExt cx="8223673" cy="4494281"/>
          </a:xfrm>
        </p:grpSpPr>
        <p:pic>
          <p:nvPicPr>
            <p:cNvPr id="73733" name="Picture 1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8025"/>
            <a:stretch/>
          </p:blipFill>
          <p:spPr bwMode="auto">
            <a:xfrm>
              <a:off x="1116807" y="3188110"/>
              <a:ext cx="7102475" cy="7238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TextBox 5"/>
            <p:cNvSpPr txBox="1"/>
            <p:nvPr/>
          </p:nvSpPr>
          <p:spPr>
            <a:xfrm>
              <a:off x="2933814" y="4543070"/>
              <a:ext cx="3715120" cy="31393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Page needed: 7</a:t>
              </a:r>
            </a:p>
            <a:p>
              <a:br>
                <a:rPr lang="en-US" dirty="0"/>
              </a:br>
              <a:r>
                <a:rPr lang="en-US" dirty="0"/>
                <a:t>Status of frames:</a:t>
              </a:r>
            </a:p>
            <a:p>
              <a:endParaRPr lang="en-US" dirty="0"/>
            </a:p>
            <a:p>
              <a:r>
                <a:rPr lang="en-US" dirty="0"/>
                <a:t>Is it there? NO</a:t>
              </a:r>
            </a:p>
            <a:p>
              <a:endParaRPr lang="en-US" dirty="0"/>
            </a:p>
            <a:p>
              <a:r>
                <a:rPr lang="en-US" dirty="0"/>
                <a:t>Do we have a free frame? YES</a:t>
              </a:r>
            </a:p>
            <a:p>
              <a:endParaRPr lang="en-US" dirty="0"/>
            </a:p>
            <a:p>
              <a:r>
                <a:rPr lang="en-US" dirty="0"/>
                <a:t>If YES, load the page</a:t>
              </a:r>
            </a:p>
            <a:p>
              <a:endParaRPr lang="en-US" dirty="0"/>
            </a:p>
            <a:p>
              <a:r>
                <a:rPr lang="en-US" dirty="0"/>
                <a:t>+1 page fault</a:t>
              </a:r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5225498" y="5026439"/>
              <a:ext cx="1311966" cy="437322"/>
              <a:chOff x="5446643" y="5022574"/>
              <a:chExt cx="1311966" cy="437322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5446643" y="5022574"/>
                <a:ext cx="437322" cy="43732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5883965" y="5022574"/>
                <a:ext cx="437322" cy="43732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6321287" y="5022574"/>
                <a:ext cx="437322" cy="43732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" name="TextBox 14"/>
            <p:cNvSpPr txBox="1"/>
            <p:nvPr/>
          </p:nvSpPr>
          <p:spPr>
            <a:xfrm>
              <a:off x="7545501" y="4543069"/>
              <a:ext cx="1794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Page faults: 0</a:t>
              </a:r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2017713" y="234950"/>
            <a:ext cx="10428287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First-In-First-Out (FIFO) Algorithm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1BC3E7-0362-6549-AE65-310C7D7759E6}" type="slidenum">
              <a:rPr lang="en-US"/>
              <a:pPr>
                <a:defRPr/>
              </a:pPr>
              <a:t>40</a:t>
            </a:fld>
            <a:endParaRPr lang="en-US"/>
          </a:p>
        </p:txBody>
      </p:sp>
      <p:pic>
        <p:nvPicPr>
          <p:cNvPr id="73733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025"/>
          <a:stretch/>
        </p:blipFill>
        <p:spPr bwMode="auto">
          <a:xfrm>
            <a:off x="1116807" y="3188110"/>
            <a:ext cx="7102475" cy="723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933814" y="4543070"/>
            <a:ext cx="3715120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Page needed: 0</a:t>
            </a:r>
          </a:p>
          <a:p>
            <a:br>
              <a:rPr lang="en-US" dirty="0"/>
            </a:br>
            <a:r>
              <a:rPr lang="en-US" dirty="0"/>
              <a:t>Status of frames:</a:t>
            </a:r>
          </a:p>
          <a:p>
            <a:endParaRPr lang="en-US" dirty="0"/>
          </a:p>
          <a:p>
            <a:r>
              <a:rPr lang="en-US" dirty="0"/>
              <a:t>Is it there? NO</a:t>
            </a:r>
          </a:p>
          <a:p>
            <a:endParaRPr lang="en-US" dirty="0"/>
          </a:p>
          <a:p>
            <a:r>
              <a:rPr lang="en-US" dirty="0"/>
              <a:t>Do we have a free frame? YES</a:t>
            </a:r>
          </a:p>
          <a:p>
            <a:endParaRPr lang="en-US" dirty="0"/>
          </a:p>
          <a:p>
            <a:r>
              <a:rPr lang="en-US" dirty="0"/>
              <a:t>If YES, load the page</a:t>
            </a:r>
          </a:p>
          <a:p>
            <a:endParaRPr lang="en-US" dirty="0"/>
          </a:p>
          <a:p>
            <a:r>
              <a:rPr lang="en-US" dirty="0"/>
              <a:t>+1 page fault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5225498" y="5026439"/>
            <a:ext cx="1311966" cy="437322"/>
            <a:chOff x="5446643" y="5022574"/>
            <a:chExt cx="1311966" cy="437322"/>
          </a:xfrm>
        </p:grpSpPr>
        <p:sp>
          <p:nvSpPr>
            <p:cNvPr id="7" name="Rectangle 6"/>
            <p:cNvSpPr/>
            <p:nvPr/>
          </p:nvSpPr>
          <p:spPr>
            <a:xfrm>
              <a:off x="5446643" y="5022574"/>
              <a:ext cx="437322" cy="43732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883965" y="5022574"/>
              <a:ext cx="437322" cy="43732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321287" y="5022574"/>
              <a:ext cx="437322" cy="43732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3"/>
          <p:cNvSpPr txBox="1">
            <a:spLocks noChangeArrowheads="1"/>
          </p:cNvSpPr>
          <p:nvPr/>
        </p:nvSpPr>
        <p:spPr bwMode="auto">
          <a:xfrm>
            <a:off x="516835" y="1403350"/>
            <a:ext cx="13199165" cy="768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257175" indent="-257175" algn="l" defTabSz="1028700" rtl="0" eaLnBrk="0" fontAlgn="base" hangingPunct="0">
              <a:lnSpc>
                <a:spcPct val="90000"/>
              </a:lnSpc>
              <a:spcBef>
                <a:spcPts val="1125"/>
              </a:spcBef>
              <a:spcAft>
                <a:spcPct val="0"/>
              </a:spcAft>
              <a:buFont typeface="Arial" charset="0"/>
              <a:buChar char="•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7152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587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022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1457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2892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327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762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197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/>
              <a:t>If all frames are used, free the one containing the page loaded more time ago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/>
              <a:t>Reference string: </a:t>
            </a:r>
            <a:r>
              <a:rPr lang="en-US" altLang="en-US" sz="3150" b="1">
                <a:solidFill>
                  <a:srgbClr val="FF0000"/>
                </a:solidFill>
              </a:rPr>
              <a:t>7,0,1,2,0,3,0,4,2,3,0,3,0,3,2,1,2,0,1,7,0,1</a:t>
            </a:r>
            <a:endParaRPr lang="en-US" altLang="en-US" sz="315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/>
              <a:t>3 frames (3 pages can be in memory at a time per process)</a:t>
            </a:r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3150"/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3150"/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br>
              <a:rPr lang="en-US" altLang="en-US" sz="3150"/>
            </a:br>
            <a:endParaRPr lang="en-US" altLang="en-US" sz="3150"/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1067" dirty="0"/>
          </a:p>
        </p:txBody>
      </p:sp>
      <p:sp>
        <p:nvSpPr>
          <p:cNvPr id="16" name="TextBox 15"/>
          <p:cNvSpPr txBox="1"/>
          <p:nvPr/>
        </p:nvSpPr>
        <p:spPr>
          <a:xfrm>
            <a:off x="7545501" y="4543069"/>
            <a:ext cx="1794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Page faults: 1</a:t>
            </a:r>
          </a:p>
        </p:txBody>
      </p:sp>
    </p:spTree>
    <p:extLst>
      <p:ext uri="{BB962C8B-B14F-4D97-AF65-F5344CB8AC3E}">
        <p14:creationId xmlns:p14="http://schemas.microsoft.com/office/powerpoint/2010/main" val="14680064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2017713" y="234950"/>
            <a:ext cx="10428287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First-In-First-Out (FIFO) Algorithm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1BC3E7-0362-6549-AE65-310C7D7759E6}" type="slidenum">
              <a:rPr lang="en-US"/>
              <a:pPr>
                <a:defRPr/>
              </a:pPr>
              <a:t>41</a:t>
            </a:fld>
            <a:endParaRPr lang="en-US"/>
          </a:p>
        </p:txBody>
      </p:sp>
      <p:pic>
        <p:nvPicPr>
          <p:cNvPr id="73733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025"/>
          <a:stretch/>
        </p:blipFill>
        <p:spPr bwMode="auto">
          <a:xfrm>
            <a:off x="1116807" y="3188110"/>
            <a:ext cx="7102475" cy="723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933814" y="4543070"/>
            <a:ext cx="3715120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Page needed: 1</a:t>
            </a:r>
          </a:p>
          <a:p>
            <a:br>
              <a:rPr lang="en-US" dirty="0"/>
            </a:br>
            <a:r>
              <a:rPr lang="en-US" dirty="0"/>
              <a:t>Status of frames:</a:t>
            </a:r>
          </a:p>
          <a:p>
            <a:endParaRPr lang="en-US" dirty="0"/>
          </a:p>
          <a:p>
            <a:r>
              <a:rPr lang="en-US" dirty="0"/>
              <a:t>Is it there? NO</a:t>
            </a:r>
          </a:p>
          <a:p>
            <a:endParaRPr lang="en-US" dirty="0"/>
          </a:p>
          <a:p>
            <a:r>
              <a:rPr lang="en-US" dirty="0"/>
              <a:t>Do we have a free frame? YES</a:t>
            </a:r>
          </a:p>
          <a:p>
            <a:endParaRPr lang="en-US" dirty="0"/>
          </a:p>
          <a:p>
            <a:r>
              <a:rPr lang="en-US" dirty="0"/>
              <a:t>If YES, load the page</a:t>
            </a:r>
          </a:p>
          <a:p>
            <a:endParaRPr lang="en-US" dirty="0"/>
          </a:p>
          <a:p>
            <a:r>
              <a:rPr lang="en-US" dirty="0"/>
              <a:t>+1 page fault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5225498" y="5026439"/>
            <a:ext cx="1311966" cy="437322"/>
            <a:chOff x="5446643" y="5022574"/>
            <a:chExt cx="1311966" cy="437322"/>
          </a:xfrm>
        </p:grpSpPr>
        <p:sp>
          <p:nvSpPr>
            <p:cNvPr id="7" name="Rectangle 6"/>
            <p:cNvSpPr/>
            <p:nvPr/>
          </p:nvSpPr>
          <p:spPr>
            <a:xfrm>
              <a:off x="5446643" y="5022574"/>
              <a:ext cx="437322" cy="43732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883965" y="5022574"/>
              <a:ext cx="437322" cy="43732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321287" y="5022574"/>
              <a:ext cx="437322" cy="43732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516835" y="1403350"/>
            <a:ext cx="13199165" cy="768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257175" indent="-257175" algn="l" defTabSz="1028700" rtl="0" eaLnBrk="0" fontAlgn="base" hangingPunct="0">
              <a:lnSpc>
                <a:spcPct val="90000"/>
              </a:lnSpc>
              <a:spcBef>
                <a:spcPts val="1125"/>
              </a:spcBef>
              <a:spcAft>
                <a:spcPct val="0"/>
              </a:spcAft>
              <a:buFont typeface="Arial" charset="0"/>
              <a:buChar char="•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7152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587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022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1457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2892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327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762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197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/>
              <a:t>If all frames are used, free the one containing the page loaded more time ago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/>
              <a:t>Reference string: </a:t>
            </a:r>
            <a:r>
              <a:rPr lang="en-US" altLang="en-US" sz="3150" b="1">
                <a:solidFill>
                  <a:srgbClr val="FF0000"/>
                </a:solidFill>
              </a:rPr>
              <a:t>7,0,1,2,0,3,0,4,2,3,0,3,0,3,2,1,2,0,1,7,0,1</a:t>
            </a:r>
            <a:endParaRPr lang="en-US" altLang="en-US" sz="315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/>
              <a:t>3 frames (3 pages can be in memory at a time per process)</a:t>
            </a:r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3150"/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3150"/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br>
              <a:rPr lang="en-US" altLang="en-US" sz="3150"/>
            </a:br>
            <a:endParaRPr lang="en-US" altLang="en-US" sz="3150"/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1067" dirty="0"/>
          </a:p>
        </p:txBody>
      </p:sp>
      <p:sp>
        <p:nvSpPr>
          <p:cNvPr id="15" name="TextBox 14"/>
          <p:cNvSpPr txBox="1"/>
          <p:nvPr/>
        </p:nvSpPr>
        <p:spPr>
          <a:xfrm>
            <a:off x="7545501" y="4543069"/>
            <a:ext cx="1794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Page faults: 2</a:t>
            </a:r>
          </a:p>
        </p:txBody>
      </p:sp>
    </p:spTree>
    <p:extLst>
      <p:ext uri="{BB962C8B-B14F-4D97-AF65-F5344CB8AC3E}">
        <p14:creationId xmlns:p14="http://schemas.microsoft.com/office/powerpoint/2010/main" val="2153465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/>
          <p:cNvSpPr txBox="1">
            <a:spLocks noChangeArrowheads="1"/>
          </p:cNvSpPr>
          <p:nvPr/>
        </p:nvSpPr>
        <p:spPr bwMode="auto">
          <a:xfrm>
            <a:off x="516835" y="1403350"/>
            <a:ext cx="13199165" cy="768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257175" indent="-257175" algn="l" defTabSz="1028700" rtl="0" eaLnBrk="0" fontAlgn="base" hangingPunct="0">
              <a:lnSpc>
                <a:spcPct val="90000"/>
              </a:lnSpc>
              <a:spcBef>
                <a:spcPts val="1125"/>
              </a:spcBef>
              <a:spcAft>
                <a:spcPct val="0"/>
              </a:spcAft>
              <a:buFont typeface="Arial" charset="0"/>
              <a:buChar char="•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7152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587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022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1457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2892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327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762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197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If all frames are used, free the one containing the page loaded more time ago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Reference string: </a:t>
            </a:r>
            <a:r>
              <a:rPr lang="en-US" altLang="en-US" sz="3150" b="1" dirty="0">
                <a:solidFill>
                  <a:srgbClr val="FF0000"/>
                </a:solidFill>
              </a:rPr>
              <a:t>7,0,1,2,0,3,0,4,2,3,0,3,0,3,2,1,2,0,1,7,0,1</a:t>
            </a: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3 frames (3 pages can be in memory at a time per process)</a:t>
            </a:r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br>
              <a:rPr lang="en-US" altLang="en-US" sz="3150" dirty="0"/>
            </a:b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1067" dirty="0"/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2017713" y="234950"/>
            <a:ext cx="10428287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First-In-First-Out (FIFO) Algorithm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1BC3E7-0362-6549-AE65-310C7D7759E6}" type="slidenum">
              <a:rPr lang="en-US"/>
              <a:pPr>
                <a:defRPr/>
              </a:pPr>
              <a:t>42</a:t>
            </a:fld>
            <a:endParaRPr lang="en-US"/>
          </a:p>
        </p:txBody>
      </p:sp>
      <p:pic>
        <p:nvPicPr>
          <p:cNvPr id="73733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025"/>
          <a:stretch/>
        </p:blipFill>
        <p:spPr bwMode="auto">
          <a:xfrm>
            <a:off x="1116807" y="3188110"/>
            <a:ext cx="7102475" cy="723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933814" y="4543070"/>
            <a:ext cx="6288901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Page needed: 2</a:t>
            </a:r>
          </a:p>
          <a:p>
            <a:br>
              <a:rPr lang="en-US" dirty="0"/>
            </a:br>
            <a:r>
              <a:rPr lang="en-US" dirty="0"/>
              <a:t>Status of frames:</a:t>
            </a:r>
          </a:p>
          <a:p>
            <a:endParaRPr lang="en-US" dirty="0"/>
          </a:p>
          <a:p>
            <a:r>
              <a:rPr lang="en-US" dirty="0"/>
              <a:t>Is it there? NO</a:t>
            </a:r>
          </a:p>
          <a:p>
            <a:endParaRPr lang="en-US" dirty="0"/>
          </a:p>
          <a:p>
            <a:r>
              <a:rPr lang="en-US" dirty="0"/>
              <a:t>Do we have a free frame? NO</a:t>
            </a:r>
          </a:p>
          <a:p>
            <a:endParaRPr lang="en-US" dirty="0"/>
          </a:p>
          <a:p>
            <a:r>
              <a:rPr lang="en-US" dirty="0"/>
              <a:t>If NO, substitute the page loaded more time ago (7)</a:t>
            </a:r>
          </a:p>
          <a:p>
            <a:endParaRPr lang="en-US" dirty="0"/>
          </a:p>
          <a:p>
            <a:r>
              <a:rPr lang="en-US" dirty="0"/>
              <a:t>+1 page fault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5225498" y="5026439"/>
            <a:ext cx="1311966" cy="437322"/>
            <a:chOff x="5446643" y="5022574"/>
            <a:chExt cx="1311966" cy="437322"/>
          </a:xfrm>
        </p:grpSpPr>
        <p:sp>
          <p:nvSpPr>
            <p:cNvPr id="7" name="Rectangle 6"/>
            <p:cNvSpPr/>
            <p:nvPr/>
          </p:nvSpPr>
          <p:spPr>
            <a:xfrm>
              <a:off x="5446643" y="5022574"/>
              <a:ext cx="437322" cy="43732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883965" y="5022574"/>
              <a:ext cx="437322" cy="43732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321287" y="5022574"/>
              <a:ext cx="437322" cy="43732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7545501" y="4543069"/>
            <a:ext cx="1794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Page faults: 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750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/>
          <p:cNvSpPr txBox="1">
            <a:spLocks noChangeArrowheads="1"/>
          </p:cNvSpPr>
          <p:nvPr/>
        </p:nvSpPr>
        <p:spPr bwMode="auto">
          <a:xfrm>
            <a:off x="516835" y="1403350"/>
            <a:ext cx="13199165" cy="768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257175" indent="-257175" algn="l" defTabSz="1028700" rtl="0" eaLnBrk="0" fontAlgn="base" hangingPunct="0">
              <a:lnSpc>
                <a:spcPct val="90000"/>
              </a:lnSpc>
              <a:spcBef>
                <a:spcPts val="1125"/>
              </a:spcBef>
              <a:spcAft>
                <a:spcPct val="0"/>
              </a:spcAft>
              <a:buFont typeface="Arial" charset="0"/>
              <a:buChar char="•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7152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587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022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1457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2892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327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762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197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If all frames are used, free the one containing the page loaded more time ago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Reference string: </a:t>
            </a:r>
            <a:r>
              <a:rPr lang="en-US" altLang="en-US" sz="3150" b="1" dirty="0">
                <a:solidFill>
                  <a:srgbClr val="FF0000"/>
                </a:solidFill>
              </a:rPr>
              <a:t>7,0,1,2,0,3,0,4,2,3,0,3,0,3,2,1,2,0,1,7,0,1</a:t>
            </a: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3 frames (3 pages can be in memory at a time per process)</a:t>
            </a:r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br>
              <a:rPr lang="en-US" altLang="en-US" sz="3150" dirty="0"/>
            </a:b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1067" dirty="0"/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2017713" y="234950"/>
            <a:ext cx="10428287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First-In-First-Out (FIFO) Algorithm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1BC3E7-0362-6549-AE65-310C7D7759E6}" type="slidenum">
              <a:rPr lang="en-US"/>
              <a:pPr>
                <a:defRPr/>
              </a:pPr>
              <a:t>43</a:t>
            </a:fld>
            <a:endParaRPr lang="en-US"/>
          </a:p>
        </p:txBody>
      </p:sp>
      <p:pic>
        <p:nvPicPr>
          <p:cNvPr id="73733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025"/>
          <a:stretch/>
        </p:blipFill>
        <p:spPr bwMode="auto">
          <a:xfrm>
            <a:off x="1116807" y="3188110"/>
            <a:ext cx="7102475" cy="723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933814" y="4543070"/>
            <a:ext cx="221336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Page needed: 0</a:t>
            </a:r>
          </a:p>
          <a:p>
            <a:br>
              <a:rPr lang="en-US" dirty="0"/>
            </a:br>
            <a:r>
              <a:rPr lang="en-US" dirty="0"/>
              <a:t>Status of frames:</a:t>
            </a:r>
          </a:p>
          <a:p>
            <a:endParaRPr lang="en-US" dirty="0"/>
          </a:p>
          <a:p>
            <a:r>
              <a:rPr lang="en-US" dirty="0"/>
              <a:t>Is it there? YES</a:t>
            </a:r>
          </a:p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5225498" y="5026439"/>
            <a:ext cx="1311966" cy="437322"/>
            <a:chOff x="5446643" y="5022574"/>
            <a:chExt cx="1311966" cy="437322"/>
          </a:xfrm>
        </p:grpSpPr>
        <p:sp>
          <p:nvSpPr>
            <p:cNvPr id="7" name="Rectangle 6"/>
            <p:cNvSpPr/>
            <p:nvPr/>
          </p:nvSpPr>
          <p:spPr>
            <a:xfrm>
              <a:off x="5446643" y="5022574"/>
              <a:ext cx="437322" cy="43732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883965" y="5022574"/>
              <a:ext cx="437322" cy="43732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321287" y="5022574"/>
              <a:ext cx="437322" cy="43732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7545501" y="4543069"/>
            <a:ext cx="1794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Page faults: 4</a:t>
            </a:r>
          </a:p>
        </p:txBody>
      </p:sp>
    </p:spTree>
    <p:extLst>
      <p:ext uri="{BB962C8B-B14F-4D97-AF65-F5344CB8AC3E}">
        <p14:creationId xmlns:p14="http://schemas.microsoft.com/office/powerpoint/2010/main" val="19909026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2017713" y="234950"/>
            <a:ext cx="10428287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First-In-First-Out (FIFO) Algorithm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3263" y="1403350"/>
            <a:ext cx="9710737" cy="76835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Reference string: </a:t>
            </a:r>
            <a:r>
              <a:rPr lang="en-US" altLang="en-US" sz="3150" b="1" dirty="0">
                <a:solidFill>
                  <a:srgbClr val="FF0000"/>
                </a:solidFill>
              </a:rPr>
              <a:t>7,0,1,2,0,3,0,4,2,3,0,3,0,3,2,1,2,0,1,7,0,1</a:t>
            </a: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3 frames (3 pages can be in memory at a time per process)</a:t>
            </a:r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br>
              <a:rPr lang="en-US" altLang="en-US" sz="3150" dirty="0"/>
            </a:b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1067" dirty="0"/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1067" dirty="0"/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Can vary by reference string: consider 1,2,3,4,1,2,5,1,2,3,4,5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Adding more frames can cause more page faults!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750" b="1" dirty="0" err="1">
                <a:solidFill>
                  <a:srgbClr val="3366FF"/>
                </a:solidFill>
              </a:rPr>
              <a:t>Belady</a:t>
            </a:r>
            <a:r>
              <a:rPr lang="ja-JP" altLang="en-US" sz="2750" b="1" dirty="0">
                <a:solidFill>
                  <a:srgbClr val="3366FF"/>
                </a:solidFill>
              </a:rPr>
              <a:t>’</a:t>
            </a:r>
            <a:r>
              <a:rPr lang="en-US" altLang="ja-JP" sz="2750" b="1" dirty="0">
                <a:solidFill>
                  <a:srgbClr val="3366FF"/>
                </a:solidFill>
              </a:rPr>
              <a:t>s Anomaly</a:t>
            </a:r>
            <a:endParaRPr lang="en-US" altLang="en-US" sz="1567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How to track ages of pages? 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Just use a FIFO queue</a:t>
            </a:r>
          </a:p>
        </p:txBody>
      </p:sp>
      <p:sp>
        <p:nvSpPr>
          <p:cNvPr id="73732" name="Text Box 16"/>
          <p:cNvSpPr txBox="1">
            <a:spLocks noChangeArrowheads="1"/>
          </p:cNvSpPr>
          <p:nvPr/>
        </p:nvSpPr>
        <p:spPr bwMode="auto">
          <a:xfrm>
            <a:off x="2781300" y="4775200"/>
            <a:ext cx="16954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3" tIns="60957" rIns="121913" bIns="60957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charset="0"/>
              </a:rPr>
              <a:t>15 page faults</a:t>
            </a:r>
          </a:p>
        </p:txBody>
      </p:sp>
      <p:pic>
        <p:nvPicPr>
          <p:cNvPr id="73733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8313" y="2471738"/>
            <a:ext cx="7102475" cy="226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1BC3E7-0362-6549-AE65-310C7D7759E6}" type="slidenum">
              <a:rPr lang="en-US"/>
              <a:pPr>
                <a:defRPr/>
              </a:pPr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7385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2319338" y="285750"/>
            <a:ext cx="10312400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FIFO Illustrating Belady</a:t>
            </a:r>
            <a:r>
              <a:rPr lang="ja-JP" altLang="en-US" sz="4950"/>
              <a:t>’</a:t>
            </a:r>
            <a:r>
              <a:rPr lang="en-US" altLang="ja-JP" sz="4950"/>
              <a:t>s Anomaly</a:t>
            </a:r>
            <a:endParaRPr lang="en-US" altLang="en-US" sz="4950"/>
          </a:p>
        </p:txBody>
      </p:sp>
      <p:pic>
        <p:nvPicPr>
          <p:cNvPr id="75779" name="Picture 1" descr="9_13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0050" y="1738313"/>
            <a:ext cx="7569200" cy="541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9F9D56-C445-6C4A-9FE8-643641477E7E}" type="slidenum">
              <a:rPr lang="en-US"/>
              <a:pPr>
                <a:defRPr/>
              </a:pPr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1760538" y="184150"/>
            <a:ext cx="10583862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Optimal Algorithm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55800" y="1492250"/>
            <a:ext cx="10972800" cy="604043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518770" algn="l"/>
              </a:tabLst>
              <a:defRPr/>
            </a:pPr>
            <a:r>
              <a:rPr lang="en-US" altLang="en-US" sz="3150" dirty="0"/>
              <a:t>Replace page that will not be used for longest period of time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518770" algn="l"/>
              </a:tabLst>
              <a:defRPr/>
            </a:pPr>
            <a:r>
              <a:rPr lang="en-US" altLang="en-US" dirty="0"/>
              <a:t>9 is optimal for the example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518770" algn="l"/>
              </a:tabLst>
              <a:defRPr/>
            </a:pPr>
            <a:r>
              <a:rPr lang="en-US" altLang="en-US" sz="3150" dirty="0"/>
              <a:t>How do you know this?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518770" algn="l"/>
              </a:tabLst>
              <a:defRPr/>
            </a:pPr>
            <a:r>
              <a:rPr lang="en-US" altLang="en-US" dirty="0"/>
              <a:t>Can</a:t>
            </a:r>
            <a:r>
              <a:rPr lang="ja-JP" altLang="en-US" dirty="0"/>
              <a:t>’</a:t>
            </a:r>
            <a:r>
              <a:rPr lang="en-US" altLang="ja-JP" dirty="0"/>
              <a:t>t read the future</a:t>
            </a:r>
            <a:endParaRPr lang="en-US" altLang="en-US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518770" algn="l"/>
              </a:tabLst>
              <a:defRPr/>
            </a:pPr>
            <a:r>
              <a:rPr lang="en-US" altLang="en-US" sz="3150" dirty="0"/>
              <a:t>Used for measuring how well your algorithm performs</a:t>
            </a:r>
          </a:p>
        </p:txBody>
      </p:sp>
      <p:pic>
        <p:nvPicPr>
          <p:cNvPr id="77828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3063" y="4211638"/>
            <a:ext cx="8345487" cy="280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97F3CA-D421-3540-8328-57189D8D4764}" type="slidenum">
              <a:rPr lang="en-US"/>
              <a:pPr>
                <a:defRPr/>
              </a:pPr>
              <a:t>46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2586038" y="217488"/>
            <a:ext cx="10233025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 dirty="0"/>
              <a:t>Least Recently Used (LRU) Algorithm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47863" y="969963"/>
            <a:ext cx="9939337" cy="6446837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Use past knowledge rather than future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Replace page that has not been used in the most amount of time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Associate time of last use with each page</a:t>
            </a:r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sz="3150" dirty="0"/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12 faults – better than FIFO but worse than OPT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Generally good algorithm and frequently used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But how to implement?</a:t>
            </a:r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3150" dirty="0"/>
          </a:p>
        </p:txBody>
      </p:sp>
      <p:pic>
        <p:nvPicPr>
          <p:cNvPr id="79876" name="Picture 4" descr="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5588" y="3151188"/>
            <a:ext cx="9204325" cy="2513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10FBDB-DDD2-1C46-A5FB-43D13FFFA249}" type="slidenum">
              <a:rPr lang="en-US"/>
              <a:pPr>
                <a:defRPr/>
              </a:pPr>
              <a:t>47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234950"/>
            <a:ext cx="10972800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LRU Algorithm (Cont.)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55800" y="1268413"/>
            <a:ext cx="10388600" cy="699452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Counter implementation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Every page entry has a counter; every time page is referenced through this entry, copy the clock into the counter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When a page needs to be changed, look at the counters to find smallest value</a:t>
            </a:r>
          </a:p>
          <a:p>
            <a:pPr lvl="2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250" dirty="0"/>
              <a:t>Search through table needed</a:t>
            </a:r>
          </a:p>
          <a:p>
            <a:pPr lvl="2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sz="2250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Stack implementation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Keep a stack of page numbers in a double link form: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Page referenced </a:t>
            </a:r>
            <a:r>
              <a:rPr lang="en-US" altLang="en-US" dirty="0">
                <a:sym typeface="Wingdings"/>
              </a:rPr>
              <a:t> </a:t>
            </a:r>
            <a:r>
              <a:rPr lang="en-US" altLang="en-US" dirty="0"/>
              <a:t>move it to the top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Each update more expensive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No search for replacement (page to replace at the bottom of the stack)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14E29A-B1F3-C140-9F83-264A2997A67D}" type="slidenum">
              <a:rPr lang="en-US"/>
              <a:pPr>
                <a:defRPr/>
              </a:pPr>
              <a:t>48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2446338" y="138113"/>
            <a:ext cx="10169525" cy="76835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667"/>
              <a:t>Use Of A Stack to Record Most Recent Page References</a:t>
            </a:r>
          </a:p>
        </p:txBody>
      </p:sp>
      <p:pic>
        <p:nvPicPr>
          <p:cNvPr id="83971" name="Picture 1" descr="9_16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2188" y="1522413"/>
            <a:ext cx="6270625" cy="489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AD3B1A-FEEF-0949-B92C-BA270A3346A4}" type="slidenum">
              <a:rPr lang="en-US"/>
              <a:pPr>
                <a:defRPr/>
              </a:pPr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01613"/>
            <a:ext cx="10363200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LRU Approximation Algorithms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7550" y="1309688"/>
            <a:ext cx="9828213" cy="6862762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LRU needs special hardware and still slow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b="1" dirty="0">
                <a:solidFill>
                  <a:srgbClr val="3366FF"/>
                </a:solidFill>
              </a:rPr>
              <a:t>Reference bit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With each page associate a bit, initially = 0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When page is referenced bit set to 1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Replace any with reference bit = 0 (if one exists)</a:t>
            </a:r>
          </a:p>
          <a:p>
            <a:pPr lvl="2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250" dirty="0"/>
              <a:t>We do not know the order, however</a:t>
            </a:r>
            <a:endParaRPr lang="en-US" altLang="en-US" sz="1067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b="1" dirty="0">
                <a:solidFill>
                  <a:srgbClr val="3366FF"/>
                </a:solidFill>
              </a:rPr>
              <a:t>Second-chance algorithm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Generally FIFO, plus hardware-provided reference bit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b="1" dirty="0">
                <a:solidFill>
                  <a:srgbClr val="3366FF"/>
                </a:solidFill>
              </a:rPr>
              <a:t>Clock</a:t>
            </a:r>
            <a:r>
              <a:rPr lang="en-US" altLang="en-US" dirty="0"/>
              <a:t> replacement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If page to be replaced has </a:t>
            </a:r>
          </a:p>
          <a:p>
            <a:pPr lvl="2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250" dirty="0"/>
              <a:t>Reference bit = 0 -&gt; replace it</a:t>
            </a:r>
          </a:p>
          <a:p>
            <a:pPr lvl="2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250" dirty="0"/>
              <a:t>reference bit = 1 then:</a:t>
            </a:r>
          </a:p>
          <a:p>
            <a:pPr lvl="3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025" dirty="0"/>
              <a:t>set reference bit 0, leave page in memory</a:t>
            </a:r>
          </a:p>
          <a:p>
            <a:pPr lvl="3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025" dirty="0"/>
              <a:t>replace next page, subject to same rules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FF0A5E-0686-A94A-BD39-BBC43583FEBD}" type="slidenum">
              <a:rPr lang="en-US"/>
              <a:pPr>
                <a:defRPr/>
              </a:pPr>
              <a:t>50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1998663" y="236538"/>
            <a:ext cx="10680700" cy="61912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667"/>
              <a:t>Second-Chance (clock) Page-Replacement Algorithm</a:t>
            </a:r>
          </a:p>
        </p:txBody>
      </p:sp>
      <p:pic>
        <p:nvPicPr>
          <p:cNvPr id="88067" name="Picture 1" descr="9_17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2838" y="1455738"/>
            <a:ext cx="5870575" cy="592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5B0B06-78D7-0841-94D8-5914B6DE0C4F}" type="slidenum">
              <a:rPr lang="en-US"/>
              <a:pPr>
                <a:defRPr/>
              </a:pPr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950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Recap / Introduction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Demand Paging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Copy-on-Write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Page Replacement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/>
              <a:t>Allocation of Frames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Thrashing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Memory-Mapped files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200" dirty="0">
                <a:solidFill>
                  <a:schemeClr val="bg1">
                    <a:lumMod val="65000"/>
                  </a:schemeClr>
                </a:solidFill>
              </a:rPr>
              <a:t>[Self-reading]</a:t>
            </a:r>
            <a:endParaRPr lang="en-US" sz="315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353AE3-85E3-8F42-BBCD-9142EDC88E54}" type="slidenum">
              <a:rPr lang="en-US"/>
              <a:pPr>
                <a:defRPr/>
              </a:pPr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351693" y="252413"/>
            <a:ext cx="12421332" cy="768350"/>
          </a:xfrm>
        </p:spPr>
        <p:txBody>
          <a:bodyPr rtlCol="0"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en-US" sz="5400"/>
              <a:t>Page and Frame Replacement Algorithms</a:t>
            </a:r>
            <a:endParaRPr lang="en-US" altLang="en-US" sz="495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8636BE-D784-0D42-9655-8FF5DE1AD1B9}" type="slidenum">
              <a:rPr lang="en-US"/>
              <a:pPr>
                <a:defRPr/>
              </a:pPr>
              <a:t>53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747" y="1850711"/>
            <a:ext cx="1228725" cy="1228725"/>
          </a:xfrm>
          <a:prstGeom prst="rect">
            <a:avLst/>
          </a:prstGeom>
        </p:spPr>
      </p:pic>
      <p:sp>
        <p:nvSpPr>
          <p:cNvPr id="9" name="Content Placeholder 2"/>
          <p:cNvSpPr txBox="1">
            <a:spLocks/>
          </p:cNvSpPr>
          <p:nvPr/>
        </p:nvSpPr>
        <p:spPr>
          <a:xfrm>
            <a:off x="1469991" y="2076393"/>
            <a:ext cx="4785036" cy="611345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2800" i="1" dirty="0"/>
              <a:t>What to do now?</a:t>
            </a:r>
          </a:p>
          <a:p>
            <a:pPr fontAlgn="auto">
              <a:spcAft>
                <a:spcPts val="0"/>
              </a:spcAft>
            </a:pPr>
            <a:r>
              <a:rPr lang="en-US" sz="2800" i="1" dirty="0"/>
              <a:t>Can we replace an existing page?</a:t>
            </a:r>
          </a:p>
          <a:p>
            <a:pPr fontAlgn="auto">
              <a:spcAft>
                <a:spcPts val="0"/>
              </a:spcAft>
            </a:pPr>
            <a:r>
              <a:rPr lang="en-US" sz="2800" i="1" dirty="0"/>
              <a:t>Should it be from process 1 or can it also be from process 2?</a:t>
            </a:r>
          </a:p>
          <a:p>
            <a:pPr fontAlgn="auto">
              <a:spcAft>
                <a:spcPts val="0"/>
              </a:spcAft>
            </a:pPr>
            <a:r>
              <a:rPr lang="en-US" sz="2800" i="1" dirty="0"/>
              <a:t>Is there any page that is faster to swap out than others?</a:t>
            </a:r>
          </a:p>
          <a:p>
            <a:pPr fontAlgn="auto">
              <a:spcAft>
                <a:spcPts val="0"/>
              </a:spcAft>
            </a:pPr>
            <a:r>
              <a:rPr lang="en-US" sz="2800" i="1" dirty="0"/>
              <a:t>Is there any page that has lower probability of being needed later on?</a:t>
            </a:r>
          </a:p>
          <a:p>
            <a:pPr fontAlgn="auto">
              <a:spcAft>
                <a:spcPts val="0"/>
              </a:spcAft>
            </a:pPr>
            <a:r>
              <a:rPr lang="en-US" sz="2800" i="1" dirty="0"/>
              <a:t>Could have we prevented this situation?</a:t>
            </a:r>
          </a:p>
          <a:p>
            <a:pPr fontAlgn="auto">
              <a:spcAft>
                <a:spcPts val="0"/>
              </a:spcAft>
            </a:pPr>
            <a:r>
              <a:rPr lang="en-US" sz="2800" i="1" dirty="0"/>
              <a:t>How many page should we have allocate to the OS and to processes 1 and 2 to prevent this?</a:t>
            </a:r>
          </a:p>
          <a:p>
            <a:pPr fontAlgn="auto">
              <a:spcAft>
                <a:spcPts val="0"/>
              </a:spcAft>
            </a:pPr>
            <a:r>
              <a:rPr lang="en-US" sz="2800" i="1" dirty="0"/>
              <a:t>…</a:t>
            </a:r>
          </a:p>
        </p:txBody>
      </p:sp>
      <p:sp>
        <p:nvSpPr>
          <p:cNvPr id="5" name="Right Brace 4"/>
          <p:cNvSpPr/>
          <p:nvPr/>
        </p:nvSpPr>
        <p:spPr>
          <a:xfrm>
            <a:off x="6115879" y="1739969"/>
            <a:ext cx="278295" cy="6016487"/>
          </a:xfrm>
          <a:prstGeom prst="rightBrac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6562359" y="3233530"/>
            <a:ext cx="1614232" cy="1514682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rot="5400000" flipV="1">
            <a:off x="6512584" y="4797987"/>
            <a:ext cx="1614232" cy="1514682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45227" y="2617977"/>
            <a:ext cx="514639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Aft>
                <a:spcPts val="0"/>
              </a:spcAft>
              <a:tabLst>
                <a:tab pos="4193013" algn="ctr"/>
              </a:tabLst>
              <a:defRPr/>
            </a:pPr>
            <a:r>
              <a:rPr lang="en-US" altLang="en-US" sz="2000" b="1" dirty="0">
                <a:solidFill>
                  <a:srgbClr val="3366FF"/>
                </a:solidFill>
              </a:rPr>
              <a:t>Frame-allocation algorithm </a:t>
            </a:r>
            <a:br>
              <a:rPr lang="en-US" altLang="en-US" sz="2000" b="1" dirty="0">
                <a:solidFill>
                  <a:srgbClr val="3366FF"/>
                </a:solidFill>
              </a:rPr>
            </a:br>
            <a:r>
              <a:rPr lang="en-US" altLang="en-US" dirty="0"/>
              <a:t>determines how many frames to give each process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45227" y="6033145"/>
            <a:ext cx="4702147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Aft>
                <a:spcPts val="0"/>
              </a:spcAft>
              <a:tabLst>
                <a:tab pos="4193013" algn="ctr"/>
              </a:tabLst>
              <a:defRPr/>
            </a:pPr>
            <a:r>
              <a:rPr lang="en-US" altLang="en-US" sz="2000" b="1" dirty="0">
                <a:solidFill>
                  <a:srgbClr val="3366FF"/>
                </a:solidFill>
              </a:rPr>
              <a:t>Page-replacement algorithm</a:t>
            </a:r>
            <a:br>
              <a:rPr lang="en-US" altLang="en-US" sz="3150" b="1" dirty="0">
                <a:solidFill>
                  <a:srgbClr val="3366FF"/>
                </a:solidFill>
              </a:rPr>
            </a:br>
            <a:r>
              <a:rPr lang="en-US" altLang="en-US" dirty="0"/>
              <a:t>Which page to replace? </a:t>
            </a:r>
            <a:r>
              <a:rPr lang="en-US" altLang="en-US"/>
              <a:t>Want </a:t>
            </a:r>
            <a:r>
              <a:rPr lang="en-US" altLang="en-US" dirty="0"/>
              <a:t>lowest page-fault rate on both first access and re-access</a:t>
            </a:r>
          </a:p>
        </p:txBody>
      </p:sp>
      <p:sp>
        <p:nvSpPr>
          <p:cNvPr id="13" name="Oval 12"/>
          <p:cNvSpPr/>
          <p:nvPr/>
        </p:nvSpPr>
        <p:spPr>
          <a:xfrm>
            <a:off x="7593496" y="2076393"/>
            <a:ext cx="5798130" cy="2243816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61604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1839913" y="217488"/>
            <a:ext cx="10504487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Allocation of Frames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49450" y="1493838"/>
            <a:ext cx="9802813" cy="597852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Each process needs </a:t>
            </a:r>
            <a:r>
              <a:rPr lang="en-US" altLang="en-US" sz="3150" b="1" i="1" dirty="0"/>
              <a:t>minimum</a:t>
            </a:r>
            <a:r>
              <a:rPr lang="en-US" altLang="en-US" sz="3150" dirty="0"/>
              <a:t> number of frames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sz="3150" b="1" i="1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b="1" i="1" dirty="0"/>
              <a:t>Maximum</a:t>
            </a:r>
            <a:r>
              <a:rPr lang="en-US" altLang="en-US" sz="3150" i="1" dirty="0"/>
              <a:t> </a:t>
            </a:r>
            <a:r>
              <a:rPr lang="en-US" altLang="en-US" sz="3150" dirty="0"/>
              <a:t>of course is total frames in the system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Two major allocation schemes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fixed allocation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priority allocation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Many variations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2E6D2F-4883-A046-A2A1-57F5F899C644}" type="slidenum">
              <a:rPr lang="en-US"/>
              <a:pPr>
                <a:defRPr/>
              </a:pPr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>
          <a:xfrm>
            <a:off x="1746250" y="252413"/>
            <a:ext cx="10598150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Fixed Allocation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63738" y="1443038"/>
            <a:ext cx="9636125" cy="619442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Equal allocation – For example, if there are 100 frames (after allocating frames for the OS) and 5 processes, give each process 20 frames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Keep some as free frame buffer pool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sz="1067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Proportional allocation – Allocate according to the size of process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Dynamic as degree of multiprogramming, process sizes change</a:t>
            </a:r>
          </a:p>
          <a:p>
            <a:pPr lvl="1"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dirty="0"/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dirty="0"/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dirty="0"/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dirty="0"/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3130550" y="5429250"/>
            <a:ext cx="7567613" cy="2565400"/>
            <a:chOff x="3130550" y="5429250"/>
            <a:chExt cx="7567613" cy="2565400"/>
          </a:xfrm>
        </p:grpSpPr>
        <p:graphicFrame>
          <p:nvGraphicFramePr>
            <p:cNvPr id="99332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25357710"/>
                </p:ext>
              </p:extLst>
            </p:nvPr>
          </p:nvGraphicFramePr>
          <p:xfrm>
            <a:off x="3397250" y="5702300"/>
            <a:ext cx="3810000" cy="2149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857500" imgH="1612900" progId="Equation.3">
                    <p:embed/>
                  </p:oleObj>
                </mc:Choice>
                <mc:Fallback>
                  <p:oleObj name="Equation" r:id="rId3" imgW="2857500" imgH="1612900" progId="Equation.3">
                    <p:embed/>
                    <p:pic>
                      <p:nvPicPr>
                        <p:cNvPr id="99332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97250" y="5702300"/>
                          <a:ext cx="3810000" cy="21494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9333" name="Line 5"/>
            <p:cNvSpPr>
              <a:spLocks noChangeShapeType="1"/>
            </p:cNvSpPr>
            <p:nvPr/>
          </p:nvSpPr>
          <p:spPr bwMode="auto">
            <a:xfrm>
              <a:off x="3138488" y="5918200"/>
              <a:ext cx="203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121913" tIns="60957" rIns="121913" bIns="60957" anchor="ctr"/>
            <a:lstStyle/>
            <a:p>
              <a:endParaRPr lang="en-US"/>
            </a:p>
          </p:txBody>
        </p:sp>
        <p:sp>
          <p:nvSpPr>
            <p:cNvPr id="99334" name="Line 6"/>
            <p:cNvSpPr>
              <a:spLocks noChangeShapeType="1"/>
            </p:cNvSpPr>
            <p:nvPr/>
          </p:nvSpPr>
          <p:spPr bwMode="auto">
            <a:xfrm>
              <a:off x="3138488" y="6367463"/>
              <a:ext cx="203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121913" tIns="60957" rIns="121913" bIns="60957" anchor="ctr"/>
            <a:lstStyle/>
            <a:p>
              <a:endParaRPr lang="en-US"/>
            </a:p>
          </p:txBody>
        </p:sp>
        <p:sp>
          <p:nvSpPr>
            <p:cNvPr id="99335" name="Line 7"/>
            <p:cNvSpPr>
              <a:spLocks noChangeShapeType="1"/>
            </p:cNvSpPr>
            <p:nvPr/>
          </p:nvSpPr>
          <p:spPr bwMode="auto">
            <a:xfrm>
              <a:off x="3138488" y="7515225"/>
              <a:ext cx="203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121913" tIns="60957" rIns="121913" bIns="60957" anchor="ctr"/>
            <a:lstStyle/>
            <a:p>
              <a:endParaRPr lang="en-US"/>
            </a:p>
          </p:txBody>
        </p:sp>
        <p:sp>
          <p:nvSpPr>
            <p:cNvPr id="99336" name="Line 8"/>
            <p:cNvSpPr>
              <a:spLocks noChangeShapeType="1"/>
            </p:cNvSpPr>
            <p:nvPr/>
          </p:nvSpPr>
          <p:spPr bwMode="auto">
            <a:xfrm>
              <a:off x="3130550" y="6804025"/>
              <a:ext cx="203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121913" tIns="60957" rIns="121913" bIns="60957" anchor="ctr"/>
            <a:lstStyle/>
            <a:p>
              <a:endParaRPr lang="en-US"/>
            </a:p>
          </p:txBody>
        </p:sp>
        <p:graphicFrame>
          <p:nvGraphicFramePr>
            <p:cNvPr id="99337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83134575"/>
                </p:ext>
              </p:extLst>
            </p:nvPr>
          </p:nvGraphicFramePr>
          <p:xfrm>
            <a:off x="8688388" y="5429250"/>
            <a:ext cx="2009775" cy="2565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133640" imgH="1444320" progId="Equation.3">
                    <p:embed/>
                  </p:oleObj>
                </mc:Choice>
                <mc:Fallback>
                  <p:oleObj name="Equation" r:id="rId5" imgW="1133640" imgH="1444320" progId="Equation.3">
                    <p:embed/>
                    <p:pic>
                      <p:nvPicPr>
                        <p:cNvPr id="99337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88388" y="5429250"/>
                          <a:ext cx="2009775" cy="2565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2FC45F-69E5-194F-9698-A98D9661AFBA}" type="slidenum">
              <a:rPr lang="en-US"/>
              <a:pPr>
                <a:defRPr/>
              </a:pPr>
              <a:t>55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1917700" y="268288"/>
            <a:ext cx="10426700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Priority Allocation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9138" y="1587500"/>
            <a:ext cx="9136062" cy="5859463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/>
              <a:t>Use a proportional allocation scheme using priorities rather than size</a:t>
            </a:r>
            <a:br>
              <a:rPr lang="en-US" altLang="en-US" sz="3150"/>
            </a:br>
            <a:endParaRPr lang="en-US" altLang="en-US" sz="315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/>
              <a:t>If process </a:t>
            </a:r>
            <a:r>
              <a:rPr lang="en-US" altLang="en-US" sz="3150" b="1" i="1"/>
              <a:t>P</a:t>
            </a:r>
            <a:r>
              <a:rPr lang="en-US" altLang="en-US" sz="3150" b="1" i="1" baseline="-25000"/>
              <a:t>i</a:t>
            </a:r>
            <a:r>
              <a:rPr lang="en-US" altLang="en-US" sz="3150"/>
              <a:t> generates a page fault,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/>
              <a:t>select for replacement one of its frames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/>
              <a:t>select for replacement a frame from a process with lower priority number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DA819F-1258-324E-8ECC-78D2EAFE4508}" type="slidenum">
              <a:rPr lang="en-US"/>
              <a:pPr>
                <a:defRPr/>
              </a:pPr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2135188" y="252413"/>
            <a:ext cx="10209212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Global vs. Local Allocation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31988" y="1487488"/>
            <a:ext cx="9277350" cy="5961062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b="1" dirty="0">
                <a:solidFill>
                  <a:srgbClr val="3366FF"/>
                </a:solidFill>
              </a:rPr>
              <a:t>Global replacement</a:t>
            </a:r>
            <a:r>
              <a:rPr lang="en-US" altLang="en-US" sz="3150" dirty="0">
                <a:solidFill>
                  <a:srgbClr val="3366FF"/>
                </a:solidFill>
              </a:rPr>
              <a:t> </a:t>
            </a:r>
            <a:r>
              <a:rPr lang="en-US" altLang="en-US" sz="3150" dirty="0"/>
              <a:t>– process selects a replacement frame from the set of all frames; one process can take a frame from another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But then process execution time can vary greatly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But greater throughput so more common</a:t>
            </a:r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b="1" dirty="0">
                <a:solidFill>
                  <a:srgbClr val="3366FF"/>
                </a:solidFill>
              </a:rPr>
              <a:t>Local replacement</a:t>
            </a:r>
            <a:r>
              <a:rPr lang="en-US" altLang="en-US" sz="3150" dirty="0">
                <a:solidFill>
                  <a:srgbClr val="3366FF"/>
                </a:solidFill>
              </a:rPr>
              <a:t> </a:t>
            </a:r>
            <a:r>
              <a:rPr lang="en-US" altLang="en-US" sz="3150" dirty="0"/>
              <a:t>– each process selects from only its own set of allocated frames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More consistent per-process performance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But possibly underutilized memory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dirty="0"/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E9547F-E82E-C44A-A2BE-4747DEC557F0}" type="slidenum">
              <a:rPr lang="en-US"/>
              <a:pPr>
                <a:defRPr/>
              </a:pPr>
              <a:t>57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950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Recap / Introduction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Demand Paging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Copy-on-Write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Page Replacement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Allocation of Frames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/>
              <a:t>Thrashing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Memory-Mapped files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200" dirty="0">
                <a:solidFill>
                  <a:schemeClr val="bg1">
                    <a:lumMod val="65000"/>
                  </a:schemeClr>
                </a:solidFill>
              </a:rPr>
              <a:t>[Self-reading]</a:t>
            </a:r>
            <a:endParaRPr lang="en-US" sz="315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77B4EA-E16D-B341-B9BA-B57C833B6C57}" type="slidenum">
              <a:rPr lang="en-US"/>
              <a:pPr>
                <a:defRPr/>
              </a:pPr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252413"/>
            <a:ext cx="10972800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Thrashing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47863" y="1509713"/>
            <a:ext cx="9804400" cy="5976937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If a process does not have </a:t>
            </a:r>
            <a:r>
              <a:rPr lang="ja-JP" altLang="en-US" sz="3150" dirty="0"/>
              <a:t>“</a:t>
            </a:r>
            <a:r>
              <a:rPr lang="en-US" altLang="ja-JP" sz="3150" dirty="0"/>
              <a:t>enough</a:t>
            </a:r>
            <a:r>
              <a:rPr lang="ja-JP" altLang="en-US" sz="3150" dirty="0"/>
              <a:t>”</a:t>
            </a:r>
            <a:r>
              <a:rPr lang="en-US" altLang="ja-JP" sz="3150" dirty="0"/>
              <a:t> pages, the page-fault rate is very high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Page fault to get page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Replace existing frame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But quickly need replaced frame back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This leads to:</a:t>
            </a:r>
          </a:p>
          <a:p>
            <a:pPr lvl="2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250" dirty="0"/>
              <a:t>Low CPU utilization</a:t>
            </a:r>
          </a:p>
          <a:p>
            <a:pPr lvl="2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250" dirty="0"/>
              <a:t>Operating system thinking that it needs to increase the degree of multiprogramming</a:t>
            </a:r>
          </a:p>
          <a:p>
            <a:pPr lvl="2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250" dirty="0"/>
              <a:t>Another process added to the system</a:t>
            </a:r>
            <a:br>
              <a:rPr lang="en-US" altLang="en-US" sz="2250" dirty="0"/>
            </a:br>
            <a:endParaRPr lang="en-US" altLang="en-US" sz="2250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b="1" dirty="0">
                <a:solidFill>
                  <a:srgbClr val="3366FF"/>
                </a:solidFill>
              </a:rPr>
              <a:t>Thrashing</a:t>
            </a:r>
            <a:r>
              <a:rPr lang="en-US" altLang="en-US" sz="3150" dirty="0">
                <a:solidFill>
                  <a:srgbClr val="3366FF"/>
                </a:solidFill>
              </a:rPr>
              <a:t> </a:t>
            </a:r>
            <a:r>
              <a:rPr lang="en-US" altLang="en-US" sz="3150" dirty="0">
                <a:sym typeface="Symbol" panose="05050102010706020507" pitchFamily="18" charset="2"/>
              </a:rPr>
              <a:t> a process is busy swapping pages in and out</a:t>
            </a:r>
            <a:endParaRPr lang="en-US" altLang="en-US" sz="315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DD9755-148D-E042-9E07-054D11DAEE8A}" type="slidenum">
              <a:rPr lang="en-US"/>
              <a:pPr>
                <a:defRPr/>
              </a:pPr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Thrashing (cont.)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EC3D2C-A26D-2F48-B725-1FE4C9405192}" type="slidenum">
              <a:rPr lang="en-US" smtClean="0"/>
              <a:pPr>
                <a:defRPr/>
              </a:pPr>
              <a:t>60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49300" y="2495550"/>
            <a:ext cx="3794125" cy="9540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Process needs frames (global page replacement) </a:t>
            </a:r>
          </a:p>
        </p:txBody>
      </p:sp>
      <p:sp>
        <p:nvSpPr>
          <p:cNvPr id="8" name="Right Arrow 7"/>
          <p:cNvSpPr/>
          <p:nvPr/>
        </p:nvSpPr>
        <p:spPr>
          <a:xfrm rot="1506305">
            <a:off x="2667000" y="3679825"/>
            <a:ext cx="1244600" cy="3730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109576" name="Group 13"/>
          <p:cNvGrpSpPr>
            <a:grpSpLocks/>
          </p:cNvGrpSpPr>
          <p:nvPr/>
        </p:nvGrpSpPr>
        <p:grpSpPr bwMode="auto">
          <a:xfrm>
            <a:off x="3463925" y="3340100"/>
            <a:ext cx="3794125" cy="1741488"/>
            <a:chOff x="3728285" y="3503978"/>
            <a:chExt cx="3794271" cy="1740709"/>
          </a:xfrm>
        </p:grpSpPr>
        <p:sp>
          <p:nvSpPr>
            <p:cNvPr id="9" name="TextBox 8"/>
            <p:cNvSpPr txBox="1"/>
            <p:nvPr/>
          </p:nvSpPr>
          <p:spPr>
            <a:xfrm>
              <a:off x="3728285" y="4291026"/>
              <a:ext cx="3794271" cy="95366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800" dirty="0">
                  <a:latin typeface="+mj-lt"/>
                  <a:ea typeface="Verdana" panose="020B0604030504040204" pitchFamily="34" charset="0"/>
                  <a:cs typeface="Verdana" panose="020B0604030504040204" pitchFamily="34" charset="0"/>
                </a:rPr>
                <a:t>“steals” frames from other processes</a:t>
              </a:r>
            </a:p>
          </p:txBody>
        </p:sp>
        <p:sp>
          <p:nvSpPr>
            <p:cNvPr id="10" name="Curved Down Arrow 9"/>
            <p:cNvSpPr/>
            <p:nvPr/>
          </p:nvSpPr>
          <p:spPr>
            <a:xfrm flipH="1">
              <a:off x="4980871" y="3503978"/>
              <a:ext cx="1289100" cy="731511"/>
            </a:xfrm>
            <a:prstGeom prst="curved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1" name="Right Arrow 10"/>
          <p:cNvSpPr/>
          <p:nvPr/>
        </p:nvSpPr>
        <p:spPr>
          <a:xfrm rot="1506305">
            <a:off x="6319838" y="5238750"/>
            <a:ext cx="1244600" cy="3730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7043738" y="5768975"/>
            <a:ext cx="4257675" cy="9540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Paging device queue grows</a:t>
            </a:r>
          </a:p>
          <a:p>
            <a:pPr algn="ctr">
              <a:defRPr/>
            </a:pPr>
            <a:r>
              <a:rPr lang="en-US" sz="28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Ready queue decreases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9738" y="7412038"/>
            <a:ext cx="4256087" cy="9540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OS increases degree of multiprogramming</a:t>
            </a:r>
          </a:p>
        </p:txBody>
      </p:sp>
      <p:sp>
        <p:nvSpPr>
          <p:cNvPr id="15" name="Right Arrow 14"/>
          <p:cNvSpPr/>
          <p:nvPr/>
        </p:nvSpPr>
        <p:spPr>
          <a:xfrm rot="1506305">
            <a:off x="9707563" y="6881813"/>
            <a:ext cx="1244600" cy="3730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" name="Bent Arrow 15"/>
          <p:cNvSpPr/>
          <p:nvPr/>
        </p:nvSpPr>
        <p:spPr>
          <a:xfrm flipH="1">
            <a:off x="4543425" y="2767013"/>
            <a:ext cx="7777163" cy="4535487"/>
          </a:xfrm>
          <a:prstGeom prst="bentArrow">
            <a:avLst>
              <a:gd name="adj1" fmla="val 4705"/>
              <a:gd name="adj2" fmla="val 4085"/>
              <a:gd name="adj3" fmla="val 6995"/>
              <a:gd name="adj4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2020888" y="217488"/>
            <a:ext cx="9231312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 dirty="0"/>
              <a:t>Thrashing (Cont.)</a:t>
            </a:r>
            <a:endParaRPr lang="en-US" altLang="en-US" sz="3200" dirty="0"/>
          </a:p>
        </p:txBody>
      </p:sp>
      <p:pic>
        <p:nvPicPr>
          <p:cNvPr id="110595" name="Picture 4" descr="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6800" y="1608138"/>
            <a:ext cx="8904288" cy="5148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E22FA-A4AC-F141-A2FF-8FEA8DFBB004}" type="slidenum">
              <a:rPr lang="en-US"/>
              <a:pPr>
                <a:defRPr/>
              </a:pPr>
              <a:t>61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967038" y="7138988"/>
            <a:ext cx="7643812" cy="9540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Sometimes the OS needs to reduce degree of parallelism to increase CPU utilization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2444750" y="252413"/>
            <a:ext cx="9545638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Demand Paging and Thrashing </a:t>
            </a:r>
            <a:endParaRPr lang="en-US" altLang="en-US" sz="3200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12950" y="1446213"/>
            <a:ext cx="9467850" cy="4002087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/>
              <a:t>Why does demand paging work?</a:t>
            </a:r>
            <a:br>
              <a:rPr lang="en-US" altLang="en-US" sz="3150"/>
            </a:br>
            <a:r>
              <a:rPr lang="en-US" altLang="en-US" sz="3150" b="1">
                <a:solidFill>
                  <a:srgbClr val="3366FF"/>
                </a:solidFill>
              </a:rPr>
              <a:t>Locality model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/>
              <a:t>Process migrates from one locality to another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/>
              <a:t>Localities may overlap</a:t>
            </a:r>
          </a:p>
          <a:p>
            <a:pPr lvl="1"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/>
              <a:t>Why does thrashing occur?</a:t>
            </a:r>
            <a:br>
              <a:rPr lang="en-US" altLang="en-US" sz="3150"/>
            </a:br>
            <a:r>
              <a:rPr lang="en-US" altLang="en-US" sz="3150">
                <a:sym typeface="Symbol" panose="05050102010706020507" pitchFamily="18" charset="2"/>
              </a:rPr>
              <a:t> size of locality &gt; total memory size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>
                <a:sym typeface="Symbol" panose="05050102010706020507" pitchFamily="18" charset="2"/>
              </a:rPr>
              <a:t>Limit effects by using local or priority page replacement</a:t>
            </a:r>
            <a:endParaRPr lang="en-US" alt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54F9A2-3B3B-FA40-9D84-A9FAF68EB40D}" type="slidenum">
              <a:rPr lang="en-US"/>
              <a:pPr>
                <a:defRPr/>
              </a:pPr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2198688" y="166688"/>
            <a:ext cx="10467975" cy="76835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733"/>
              <a:t>Locality In A Memory-Reference Pattern</a:t>
            </a:r>
          </a:p>
        </p:txBody>
      </p:sp>
      <p:pic>
        <p:nvPicPr>
          <p:cNvPr id="114691" name="Picture 1" descr="9_19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488" y="1357313"/>
            <a:ext cx="5027612" cy="721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AF8C76-3A39-2747-87F1-C8B14B3C93DB}" type="slidenum">
              <a:rPr lang="en-US"/>
              <a:pPr>
                <a:defRPr/>
              </a:pPr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could the OS avoid trashing?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759D35-99C5-3A48-86D5-31C64F9121F9}" type="slidenum">
              <a:rPr lang="en-US" smtClean="0"/>
              <a:pPr>
                <a:defRPr/>
              </a:pPr>
              <a:t>64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2921" y="2869878"/>
            <a:ext cx="4990157" cy="4990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64726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Working-Set Model</a:t>
            </a:r>
          </a:p>
        </p:txBody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6113" y="4087813"/>
            <a:ext cx="11830050" cy="5003800"/>
          </a:xfrm>
        </p:spPr>
        <p:txBody>
          <a:bodyPr/>
          <a:lstStyle/>
          <a:p>
            <a:r>
              <a:rPr lang="en-US" altLang="en-US" sz="2400" dirty="0">
                <a:sym typeface="Symbol" charset="2"/>
              </a:rPr>
              <a:t>  working-set window  a fixed number of page references </a:t>
            </a:r>
            <a:br>
              <a:rPr lang="en-US" altLang="en-US" sz="2400" dirty="0">
                <a:sym typeface="Symbol" charset="2"/>
              </a:rPr>
            </a:br>
            <a:r>
              <a:rPr lang="en-US" altLang="en-US" sz="2400" dirty="0">
                <a:sym typeface="Symbol" charset="2"/>
              </a:rPr>
              <a:t>Example:  10,000 instructions</a:t>
            </a:r>
          </a:p>
          <a:p>
            <a:r>
              <a:rPr lang="en-US" altLang="en-US" sz="2400" dirty="0" err="1">
                <a:sym typeface="Symbol" charset="2"/>
              </a:rPr>
              <a:t>WSS</a:t>
            </a:r>
            <a:r>
              <a:rPr lang="en-US" altLang="en-US" sz="2400" baseline="-25000" dirty="0" err="1">
                <a:sym typeface="Symbol" charset="2"/>
              </a:rPr>
              <a:t>i</a:t>
            </a:r>
            <a:r>
              <a:rPr lang="en-US" altLang="en-US" sz="2400" dirty="0">
                <a:sym typeface="Symbol" charset="2"/>
              </a:rPr>
              <a:t> (Working Set Size of Process </a:t>
            </a:r>
            <a:r>
              <a:rPr lang="en-US" altLang="en-US" sz="2400" dirty="0" err="1">
                <a:sym typeface="Symbol" charset="2"/>
              </a:rPr>
              <a:t>i</a:t>
            </a:r>
            <a:r>
              <a:rPr lang="en-US" altLang="en-US" sz="2400" dirty="0">
                <a:sym typeface="Symbol" charset="2"/>
              </a:rPr>
              <a:t>) =</a:t>
            </a:r>
            <a:br>
              <a:rPr lang="en-US" altLang="en-US" sz="2400" dirty="0">
                <a:sym typeface="Symbol" charset="2"/>
              </a:rPr>
            </a:br>
            <a:r>
              <a:rPr lang="en-US" altLang="en-US" sz="2400" dirty="0">
                <a:sym typeface="Symbol" charset="2"/>
              </a:rPr>
              <a:t>total number of pages referenced in the most recent  (varies in time)</a:t>
            </a:r>
          </a:p>
          <a:p>
            <a:pPr lvl="1"/>
            <a:r>
              <a:rPr lang="en-US" altLang="en-US" sz="2000" dirty="0">
                <a:sym typeface="Symbol" charset="2"/>
              </a:rPr>
              <a:t>if  too small will not encompass entire locality</a:t>
            </a:r>
          </a:p>
          <a:p>
            <a:pPr lvl="1"/>
            <a:r>
              <a:rPr lang="en-US" altLang="en-US" sz="2000" dirty="0">
                <a:sym typeface="Symbol" charset="2"/>
              </a:rPr>
              <a:t>if  too large will encompass several localities</a:t>
            </a:r>
          </a:p>
          <a:p>
            <a:pPr lvl="1"/>
            <a:r>
              <a:rPr lang="en-US" altLang="en-US" sz="2000" dirty="0">
                <a:sym typeface="Symbol" charset="2"/>
              </a:rPr>
              <a:t>if  =   will encompass entire program</a:t>
            </a:r>
          </a:p>
          <a:p>
            <a:r>
              <a:rPr lang="en-US" altLang="en-US" sz="2400" dirty="0">
                <a:sym typeface="Symbol" charset="2"/>
              </a:rPr>
              <a:t>D (Total demand for frames) =  </a:t>
            </a:r>
            <a:r>
              <a:rPr lang="en-US" altLang="en-US" sz="2400" dirty="0" err="1">
                <a:sym typeface="Symbol" charset="2"/>
              </a:rPr>
              <a:t>WSS</a:t>
            </a:r>
            <a:r>
              <a:rPr lang="en-US" altLang="en-US" sz="2000" dirty="0" err="1">
                <a:sym typeface="Symbol" charset="2"/>
              </a:rPr>
              <a:t>i</a:t>
            </a:r>
            <a:endParaRPr lang="en-US" altLang="en-US" sz="2400" dirty="0">
              <a:sym typeface="Symbol" charset="2"/>
            </a:endParaRPr>
          </a:p>
          <a:p>
            <a:pPr lvl="1"/>
            <a:r>
              <a:rPr lang="en-US" altLang="en-US" sz="2000" dirty="0">
                <a:sym typeface="Symbol" charset="2"/>
              </a:rPr>
              <a:t>Approximation of locality</a:t>
            </a:r>
          </a:p>
          <a:p>
            <a:r>
              <a:rPr lang="en-US" altLang="en-US" sz="2400" dirty="0">
                <a:sym typeface="Symbol" charset="2"/>
              </a:rPr>
              <a:t>if D &gt; available frames m  Thrashing</a:t>
            </a:r>
          </a:p>
          <a:p>
            <a:r>
              <a:rPr lang="en-US" altLang="en-US" sz="2400" dirty="0">
                <a:sym typeface="Symbol" charset="2"/>
              </a:rPr>
              <a:t>Policy if D &gt; m, then suspend or swap out one of the processes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7A79CF-DEAF-0543-A5DA-1954120B387E}" type="slidenum">
              <a:rPr lang="en-US" smtClean="0"/>
              <a:pPr>
                <a:defRPr/>
              </a:pPr>
              <a:t>65</a:t>
            </a:fld>
            <a:endParaRPr lang="en-US"/>
          </a:p>
        </p:txBody>
      </p:sp>
      <p:pic>
        <p:nvPicPr>
          <p:cNvPr id="11674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375" y="1725613"/>
            <a:ext cx="8942388" cy="2382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8851900" y="7046913"/>
            <a:ext cx="3600450" cy="76835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 fontScale="90000" lnSpcReduction="10000"/>
          </a:bodyPr>
          <a:lstStyle>
            <a:lvl1pPr algn="l" defTabSz="10287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10287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algn="l" defTabSz="10287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algn="l" defTabSz="10287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algn="l" defTabSz="10287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457200" algn="l" defTabSz="10287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914400" algn="l" defTabSz="10287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1371600" algn="l" defTabSz="10287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1828800" algn="l" defTabSz="10287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000" dirty="0">
                <a:solidFill>
                  <a:srgbClr val="FF0000"/>
                </a:solidFill>
              </a:rPr>
              <a:t>How to keep track of the Working Set?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1824038" y="217488"/>
            <a:ext cx="10520362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Page-Fault Frequency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98663" y="1398588"/>
            <a:ext cx="8804275" cy="2225675"/>
          </a:xfrm>
        </p:spPr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/>
              <a:t>More direct approach than WSS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/>
              <a:t>Establish </a:t>
            </a:r>
            <a:r>
              <a:rPr lang="ja-JP" altLang="en-US" sz="3150"/>
              <a:t>“</a:t>
            </a:r>
            <a:r>
              <a:rPr lang="en-US" altLang="ja-JP" sz="3150"/>
              <a:t>acceptable</a:t>
            </a:r>
            <a:r>
              <a:rPr lang="ja-JP" altLang="en-US" sz="3150"/>
              <a:t>”</a:t>
            </a:r>
            <a:r>
              <a:rPr lang="en-US" altLang="ja-JP" sz="3150"/>
              <a:t> </a:t>
            </a:r>
            <a:r>
              <a:rPr lang="en-US" altLang="ja-JP" sz="3150" b="1">
                <a:solidFill>
                  <a:srgbClr val="3366FF"/>
                </a:solidFill>
              </a:rPr>
              <a:t>page-fault frequency </a:t>
            </a:r>
            <a:r>
              <a:rPr lang="en-US" altLang="ja-JP" sz="3150"/>
              <a:t>(</a:t>
            </a:r>
            <a:r>
              <a:rPr lang="en-US" altLang="ja-JP" sz="3150" b="1">
                <a:solidFill>
                  <a:srgbClr val="3366FF"/>
                </a:solidFill>
              </a:rPr>
              <a:t>PFF</a:t>
            </a:r>
            <a:r>
              <a:rPr lang="en-US" altLang="ja-JP" sz="3150"/>
              <a:t>)</a:t>
            </a:r>
            <a:r>
              <a:rPr lang="en-US" altLang="ja-JP" sz="3150" b="1">
                <a:solidFill>
                  <a:srgbClr val="3366FF"/>
                </a:solidFill>
              </a:rPr>
              <a:t> </a:t>
            </a:r>
            <a:r>
              <a:rPr lang="en-US" altLang="ja-JP" sz="3150"/>
              <a:t>rate and use local replacement policy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/>
              <a:t>If actual rate too low, process loses frame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/>
              <a:t>If actual rate too high, process gains frame</a:t>
            </a:r>
          </a:p>
        </p:txBody>
      </p:sp>
      <p:pic>
        <p:nvPicPr>
          <p:cNvPr id="120836" name="Picture 1" descr="9_2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138" y="3938588"/>
            <a:ext cx="6805612" cy="394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EACF5A-D931-774C-B0C1-DB38931D9505}" type="slidenum">
              <a:rPr lang="en-US"/>
              <a:pPr>
                <a:defRPr/>
              </a:pPr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/>
          </p:cNvSpPr>
          <p:nvPr>
            <p:ph type="title"/>
          </p:nvPr>
        </p:nvSpPr>
        <p:spPr>
          <a:xfrm>
            <a:off x="2179638" y="234950"/>
            <a:ext cx="10972800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Working Sets and Page Fault Rates</a:t>
            </a:r>
          </a:p>
        </p:txBody>
      </p:sp>
      <p:pic>
        <p:nvPicPr>
          <p:cNvPr id="122883" name="Picture 4" descr="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738" y="2689225"/>
            <a:ext cx="7737475" cy="3525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1973263" y="1390650"/>
            <a:ext cx="9591675" cy="2762250"/>
          </a:xfrm>
          <a:prstGeom prst="rect">
            <a:avLst/>
          </a:prstGeom>
          <a:noFill/>
          <a:ln>
            <a:noFill/>
          </a:ln>
        </p:spPr>
        <p:txBody>
          <a:bodyPr lIns="121913" tIns="60957" rIns="121913" bIns="60957"/>
          <a:lstStyle>
            <a:lvl1pPr marL="488950" indent="-4889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charset="0"/>
              <a:buChar char="n"/>
              <a:defRPr kumimoji="1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1060450" indent="-407988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charset="0"/>
              <a:buChar char="l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2pPr>
            <a:lvl3pPr marL="1550988" indent="-325438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charset="0"/>
              <a:buChar char="4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2039938" indent="-325438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2530475" indent="-325438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3183912" indent="-32655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3837022" indent="-32655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4490133" indent="-32655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5143243" indent="-32655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Direct relationship between working set of a process and its page-fault rate</a:t>
            </a:r>
          </a:p>
          <a:p>
            <a:pPr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Working set changes over time</a:t>
            </a:r>
          </a:p>
          <a:p>
            <a:pPr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Peaks and valleys over time</a:t>
            </a:r>
          </a:p>
          <a:p>
            <a:pPr marL="0" indent="0">
              <a:buFont typeface="Monotype Sorts" charset="0"/>
              <a:buNone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0C9188-5F16-E34A-B95C-D50CD4256A04}" type="slidenum">
              <a:rPr lang="en-US"/>
              <a:pPr>
                <a:defRPr/>
              </a:pPr>
              <a:t>67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947988" y="6869113"/>
            <a:ext cx="7642225" cy="9540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By looking at the Page Fault Rate you can observe the working set variations over time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B7176-2464-EE9D-C725-457D5A72E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base"/>
            <a:r>
              <a:rPr lang="en-GB" b="1" dirty="0">
                <a:effectLst/>
                <a:latin typeface="inherit"/>
              </a:rPr>
              <a:t>If the invalid bit of a frame is set to 1, the page contained in the referenced frame does not belong to the process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B6747-D304-94ED-3557-3512E7A10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Correct</a:t>
            </a:r>
          </a:p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Not correct</a:t>
            </a:r>
          </a:p>
        </p:txBody>
      </p:sp>
    </p:spTree>
    <p:extLst>
      <p:ext uri="{BB962C8B-B14F-4D97-AF65-F5344CB8AC3E}">
        <p14:creationId xmlns:p14="http://schemas.microsoft.com/office/powerpoint/2010/main" val="258723320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AFE30-100F-6419-EF00-FC8A20B8D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GB" b="1" dirty="0">
                <a:effectLst/>
                <a:latin typeface="inherit"/>
              </a:rPr>
              <a:t>Having less parallelism can increase CPU utilization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61E97-854A-C7D5-5C7B-8E5B547B5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Correct</a:t>
            </a:r>
          </a:p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Not correct</a:t>
            </a:r>
          </a:p>
        </p:txBody>
      </p:sp>
    </p:spTree>
    <p:extLst>
      <p:ext uri="{BB962C8B-B14F-4D97-AF65-F5344CB8AC3E}">
        <p14:creationId xmlns:p14="http://schemas.microsoft.com/office/powerpoint/2010/main" val="24442973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8650B-3EA9-A7DF-1C03-1D8E756E4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GB" b="1" dirty="0">
                <a:effectLst/>
                <a:latin typeface="inherit"/>
              </a:rPr>
              <a:t>Having less available frames can reduce the number of page faults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C0826-55E5-A06A-0E50-9B1A116309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Correct</a:t>
            </a:r>
          </a:p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Not correct</a:t>
            </a:r>
          </a:p>
        </p:txBody>
      </p:sp>
    </p:spTree>
    <p:extLst>
      <p:ext uri="{BB962C8B-B14F-4D97-AF65-F5344CB8AC3E}">
        <p14:creationId xmlns:p14="http://schemas.microsoft.com/office/powerpoint/2010/main" val="372665962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950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Recap / Introduction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Demand Paging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Copy-on-Write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Page Replacement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Allocation of Frames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Thrashing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/>
              <a:t>Memory-Mapped files</a:t>
            </a:r>
            <a:r>
              <a:rPr lang="en-US" sz="4000" dirty="0"/>
              <a:t> </a:t>
            </a:r>
            <a:r>
              <a:rPr lang="en-US" sz="3200" dirty="0"/>
              <a:t>[Self-reading]</a:t>
            </a:r>
            <a:endParaRPr lang="en-US" sz="315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B12AD18-1DA5-1B45-AECA-23EE13C094F4}" type="slidenum">
              <a:rPr lang="en-US"/>
              <a:pPr>
                <a:defRPr/>
              </a:pPr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234950"/>
            <a:ext cx="10972800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Memory-Mapped Files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55800" y="1441450"/>
            <a:ext cx="9728200" cy="6246813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Memory-mapped file I/O allows file I/O to be treated as routine memory access by </a:t>
            </a:r>
            <a:r>
              <a:rPr lang="en-US" altLang="en-US" sz="3150" b="1" dirty="0">
                <a:solidFill>
                  <a:srgbClr val="3366FF"/>
                </a:solidFill>
              </a:rPr>
              <a:t>mapping</a:t>
            </a:r>
            <a:r>
              <a:rPr lang="en-US" altLang="en-US" sz="3150" dirty="0">
                <a:solidFill>
                  <a:srgbClr val="3366FF"/>
                </a:solidFill>
              </a:rPr>
              <a:t> </a:t>
            </a:r>
            <a:r>
              <a:rPr lang="en-US" altLang="en-US" sz="3150" dirty="0"/>
              <a:t>a disk block to a page in memory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A file is initially read using demand paging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A page-sized portion of the file is read from the file system into a physical page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Subsequent reads/writes to/from the file are treated as ordinary memory accesses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Simplifies and speeds file access by driving file I/O through memory rather than </a:t>
            </a:r>
            <a:r>
              <a:rPr lang="en-US" altLang="en-US" sz="3150" dirty="0">
                <a:latin typeface="Courier New" panose="02070309020205020404" pitchFamily="49" charset="0"/>
              </a:rPr>
              <a:t>read()</a:t>
            </a:r>
            <a:r>
              <a:rPr lang="en-US" altLang="en-US" sz="3150" b="1" dirty="0">
                <a:latin typeface="Courier New" panose="02070309020205020404" pitchFamily="49" charset="0"/>
              </a:rPr>
              <a:t> </a:t>
            </a:r>
            <a:r>
              <a:rPr lang="en-US" altLang="en-US" sz="3150" dirty="0"/>
              <a:t>and</a:t>
            </a:r>
            <a:r>
              <a:rPr lang="en-US" altLang="en-US" sz="3150" dirty="0">
                <a:latin typeface="Courier New" panose="02070309020205020404" pitchFamily="49" charset="0"/>
              </a:rPr>
              <a:t> write()</a:t>
            </a:r>
            <a:r>
              <a:rPr lang="en-US" altLang="en-US" sz="3150" dirty="0"/>
              <a:t> system calls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Also allows several processes to map the same file allowing the pages in memory to be shared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But when does written data make it to disk?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Periodically and / or at file </a:t>
            </a:r>
            <a:r>
              <a:rPr lang="en-US" altLang="en-US" dirty="0">
                <a:latin typeface="Courier New" panose="02070309020205020404" pitchFamily="49" charset="0"/>
              </a:rPr>
              <a:t>close()</a:t>
            </a:r>
            <a:r>
              <a:rPr lang="en-US" altLang="en-US" dirty="0"/>
              <a:t> time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For example, when the pager scans for dirty pages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06C72C-D862-E942-881A-45D1AB4D2EA7}" type="slidenum">
              <a:rPr lang="en-US"/>
              <a:pPr>
                <a:defRPr/>
              </a:pPr>
              <a:t>72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166688"/>
            <a:ext cx="10972800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Memory Mapped Files</a:t>
            </a:r>
          </a:p>
        </p:txBody>
      </p:sp>
      <p:pic>
        <p:nvPicPr>
          <p:cNvPr id="129027" name="Picture 1" descr="9_22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6800" y="1563688"/>
            <a:ext cx="6865938" cy="6202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DEA823-AC3C-FC4F-8EC6-61D51E12392A}" type="slidenum">
              <a:rPr lang="en-US"/>
              <a:pPr>
                <a:defRPr/>
              </a:pPr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2438400" y="138113"/>
            <a:ext cx="10210800" cy="76835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733"/>
              <a:t>Shared Memory via Memory-Mapped I/O</a:t>
            </a:r>
          </a:p>
        </p:txBody>
      </p:sp>
      <p:pic>
        <p:nvPicPr>
          <p:cNvPr id="131075" name="Picture 1" descr="9_23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9888" y="1760538"/>
            <a:ext cx="8094662" cy="370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080238-DC30-244F-9582-E1DF7138E547}" type="slidenum">
              <a:rPr lang="en-US"/>
              <a:pPr>
                <a:defRPr/>
              </a:pPr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Content Placeholder 2"/>
          <p:cNvSpPr>
            <a:spLocks noGrp="1"/>
          </p:cNvSpPr>
          <p:nvPr>
            <p:ph idx="1"/>
          </p:nvPr>
        </p:nvSpPr>
        <p:spPr>
          <a:xfrm>
            <a:off x="942975" y="685800"/>
            <a:ext cx="11830050" cy="7550150"/>
          </a:xfrm>
        </p:spPr>
        <p:txBody>
          <a:bodyPr/>
          <a:lstStyle/>
          <a:p>
            <a:pPr marL="0" indent="0" algn="ctr" eaLnBrk="1" hangingPunct="1">
              <a:buFont typeface="Arial" charset="0"/>
              <a:buNone/>
            </a:pPr>
            <a:r>
              <a:rPr lang="en-US" altLang="en-US" sz="6400" dirty="0"/>
              <a:t>Thank you for your attention!</a:t>
            </a:r>
          </a:p>
          <a:p>
            <a:pPr marL="0" indent="0" algn="ctr" eaLnBrk="1" hangingPunct="1">
              <a:buFont typeface="Arial" charset="0"/>
              <a:buNone/>
            </a:pPr>
            <a:endParaRPr lang="en-US" altLang="en-US" sz="6400" dirty="0"/>
          </a:p>
          <a:p>
            <a:pPr marL="0" indent="0" algn="ctr" eaLnBrk="1" hangingPunct="1">
              <a:buFont typeface="Arial" charset="0"/>
              <a:buNone/>
            </a:pPr>
            <a:endParaRPr lang="en-US" altLang="en-US" sz="6400" dirty="0"/>
          </a:p>
          <a:p>
            <a:pPr marL="0" indent="0" algn="ctr" eaLnBrk="1" hangingPunct="1">
              <a:buFont typeface="Arial" charset="0"/>
              <a:buNone/>
            </a:pPr>
            <a:endParaRPr lang="en-US" altLang="en-US" sz="6400" dirty="0"/>
          </a:p>
          <a:p>
            <a:pPr marL="0" indent="0" algn="ctr" eaLnBrk="1" hangingPunct="1">
              <a:buFont typeface="Arial" charset="0"/>
              <a:buNone/>
            </a:pPr>
            <a:endParaRPr lang="en-US" altLang="en-US" sz="6400" dirty="0"/>
          </a:p>
          <a:p>
            <a:pPr marL="0" indent="0" algn="ctr" eaLnBrk="1" hangingPunct="1">
              <a:buFont typeface="Arial" charset="0"/>
              <a:buNone/>
            </a:pPr>
            <a:endParaRPr lang="en-US" altLang="en-US" sz="4800" dirty="0"/>
          </a:p>
          <a:p>
            <a:pPr marL="0" indent="0" eaLnBrk="1" hangingPunct="1">
              <a:buNone/>
            </a:pPr>
            <a:endParaRPr lang="en-US" altLang="en-US" sz="4800" dirty="0"/>
          </a:p>
          <a:p>
            <a:pPr marL="0" indent="0" algn="ctr" eaLnBrk="1" hangingPunct="1">
              <a:buFont typeface="Arial" charset="0"/>
              <a:buNone/>
            </a:pPr>
            <a:endParaRPr lang="en-US" altLang="en-US" sz="6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9994D9-2F29-F742-8CFC-94FD0F996F25}" type="slidenum">
              <a:rPr lang="en-US" smtClean="0"/>
              <a:pPr>
                <a:defRPr/>
              </a:pPr>
              <a:t>75</a:t>
            </a:fld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2|0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2|0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2|0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0.2|0.2|0.6|0.4|0.2|0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2.7|36.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Garamond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6581</TotalTime>
  <Words>4360</Words>
  <Application>Microsoft Macintosh PowerPoint</Application>
  <PresentationFormat>Custom</PresentationFormat>
  <Paragraphs>826</Paragraphs>
  <Slides>75</Slides>
  <Notes>60</Notes>
  <HiddenSlides>0</HiddenSlides>
  <MMClips>0</MMClips>
  <ScaleCrop>false</ScaleCrop>
  <HeadingPairs>
    <vt:vector size="8" baseType="variant">
      <vt:variant>
        <vt:lpstr>Fonts Used</vt:lpstr>
      </vt:variant>
      <vt:variant>
        <vt:i4>15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93" baseType="lpstr">
      <vt:lpstr>ＭＳ Ｐゴシック</vt:lpstr>
      <vt:lpstr>ＭＳ Ｐゴシック</vt:lpstr>
      <vt:lpstr>Arial</vt:lpstr>
      <vt:lpstr>Calibri</vt:lpstr>
      <vt:lpstr>Calibri Light</vt:lpstr>
      <vt:lpstr>Courier New</vt:lpstr>
      <vt:lpstr>Garamond</vt:lpstr>
      <vt:lpstr>Helvetica</vt:lpstr>
      <vt:lpstr>inherit</vt:lpstr>
      <vt:lpstr>Monotype Sorts</vt:lpstr>
      <vt:lpstr>Montserrat</vt:lpstr>
      <vt:lpstr>Symbol</vt:lpstr>
      <vt:lpstr>Times New Roman</vt:lpstr>
      <vt:lpstr>Verdana</vt:lpstr>
      <vt:lpstr>Wingdings</vt:lpstr>
      <vt:lpstr>Office Theme</vt:lpstr>
      <vt:lpstr>1_Office Theme</vt:lpstr>
      <vt:lpstr>Equation</vt:lpstr>
      <vt:lpstr>PowerPoint Presentation</vt:lpstr>
      <vt:lpstr>Reading instructions</vt:lpstr>
      <vt:lpstr>Objectives</vt:lpstr>
      <vt:lpstr>Agenda</vt:lpstr>
      <vt:lpstr>Agenda</vt:lpstr>
      <vt:lpstr>… we discussed paging!</vt:lpstr>
      <vt:lpstr>The intuition behind Virtual Memory</vt:lpstr>
      <vt:lpstr>The intuition behind Virtual Memory</vt:lpstr>
      <vt:lpstr>The intuition behind Virtual Memory</vt:lpstr>
      <vt:lpstr>Virtual Memory in a Nutshell (i)</vt:lpstr>
      <vt:lpstr>Virtual Memory in a Nutshell (ii)</vt:lpstr>
      <vt:lpstr>Agenda</vt:lpstr>
      <vt:lpstr>Demand Paging</vt:lpstr>
      <vt:lpstr>Basic Concepts</vt:lpstr>
      <vt:lpstr>Valid-Invalid Bit</vt:lpstr>
      <vt:lpstr>Page Table When Some Pages Are Not in Main Memory</vt:lpstr>
      <vt:lpstr>Page Fault</vt:lpstr>
      <vt:lpstr>Steps in Handling a Page Fault</vt:lpstr>
      <vt:lpstr>Aspects of Demand Paging</vt:lpstr>
      <vt:lpstr>Performance of Demand Paging</vt:lpstr>
      <vt:lpstr>Performance of Demand Paging (Cont.)</vt:lpstr>
      <vt:lpstr>Access to page 3 generates a page fault</vt:lpstr>
      <vt:lpstr>When using Virtual Memory, if there are 4 free frames and a process spans 5 pages...</vt:lpstr>
      <vt:lpstr>Access to pages 3,4,3 and 5 generates ...</vt:lpstr>
      <vt:lpstr>Agenda</vt:lpstr>
      <vt:lpstr>Copy-on-Write</vt:lpstr>
      <vt:lpstr>Before Process 1 Modifies Page C</vt:lpstr>
      <vt:lpstr>After Process 1 Modifies Page C</vt:lpstr>
      <vt:lpstr>PowerPoint Presentation</vt:lpstr>
      <vt:lpstr>Agenda</vt:lpstr>
      <vt:lpstr>Suppose we end up in a situation like the following one</vt:lpstr>
      <vt:lpstr>Page and Frame Replacement Algorithms</vt:lpstr>
      <vt:lpstr>Page Replacement</vt:lpstr>
      <vt:lpstr>Basic Page Replacement</vt:lpstr>
      <vt:lpstr>Page replacement algorithms</vt:lpstr>
      <vt:lpstr>Page Replacement</vt:lpstr>
      <vt:lpstr>How to evaluate a page replacement algorithm?</vt:lpstr>
      <vt:lpstr>What do we expect?  (Graph of Page Faults Versus The Number of Frames)</vt:lpstr>
      <vt:lpstr>First-In-First-Out (FIFO) Algorithm</vt:lpstr>
      <vt:lpstr>First-In-First-Out (FIFO) Algorithm</vt:lpstr>
      <vt:lpstr>First-In-First-Out (FIFO) Algorithm</vt:lpstr>
      <vt:lpstr>First-In-First-Out (FIFO) Algorithm</vt:lpstr>
      <vt:lpstr>First-In-First-Out (FIFO) Algorithm</vt:lpstr>
      <vt:lpstr>First-In-First-Out (FIFO) Algorithm</vt:lpstr>
      <vt:lpstr>FIFO Illustrating Belady’s Anomaly</vt:lpstr>
      <vt:lpstr>Optimal Algorithm</vt:lpstr>
      <vt:lpstr>Least Recently Used (LRU) Algorithm</vt:lpstr>
      <vt:lpstr>LRU Algorithm (Cont.)</vt:lpstr>
      <vt:lpstr>Use Of A Stack to Record Most Recent Page References</vt:lpstr>
      <vt:lpstr>LRU Approximation Algorithms</vt:lpstr>
      <vt:lpstr>Second-Chance (clock) Page-Replacement Algorithm</vt:lpstr>
      <vt:lpstr>Agenda</vt:lpstr>
      <vt:lpstr>Page and Frame Replacement Algorithms</vt:lpstr>
      <vt:lpstr>Allocation of Frames</vt:lpstr>
      <vt:lpstr>Fixed Allocation</vt:lpstr>
      <vt:lpstr>Priority Allocation</vt:lpstr>
      <vt:lpstr>Global vs. Local Allocation</vt:lpstr>
      <vt:lpstr>Agenda</vt:lpstr>
      <vt:lpstr>Thrashing</vt:lpstr>
      <vt:lpstr>Thrashing (cont.)</vt:lpstr>
      <vt:lpstr>Thrashing (Cont.)</vt:lpstr>
      <vt:lpstr>Demand Paging and Thrashing </vt:lpstr>
      <vt:lpstr>Locality In A Memory-Reference Pattern</vt:lpstr>
      <vt:lpstr>How could the OS avoid trashing?</vt:lpstr>
      <vt:lpstr>Working-Set Model</vt:lpstr>
      <vt:lpstr>Page-Fault Frequency</vt:lpstr>
      <vt:lpstr>Working Sets and Page Fault Rates</vt:lpstr>
      <vt:lpstr>If the invalid bit of a frame is set to 1, the page contained in the referenced frame does not belong to the process</vt:lpstr>
      <vt:lpstr>Having less parallelism can increase CPU utilization</vt:lpstr>
      <vt:lpstr>Having less available frames can reduce the number of page faults</vt:lpstr>
      <vt:lpstr>Agenda</vt:lpstr>
      <vt:lpstr>Memory-Mapped Files</vt:lpstr>
      <vt:lpstr>Memory Mapped Files</vt:lpstr>
      <vt:lpstr>Shared Memory via Memory-Mapped I/O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Vincenzo Gulisano</cp:lastModifiedBy>
  <cp:revision>56</cp:revision>
  <cp:lastPrinted>2016-12-04T09:07:27Z</cp:lastPrinted>
  <dcterms:created xsi:type="dcterms:W3CDTF">2015-11-23T07:30:25Z</dcterms:created>
  <dcterms:modified xsi:type="dcterms:W3CDTF">2025-09-29T12:14:11Z</dcterms:modified>
</cp:coreProperties>
</file>