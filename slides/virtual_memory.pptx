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1.xml" ContentType="application/vnd.openxmlformats-officedocument.presentationml.tags+xml"/>
  <Override PartName="/ppt/notesSlides/notesSlide4.xml" ContentType="application/vnd.openxmlformats-officedocument.presentationml.notesSlide+xml"/>
  <Override PartName="/ppt/tags/tag2.xml" ContentType="application/vnd.openxmlformats-officedocument.presentationml.tags+xml"/>
  <Override PartName="/ppt/notesSlides/notesSlide5.xml" ContentType="application/vnd.openxmlformats-officedocument.presentationml.notesSlide+xml"/>
  <Override PartName="/ppt/tags/tag3.xml" ContentType="application/vnd.openxmlformats-officedocument.presentationml.tags+xml"/>
  <Override PartName="/ppt/notesSlides/notesSlide6.xml" ContentType="application/vnd.openxmlformats-officedocument.presentationml.notesSlide+xml"/>
  <Override PartName="/ppt/tags/tag4.xml" ContentType="application/vnd.openxmlformats-officedocument.presentationml.tags+xml"/>
  <Override PartName="/ppt/notesSlides/notesSlide7.xml" ContentType="application/vnd.openxmlformats-officedocument.presentationml.notesSlide+xml"/>
  <Override PartName="/ppt/tags/tag5.xml" ContentType="application/vnd.openxmlformats-officedocument.presentationml.tag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71" r:id="rId1"/>
    <p:sldMasterId id="2147483836" r:id="rId2"/>
  </p:sldMasterIdLst>
  <p:notesMasterIdLst>
    <p:notesMasterId r:id="rId85"/>
  </p:notesMasterIdLst>
  <p:handoutMasterIdLst>
    <p:handoutMasterId r:id="rId86"/>
  </p:handoutMasterIdLst>
  <p:sldIdLst>
    <p:sldId id="391" r:id="rId3"/>
    <p:sldId id="398" r:id="rId4"/>
    <p:sldId id="369" r:id="rId5"/>
    <p:sldId id="400" r:id="rId6"/>
    <p:sldId id="481" r:id="rId7"/>
    <p:sldId id="492" r:id="rId8"/>
    <p:sldId id="493" r:id="rId9"/>
    <p:sldId id="508" r:id="rId10"/>
    <p:sldId id="509" r:id="rId11"/>
    <p:sldId id="494" r:id="rId12"/>
    <p:sldId id="399" r:id="rId13"/>
    <p:sldId id="482" r:id="rId14"/>
    <p:sldId id="407" r:id="rId15"/>
    <p:sldId id="408" r:id="rId16"/>
    <p:sldId id="409" r:id="rId17"/>
    <p:sldId id="410" r:id="rId18"/>
    <p:sldId id="411" r:id="rId19"/>
    <p:sldId id="412" r:id="rId20"/>
    <p:sldId id="413" r:id="rId21"/>
    <p:sldId id="415" r:id="rId22"/>
    <p:sldId id="416" r:id="rId23"/>
    <p:sldId id="484" r:id="rId24"/>
    <p:sldId id="419" r:id="rId25"/>
    <p:sldId id="420" r:id="rId26"/>
    <p:sldId id="421" r:id="rId27"/>
    <p:sldId id="507" r:id="rId28"/>
    <p:sldId id="485" r:id="rId29"/>
    <p:sldId id="424" r:id="rId30"/>
    <p:sldId id="495" r:id="rId31"/>
    <p:sldId id="423" r:id="rId32"/>
    <p:sldId id="425" r:id="rId33"/>
    <p:sldId id="496" r:id="rId34"/>
    <p:sldId id="426" r:id="rId35"/>
    <p:sldId id="427" r:id="rId36"/>
    <p:sldId id="428" r:id="rId37"/>
    <p:sldId id="429" r:id="rId38"/>
    <p:sldId id="498" r:id="rId39"/>
    <p:sldId id="499" r:id="rId40"/>
    <p:sldId id="501" r:id="rId41"/>
    <p:sldId id="502" r:id="rId42"/>
    <p:sldId id="497" r:id="rId43"/>
    <p:sldId id="430" r:id="rId44"/>
    <p:sldId id="431" r:id="rId45"/>
    <p:sldId id="432" r:id="rId46"/>
    <p:sldId id="433" r:id="rId47"/>
    <p:sldId id="434" r:id="rId48"/>
    <p:sldId id="435" r:id="rId49"/>
    <p:sldId id="436" r:id="rId50"/>
    <p:sldId id="486" r:id="rId51"/>
    <p:sldId id="505" r:id="rId52"/>
    <p:sldId id="441" r:id="rId53"/>
    <p:sldId id="442" r:id="rId54"/>
    <p:sldId id="443" r:id="rId55"/>
    <p:sldId id="444" r:id="rId56"/>
    <p:sldId id="487" r:id="rId57"/>
    <p:sldId id="446" r:id="rId58"/>
    <p:sldId id="479" r:id="rId59"/>
    <p:sldId id="447" r:id="rId60"/>
    <p:sldId id="448" r:id="rId61"/>
    <p:sldId id="449" r:id="rId62"/>
    <p:sldId id="506" r:id="rId63"/>
    <p:sldId id="450" r:id="rId64"/>
    <p:sldId id="452" r:id="rId65"/>
    <p:sldId id="453" r:id="rId66"/>
    <p:sldId id="488" r:id="rId67"/>
    <p:sldId id="454" r:id="rId68"/>
    <p:sldId id="456" r:id="rId69"/>
    <p:sldId id="457" r:id="rId70"/>
    <p:sldId id="510" r:id="rId71"/>
    <p:sldId id="265" r:id="rId72"/>
    <p:sldId id="266" r:id="rId73"/>
    <p:sldId id="267" r:id="rId74"/>
    <p:sldId id="268" r:id="rId75"/>
    <p:sldId id="269" r:id="rId76"/>
    <p:sldId id="270" r:id="rId77"/>
    <p:sldId id="257" r:id="rId78"/>
    <p:sldId id="259" r:id="rId79"/>
    <p:sldId id="260" r:id="rId80"/>
    <p:sldId id="261" r:id="rId81"/>
    <p:sldId id="262" r:id="rId82"/>
    <p:sldId id="264" r:id="rId83"/>
    <p:sldId id="512" r:id="rId84"/>
  </p:sldIdLst>
  <p:sldSz cx="13716000" cy="9144000"/>
  <p:notesSz cx="6997700" cy="92837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Verdana" charset="0"/>
        <a:ea typeface="MS PGothic" charset="-128"/>
        <a:cs typeface="+mn-cs"/>
      </a:defRPr>
    </a:lvl1pPr>
    <a:lvl2pPr marL="652463" indent="-195263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Verdana" charset="0"/>
        <a:ea typeface="MS PGothic" charset="-128"/>
        <a:cs typeface="+mn-cs"/>
      </a:defRPr>
    </a:lvl2pPr>
    <a:lvl3pPr marL="1304925" indent="-390525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Verdana" charset="0"/>
        <a:ea typeface="MS PGothic" charset="-128"/>
        <a:cs typeface="+mn-cs"/>
      </a:defRPr>
    </a:lvl3pPr>
    <a:lvl4pPr marL="1958975" indent="-587375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Verdana" charset="0"/>
        <a:ea typeface="MS PGothic" charset="-128"/>
        <a:cs typeface="+mn-cs"/>
      </a:defRPr>
    </a:lvl4pPr>
    <a:lvl5pPr marL="2611438" indent="-782638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Verdana" charset="0"/>
        <a:ea typeface="MS PGothic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Verdana" charset="0"/>
        <a:ea typeface="MS PGothic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Verdana" charset="0"/>
        <a:ea typeface="MS PGothic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Verdana" charset="0"/>
        <a:ea typeface="MS PGothic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Verdana" charset="0"/>
        <a:ea typeface="MS PGothic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28">
          <p15:clr>
            <a:srgbClr val="A4A3A4"/>
          </p15:clr>
        </p15:guide>
        <p15:guide id="2" pos="1964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rosoft Office User" initials="Office" lastIdx="1" clrIdx="0"/>
  <p:cmAuthor id="2" name="Microsoft Office User" initials="Office [2]" lastIdx="1" clrIdx="1"/>
  <p:cmAuthor id="3" name="Microsoft Office User" initials="Office [3]" lastIdx="1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00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009900"/>
    <a:srgbClr val="663300"/>
    <a:srgbClr val="0000CC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C45D356-7D79-874A-8730-0AF9B54D52B4}" v="5" dt="2025-09-29T12:14:09.9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276"/>
    <p:restoredTop sz="74596" autoAdjust="0"/>
  </p:normalViewPr>
  <p:slideViewPr>
    <p:cSldViewPr snapToGrid="0">
      <p:cViewPr varScale="1">
        <p:scale>
          <a:sx n="65" d="100"/>
          <a:sy n="65" d="100"/>
        </p:scale>
        <p:origin x="2408" y="192"/>
      </p:cViewPr>
      <p:guideLst>
        <p:guide orient="horz" pos="1528"/>
        <p:guide pos="196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13648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viewProps" Target="viewProps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theme" Target="theme/theme1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slide" Target="slides/slide78.xml"/><Relationship Id="rId85" Type="http://schemas.openxmlformats.org/officeDocument/2006/relationships/notesMaster" Target="notesMasters/notesMaster1.xml"/><Relationship Id="rId93" Type="http://schemas.microsoft.com/office/2015/10/relationships/revisionInfo" Target="revisionInfo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microsoft.com/office/2016/11/relationships/changesInfo" Target="changesInfos/changesInfo1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commentAuthors" Target="commentAuthors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ncenzo Massimiliano Gulisano" userId="887d7398-9e41-4331-abd4-9c23f064ea90" providerId="ADAL" clId="{8EA10870-6395-588A-9409-E8E4CA631CF7}"/>
    <pc:docChg chg="custSel addSld delSld modSld">
      <pc:chgData name="Vincenzo Massimiliano Gulisano" userId="887d7398-9e41-4331-abd4-9c23f064ea90" providerId="ADAL" clId="{8EA10870-6395-588A-9409-E8E4CA631CF7}" dt="2025-09-29T12:14:09.906" v="37" actId="33524"/>
      <pc:docMkLst>
        <pc:docMk/>
      </pc:docMkLst>
      <pc:sldChg chg="modSp add mod modNotesTx">
        <pc:chgData name="Vincenzo Massimiliano Gulisano" userId="887d7398-9e41-4331-abd4-9c23f064ea90" providerId="ADAL" clId="{8EA10870-6395-588A-9409-E8E4CA631CF7}" dt="2025-09-26T07:34:57.400" v="4" actId="20577"/>
        <pc:sldMkLst>
          <pc:docMk/>
          <pc:sldMk cId="3107918595" sldId="265"/>
        </pc:sldMkLst>
        <pc:spChg chg="mod">
          <ac:chgData name="Vincenzo Massimiliano Gulisano" userId="887d7398-9e41-4331-abd4-9c23f064ea90" providerId="ADAL" clId="{8EA10870-6395-588A-9409-E8E4CA631CF7}" dt="2025-09-26T07:34:57.400" v="4" actId="20577"/>
          <ac:spMkLst>
            <pc:docMk/>
            <pc:sldMk cId="3107918595" sldId="265"/>
            <ac:spMk id="3" creationId="{290DD50C-B6D7-3E00-0C89-290C212BA825}"/>
          </ac:spMkLst>
        </pc:spChg>
      </pc:sldChg>
      <pc:sldChg chg="modSp add mod modNotesTx">
        <pc:chgData name="Vincenzo Massimiliano Gulisano" userId="887d7398-9e41-4331-abd4-9c23f064ea90" providerId="ADAL" clId="{8EA10870-6395-588A-9409-E8E4CA631CF7}" dt="2025-09-26T07:35:11.577" v="8" actId="20577"/>
        <pc:sldMkLst>
          <pc:docMk/>
          <pc:sldMk cId="1150321690" sldId="266"/>
        </pc:sldMkLst>
        <pc:spChg chg="mod">
          <ac:chgData name="Vincenzo Massimiliano Gulisano" userId="887d7398-9e41-4331-abd4-9c23f064ea90" providerId="ADAL" clId="{8EA10870-6395-588A-9409-E8E4CA631CF7}" dt="2025-09-26T07:35:11.577" v="8" actId="20577"/>
          <ac:spMkLst>
            <pc:docMk/>
            <pc:sldMk cId="1150321690" sldId="266"/>
            <ac:spMk id="3" creationId="{6BCC5F87-99EF-F2E9-2A2D-6ABE8AAD5DBB}"/>
          </ac:spMkLst>
        </pc:spChg>
      </pc:sldChg>
      <pc:sldChg chg="modSp add mod modNotesTx">
        <pc:chgData name="Vincenzo Massimiliano Gulisano" userId="887d7398-9e41-4331-abd4-9c23f064ea90" providerId="ADAL" clId="{8EA10870-6395-588A-9409-E8E4CA631CF7}" dt="2025-09-26T07:35:21.662" v="18" actId="20577"/>
        <pc:sldMkLst>
          <pc:docMk/>
          <pc:sldMk cId="859074945" sldId="267"/>
        </pc:sldMkLst>
        <pc:spChg chg="mod">
          <ac:chgData name="Vincenzo Massimiliano Gulisano" userId="887d7398-9e41-4331-abd4-9c23f064ea90" providerId="ADAL" clId="{8EA10870-6395-588A-9409-E8E4CA631CF7}" dt="2025-09-26T07:35:19.098" v="13" actId="20577"/>
          <ac:spMkLst>
            <pc:docMk/>
            <pc:sldMk cId="859074945" sldId="267"/>
            <ac:spMk id="3" creationId="{D0F39A7A-5F76-30EC-4A87-B714A4EF30C3}"/>
          </ac:spMkLst>
        </pc:spChg>
      </pc:sldChg>
      <pc:sldChg chg="modSp add del mod modNotesTx">
        <pc:chgData name="Vincenzo Massimiliano Gulisano" userId="887d7398-9e41-4331-abd4-9c23f064ea90" providerId="ADAL" clId="{8EA10870-6395-588A-9409-E8E4CA631CF7}" dt="2025-09-26T07:36:05.440" v="25" actId="20577"/>
        <pc:sldMkLst>
          <pc:docMk/>
          <pc:sldMk cId="2587233204" sldId="268"/>
        </pc:sldMkLst>
        <pc:spChg chg="mod">
          <ac:chgData name="Vincenzo Massimiliano Gulisano" userId="887d7398-9e41-4331-abd4-9c23f064ea90" providerId="ADAL" clId="{8EA10870-6395-588A-9409-E8E4CA631CF7}" dt="2025-09-26T07:36:05.440" v="25" actId="20577"/>
          <ac:spMkLst>
            <pc:docMk/>
            <pc:sldMk cId="2587233204" sldId="268"/>
            <ac:spMk id="3" creationId="{B10B6747-D304-94ED-3557-3512E7A10F1C}"/>
          </ac:spMkLst>
        </pc:spChg>
      </pc:sldChg>
      <pc:sldChg chg="modSp add del mod modNotesTx">
        <pc:chgData name="Vincenzo Massimiliano Gulisano" userId="887d7398-9e41-4331-abd4-9c23f064ea90" providerId="ADAL" clId="{8EA10870-6395-588A-9409-E8E4CA631CF7}" dt="2025-09-26T07:36:21.097" v="29" actId="20577"/>
        <pc:sldMkLst>
          <pc:docMk/>
          <pc:sldMk cId="244429734" sldId="269"/>
        </pc:sldMkLst>
        <pc:spChg chg="mod">
          <ac:chgData name="Vincenzo Massimiliano Gulisano" userId="887d7398-9e41-4331-abd4-9c23f064ea90" providerId="ADAL" clId="{8EA10870-6395-588A-9409-E8E4CA631CF7}" dt="2025-09-26T07:36:19.524" v="28" actId="20577"/>
          <ac:spMkLst>
            <pc:docMk/>
            <pc:sldMk cId="244429734" sldId="269"/>
            <ac:spMk id="3" creationId="{EBD61E97-854A-C7D5-5C7B-8E5B547B5489}"/>
          </ac:spMkLst>
        </pc:spChg>
      </pc:sldChg>
      <pc:sldChg chg="modSp add del mod modNotesTx">
        <pc:chgData name="Vincenzo Massimiliano Gulisano" userId="887d7398-9e41-4331-abd4-9c23f064ea90" providerId="ADAL" clId="{8EA10870-6395-588A-9409-E8E4CA631CF7}" dt="2025-09-26T07:36:32.558" v="35" actId="12"/>
        <pc:sldMkLst>
          <pc:docMk/>
          <pc:sldMk cId="3726659625" sldId="270"/>
        </pc:sldMkLst>
        <pc:spChg chg="mod">
          <ac:chgData name="Vincenzo Massimiliano Gulisano" userId="887d7398-9e41-4331-abd4-9c23f064ea90" providerId="ADAL" clId="{8EA10870-6395-588A-9409-E8E4CA631CF7}" dt="2025-09-26T07:36:32.558" v="35" actId="12"/>
          <ac:spMkLst>
            <pc:docMk/>
            <pc:sldMk cId="3726659625" sldId="270"/>
            <ac:spMk id="3" creationId="{0E4C0826-55E5-A06A-0E50-9B1A11630930}"/>
          </ac:spMkLst>
        </pc:spChg>
      </pc:sldChg>
      <pc:sldChg chg="modSp">
        <pc:chgData name="Vincenzo Massimiliano Gulisano" userId="887d7398-9e41-4331-abd4-9c23f064ea90" providerId="ADAL" clId="{8EA10870-6395-588A-9409-E8E4CA631CF7}" dt="2025-09-29T12:14:09.906" v="37" actId="33524"/>
        <pc:sldMkLst>
          <pc:docMk/>
          <pc:sldMk cId="0" sldId="424"/>
        </pc:sldMkLst>
        <pc:spChg chg="mod">
          <ac:chgData name="Vincenzo Massimiliano Gulisano" userId="887d7398-9e41-4331-abd4-9c23f064ea90" providerId="ADAL" clId="{8EA10870-6395-588A-9409-E8E4CA631CF7}" dt="2025-09-29T12:14:09.906" v="37" actId="33524"/>
          <ac:spMkLst>
            <pc:docMk/>
            <pc:sldMk cId="0" sldId="424"/>
            <ac:spMk id="9" creationId="{00000000-0000-0000-0000-000000000000}"/>
          </ac:spMkLst>
        </pc:spChg>
      </pc:sldChg>
      <pc:sldChg chg="modSp mod">
        <pc:chgData name="Vincenzo Massimiliano Gulisano" userId="887d7398-9e41-4331-abd4-9c23f064ea90" providerId="ADAL" clId="{8EA10870-6395-588A-9409-E8E4CA631CF7}" dt="2025-09-29T12:14:01.074" v="36" actId="33524"/>
        <pc:sldMkLst>
          <pc:docMk/>
          <pc:sldMk cId="407946797" sldId="495"/>
        </pc:sldMkLst>
        <pc:spChg chg="mod">
          <ac:chgData name="Vincenzo Massimiliano Gulisano" userId="887d7398-9e41-4331-abd4-9c23f064ea90" providerId="ADAL" clId="{8EA10870-6395-588A-9409-E8E4CA631CF7}" dt="2025-09-29T12:14:01.074" v="36" actId="33524"/>
          <ac:spMkLst>
            <pc:docMk/>
            <pc:sldMk cId="407946797" sldId="495"/>
            <ac:spMk id="9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67050" cy="441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88134" tIns="44067" rIns="88134" bIns="44067" numCol="1" anchor="ctr" anchorCtr="0" compatLnSpc="1">
            <a:prstTxWarp prst="textNoShape">
              <a:avLst/>
            </a:prstTxWarp>
          </a:bodyPr>
          <a:lstStyle>
            <a:lvl1pPr defTabSz="881063">
              <a:defRPr sz="1200">
                <a:latin typeface="Helvetica" pitchFamily="34" charset="0"/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464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943350" y="0"/>
            <a:ext cx="3067050" cy="441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88134" tIns="44067" rIns="88134" bIns="44067" numCol="1" anchor="ctr" anchorCtr="0" compatLnSpc="1">
            <a:prstTxWarp prst="textNoShape">
              <a:avLst/>
            </a:prstTxWarp>
          </a:bodyPr>
          <a:lstStyle>
            <a:lvl1pPr algn="r" defTabSz="881063">
              <a:defRPr sz="1200">
                <a:latin typeface="Helvetica" pitchFamily="34" charset="0"/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464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853488"/>
            <a:ext cx="3067050" cy="4429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88134" tIns="44067" rIns="88134" bIns="44067" numCol="1" anchor="b" anchorCtr="0" compatLnSpc="1">
            <a:prstTxWarp prst="textNoShape">
              <a:avLst/>
            </a:prstTxWarp>
          </a:bodyPr>
          <a:lstStyle>
            <a:lvl1pPr defTabSz="881063">
              <a:defRPr sz="1200">
                <a:latin typeface="Helvetica" pitchFamily="34" charset="0"/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464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943350" y="8853488"/>
            <a:ext cx="3067050" cy="4429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88134" tIns="44067" rIns="88134" bIns="44067" numCol="1" anchor="b" anchorCtr="0" compatLnSpc="1">
            <a:prstTxWarp prst="textNoShape">
              <a:avLst/>
            </a:prstTxWarp>
          </a:bodyPr>
          <a:lstStyle>
            <a:lvl1pPr algn="r" defTabSz="881063">
              <a:defRPr sz="1200">
                <a:latin typeface="Helvetica" pitchFamily="34" charset="0"/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fld id="{8C3B23BF-0B98-DF43-B25B-AF41F13B2F4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7665032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0538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3026" tIns="46512" rIns="93026" bIns="46512" numCol="1" anchor="ctr" anchorCtr="0" compatLnSpc="1">
            <a:prstTxWarp prst="textNoShape">
              <a:avLst/>
            </a:prstTxWarp>
          </a:bodyPr>
          <a:lstStyle>
            <a:lvl1pPr defTabSz="930275">
              <a:defRPr sz="1300"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967163" y="0"/>
            <a:ext cx="3030537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3026" tIns="46512" rIns="93026" bIns="46512" numCol="1" anchor="ctr" anchorCtr="0" compatLnSpc="1">
            <a:prstTxWarp prst="textNoShape">
              <a:avLst/>
            </a:prstTxWarp>
          </a:bodyPr>
          <a:lstStyle>
            <a:lvl1pPr algn="r" defTabSz="930275">
              <a:defRPr sz="1300"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89000" y="696913"/>
            <a:ext cx="5219700" cy="34813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31863" y="4410075"/>
            <a:ext cx="5133975" cy="41767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3026" tIns="46512" rIns="93026" bIns="46512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0150"/>
            <a:ext cx="3030538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3026" tIns="46512" rIns="93026" bIns="46512" numCol="1" anchor="b" anchorCtr="0" compatLnSpc="1">
            <a:prstTxWarp prst="textNoShape">
              <a:avLst/>
            </a:prstTxWarp>
          </a:bodyPr>
          <a:lstStyle>
            <a:lvl1pPr defTabSz="930275">
              <a:defRPr sz="1300"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67163" y="8820150"/>
            <a:ext cx="3030537" cy="463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93026" tIns="46512" rIns="93026" bIns="46512" numCol="1" anchor="b" anchorCtr="0" compatLnSpc="1">
            <a:prstTxWarp prst="textNoShape">
              <a:avLst/>
            </a:prstTxWarp>
          </a:bodyPr>
          <a:lstStyle>
            <a:lvl1pPr algn="r" defTabSz="930275">
              <a:defRPr sz="1300">
                <a:latin typeface="Times New Roman" panose="02020603050405020304" pitchFamily="18" charset="0"/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fld id="{1502907E-AA43-014C-AC91-D1F640DDA9B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21813436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700" kern="1200">
        <a:solidFill>
          <a:schemeClr val="tx1"/>
        </a:solidFill>
        <a:latin typeface="Times New Roman" charset="0"/>
        <a:ea typeface="MS PGothic" pitchFamily="34" charset="-128"/>
        <a:cs typeface="ＭＳ Ｐゴシック" charset="-128"/>
      </a:defRPr>
    </a:lvl1pPr>
    <a:lvl2pPr marL="652463" algn="l" rtl="0" eaLnBrk="0" fontAlgn="base" hangingPunct="0">
      <a:spcBef>
        <a:spcPct val="30000"/>
      </a:spcBef>
      <a:spcAft>
        <a:spcPct val="0"/>
      </a:spcAft>
      <a:defRPr sz="1700" kern="1200">
        <a:solidFill>
          <a:schemeClr val="tx1"/>
        </a:solidFill>
        <a:latin typeface="Times New Roman" charset="0"/>
        <a:ea typeface="MS PGothic" pitchFamily="34" charset="-128"/>
        <a:cs typeface="+mn-cs"/>
      </a:defRPr>
    </a:lvl2pPr>
    <a:lvl3pPr marL="1304925" algn="l" rtl="0" eaLnBrk="0" fontAlgn="base" hangingPunct="0">
      <a:spcBef>
        <a:spcPct val="30000"/>
      </a:spcBef>
      <a:spcAft>
        <a:spcPct val="0"/>
      </a:spcAft>
      <a:defRPr sz="1700" kern="1200">
        <a:solidFill>
          <a:schemeClr val="tx1"/>
        </a:solidFill>
        <a:latin typeface="Times New Roman" charset="0"/>
        <a:ea typeface="MS PGothic" pitchFamily="34" charset="-128"/>
        <a:cs typeface="+mn-cs"/>
      </a:defRPr>
    </a:lvl3pPr>
    <a:lvl4pPr marL="1958975" algn="l" rtl="0" eaLnBrk="0" fontAlgn="base" hangingPunct="0">
      <a:spcBef>
        <a:spcPct val="30000"/>
      </a:spcBef>
      <a:spcAft>
        <a:spcPct val="0"/>
      </a:spcAft>
      <a:defRPr sz="1700" kern="1200">
        <a:solidFill>
          <a:schemeClr val="tx1"/>
        </a:solidFill>
        <a:latin typeface="Times New Roman" charset="0"/>
        <a:ea typeface="MS PGothic" pitchFamily="34" charset="-128"/>
        <a:cs typeface="+mn-cs"/>
      </a:defRPr>
    </a:lvl4pPr>
    <a:lvl5pPr marL="2611438" algn="l" rtl="0" eaLnBrk="0" fontAlgn="base" hangingPunct="0">
      <a:spcBef>
        <a:spcPct val="30000"/>
      </a:spcBef>
      <a:spcAft>
        <a:spcPct val="0"/>
      </a:spcAft>
      <a:defRPr sz="1700" kern="1200">
        <a:solidFill>
          <a:schemeClr val="tx1"/>
        </a:solidFill>
        <a:latin typeface="Times New Roman" charset="0"/>
        <a:ea typeface="MS PGothic" pitchFamily="34" charset="-128"/>
        <a:cs typeface="+mn-cs"/>
      </a:defRPr>
    </a:lvl5pPr>
    <a:lvl6pPr marL="3265551" algn="l" defTabSz="65311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6pPr>
    <a:lvl7pPr marL="3918661" algn="l" defTabSz="65311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7pPr>
    <a:lvl8pPr marL="4571771" algn="l" defTabSz="65311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8pPr>
    <a:lvl9pPr marL="5224882" algn="l" defTabSz="653110" rtl="0" eaLnBrk="1" latinLnBrk="0" hangingPunct="1">
      <a:defRPr sz="17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2813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12813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12813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12813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12813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12813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AA479674-9656-8A49-8795-7F9314B05D4D}" type="slidenum">
              <a:rPr lang="en-US" altLang="en-US">
                <a:latin typeface="Helvetica" charset="0"/>
              </a:rPr>
              <a:pPr/>
              <a:t>1</a:t>
            </a:fld>
            <a:endParaRPr lang="en-US" altLang="en-US">
              <a:latin typeface="Helvetica" charset="0"/>
            </a:endParaRPr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altLang="en-US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133929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0275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0275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0275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0275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53FA8D31-03CD-4C45-BC64-E37AD80A60E2}" type="slidenum">
              <a:rPr lang="en-US" altLang="en-US">
                <a:latin typeface="Times New Roman" charset="0"/>
              </a:rPr>
              <a:pPr/>
              <a:t>3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102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altLang="en-US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949974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external fragmentation / Internal Fragmentation and so on</a:t>
            </a:r>
          </a:p>
          <a:p>
            <a:endParaRPr lang="en-US" dirty="0"/>
          </a:p>
          <a:p>
            <a:r>
              <a:rPr lang="en-US" dirty="0"/>
              <a:t>pages power of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502907E-AA43-014C-AC91-D1F640DDA9B3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5605644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Question, wait for answers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502907E-AA43-014C-AC91-D1F640DDA9B3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689709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Question, wait for answers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502907E-AA43-014C-AC91-D1F640DDA9B3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279720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Question, wait for answers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502907E-AA43-014C-AC91-D1F640DDA9B3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289245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Java cleans code looking for methods that are never executed / called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1502907E-AA43-014C-AC91-D1F640DDA9B3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59006604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EA6AD583-009B-7D4A-923E-2C2C1E744834}" type="slidenum">
              <a:rPr lang="en-US" altLang="en-US">
                <a:latin typeface="Times New Roman" charset="0"/>
              </a:rPr>
              <a:pPr/>
              <a:t>13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276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76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55693413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9E92A65F-ECA5-1A44-9A18-35E62685DACC}" type="slidenum">
              <a:rPr lang="en-US" altLang="en-US">
                <a:latin typeface="Times New Roman" charset="0"/>
              </a:rPr>
              <a:pPr/>
              <a:t>15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3072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072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altLang="en-US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582397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00DD88AA-54D5-B845-A71D-421494D81BD7}" type="slidenum">
              <a:rPr lang="en-US" altLang="en-US">
                <a:latin typeface="Times New Roman" charset="0"/>
              </a:rPr>
              <a:pPr/>
              <a:t>16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3277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277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altLang="en-US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394348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62BD040D-1F47-9247-BC2A-6E838DC0604B}" type="slidenum">
              <a:rPr lang="en-US" altLang="en-US">
                <a:latin typeface="Times New Roman" charset="0"/>
              </a:rPr>
              <a:pPr/>
              <a:t>17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348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48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r>
              <a:rPr lang="en-US" altLang="en-US" dirty="0">
                <a:ea typeface="MS PGothic" charset="-128"/>
              </a:rPr>
              <a:t>Invalid</a:t>
            </a:r>
            <a:r>
              <a:rPr lang="en-US" altLang="en-US" baseline="0" dirty="0">
                <a:ea typeface="MS PGothic" charset="-128"/>
              </a:rPr>
              <a:t> reference (as I understand) is because the OS only knows there was an invalid reference, it still has to check in the table to see what it is exactly</a:t>
            </a:r>
            <a:endParaRPr lang="en-US" altLang="en-US" dirty="0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7671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927976FA-1BED-EC43-9FC5-A50DA61D908E}" type="slidenum">
              <a:rPr lang="en-US" altLang="en-US">
                <a:latin typeface="Times New Roman" charset="0"/>
              </a:rPr>
              <a:pPr/>
              <a:t>18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368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68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altLang="en-US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3076980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Slide Image Placeholder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8915" name="Notes Placeholder 2"/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ea typeface="MS PGothic" charset="-128"/>
              </a:rPr>
              <a:t>Do</a:t>
            </a:r>
            <a:r>
              <a:rPr lang="en-US" altLang="en-US" baseline="0" dirty="0">
                <a:ea typeface="MS PGothic" charset="-128"/>
              </a:rPr>
              <a:t> we need this page?</a:t>
            </a:r>
            <a:endParaRPr lang="en-US" altLang="en-US" dirty="0">
              <a:ea typeface="MS PGothic" charset="-128"/>
            </a:endParaRPr>
          </a:p>
        </p:txBody>
      </p:sp>
      <p:sp>
        <p:nvSpPr>
          <p:cNvPr id="38916" name="Slide Number Placeholder 3"/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0275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defTabSz="930275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defTabSz="930275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defTabSz="930275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defTabSz="930275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3068638" indent="-782638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3525838" indent="-782638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983038" indent="-782638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4440238" indent="-782638" defTabSz="93027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15666A47-BD60-C64E-BE4C-EC317061C287}" type="slidenum">
              <a:rPr lang="en-US" altLang="en-US">
                <a:latin typeface="Times New Roman" charset="0"/>
              </a:rPr>
              <a:pPr/>
              <a:t>19</a:t>
            </a:fld>
            <a:endParaRPr lang="en-US" alt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559111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885AFDFA-A496-3E42-873E-2422698EE166}" type="slidenum">
              <a:rPr lang="en-US" altLang="en-US">
                <a:latin typeface="Times New Roman" charset="0"/>
              </a:rPr>
              <a:pPr/>
              <a:t>20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r>
              <a:rPr lang="en-US" altLang="en-US" dirty="0">
                <a:ea typeface="MS PGothic" charset="-128"/>
              </a:rPr>
              <a:t>trap / interrupt difference</a:t>
            </a:r>
          </a:p>
        </p:txBody>
      </p:sp>
    </p:spTree>
    <p:extLst>
      <p:ext uri="{BB962C8B-B14F-4D97-AF65-F5344CB8AC3E}">
        <p14:creationId xmlns:p14="http://schemas.microsoft.com/office/powerpoint/2010/main" val="116765680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69E2107A-C827-084C-A362-9DCFC3585394}" type="slidenum">
              <a:rPr lang="en-US" altLang="en-US">
                <a:latin typeface="Times New Roman" charset="0"/>
              </a:rPr>
              <a:pPr/>
              <a:t>21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450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50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altLang="en-US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024057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8CA77528-C66C-D845-A1F9-7699CED81EE7}" type="slidenum">
              <a:rPr lang="en-US" altLang="en-US">
                <a:latin typeface="Times New Roman" charset="0"/>
              </a:rPr>
              <a:pPr/>
              <a:t>23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532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32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>
                <a:ea typeface="MS PGothic" charset="-128"/>
              </a:rPr>
              <a:t>Fast creation? Copy on write</a:t>
            </a:r>
          </a:p>
          <a:p>
            <a:r>
              <a:rPr lang="en-US" altLang="en-US">
                <a:ea typeface="MS PGothic" charset="-128"/>
              </a:rPr>
              <a:t>Fast creation + exec? Vfork()</a:t>
            </a:r>
          </a:p>
        </p:txBody>
      </p:sp>
    </p:spTree>
    <p:extLst>
      <p:ext uri="{BB962C8B-B14F-4D97-AF65-F5344CB8AC3E}">
        <p14:creationId xmlns:p14="http://schemas.microsoft.com/office/powerpoint/2010/main" val="6552766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8CDA3E4D-F144-F744-9976-83C9E3F084EB}" type="slidenum">
              <a:rPr lang="en-US" altLang="en-US">
                <a:latin typeface="Times New Roman" charset="0"/>
              </a:rPr>
              <a:pPr/>
              <a:t>24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552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53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altLang="en-US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117711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366F7967-39EA-C740-96AB-50018F6F4D5A}" type="slidenum">
              <a:rPr lang="en-US" altLang="en-US">
                <a:latin typeface="Times New Roman" charset="0"/>
              </a:rPr>
              <a:pPr/>
              <a:t>25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573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573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altLang="en-US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6730572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794CB26F-AD04-B14F-A8BD-5863B6E7FA41}" type="slidenum">
              <a:rPr lang="en-US" altLang="en-US">
                <a:latin typeface="Times New Roman" charset="0"/>
              </a:rPr>
              <a:pPr/>
              <a:t>28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ea typeface="MS PGothic" charset="-128"/>
              </a:rPr>
              <a:t>About the page that is faster to swap out, possible question is how? They have all the same size…</a:t>
            </a:r>
          </a:p>
          <a:p>
            <a:endParaRPr lang="en-US" altLang="en-US" dirty="0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865322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794CB26F-AD04-B14F-A8BD-5863B6E7FA41}" type="slidenum">
              <a:rPr lang="en-US" altLang="en-US">
                <a:latin typeface="Times New Roman" charset="0"/>
              </a:rPr>
              <a:pPr/>
              <a:t>29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9401595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65C57030-70CB-D641-93C7-B6134C1270ED}" type="slidenum">
              <a:rPr lang="en-US" altLang="en-US">
                <a:latin typeface="Times New Roman" charset="0"/>
              </a:rPr>
              <a:pPr/>
              <a:t>30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624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24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>
                <a:ea typeface="MS PGothic" charset="-128"/>
              </a:rPr>
              <a:t>If we need a frame but there’s no free one, which one do we free?</a:t>
            </a:r>
          </a:p>
        </p:txBody>
      </p:sp>
    </p:spTree>
    <p:extLst>
      <p:ext uri="{BB962C8B-B14F-4D97-AF65-F5344CB8AC3E}">
        <p14:creationId xmlns:p14="http://schemas.microsoft.com/office/powerpoint/2010/main" val="77800124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8031E20E-A2FB-094C-A0C5-25507DE88809}" type="slidenum">
              <a:rPr lang="en-US" altLang="en-US">
                <a:latin typeface="Times New Roman" charset="0"/>
              </a:rPr>
              <a:pPr/>
              <a:t>31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665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65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ea typeface="MS PGothic" charset="-128"/>
              </a:rPr>
              <a:t>Note now potentially 2 page transfers for page fault – increasing EAT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altLang="en-US" dirty="0">
                <a:ea typeface="MS PGothic" charset="-128"/>
              </a:rPr>
              <a:t>Actually, dirty bit is to reduce EAT (effective access time)</a:t>
            </a:r>
          </a:p>
        </p:txBody>
      </p:sp>
    </p:spTree>
    <p:extLst>
      <p:ext uri="{BB962C8B-B14F-4D97-AF65-F5344CB8AC3E}">
        <p14:creationId xmlns:p14="http://schemas.microsoft.com/office/powerpoint/2010/main" val="7184254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1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FE403E8D-1C0D-154A-A824-25DA79C588D3}" type="slidenum">
              <a:rPr lang="en-US" altLang="en-US">
                <a:latin typeface="Times New Roman" charset="0"/>
              </a:rPr>
              <a:pPr/>
              <a:t>33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686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861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2416380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9859AF26-271C-B143-9073-206180423867}" type="slidenum">
              <a:rPr lang="en-US" altLang="en-US">
                <a:latin typeface="Times New Roman" charset="0"/>
              </a:rPr>
              <a:pPr/>
              <a:t>34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706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06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altLang="en-US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83075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5B0CD403-321A-9842-85EE-80C338742029}" type="slidenum">
              <a:rPr lang="en-US" altLang="en-US">
                <a:latin typeface="Times New Roman" charset="0"/>
              </a:rPr>
              <a:pPr/>
              <a:t>35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727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27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>
                <a:ea typeface="MS PGothic" charset="-128"/>
              </a:rPr>
              <a:t>This is what we expect</a:t>
            </a:r>
          </a:p>
        </p:txBody>
      </p:sp>
    </p:spTree>
    <p:extLst>
      <p:ext uri="{BB962C8B-B14F-4D97-AF65-F5344CB8AC3E}">
        <p14:creationId xmlns:p14="http://schemas.microsoft.com/office/powerpoint/2010/main" val="128887661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5ECCF373-E4E5-4D48-844E-BC308849E896}" type="slidenum">
              <a:rPr lang="en-US" altLang="en-US">
                <a:latin typeface="Times New Roman" charset="0"/>
              </a:rPr>
              <a:pPr/>
              <a:t>36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r>
              <a:rPr lang="en-US" altLang="en-US" dirty="0">
                <a:ea typeface="MS PGothic" charset="-128"/>
              </a:rPr>
              <a:t>Wrong ANIMATION</a:t>
            </a:r>
          </a:p>
        </p:txBody>
      </p:sp>
    </p:spTree>
    <p:extLst>
      <p:ext uri="{BB962C8B-B14F-4D97-AF65-F5344CB8AC3E}">
        <p14:creationId xmlns:p14="http://schemas.microsoft.com/office/powerpoint/2010/main" val="4817210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5ECCF373-E4E5-4D48-844E-BC308849E896}" type="slidenum">
              <a:rPr lang="en-US" altLang="en-US">
                <a:latin typeface="Times New Roman" charset="0"/>
              </a:rPr>
              <a:pPr/>
              <a:t>37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altLang="en-US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468392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5ECCF373-E4E5-4D48-844E-BC308849E896}" type="slidenum">
              <a:rPr lang="en-US" altLang="en-US">
                <a:latin typeface="Times New Roman" charset="0"/>
              </a:rPr>
              <a:pPr/>
              <a:t>38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altLang="en-US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2000805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5ECCF373-E4E5-4D48-844E-BC308849E896}" type="slidenum">
              <a:rPr lang="en-US" altLang="en-US">
                <a:latin typeface="Times New Roman" charset="0"/>
              </a:rPr>
              <a:pPr/>
              <a:t>39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r>
              <a:rPr lang="en-US" altLang="en-US" dirty="0">
                <a:ea typeface="MS PGothic" charset="-128"/>
              </a:rPr>
              <a:t>Could say the first 3 are faults because we are just</a:t>
            </a:r>
            <a:r>
              <a:rPr lang="en-US" altLang="en-US" baseline="0" dirty="0">
                <a:ea typeface="MS PGothic" charset="-128"/>
              </a:rPr>
              <a:t> starting</a:t>
            </a:r>
            <a:endParaRPr lang="en-US" altLang="en-US" dirty="0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80144533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5ECCF373-E4E5-4D48-844E-BC308849E896}" type="slidenum">
              <a:rPr lang="en-US" altLang="en-US">
                <a:latin typeface="Times New Roman" charset="0"/>
              </a:rPr>
              <a:pPr/>
              <a:t>40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altLang="en-US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5756320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5ECCF373-E4E5-4D48-844E-BC308849E896}" type="slidenum">
              <a:rPr lang="en-US" altLang="en-US">
                <a:latin typeface="Times New Roman" charset="0"/>
              </a:rPr>
              <a:pPr/>
              <a:t>41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747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47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altLang="en-US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3871801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93EA1B4D-4E91-1147-A23A-C8ADA7DA60CD}" type="slidenum">
              <a:rPr lang="en-US" altLang="en-US">
                <a:latin typeface="Times New Roman" charset="0"/>
              </a:rPr>
              <a:pPr/>
              <a:t>42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768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68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altLang="en-US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7176672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E6551C8F-6409-2A4E-9107-E49716AA5281}" type="slidenum">
              <a:rPr lang="en-US" altLang="en-US">
                <a:latin typeface="Times New Roman" charset="0"/>
              </a:rPr>
              <a:pPr/>
              <a:t>43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788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788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 dirty="0">
                <a:ea typeface="MS PGothic" charset="-128"/>
              </a:rPr>
              <a:t>This one does not suffer the </a:t>
            </a:r>
            <a:r>
              <a:rPr lang="en-US" altLang="en-US" dirty="0" err="1">
                <a:ea typeface="MS PGothic" charset="-128"/>
              </a:rPr>
              <a:t>Belady’s</a:t>
            </a:r>
            <a:r>
              <a:rPr lang="en-US" altLang="en-US" dirty="0">
                <a:ea typeface="MS PGothic" charset="-128"/>
              </a:rPr>
              <a:t> anomaly</a:t>
            </a:r>
          </a:p>
        </p:txBody>
      </p:sp>
    </p:spTree>
    <p:extLst>
      <p:ext uri="{BB962C8B-B14F-4D97-AF65-F5344CB8AC3E}">
        <p14:creationId xmlns:p14="http://schemas.microsoft.com/office/powerpoint/2010/main" val="203306313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CF574FEF-B116-E24E-8CA8-CF48C95B1B7C}" type="slidenum">
              <a:rPr lang="en-US" altLang="en-US">
                <a:latin typeface="Times New Roman" charset="0"/>
              </a:rPr>
              <a:pPr/>
              <a:t>44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808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09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altLang="en-US" dirty="0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7975210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B8D9FEC4-FE57-9241-9C34-7B0D6F84A0D9}" type="slidenum">
              <a:rPr lang="en-US" altLang="en-US">
                <a:latin typeface="Times New Roman" charset="0"/>
              </a:rPr>
              <a:pPr/>
              <a:t>45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829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294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altLang="en-US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15684519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A1CDA032-8140-1548-A3C4-44E463947EB4}" type="slidenum">
              <a:rPr lang="en-US" altLang="en-US">
                <a:latin typeface="Times New Roman" charset="0"/>
              </a:rPr>
              <a:pPr/>
              <a:t>46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8499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499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altLang="en-US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2780330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4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F021DF42-6F02-C240-9FCD-63B55BEC716D}" type="slidenum">
              <a:rPr lang="en-US" altLang="en-US">
                <a:latin typeface="Times New Roman" charset="0"/>
              </a:rPr>
              <a:pPr/>
              <a:t>47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8704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704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r>
              <a:rPr lang="en-US" altLang="en-US">
                <a:ea typeface="MS PGothic" charset="-128"/>
              </a:rPr>
              <a:t>If a page is used a lot, it does not get replaced</a:t>
            </a:r>
          </a:p>
        </p:txBody>
      </p:sp>
    </p:spTree>
    <p:extLst>
      <p:ext uri="{BB962C8B-B14F-4D97-AF65-F5344CB8AC3E}">
        <p14:creationId xmlns:p14="http://schemas.microsoft.com/office/powerpoint/2010/main" val="150431442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9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AEE75986-AF9F-D94E-963C-0BFEE7C52F7F}" type="slidenum">
              <a:rPr lang="en-US" altLang="en-US">
                <a:latin typeface="Times New Roman" charset="0"/>
              </a:rPr>
              <a:pPr/>
              <a:t>48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8909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909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altLang="en-US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8756484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794CB26F-AD04-B14F-A8BD-5863B6E7FA41}" type="slidenum">
              <a:rPr lang="en-US" altLang="en-US">
                <a:latin typeface="Times New Roman" charset="0"/>
              </a:rPr>
              <a:pPr/>
              <a:t>50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645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45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332177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0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D6CDBF17-DF7E-114D-870E-2DBF8CFC6ED3}" type="slidenum">
              <a:rPr lang="en-US" altLang="en-US">
                <a:latin typeface="Times New Roman" charset="0"/>
              </a:rPr>
              <a:pPr/>
              <a:t>51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9830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830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altLang="en-US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3207582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7F6383AF-3A82-9445-81A0-2DA2F51401F6}" type="slidenum">
              <a:rPr lang="en-US" altLang="en-US">
                <a:latin typeface="Times New Roman" charset="0"/>
              </a:rPr>
              <a:pPr/>
              <a:t>52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10035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035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altLang="en-US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7300757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8D651FA0-4C6C-C046-9BE4-78675195E90F}" type="slidenum">
              <a:rPr lang="en-US" altLang="en-US">
                <a:latin typeface="Times New Roman" charset="0"/>
              </a:rPr>
              <a:pPr/>
              <a:t>53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10240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0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altLang="en-US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2995268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38CD1757-08B0-C141-A9DB-4D727A2DC4C6}" type="slidenum">
              <a:rPr lang="en-US" altLang="en-US">
                <a:latin typeface="Times New Roman" charset="0"/>
              </a:rPr>
              <a:pPr/>
              <a:t>54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1044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44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lvl="1"/>
            <a:r>
              <a:rPr lang="en-US" altLang="en-US">
                <a:ea typeface="MS PGothic" charset="-128"/>
              </a:rPr>
              <a:t>But then process execution time can vary greatly BECAUSE OF EXTERNAL REASONS</a:t>
            </a:r>
          </a:p>
        </p:txBody>
      </p:sp>
    </p:spTree>
    <p:extLst>
      <p:ext uri="{BB962C8B-B14F-4D97-AF65-F5344CB8AC3E}">
        <p14:creationId xmlns:p14="http://schemas.microsoft.com/office/powerpoint/2010/main" val="169659878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146D766E-D190-2A4F-8B3E-133BABCC0D1D}" type="slidenum">
              <a:rPr lang="en-US" altLang="en-US">
                <a:latin typeface="Times New Roman" charset="0"/>
              </a:rPr>
              <a:pPr/>
              <a:t>56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1085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4452" name="Rectangle 3"/>
          <p:cNvSpPr>
            <a:spLocks noGrp="1" noChangeArrowheads="1"/>
          </p:cNvSpPr>
          <p:nvPr>
            <p:ph type="body" idx="1"/>
          </p:nvPr>
        </p:nvSpPr>
        <p:spPr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lvl="2">
              <a:defRPr/>
            </a:pPr>
            <a:r>
              <a:rPr lang="en-US" altLang="en-US" sz="2250" dirty="0"/>
              <a:t>increase the degree of multiprogramming</a:t>
            </a:r>
            <a:r>
              <a:rPr lang="en-US" altLang="en-US" dirty="0">
                <a:latin typeface="Times New Roman" panose="02020603050405020304" pitchFamily="18" charset="0"/>
              </a:rPr>
              <a:t> MEANS schedule more processes (e.g., long-term scheduler ?)</a:t>
            </a:r>
            <a:endParaRPr lang="en-US" altLang="en-US" sz="2250" dirty="0"/>
          </a:p>
        </p:txBody>
      </p:sp>
    </p:spTree>
    <p:extLst>
      <p:ext uri="{BB962C8B-B14F-4D97-AF65-F5344CB8AC3E}">
        <p14:creationId xmlns:p14="http://schemas.microsoft.com/office/powerpoint/2010/main" val="44786420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1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95FA6232-3897-3543-A212-2BDBA1E023C9}" type="slidenum">
              <a:rPr lang="en-US" altLang="en-US">
                <a:latin typeface="Times New Roman" charset="0"/>
              </a:rPr>
              <a:pPr/>
              <a:t>58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11161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162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altLang="en-US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356112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66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22FE1838-11C7-F943-BD3E-57D33FFB7FF1}" type="slidenum">
              <a:rPr lang="en-US" altLang="en-US">
                <a:latin typeface="Times New Roman" charset="0"/>
              </a:rPr>
              <a:pPr/>
              <a:t>59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11366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366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altLang="en-US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6316644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F0FAD09E-37F5-A34F-877D-878E32C72381}" type="slidenum">
              <a:rPr lang="en-US" altLang="en-US">
                <a:latin typeface="Times New Roman" charset="0"/>
              </a:rPr>
              <a:pPr/>
              <a:t>60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1157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57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altLang="en-US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827957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3F057F9A-8A85-EC42-9273-676D2F392F0F}" type="slidenum">
              <a:rPr lang="en-US" altLang="en-US">
                <a:latin typeface="Times New Roman" charset="0"/>
              </a:rPr>
              <a:pPr/>
              <a:t>62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1177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77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r>
              <a:rPr lang="en-US" altLang="en-US" dirty="0">
                <a:ea typeface="MS PGothic" charset="-128"/>
              </a:rPr>
              <a:t>How could we avoid trashing</a:t>
            </a:r>
          </a:p>
        </p:txBody>
      </p:sp>
    </p:spTree>
    <p:extLst>
      <p:ext uri="{BB962C8B-B14F-4D97-AF65-F5344CB8AC3E}">
        <p14:creationId xmlns:p14="http://schemas.microsoft.com/office/powerpoint/2010/main" val="178222098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5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EA19BDD3-9B94-E943-8A1B-BF47EE7B8A63}" type="slidenum">
              <a:rPr lang="en-US" altLang="en-US">
                <a:latin typeface="Times New Roman" charset="0"/>
              </a:rPr>
              <a:pPr/>
              <a:t>63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12185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186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altLang="en-US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2225022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0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390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altLang="en-US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7839759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97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117FCCB0-61E6-BF48-9171-B06CA5ED399B}" type="slidenum">
              <a:rPr lang="en-US" altLang="en-US">
                <a:latin typeface="Times New Roman" charset="0"/>
              </a:rPr>
              <a:pPr/>
              <a:t>66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12697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2698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altLang="en-US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30743048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50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2109D888-368D-4942-BC7D-37DE014F52E7}" type="slidenum">
              <a:rPr lang="en-US" altLang="en-US">
                <a:latin typeface="Times New Roman" charset="0"/>
              </a:rPr>
              <a:pPr/>
              <a:t>67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13005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0052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altLang="en-US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1210472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09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 defTabSz="9398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defTabSz="939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fld id="{B033FF26-1E5E-834F-94F6-22D545B8C906}" type="slidenum">
              <a:rPr lang="en-US" altLang="en-US">
                <a:latin typeface="Times New Roman" charset="0"/>
              </a:rPr>
              <a:pPr/>
              <a:t>68</a:t>
            </a:fld>
            <a:endParaRPr lang="en-US" altLang="en-US">
              <a:latin typeface="Times New Roman" charset="0"/>
            </a:endParaRPr>
          </a:p>
        </p:txBody>
      </p:sp>
      <p:sp>
        <p:nvSpPr>
          <p:cNvPr id="13209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3210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/>
          <a:lstStyle/>
          <a:p>
            <a:endParaRPr lang="en-US" altLang="en-US">
              <a:ea typeface="MS PGothic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1067650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502907E-AA43-014C-AC91-D1F640DDA9B3}" type="slidenum">
              <a:rPr lang="en-US" altLang="en-US" smtClean="0"/>
              <a:pPr>
                <a:defRPr/>
              </a:pPr>
              <a:t>70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3191724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502907E-AA43-014C-AC91-D1F640DDA9B3}" type="slidenum">
              <a:rPr lang="en-US" altLang="en-US" smtClean="0"/>
              <a:pPr>
                <a:defRPr/>
              </a:pPr>
              <a:t>71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04623801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&amp;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502907E-AA43-014C-AC91-D1F640DDA9B3}" type="slidenum">
              <a:rPr lang="en-US" altLang="en-US" smtClean="0"/>
              <a:pPr>
                <a:defRPr/>
              </a:pPr>
              <a:t>72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4260528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502907E-AA43-014C-AC91-D1F640DDA9B3}" type="slidenum">
              <a:rPr lang="en-US" altLang="en-US" smtClean="0"/>
              <a:pPr>
                <a:defRPr/>
              </a:pPr>
              <a:t>73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3924986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502907E-AA43-014C-AC91-D1F640DDA9B3}" type="slidenum">
              <a:rPr lang="en-US" altLang="en-US" smtClean="0"/>
              <a:pPr>
                <a:defRPr/>
              </a:pPr>
              <a:t>74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46067246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502907E-AA43-014C-AC91-D1F640DDA9B3}" type="slidenum">
              <a:rPr lang="en-US" altLang="en-US" smtClean="0"/>
              <a:pPr>
                <a:defRPr/>
              </a:pPr>
              <a:t>75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3310136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en-US" dirty="0"/>
              <a:t>EAT = (1 – p) x (150 nanoseconds) + p (5 milliseconds) </a:t>
            </a:r>
            <a:br>
              <a:rPr lang="en-US" altLang="en-US" dirty="0"/>
            </a:br>
            <a:r>
              <a:rPr lang="en-US" altLang="en-US" dirty="0"/>
              <a:t>= (150 – p  x 150 + p x 5,000,000)</a:t>
            </a:r>
            <a:br>
              <a:rPr lang="en-US" altLang="en-US" dirty="0"/>
            </a:br>
            <a:r>
              <a:rPr lang="en-US" altLang="en-US" dirty="0"/>
              <a:t>= 150 + p x 4,999,850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Question 1</a:t>
            </a:r>
          </a:p>
          <a:p>
            <a:pPr marL="0" indent="0">
              <a:buNone/>
            </a:pPr>
            <a:r>
              <a:rPr lang="en-US" dirty="0"/>
              <a:t>Without virtual memory p = 0 </a:t>
            </a:r>
            <a:r>
              <a:rPr lang="en-US" dirty="0">
                <a:sym typeface="Wingdings"/>
              </a:rPr>
              <a:t> EAT = 150</a:t>
            </a:r>
          </a:p>
          <a:p>
            <a:pPr marL="0" indent="0">
              <a:buNone/>
            </a:pPr>
            <a:r>
              <a:rPr lang="en-US" dirty="0">
                <a:sym typeface="Wingdings"/>
              </a:rPr>
              <a:t>With virtual memory </a:t>
            </a:r>
            <a:r>
              <a:rPr lang="en-US" altLang="en-US" dirty="0"/>
              <a:t>150 + p x 4,999,850 = 2 x 150</a:t>
            </a:r>
          </a:p>
          <a:p>
            <a:pPr marL="0" indent="0">
              <a:buNone/>
            </a:pPr>
            <a:r>
              <a:rPr lang="en-US" altLang="en-US" dirty="0"/>
              <a:t>p = 0.00003</a:t>
            </a:r>
          </a:p>
          <a:p>
            <a:pPr marL="0" indent="0">
              <a:buNone/>
            </a:pPr>
            <a:r>
              <a:rPr lang="en-US" altLang="en-US" dirty="0"/>
              <a:t>1 page fault every 1/p (33333) on average</a:t>
            </a:r>
          </a:p>
          <a:p>
            <a:pPr marL="0" indent="0">
              <a:buNone/>
            </a:pPr>
            <a:br>
              <a:rPr lang="en-US" altLang="en-US" dirty="0"/>
            </a:br>
            <a:r>
              <a:rPr lang="en-US" altLang="en-US" dirty="0"/>
              <a:t>Question 2</a:t>
            </a:r>
          </a:p>
          <a:p>
            <a:pPr marL="0" indent="0">
              <a:buNone/>
            </a:pPr>
            <a:r>
              <a:rPr lang="en-US" altLang="en-US" dirty="0"/>
              <a:t>150 + 0.00005 x 1,999,850 &lt; 1.5 x 150 ?</a:t>
            </a:r>
          </a:p>
          <a:p>
            <a:pPr marL="0" indent="0">
              <a:buNone/>
            </a:pPr>
            <a:r>
              <a:rPr lang="en-US" altLang="en-US" dirty="0"/>
              <a:t>250 &lt; 225? </a:t>
            </a:r>
            <a:r>
              <a:rPr lang="en-US" altLang="en-US" dirty="0">
                <a:sym typeface="Wingdings"/>
              </a:rPr>
              <a:t> NO</a:t>
            </a:r>
            <a:br>
              <a:rPr lang="en-US" altLang="en-US" dirty="0"/>
            </a:br>
            <a:endParaRPr lang="en-US" altLang="en-US" dirty="0"/>
          </a:p>
          <a:p>
            <a:pPr marL="0" indent="0">
              <a:buNone/>
            </a:pPr>
            <a:endParaRPr lang="en-US" alt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502907E-AA43-014C-AC91-D1F640DDA9B3}" type="slidenum">
              <a:rPr lang="en-US" altLang="en-US" smtClean="0"/>
              <a:pPr>
                <a:defRPr/>
              </a:pPr>
              <a:t>76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47655814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Minimum is 8</a:t>
            </a:r>
          </a:p>
          <a:p>
            <a:r>
              <a:rPr lang="en-US" dirty="0"/>
              <a:t>FIFO is +3</a:t>
            </a:r>
          </a:p>
          <a:p>
            <a:r>
              <a:rPr lang="en-US" dirty="0"/>
              <a:t>LRU is +4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502907E-AA43-014C-AC91-D1F640DDA9B3}" type="slidenum">
              <a:rPr lang="en-US" altLang="en-US" smtClean="0"/>
              <a:pPr>
                <a:defRPr/>
              </a:pPr>
              <a:t>77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18144240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Frames for P</a:t>
            </a:r>
            <a:r>
              <a:rPr lang="en-US" baseline="-25000" dirty="0"/>
              <a:t>1</a:t>
            </a:r>
            <a:r>
              <a:rPr lang="en-US" dirty="0"/>
              <a:t>: 20/99*72 = 14</a:t>
            </a:r>
          </a:p>
          <a:p>
            <a:r>
              <a:rPr lang="en-US" dirty="0"/>
              <a:t>Frames for P</a:t>
            </a:r>
            <a:r>
              <a:rPr lang="en-US" baseline="-25000" dirty="0"/>
              <a:t>2</a:t>
            </a:r>
            <a:r>
              <a:rPr lang="en-US" dirty="0"/>
              <a:t>: 25/99*72 = 18</a:t>
            </a:r>
          </a:p>
          <a:p>
            <a:r>
              <a:rPr lang="en-US" dirty="0"/>
              <a:t>Frames for P</a:t>
            </a:r>
            <a:r>
              <a:rPr lang="en-US" baseline="-25000" dirty="0"/>
              <a:t>3</a:t>
            </a:r>
            <a:r>
              <a:rPr lang="en-US" dirty="0"/>
              <a:t>: 50/99*72 = 36</a:t>
            </a:r>
          </a:p>
          <a:p>
            <a:r>
              <a:rPr lang="en-US" dirty="0"/>
              <a:t>Frames for P</a:t>
            </a:r>
            <a:r>
              <a:rPr lang="en-US" baseline="-25000" dirty="0"/>
              <a:t>4</a:t>
            </a:r>
            <a:r>
              <a:rPr lang="en-US" dirty="0"/>
              <a:t>: 4/99*72 = 2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Notice that I’m rounding down instead of up otherwise I will violate the assumption that 8 pages should be devoted to the OS!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502907E-AA43-014C-AC91-D1F640DDA9B3}" type="slidenum">
              <a:rPr lang="en-US" altLang="en-US" smtClean="0"/>
              <a:pPr>
                <a:defRPr/>
              </a:pPr>
              <a:t>81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76718905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Page size = 16 bytes</a:t>
            </a:r>
          </a:p>
          <a:p>
            <a:r>
              <a:rPr lang="en-US" dirty="0"/>
              <a:t>Number of pages required = ceil(100/16) = 7</a:t>
            </a:r>
          </a:p>
          <a:p>
            <a:r>
              <a:rPr lang="en-US" dirty="0"/>
              <a:t>Wasted bytes because of internal fragmentation 16 –100%16 = 12 bytes</a:t>
            </a:r>
          </a:p>
          <a:p>
            <a:endParaRPr lang="en-US" dirty="0"/>
          </a:p>
          <a:p>
            <a:r>
              <a:rPr lang="en-US" dirty="0"/>
              <a:t>Page table = 7 * (8 + 1 + 1)  = 70 bits</a:t>
            </a:r>
          </a:p>
          <a:p>
            <a:pPr lvl="1"/>
            <a:r>
              <a:rPr lang="en-US" dirty="0"/>
              <a:t>8 bits </a:t>
            </a:r>
            <a:r>
              <a:rPr lang="en-US" dirty="0">
                <a:sym typeface="Wingdings"/>
              </a:rPr>
              <a:t> frame entry</a:t>
            </a:r>
          </a:p>
          <a:p>
            <a:pPr lvl="1"/>
            <a:r>
              <a:rPr lang="en-US" dirty="0">
                <a:sym typeface="Wingdings"/>
              </a:rPr>
              <a:t>1 bit  valid/invalid bit</a:t>
            </a:r>
          </a:p>
          <a:p>
            <a:pPr lvl="1"/>
            <a:r>
              <a:rPr lang="en-US" dirty="0">
                <a:sym typeface="Wingdings"/>
              </a:rPr>
              <a:t>1 bit  dirty bit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502907E-AA43-014C-AC91-D1F640DDA9B3}" type="slidenum">
              <a:rPr lang="en-US" altLang="en-US" smtClean="0"/>
              <a:pPr>
                <a:defRPr/>
              </a:pPr>
              <a:t>82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744421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14500" y="1496484"/>
            <a:ext cx="10287000" cy="3183467"/>
          </a:xfrm>
        </p:spPr>
        <p:txBody>
          <a:bodyPr anchor="b"/>
          <a:lstStyle>
            <a:lvl1pPr algn="ctr">
              <a:defRPr sz="675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4500" y="4802717"/>
            <a:ext cx="10287000" cy="2207683"/>
          </a:xfrm>
        </p:spPr>
        <p:txBody>
          <a:bodyPr/>
          <a:lstStyle>
            <a:lvl1pPr marL="0" indent="0" algn="ctr">
              <a:buNone/>
              <a:defRPr sz="2700"/>
            </a:lvl1pPr>
            <a:lvl2pPr marL="514350" indent="0" algn="ctr">
              <a:buNone/>
              <a:defRPr sz="2250"/>
            </a:lvl2pPr>
            <a:lvl3pPr marL="1028700" indent="0" algn="ctr">
              <a:buNone/>
              <a:defRPr sz="2025"/>
            </a:lvl3pPr>
            <a:lvl4pPr marL="1543050" indent="0" algn="ctr">
              <a:buNone/>
              <a:defRPr sz="1800"/>
            </a:lvl4pPr>
            <a:lvl5pPr marL="2057400" indent="0" algn="ctr">
              <a:buNone/>
              <a:defRPr sz="1800"/>
            </a:lvl5pPr>
            <a:lvl6pPr marL="2571750" indent="0" algn="ctr">
              <a:buNone/>
              <a:defRPr sz="1800"/>
            </a:lvl6pPr>
            <a:lvl7pPr marL="3086100" indent="0" algn="ctr">
              <a:buNone/>
              <a:defRPr sz="1800"/>
            </a:lvl7pPr>
            <a:lvl8pPr marL="3600450" indent="0" algn="ctr">
              <a:buNone/>
              <a:defRPr sz="1800"/>
            </a:lvl8pPr>
            <a:lvl9pPr marL="41148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534E8BD-0B24-9F4C-871F-0A8202FFB8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150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D65A73B-1BF2-6741-A7C7-88E869CE9B2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3898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5831" y="2279652"/>
            <a:ext cx="11830050" cy="3803649"/>
          </a:xfrm>
        </p:spPr>
        <p:txBody>
          <a:bodyPr anchor="b"/>
          <a:lstStyle>
            <a:lvl1pPr>
              <a:defRPr sz="675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5831" y="6119285"/>
            <a:ext cx="11830050" cy="2000249"/>
          </a:xfrm>
        </p:spPr>
        <p:txBody>
          <a:bodyPr/>
          <a:lstStyle>
            <a:lvl1pPr marL="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1pPr>
            <a:lvl2pPr marL="514350" indent="0">
              <a:buNone/>
              <a:defRPr sz="2250">
                <a:solidFill>
                  <a:schemeClr val="tx1">
                    <a:tint val="75000"/>
                  </a:schemeClr>
                </a:solidFill>
              </a:defRPr>
            </a:lvl2pPr>
            <a:lvl3pPr marL="1028700" indent="0">
              <a:buNone/>
              <a:defRPr sz="2025">
                <a:solidFill>
                  <a:schemeClr val="tx1">
                    <a:tint val="75000"/>
                  </a:schemeClr>
                </a:solidFill>
              </a:defRPr>
            </a:lvl3pPr>
            <a:lvl4pPr marL="154305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4pPr>
            <a:lvl5pPr marL="2057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5pPr>
            <a:lvl6pPr marL="257175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6pPr>
            <a:lvl7pPr marL="30861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7pPr>
            <a:lvl8pPr marL="360045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8pPr>
            <a:lvl9pPr marL="41148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9A8C4F8-7937-5546-9438-7050BA7C998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3150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75" y="2434167"/>
            <a:ext cx="58293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725" y="2434167"/>
            <a:ext cx="58293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9D29080-BEB2-224C-BAD5-D0030AC92FC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735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486834"/>
            <a:ext cx="11830050" cy="17674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4762" y="2241551"/>
            <a:ext cx="5802510" cy="1098549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4762" y="3340100"/>
            <a:ext cx="5802510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43725" y="2241551"/>
            <a:ext cx="5831087" cy="1098549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43725" y="3340100"/>
            <a:ext cx="5831087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2484345-966F-C746-81B6-7A014706D87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4008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5759D35-99C5-3A48-86D5-31C64F9121F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04208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A4A8100-10A7-4249-A497-8DE0246681A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80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609600"/>
            <a:ext cx="4423767" cy="21336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31087" y="1316567"/>
            <a:ext cx="6943725" cy="6498167"/>
          </a:xfrm>
        </p:spPr>
        <p:txBody>
          <a:bodyPr/>
          <a:lstStyle>
            <a:lvl1pPr>
              <a:defRPr sz="3600"/>
            </a:lvl1pPr>
            <a:lvl2pPr>
              <a:defRPr sz="3150"/>
            </a:lvl2pPr>
            <a:lvl3pPr>
              <a:defRPr sz="2700"/>
            </a:lvl3pPr>
            <a:lvl4pPr>
              <a:defRPr sz="2250"/>
            </a:lvl4pPr>
            <a:lvl5pPr>
              <a:defRPr sz="2250"/>
            </a:lvl5pPr>
            <a:lvl6pPr>
              <a:defRPr sz="2250"/>
            </a:lvl6pPr>
            <a:lvl7pPr>
              <a:defRPr sz="2250"/>
            </a:lvl7pPr>
            <a:lvl8pPr>
              <a:defRPr sz="2250"/>
            </a:lvl8pPr>
            <a:lvl9pPr>
              <a:defRPr sz="22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2" y="2743200"/>
            <a:ext cx="4423767" cy="5082117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547C977-F029-054F-B79B-7A1339746D2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24002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2" y="609600"/>
            <a:ext cx="4423767" cy="21336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831087" y="1316567"/>
            <a:ext cx="6943725" cy="6498167"/>
          </a:xfrm>
        </p:spPr>
        <p:txBody>
          <a:bodyPr rtlCol="0">
            <a:normAutofit/>
          </a:bodyPr>
          <a:lstStyle>
            <a:lvl1pPr marL="0" indent="0">
              <a:buNone/>
              <a:defRPr sz="3600"/>
            </a:lvl1pPr>
            <a:lvl2pPr marL="514350" indent="0">
              <a:buNone/>
              <a:defRPr sz="3150"/>
            </a:lvl2pPr>
            <a:lvl3pPr marL="1028700" indent="0">
              <a:buNone/>
              <a:defRPr sz="2700"/>
            </a:lvl3pPr>
            <a:lvl4pPr marL="1543050" indent="0">
              <a:buNone/>
              <a:defRPr sz="2250"/>
            </a:lvl4pPr>
            <a:lvl5pPr marL="2057400" indent="0">
              <a:buNone/>
              <a:defRPr sz="2250"/>
            </a:lvl5pPr>
            <a:lvl6pPr marL="2571750" indent="0">
              <a:buNone/>
              <a:defRPr sz="2250"/>
            </a:lvl6pPr>
            <a:lvl7pPr marL="3086100" indent="0">
              <a:buNone/>
              <a:defRPr sz="2250"/>
            </a:lvl7pPr>
            <a:lvl8pPr marL="3600450" indent="0">
              <a:buNone/>
              <a:defRPr sz="2250"/>
            </a:lvl8pPr>
            <a:lvl9pPr marL="4114800" indent="0">
              <a:buNone/>
              <a:defRPr sz="225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2" y="2743200"/>
            <a:ext cx="4423767" cy="5082117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C4761FC-113E-714A-BDC8-1557871AB2B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545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6B43F10-5897-344B-8D1C-057F7351F19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796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15512" y="486834"/>
            <a:ext cx="2957513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5" y="486834"/>
            <a:ext cx="8701088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F3740B1-3D39-8D40-BDB1-D7E83F5086E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70345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73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28700" y="914400"/>
            <a:ext cx="11658600" cy="2836333"/>
          </a:xfrm>
        </p:spPr>
        <p:txBody>
          <a:bodyPr/>
          <a:lstStyle>
            <a:lvl1pPr>
              <a:defRPr sz="610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6796109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79812-7922-F572-FBF4-DD8EA42A7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14500" y="1496484"/>
            <a:ext cx="10287000" cy="3183467"/>
          </a:xfrm>
        </p:spPr>
        <p:txBody>
          <a:bodyPr anchor="b"/>
          <a:lstStyle>
            <a:lvl1pPr algn="ctr">
              <a:defRPr sz="675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BDCA14-D8CD-7EC4-4379-8F747B1542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14500" y="4802717"/>
            <a:ext cx="10287000" cy="2207683"/>
          </a:xfrm>
        </p:spPr>
        <p:txBody>
          <a:bodyPr/>
          <a:lstStyle>
            <a:lvl1pPr marL="0" indent="0" algn="ctr">
              <a:buNone/>
              <a:defRPr sz="2700"/>
            </a:lvl1pPr>
            <a:lvl2pPr marL="514350" indent="0" algn="ctr">
              <a:buNone/>
              <a:defRPr sz="2250"/>
            </a:lvl2pPr>
            <a:lvl3pPr marL="1028700" indent="0" algn="ctr">
              <a:buNone/>
              <a:defRPr sz="2025"/>
            </a:lvl3pPr>
            <a:lvl4pPr marL="1543050" indent="0" algn="ctr">
              <a:buNone/>
              <a:defRPr sz="1800"/>
            </a:lvl4pPr>
            <a:lvl5pPr marL="2057400" indent="0" algn="ctr">
              <a:buNone/>
              <a:defRPr sz="1800"/>
            </a:lvl5pPr>
            <a:lvl6pPr marL="2571750" indent="0" algn="ctr">
              <a:buNone/>
              <a:defRPr sz="1800"/>
            </a:lvl6pPr>
            <a:lvl7pPr marL="3086100" indent="0" algn="ctr">
              <a:buNone/>
              <a:defRPr sz="1800"/>
            </a:lvl7pPr>
            <a:lvl8pPr marL="3600450" indent="0" algn="ctr">
              <a:buNone/>
              <a:defRPr sz="1800"/>
            </a:lvl8pPr>
            <a:lvl9pPr marL="4114800" indent="0" algn="ctr">
              <a:buNone/>
              <a:defRPr sz="1800"/>
            </a:lvl9pPr>
          </a:lstStyle>
          <a:p>
            <a:r>
              <a:rPr lang="en-GB"/>
              <a:t>Click to edit Master subtitle style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DE1525-4B3B-62BB-AEC4-3717A8D728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905C6B-C68A-2246-B76C-47CEEB719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E"/>
              <a:t>Operating Systems - Virtual Memory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40407D-879E-F928-BEB7-EF92314118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7530073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BFBF7-5873-10B0-9757-E649F2C5B5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4E676-6F6B-F88F-8188-716C994980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173FE5-95F9-28B1-736D-8595BFD5D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47F0D8-4BC6-B5DD-8742-1139CAC1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E"/>
              <a:t>Operating Systems - Virtual Memory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68186D-B6F3-BA3E-B41B-3ED606701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58272572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CCB8A-3B4C-FD93-4189-DBE9A57D10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831" y="2279652"/>
            <a:ext cx="11830050" cy="3803649"/>
          </a:xfrm>
        </p:spPr>
        <p:txBody>
          <a:bodyPr anchor="b"/>
          <a:lstStyle>
            <a:lvl1pPr>
              <a:defRPr sz="675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78525E-4244-E2FB-46D6-5C464D8381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831" y="6119285"/>
            <a:ext cx="11830050" cy="2000249"/>
          </a:xfrm>
        </p:spPr>
        <p:txBody>
          <a:bodyPr/>
          <a:lstStyle>
            <a:lvl1pPr marL="0" indent="0">
              <a:buNone/>
              <a:defRPr sz="2700">
                <a:solidFill>
                  <a:schemeClr val="tx1">
                    <a:tint val="75000"/>
                  </a:schemeClr>
                </a:solidFill>
              </a:defRPr>
            </a:lvl1pPr>
            <a:lvl2pPr marL="514350" indent="0">
              <a:buNone/>
              <a:defRPr sz="2250">
                <a:solidFill>
                  <a:schemeClr val="tx1">
                    <a:tint val="75000"/>
                  </a:schemeClr>
                </a:solidFill>
              </a:defRPr>
            </a:lvl2pPr>
            <a:lvl3pPr marL="1028700" indent="0">
              <a:buNone/>
              <a:defRPr sz="2025">
                <a:solidFill>
                  <a:schemeClr val="tx1">
                    <a:tint val="75000"/>
                  </a:schemeClr>
                </a:solidFill>
              </a:defRPr>
            </a:lvl3pPr>
            <a:lvl4pPr marL="154305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4pPr>
            <a:lvl5pPr marL="2057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5pPr>
            <a:lvl6pPr marL="257175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6pPr>
            <a:lvl7pPr marL="30861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7pPr>
            <a:lvl8pPr marL="360045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8pPr>
            <a:lvl9pPr marL="41148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C5DD53-BEAA-0F2B-D537-033D2CF9FF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FB11E0-3D79-7837-9C0C-1DA40974D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E"/>
              <a:t>Operating Systems - Virtual Memory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C00861-D42C-A73A-D630-B6B7BFB293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1174153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CA19E-845B-1661-6821-DF218196A3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8D2967-9105-9FE1-17C9-9F2A19E4EA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42975" y="2434167"/>
            <a:ext cx="5829300" cy="580178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65FB82-CD83-312A-4471-42A432503F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943725" y="2434167"/>
            <a:ext cx="5829300" cy="580178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FF9E22-737E-2E7C-E3DA-8CA180138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Vincenzo Gulisano</a:t>
            </a:r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6404B9-175B-6B12-2F8E-A61C886B9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E"/>
              <a:t>Operating Systems - Virtual Memory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A6A131-949B-8DCD-F714-920633044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4523321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B4C652-8B98-9526-560D-70865BE44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4761" y="486834"/>
            <a:ext cx="11830050" cy="176741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288DE9-A5B0-990E-BB8B-A31D61E40E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44762" y="2241551"/>
            <a:ext cx="5802510" cy="1098549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B54AB7-F18E-95A9-03A1-98F4030C8D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44762" y="3340100"/>
            <a:ext cx="5802510" cy="491278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B6ED570-D069-9521-D4CF-AEBD9630DD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943725" y="2241551"/>
            <a:ext cx="5831087" cy="1098549"/>
          </a:xfrm>
        </p:spPr>
        <p:txBody>
          <a:bodyPr anchor="b"/>
          <a:lstStyle>
            <a:lvl1pPr marL="0" indent="0">
              <a:buNone/>
              <a:defRPr sz="2700" b="1"/>
            </a:lvl1pPr>
            <a:lvl2pPr marL="514350" indent="0">
              <a:buNone/>
              <a:defRPr sz="2250" b="1"/>
            </a:lvl2pPr>
            <a:lvl3pPr marL="1028700" indent="0">
              <a:buNone/>
              <a:defRPr sz="2025" b="1"/>
            </a:lvl3pPr>
            <a:lvl4pPr marL="1543050" indent="0">
              <a:buNone/>
              <a:defRPr sz="1800" b="1"/>
            </a:lvl4pPr>
            <a:lvl5pPr marL="2057400" indent="0">
              <a:buNone/>
              <a:defRPr sz="1800" b="1"/>
            </a:lvl5pPr>
            <a:lvl6pPr marL="2571750" indent="0">
              <a:buNone/>
              <a:defRPr sz="1800" b="1"/>
            </a:lvl6pPr>
            <a:lvl7pPr marL="3086100" indent="0">
              <a:buNone/>
              <a:defRPr sz="1800" b="1"/>
            </a:lvl7pPr>
            <a:lvl8pPr marL="3600450" indent="0">
              <a:buNone/>
              <a:defRPr sz="1800" b="1"/>
            </a:lvl8pPr>
            <a:lvl9pPr marL="4114800" indent="0">
              <a:buNone/>
              <a:defRPr sz="18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292C33-3C07-678D-88B9-1615C87180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943725" y="3340100"/>
            <a:ext cx="5831087" cy="4912784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1727F4A-7354-3CB0-5B9B-1FFD762AC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Vincenzo Gulisano</a:t>
            </a:r>
            <a:endParaRPr lang="en-S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DC7CABA-3CE2-733D-2E38-1A95A389E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E"/>
              <a:t>Operating Systems - Virtual Memory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09D0B67-9A9C-FD36-D4AF-5606F2414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7866779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BFD02-C951-2E5A-76C7-5AD87510E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8EEE3E6-1578-7FFA-392B-40975533A0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Vincenzo Gulisano</a:t>
            </a:r>
            <a:endParaRPr lang="en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84A12A-450B-ED62-D0EB-D539A22A7F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E"/>
              <a:t>Operating Systems - Virtual Memory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0D9527-1330-18FB-012C-9A2B1E0B3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9548482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618DAA-258A-EB1C-D3D6-394B92572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Vincenzo Gulisano</a:t>
            </a:r>
            <a:endParaRPr lang="en-S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BEB1676-85F6-2216-F0C7-7AE6D31D1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E"/>
              <a:t>Operating Systems - Virtual Memory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980289-5B94-C267-05E1-354B788DA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8679342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A8B85-D958-749C-9116-203D9B65BC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4762" y="609600"/>
            <a:ext cx="4423767" cy="21336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2C1DD2-68AE-7E77-D7EA-B111BEF944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31086" y="1316567"/>
            <a:ext cx="6943725" cy="6498167"/>
          </a:xfrm>
        </p:spPr>
        <p:txBody>
          <a:bodyPr/>
          <a:lstStyle>
            <a:lvl1pPr>
              <a:defRPr sz="3600"/>
            </a:lvl1pPr>
            <a:lvl2pPr>
              <a:defRPr sz="3150"/>
            </a:lvl2pPr>
            <a:lvl3pPr>
              <a:defRPr sz="2700"/>
            </a:lvl3pPr>
            <a:lvl4pPr>
              <a:defRPr sz="2250"/>
            </a:lvl4pPr>
            <a:lvl5pPr>
              <a:defRPr sz="2250"/>
            </a:lvl5pPr>
            <a:lvl6pPr>
              <a:defRPr sz="2250"/>
            </a:lvl6pPr>
            <a:lvl7pPr>
              <a:defRPr sz="2250"/>
            </a:lvl7pPr>
            <a:lvl8pPr>
              <a:defRPr sz="2250"/>
            </a:lvl8pPr>
            <a:lvl9pPr>
              <a:defRPr sz="225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D4BBE9-7271-908B-0204-B2B47ADD56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44762" y="2743200"/>
            <a:ext cx="4423767" cy="5082117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7395D6-4FCE-3CE4-23C7-CAB7BDB10F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Vincenzo Gulisano</a:t>
            </a:r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928C22-87DC-2299-6204-65D186D780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E"/>
              <a:t>Operating Systems - Virtual Memory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118E40D-4572-3D5A-9C0E-67B04AC114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0020523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8F4D2-E977-38C0-C4D6-7D8B4E066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4762" y="609600"/>
            <a:ext cx="4423767" cy="21336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F48638-1DF6-AB77-87DB-AA1DE982A9A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831086" y="1316567"/>
            <a:ext cx="6943725" cy="6498167"/>
          </a:xfrm>
        </p:spPr>
        <p:txBody>
          <a:bodyPr/>
          <a:lstStyle>
            <a:lvl1pPr marL="0" indent="0">
              <a:buNone/>
              <a:defRPr sz="3600"/>
            </a:lvl1pPr>
            <a:lvl2pPr marL="514350" indent="0">
              <a:buNone/>
              <a:defRPr sz="3150"/>
            </a:lvl2pPr>
            <a:lvl3pPr marL="1028700" indent="0">
              <a:buNone/>
              <a:defRPr sz="2700"/>
            </a:lvl3pPr>
            <a:lvl4pPr marL="1543050" indent="0">
              <a:buNone/>
              <a:defRPr sz="2250"/>
            </a:lvl4pPr>
            <a:lvl5pPr marL="2057400" indent="0">
              <a:buNone/>
              <a:defRPr sz="2250"/>
            </a:lvl5pPr>
            <a:lvl6pPr marL="2571750" indent="0">
              <a:buNone/>
              <a:defRPr sz="2250"/>
            </a:lvl6pPr>
            <a:lvl7pPr marL="3086100" indent="0">
              <a:buNone/>
              <a:defRPr sz="2250"/>
            </a:lvl7pPr>
            <a:lvl8pPr marL="3600450" indent="0">
              <a:buNone/>
              <a:defRPr sz="2250"/>
            </a:lvl8pPr>
            <a:lvl9pPr marL="4114800" indent="0">
              <a:buNone/>
              <a:defRPr sz="2250"/>
            </a:lvl9pPr>
          </a:lstStyle>
          <a:p>
            <a:endParaRPr lang="en-S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18019C-1380-F34C-35D3-58CBA0B81B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44762" y="2743200"/>
            <a:ext cx="4423767" cy="5082117"/>
          </a:xfrm>
        </p:spPr>
        <p:txBody>
          <a:bodyPr/>
          <a:lstStyle>
            <a:lvl1pPr marL="0" indent="0">
              <a:buNone/>
              <a:defRPr sz="1800"/>
            </a:lvl1pPr>
            <a:lvl2pPr marL="514350" indent="0">
              <a:buNone/>
              <a:defRPr sz="1575"/>
            </a:lvl2pPr>
            <a:lvl3pPr marL="1028700" indent="0">
              <a:buNone/>
              <a:defRPr sz="1350"/>
            </a:lvl3pPr>
            <a:lvl4pPr marL="1543050" indent="0">
              <a:buNone/>
              <a:defRPr sz="1125"/>
            </a:lvl4pPr>
            <a:lvl5pPr marL="2057400" indent="0">
              <a:buNone/>
              <a:defRPr sz="1125"/>
            </a:lvl5pPr>
            <a:lvl6pPr marL="2571750" indent="0">
              <a:buNone/>
              <a:defRPr sz="1125"/>
            </a:lvl6pPr>
            <a:lvl7pPr marL="3086100" indent="0">
              <a:buNone/>
              <a:defRPr sz="1125"/>
            </a:lvl7pPr>
            <a:lvl8pPr marL="3600450" indent="0">
              <a:buNone/>
              <a:defRPr sz="1125"/>
            </a:lvl8pPr>
            <a:lvl9pPr marL="4114800" indent="0">
              <a:buNone/>
              <a:defRPr sz="112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3CFD3B-3CF6-314F-F0BB-DE9D4B762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Vincenzo Gulisano</a:t>
            </a:r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8F8E86-733B-9A0D-B37F-6CB5147F64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E"/>
              <a:t>Operating Systems - Virtual Memory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9532F0-C700-8BE6-7D00-C7F1B7677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13547594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27387-51E0-FC74-B175-161E2B8BF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A668C1-69AC-4367-6A8A-9EE60604C4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69F18E-27A7-F9B0-28F8-17C0D4782E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A4AF4E-3016-B845-88C5-561A60CCD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E"/>
              <a:t>Operating Systems - Virtual Memory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53DC10-0C07-A92A-B10C-3391C19EE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45549516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0E003F2-C044-A65C-BBEB-8E25B16A7F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815512" y="486833"/>
            <a:ext cx="2957513" cy="7749117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1C09FE-D623-7D09-AB88-15D3DF8793C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942975" y="486833"/>
            <a:ext cx="8701088" cy="7749117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4E6A8B-0060-B490-615E-03E460A384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FAB895-5930-D4D2-7DF5-C2143383AD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E"/>
              <a:t>Operating Systems - Virtual Memory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D876F0-760A-D2BB-53A6-0C9BDAB6D9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6276358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942975" y="487363"/>
            <a:ext cx="11830050" cy="1766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42975" y="2433638"/>
            <a:ext cx="11830050" cy="5802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2975" y="8475663"/>
            <a:ext cx="3086100" cy="4857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5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3425" y="8475663"/>
            <a:ext cx="4629150" cy="4857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5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86925" y="8475663"/>
            <a:ext cx="3086100" cy="4857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5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MS PGothic" panose="020B0600070205080204" pitchFamily="34" charset="-128"/>
              </a:defRPr>
            </a:lvl1pPr>
          </a:lstStyle>
          <a:p>
            <a:pPr>
              <a:defRPr/>
            </a:pPr>
            <a:fld id="{9CC1259D-6A92-1141-8817-F0285C67B7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24" r:id="rId1"/>
    <p:sldLayoutId id="2147483825" r:id="rId2"/>
    <p:sldLayoutId id="2147483826" r:id="rId3"/>
    <p:sldLayoutId id="2147483827" r:id="rId4"/>
    <p:sldLayoutId id="2147483828" r:id="rId5"/>
    <p:sldLayoutId id="2147483829" r:id="rId6"/>
    <p:sldLayoutId id="2147483830" r:id="rId7"/>
    <p:sldLayoutId id="2147483831" r:id="rId8"/>
    <p:sldLayoutId id="2147483832" r:id="rId9"/>
    <p:sldLayoutId id="2147483833" r:id="rId10"/>
    <p:sldLayoutId id="2147483834" r:id="rId11"/>
    <p:sldLayoutId id="2147483835" r:id="rId12"/>
  </p:sldLayoutIdLst>
  <p:hf hdr="0"/>
  <p:txStyles>
    <p:titleStyle>
      <a:lvl1pPr algn="l" defTabSz="10287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900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10287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900">
          <a:solidFill>
            <a:schemeClr val="tx1"/>
          </a:solidFill>
          <a:latin typeface="Garamond" panose="02020404030301010803" pitchFamily="18" charset="0"/>
        </a:defRPr>
      </a:lvl2pPr>
      <a:lvl3pPr algn="l" defTabSz="10287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900">
          <a:solidFill>
            <a:schemeClr val="tx1"/>
          </a:solidFill>
          <a:latin typeface="Garamond" panose="02020404030301010803" pitchFamily="18" charset="0"/>
        </a:defRPr>
      </a:lvl3pPr>
      <a:lvl4pPr algn="l" defTabSz="10287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900">
          <a:solidFill>
            <a:schemeClr val="tx1"/>
          </a:solidFill>
          <a:latin typeface="Garamond" panose="02020404030301010803" pitchFamily="18" charset="0"/>
        </a:defRPr>
      </a:lvl4pPr>
      <a:lvl5pPr algn="l" defTabSz="10287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900">
          <a:solidFill>
            <a:schemeClr val="tx1"/>
          </a:solidFill>
          <a:latin typeface="Garamond" panose="02020404030301010803" pitchFamily="18" charset="0"/>
        </a:defRPr>
      </a:lvl5pPr>
      <a:lvl6pPr marL="457200" algn="l" defTabSz="1028700" rtl="0" fontAlgn="base">
        <a:lnSpc>
          <a:spcPct val="90000"/>
        </a:lnSpc>
        <a:spcBef>
          <a:spcPct val="0"/>
        </a:spcBef>
        <a:spcAft>
          <a:spcPct val="0"/>
        </a:spcAft>
        <a:defRPr sz="4900">
          <a:solidFill>
            <a:schemeClr val="tx1"/>
          </a:solidFill>
          <a:latin typeface="Garamond" panose="02020404030301010803" pitchFamily="18" charset="0"/>
        </a:defRPr>
      </a:lvl6pPr>
      <a:lvl7pPr marL="914400" algn="l" defTabSz="1028700" rtl="0" fontAlgn="base">
        <a:lnSpc>
          <a:spcPct val="90000"/>
        </a:lnSpc>
        <a:spcBef>
          <a:spcPct val="0"/>
        </a:spcBef>
        <a:spcAft>
          <a:spcPct val="0"/>
        </a:spcAft>
        <a:defRPr sz="4900">
          <a:solidFill>
            <a:schemeClr val="tx1"/>
          </a:solidFill>
          <a:latin typeface="Garamond" panose="02020404030301010803" pitchFamily="18" charset="0"/>
        </a:defRPr>
      </a:lvl7pPr>
      <a:lvl8pPr marL="1371600" algn="l" defTabSz="1028700" rtl="0" fontAlgn="base">
        <a:lnSpc>
          <a:spcPct val="90000"/>
        </a:lnSpc>
        <a:spcBef>
          <a:spcPct val="0"/>
        </a:spcBef>
        <a:spcAft>
          <a:spcPct val="0"/>
        </a:spcAft>
        <a:defRPr sz="4900">
          <a:solidFill>
            <a:schemeClr val="tx1"/>
          </a:solidFill>
          <a:latin typeface="Garamond" panose="02020404030301010803" pitchFamily="18" charset="0"/>
        </a:defRPr>
      </a:lvl8pPr>
      <a:lvl9pPr marL="1828800" algn="l" defTabSz="1028700" rtl="0" fontAlgn="base">
        <a:lnSpc>
          <a:spcPct val="90000"/>
        </a:lnSpc>
        <a:spcBef>
          <a:spcPct val="0"/>
        </a:spcBef>
        <a:spcAft>
          <a:spcPct val="0"/>
        </a:spcAft>
        <a:defRPr sz="4900">
          <a:solidFill>
            <a:schemeClr val="tx1"/>
          </a:solidFill>
          <a:latin typeface="Garamond" panose="02020404030301010803" pitchFamily="18" charset="0"/>
        </a:defRPr>
      </a:lvl9pPr>
    </p:titleStyle>
    <p:bodyStyle>
      <a:lvl1pPr marL="257175" indent="-257175" algn="l" defTabSz="1028700" rtl="0" eaLnBrk="0" fontAlgn="base" hangingPunct="0">
        <a:lnSpc>
          <a:spcPct val="90000"/>
        </a:lnSpc>
        <a:spcBef>
          <a:spcPts val="1125"/>
        </a:spcBef>
        <a:spcAft>
          <a:spcPct val="0"/>
        </a:spcAft>
        <a:buFont typeface="Arial" charset="0"/>
        <a:buChar char="•"/>
        <a:defRPr sz="3100" kern="1200">
          <a:solidFill>
            <a:schemeClr val="tx1"/>
          </a:solidFill>
          <a:latin typeface="+mn-lt"/>
          <a:ea typeface="+mn-ea"/>
          <a:cs typeface="+mn-cs"/>
        </a:defRPr>
      </a:lvl1pPr>
      <a:lvl2pPr marL="771525" indent="-257175" algn="l" defTabSz="1028700" rtl="0" eaLnBrk="0" fontAlgn="base" hangingPunct="0">
        <a:lnSpc>
          <a:spcPct val="90000"/>
        </a:lnSpc>
        <a:spcBef>
          <a:spcPts val="563"/>
        </a:spcBef>
        <a:spcAft>
          <a:spcPct val="0"/>
        </a:spcAft>
        <a:buFont typeface="Arial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85875" indent="-257175" algn="l" defTabSz="1028700" rtl="0" eaLnBrk="0" fontAlgn="base" hangingPunct="0">
        <a:lnSpc>
          <a:spcPct val="90000"/>
        </a:lnSpc>
        <a:spcBef>
          <a:spcPts val="563"/>
        </a:spcBef>
        <a:spcAft>
          <a:spcPct val="0"/>
        </a:spcAft>
        <a:buFont typeface="Arial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800225" indent="-257175" algn="l" defTabSz="1028700" rtl="0" eaLnBrk="0" fontAlgn="base" hangingPunct="0">
        <a:lnSpc>
          <a:spcPct val="90000"/>
        </a:lnSpc>
        <a:spcBef>
          <a:spcPts val="563"/>
        </a:spcBef>
        <a:spcAft>
          <a:spcPct val="0"/>
        </a:spcAft>
        <a:buFont typeface="Arial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314575" indent="-257175" algn="l" defTabSz="1028700" rtl="0" eaLnBrk="0" fontAlgn="base" hangingPunct="0">
        <a:lnSpc>
          <a:spcPct val="90000"/>
        </a:lnSpc>
        <a:spcBef>
          <a:spcPts val="563"/>
        </a:spcBef>
        <a:spcAft>
          <a:spcPct val="0"/>
        </a:spcAft>
        <a:buFont typeface="Arial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8289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3432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8576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3719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3pPr>
      <a:lvl4pPr marL="15430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5717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0861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6004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1148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208A73-CD14-71D4-6762-D42704258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975" y="486834"/>
            <a:ext cx="1183005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S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46A26D-F8DF-E1B7-C797-1B953F065B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42975" y="2434167"/>
            <a:ext cx="1183005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S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398A65-F014-0AA3-2291-081A9AE268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42975" y="8475134"/>
            <a:ext cx="30861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645CC-3E41-464B-DC9B-B736B5A40A4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543425" y="8475134"/>
            <a:ext cx="46291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SE"/>
              <a:t>Operating Systems - Virtual Memory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EFE334-C90F-ECAC-73FF-C31C66E56C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686925" y="8475134"/>
            <a:ext cx="30861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79AA98-1CDB-B74D-913E-0EAC104F29A0}" type="slidenum">
              <a:rPr lang="en-SE" smtClean="0"/>
              <a:t>‹#›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4609232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7" r:id="rId1"/>
    <p:sldLayoutId id="2147483838" r:id="rId2"/>
    <p:sldLayoutId id="2147483839" r:id="rId3"/>
    <p:sldLayoutId id="2147483840" r:id="rId4"/>
    <p:sldLayoutId id="2147483841" r:id="rId5"/>
    <p:sldLayoutId id="2147483842" r:id="rId6"/>
    <p:sldLayoutId id="2147483843" r:id="rId7"/>
    <p:sldLayoutId id="2147483844" r:id="rId8"/>
    <p:sldLayoutId id="2147483845" r:id="rId9"/>
    <p:sldLayoutId id="2147483846" r:id="rId10"/>
    <p:sldLayoutId id="2147483847" r:id="rId11"/>
  </p:sldLayoutIdLst>
  <p:hf hdr="0"/>
  <p:txStyles>
    <p:titleStyle>
      <a:lvl1pPr algn="l" defTabSz="1028700" rtl="0" eaLnBrk="1" latinLnBrk="0" hangingPunct="1">
        <a:lnSpc>
          <a:spcPct val="90000"/>
        </a:lnSpc>
        <a:spcBef>
          <a:spcPct val="0"/>
        </a:spcBef>
        <a:buNone/>
        <a:defRPr sz="49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7175" indent="-257175" algn="l" defTabSz="1028700" rtl="0" eaLnBrk="1" latinLnBrk="0" hangingPunct="1">
        <a:lnSpc>
          <a:spcPct val="90000"/>
        </a:lnSpc>
        <a:spcBef>
          <a:spcPts val="1125"/>
        </a:spcBef>
        <a:buFont typeface="Arial" panose="020B0604020202020204" pitchFamily="34" charset="0"/>
        <a:buChar char="•"/>
        <a:defRPr sz="3150" kern="1200">
          <a:solidFill>
            <a:schemeClr val="tx1"/>
          </a:solidFill>
          <a:latin typeface="+mn-lt"/>
          <a:ea typeface="+mn-ea"/>
          <a:cs typeface="+mn-cs"/>
        </a:defRPr>
      </a:lvl1pPr>
      <a:lvl2pPr marL="7715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858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250" kern="1200">
          <a:solidFill>
            <a:schemeClr val="tx1"/>
          </a:solidFill>
          <a:latin typeface="+mn-lt"/>
          <a:ea typeface="+mn-ea"/>
          <a:cs typeface="+mn-cs"/>
        </a:defRPr>
      </a:lvl3pPr>
      <a:lvl4pPr marL="18002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3145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8289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3432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85762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371975" indent="-257175" algn="l" defTabSz="1028700" rtl="0" eaLnBrk="1" latinLnBrk="0" hangingPunct="1">
        <a:lnSpc>
          <a:spcPct val="90000"/>
        </a:lnSpc>
        <a:spcBef>
          <a:spcPts val="563"/>
        </a:spcBef>
        <a:buFont typeface="Arial" panose="020B0604020202020204" pitchFamily="34" charset="0"/>
        <a:buChar char="•"/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3pPr>
      <a:lvl4pPr marL="15430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5pPr>
      <a:lvl6pPr marL="25717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6pPr>
      <a:lvl7pPr marL="30861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7pPr>
      <a:lvl8pPr marL="360045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8pPr>
      <a:lvl9pPr marL="4114800" algn="l" defTabSz="1028700" rtl="0" eaLnBrk="1" latinLnBrk="0" hangingPunct="1">
        <a:defRPr sz="20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5" Type="http://schemas.openxmlformats.org/officeDocument/2006/relationships/image" Target="../media/image5.tiff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5" Type="http://schemas.openxmlformats.org/officeDocument/2006/relationships/image" Target="../media/image5.tiff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Relationship Id="rId6" Type="http://schemas.openxmlformats.org/officeDocument/2006/relationships/image" Target="../media/image6.tiff"/><Relationship Id="rId5" Type="http://schemas.openxmlformats.org/officeDocument/2006/relationships/image" Target="../media/image5.tiff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tiff"/><Relationship Id="rId2" Type="http://schemas.openxmlformats.org/officeDocument/2006/relationships/image" Target="../media/image13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tiff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tiff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f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emf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emf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f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e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25.wmf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tiff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emf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emf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emf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4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4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4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4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 txBox="1">
            <a:spLocks noChangeArrowheads="1"/>
          </p:cNvSpPr>
          <p:nvPr/>
        </p:nvSpPr>
        <p:spPr>
          <a:xfrm>
            <a:off x="1604963" y="1900238"/>
            <a:ext cx="10363200" cy="2835275"/>
          </a:xfrm>
          <a:prstGeom prst="rect">
            <a:avLst/>
          </a:prstGeom>
        </p:spPr>
        <p:txBody>
          <a:bodyPr lIns="121920" tIns="60960" rIns="121920" bIns="60960" anchor="ctr">
            <a:normAutofit fontScale="90000" lnSpcReduction="10000"/>
          </a:bodyPr>
          <a:lstStyle>
            <a:lvl1pPr algn="l" defTabSz="6858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3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  <a:defRPr/>
            </a:pPr>
            <a:r>
              <a:rPr lang="en-US" sz="5333" dirty="0"/>
              <a:t>Virtual Memory</a:t>
            </a:r>
            <a:br>
              <a:rPr lang="en-US" altLang="en-US" sz="5333" dirty="0"/>
            </a:br>
            <a:r>
              <a:rPr lang="en-US" altLang="en-US" sz="5333" dirty="0"/>
              <a:t>Operating Systems – EDA093/DIT401</a:t>
            </a:r>
            <a:br>
              <a:rPr lang="en-US" altLang="en-US" sz="5733" dirty="0"/>
            </a:br>
            <a:br>
              <a:rPr lang="en-US" altLang="en-US" sz="5733" dirty="0"/>
            </a:br>
            <a:r>
              <a:rPr lang="en-US" altLang="en-US" sz="4267" dirty="0"/>
              <a:t>Vincenzo Gulisano</a:t>
            </a:r>
            <a:br>
              <a:rPr lang="en-US" altLang="en-US" sz="4267" dirty="0"/>
            </a:br>
            <a:r>
              <a:rPr lang="en-US" altLang="en-US" sz="2667" dirty="0"/>
              <a:t>vincenzo.gulisano@chalmers.se</a:t>
            </a:r>
            <a:endParaRPr lang="en-US" altLang="en-US" sz="3600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0B63B3D-3E2F-3ECF-B76E-AC218790FD9B}"/>
              </a:ext>
            </a:extLst>
          </p:cNvPr>
          <p:cNvGrpSpPr/>
          <p:nvPr/>
        </p:nvGrpSpPr>
        <p:grpSpPr>
          <a:xfrm>
            <a:off x="3305614" y="6760161"/>
            <a:ext cx="7104771" cy="1547400"/>
            <a:chOff x="777241" y="4793437"/>
            <a:chExt cx="7104771" cy="15474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FA536BF-0E6A-86B6-D574-1384E34D8DE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03022" y="4793437"/>
              <a:ext cx="2078990" cy="15474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A421E9D-1A66-EA6B-22A6-13488992A9D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77241" y="4973870"/>
              <a:ext cx="4724632" cy="1186535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4950" dirty="0"/>
              <a:t>Reading instructions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200"/>
              <a:t>Chapter 3.3 to 3.6 </a:t>
            </a:r>
            <a:br>
              <a:rPr lang="en-US" sz="3200" dirty="0"/>
            </a:br>
            <a:br>
              <a:rPr lang="en-US" sz="3200" dirty="0"/>
            </a:br>
            <a:r>
              <a:rPr lang="en-US" sz="3200" dirty="0"/>
              <a:t>(extra facultative reading: 9.1-9.4.5, 9.5 to 9.7.1 from </a:t>
            </a:r>
            <a:r>
              <a:rPr lang="en-US" sz="3200" dirty="0" err="1"/>
              <a:t>Silberschatz</a:t>
            </a:r>
            <a:r>
              <a:rPr lang="en-US" sz="3200" dirty="0"/>
              <a:t> Operating System Concepts)</a:t>
            </a:r>
            <a:endParaRPr lang="en-US" sz="275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Operating Systems - Virtual Memory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954499E-E7BC-5D4D-86C8-A4879F14E8F7}" type="slidenum">
              <a:rPr lang="en-US"/>
              <a:pPr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/>
          <p:cNvSpPr>
            <a:spLocks noGrp="1" noChangeArrowheads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Objectives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idx="1"/>
          </p:nvPr>
        </p:nvSpPr>
        <p:spPr>
          <a:xfrm>
            <a:off x="1209675" y="2254250"/>
            <a:ext cx="11482388" cy="5430838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To describe the benefits of a virtual memory system</a:t>
            </a:r>
            <a:br>
              <a:rPr lang="en-US" altLang="en-US" sz="3150" dirty="0"/>
            </a:br>
            <a:endParaRPr lang="en-US" altLang="en-US" sz="3150" dirty="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To explain the concepts of demand paging, page-replacement algorithms, and allocation of page frames</a:t>
            </a:r>
            <a:br>
              <a:rPr lang="en-US" altLang="en-US" sz="3150" dirty="0"/>
            </a:br>
            <a:endParaRPr lang="en-US" altLang="en-US" sz="3150" dirty="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To discuss the principle of the working-set model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CE3F3E2-7D1A-4241-A911-4FD6B95B355F}" type="slidenum">
              <a:rPr lang="en-US"/>
              <a:pPr>
                <a:defRPr/>
              </a:pPr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4950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/>
              <a:t>Recap / Introduction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/>
              <a:t>Demand Paging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/>
              <a:t>Copy-on-Write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/>
              <a:t>Page Replacement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/>
              <a:t>Allocation of Frames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/>
              <a:t>Thrashing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/>
              <a:t>Memory-Mapped files </a:t>
            </a:r>
            <a:r>
              <a:rPr lang="en-US" sz="2400" dirty="0"/>
              <a:t>[Self-reading]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F0D01A4-9E4C-6A4B-8BF7-E87B04FE64DF}" type="slidenum">
              <a:rPr lang="en-US"/>
              <a:pPr>
                <a:defRPr/>
              </a:pPr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4950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/>
              <a:t>Recap / Introduction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Demand Paging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Copy-on-Write</a:t>
            </a:r>
            <a:endParaRPr lang="en-US" sz="2400" dirty="0">
              <a:solidFill>
                <a:schemeClr val="bg1">
                  <a:lumMod val="65000"/>
                </a:schemeClr>
              </a:solidFill>
            </a:endParaRP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Page Replacement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Allocation of Frames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Thrashing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Memory-Mapped files </a:t>
            </a:r>
            <a:r>
              <a:rPr lang="en-US" sz="2400" dirty="0">
                <a:solidFill>
                  <a:schemeClr val="bg1">
                    <a:lumMod val="65000"/>
                  </a:schemeClr>
                </a:solidFill>
              </a:rPr>
              <a:t>[Self-reading]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5E4914A-1274-7942-AC73-B04B6BBE6856}" type="slidenum">
              <a:rPr lang="en-US"/>
              <a:pPr>
                <a:defRPr/>
              </a:pPr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… we discussed paging!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D65A73B-1BF2-6741-A7C7-88E869CE9B2E}" type="slidenum">
              <a:rPr lang="en-US" smtClean="0"/>
              <a:pPr>
                <a:defRPr/>
              </a:pPr>
              <a:t>6</a:t>
            </a:fld>
            <a:endParaRPr lang="en-US"/>
          </a:p>
        </p:txBody>
      </p:sp>
      <p:pic>
        <p:nvPicPr>
          <p:cNvPr id="7" name="Picture 1030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322" r="82913" b="38182"/>
          <a:stretch/>
        </p:blipFill>
        <p:spPr bwMode="auto">
          <a:xfrm>
            <a:off x="942975" y="2655863"/>
            <a:ext cx="843883" cy="24678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Picture 1030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0044"/>
          <a:stretch/>
        </p:blipFill>
        <p:spPr bwMode="auto">
          <a:xfrm>
            <a:off x="2082748" y="2254250"/>
            <a:ext cx="1479448" cy="4613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7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36" r="82460" b="35561"/>
          <a:stretch/>
        </p:blipFill>
        <p:spPr bwMode="auto">
          <a:xfrm>
            <a:off x="4286300" y="2655863"/>
            <a:ext cx="1035563" cy="16223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Content Placeholder 2"/>
          <p:cNvSpPr>
            <a:spLocks noGrp="1"/>
          </p:cNvSpPr>
          <p:nvPr>
            <p:ph idx="1"/>
          </p:nvPr>
        </p:nvSpPr>
        <p:spPr>
          <a:xfrm>
            <a:off x="8126663" y="2655863"/>
            <a:ext cx="5350899" cy="4351338"/>
          </a:xfrm>
        </p:spPr>
        <p:txBody>
          <a:bodyPr/>
          <a:lstStyle/>
          <a:p>
            <a:r>
              <a:rPr lang="en-US" dirty="0"/>
              <a:t>Split logical memory in pages</a:t>
            </a:r>
          </a:p>
          <a:p>
            <a:r>
              <a:rPr lang="en-US" dirty="0"/>
              <a:t>Split physical memory in frames</a:t>
            </a:r>
          </a:p>
          <a:p>
            <a:r>
              <a:rPr lang="en-US" dirty="0"/>
              <a:t>Keep a program (disk) organized in pages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u="sng" dirty="0"/>
              <a:t>Page size = Frame size!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428936" y="5655202"/>
            <a:ext cx="922389" cy="218276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4804094" y="4915885"/>
            <a:ext cx="217207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400" dirty="0"/>
              <a:t>Logical and physical memory more and more separated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63549" y="5910826"/>
            <a:ext cx="2682242" cy="599768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Less fragmentation (better memory utilization)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17961" y="6598521"/>
            <a:ext cx="1256564" cy="29612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Protection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66106" y="6688228"/>
            <a:ext cx="1580414" cy="59299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Faster loading / swapping</a:t>
            </a:r>
          </a:p>
        </p:txBody>
      </p:sp>
    </p:spTree>
    <p:extLst>
      <p:ext uri="{BB962C8B-B14F-4D97-AF65-F5344CB8AC3E}">
        <p14:creationId xmlns:p14="http://schemas.microsoft.com/office/powerpoint/2010/main" val="412154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/>
      <p:bldP spid="13" grpId="0" animBg="1"/>
      <p:bldP spid="14" grpId="0" animBg="1"/>
      <p:bldP spid="1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intuition behind Virtual Memory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D65A73B-1BF2-6741-A7C7-88E869CE9B2E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  <p:pic>
        <p:nvPicPr>
          <p:cNvPr id="7" name="Picture 1030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975" y="2380236"/>
            <a:ext cx="4938712" cy="4613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6504744" y="2807643"/>
            <a:ext cx="5759280" cy="1454406"/>
            <a:chOff x="3773492" y="4321838"/>
            <a:chExt cx="5759280" cy="1454406"/>
          </a:xfrm>
        </p:grpSpPr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773492" y="4321838"/>
              <a:ext cx="1228725" cy="1228725"/>
            </a:xfrm>
            <a:prstGeom prst="rect">
              <a:avLst/>
            </a:prstGeom>
          </p:spPr>
        </p:pic>
        <p:sp>
          <p:nvSpPr>
            <p:cNvPr id="10" name="Content Placeholder 2"/>
            <p:cNvSpPr txBox="1">
              <a:spLocks/>
            </p:cNvSpPr>
            <p:nvPr/>
          </p:nvSpPr>
          <p:spPr>
            <a:xfrm>
              <a:off x="4747736" y="4547519"/>
              <a:ext cx="4785036" cy="1228725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fontAlgn="auto">
                <a:spcAft>
                  <a:spcPts val="0"/>
                </a:spcAft>
                <a:buNone/>
              </a:pPr>
              <a:r>
                <a:rPr lang="en-US" sz="2800" i="1" dirty="0"/>
                <a:t>What would happen if the OS does not load page 3 in frame 7?</a:t>
              </a:r>
              <a:br>
                <a:rPr lang="en-US" sz="2800" i="1" dirty="0"/>
              </a:br>
              <a:r>
                <a:rPr lang="en-US" sz="2400" i="1" dirty="0"/>
                <a:t>(does not load at all, not in a different frame)</a:t>
              </a:r>
              <a:endParaRPr lang="en-US" sz="2800" i="1" dirty="0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14020589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/>
    </mc:Choice>
    <mc:Fallback xmlns="">
      <p:transition spd="slow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intuition behind Virtual Memory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D65A73B-1BF2-6741-A7C7-88E869CE9B2E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pic>
        <p:nvPicPr>
          <p:cNvPr id="7" name="Picture 1030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975" y="2380236"/>
            <a:ext cx="4938712" cy="4613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6504744" y="2807643"/>
            <a:ext cx="5759280" cy="1454406"/>
            <a:chOff x="3773492" y="4321838"/>
            <a:chExt cx="5759280" cy="1454406"/>
          </a:xfrm>
        </p:grpSpPr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773492" y="4321838"/>
              <a:ext cx="1228725" cy="1228725"/>
            </a:xfrm>
            <a:prstGeom prst="rect">
              <a:avLst/>
            </a:prstGeom>
          </p:spPr>
        </p:pic>
        <p:sp>
          <p:nvSpPr>
            <p:cNvPr id="10" name="Content Placeholder 2"/>
            <p:cNvSpPr txBox="1">
              <a:spLocks/>
            </p:cNvSpPr>
            <p:nvPr/>
          </p:nvSpPr>
          <p:spPr>
            <a:xfrm>
              <a:off x="4747736" y="4547519"/>
              <a:ext cx="4785036" cy="1228725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fontAlgn="auto">
                <a:spcAft>
                  <a:spcPts val="0"/>
                </a:spcAft>
                <a:buNone/>
              </a:pPr>
              <a:r>
                <a:rPr lang="en-US" sz="2800" i="1" dirty="0"/>
                <a:t>What would happen if the OS does not load page 3 in frame 7?</a:t>
              </a:r>
              <a:br>
                <a:rPr lang="en-US" sz="2800" i="1" dirty="0"/>
              </a:br>
              <a:r>
                <a:rPr lang="en-US" sz="2400" i="1" dirty="0"/>
                <a:t>(does not load at all, not in a different frame)</a:t>
              </a:r>
              <a:endParaRPr lang="en-US" sz="2800" i="1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6504744" y="4589761"/>
            <a:ext cx="5759280" cy="2894780"/>
            <a:chOff x="3773492" y="4321838"/>
            <a:chExt cx="5759280" cy="2894780"/>
          </a:xfrm>
        </p:grpSpPr>
        <p:pic>
          <p:nvPicPr>
            <p:cNvPr id="13" name="Picture 12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773492" y="4321838"/>
              <a:ext cx="1228725" cy="1228725"/>
            </a:xfrm>
            <a:prstGeom prst="rect">
              <a:avLst/>
            </a:prstGeom>
          </p:spPr>
        </p:pic>
        <p:sp>
          <p:nvSpPr>
            <p:cNvPr id="14" name="Content Placeholder 2"/>
            <p:cNvSpPr txBox="1">
              <a:spLocks/>
            </p:cNvSpPr>
            <p:nvPr/>
          </p:nvSpPr>
          <p:spPr>
            <a:xfrm>
              <a:off x="4747736" y="4547519"/>
              <a:ext cx="4785036" cy="2669099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fontAlgn="auto">
                <a:spcAft>
                  <a:spcPts val="0"/>
                </a:spcAft>
                <a:buNone/>
              </a:pPr>
              <a:r>
                <a:rPr lang="en-US" sz="2800" i="1" dirty="0"/>
                <a:t>When would that be a problem?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18240885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intuition behind Virtual Memory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D65A73B-1BF2-6741-A7C7-88E869CE9B2E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pic>
        <p:nvPicPr>
          <p:cNvPr id="7" name="Picture 1030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975" y="2380236"/>
            <a:ext cx="4938712" cy="4613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6504744" y="2807643"/>
            <a:ext cx="5759280" cy="1454406"/>
            <a:chOff x="3773492" y="4321838"/>
            <a:chExt cx="5759280" cy="1454406"/>
          </a:xfrm>
        </p:grpSpPr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773492" y="4321838"/>
              <a:ext cx="1228725" cy="1228725"/>
            </a:xfrm>
            <a:prstGeom prst="rect">
              <a:avLst/>
            </a:prstGeom>
          </p:spPr>
        </p:pic>
        <p:sp>
          <p:nvSpPr>
            <p:cNvPr id="10" name="Content Placeholder 2"/>
            <p:cNvSpPr txBox="1">
              <a:spLocks/>
            </p:cNvSpPr>
            <p:nvPr/>
          </p:nvSpPr>
          <p:spPr>
            <a:xfrm>
              <a:off x="4747736" y="4547519"/>
              <a:ext cx="4785036" cy="1228725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fontAlgn="auto">
                <a:spcAft>
                  <a:spcPts val="0"/>
                </a:spcAft>
                <a:buNone/>
              </a:pPr>
              <a:r>
                <a:rPr lang="en-US" sz="2800" i="1" dirty="0"/>
                <a:t>What would happen if the OS does not load page 3 in frame 7?</a:t>
              </a:r>
              <a:br>
                <a:rPr lang="en-US" sz="2800" i="1" dirty="0"/>
              </a:br>
              <a:r>
                <a:rPr lang="en-US" sz="2400" i="1" dirty="0"/>
                <a:t>(does not load at all, not in a different frame)</a:t>
              </a:r>
              <a:endParaRPr lang="en-US" sz="2800" i="1" dirty="0"/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6504744" y="4589761"/>
            <a:ext cx="5759280" cy="2894780"/>
            <a:chOff x="3773492" y="4321838"/>
            <a:chExt cx="5759280" cy="2894780"/>
          </a:xfrm>
        </p:grpSpPr>
        <p:pic>
          <p:nvPicPr>
            <p:cNvPr id="13" name="Picture 12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773492" y="4321838"/>
              <a:ext cx="1228725" cy="1228725"/>
            </a:xfrm>
            <a:prstGeom prst="rect">
              <a:avLst/>
            </a:prstGeom>
          </p:spPr>
        </p:pic>
        <p:sp>
          <p:nvSpPr>
            <p:cNvPr id="14" name="Content Placeholder 2"/>
            <p:cNvSpPr txBox="1">
              <a:spLocks/>
            </p:cNvSpPr>
            <p:nvPr/>
          </p:nvSpPr>
          <p:spPr>
            <a:xfrm>
              <a:off x="4747736" y="4547519"/>
              <a:ext cx="4785036" cy="2669099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fontAlgn="auto">
                <a:spcAft>
                  <a:spcPts val="0"/>
                </a:spcAft>
                <a:buNone/>
              </a:pPr>
              <a:r>
                <a:rPr lang="en-US" sz="2800" i="1" dirty="0"/>
                <a:t>When would that be a problem?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858000" y="6294001"/>
            <a:ext cx="5406024" cy="1399019"/>
            <a:chOff x="6855931" y="6294001"/>
            <a:chExt cx="5406024" cy="1399019"/>
          </a:xfrm>
        </p:grpSpPr>
        <p:pic>
          <p:nvPicPr>
            <p:cNvPr id="15" name="Picture 14"/>
            <p:cNvPicPr>
              <a:picLocks noChangeAspect="1"/>
            </p:cNvPicPr>
            <p:nvPr/>
          </p:nvPicPr>
          <p:blipFill rotWithShape="1">
            <a:blip r:embed="rId6"/>
            <a:srcRect r="61891"/>
            <a:stretch/>
          </p:blipFill>
          <p:spPr>
            <a:xfrm>
              <a:off x="6855931" y="6294001"/>
              <a:ext cx="509824" cy="1399019"/>
            </a:xfrm>
            <a:prstGeom prst="rect">
              <a:avLst/>
            </a:prstGeom>
          </p:spPr>
        </p:pic>
        <p:sp>
          <p:nvSpPr>
            <p:cNvPr id="16" name="Content Placeholder 2"/>
            <p:cNvSpPr txBox="1">
              <a:spLocks/>
            </p:cNvSpPr>
            <p:nvPr/>
          </p:nvSpPr>
          <p:spPr>
            <a:xfrm>
              <a:off x="7476919" y="6481497"/>
              <a:ext cx="4785036" cy="1155444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lnSpcReduction="10000"/>
            </a:bodyPr>
            <a:lstStyle>
              <a:lvl1pPr marL="171450" indent="-171450" algn="l" defTabSz="685800" rtl="0" eaLnBrk="1" latinLnBrk="0" hangingPunct="1">
                <a:lnSpc>
                  <a:spcPct val="90000"/>
                </a:lnSpc>
                <a:spcBef>
                  <a:spcPts val="750"/>
                </a:spcBef>
                <a:buFont typeface="Arial" panose="020B0604020202020204" pitchFamily="34" charset="0"/>
                <a:buChar char="•"/>
                <a:defRPr sz="2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5143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8572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2001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5430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18859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2288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25717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2914650" indent="-171450" algn="l" defTabSz="685800" rtl="0" eaLnBrk="1" latinLnBrk="0" hangingPunct="1">
                <a:lnSpc>
                  <a:spcPct val="90000"/>
                </a:lnSpc>
                <a:spcBef>
                  <a:spcPts val="375"/>
                </a:spcBef>
                <a:buFont typeface="Arial" panose="020B0604020202020204" pitchFamily="34" charset="0"/>
                <a:buChar char="•"/>
                <a:defRPr sz="135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 fontAlgn="auto">
                <a:spcAft>
                  <a:spcPts val="0"/>
                </a:spcAft>
                <a:buNone/>
              </a:pPr>
              <a:r>
                <a:rPr lang="en-US" sz="2800" dirty="0"/>
                <a:t>Let’s wait until the process tries to access page 3… If it does, then we will load it into frame 7!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63353679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Memory in a Nutshell (</a:t>
            </a:r>
            <a:r>
              <a:rPr lang="en-US" dirty="0" err="1"/>
              <a:t>i</a:t>
            </a:r>
            <a:r>
              <a:rPr lang="en-US" dirty="0"/>
              <a:t>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D65A73B-1BF2-6741-A7C7-88E869CE9B2E}" type="slidenum">
              <a:rPr lang="en-US" smtClean="0"/>
              <a:pPr>
                <a:defRPr/>
              </a:pPr>
              <a:t>10</a:t>
            </a:fld>
            <a:endParaRPr lang="en-US"/>
          </a:p>
        </p:txBody>
      </p:sp>
      <p:pic>
        <p:nvPicPr>
          <p:cNvPr id="7" name="Picture 1030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2975" y="2380236"/>
            <a:ext cx="4938712" cy="4613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3"/>
          <p:cNvSpPr txBox="1">
            <a:spLocks noChangeArrowheads="1"/>
          </p:cNvSpPr>
          <p:nvPr/>
        </p:nvSpPr>
        <p:spPr bwMode="auto">
          <a:xfrm>
            <a:off x="6310858" y="2433638"/>
            <a:ext cx="7000407" cy="58023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 lnSpcReduction="10000"/>
          </a:bodyPr>
          <a:lstStyle>
            <a:lvl1pPr marL="257175" indent="-257175" algn="l" defTabSz="1028700" rtl="0" eaLnBrk="0" fontAlgn="base" hangingPunct="0">
              <a:lnSpc>
                <a:spcPct val="90000"/>
              </a:lnSpc>
              <a:spcBef>
                <a:spcPts val="1125"/>
              </a:spcBef>
              <a:spcAft>
                <a:spcPct val="0"/>
              </a:spcAft>
              <a:buFont typeface="Arial" charset="0"/>
              <a:buChar char="•"/>
              <a:defRPr sz="3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71525" indent="-257175" algn="l" defTabSz="1028700" rtl="0" eaLnBrk="0" fontAlgn="base" hangingPunct="0">
              <a:lnSpc>
                <a:spcPct val="90000"/>
              </a:lnSpc>
              <a:spcBef>
                <a:spcPts val="563"/>
              </a:spcBef>
              <a:spcAft>
                <a:spcPct val="0"/>
              </a:spcAft>
              <a:buFont typeface="Arial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5875" indent="-257175" algn="l" defTabSz="1028700" rtl="0" eaLnBrk="0" fontAlgn="base" hangingPunct="0">
              <a:lnSpc>
                <a:spcPct val="90000"/>
              </a:lnSpc>
              <a:spcBef>
                <a:spcPts val="563"/>
              </a:spcBef>
              <a:spcAft>
                <a:spcPct val="0"/>
              </a:spcAft>
              <a:buFont typeface="Arial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00225" indent="-257175" algn="l" defTabSz="1028700" rtl="0" eaLnBrk="0" fontAlgn="base" hangingPunct="0">
              <a:lnSpc>
                <a:spcPct val="90000"/>
              </a:lnSpc>
              <a:spcBef>
                <a:spcPts val="563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14575" indent="-257175" algn="l" defTabSz="1028700" rtl="0" eaLnBrk="0" fontAlgn="base" hangingPunct="0">
              <a:lnSpc>
                <a:spcPct val="90000"/>
              </a:lnSpc>
              <a:spcBef>
                <a:spcPts val="563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828925" indent="-257175" algn="l" defTabSz="1028700" rtl="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  <a:defRPr sz="20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43275" indent="-257175" algn="l" defTabSz="1028700" rtl="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  <a:defRPr sz="20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57625" indent="-257175" algn="l" defTabSz="1028700" rtl="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  <a:defRPr sz="20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371975" indent="-257175" algn="l" defTabSz="1028700" rtl="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  <a:defRPr sz="20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Code needs to be in memory to execute, but entire program rarely used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Entire program code not needed at same time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If we manage to execute partially-loaded programs: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Program no longer constrained by limits of physical memory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Each program takes less memory while running -&gt; more programs run at the same time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Less I/O needed to load or swap programs into memory -&gt; each user program runs faster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US" altLang="en-US" dirty="0"/>
          </a:p>
        </p:txBody>
      </p:sp>
      <p:grpSp>
        <p:nvGrpSpPr>
          <p:cNvPr id="14" name="Group 13"/>
          <p:cNvGrpSpPr/>
          <p:nvPr/>
        </p:nvGrpSpPr>
        <p:grpSpPr>
          <a:xfrm>
            <a:off x="1694939" y="4002374"/>
            <a:ext cx="2598788" cy="2197764"/>
            <a:chOff x="1694939" y="4002374"/>
            <a:chExt cx="2598788" cy="2197764"/>
          </a:xfrm>
        </p:grpSpPr>
        <p:sp>
          <p:nvSpPr>
            <p:cNvPr id="9" name="Rectangle 8"/>
            <p:cNvSpPr/>
            <p:nvPr/>
          </p:nvSpPr>
          <p:spPr>
            <a:xfrm>
              <a:off x="1694939" y="5830806"/>
              <a:ext cx="1848583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457200" lvl="1" indent="0" eaLnBrk="1" fontAlgn="auto" hangingPunct="1">
                <a:spcAft>
                  <a:spcPts val="0"/>
                </a:spcAft>
                <a:defRPr/>
              </a:pPr>
              <a:r>
                <a:rPr lang="en-US" altLang="en-US" dirty="0">
                  <a:solidFill>
                    <a:schemeClr val="accent6">
                      <a:lumMod val="75000"/>
                    </a:schemeClr>
                  </a:solidFill>
                </a:rPr>
                <a:t>Error code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1694939" y="5333766"/>
              <a:ext cx="259878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marL="457200" lvl="1" indent="0" eaLnBrk="1" fontAlgn="auto" hangingPunct="1">
                <a:spcAft>
                  <a:spcPts val="0"/>
                </a:spcAft>
                <a:defRPr/>
              </a:pPr>
              <a:r>
                <a:rPr lang="en-US" altLang="en-US" dirty="0">
                  <a:solidFill>
                    <a:schemeClr val="accent1">
                      <a:lumMod val="75000"/>
                    </a:schemeClr>
                  </a:solidFill>
                </a:rPr>
                <a:t>Unusual routines</a:t>
              </a: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843790" y="4002374"/>
              <a:ext cx="449705" cy="133242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/>
            <p:cNvCxnSpPr/>
            <p:nvPr/>
          </p:nvCxnSpPr>
          <p:spPr>
            <a:xfrm>
              <a:off x="1843790" y="4557066"/>
              <a:ext cx="449705" cy="1332420"/>
            </a:xfrm>
            <a:prstGeom prst="straightConnector1">
              <a:avLst/>
            </a:prstGeom>
            <a:ln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9124580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4950" dirty="0"/>
              <a:t>Virtual Memory in a Nutshell (ii)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What are the costs / trade-offs / complications when executing partially-loaded programs: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5417DA6-2D80-4A48-AC72-81574C639B89}" type="slidenum">
              <a:rPr lang="en-US"/>
              <a:pPr>
                <a:defRPr/>
              </a:pPr>
              <a:t>11</a:t>
            </a:fld>
            <a:endParaRPr lang="en-US" dirty="0"/>
          </a:p>
        </p:txBody>
      </p:sp>
      <p:sp>
        <p:nvSpPr>
          <p:cNvPr id="10" name="Content Placeholder 2"/>
          <p:cNvSpPr txBox="1">
            <a:spLocks/>
          </p:cNvSpPr>
          <p:nvPr/>
        </p:nvSpPr>
        <p:spPr>
          <a:xfrm>
            <a:off x="5345345" y="3897913"/>
            <a:ext cx="7291361" cy="4008438"/>
          </a:xfrm>
          <a:prstGeom prst="rect">
            <a:avLst/>
          </a:prstGeom>
        </p:spPr>
        <p:txBody>
          <a:bodyPr>
            <a:normAutofit/>
          </a:bodyPr>
          <a:lstStyle>
            <a:lvl1pPr marL="257175" indent="-257175" algn="l" defTabSz="1028700" rtl="0" fontAlgn="base">
              <a:lnSpc>
                <a:spcPct val="90000"/>
              </a:lnSpc>
              <a:spcBef>
                <a:spcPts val="1125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3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71525" indent="-257175" algn="l" defTabSz="1028700" rtl="0" fontAlgn="base">
              <a:lnSpc>
                <a:spcPct val="90000"/>
              </a:lnSpc>
              <a:spcBef>
                <a:spcPts val="563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5875" indent="-257175" algn="l" defTabSz="1028700" rtl="0" fontAlgn="base">
              <a:lnSpc>
                <a:spcPct val="90000"/>
              </a:lnSpc>
              <a:spcBef>
                <a:spcPts val="563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00225" indent="-257175" algn="l" defTabSz="1028700" rtl="0" fontAlgn="base">
              <a:lnSpc>
                <a:spcPct val="90000"/>
              </a:lnSpc>
              <a:spcBef>
                <a:spcPts val="563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14575" indent="-257175" algn="l" defTabSz="1028700" rtl="0" fontAlgn="base">
              <a:lnSpc>
                <a:spcPct val="90000"/>
              </a:lnSpc>
              <a:spcBef>
                <a:spcPts val="563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828925" indent="-257175" algn="l" defTabSz="1028700" rtl="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  <a:defRPr sz="20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43275" indent="-257175" algn="l" defTabSz="1028700" rtl="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  <a:defRPr sz="20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57625" indent="-257175" algn="l" defTabSz="1028700" rtl="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  <a:defRPr sz="20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371975" indent="-257175" algn="l" defTabSz="1028700" rtl="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  <a:defRPr sz="20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fontAlgn="auto" hangingPunct="1">
              <a:spcAft>
                <a:spcPts val="0"/>
              </a:spcAft>
              <a:defRPr/>
            </a:pPr>
            <a:r>
              <a:rPr lang="en-US" sz="3150" dirty="0"/>
              <a:t>Need a mechanism to check if a page is actually in the frame or not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3150" dirty="0"/>
              <a:t>Because of this mechanism, sometimes accessing a page might require more time than expected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3150" dirty="0"/>
              <a:t>… and more …</a:t>
            </a:r>
          </a:p>
          <a:p>
            <a:pPr eaLnBrk="1" fontAlgn="auto" hangingPunct="1">
              <a:spcAft>
                <a:spcPts val="0"/>
              </a:spcAft>
              <a:defRPr/>
            </a:pPr>
            <a:endParaRPr lang="en-US" sz="3150" dirty="0"/>
          </a:p>
        </p:txBody>
      </p:sp>
      <p:grpSp>
        <p:nvGrpSpPr>
          <p:cNvPr id="12" name="Group 11"/>
          <p:cNvGrpSpPr/>
          <p:nvPr/>
        </p:nvGrpSpPr>
        <p:grpSpPr>
          <a:xfrm>
            <a:off x="1368875" y="3673247"/>
            <a:ext cx="3328853" cy="4457771"/>
            <a:chOff x="1295399" y="1828800"/>
            <a:chExt cx="3056187" cy="4092635"/>
          </a:xfrm>
        </p:grpSpPr>
        <p:pic>
          <p:nvPicPr>
            <p:cNvPr id="13" name="Picture 12" descr="http://4.bp.blogspot.com/-Kc_jYOMfj-g/UCakbvK3gyI/AAAAAAAAGTo/8Fa5sfZjQkI/s1600/coperta_corta.jpe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95399" y="1828800"/>
              <a:ext cx="3056187" cy="40926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 xmlns="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4" name="Up Arrow 13"/>
            <p:cNvSpPr/>
            <p:nvPr/>
          </p:nvSpPr>
          <p:spPr>
            <a:xfrm rot="1459553">
              <a:off x="3380403" y="2723383"/>
              <a:ext cx="484632" cy="978408"/>
            </a:xfrm>
            <a:prstGeom prst="up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  <p:sp>
          <p:nvSpPr>
            <p:cNvPr id="15" name="Up Arrow 14"/>
            <p:cNvSpPr/>
            <p:nvPr/>
          </p:nvSpPr>
          <p:spPr>
            <a:xfrm rot="12307406">
              <a:off x="2530992" y="4552399"/>
              <a:ext cx="484632" cy="978408"/>
            </a:xfrm>
            <a:prstGeom prst="up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100"/>
            </a:p>
          </p:txBody>
        </p:sp>
      </p:grp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4950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Recap / Introduction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/>
              <a:t>Demand Paging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Copy-on-Write</a:t>
            </a:r>
            <a:endParaRPr lang="en-US" sz="3200" dirty="0">
              <a:solidFill>
                <a:schemeClr val="bg1">
                  <a:lumMod val="65000"/>
                </a:schemeClr>
              </a:solidFill>
            </a:endParaRP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Page Replacement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Allocation of Frames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Thrashing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Memory-Mapped files</a:t>
            </a:r>
            <a:r>
              <a:rPr lang="en-US" sz="32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4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3200" dirty="0">
                <a:solidFill>
                  <a:schemeClr val="bg1">
                    <a:lumMod val="65000"/>
                  </a:schemeClr>
                </a:solidFill>
              </a:rPr>
              <a:t>[Self-reading]</a:t>
            </a:r>
            <a:endParaRPr lang="en-US" sz="31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31F4320-77CA-7E4D-8175-74FC97C2B752}" type="slidenum">
              <a:rPr lang="en-US"/>
              <a:pPr>
                <a:defRPr/>
              </a:pPr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Demand Paging</a:t>
            </a:r>
          </a:p>
        </p:txBody>
      </p:sp>
      <p:sp>
        <p:nvSpPr>
          <p:cNvPr id="133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42975" y="2433638"/>
            <a:ext cx="11505334" cy="5802312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Could bring entire process into memory at load time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Or bring a page into memory only when it is needed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Less I/O needed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Less memory needed 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More users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US" altLang="en-US" sz="3150" dirty="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Page is needed </a:t>
            </a:r>
            <a:r>
              <a:rPr lang="en-US" altLang="en-US" sz="3150" dirty="0">
                <a:sym typeface="Symbol" panose="05050102010706020507" pitchFamily="18" charset="2"/>
              </a:rPr>
              <a:t> reference to it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>
                <a:sym typeface="Symbol" panose="05050102010706020507" pitchFamily="18" charset="2"/>
              </a:rPr>
              <a:t>not-in-memory  bring to memory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>
                <a:solidFill>
                  <a:schemeClr val="accent1">
                    <a:lumMod val="75000"/>
                  </a:schemeClr>
                </a:solidFill>
                <a:sym typeface="Symbol" panose="05050102010706020507" pitchFamily="18" charset="2"/>
              </a:rPr>
              <a:t>Lazy swapper / pager </a:t>
            </a:r>
            <a:r>
              <a:rPr lang="en-US" altLang="en-US" sz="3150" dirty="0">
                <a:sym typeface="Symbol" panose="05050102010706020507" pitchFamily="18" charset="2"/>
              </a:rPr>
              <a:t>– never swaps a page into memory unless page will be needed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D33B7E8-DB4E-9A45-BEAF-BDB752A398AF}" type="slidenum">
              <a:rPr lang="en-US"/>
              <a:pPr>
                <a:defRPr/>
              </a:pPr>
              <a:t>13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1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Basic Concepts</a:t>
            </a:r>
          </a:p>
        </p:txBody>
      </p:sp>
      <p:sp>
        <p:nvSpPr>
          <p:cNvPr id="2867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en-US" sz="3600" dirty="0"/>
              <a:t>Pager brings in only those pages into memory</a:t>
            </a:r>
          </a:p>
          <a:p>
            <a:r>
              <a:rPr lang="en-US" altLang="en-US" sz="3600" dirty="0"/>
              <a:t>Need new MMU functionality to implement demand paging</a:t>
            </a:r>
          </a:p>
          <a:p>
            <a:r>
              <a:rPr lang="en-US" altLang="en-US" sz="3600" dirty="0"/>
              <a:t>If pages needed are already memory resident</a:t>
            </a:r>
          </a:p>
          <a:p>
            <a:pPr lvl="1"/>
            <a:r>
              <a:rPr lang="en-US" altLang="en-US" sz="3200" dirty="0"/>
              <a:t>No difference from non demand-paging</a:t>
            </a:r>
          </a:p>
          <a:p>
            <a:r>
              <a:rPr lang="en-US" altLang="en-US" sz="3600" dirty="0"/>
              <a:t>If page needed and not memory resident</a:t>
            </a:r>
          </a:p>
          <a:p>
            <a:pPr lvl="1"/>
            <a:r>
              <a:rPr lang="en-US" altLang="en-US" sz="3200" dirty="0"/>
              <a:t>Need to detect and load the page into memory from storage</a:t>
            </a:r>
          </a:p>
          <a:p>
            <a:pPr lvl="2"/>
            <a:r>
              <a:rPr lang="en-US" altLang="en-US" sz="2800" dirty="0"/>
              <a:t>Without changing program behavior</a:t>
            </a:r>
          </a:p>
          <a:p>
            <a:pPr lvl="2"/>
            <a:r>
              <a:rPr lang="en-US" altLang="en-US" sz="2800" dirty="0"/>
              <a:t>Without programmer needing to change code</a:t>
            </a:r>
          </a:p>
          <a:p>
            <a:endParaRPr lang="en-US" altLang="en-US" sz="3600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91F95B5-0294-E340-BC73-6A7C8802E5D1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7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Valid-Invalid Bit</a:t>
            </a:r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42975" y="2036763"/>
            <a:ext cx="8345488" cy="5802312"/>
          </a:xfrm>
        </p:spPr>
        <p:txBody>
          <a:bodyPr rtlCol="0">
            <a:normAutofit fontScale="92500" lnSpcReduction="20000"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With each page table entry a valid–invalid bit is associated</a:t>
            </a:r>
            <a:br>
              <a:rPr lang="en-US" altLang="en-US" sz="3150" dirty="0"/>
            </a:br>
            <a:r>
              <a:rPr lang="en-US" altLang="en-US" sz="3150" dirty="0"/>
              <a:t>(</a:t>
            </a:r>
            <a:r>
              <a:rPr lang="en-US" altLang="en-US" sz="3150" dirty="0">
                <a:solidFill>
                  <a:srgbClr val="FF0000"/>
                </a:solidFill>
              </a:rPr>
              <a:t>v</a:t>
            </a:r>
            <a:r>
              <a:rPr lang="en-US" altLang="en-US" sz="3150" dirty="0"/>
              <a:t> </a:t>
            </a:r>
            <a:r>
              <a:rPr lang="en-US" altLang="en-US" sz="3150" dirty="0">
                <a:sym typeface="Symbol" panose="05050102010706020507" pitchFamily="18" charset="2"/>
              </a:rPr>
              <a:t> in-memory – </a:t>
            </a:r>
            <a:r>
              <a:rPr lang="en-US" altLang="en-US" sz="3150" dirty="0">
                <a:solidFill>
                  <a:schemeClr val="accent1">
                    <a:lumMod val="75000"/>
                  </a:schemeClr>
                </a:solidFill>
                <a:sym typeface="Symbol" panose="05050102010706020507" pitchFamily="18" charset="2"/>
              </a:rPr>
              <a:t>memory resident</a:t>
            </a:r>
            <a:r>
              <a:rPr lang="en-US" altLang="en-US" sz="3150" dirty="0">
                <a:sym typeface="Symbol" panose="05050102010706020507" pitchFamily="18" charset="2"/>
              </a:rPr>
              <a:t>, </a:t>
            </a:r>
            <a:r>
              <a:rPr lang="en-US" altLang="en-US" sz="3150" dirty="0" err="1">
                <a:solidFill>
                  <a:srgbClr val="FF0000"/>
                </a:solidFill>
                <a:sym typeface="Symbol" panose="05050102010706020507" pitchFamily="18" charset="2"/>
              </a:rPr>
              <a:t>i</a:t>
            </a:r>
            <a:r>
              <a:rPr lang="en-US" altLang="en-US" sz="3150" dirty="0">
                <a:sym typeface="Symbol" panose="05050102010706020507" pitchFamily="18" charset="2"/>
              </a:rPr>
              <a:t>  not-in-memory)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>
                <a:sym typeface="Symbol" panose="05050102010706020507" pitchFamily="18" charset="2"/>
              </a:rPr>
              <a:t>Initially valid–invalid bit is set to </a:t>
            </a:r>
            <a:r>
              <a:rPr lang="en-US" altLang="en-US" sz="3150" dirty="0" err="1">
                <a:sym typeface="Symbol" panose="05050102010706020507" pitchFamily="18" charset="2"/>
              </a:rPr>
              <a:t>i</a:t>
            </a:r>
            <a:r>
              <a:rPr lang="en-US" altLang="en-US" sz="3150" dirty="0">
                <a:sym typeface="Symbol" panose="05050102010706020507" pitchFamily="18" charset="2"/>
              </a:rPr>
              <a:t> on all entries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>
                <a:sym typeface="Symbol" panose="05050102010706020507" pitchFamily="18" charset="2"/>
              </a:rPr>
              <a:t>Example of a page table snapshot:</a:t>
            </a:r>
            <a:br>
              <a:rPr lang="en-US" altLang="en-US" sz="3150" dirty="0">
                <a:sym typeface="Symbol" panose="05050102010706020507" pitchFamily="18" charset="2"/>
              </a:rPr>
            </a:br>
            <a:br>
              <a:rPr lang="en-US" altLang="en-US" sz="3150" dirty="0">
                <a:sym typeface="Symbol" panose="05050102010706020507" pitchFamily="18" charset="2"/>
              </a:rPr>
            </a:br>
            <a:br>
              <a:rPr lang="en-US" altLang="en-US" sz="3150" dirty="0">
                <a:sym typeface="Symbol" panose="05050102010706020507" pitchFamily="18" charset="2"/>
              </a:rPr>
            </a:br>
            <a:br>
              <a:rPr lang="en-US" altLang="en-US" sz="3150" dirty="0">
                <a:sym typeface="Symbol" panose="05050102010706020507" pitchFamily="18" charset="2"/>
              </a:rPr>
            </a:br>
            <a:br>
              <a:rPr lang="en-US" altLang="en-US" sz="3150" dirty="0">
                <a:sym typeface="Symbol" panose="05050102010706020507" pitchFamily="18" charset="2"/>
              </a:rPr>
            </a:br>
            <a:br>
              <a:rPr lang="en-US" altLang="en-US" sz="3150" dirty="0">
                <a:sym typeface="Symbol" panose="05050102010706020507" pitchFamily="18" charset="2"/>
              </a:rPr>
            </a:br>
            <a:br>
              <a:rPr lang="en-US" altLang="en-US" sz="3150" dirty="0">
                <a:sym typeface="Symbol" panose="05050102010706020507" pitchFamily="18" charset="2"/>
              </a:rPr>
            </a:br>
            <a:br>
              <a:rPr lang="en-US" altLang="en-US" sz="3150" dirty="0">
                <a:sym typeface="Symbol" panose="05050102010706020507" pitchFamily="18" charset="2"/>
              </a:rPr>
            </a:br>
            <a:br>
              <a:rPr lang="en-US" altLang="en-US" sz="3150" dirty="0">
                <a:sym typeface="Symbol" panose="05050102010706020507" pitchFamily="18" charset="2"/>
              </a:rPr>
            </a:br>
            <a:endParaRPr lang="en-US" altLang="en-US" sz="3150" dirty="0">
              <a:sym typeface="Symbol" panose="05050102010706020507" pitchFamily="18" charset="2"/>
            </a:endParaRP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>
                <a:sym typeface="Symbol" panose="05050102010706020507" pitchFamily="18" charset="2"/>
              </a:rPr>
              <a:t>During MMU address translation, if valid–invalid bit in page table entry is </a:t>
            </a:r>
            <a:r>
              <a:rPr lang="en-US" altLang="en-US" sz="3150" dirty="0" err="1">
                <a:solidFill>
                  <a:srgbClr val="FF0000"/>
                </a:solidFill>
                <a:sym typeface="Symbol" panose="05050102010706020507" pitchFamily="18" charset="2"/>
              </a:rPr>
              <a:t>i</a:t>
            </a:r>
            <a:r>
              <a:rPr lang="en-US" altLang="en-US" sz="3150" dirty="0">
                <a:sym typeface="Symbol" panose="05050102010706020507" pitchFamily="18" charset="2"/>
              </a:rPr>
              <a:t>  page fault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47552DF-38E6-8249-9100-9E8DEB63E539}" type="slidenum">
              <a:rPr lang="en-US"/>
              <a:pPr>
                <a:defRPr/>
              </a:pPr>
              <a:t>15</a:t>
            </a:fld>
            <a:endParaRPr lang="en-US"/>
          </a:p>
        </p:txBody>
      </p:sp>
      <p:pic>
        <p:nvPicPr>
          <p:cNvPr id="29703" name="Picture 1"/>
          <p:cNvPicPr>
            <a:picLocks noChangeAspect="1"/>
          </p:cNvPicPr>
          <p:nvPr/>
        </p:nvPicPr>
        <p:blipFill>
          <a:blip r:embed="rId3">
            <a:clrChange>
              <a:clrFrom>
                <a:srgbClr val="FFFEFD"/>
              </a:clrFrom>
              <a:clrTo>
                <a:srgbClr val="FFFEFD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4025" y="2762250"/>
            <a:ext cx="37719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</p:nvPr>
        </p:nvSpPr>
        <p:spPr>
          <a:xfrm>
            <a:off x="2217738" y="185738"/>
            <a:ext cx="11061700" cy="669925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2667"/>
              <a:t>Page Table When Some Pages Are Not in Main Memory</a:t>
            </a:r>
          </a:p>
        </p:txBody>
      </p:sp>
      <p:pic>
        <p:nvPicPr>
          <p:cNvPr id="31747" name="Picture 4" descr="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9463" y="1566863"/>
            <a:ext cx="6623050" cy="6423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8426C86-1986-D144-8F8E-FBAAB2EC4FFC}" type="slidenum">
              <a:rPr lang="en-US"/>
              <a:pPr>
                <a:defRPr/>
              </a:pPr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268288"/>
            <a:ext cx="10972800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Page Fault</a:t>
            </a:r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44688" y="1206500"/>
            <a:ext cx="10399712" cy="7002318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endParaRPr lang="en-US" altLang="en-US" sz="3150" dirty="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If there is a reference to a page, first reference to that page will trap to operating system:</a:t>
            </a:r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r>
              <a:rPr lang="en-US" altLang="en-US" sz="3150" dirty="0">
                <a:solidFill>
                  <a:srgbClr val="3366FF"/>
                </a:solidFill>
                <a:sym typeface="Symbol" panose="05050102010706020507" pitchFamily="18" charset="2"/>
              </a:rPr>
              <a:t>              </a:t>
            </a:r>
            <a:r>
              <a:rPr lang="en-US" altLang="en-US" sz="3150" b="1" dirty="0">
                <a:solidFill>
                  <a:srgbClr val="3366FF"/>
                </a:solidFill>
                <a:sym typeface="Symbol" panose="05050102010706020507" pitchFamily="18" charset="2"/>
              </a:rPr>
              <a:t>page fault</a:t>
            </a:r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AutoNum type="arabicPeriod"/>
              <a:defRPr/>
            </a:pPr>
            <a:r>
              <a:rPr lang="en-US" altLang="en-US" sz="3150" dirty="0">
                <a:sym typeface="Symbol" panose="05050102010706020507" pitchFamily="18" charset="2"/>
              </a:rPr>
              <a:t>Operating system looks at another table to decide:</a:t>
            </a:r>
          </a:p>
          <a:p>
            <a:pPr marL="1064657" lvl="1" indent="-455073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Invalid reference </a:t>
            </a:r>
            <a:r>
              <a:rPr lang="en-US" altLang="en-US" dirty="0">
                <a:sym typeface="Symbol" panose="05050102010706020507" pitchFamily="18" charset="2"/>
              </a:rPr>
              <a:t> abort</a:t>
            </a:r>
          </a:p>
          <a:p>
            <a:pPr marL="1064657" lvl="1" indent="-455073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>
                <a:sym typeface="Symbol" panose="05050102010706020507" pitchFamily="18" charset="2"/>
              </a:rPr>
              <a:t>Just not in memory</a:t>
            </a:r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AutoNum type="arabicPeriod"/>
              <a:defRPr/>
            </a:pPr>
            <a:r>
              <a:rPr lang="en-US" altLang="en-US" sz="3150" dirty="0">
                <a:sym typeface="Symbol" panose="05050102010706020507" pitchFamily="18" charset="2"/>
              </a:rPr>
              <a:t>Find free frame</a:t>
            </a:r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AutoNum type="arabicPeriod"/>
              <a:defRPr/>
            </a:pPr>
            <a:r>
              <a:rPr lang="en-US" altLang="en-US" sz="3150" dirty="0">
                <a:sym typeface="Symbol" panose="05050102010706020507" pitchFamily="18" charset="2"/>
              </a:rPr>
              <a:t>Swap page into frame via scheduled disk operation</a:t>
            </a:r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AutoNum type="arabicPeriod"/>
              <a:defRPr/>
            </a:pPr>
            <a:r>
              <a:rPr lang="en-US" altLang="en-US" sz="3150" dirty="0">
                <a:sym typeface="Symbol" panose="05050102010706020507" pitchFamily="18" charset="2"/>
              </a:rPr>
              <a:t>Reset tables to indicate page now in memory</a:t>
            </a:r>
            <a:br>
              <a:rPr lang="en-US" altLang="en-US" sz="3150" dirty="0">
                <a:sym typeface="Symbol" panose="05050102010706020507" pitchFamily="18" charset="2"/>
              </a:rPr>
            </a:br>
            <a:r>
              <a:rPr lang="en-US" altLang="en-US" sz="3150" dirty="0">
                <a:sym typeface="Symbol" panose="05050102010706020507" pitchFamily="18" charset="2"/>
              </a:rPr>
              <a:t>Set validation bit = </a:t>
            </a:r>
            <a:r>
              <a:rPr lang="en-US" altLang="en-US" sz="3150" b="1" dirty="0">
                <a:solidFill>
                  <a:srgbClr val="FF0000"/>
                </a:solidFill>
                <a:sym typeface="Symbol" panose="05050102010706020507" pitchFamily="18" charset="2"/>
              </a:rPr>
              <a:t>v</a:t>
            </a:r>
            <a:endParaRPr lang="en-US" altLang="en-US" sz="3150" dirty="0">
              <a:sym typeface="Symbol" panose="05050102010706020507" pitchFamily="18" charset="2"/>
            </a:endParaRPr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AutoNum type="arabicPeriod"/>
              <a:defRPr/>
            </a:pPr>
            <a:r>
              <a:rPr lang="en-US" altLang="en-US" sz="3150" dirty="0">
                <a:sym typeface="Symbol" panose="05050102010706020507" pitchFamily="18" charset="2"/>
              </a:rPr>
              <a:t>Restart the instruction that caused the page fault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3C05E3F-9ABC-AE48-AFCD-2922C449AC70}" type="slidenum">
              <a:rPr lang="en-US"/>
              <a:pPr>
                <a:defRPr/>
              </a:pPr>
              <a:t>17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1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</p:nvPr>
        </p:nvSpPr>
        <p:spPr>
          <a:xfrm>
            <a:off x="1682750" y="252413"/>
            <a:ext cx="10661650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Steps in Handling a Page Fault</a:t>
            </a:r>
          </a:p>
        </p:txBody>
      </p:sp>
      <p:pic>
        <p:nvPicPr>
          <p:cNvPr id="35843" name="Picture 4" descr="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1338" y="1624013"/>
            <a:ext cx="7734300" cy="6453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9E65E14-9232-B74C-B8A2-39F89D1C8F8B}" type="slidenum">
              <a:rPr lang="en-US"/>
              <a:pPr>
                <a:defRPr/>
              </a:pPr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Title 1"/>
          <p:cNvSpPr>
            <a:spLocks noGrp="1"/>
          </p:cNvSpPr>
          <p:nvPr>
            <p:ph type="title"/>
          </p:nvPr>
        </p:nvSpPr>
        <p:spPr>
          <a:xfrm>
            <a:off x="1371600" y="268288"/>
            <a:ext cx="10972800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Aspects of Demand Paging</a:t>
            </a:r>
          </a:p>
        </p:txBody>
      </p:sp>
      <p:sp>
        <p:nvSpPr>
          <p:cNvPr id="19459" name="Content Placeholder 2"/>
          <p:cNvSpPr>
            <a:spLocks noGrp="1"/>
          </p:cNvSpPr>
          <p:nvPr>
            <p:ph idx="1"/>
          </p:nvPr>
        </p:nvSpPr>
        <p:spPr>
          <a:xfrm>
            <a:off x="519545" y="1441450"/>
            <a:ext cx="12253479" cy="6516688"/>
          </a:xfrm>
        </p:spPr>
        <p:txBody>
          <a:bodyPr rtlCol="0">
            <a:normAutofit/>
          </a:bodyPr>
          <a:lstStyle/>
          <a:p>
            <a:pPr marL="257175" lvl="1" eaLnBrk="1" fontAlgn="auto" hangingPunct="1">
              <a:spcBef>
                <a:spcPts val="1125"/>
              </a:spcBef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200" b="1" dirty="0">
                <a:solidFill>
                  <a:srgbClr val="3366FF"/>
                </a:solidFill>
              </a:rPr>
              <a:t>Pure demand paging </a:t>
            </a:r>
            <a:r>
              <a:rPr lang="en-US" altLang="en-US" sz="3200" dirty="0"/>
              <a:t>– start process with </a:t>
            </a:r>
            <a:r>
              <a:rPr lang="en-US" altLang="en-US" sz="3200" i="1" dirty="0"/>
              <a:t>no</a:t>
            </a:r>
            <a:r>
              <a:rPr lang="en-US" altLang="en-US" sz="3200" dirty="0"/>
              <a:t> pages in memory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OS sets instruction pointer to first instruction of process, non-memory-resident -&gt; page fault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And for every other process pages on first access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US" altLang="en-US" dirty="0"/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US" altLang="en-US" dirty="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Hardware support needed for demand paging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Page table with valid / invalid bit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Secondary memory (swap device with </a:t>
            </a:r>
            <a:r>
              <a:rPr lang="en-US" altLang="en-US" b="1" dirty="0">
                <a:solidFill>
                  <a:srgbClr val="3366FF"/>
                </a:solidFill>
              </a:rPr>
              <a:t>swap space</a:t>
            </a:r>
            <a:r>
              <a:rPr lang="en-US" altLang="en-US" dirty="0"/>
              <a:t>)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Instruction restart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363F5A8-5AE9-E440-9123-9779757DD5D3}" type="slidenum">
              <a:rPr lang="en-US"/>
              <a:pPr>
                <a:defRPr/>
              </a:pPr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/>
          <p:cNvSpPr>
            <a:spLocks noGrp="1" noChangeArrowheads="1"/>
          </p:cNvSpPr>
          <p:nvPr>
            <p:ph type="title"/>
          </p:nvPr>
        </p:nvSpPr>
        <p:spPr>
          <a:xfrm>
            <a:off x="1852613" y="268288"/>
            <a:ext cx="10491787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Performance of Demand Paging</a:t>
            </a:r>
          </a:p>
        </p:txBody>
      </p:sp>
      <p:sp>
        <p:nvSpPr>
          <p:cNvPr id="2150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38338" y="1441450"/>
            <a:ext cx="10388600" cy="6465888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2884945" algn="l"/>
                <a:tab pos="3807789" algn="l"/>
              </a:tabLst>
              <a:defRPr/>
            </a:pPr>
            <a:r>
              <a:rPr lang="en-US" altLang="en-US" sz="3150" dirty="0"/>
              <a:t>Stages in Demand Paging (worse case)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AutoNum type="arabicPeriod"/>
              <a:tabLst>
                <a:tab pos="2884945" algn="l"/>
                <a:tab pos="3807789" algn="l"/>
              </a:tabLst>
              <a:defRPr/>
            </a:pPr>
            <a:r>
              <a:rPr lang="en-US" altLang="en-US" sz="1867" dirty="0"/>
              <a:t>Trap to the operating system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AutoNum type="arabicPeriod"/>
              <a:tabLst>
                <a:tab pos="2884945" algn="l"/>
                <a:tab pos="3807789" algn="l"/>
              </a:tabLst>
              <a:defRPr/>
            </a:pPr>
            <a:r>
              <a:rPr lang="en-US" altLang="en-US" sz="1867" dirty="0"/>
              <a:t>Save the user registers and process state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AutoNum type="arabicPeriod"/>
              <a:tabLst>
                <a:tab pos="2884945" algn="l"/>
                <a:tab pos="3807789" algn="l"/>
              </a:tabLst>
              <a:defRPr/>
            </a:pPr>
            <a:r>
              <a:rPr lang="en-US" altLang="en-US" sz="1867" dirty="0"/>
              <a:t>Determine that the interrupt was a page fault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AutoNum type="arabicPeriod"/>
              <a:tabLst>
                <a:tab pos="2884945" algn="l"/>
                <a:tab pos="3807789" algn="l"/>
              </a:tabLst>
              <a:defRPr/>
            </a:pPr>
            <a:r>
              <a:rPr lang="en-US" altLang="en-US" sz="1867" dirty="0"/>
              <a:t>Check that the page reference was legal and determine the location of the page on the disk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AutoNum type="arabicPeriod"/>
              <a:tabLst>
                <a:tab pos="2884945" algn="l"/>
                <a:tab pos="3807789" algn="l"/>
              </a:tabLst>
              <a:defRPr/>
            </a:pPr>
            <a:r>
              <a:rPr lang="en-US" altLang="en-US" sz="1867" dirty="0"/>
              <a:t>Issue a read from the disk to a free frame:</a:t>
            </a:r>
          </a:p>
          <a:p>
            <a:pPr marL="1064657" lvl="1" indent="-455073" eaLnBrk="1" fontAlgn="auto" hangingPunct="1">
              <a:spcAft>
                <a:spcPts val="0"/>
              </a:spcAft>
              <a:buFont typeface="Arial" panose="020B0604020202020204" pitchFamily="34" charset="0"/>
              <a:buAutoNum type="arabicPeriod"/>
              <a:tabLst>
                <a:tab pos="2884945" algn="l"/>
                <a:tab pos="3807789" algn="l"/>
              </a:tabLst>
              <a:defRPr/>
            </a:pPr>
            <a:r>
              <a:rPr lang="en-US" altLang="en-US" sz="1867" dirty="0"/>
              <a:t>Wait in a queue for this device until the read request is serviced</a:t>
            </a:r>
          </a:p>
          <a:p>
            <a:pPr marL="1064657" lvl="1" indent="-455073" eaLnBrk="1" fontAlgn="auto" hangingPunct="1">
              <a:spcAft>
                <a:spcPts val="0"/>
              </a:spcAft>
              <a:buFont typeface="Arial" panose="020B0604020202020204" pitchFamily="34" charset="0"/>
              <a:buAutoNum type="arabicPeriod"/>
              <a:tabLst>
                <a:tab pos="2884945" algn="l"/>
                <a:tab pos="3807789" algn="l"/>
              </a:tabLst>
              <a:defRPr/>
            </a:pPr>
            <a:r>
              <a:rPr lang="en-US" altLang="en-US" sz="1867" dirty="0"/>
              <a:t>Wait for the device seek and/or latency time</a:t>
            </a:r>
          </a:p>
          <a:p>
            <a:pPr marL="1064657" lvl="1" indent="-455073" eaLnBrk="1" fontAlgn="auto" hangingPunct="1">
              <a:spcAft>
                <a:spcPts val="0"/>
              </a:spcAft>
              <a:buFont typeface="Arial" panose="020B0604020202020204" pitchFamily="34" charset="0"/>
              <a:buAutoNum type="arabicPeriod"/>
              <a:tabLst>
                <a:tab pos="2884945" algn="l"/>
                <a:tab pos="3807789" algn="l"/>
              </a:tabLst>
              <a:defRPr/>
            </a:pPr>
            <a:r>
              <a:rPr lang="en-US" altLang="en-US" sz="1867" dirty="0"/>
              <a:t>Begin the transfer of the page to a free frame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AutoNum type="arabicPeriod"/>
              <a:tabLst>
                <a:tab pos="2884945" algn="l"/>
                <a:tab pos="3807789" algn="l"/>
              </a:tabLst>
              <a:defRPr/>
            </a:pPr>
            <a:r>
              <a:rPr lang="en-US" altLang="en-US" sz="1867" dirty="0"/>
              <a:t>While waiting, allocate the CPU to some other user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AutoNum type="arabicPeriod"/>
              <a:tabLst>
                <a:tab pos="2884945" algn="l"/>
                <a:tab pos="3807789" algn="l"/>
              </a:tabLst>
              <a:defRPr/>
            </a:pPr>
            <a:r>
              <a:rPr lang="en-US" altLang="en-US" sz="1867" dirty="0"/>
              <a:t>Receive an interrupt from the disk I/O subsystem (I/O completed)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AutoNum type="arabicPeriod"/>
              <a:tabLst>
                <a:tab pos="2884945" algn="l"/>
                <a:tab pos="3807789" algn="l"/>
              </a:tabLst>
              <a:defRPr/>
            </a:pPr>
            <a:r>
              <a:rPr lang="en-US" altLang="en-US" sz="1867" dirty="0"/>
              <a:t>Save the registers and process state for the other user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AutoNum type="arabicPeriod"/>
              <a:tabLst>
                <a:tab pos="2884945" algn="l"/>
                <a:tab pos="3807789" algn="l"/>
              </a:tabLst>
              <a:defRPr/>
            </a:pPr>
            <a:r>
              <a:rPr lang="en-US" altLang="en-US" sz="1867" dirty="0"/>
              <a:t>Determine that the interrupt was from the disk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AutoNum type="arabicPeriod"/>
              <a:tabLst>
                <a:tab pos="2884945" algn="l"/>
                <a:tab pos="3807789" algn="l"/>
              </a:tabLst>
              <a:defRPr/>
            </a:pPr>
            <a:r>
              <a:rPr lang="en-US" altLang="en-US" sz="1867" dirty="0"/>
              <a:t>Correct the page table and other tables to show page is now in memory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AutoNum type="arabicPeriod"/>
              <a:tabLst>
                <a:tab pos="2884945" algn="l"/>
                <a:tab pos="3807789" algn="l"/>
              </a:tabLst>
              <a:defRPr/>
            </a:pPr>
            <a:r>
              <a:rPr lang="en-US" altLang="en-US" sz="1867" dirty="0"/>
              <a:t>Wait for the CPU to be allocated to this process again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AutoNum type="arabicPeriod"/>
              <a:tabLst>
                <a:tab pos="2884945" algn="l"/>
                <a:tab pos="3807789" algn="l"/>
              </a:tabLst>
              <a:defRPr/>
            </a:pPr>
            <a:r>
              <a:rPr lang="en-US" altLang="en-US" sz="1867" dirty="0"/>
              <a:t>Restore the user registers, process state, and new page table, and then resume the interrupted instruction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2884945" algn="l"/>
                <a:tab pos="3807789" algn="l"/>
              </a:tabLst>
              <a:defRPr/>
            </a:pPr>
            <a:endParaRPr lang="en-US" altLang="en-US" sz="3150" dirty="0">
              <a:sym typeface="Symbol" panose="05050102010706020507" pitchFamily="18" charset="2"/>
            </a:endParaRPr>
          </a:p>
        </p:txBody>
      </p:sp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478DD2E-6C7F-9942-BB03-58B2F8A9C030}" type="slidenum">
              <a:rPr lang="en-US"/>
              <a:pPr>
                <a:defRPr/>
              </a:pPr>
              <a:t>20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0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/>
          <p:cNvSpPr>
            <a:spLocks noGrp="1" noChangeArrowheads="1"/>
          </p:cNvSpPr>
          <p:nvPr>
            <p:ph type="title"/>
          </p:nvPr>
        </p:nvSpPr>
        <p:spPr>
          <a:xfrm>
            <a:off x="2501900" y="252413"/>
            <a:ext cx="10590213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Performance of Demand Paging (Cont.)</a:t>
            </a:r>
          </a:p>
        </p:txBody>
      </p:sp>
      <p:sp>
        <p:nvSpPr>
          <p:cNvPr id="2253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392382" y="1492250"/>
            <a:ext cx="11561618" cy="6196013"/>
          </a:xfrm>
        </p:spPr>
        <p:txBody>
          <a:bodyPr rtlCol="0">
            <a:normAutofit fontScale="92500" lnSpcReduction="10000"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2884945" algn="l"/>
                <a:tab pos="3807789" algn="l"/>
              </a:tabLst>
              <a:defRPr/>
            </a:pPr>
            <a:r>
              <a:rPr lang="en-US" altLang="en-US" sz="3150" dirty="0"/>
              <a:t>Three major activities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2884945" algn="l"/>
                <a:tab pos="3807789" algn="l"/>
              </a:tabLst>
              <a:defRPr/>
            </a:pPr>
            <a:r>
              <a:rPr lang="en-US" altLang="en-US" dirty="0"/>
              <a:t>Service the interrupt – careful coding means just several hundred instructions needed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2884945" algn="l"/>
                <a:tab pos="3807789" algn="l"/>
              </a:tabLst>
              <a:defRPr/>
            </a:pPr>
            <a:r>
              <a:rPr lang="en-US" altLang="en-US" dirty="0"/>
              <a:t>Read the page – lots of time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2884945" algn="l"/>
                <a:tab pos="3807789" algn="l"/>
              </a:tabLst>
              <a:defRPr/>
            </a:pPr>
            <a:r>
              <a:rPr lang="en-US" altLang="en-US" dirty="0"/>
              <a:t>Restart the process – again just a small amount of time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2884945" algn="l"/>
                <a:tab pos="3807789" algn="l"/>
              </a:tabLst>
              <a:defRPr/>
            </a:pPr>
            <a:r>
              <a:rPr lang="en-US" altLang="en-US" sz="3150" dirty="0"/>
              <a:t>Page Fault Rate 0 </a:t>
            </a:r>
            <a:r>
              <a:rPr lang="en-US" altLang="en-US" sz="3150" dirty="0">
                <a:sym typeface="Symbol" panose="05050102010706020507" pitchFamily="18" charset="2"/>
              </a:rPr>
              <a:t> </a:t>
            </a:r>
            <a:r>
              <a:rPr lang="en-US" altLang="en-US" sz="3150" i="1" dirty="0">
                <a:sym typeface="Symbol" panose="05050102010706020507" pitchFamily="18" charset="2"/>
              </a:rPr>
              <a:t>p</a:t>
            </a:r>
            <a:r>
              <a:rPr lang="en-US" altLang="en-US" sz="3150" dirty="0">
                <a:sym typeface="Symbol" panose="05050102010706020507" pitchFamily="18" charset="2"/>
              </a:rPr>
              <a:t>  1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2884945" algn="l"/>
                <a:tab pos="3807789" algn="l"/>
              </a:tabLst>
              <a:defRPr/>
            </a:pPr>
            <a:r>
              <a:rPr lang="en-US" altLang="en-US" dirty="0">
                <a:sym typeface="Symbol" panose="05050102010706020507" pitchFamily="18" charset="2"/>
              </a:rPr>
              <a:t>if </a:t>
            </a:r>
            <a:r>
              <a:rPr lang="en-US" altLang="en-US" i="1" dirty="0">
                <a:sym typeface="Symbol" panose="05050102010706020507" pitchFamily="18" charset="2"/>
              </a:rPr>
              <a:t>p</a:t>
            </a:r>
            <a:r>
              <a:rPr lang="en-US" altLang="en-US" dirty="0">
                <a:sym typeface="Symbol" panose="05050102010706020507" pitchFamily="18" charset="2"/>
              </a:rPr>
              <a:t> = 0 no page faults 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2884945" algn="l"/>
                <a:tab pos="3807789" algn="l"/>
              </a:tabLst>
              <a:defRPr/>
            </a:pPr>
            <a:r>
              <a:rPr lang="en-US" altLang="en-US" dirty="0">
                <a:sym typeface="Symbol" panose="05050102010706020507" pitchFamily="18" charset="2"/>
              </a:rPr>
              <a:t>if </a:t>
            </a:r>
            <a:r>
              <a:rPr lang="en-US" altLang="en-US" i="1" dirty="0">
                <a:sym typeface="Symbol" panose="05050102010706020507" pitchFamily="18" charset="2"/>
              </a:rPr>
              <a:t>p</a:t>
            </a:r>
            <a:r>
              <a:rPr lang="en-US" altLang="en-US" dirty="0">
                <a:sym typeface="Symbol" panose="05050102010706020507" pitchFamily="18" charset="2"/>
              </a:rPr>
              <a:t> = 1, every reference is a fault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2884945" algn="l"/>
                <a:tab pos="3807789" algn="l"/>
              </a:tabLst>
              <a:defRPr/>
            </a:pPr>
            <a:r>
              <a:rPr lang="en-US" altLang="en-US" sz="3150" dirty="0">
                <a:sym typeface="Symbol" panose="05050102010706020507" pitchFamily="18" charset="2"/>
              </a:rPr>
              <a:t>Effective Access Time (EAT)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None/>
              <a:tabLst>
                <a:tab pos="2884945" algn="l"/>
                <a:tab pos="3807789" algn="l"/>
              </a:tabLst>
              <a:defRPr/>
            </a:pPr>
            <a:r>
              <a:rPr lang="en-US" altLang="en-US" sz="3150" dirty="0">
                <a:sym typeface="Symbol" panose="05050102010706020507" pitchFamily="18" charset="2"/>
              </a:rPr>
              <a:t>		EAT = (1 – </a:t>
            </a:r>
            <a:r>
              <a:rPr lang="en-US" altLang="en-US" sz="3150" i="1" dirty="0">
                <a:sym typeface="Symbol" panose="05050102010706020507" pitchFamily="18" charset="2"/>
              </a:rPr>
              <a:t>p</a:t>
            </a:r>
            <a:r>
              <a:rPr lang="en-US" altLang="en-US" sz="3150" dirty="0">
                <a:sym typeface="Symbol" panose="05050102010706020507" pitchFamily="18" charset="2"/>
              </a:rPr>
              <a:t>) x memory access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None/>
              <a:tabLst>
                <a:tab pos="2884945" algn="l"/>
                <a:tab pos="3807789" algn="l"/>
              </a:tabLst>
              <a:defRPr/>
            </a:pPr>
            <a:r>
              <a:rPr lang="en-US" altLang="en-US" sz="3150" dirty="0">
                <a:sym typeface="Symbol" panose="05050102010706020507" pitchFamily="18" charset="2"/>
              </a:rPr>
              <a:t>			+ </a:t>
            </a:r>
            <a:r>
              <a:rPr lang="en-US" altLang="en-US" sz="3150" i="1" dirty="0">
                <a:sym typeface="Symbol" panose="05050102010706020507" pitchFamily="18" charset="2"/>
              </a:rPr>
              <a:t>p</a:t>
            </a:r>
            <a:r>
              <a:rPr lang="en-US" altLang="en-US" sz="3150" dirty="0">
                <a:sym typeface="Symbol" panose="05050102010706020507" pitchFamily="18" charset="2"/>
              </a:rPr>
              <a:t> (page fault overhead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None/>
              <a:tabLst>
                <a:tab pos="2884945" algn="l"/>
                <a:tab pos="3807789" algn="l"/>
              </a:tabLst>
              <a:defRPr/>
            </a:pPr>
            <a:r>
              <a:rPr lang="en-US" altLang="en-US" sz="3150" dirty="0">
                <a:sym typeface="Symbol" panose="05050102010706020507" pitchFamily="18" charset="2"/>
              </a:rPr>
              <a:t>			           + swap page out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None/>
              <a:tabLst>
                <a:tab pos="2884945" algn="l"/>
                <a:tab pos="3807789" algn="l"/>
              </a:tabLst>
              <a:defRPr/>
            </a:pPr>
            <a:r>
              <a:rPr lang="en-US" altLang="en-US" sz="3150" dirty="0">
                <a:sym typeface="Symbol" panose="05050102010706020507" pitchFamily="18" charset="2"/>
              </a:rPr>
              <a:t>			           + swap page in )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None/>
              <a:tabLst>
                <a:tab pos="2884945" algn="l"/>
                <a:tab pos="3807789" algn="l"/>
              </a:tabLst>
              <a:defRPr/>
            </a:pPr>
            <a:r>
              <a:rPr lang="en-US" altLang="en-US" sz="3150" dirty="0">
                <a:sym typeface="Symbol" panose="05050102010706020507" pitchFamily="18" charset="2"/>
              </a:rPr>
              <a:t>				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4667F4B-1994-C041-8213-A1DEBFB1EDB5}" type="slidenum">
              <a:rPr lang="en-US"/>
              <a:pPr>
                <a:defRPr/>
              </a:pPr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4950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Recap / Introduction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Demand Paging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/>
              <a:t>Copy-on-Write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Page Replacement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Allocation of Frames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Thrashing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Memory-Mapped files</a:t>
            </a:r>
            <a:r>
              <a:rPr lang="en-US" sz="4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3200" dirty="0">
                <a:solidFill>
                  <a:schemeClr val="bg1">
                    <a:lumMod val="65000"/>
                  </a:schemeClr>
                </a:solidFill>
              </a:rPr>
              <a:t>[Self-reading]</a:t>
            </a:r>
            <a:endParaRPr lang="en-US" sz="31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779BC32-8FC1-1D4B-9BFF-782D2E7B7BBB}" type="slidenum">
              <a:rPr lang="en-US"/>
              <a:pPr>
                <a:defRPr/>
              </a:pPr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66688"/>
            <a:ext cx="10972800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 dirty="0"/>
              <a:t>Copy-on-Write</a:t>
            </a:r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22463" y="1474788"/>
            <a:ext cx="9779000" cy="6042025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2133" b="1" dirty="0"/>
              <a:t>Example of optimization enabled by separation of Logical from Physical memory and by demand paging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US" altLang="en-US" sz="2133" b="1" dirty="0">
              <a:solidFill>
                <a:srgbClr val="3366FF"/>
              </a:solidFill>
            </a:endParaRP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2133" b="1" dirty="0">
                <a:solidFill>
                  <a:srgbClr val="3366FF"/>
                </a:solidFill>
              </a:rPr>
              <a:t>Copy-on-Write </a:t>
            </a:r>
            <a:r>
              <a:rPr lang="en-US" altLang="en-US" sz="2133" dirty="0"/>
              <a:t>(COW) allows both parent and child processes to initially </a:t>
            </a:r>
            <a:r>
              <a:rPr lang="en-US" altLang="en-US" sz="2133" b="1" i="1" dirty="0"/>
              <a:t>share</a:t>
            </a:r>
            <a:r>
              <a:rPr lang="en-US" altLang="en-US" sz="2133" dirty="0"/>
              <a:t> the same pages in memory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2133" dirty="0"/>
              <a:t>If either process modifies a shared page, only then is the page copied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2133" dirty="0"/>
              <a:t>COW allows more efficient process creation as only modified pages are copied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US" altLang="en-US" sz="2133" dirty="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2133" dirty="0" err="1">
                <a:latin typeface="Courier New" panose="02070309020205020404" pitchFamily="49" charset="0"/>
                <a:cs typeface="Courier New" panose="02070309020205020404" pitchFamily="49" charset="0"/>
              </a:rPr>
              <a:t>vfork</a:t>
            </a:r>
            <a:r>
              <a:rPr lang="en-US" altLang="en-US" sz="2133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en-US" altLang="en-US" sz="2133" dirty="0"/>
              <a:t> variation on </a:t>
            </a:r>
            <a:r>
              <a:rPr lang="en-US" altLang="en-US" sz="2133" dirty="0">
                <a:latin typeface="Courier New" panose="02070309020205020404" pitchFamily="49" charset="0"/>
                <a:cs typeface="Courier New" panose="02070309020205020404" pitchFamily="49" charset="0"/>
              </a:rPr>
              <a:t>fork() </a:t>
            </a:r>
            <a:r>
              <a:rPr lang="en-US" altLang="en-US" sz="2133" dirty="0"/>
              <a:t>system call has parent suspend and child using copy-on-write address space of parent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2133" dirty="0"/>
              <a:t>Designed to have child call </a:t>
            </a:r>
            <a:r>
              <a:rPr lang="en-US" altLang="en-US" sz="2133" dirty="0">
                <a:latin typeface="Courier New" panose="02070309020205020404" pitchFamily="49" charset="0"/>
                <a:cs typeface="Courier New" panose="02070309020205020404" pitchFamily="49" charset="0"/>
              </a:rPr>
              <a:t>exec()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2133" dirty="0"/>
              <a:t>Very efficient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A0C0950-63F7-B047-83E1-D8423D8AFA5C}" type="slidenum">
              <a:rPr lang="en-US"/>
              <a:pPr>
                <a:defRPr/>
              </a:pPr>
              <a:t>23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0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2074863" y="303213"/>
            <a:ext cx="10388600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Before Process 1 Modifies Page C</a:t>
            </a:r>
          </a:p>
        </p:txBody>
      </p:sp>
      <p:pic>
        <p:nvPicPr>
          <p:cNvPr id="54275" name="Picture 4" descr="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1738" y="1804988"/>
            <a:ext cx="9785350" cy="3937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5323281-BDD7-0A41-942C-2849AC745D8D}" type="slidenum">
              <a:rPr lang="en-US"/>
              <a:pPr>
                <a:defRPr/>
              </a:pPr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/>
          <p:cNvSpPr>
            <a:spLocks noGrp="1" noChangeArrowheads="1"/>
          </p:cNvSpPr>
          <p:nvPr>
            <p:ph type="title"/>
          </p:nvPr>
        </p:nvSpPr>
        <p:spPr>
          <a:xfrm>
            <a:off x="1947863" y="184150"/>
            <a:ext cx="10414000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After Process 1 Modifies Page C</a:t>
            </a:r>
          </a:p>
        </p:txBody>
      </p:sp>
      <p:pic>
        <p:nvPicPr>
          <p:cNvPr id="56323" name="Picture 4" descr="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46400" y="1758950"/>
            <a:ext cx="8539163" cy="3944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3B62BBA-B034-9244-9882-910C88A2B7BF}" type="slidenum">
              <a:rPr lang="en-US"/>
              <a:pPr>
                <a:defRPr/>
              </a:pPr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D65A73B-1BF2-6741-A7C7-88E869CE9B2E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600" y="1432560"/>
            <a:ext cx="2794000" cy="32004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7145" y="693866"/>
            <a:ext cx="5448300" cy="3060700"/>
          </a:xfrm>
          <a:prstGeom prst="rect">
            <a:avLst/>
          </a:prstGeom>
        </p:spPr>
      </p:pic>
      <p:grpSp>
        <p:nvGrpSpPr>
          <p:cNvPr id="12" name="Group 11"/>
          <p:cNvGrpSpPr/>
          <p:nvPr/>
        </p:nvGrpSpPr>
        <p:grpSpPr>
          <a:xfrm>
            <a:off x="4987290" y="4019917"/>
            <a:ext cx="8370570" cy="4190395"/>
            <a:chOff x="4987290" y="4019917"/>
            <a:chExt cx="8370570" cy="4190395"/>
          </a:xfrm>
        </p:grpSpPr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87290" y="4019917"/>
              <a:ext cx="8370570" cy="4190395"/>
            </a:xfrm>
            <a:prstGeom prst="rect">
              <a:avLst/>
            </a:prstGeom>
          </p:spPr>
        </p:pic>
        <p:sp>
          <p:nvSpPr>
            <p:cNvPr id="10" name="Oval 9"/>
            <p:cNvSpPr/>
            <p:nvPr/>
          </p:nvSpPr>
          <p:spPr>
            <a:xfrm>
              <a:off x="6551294" y="6705600"/>
              <a:ext cx="2486025" cy="487680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308281" y="7164587"/>
              <a:ext cx="3454719" cy="487680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70944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4950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Recap / Introduction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Demand Paging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Copy-on-Write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/>
              <a:t>Page Replacement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Allocation of Frames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Thrashing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Memory-Mapped files</a:t>
            </a:r>
            <a:r>
              <a:rPr lang="en-US" sz="4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3200" dirty="0">
                <a:solidFill>
                  <a:schemeClr val="bg1">
                    <a:lumMod val="65000"/>
                  </a:schemeClr>
                </a:solidFill>
              </a:rPr>
              <a:t>[Self-reading]</a:t>
            </a:r>
            <a:endParaRPr lang="en-US" sz="31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7D74BB-97FF-8D4B-938C-884D63C312BE}" type="slidenum">
              <a:rPr lang="en-US"/>
              <a:pPr>
                <a:defRPr/>
              </a:pPr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351693" y="252413"/>
            <a:ext cx="12421332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 dirty="0"/>
              <a:t>Suppose we end up in </a:t>
            </a:r>
            <a:r>
              <a:rPr lang="en-US" altLang="en-US" sz="4950"/>
              <a:t>a situation like the following one</a:t>
            </a:r>
            <a:endParaRPr lang="en-US" altLang="en-US" sz="4950" dirty="0"/>
          </a:p>
        </p:txBody>
      </p:sp>
      <p:pic>
        <p:nvPicPr>
          <p:cNvPr id="63491" name="Picture 4" descr="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1693" y="1602088"/>
            <a:ext cx="7154506" cy="52135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F8636BE-D784-0D42-9655-8FF5DE1AD1B9}" type="slidenum">
              <a:rPr lang="en-US"/>
              <a:pPr>
                <a:defRPr/>
              </a:pPr>
              <a:t>28</a:t>
            </a:fld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955" y="1797702"/>
            <a:ext cx="1228725" cy="1228725"/>
          </a:xfrm>
          <a:prstGeom prst="rect">
            <a:avLst/>
          </a:prstGeom>
        </p:spPr>
      </p:pic>
      <p:sp>
        <p:nvSpPr>
          <p:cNvPr id="9" name="Content Placeholder 2"/>
          <p:cNvSpPr txBox="1">
            <a:spLocks/>
          </p:cNvSpPr>
          <p:nvPr/>
        </p:nvSpPr>
        <p:spPr>
          <a:xfrm>
            <a:off x="8838199" y="2023384"/>
            <a:ext cx="4785036" cy="611345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sz="2800" i="1" dirty="0"/>
              <a:t>What to do now?</a:t>
            </a:r>
          </a:p>
          <a:p>
            <a:pPr fontAlgn="auto">
              <a:spcAft>
                <a:spcPts val="0"/>
              </a:spcAft>
            </a:pPr>
            <a:r>
              <a:rPr lang="en-US" sz="2800" i="1" dirty="0"/>
              <a:t>Can we replace an existing page?</a:t>
            </a:r>
          </a:p>
          <a:p>
            <a:pPr fontAlgn="auto">
              <a:spcAft>
                <a:spcPts val="0"/>
              </a:spcAft>
            </a:pPr>
            <a:r>
              <a:rPr lang="en-US" sz="2800" i="1" dirty="0"/>
              <a:t>Should it be from process 1 or can it also be from process 2?</a:t>
            </a:r>
          </a:p>
          <a:p>
            <a:pPr fontAlgn="auto">
              <a:spcAft>
                <a:spcPts val="0"/>
              </a:spcAft>
            </a:pPr>
            <a:r>
              <a:rPr lang="en-US" sz="2800" i="1" dirty="0"/>
              <a:t>Is there any page that is faster to swap out than others?</a:t>
            </a:r>
          </a:p>
          <a:p>
            <a:pPr fontAlgn="auto">
              <a:spcAft>
                <a:spcPts val="0"/>
              </a:spcAft>
            </a:pPr>
            <a:r>
              <a:rPr lang="en-US" sz="2800" i="1" dirty="0"/>
              <a:t>Is there any page that has lower probability of being needed later on?</a:t>
            </a:r>
          </a:p>
          <a:p>
            <a:pPr fontAlgn="auto">
              <a:spcAft>
                <a:spcPts val="0"/>
              </a:spcAft>
            </a:pPr>
            <a:r>
              <a:rPr lang="en-US" sz="2800" i="1" dirty="0"/>
              <a:t>Could have we prevented this situation?</a:t>
            </a:r>
          </a:p>
          <a:p>
            <a:pPr fontAlgn="auto">
              <a:spcAft>
                <a:spcPts val="0"/>
              </a:spcAft>
            </a:pPr>
            <a:r>
              <a:rPr lang="en-US" sz="2800" i="1" dirty="0"/>
              <a:t>How many page should we have allocated to the OS and to processes 1 and 2 to prevent this?</a:t>
            </a:r>
          </a:p>
          <a:p>
            <a:pPr fontAlgn="auto">
              <a:spcAft>
                <a:spcPts val="0"/>
              </a:spcAft>
            </a:pPr>
            <a:r>
              <a:rPr lang="en-US" sz="2800" i="1" dirty="0"/>
              <a:t>…</a:t>
            </a:r>
          </a:p>
        </p:txBody>
      </p:sp>
      <p:sp>
        <p:nvSpPr>
          <p:cNvPr id="10" name="Content Placeholder 2"/>
          <p:cNvSpPr txBox="1">
            <a:spLocks/>
          </p:cNvSpPr>
          <p:nvPr/>
        </p:nvSpPr>
        <p:spPr>
          <a:xfrm>
            <a:off x="808707" y="6951902"/>
            <a:ext cx="7924475" cy="26690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None/>
            </a:pPr>
            <a:r>
              <a:rPr lang="en-US" sz="2800" dirty="0"/>
              <a:t>Process 1 needs a free frame (but 0 available!)</a:t>
            </a:r>
          </a:p>
        </p:txBody>
      </p:sp>
      <p:sp>
        <p:nvSpPr>
          <p:cNvPr id="11" name="Content Placeholder 2"/>
          <p:cNvSpPr txBox="1">
            <a:spLocks/>
          </p:cNvSpPr>
          <p:nvPr/>
        </p:nvSpPr>
        <p:spPr>
          <a:xfrm>
            <a:off x="1430034" y="3599044"/>
            <a:ext cx="889097" cy="244085"/>
          </a:xfrm>
          <a:prstGeom prst="rect">
            <a:avLst/>
          </a:prstGeom>
          <a:solidFill>
            <a:schemeClr val="bg1"/>
          </a:solidFill>
        </p:spPr>
        <p:txBody>
          <a:bodyPr vert="horz" lIns="0" tIns="0" rIns="0" bIns="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None/>
            </a:pPr>
            <a:r>
              <a:rPr lang="en-US" sz="1800" dirty="0"/>
              <a:t>process 1</a:t>
            </a:r>
          </a:p>
        </p:txBody>
      </p:sp>
      <p:sp>
        <p:nvSpPr>
          <p:cNvPr id="12" name="Content Placeholder 2"/>
          <p:cNvSpPr txBox="1">
            <a:spLocks/>
          </p:cNvSpPr>
          <p:nvPr/>
        </p:nvSpPr>
        <p:spPr>
          <a:xfrm>
            <a:off x="2888582" y="3563047"/>
            <a:ext cx="889097" cy="244085"/>
          </a:xfrm>
          <a:prstGeom prst="rect">
            <a:avLst/>
          </a:prstGeom>
          <a:solidFill>
            <a:schemeClr val="bg1"/>
          </a:solidFill>
        </p:spPr>
        <p:txBody>
          <a:bodyPr vert="horz" lIns="0" tIns="0" rIns="0" bIns="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None/>
            </a:pPr>
            <a:r>
              <a:rPr lang="en-US" sz="1800" dirty="0"/>
              <a:t>process 1</a:t>
            </a:r>
          </a:p>
        </p:txBody>
      </p:sp>
      <p:sp>
        <p:nvSpPr>
          <p:cNvPr id="13" name="Content Placeholder 2"/>
          <p:cNvSpPr txBox="1">
            <a:spLocks/>
          </p:cNvSpPr>
          <p:nvPr/>
        </p:nvSpPr>
        <p:spPr>
          <a:xfrm>
            <a:off x="1430034" y="6568669"/>
            <a:ext cx="889097" cy="244085"/>
          </a:xfrm>
          <a:prstGeom prst="rect">
            <a:avLst/>
          </a:prstGeom>
          <a:solidFill>
            <a:schemeClr val="bg1"/>
          </a:solidFill>
        </p:spPr>
        <p:txBody>
          <a:bodyPr vert="horz" lIns="0" tIns="0" rIns="0" bIns="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None/>
            </a:pPr>
            <a:r>
              <a:rPr lang="en-US" sz="1800" dirty="0"/>
              <a:t>process 2</a:t>
            </a:r>
          </a:p>
        </p:txBody>
      </p:sp>
      <p:sp>
        <p:nvSpPr>
          <p:cNvPr id="14" name="Content Placeholder 2"/>
          <p:cNvSpPr txBox="1">
            <a:spLocks/>
          </p:cNvSpPr>
          <p:nvPr/>
        </p:nvSpPr>
        <p:spPr>
          <a:xfrm>
            <a:off x="2888582" y="6532672"/>
            <a:ext cx="889097" cy="244085"/>
          </a:xfrm>
          <a:prstGeom prst="rect">
            <a:avLst/>
          </a:prstGeom>
          <a:solidFill>
            <a:schemeClr val="bg1"/>
          </a:solidFill>
        </p:spPr>
        <p:txBody>
          <a:bodyPr vert="horz" lIns="0" tIns="0" rIns="0" bIns="0" rtlCol="0">
            <a:noAutofit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fontAlgn="auto">
              <a:spcAft>
                <a:spcPts val="0"/>
              </a:spcAft>
              <a:buNone/>
            </a:pPr>
            <a:r>
              <a:rPr lang="en-US" sz="1800" dirty="0"/>
              <a:t>Process 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351693" y="252413"/>
            <a:ext cx="12421332" cy="768350"/>
          </a:xfrm>
        </p:spPr>
        <p:txBody>
          <a:bodyPr rtlCol="0"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en-US" altLang="en-US" sz="5400"/>
              <a:t>Page and Frame Replacement Algorithms</a:t>
            </a:r>
            <a:endParaRPr lang="en-US" altLang="en-US" sz="4950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F8636BE-D784-0D42-9655-8FF5DE1AD1B9}" type="slidenum">
              <a:rPr lang="en-US"/>
              <a:pPr>
                <a:defRPr/>
              </a:pPr>
              <a:t>29</a:t>
            </a:fld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747" y="1850711"/>
            <a:ext cx="1228725" cy="1228725"/>
          </a:xfrm>
          <a:prstGeom prst="rect">
            <a:avLst/>
          </a:prstGeom>
        </p:spPr>
      </p:pic>
      <p:sp>
        <p:nvSpPr>
          <p:cNvPr id="9" name="Content Placeholder 2"/>
          <p:cNvSpPr txBox="1">
            <a:spLocks/>
          </p:cNvSpPr>
          <p:nvPr/>
        </p:nvSpPr>
        <p:spPr>
          <a:xfrm>
            <a:off x="1469991" y="2076393"/>
            <a:ext cx="4785036" cy="611345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sz="2800" i="1" dirty="0"/>
              <a:t>What to do now?</a:t>
            </a:r>
          </a:p>
          <a:p>
            <a:pPr fontAlgn="auto">
              <a:spcAft>
                <a:spcPts val="0"/>
              </a:spcAft>
            </a:pPr>
            <a:r>
              <a:rPr lang="en-US" sz="2800" i="1" dirty="0"/>
              <a:t>Can we replace an existing page?</a:t>
            </a:r>
          </a:p>
          <a:p>
            <a:pPr fontAlgn="auto">
              <a:spcAft>
                <a:spcPts val="0"/>
              </a:spcAft>
            </a:pPr>
            <a:r>
              <a:rPr lang="en-US" sz="2800" i="1" dirty="0"/>
              <a:t>Should it be from process 1 or can it also be from process 2?</a:t>
            </a:r>
          </a:p>
          <a:p>
            <a:pPr fontAlgn="auto">
              <a:spcAft>
                <a:spcPts val="0"/>
              </a:spcAft>
            </a:pPr>
            <a:r>
              <a:rPr lang="en-US" sz="2800" i="1" dirty="0"/>
              <a:t>Is there any page that is faster to swap out than others?</a:t>
            </a:r>
          </a:p>
          <a:p>
            <a:pPr fontAlgn="auto">
              <a:spcAft>
                <a:spcPts val="0"/>
              </a:spcAft>
            </a:pPr>
            <a:r>
              <a:rPr lang="en-US" sz="2800" i="1" dirty="0"/>
              <a:t>Is there any page that has lower probability of being needed later on?</a:t>
            </a:r>
          </a:p>
          <a:p>
            <a:pPr fontAlgn="auto">
              <a:spcAft>
                <a:spcPts val="0"/>
              </a:spcAft>
            </a:pPr>
            <a:r>
              <a:rPr lang="en-US" sz="2800" i="1" dirty="0"/>
              <a:t>Could have we prevented this situation?</a:t>
            </a:r>
          </a:p>
          <a:p>
            <a:pPr fontAlgn="auto">
              <a:spcAft>
                <a:spcPts val="0"/>
              </a:spcAft>
            </a:pPr>
            <a:r>
              <a:rPr lang="en-US" sz="2800" i="1" dirty="0"/>
              <a:t>How many page should we have allocated to the OS and to processes 1 and 2 to prevent this?</a:t>
            </a:r>
          </a:p>
          <a:p>
            <a:pPr fontAlgn="auto">
              <a:spcAft>
                <a:spcPts val="0"/>
              </a:spcAft>
            </a:pPr>
            <a:r>
              <a:rPr lang="en-US" sz="2800" i="1" dirty="0"/>
              <a:t>…</a:t>
            </a:r>
          </a:p>
        </p:txBody>
      </p:sp>
      <p:sp>
        <p:nvSpPr>
          <p:cNvPr id="5" name="Right Brace 4"/>
          <p:cNvSpPr/>
          <p:nvPr/>
        </p:nvSpPr>
        <p:spPr>
          <a:xfrm>
            <a:off x="6115879" y="1739969"/>
            <a:ext cx="278295" cy="6016487"/>
          </a:xfrm>
          <a:prstGeom prst="rightBrac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6562359" y="3233530"/>
            <a:ext cx="1614232" cy="151468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 rot="5400000" flipV="1">
            <a:off x="6512584" y="4797987"/>
            <a:ext cx="1614232" cy="151468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45227" y="2617977"/>
            <a:ext cx="5146399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fontAlgn="auto" hangingPunct="1">
              <a:spcAft>
                <a:spcPts val="0"/>
              </a:spcAft>
              <a:tabLst>
                <a:tab pos="4193013" algn="ctr"/>
              </a:tabLst>
              <a:defRPr/>
            </a:pPr>
            <a:r>
              <a:rPr lang="en-US" altLang="en-US" sz="2000" b="1" dirty="0">
                <a:solidFill>
                  <a:srgbClr val="3366FF"/>
                </a:solidFill>
              </a:rPr>
              <a:t>Frame-allocation algorithm </a:t>
            </a:r>
            <a:br>
              <a:rPr lang="en-US" altLang="en-US" sz="2000" b="1" dirty="0">
                <a:solidFill>
                  <a:srgbClr val="3366FF"/>
                </a:solidFill>
              </a:rPr>
            </a:br>
            <a:r>
              <a:rPr lang="en-US" altLang="en-US" dirty="0"/>
              <a:t>determines how many frames to give each process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45227" y="6033145"/>
            <a:ext cx="4702147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fontAlgn="auto" hangingPunct="1">
              <a:spcAft>
                <a:spcPts val="0"/>
              </a:spcAft>
              <a:tabLst>
                <a:tab pos="4193013" algn="ctr"/>
              </a:tabLst>
              <a:defRPr/>
            </a:pPr>
            <a:r>
              <a:rPr lang="en-US" altLang="en-US" sz="2000" b="1" dirty="0">
                <a:solidFill>
                  <a:srgbClr val="3366FF"/>
                </a:solidFill>
              </a:rPr>
              <a:t>Page-replacement algorithm</a:t>
            </a:r>
            <a:br>
              <a:rPr lang="en-US" altLang="en-US" sz="3150" b="1" dirty="0">
                <a:solidFill>
                  <a:srgbClr val="3366FF"/>
                </a:solidFill>
              </a:rPr>
            </a:br>
            <a:r>
              <a:rPr lang="en-US" altLang="en-US" dirty="0"/>
              <a:t>Which page to replace? Want lowest page-fault rate on both first access and re-access</a:t>
            </a:r>
          </a:p>
        </p:txBody>
      </p:sp>
    </p:spTree>
    <p:extLst>
      <p:ext uri="{BB962C8B-B14F-4D97-AF65-F5344CB8AC3E}">
        <p14:creationId xmlns:p14="http://schemas.microsoft.com/office/powerpoint/2010/main" val="4079467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>
          <a:xfrm>
            <a:off x="2044700" y="252413"/>
            <a:ext cx="10299700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Page Replacement</a:t>
            </a:r>
          </a:p>
        </p:txBody>
      </p:sp>
      <p:sp>
        <p:nvSpPr>
          <p:cNvPr id="2969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449387" y="1727994"/>
            <a:ext cx="10817225" cy="6040438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Prevent </a:t>
            </a:r>
            <a:r>
              <a:rPr lang="en-US" altLang="en-US" sz="3150" b="1" dirty="0">
                <a:solidFill>
                  <a:srgbClr val="3366FF"/>
                </a:solidFill>
              </a:rPr>
              <a:t>over-allocation</a:t>
            </a:r>
            <a:r>
              <a:rPr lang="en-US" altLang="en-US" sz="3150" dirty="0"/>
              <a:t> of memory by modifying page-fault service routine to include page replacement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Use </a:t>
            </a:r>
            <a:r>
              <a:rPr lang="en-US" altLang="en-US" sz="3150" b="1" dirty="0">
                <a:solidFill>
                  <a:srgbClr val="3366FF"/>
                </a:solidFill>
              </a:rPr>
              <a:t>modify </a:t>
            </a:r>
            <a:r>
              <a:rPr lang="en-US" altLang="en-US" sz="3150" dirty="0"/>
              <a:t>(</a:t>
            </a:r>
            <a:r>
              <a:rPr lang="en-US" altLang="en-US" sz="3150" b="1" dirty="0">
                <a:solidFill>
                  <a:srgbClr val="3366FF"/>
                </a:solidFill>
              </a:rPr>
              <a:t>dirty</a:t>
            </a:r>
            <a:r>
              <a:rPr lang="en-US" altLang="en-US" sz="3150" dirty="0"/>
              <a:t>)</a:t>
            </a:r>
            <a:r>
              <a:rPr lang="en-US" altLang="en-US" sz="3150" b="1" dirty="0">
                <a:solidFill>
                  <a:srgbClr val="3366FF"/>
                </a:solidFill>
              </a:rPr>
              <a:t> bit </a:t>
            </a:r>
            <a:r>
              <a:rPr lang="en-US" altLang="en-US" sz="3150" dirty="0"/>
              <a:t>to reduce overhead of page transfers – only modified pages are written to disk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Page replacement completes separation between logical memory and physical memory – large virtual memory can be provided on a smaller physical memory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C5DDA2E-75D1-6549-B176-2158931C31F0}" type="slidenum">
              <a:rPr lang="en-US"/>
              <a:pPr>
                <a:defRPr/>
              </a:pPr>
              <a:t>30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9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>
          <a:xfrm>
            <a:off x="2201863" y="217488"/>
            <a:ext cx="10142537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Basic Page Replacement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73263" y="1497013"/>
            <a:ext cx="10204450" cy="5943600"/>
          </a:xfrm>
        </p:spPr>
        <p:txBody>
          <a:bodyPr rtlCol="0">
            <a:normAutofit fontScale="92500" lnSpcReduction="20000"/>
          </a:bodyPr>
          <a:lstStyle/>
          <a:p>
            <a:pPr marL="505871" indent="-505871" eaLnBrk="1" fontAlgn="auto" hangingPunct="1">
              <a:spcAft>
                <a:spcPts val="0"/>
              </a:spcAft>
              <a:buFont typeface="Monotype Sorts" pitchFamily="-84" charset="2"/>
              <a:buAutoNum type="arabicPeriod"/>
              <a:defRPr/>
            </a:pPr>
            <a:r>
              <a:rPr lang="en-US" altLang="en-US" sz="3150" dirty="0"/>
              <a:t>Find the location of the desired page on disk</a:t>
            </a:r>
            <a:br>
              <a:rPr lang="en-US" altLang="en-US" sz="3150" dirty="0"/>
            </a:br>
            <a:endParaRPr lang="en-US" altLang="en-US" sz="3150" dirty="0"/>
          </a:p>
          <a:p>
            <a:pPr marL="505871" indent="-505871" eaLnBrk="1" fontAlgn="auto" hangingPunct="1">
              <a:spcAft>
                <a:spcPts val="0"/>
              </a:spcAft>
              <a:buFont typeface="Monotype Sorts" pitchFamily="-84" charset="2"/>
              <a:buAutoNum type="arabicPeriod"/>
              <a:defRPr/>
            </a:pPr>
            <a:r>
              <a:rPr lang="en-US" altLang="en-US" sz="3150" dirty="0"/>
              <a:t>Find a free frame:</a:t>
            </a:r>
            <a:br>
              <a:rPr lang="en-US" altLang="en-US" sz="3150" dirty="0"/>
            </a:br>
            <a:r>
              <a:rPr lang="en-US" altLang="en-US" sz="3150" dirty="0"/>
              <a:t>   -  If there is a free frame, use it</a:t>
            </a:r>
            <a:br>
              <a:rPr lang="en-US" altLang="en-US" sz="3150" dirty="0"/>
            </a:br>
            <a:r>
              <a:rPr lang="en-US" altLang="en-US" sz="3150" dirty="0"/>
              <a:t>   -  If there is no free frame, use a page replacement algorithm to select a </a:t>
            </a:r>
            <a:r>
              <a:rPr lang="en-US" altLang="en-US" sz="3150" b="1" dirty="0">
                <a:solidFill>
                  <a:srgbClr val="3366FF"/>
                </a:solidFill>
              </a:rPr>
              <a:t>victim</a:t>
            </a:r>
            <a:r>
              <a:rPr lang="en-US" altLang="en-US" sz="3150" dirty="0">
                <a:solidFill>
                  <a:srgbClr val="3366FF"/>
                </a:solidFill>
              </a:rPr>
              <a:t> </a:t>
            </a:r>
            <a:r>
              <a:rPr lang="en-US" altLang="en-US" sz="3150" b="1" dirty="0">
                <a:solidFill>
                  <a:srgbClr val="3366FF"/>
                </a:solidFill>
              </a:rPr>
              <a:t>frame</a:t>
            </a:r>
            <a:br>
              <a:rPr lang="en-US" altLang="en-US" sz="3150" b="1" dirty="0">
                <a:solidFill>
                  <a:srgbClr val="3366FF"/>
                </a:solidFill>
              </a:rPr>
            </a:br>
            <a:r>
              <a:rPr lang="en-US" altLang="en-US" sz="3150" b="1" dirty="0">
                <a:solidFill>
                  <a:srgbClr val="3366FF"/>
                </a:solidFill>
              </a:rPr>
              <a:t>	- </a:t>
            </a:r>
            <a:r>
              <a:rPr lang="en-US" altLang="en-US" sz="3150" dirty="0"/>
              <a:t>Write victim frame to disk if dirty</a:t>
            </a:r>
            <a:br>
              <a:rPr lang="en-US" altLang="en-US" sz="3150" dirty="0"/>
            </a:br>
            <a:endParaRPr lang="en-US" altLang="en-US" sz="3150" dirty="0"/>
          </a:p>
          <a:p>
            <a:pPr marL="505871" indent="-505871" eaLnBrk="1" fontAlgn="auto" hangingPunct="1">
              <a:spcAft>
                <a:spcPts val="0"/>
              </a:spcAft>
              <a:buFont typeface="Monotype Sorts" pitchFamily="-84" charset="2"/>
              <a:buAutoNum type="arabicPeriod"/>
              <a:defRPr/>
            </a:pPr>
            <a:r>
              <a:rPr lang="en-US" altLang="en-US" sz="3150" dirty="0"/>
              <a:t>Bring  the desired page into the (newly) free frame; update the page and frame tables</a:t>
            </a:r>
            <a:br>
              <a:rPr lang="en-US" altLang="en-US" sz="3150" dirty="0"/>
            </a:br>
            <a:endParaRPr lang="en-US" altLang="en-US" sz="3150" dirty="0"/>
          </a:p>
          <a:p>
            <a:pPr marL="505871" indent="-505871" eaLnBrk="1" fontAlgn="auto" hangingPunct="1">
              <a:spcAft>
                <a:spcPts val="0"/>
              </a:spcAft>
              <a:buFont typeface="Monotype Sorts" pitchFamily="-84" charset="2"/>
              <a:buAutoNum type="arabicPeriod"/>
              <a:defRPr/>
            </a:pPr>
            <a:r>
              <a:rPr lang="en-US" altLang="en-US" sz="3150" dirty="0"/>
              <a:t>Continue the process by restarting the instruction that caused the trap</a:t>
            </a:r>
          </a:p>
          <a:p>
            <a:pPr marL="505871" indent="-505871" eaLnBrk="1" fontAlgn="auto" hangingPunct="1">
              <a:spcAft>
                <a:spcPts val="0"/>
              </a:spcAft>
              <a:buFont typeface="Monotype Sorts" pitchFamily="-84" charset="2"/>
              <a:buAutoNum type="arabicPeriod"/>
              <a:defRPr/>
            </a:pPr>
            <a:endParaRPr lang="en-US" altLang="en-US" sz="3150" dirty="0"/>
          </a:p>
          <a:p>
            <a:pPr marL="505871" indent="-505871" eaLnBrk="1" fontAlgn="auto" hangingPunct="1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altLang="en-US" sz="3150" dirty="0"/>
              <a:t>Note now potentially 2 page transfers for page fault – increasing EAT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9A75759-738C-9A4C-99F9-1200BDC9AD77}" type="slidenum">
              <a:rPr lang="en-US"/>
              <a:pPr>
                <a:defRPr/>
              </a:pPr>
              <a:t>31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Page replacement algorithms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5759D35-99C5-3A48-86D5-31C64F9121F9}" type="slidenum">
              <a:rPr lang="en-US" smtClean="0"/>
              <a:pPr>
                <a:defRPr/>
              </a:pPr>
              <a:t>32</a:t>
            </a:fld>
            <a:endParaRPr lang="en-US"/>
          </a:p>
        </p:txBody>
      </p:sp>
      <p:sp>
        <p:nvSpPr>
          <p:cNvPr id="6" name="Rectangle 3"/>
          <p:cNvSpPr txBox="1">
            <a:spLocks noChangeArrowheads="1"/>
          </p:cNvSpPr>
          <p:nvPr/>
        </p:nvSpPr>
        <p:spPr>
          <a:xfrm>
            <a:off x="1922463" y="2796209"/>
            <a:ext cx="9982200" cy="5247654"/>
          </a:xfrm>
          <a:prstGeom prst="rect">
            <a:avLst/>
          </a:prstGeom>
        </p:spPr>
        <p:txBody>
          <a:bodyPr rtlCol="0">
            <a:normAutofit/>
          </a:bodyPr>
          <a:lstStyle>
            <a:lvl1pPr marL="257175" indent="-257175" algn="l" defTabSz="1028700" rtl="0" eaLnBrk="0" fontAlgn="base" hangingPunct="0">
              <a:lnSpc>
                <a:spcPct val="90000"/>
              </a:lnSpc>
              <a:spcBef>
                <a:spcPts val="1125"/>
              </a:spcBef>
              <a:spcAft>
                <a:spcPct val="0"/>
              </a:spcAft>
              <a:buFont typeface="Arial" charset="0"/>
              <a:buChar char="•"/>
              <a:defRPr sz="3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71525" indent="-257175" algn="l" defTabSz="1028700" rtl="0" eaLnBrk="0" fontAlgn="base" hangingPunct="0">
              <a:lnSpc>
                <a:spcPct val="90000"/>
              </a:lnSpc>
              <a:spcBef>
                <a:spcPts val="563"/>
              </a:spcBef>
              <a:spcAft>
                <a:spcPct val="0"/>
              </a:spcAft>
              <a:buFont typeface="Arial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5875" indent="-257175" algn="l" defTabSz="1028700" rtl="0" eaLnBrk="0" fontAlgn="base" hangingPunct="0">
              <a:lnSpc>
                <a:spcPct val="90000"/>
              </a:lnSpc>
              <a:spcBef>
                <a:spcPts val="563"/>
              </a:spcBef>
              <a:spcAft>
                <a:spcPct val="0"/>
              </a:spcAft>
              <a:buFont typeface="Arial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00225" indent="-257175" algn="l" defTabSz="1028700" rtl="0" eaLnBrk="0" fontAlgn="base" hangingPunct="0">
              <a:lnSpc>
                <a:spcPct val="90000"/>
              </a:lnSpc>
              <a:spcBef>
                <a:spcPts val="563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14575" indent="-257175" algn="l" defTabSz="1028700" rtl="0" eaLnBrk="0" fontAlgn="base" hangingPunct="0">
              <a:lnSpc>
                <a:spcPct val="90000"/>
              </a:lnSpc>
              <a:spcBef>
                <a:spcPts val="563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828925" indent="-257175" algn="l" defTabSz="1028700" rtl="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  <a:defRPr sz="20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43275" indent="-257175" algn="l" defTabSz="1028700" rtl="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  <a:defRPr sz="20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57625" indent="-257175" algn="l" defTabSz="1028700" rtl="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  <a:defRPr sz="20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371975" indent="-257175" algn="l" defTabSz="1028700" rtl="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  <a:defRPr sz="20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4193013" algn="ctr"/>
              </a:tabLst>
              <a:defRPr/>
            </a:pPr>
            <a:r>
              <a:rPr lang="en-US" altLang="en-US" sz="3150" dirty="0"/>
              <a:t>We are going to take into account: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4193013" algn="ctr"/>
              </a:tabLst>
              <a:defRPr/>
            </a:pPr>
            <a:endParaRPr lang="en-US" altLang="en-US" sz="3150" dirty="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4193013" algn="ctr"/>
              </a:tabLst>
              <a:defRPr/>
            </a:pPr>
            <a:r>
              <a:rPr lang="en-US" altLang="en-US" sz="3150" dirty="0"/>
              <a:t>FIFO (First-In-First-Out)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4193013" algn="ctr"/>
              </a:tabLst>
              <a:defRPr/>
            </a:pPr>
            <a:r>
              <a:rPr lang="en-US" altLang="en-US" sz="3150" dirty="0"/>
              <a:t>Optimal algorithm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4193013" algn="ctr"/>
              </a:tabLst>
              <a:defRPr/>
            </a:pPr>
            <a:r>
              <a:rPr lang="en-US" altLang="en-US" sz="3200" dirty="0"/>
              <a:t>Least Recently Used (LRU)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4193013" algn="ctr"/>
              </a:tabLst>
              <a:defRPr/>
            </a:pPr>
            <a:r>
              <a:rPr lang="en-US" altLang="en-US" sz="3200" dirty="0"/>
              <a:t>Approximated LRU</a:t>
            </a:r>
            <a:endParaRPr lang="en-US" altLang="en-US" sz="3150" dirty="0"/>
          </a:p>
        </p:txBody>
      </p:sp>
    </p:spTree>
    <p:extLst>
      <p:ext uri="{BB962C8B-B14F-4D97-AF65-F5344CB8AC3E}">
        <p14:creationId xmlns:p14="http://schemas.microsoft.com/office/powerpoint/2010/main" val="18252034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2125663" y="234950"/>
            <a:ext cx="10218737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Page Replacement</a:t>
            </a:r>
          </a:p>
        </p:txBody>
      </p:sp>
      <p:pic>
        <p:nvPicPr>
          <p:cNvPr id="67587" name="Picture 4" descr="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7863" y="1631950"/>
            <a:ext cx="8356600" cy="6159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FAB60D2-BE58-1543-91E1-D7A91849FB58}" type="slidenum">
              <a:rPr lang="en-US"/>
              <a:pPr>
                <a:defRPr/>
              </a:pPr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>
          <a:xfrm>
            <a:off x="2414588" y="217488"/>
            <a:ext cx="10234612" cy="768350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3733" dirty="0"/>
              <a:t>How to evaluate a page replacement algorithm?</a:t>
            </a:r>
          </a:p>
        </p:txBody>
      </p:sp>
      <p:sp>
        <p:nvSpPr>
          <p:cNvPr id="337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22463" y="1511300"/>
            <a:ext cx="9982200" cy="6532563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4193013" algn="ctr"/>
              </a:tabLst>
              <a:defRPr/>
            </a:pPr>
            <a:r>
              <a:rPr lang="en-US" altLang="en-US" sz="3150" b="1" dirty="0"/>
              <a:t>Run</a:t>
            </a:r>
            <a:r>
              <a:rPr lang="en-US" altLang="en-US" sz="3150" b="1" dirty="0">
                <a:solidFill>
                  <a:srgbClr val="3366FF"/>
                </a:solidFill>
              </a:rPr>
              <a:t> </a:t>
            </a:r>
            <a:r>
              <a:rPr lang="en-US" altLang="en-US" sz="3150" dirty="0"/>
              <a:t>it on a particular string of memory references (reference string) and computing the number of page faults on that string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4193013" algn="ctr"/>
              </a:tabLst>
              <a:defRPr/>
            </a:pPr>
            <a:r>
              <a:rPr lang="en-US" altLang="en-US" dirty="0"/>
              <a:t>String is just page numbers, not full addresses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4193013" algn="ctr"/>
              </a:tabLst>
              <a:defRPr/>
            </a:pPr>
            <a:r>
              <a:rPr lang="en-US" altLang="en-US" dirty="0"/>
              <a:t>Repeated access to the same page does not cause a page fault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4193013" algn="ctr"/>
              </a:tabLst>
              <a:defRPr/>
            </a:pPr>
            <a:r>
              <a:rPr lang="en-US" altLang="en-US" dirty="0"/>
              <a:t>Results depend on number of frames available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4193013" algn="ctr"/>
              </a:tabLst>
              <a:defRPr/>
            </a:pPr>
            <a:endParaRPr lang="en-US" altLang="en-US" dirty="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4193013" algn="ctr"/>
              </a:tabLst>
              <a:defRPr/>
            </a:pPr>
            <a:r>
              <a:rPr lang="en-US" altLang="en-US" sz="3150" dirty="0"/>
              <a:t>In all our examples, the </a:t>
            </a:r>
            <a:r>
              <a:rPr lang="en-US" altLang="en-US" sz="3150" b="1" dirty="0">
                <a:solidFill>
                  <a:srgbClr val="3366FF"/>
                </a:solidFill>
              </a:rPr>
              <a:t>reference string </a:t>
            </a:r>
            <a:r>
              <a:rPr lang="en-US" altLang="en-US" sz="3150" dirty="0"/>
              <a:t>of referenced page numbers is 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None/>
              <a:tabLst>
                <a:tab pos="4193013" algn="ctr"/>
              </a:tabLst>
              <a:defRPr/>
            </a:pPr>
            <a:r>
              <a:rPr lang="en-US" altLang="en-US" sz="3150" dirty="0"/>
              <a:t>	               </a:t>
            </a:r>
            <a:r>
              <a:rPr lang="en-US" altLang="en-US" sz="3150" b="1" dirty="0">
                <a:solidFill>
                  <a:srgbClr val="FF0000"/>
                </a:solidFill>
              </a:rPr>
              <a:t>7,0,1,2,0,3,0,4,2,3,0,3,0,3,2,1,2,0,1,7,0,1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A12A181-9E3D-7142-B6A5-551CEEA7E051}" type="slidenum">
              <a:rPr lang="en-US"/>
              <a:pPr>
                <a:defRPr/>
              </a:pPr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82" name="Rectangle 2"/>
          <p:cNvSpPr>
            <a:spLocks noGrp="1" noChangeArrowheads="1"/>
          </p:cNvSpPr>
          <p:nvPr>
            <p:ph type="title"/>
          </p:nvPr>
        </p:nvSpPr>
        <p:spPr>
          <a:xfrm>
            <a:off x="1405731" y="555833"/>
            <a:ext cx="10972800" cy="768350"/>
          </a:xfrm>
        </p:spPr>
        <p:txBody>
          <a:bodyPr/>
          <a:lstStyle/>
          <a:p>
            <a:pPr algn="ctr" eaLnBrk="1" hangingPunct="1"/>
            <a:r>
              <a:rPr lang="en-US" altLang="en-US" sz="3200" dirty="0"/>
              <a:t>What do we expect</a:t>
            </a:r>
            <a:r>
              <a:rPr lang="en-US" altLang="en-US" sz="3200"/>
              <a:t>? </a:t>
            </a:r>
            <a:br>
              <a:rPr lang="en-US" altLang="en-US" sz="3200"/>
            </a:br>
            <a:r>
              <a:rPr lang="en-US" altLang="en-US" sz="3200" dirty="0"/>
              <a:t>(Graph of Page Faults Versus The Number of Frames)</a:t>
            </a:r>
          </a:p>
        </p:txBody>
      </p:sp>
      <p:pic>
        <p:nvPicPr>
          <p:cNvPr id="7168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8131" y="2234096"/>
            <a:ext cx="8059737" cy="4743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061D4FE-81B5-4647-B4B7-2746611D9A6D}" type="slidenum">
              <a:rPr lang="en-US"/>
              <a:pPr>
                <a:defRPr/>
              </a:pPr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>
          <a:xfrm>
            <a:off x="2017713" y="234950"/>
            <a:ext cx="10428287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First-In-First-Out (FIFO) Algorithm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16835" y="1403350"/>
            <a:ext cx="13199165" cy="7683500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If all frames are used, free the one containing the page loaded more time ago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Reference string: </a:t>
            </a:r>
            <a:r>
              <a:rPr lang="en-US" altLang="en-US" sz="3150" b="1" dirty="0">
                <a:solidFill>
                  <a:srgbClr val="FF0000"/>
                </a:solidFill>
              </a:rPr>
              <a:t>7,0,1,2,0,3,0,4,2,3,0,3,0,3,2,1,2,0,1,7,0,1</a:t>
            </a:r>
            <a:endParaRPr lang="en-US" altLang="en-US" sz="3150" dirty="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3 frames (3 pages can be in memory at a time per process)</a:t>
            </a:r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endParaRPr lang="en-US" altLang="en-US" sz="3150" dirty="0"/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endParaRPr lang="en-US" altLang="en-US" sz="3150" dirty="0"/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br>
              <a:rPr lang="en-US" altLang="en-US" sz="3150" dirty="0"/>
            </a:br>
            <a:endParaRPr lang="en-US" altLang="en-US" sz="3150" dirty="0"/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endParaRPr lang="en-US" altLang="en-US" sz="1067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D1BC3E7-0362-6549-AE65-310C7D7759E6}" type="slidenum">
              <a:rPr lang="en-US"/>
              <a:pPr>
                <a:defRPr/>
              </a:pPr>
              <a:t>36</a:t>
            </a:fld>
            <a:endParaRPr lang="en-US"/>
          </a:p>
        </p:txBody>
      </p:sp>
      <p:grpSp>
        <p:nvGrpSpPr>
          <p:cNvPr id="9" name="Group 8"/>
          <p:cNvGrpSpPr/>
          <p:nvPr/>
        </p:nvGrpSpPr>
        <p:grpSpPr>
          <a:xfrm>
            <a:off x="1116807" y="3188110"/>
            <a:ext cx="8223673" cy="4494281"/>
            <a:chOff x="1116807" y="3188110"/>
            <a:chExt cx="8223673" cy="4494281"/>
          </a:xfrm>
        </p:grpSpPr>
        <p:pic>
          <p:nvPicPr>
            <p:cNvPr id="73733" name="Picture 1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68025"/>
            <a:stretch/>
          </p:blipFill>
          <p:spPr bwMode="auto">
            <a:xfrm>
              <a:off x="1116807" y="3188110"/>
              <a:ext cx="7102475" cy="72383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2933814" y="4543070"/>
              <a:ext cx="3715120" cy="31393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Page needed: 7</a:t>
              </a:r>
            </a:p>
            <a:p>
              <a:br>
                <a:rPr lang="en-US" dirty="0"/>
              </a:br>
              <a:r>
                <a:rPr lang="en-US" dirty="0"/>
                <a:t>Status of frames:</a:t>
              </a:r>
            </a:p>
            <a:p>
              <a:endParaRPr lang="en-US" dirty="0"/>
            </a:p>
            <a:p>
              <a:r>
                <a:rPr lang="en-US" dirty="0"/>
                <a:t>Is it there? NO</a:t>
              </a:r>
            </a:p>
            <a:p>
              <a:endParaRPr lang="en-US" dirty="0"/>
            </a:p>
            <a:p>
              <a:r>
                <a:rPr lang="en-US" dirty="0"/>
                <a:t>Do we have a free frame? YES</a:t>
              </a:r>
            </a:p>
            <a:p>
              <a:endParaRPr lang="en-US" dirty="0"/>
            </a:p>
            <a:p>
              <a:r>
                <a:rPr lang="en-US" dirty="0"/>
                <a:t>If YES, load the page</a:t>
              </a:r>
            </a:p>
            <a:p>
              <a:endParaRPr lang="en-US" dirty="0"/>
            </a:p>
            <a:p>
              <a:r>
                <a:rPr lang="en-US" dirty="0"/>
                <a:t>+1 page fault</a:t>
              </a:r>
            </a:p>
          </p:txBody>
        </p:sp>
        <p:grpSp>
          <p:nvGrpSpPr>
            <p:cNvPr id="8" name="Group 7"/>
            <p:cNvGrpSpPr/>
            <p:nvPr/>
          </p:nvGrpSpPr>
          <p:grpSpPr>
            <a:xfrm>
              <a:off x="5225498" y="5026439"/>
              <a:ext cx="1311966" cy="437322"/>
              <a:chOff x="5446643" y="5022574"/>
              <a:chExt cx="1311966" cy="437322"/>
            </a:xfrm>
          </p:grpSpPr>
          <p:sp>
            <p:nvSpPr>
              <p:cNvPr id="7" name="Rectangle 6"/>
              <p:cNvSpPr/>
              <p:nvPr/>
            </p:nvSpPr>
            <p:spPr>
              <a:xfrm>
                <a:off x="5446643" y="5022574"/>
                <a:ext cx="437322" cy="43732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Rectangle 11"/>
              <p:cNvSpPr/>
              <p:nvPr/>
            </p:nvSpPr>
            <p:spPr>
              <a:xfrm>
                <a:off x="5883965" y="5022574"/>
                <a:ext cx="437322" cy="43732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6321287" y="5022574"/>
                <a:ext cx="437322" cy="437322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5" name="TextBox 14"/>
            <p:cNvSpPr txBox="1"/>
            <p:nvPr/>
          </p:nvSpPr>
          <p:spPr>
            <a:xfrm>
              <a:off x="7545501" y="4543069"/>
              <a:ext cx="17949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/>
                <a:t>Page faults: 0</a:t>
              </a:r>
              <a:endParaRPr lang="en-US" dirty="0"/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>
          <a:xfrm>
            <a:off x="2017713" y="234950"/>
            <a:ext cx="10428287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First-In-First-Out (FIFO) Algorithm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D1BC3E7-0362-6549-AE65-310C7D7759E6}" type="slidenum">
              <a:rPr lang="en-US"/>
              <a:pPr>
                <a:defRPr/>
              </a:pPr>
              <a:t>37</a:t>
            </a:fld>
            <a:endParaRPr lang="en-US"/>
          </a:p>
        </p:txBody>
      </p:sp>
      <p:pic>
        <p:nvPicPr>
          <p:cNvPr id="73733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8025"/>
          <a:stretch/>
        </p:blipFill>
        <p:spPr bwMode="auto">
          <a:xfrm>
            <a:off x="1116807" y="3188110"/>
            <a:ext cx="7102475" cy="723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2933814" y="4543070"/>
            <a:ext cx="3715120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Page needed: 0</a:t>
            </a:r>
          </a:p>
          <a:p>
            <a:br>
              <a:rPr lang="en-US" dirty="0"/>
            </a:br>
            <a:r>
              <a:rPr lang="en-US" dirty="0"/>
              <a:t>Status of frames:</a:t>
            </a:r>
          </a:p>
          <a:p>
            <a:endParaRPr lang="en-US" dirty="0"/>
          </a:p>
          <a:p>
            <a:r>
              <a:rPr lang="en-US" dirty="0"/>
              <a:t>Is it there? NO</a:t>
            </a:r>
          </a:p>
          <a:p>
            <a:endParaRPr lang="en-US" dirty="0"/>
          </a:p>
          <a:p>
            <a:r>
              <a:rPr lang="en-US" dirty="0"/>
              <a:t>Do we have a free frame? YES</a:t>
            </a:r>
          </a:p>
          <a:p>
            <a:endParaRPr lang="en-US" dirty="0"/>
          </a:p>
          <a:p>
            <a:r>
              <a:rPr lang="en-US" dirty="0"/>
              <a:t>If YES, load the page</a:t>
            </a:r>
          </a:p>
          <a:p>
            <a:endParaRPr lang="en-US" dirty="0"/>
          </a:p>
          <a:p>
            <a:r>
              <a:rPr lang="en-US" dirty="0"/>
              <a:t>+1 page fault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5225498" y="5026439"/>
            <a:ext cx="1311966" cy="437322"/>
            <a:chOff x="5446643" y="5022574"/>
            <a:chExt cx="1311966" cy="437322"/>
          </a:xfrm>
        </p:grpSpPr>
        <p:sp>
          <p:nvSpPr>
            <p:cNvPr id="7" name="Rectangle 6"/>
            <p:cNvSpPr/>
            <p:nvPr/>
          </p:nvSpPr>
          <p:spPr>
            <a:xfrm>
              <a:off x="5446643" y="5022574"/>
              <a:ext cx="437322" cy="43732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883965" y="5022574"/>
              <a:ext cx="437322" cy="43732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321287" y="5022574"/>
              <a:ext cx="437322" cy="43732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Rectangle 3"/>
          <p:cNvSpPr txBox="1">
            <a:spLocks noChangeArrowheads="1"/>
          </p:cNvSpPr>
          <p:nvPr/>
        </p:nvSpPr>
        <p:spPr bwMode="auto">
          <a:xfrm>
            <a:off x="516835" y="1403350"/>
            <a:ext cx="13199165" cy="768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>
            <a:lvl1pPr marL="257175" indent="-257175" algn="l" defTabSz="1028700" rtl="0" eaLnBrk="0" fontAlgn="base" hangingPunct="0">
              <a:lnSpc>
                <a:spcPct val="90000"/>
              </a:lnSpc>
              <a:spcBef>
                <a:spcPts val="1125"/>
              </a:spcBef>
              <a:spcAft>
                <a:spcPct val="0"/>
              </a:spcAft>
              <a:buFont typeface="Arial" charset="0"/>
              <a:buChar char="•"/>
              <a:defRPr sz="3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71525" indent="-257175" algn="l" defTabSz="1028700" rtl="0" eaLnBrk="0" fontAlgn="base" hangingPunct="0">
              <a:lnSpc>
                <a:spcPct val="90000"/>
              </a:lnSpc>
              <a:spcBef>
                <a:spcPts val="563"/>
              </a:spcBef>
              <a:spcAft>
                <a:spcPct val="0"/>
              </a:spcAft>
              <a:buFont typeface="Arial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5875" indent="-257175" algn="l" defTabSz="1028700" rtl="0" eaLnBrk="0" fontAlgn="base" hangingPunct="0">
              <a:lnSpc>
                <a:spcPct val="90000"/>
              </a:lnSpc>
              <a:spcBef>
                <a:spcPts val="563"/>
              </a:spcBef>
              <a:spcAft>
                <a:spcPct val="0"/>
              </a:spcAft>
              <a:buFont typeface="Arial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00225" indent="-257175" algn="l" defTabSz="1028700" rtl="0" eaLnBrk="0" fontAlgn="base" hangingPunct="0">
              <a:lnSpc>
                <a:spcPct val="90000"/>
              </a:lnSpc>
              <a:spcBef>
                <a:spcPts val="563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14575" indent="-257175" algn="l" defTabSz="1028700" rtl="0" eaLnBrk="0" fontAlgn="base" hangingPunct="0">
              <a:lnSpc>
                <a:spcPct val="90000"/>
              </a:lnSpc>
              <a:spcBef>
                <a:spcPts val="563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828925" indent="-257175" algn="l" defTabSz="1028700" rtl="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  <a:defRPr sz="20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43275" indent="-257175" algn="l" defTabSz="1028700" rtl="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  <a:defRPr sz="20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57625" indent="-257175" algn="l" defTabSz="1028700" rtl="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  <a:defRPr sz="20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371975" indent="-257175" algn="l" defTabSz="1028700" rtl="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  <a:defRPr sz="20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/>
              <a:t>If all frames are used, free the one containing the page loaded more time ago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/>
              <a:t>Reference string: </a:t>
            </a:r>
            <a:r>
              <a:rPr lang="en-US" altLang="en-US" sz="3150" b="1">
                <a:solidFill>
                  <a:srgbClr val="FF0000"/>
                </a:solidFill>
              </a:rPr>
              <a:t>7,0,1,2,0,3,0,4,2,3,0,3,0,3,2,1,2,0,1,7,0,1</a:t>
            </a:r>
            <a:endParaRPr lang="en-US" altLang="en-US" sz="315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/>
              <a:t>3 frames (3 pages can be in memory at a time per process)</a:t>
            </a:r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endParaRPr lang="en-US" altLang="en-US" sz="3150"/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endParaRPr lang="en-US" altLang="en-US" sz="3150"/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br>
              <a:rPr lang="en-US" altLang="en-US" sz="3150"/>
            </a:br>
            <a:endParaRPr lang="en-US" altLang="en-US" sz="3150"/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endParaRPr lang="en-US" altLang="en-US" sz="1067" dirty="0"/>
          </a:p>
        </p:txBody>
      </p:sp>
      <p:sp>
        <p:nvSpPr>
          <p:cNvPr id="16" name="TextBox 15"/>
          <p:cNvSpPr txBox="1"/>
          <p:nvPr/>
        </p:nvSpPr>
        <p:spPr>
          <a:xfrm>
            <a:off x="7545501" y="4543069"/>
            <a:ext cx="1794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Page faults: 1</a:t>
            </a:r>
          </a:p>
        </p:txBody>
      </p:sp>
    </p:spTree>
    <p:extLst>
      <p:ext uri="{BB962C8B-B14F-4D97-AF65-F5344CB8AC3E}">
        <p14:creationId xmlns:p14="http://schemas.microsoft.com/office/powerpoint/2010/main" val="14680064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>
          <a:xfrm>
            <a:off x="2017713" y="234950"/>
            <a:ext cx="10428287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First-In-First-Out (FIFO) Algorithm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D1BC3E7-0362-6549-AE65-310C7D7759E6}" type="slidenum">
              <a:rPr lang="en-US"/>
              <a:pPr>
                <a:defRPr/>
              </a:pPr>
              <a:t>38</a:t>
            </a:fld>
            <a:endParaRPr lang="en-US"/>
          </a:p>
        </p:txBody>
      </p:sp>
      <p:pic>
        <p:nvPicPr>
          <p:cNvPr id="73733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8025"/>
          <a:stretch/>
        </p:blipFill>
        <p:spPr bwMode="auto">
          <a:xfrm>
            <a:off x="1116807" y="3188110"/>
            <a:ext cx="7102475" cy="723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2933814" y="4543070"/>
            <a:ext cx="3715120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Page needed: 1</a:t>
            </a:r>
          </a:p>
          <a:p>
            <a:br>
              <a:rPr lang="en-US" dirty="0"/>
            </a:br>
            <a:r>
              <a:rPr lang="en-US" dirty="0"/>
              <a:t>Status of frames:</a:t>
            </a:r>
          </a:p>
          <a:p>
            <a:endParaRPr lang="en-US" dirty="0"/>
          </a:p>
          <a:p>
            <a:r>
              <a:rPr lang="en-US" dirty="0"/>
              <a:t>Is it there? NO</a:t>
            </a:r>
          </a:p>
          <a:p>
            <a:endParaRPr lang="en-US" dirty="0"/>
          </a:p>
          <a:p>
            <a:r>
              <a:rPr lang="en-US" dirty="0"/>
              <a:t>Do we have a free frame? YES</a:t>
            </a:r>
          </a:p>
          <a:p>
            <a:endParaRPr lang="en-US" dirty="0"/>
          </a:p>
          <a:p>
            <a:r>
              <a:rPr lang="en-US" dirty="0"/>
              <a:t>If YES, load the page</a:t>
            </a:r>
          </a:p>
          <a:p>
            <a:endParaRPr lang="en-US" dirty="0"/>
          </a:p>
          <a:p>
            <a:r>
              <a:rPr lang="en-US" dirty="0"/>
              <a:t>+1 page fault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5225498" y="5026439"/>
            <a:ext cx="1311966" cy="437322"/>
            <a:chOff x="5446643" y="5022574"/>
            <a:chExt cx="1311966" cy="437322"/>
          </a:xfrm>
        </p:grpSpPr>
        <p:sp>
          <p:nvSpPr>
            <p:cNvPr id="7" name="Rectangle 6"/>
            <p:cNvSpPr/>
            <p:nvPr/>
          </p:nvSpPr>
          <p:spPr>
            <a:xfrm>
              <a:off x="5446643" y="5022574"/>
              <a:ext cx="437322" cy="43732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883965" y="5022574"/>
              <a:ext cx="437322" cy="43732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0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321287" y="5022574"/>
              <a:ext cx="437322" cy="43732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3"/>
          <p:cNvSpPr txBox="1">
            <a:spLocks noChangeArrowheads="1"/>
          </p:cNvSpPr>
          <p:nvPr/>
        </p:nvSpPr>
        <p:spPr bwMode="auto">
          <a:xfrm>
            <a:off x="516835" y="1403350"/>
            <a:ext cx="13199165" cy="768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>
            <a:lvl1pPr marL="257175" indent="-257175" algn="l" defTabSz="1028700" rtl="0" eaLnBrk="0" fontAlgn="base" hangingPunct="0">
              <a:lnSpc>
                <a:spcPct val="90000"/>
              </a:lnSpc>
              <a:spcBef>
                <a:spcPts val="1125"/>
              </a:spcBef>
              <a:spcAft>
                <a:spcPct val="0"/>
              </a:spcAft>
              <a:buFont typeface="Arial" charset="0"/>
              <a:buChar char="•"/>
              <a:defRPr sz="3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71525" indent="-257175" algn="l" defTabSz="1028700" rtl="0" eaLnBrk="0" fontAlgn="base" hangingPunct="0">
              <a:lnSpc>
                <a:spcPct val="90000"/>
              </a:lnSpc>
              <a:spcBef>
                <a:spcPts val="563"/>
              </a:spcBef>
              <a:spcAft>
                <a:spcPct val="0"/>
              </a:spcAft>
              <a:buFont typeface="Arial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5875" indent="-257175" algn="l" defTabSz="1028700" rtl="0" eaLnBrk="0" fontAlgn="base" hangingPunct="0">
              <a:lnSpc>
                <a:spcPct val="90000"/>
              </a:lnSpc>
              <a:spcBef>
                <a:spcPts val="563"/>
              </a:spcBef>
              <a:spcAft>
                <a:spcPct val="0"/>
              </a:spcAft>
              <a:buFont typeface="Arial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00225" indent="-257175" algn="l" defTabSz="1028700" rtl="0" eaLnBrk="0" fontAlgn="base" hangingPunct="0">
              <a:lnSpc>
                <a:spcPct val="90000"/>
              </a:lnSpc>
              <a:spcBef>
                <a:spcPts val="563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14575" indent="-257175" algn="l" defTabSz="1028700" rtl="0" eaLnBrk="0" fontAlgn="base" hangingPunct="0">
              <a:lnSpc>
                <a:spcPct val="90000"/>
              </a:lnSpc>
              <a:spcBef>
                <a:spcPts val="563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828925" indent="-257175" algn="l" defTabSz="1028700" rtl="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  <a:defRPr sz="20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43275" indent="-257175" algn="l" defTabSz="1028700" rtl="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  <a:defRPr sz="20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57625" indent="-257175" algn="l" defTabSz="1028700" rtl="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  <a:defRPr sz="20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371975" indent="-257175" algn="l" defTabSz="1028700" rtl="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  <a:defRPr sz="20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/>
              <a:t>If all frames are used, free the one containing the page loaded more time ago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/>
              <a:t>Reference string: </a:t>
            </a:r>
            <a:r>
              <a:rPr lang="en-US" altLang="en-US" sz="3150" b="1">
                <a:solidFill>
                  <a:srgbClr val="FF0000"/>
                </a:solidFill>
              </a:rPr>
              <a:t>7,0,1,2,0,3,0,4,2,3,0,3,0,3,2,1,2,0,1,7,0,1</a:t>
            </a:r>
            <a:endParaRPr lang="en-US" altLang="en-US" sz="315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/>
              <a:t>3 frames (3 pages can be in memory at a time per process)</a:t>
            </a:r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endParaRPr lang="en-US" altLang="en-US" sz="3150"/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endParaRPr lang="en-US" altLang="en-US" sz="3150"/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br>
              <a:rPr lang="en-US" altLang="en-US" sz="3150"/>
            </a:br>
            <a:endParaRPr lang="en-US" altLang="en-US" sz="3150"/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endParaRPr lang="en-US" altLang="en-US" sz="1067" dirty="0"/>
          </a:p>
        </p:txBody>
      </p:sp>
      <p:sp>
        <p:nvSpPr>
          <p:cNvPr id="15" name="TextBox 14"/>
          <p:cNvSpPr txBox="1"/>
          <p:nvPr/>
        </p:nvSpPr>
        <p:spPr>
          <a:xfrm>
            <a:off x="7545501" y="4543069"/>
            <a:ext cx="1794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Page faults: 2</a:t>
            </a:r>
          </a:p>
        </p:txBody>
      </p:sp>
    </p:spTree>
    <p:extLst>
      <p:ext uri="{BB962C8B-B14F-4D97-AF65-F5344CB8AC3E}">
        <p14:creationId xmlns:p14="http://schemas.microsoft.com/office/powerpoint/2010/main" val="21534657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3"/>
          <p:cNvSpPr txBox="1">
            <a:spLocks noChangeArrowheads="1"/>
          </p:cNvSpPr>
          <p:nvPr/>
        </p:nvSpPr>
        <p:spPr bwMode="auto">
          <a:xfrm>
            <a:off x="516835" y="1403350"/>
            <a:ext cx="13199165" cy="768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>
            <a:lvl1pPr marL="257175" indent="-257175" algn="l" defTabSz="1028700" rtl="0" eaLnBrk="0" fontAlgn="base" hangingPunct="0">
              <a:lnSpc>
                <a:spcPct val="90000"/>
              </a:lnSpc>
              <a:spcBef>
                <a:spcPts val="1125"/>
              </a:spcBef>
              <a:spcAft>
                <a:spcPct val="0"/>
              </a:spcAft>
              <a:buFont typeface="Arial" charset="0"/>
              <a:buChar char="•"/>
              <a:defRPr sz="3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71525" indent="-257175" algn="l" defTabSz="1028700" rtl="0" eaLnBrk="0" fontAlgn="base" hangingPunct="0">
              <a:lnSpc>
                <a:spcPct val="90000"/>
              </a:lnSpc>
              <a:spcBef>
                <a:spcPts val="563"/>
              </a:spcBef>
              <a:spcAft>
                <a:spcPct val="0"/>
              </a:spcAft>
              <a:buFont typeface="Arial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5875" indent="-257175" algn="l" defTabSz="1028700" rtl="0" eaLnBrk="0" fontAlgn="base" hangingPunct="0">
              <a:lnSpc>
                <a:spcPct val="90000"/>
              </a:lnSpc>
              <a:spcBef>
                <a:spcPts val="563"/>
              </a:spcBef>
              <a:spcAft>
                <a:spcPct val="0"/>
              </a:spcAft>
              <a:buFont typeface="Arial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00225" indent="-257175" algn="l" defTabSz="1028700" rtl="0" eaLnBrk="0" fontAlgn="base" hangingPunct="0">
              <a:lnSpc>
                <a:spcPct val="90000"/>
              </a:lnSpc>
              <a:spcBef>
                <a:spcPts val="563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14575" indent="-257175" algn="l" defTabSz="1028700" rtl="0" eaLnBrk="0" fontAlgn="base" hangingPunct="0">
              <a:lnSpc>
                <a:spcPct val="90000"/>
              </a:lnSpc>
              <a:spcBef>
                <a:spcPts val="563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828925" indent="-257175" algn="l" defTabSz="1028700" rtl="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  <a:defRPr sz="20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43275" indent="-257175" algn="l" defTabSz="1028700" rtl="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  <a:defRPr sz="20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57625" indent="-257175" algn="l" defTabSz="1028700" rtl="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  <a:defRPr sz="20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371975" indent="-257175" algn="l" defTabSz="1028700" rtl="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  <a:defRPr sz="20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If all frames are used, free the one containing the page loaded more time ago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Reference string: </a:t>
            </a:r>
            <a:r>
              <a:rPr lang="en-US" altLang="en-US" sz="3150" b="1" dirty="0">
                <a:solidFill>
                  <a:srgbClr val="FF0000"/>
                </a:solidFill>
              </a:rPr>
              <a:t>7,0,1,2,0,3,0,4,2,3,0,3,0,3,2,1,2,0,1,7,0,1</a:t>
            </a:r>
            <a:endParaRPr lang="en-US" altLang="en-US" sz="3150" dirty="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3 frames (3 pages can be in memory at a time per process)</a:t>
            </a:r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endParaRPr lang="en-US" altLang="en-US" sz="3150" dirty="0"/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endParaRPr lang="en-US" altLang="en-US" sz="3150" dirty="0"/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br>
              <a:rPr lang="en-US" altLang="en-US" sz="3150" dirty="0"/>
            </a:br>
            <a:endParaRPr lang="en-US" altLang="en-US" sz="3150" dirty="0"/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endParaRPr lang="en-US" altLang="en-US" sz="1067" dirty="0"/>
          </a:p>
        </p:txBody>
      </p:sp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>
          <a:xfrm>
            <a:off x="2017713" y="234950"/>
            <a:ext cx="10428287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First-In-First-Out (FIFO) Algorithm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D1BC3E7-0362-6549-AE65-310C7D7759E6}" type="slidenum">
              <a:rPr lang="en-US"/>
              <a:pPr>
                <a:defRPr/>
              </a:pPr>
              <a:t>39</a:t>
            </a:fld>
            <a:endParaRPr lang="en-US"/>
          </a:p>
        </p:txBody>
      </p:sp>
      <p:pic>
        <p:nvPicPr>
          <p:cNvPr id="73733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8025"/>
          <a:stretch/>
        </p:blipFill>
        <p:spPr bwMode="auto">
          <a:xfrm>
            <a:off x="1116807" y="3188110"/>
            <a:ext cx="7102475" cy="723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2933814" y="4543070"/>
            <a:ext cx="6288901" cy="31393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Page needed: 2</a:t>
            </a:r>
          </a:p>
          <a:p>
            <a:br>
              <a:rPr lang="en-US" dirty="0"/>
            </a:br>
            <a:r>
              <a:rPr lang="en-US" dirty="0"/>
              <a:t>Status of frames:</a:t>
            </a:r>
          </a:p>
          <a:p>
            <a:endParaRPr lang="en-US" dirty="0"/>
          </a:p>
          <a:p>
            <a:r>
              <a:rPr lang="en-US" dirty="0"/>
              <a:t>Is it there? NO</a:t>
            </a:r>
          </a:p>
          <a:p>
            <a:endParaRPr lang="en-US" dirty="0"/>
          </a:p>
          <a:p>
            <a:r>
              <a:rPr lang="en-US" dirty="0"/>
              <a:t>Do we have a free frame? NO</a:t>
            </a:r>
          </a:p>
          <a:p>
            <a:endParaRPr lang="en-US" dirty="0"/>
          </a:p>
          <a:p>
            <a:r>
              <a:rPr lang="en-US" dirty="0"/>
              <a:t>If NO, substitute the page loaded more time ago (7)</a:t>
            </a:r>
          </a:p>
          <a:p>
            <a:endParaRPr lang="en-US" dirty="0"/>
          </a:p>
          <a:p>
            <a:r>
              <a:rPr lang="en-US" dirty="0"/>
              <a:t>+1 page fault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5225498" y="5026439"/>
            <a:ext cx="1311966" cy="437322"/>
            <a:chOff x="5446643" y="5022574"/>
            <a:chExt cx="1311966" cy="437322"/>
          </a:xfrm>
        </p:grpSpPr>
        <p:sp>
          <p:nvSpPr>
            <p:cNvPr id="7" name="Rectangle 6"/>
            <p:cNvSpPr/>
            <p:nvPr/>
          </p:nvSpPr>
          <p:spPr>
            <a:xfrm>
              <a:off x="5446643" y="5022574"/>
              <a:ext cx="437322" cy="43732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7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883965" y="5022574"/>
              <a:ext cx="437322" cy="43732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0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321287" y="5022574"/>
              <a:ext cx="437322" cy="43732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</p:grpSp>
      <p:sp>
        <p:nvSpPr>
          <p:cNvPr id="16" name="TextBox 15"/>
          <p:cNvSpPr txBox="1"/>
          <p:nvPr/>
        </p:nvSpPr>
        <p:spPr>
          <a:xfrm>
            <a:off x="7545501" y="4543069"/>
            <a:ext cx="1794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Page faults: 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57509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3"/>
          <p:cNvSpPr txBox="1">
            <a:spLocks noChangeArrowheads="1"/>
          </p:cNvSpPr>
          <p:nvPr/>
        </p:nvSpPr>
        <p:spPr bwMode="auto">
          <a:xfrm>
            <a:off x="516835" y="1403350"/>
            <a:ext cx="13199165" cy="7683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normAutofit/>
          </a:bodyPr>
          <a:lstStyle>
            <a:lvl1pPr marL="257175" indent="-257175" algn="l" defTabSz="1028700" rtl="0" eaLnBrk="0" fontAlgn="base" hangingPunct="0">
              <a:lnSpc>
                <a:spcPct val="90000"/>
              </a:lnSpc>
              <a:spcBef>
                <a:spcPts val="1125"/>
              </a:spcBef>
              <a:spcAft>
                <a:spcPct val="0"/>
              </a:spcAft>
              <a:buFont typeface="Arial" charset="0"/>
              <a:buChar char="•"/>
              <a:defRPr sz="3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71525" indent="-257175" algn="l" defTabSz="1028700" rtl="0" eaLnBrk="0" fontAlgn="base" hangingPunct="0">
              <a:lnSpc>
                <a:spcPct val="90000"/>
              </a:lnSpc>
              <a:spcBef>
                <a:spcPts val="563"/>
              </a:spcBef>
              <a:spcAft>
                <a:spcPct val="0"/>
              </a:spcAft>
              <a:buFont typeface="Arial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85875" indent="-257175" algn="l" defTabSz="1028700" rtl="0" eaLnBrk="0" fontAlgn="base" hangingPunct="0">
              <a:lnSpc>
                <a:spcPct val="90000"/>
              </a:lnSpc>
              <a:spcBef>
                <a:spcPts val="563"/>
              </a:spcBef>
              <a:spcAft>
                <a:spcPct val="0"/>
              </a:spcAft>
              <a:buFont typeface="Arial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00225" indent="-257175" algn="l" defTabSz="1028700" rtl="0" eaLnBrk="0" fontAlgn="base" hangingPunct="0">
              <a:lnSpc>
                <a:spcPct val="90000"/>
              </a:lnSpc>
              <a:spcBef>
                <a:spcPts val="563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314575" indent="-257175" algn="l" defTabSz="1028700" rtl="0" eaLnBrk="0" fontAlgn="base" hangingPunct="0">
              <a:lnSpc>
                <a:spcPct val="90000"/>
              </a:lnSpc>
              <a:spcBef>
                <a:spcPts val="563"/>
              </a:spcBef>
              <a:spcAft>
                <a:spcPct val="0"/>
              </a:spcAft>
              <a:buFont typeface="Arial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828925" indent="-257175" algn="l" defTabSz="1028700" rtl="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  <a:defRPr sz="20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343275" indent="-257175" algn="l" defTabSz="1028700" rtl="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  <a:defRPr sz="20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857625" indent="-257175" algn="l" defTabSz="1028700" rtl="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  <a:defRPr sz="20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371975" indent="-257175" algn="l" defTabSz="1028700" rtl="0" eaLnBrk="1" latinLnBrk="0" hangingPunct="1">
              <a:lnSpc>
                <a:spcPct val="90000"/>
              </a:lnSpc>
              <a:spcBef>
                <a:spcPts val="563"/>
              </a:spcBef>
              <a:buFont typeface="Arial" panose="020B0604020202020204" pitchFamily="34" charset="0"/>
              <a:buChar char="•"/>
              <a:defRPr sz="202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If all frames are used, free the one containing the page loaded more time ago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Reference string: </a:t>
            </a:r>
            <a:r>
              <a:rPr lang="en-US" altLang="en-US" sz="3150" b="1" dirty="0">
                <a:solidFill>
                  <a:srgbClr val="FF0000"/>
                </a:solidFill>
              </a:rPr>
              <a:t>7,0,1,2,0,3,0,4,2,3,0,3,0,3,2,1,2,0,1,7,0,1</a:t>
            </a:r>
            <a:endParaRPr lang="en-US" altLang="en-US" sz="3150" dirty="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3 frames (3 pages can be in memory at a time per process)</a:t>
            </a:r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endParaRPr lang="en-US" altLang="en-US" sz="3150" dirty="0"/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endParaRPr lang="en-US" altLang="en-US" sz="3150" dirty="0"/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br>
              <a:rPr lang="en-US" altLang="en-US" sz="3150" dirty="0"/>
            </a:br>
            <a:endParaRPr lang="en-US" altLang="en-US" sz="3150" dirty="0"/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endParaRPr lang="en-US" altLang="en-US" sz="1067" dirty="0"/>
          </a:p>
        </p:txBody>
      </p:sp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>
          <a:xfrm>
            <a:off x="2017713" y="234950"/>
            <a:ext cx="10428287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First-In-First-Out (FIFO) Algorithm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D1BC3E7-0362-6549-AE65-310C7D7759E6}" type="slidenum">
              <a:rPr lang="en-US"/>
              <a:pPr>
                <a:defRPr/>
              </a:pPr>
              <a:t>40</a:t>
            </a:fld>
            <a:endParaRPr lang="en-US"/>
          </a:p>
        </p:txBody>
      </p:sp>
      <p:pic>
        <p:nvPicPr>
          <p:cNvPr id="73733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8025"/>
          <a:stretch/>
        </p:blipFill>
        <p:spPr bwMode="auto">
          <a:xfrm>
            <a:off x="1116807" y="3188110"/>
            <a:ext cx="7102475" cy="7238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2933814" y="4543070"/>
            <a:ext cx="2213363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Page needed: 0</a:t>
            </a:r>
          </a:p>
          <a:p>
            <a:br>
              <a:rPr lang="en-US" dirty="0"/>
            </a:br>
            <a:r>
              <a:rPr lang="en-US" dirty="0"/>
              <a:t>Status of frames:</a:t>
            </a:r>
          </a:p>
          <a:p>
            <a:endParaRPr lang="en-US" dirty="0"/>
          </a:p>
          <a:p>
            <a:r>
              <a:rPr lang="en-US" dirty="0"/>
              <a:t>Is it there? YES</a:t>
            </a:r>
          </a:p>
          <a:p>
            <a:endParaRPr lang="en-US" dirty="0"/>
          </a:p>
        </p:txBody>
      </p:sp>
      <p:grpSp>
        <p:nvGrpSpPr>
          <p:cNvPr id="8" name="Group 7"/>
          <p:cNvGrpSpPr/>
          <p:nvPr/>
        </p:nvGrpSpPr>
        <p:grpSpPr>
          <a:xfrm>
            <a:off x="5225498" y="5026439"/>
            <a:ext cx="1311966" cy="437322"/>
            <a:chOff x="5446643" y="5022574"/>
            <a:chExt cx="1311966" cy="437322"/>
          </a:xfrm>
        </p:grpSpPr>
        <p:sp>
          <p:nvSpPr>
            <p:cNvPr id="7" name="Rectangle 6"/>
            <p:cNvSpPr/>
            <p:nvPr/>
          </p:nvSpPr>
          <p:spPr>
            <a:xfrm>
              <a:off x="5446643" y="5022574"/>
              <a:ext cx="437322" cy="43732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5883965" y="5022574"/>
              <a:ext cx="437322" cy="43732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0</a:t>
              </a:r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321287" y="5022574"/>
              <a:ext cx="437322" cy="43732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</p:grpSp>
      <p:sp>
        <p:nvSpPr>
          <p:cNvPr id="16" name="TextBox 15"/>
          <p:cNvSpPr txBox="1"/>
          <p:nvPr/>
        </p:nvSpPr>
        <p:spPr>
          <a:xfrm>
            <a:off x="7545501" y="4543069"/>
            <a:ext cx="1794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Page faults: 4</a:t>
            </a:r>
          </a:p>
        </p:txBody>
      </p:sp>
    </p:spTree>
    <p:extLst>
      <p:ext uri="{BB962C8B-B14F-4D97-AF65-F5344CB8AC3E}">
        <p14:creationId xmlns:p14="http://schemas.microsoft.com/office/powerpoint/2010/main" val="19909026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>
          <a:xfrm>
            <a:off x="2017713" y="234950"/>
            <a:ext cx="10428287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First-In-First-Out (FIFO) Algorithm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73263" y="1403350"/>
            <a:ext cx="9710737" cy="7683500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Reference string: </a:t>
            </a:r>
            <a:r>
              <a:rPr lang="en-US" altLang="en-US" sz="3150" b="1" dirty="0">
                <a:solidFill>
                  <a:srgbClr val="FF0000"/>
                </a:solidFill>
              </a:rPr>
              <a:t>7,0,1,2,0,3,0,4,2,3,0,3,0,3,2,1,2,0,1,7,0,1</a:t>
            </a:r>
            <a:endParaRPr lang="en-US" altLang="en-US" sz="3150" dirty="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3 frames (3 pages can be in memory at a time per process)</a:t>
            </a:r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endParaRPr lang="en-US" altLang="en-US" sz="3150" dirty="0"/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endParaRPr lang="en-US" altLang="en-US" sz="3150" dirty="0"/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br>
              <a:rPr lang="en-US" altLang="en-US" sz="3150" dirty="0"/>
            </a:br>
            <a:endParaRPr lang="en-US" altLang="en-US" sz="3150" dirty="0"/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endParaRPr lang="en-US" altLang="en-US" sz="1067" dirty="0"/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endParaRPr lang="en-US" altLang="en-US" sz="1067" dirty="0"/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endParaRPr lang="en-US" altLang="en-US" sz="3150" dirty="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Can vary by reference string: consider 1,2,3,4,1,2,5,1,2,3,4,5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Adding more frames can cause more page faults!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2750" b="1" dirty="0" err="1">
                <a:solidFill>
                  <a:srgbClr val="3366FF"/>
                </a:solidFill>
              </a:rPr>
              <a:t>Belady</a:t>
            </a:r>
            <a:r>
              <a:rPr lang="ja-JP" altLang="en-US" sz="2750" b="1" dirty="0">
                <a:solidFill>
                  <a:srgbClr val="3366FF"/>
                </a:solidFill>
              </a:rPr>
              <a:t>’</a:t>
            </a:r>
            <a:r>
              <a:rPr lang="en-US" altLang="ja-JP" sz="2750" b="1" dirty="0">
                <a:solidFill>
                  <a:srgbClr val="3366FF"/>
                </a:solidFill>
              </a:rPr>
              <a:t>s Anomaly</a:t>
            </a:r>
            <a:endParaRPr lang="en-US" altLang="en-US" sz="1567" dirty="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How to track ages of pages? 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Just use a FIFO queue</a:t>
            </a:r>
          </a:p>
        </p:txBody>
      </p:sp>
      <p:sp>
        <p:nvSpPr>
          <p:cNvPr id="73732" name="Text Box 16"/>
          <p:cNvSpPr txBox="1">
            <a:spLocks noChangeArrowheads="1"/>
          </p:cNvSpPr>
          <p:nvPr/>
        </p:nvSpPr>
        <p:spPr bwMode="auto">
          <a:xfrm>
            <a:off x="2781300" y="4775200"/>
            <a:ext cx="1695450" cy="400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121913" tIns="60957" rIns="121913" bIns="60957" anchor="ctr">
            <a:spAutoFit/>
          </a:bodyPr>
          <a:lstStyle>
            <a:lvl1pPr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charset="0"/>
                <a:ea typeface="MS PGothic" charset="-128"/>
              </a:defRPr>
            </a:lvl9pPr>
          </a:lstStyle>
          <a:p>
            <a:pPr algn="ctr">
              <a:spcBef>
                <a:spcPct val="50000"/>
              </a:spcBef>
            </a:pPr>
            <a:r>
              <a:rPr lang="en-US" altLang="en-US">
                <a:latin typeface="Helvetica" charset="0"/>
              </a:rPr>
              <a:t>15 page faults</a:t>
            </a:r>
          </a:p>
        </p:txBody>
      </p:sp>
      <p:pic>
        <p:nvPicPr>
          <p:cNvPr id="73733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08313" y="2471738"/>
            <a:ext cx="7102475" cy="2263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D1BC3E7-0362-6549-AE65-310C7D7759E6}" type="slidenum">
              <a:rPr lang="en-US"/>
              <a:pPr>
                <a:defRPr/>
              </a:pPr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73850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>
          <a:xfrm>
            <a:off x="2319338" y="285750"/>
            <a:ext cx="10312400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FIFO Illustrating Belady</a:t>
            </a:r>
            <a:r>
              <a:rPr lang="ja-JP" altLang="en-US" sz="4950"/>
              <a:t>’</a:t>
            </a:r>
            <a:r>
              <a:rPr lang="en-US" altLang="ja-JP" sz="4950"/>
              <a:t>s Anomaly</a:t>
            </a:r>
            <a:endParaRPr lang="en-US" altLang="en-US" sz="4950"/>
          </a:p>
        </p:txBody>
      </p:sp>
      <p:pic>
        <p:nvPicPr>
          <p:cNvPr id="75779" name="Picture 1" descr="9_13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40050" y="1738313"/>
            <a:ext cx="7569200" cy="541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D9F9D56-C445-6C4A-9FE8-643641477E7E}" type="slidenum">
              <a:rPr lang="en-US"/>
              <a:pPr>
                <a:defRPr/>
              </a:pPr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>
          <a:xfrm>
            <a:off x="1760538" y="184150"/>
            <a:ext cx="10583862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Optimal Algorithm</a:t>
            </a:r>
          </a:p>
        </p:txBody>
      </p:sp>
      <p:sp>
        <p:nvSpPr>
          <p:cNvPr id="378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55800" y="1492250"/>
            <a:ext cx="10972800" cy="6040438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2518770" algn="l"/>
              </a:tabLst>
              <a:defRPr/>
            </a:pPr>
            <a:r>
              <a:rPr lang="en-US" altLang="en-US" sz="3150" dirty="0"/>
              <a:t>Replace page that will not be used for longest period of time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2518770" algn="l"/>
              </a:tabLst>
              <a:defRPr/>
            </a:pPr>
            <a:r>
              <a:rPr lang="en-US" altLang="en-US" dirty="0"/>
              <a:t>9 is optimal for the example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2518770" algn="l"/>
              </a:tabLst>
              <a:defRPr/>
            </a:pPr>
            <a:r>
              <a:rPr lang="en-US" altLang="en-US" sz="3150" dirty="0"/>
              <a:t>How do you know this?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2518770" algn="l"/>
              </a:tabLst>
              <a:defRPr/>
            </a:pPr>
            <a:r>
              <a:rPr lang="en-US" altLang="en-US" dirty="0"/>
              <a:t>Can</a:t>
            </a:r>
            <a:r>
              <a:rPr lang="ja-JP" altLang="en-US" dirty="0"/>
              <a:t>’</a:t>
            </a:r>
            <a:r>
              <a:rPr lang="en-US" altLang="ja-JP" dirty="0"/>
              <a:t>t read the future</a:t>
            </a:r>
            <a:endParaRPr lang="en-US" altLang="en-US" dirty="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tabLst>
                <a:tab pos="2518770" algn="l"/>
              </a:tabLst>
              <a:defRPr/>
            </a:pPr>
            <a:r>
              <a:rPr lang="en-US" altLang="en-US" sz="3150" dirty="0"/>
              <a:t>Used for measuring how well your algorithm performs</a:t>
            </a:r>
          </a:p>
        </p:txBody>
      </p:sp>
      <p:pic>
        <p:nvPicPr>
          <p:cNvPr id="77828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3063" y="4211638"/>
            <a:ext cx="8345487" cy="280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797F3CA-D421-3540-8328-57189D8D4764}" type="slidenum">
              <a:rPr lang="en-US"/>
              <a:pPr>
                <a:defRPr/>
              </a:pPr>
              <a:t>43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89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8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2586038" y="217488"/>
            <a:ext cx="10233025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 dirty="0"/>
              <a:t>Least Recently Used (LRU) Algorithm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47863" y="969963"/>
            <a:ext cx="9939337" cy="6446837"/>
          </a:xfrm>
        </p:spPr>
        <p:txBody>
          <a:bodyPr rtlCol="0">
            <a:normAutofit fontScale="92500" lnSpcReduction="10000"/>
          </a:bodyPr>
          <a:lstStyle/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endParaRPr lang="en-US" altLang="en-US" sz="3150" dirty="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Use past knowledge rather than future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Replace page that has not been used in the most amount of time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Associate time of last use with each page</a:t>
            </a:r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endParaRPr lang="en-US" altLang="en-US" sz="3150" dirty="0"/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endParaRPr lang="en-US" altLang="en-US" sz="3150" dirty="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US" altLang="en-US" sz="3150" dirty="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US" altLang="en-US" sz="3150" dirty="0"/>
          </a:p>
          <a:p>
            <a:pPr marL="0" indent="0" eaLnBrk="1" fontAlgn="auto" hangingPunct="1">
              <a:spcAft>
                <a:spcPts val="0"/>
              </a:spcAft>
              <a:buFont typeface="Arial" panose="020B0604020202020204" pitchFamily="34" charset="0"/>
              <a:buNone/>
              <a:defRPr/>
            </a:pPr>
            <a:endParaRPr lang="en-US" altLang="en-US" sz="3150" dirty="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US" altLang="en-US" sz="3150" dirty="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12 faults – better than FIFO but worse than OPT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Generally good algorithm and frequently used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But how to implement?</a:t>
            </a:r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endParaRPr lang="en-US" altLang="en-US" sz="3150" dirty="0"/>
          </a:p>
        </p:txBody>
      </p:sp>
      <p:pic>
        <p:nvPicPr>
          <p:cNvPr id="79876" name="Picture 4" descr="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5588" y="3151188"/>
            <a:ext cx="9204325" cy="25130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010FBDB-DDD2-1C46-A5FB-43D13FFFA249}" type="slidenum">
              <a:rPr lang="en-US"/>
              <a:pPr>
                <a:defRPr/>
              </a:pPr>
              <a:t>44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8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234950"/>
            <a:ext cx="10972800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LRU Algorithm (Cont.)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55800" y="1268413"/>
            <a:ext cx="10388600" cy="6994525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Counter implementation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Every page entry has a counter; every time page is referenced through this entry, copy the clock into the counter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When a page needs to be changed, look at the counters to find smallest value</a:t>
            </a:r>
          </a:p>
          <a:p>
            <a:pPr lvl="2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2250" dirty="0"/>
              <a:t>Search through table needed</a:t>
            </a:r>
          </a:p>
          <a:p>
            <a:pPr lvl="2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US" altLang="en-US" sz="2250" dirty="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Stack implementation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Keep a stack of page numbers in a double link form: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Page referenced </a:t>
            </a:r>
            <a:r>
              <a:rPr lang="en-US" altLang="en-US" dirty="0">
                <a:sym typeface="Wingdings"/>
              </a:rPr>
              <a:t> </a:t>
            </a:r>
            <a:r>
              <a:rPr lang="en-US" altLang="en-US" dirty="0"/>
              <a:t>move it to the top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Each update more expensive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No search for replacement (page to replace at the bottom of the stack)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D14E29A-B1F3-C140-9F83-264A2997A67D}" type="slidenum">
              <a:rPr lang="en-US"/>
              <a:pPr>
                <a:defRPr/>
              </a:pPr>
              <a:t>45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939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>
          <a:xfrm>
            <a:off x="2446338" y="138113"/>
            <a:ext cx="10169525" cy="768350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2667"/>
              <a:t>Use Of A Stack to Record Most Recent Page References</a:t>
            </a:r>
          </a:p>
        </p:txBody>
      </p:sp>
      <p:pic>
        <p:nvPicPr>
          <p:cNvPr id="83971" name="Picture 1" descr="9_16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2188" y="1522413"/>
            <a:ext cx="6270625" cy="4897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AD3B1A-FEEF-0949-B92C-BA270A3346A4}" type="slidenum">
              <a:rPr lang="en-US"/>
              <a:pPr>
                <a:defRPr/>
              </a:pPr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>
          <a:xfrm>
            <a:off x="1981200" y="201613"/>
            <a:ext cx="10363200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LRU Approximation Algorithms</a:t>
            </a:r>
          </a:p>
        </p:txBody>
      </p:sp>
      <p:sp>
        <p:nvSpPr>
          <p:cNvPr id="4198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7550" y="1309688"/>
            <a:ext cx="9828213" cy="6862762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LRU needs special hardware and still slow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b="1" dirty="0">
                <a:solidFill>
                  <a:srgbClr val="3366FF"/>
                </a:solidFill>
              </a:rPr>
              <a:t>Reference bit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With each page associate a bit, initially = 0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When page is referenced bit set to 1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Replace any with reference bit = 0 (if one exists)</a:t>
            </a:r>
          </a:p>
          <a:p>
            <a:pPr lvl="2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2250" dirty="0"/>
              <a:t>We do not know the order, however</a:t>
            </a:r>
            <a:endParaRPr lang="en-US" altLang="en-US" sz="1067" dirty="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b="1" dirty="0">
                <a:solidFill>
                  <a:srgbClr val="3366FF"/>
                </a:solidFill>
              </a:rPr>
              <a:t>Second-chance algorithm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Generally FIFO, plus hardware-provided reference bit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b="1" dirty="0">
                <a:solidFill>
                  <a:srgbClr val="3366FF"/>
                </a:solidFill>
              </a:rPr>
              <a:t>Clock</a:t>
            </a:r>
            <a:r>
              <a:rPr lang="en-US" altLang="en-US" dirty="0"/>
              <a:t> replacement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If page to be replaced has </a:t>
            </a:r>
          </a:p>
          <a:p>
            <a:pPr lvl="2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2250" dirty="0"/>
              <a:t>Reference bit = 0 -&gt; replace it</a:t>
            </a:r>
          </a:p>
          <a:p>
            <a:pPr lvl="2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2250" dirty="0"/>
              <a:t>reference bit = 1 then:</a:t>
            </a:r>
          </a:p>
          <a:p>
            <a:pPr lvl="3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2025" dirty="0"/>
              <a:t>set reference bit 0, leave page in memory</a:t>
            </a:r>
          </a:p>
          <a:p>
            <a:pPr lvl="3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2025" dirty="0"/>
              <a:t>replace next page, subject to same rules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6FF0A5E-0686-A94A-BD39-BBC43583FEBD}" type="slidenum">
              <a:rPr lang="en-US"/>
              <a:pPr>
                <a:defRPr/>
              </a:pPr>
              <a:t>47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98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>
          <a:xfrm>
            <a:off x="1998663" y="236538"/>
            <a:ext cx="10680700" cy="619125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2667"/>
              <a:t>Second-Chance (clock) Page-Replacement Algorithm</a:t>
            </a:r>
          </a:p>
        </p:txBody>
      </p:sp>
      <p:pic>
        <p:nvPicPr>
          <p:cNvPr id="88067" name="Picture 1" descr="9_17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2838" y="1455738"/>
            <a:ext cx="5870575" cy="5924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35B0B06-78D7-0841-94D8-5914B6DE0C4F}" type="slidenum">
              <a:rPr lang="en-US"/>
              <a:pPr>
                <a:defRPr/>
              </a:pPr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4950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Recap / Introduction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Demand Paging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Copy-on-Write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Page Replacement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/>
              <a:t>Allocation of Frames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Thrashing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Memory-Mapped files</a:t>
            </a:r>
            <a:r>
              <a:rPr lang="en-US" sz="4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3200" dirty="0">
                <a:solidFill>
                  <a:schemeClr val="bg1">
                    <a:lumMod val="65000"/>
                  </a:schemeClr>
                </a:solidFill>
              </a:rPr>
              <a:t>[Self-reading]</a:t>
            </a:r>
            <a:endParaRPr lang="en-US" sz="31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1353AE3-85E3-8F42-BBCD-9142EDC88E54}" type="slidenum">
              <a:rPr lang="en-US"/>
              <a:pPr>
                <a:defRPr/>
              </a:pPr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>
          <a:xfrm>
            <a:off x="351693" y="252413"/>
            <a:ext cx="12421332" cy="768350"/>
          </a:xfrm>
        </p:spPr>
        <p:txBody>
          <a:bodyPr rtlCol="0">
            <a:normAutofit fontScale="90000"/>
          </a:bodyPr>
          <a:lstStyle/>
          <a:p>
            <a:pPr algn="ctr" eaLnBrk="1" fontAlgn="auto" hangingPunct="1">
              <a:spcAft>
                <a:spcPts val="0"/>
              </a:spcAft>
              <a:defRPr/>
            </a:pPr>
            <a:r>
              <a:rPr lang="en-US" altLang="en-US" sz="5400"/>
              <a:t>Page and Frame Replacement Algorithms</a:t>
            </a:r>
            <a:endParaRPr lang="en-US" altLang="en-US" sz="4950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F8636BE-D784-0D42-9655-8FF5DE1AD1B9}" type="slidenum">
              <a:rPr lang="en-US"/>
              <a:pPr>
                <a:defRPr/>
              </a:pPr>
              <a:t>50</a:t>
            </a:fld>
            <a:endParaRPr 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747" y="1850711"/>
            <a:ext cx="1228725" cy="1228725"/>
          </a:xfrm>
          <a:prstGeom prst="rect">
            <a:avLst/>
          </a:prstGeom>
        </p:spPr>
      </p:pic>
      <p:sp>
        <p:nvSpPr>
          <p:cNvPr id="9" name="Content Placeholder 2"/>
          <p:cNvSpPr txBox="1">
            <a:spLocks/>
          </p:cNvSpPr>
          <p:nvPr/>
        </p:nvSpPr>
        <p:spPr>
          <a:xfrm>
            <a:off x="1469991" y="2076393"/>
            <a:ext cx="4785036" cy="611345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5430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</a:pPr>
            <a:r>
              <a:rPr lang="en-US" sz="2800" i="1" dirty="0"/>
              <a:t>What to do now?</a:t>
            </a:r>
          </a:p>
          <a:p>
            <a:pPr fontAlgn="auto">
              <a:spcAft>
                <a:spcPts val="0"/>
              </a:spcAft>
            </a:pPr>
            <a:r>
              <a:rPr lang="en-US" sz="2800" i="1" dirty="0"/>
              <a:t>Can we replace an existing page?</a:t>
            </a:r>
          </a:p>
          <a:p>
            <a:pPr fontAlgn="auto">
              <a:spcAft>
                <a:spcPts val="0"/>
              </a:spcAft>
            </a:pPr>
            <a:r>
              <a:rPr lang="en-US" sz="2800" i="1" dirty="0"/>
              <a:t>Should it be from process 1 or can it also be from process 2?</a:t>
            </a:r>
          </a:p>
          <a:p>
            <a:pPr fontAlgn="auto">
              <a:spcAft>
                <a:spcPts val="0"/>
              </a:spcAft>
            </a:pPr>
            <a:r>
              <a:rPr lang="en-US" sz="2800" i="1" dirty="0"/>
              <a:t>Is there any page that is faster to swap out than others?</a:t>
            </a:r>
          </a:p>
          <a:p>
            <a:pPr fontAlgn="auto">
              <a:spcAft>
                <a:spcPts val="0"/>
              </a:spcAft>
            </a:pPr>
            <a:r>
              <a:rPr lang="en-US" sz="2800" i="1" dirty="0"/>
              <a:t>Is there any page that has lower probability of being needed later on?</a:t>
            </a:r>
          </a:p>
          <a:p>
            <a:pPr fontAlgn="auto">
              <a:spcAft>
                <a:spcPts val="0"/>
              </a:spcAft>
            </a:pPr>
            <a:r>
              <a:rPr lang="en-US" sz="2800" i="1" dirty="0"/>
              <a:t>Could have we prevented this situation?</a:t>
            </a:r>
          </a:p>
          <a:p>
            <a:pPr fontAlgn="auto">
              <a:spcAft>
                <a:spcPts val="0"/>
              </a:spcAft>
            </a:pPr>
            <a:r>
              <a:rPr lang="en-US" sz="2800" i="1" dirty="0"/>
              <a:t>How many page should we have allocate to the OS and to processes 1 and 2 to prevent this?</a:t>
            </a:r>
          </a:p>
          <a:p>
            <a:pPr fontAlgn="auto">
              <a:spcAft>
                <a:spcPts val="0"/>
              </a:spcAft>
            </a:pPr>
            <a:r>
              <a:rPr lang="en-US" sz="2800" i="1" dirty="0"/>
              <a:t>…</a:t>
            </a:r>
          </a:p>
        </p:txBody>
      </p:sp>
      <p:sp>
        <p:nvSpPr>
          <p:cNvPr id="5" name="Right Brace 4"/>
          <p:cNvSpPr/>
          <p:nvPr/>
        </p:nvSpPr>
        <p:spPr>
          <a:xfrm>
            <a:off x="6115879" y="1739969"/>
            <a:ext cx="278295" cy="6016487"/>
          </a:xfrm>
          <a:prstGeom prst="rightBrac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6562359" y="3233530"/>
            <a:ext cx="1614232" cy="151468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 rot="5400000" flipV="1">
            <a:off x="6512584" y="4797987"/>
            <a:ext cx="1614232" cy="1514682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45227" y="2617977"/>
            <a:ext cx="5146399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fontAlgn="auto" hangingPunct="1">
              <a:spcAft>
                <a:spcPts val="0"/>
              </a:spcAft>
              <a:tabLst>
                <a:tab pos="4193013" algn="ctr"/>
              </a:tabLst>
              <a:defRPr/>
            </a:pPr>
            <a:r>
              <a:rPr lang="en-US" altLang="en-US" sz="2000" b="1" dirty="0">
                <a:solidFill>
                  <a:srgbClr val="3366FF"/>
                </a:solidFill>
              </a:rPr>
              <a:t>Frame-allocation algorithm </a:t>
            </a:r>
            <a:br>
              <a:rPr lang="en-US" altLang="en-US" sz="2000" b="1" dirty="0">
                <a:solidFill>
                  <a:srgbClr val="3366FF"/>
                </a:solidFill>
              </a:rPr>
            </a:br>
            <a:r>
              <a:rPr lang="en-US" altLang="en-US" dirty="0"/>
              <a:t>determines how many frames to give each process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45227" y="6033145"/>
            <a:ext cx="4702147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eaLnBrk="1" fontAlgn="auto" hangingPunct="1">
              <a:spcAft>
                <a:spcPts val="0"/>
              </a:spcAft>
              <a:tabLst>
                <a:tab pos="4193013" algn="ctr"/>
              </a:tabLst>
              <a:defRPr/>
            </a:pPr>
            <a:r>
              <a:rPr lang="en-US" altLang="en-US" sz="2000" b="1" dirty="0">
                <a:solidFill>
                  <a:srgbClr val="3366FF"/>
                </a:solidFill>
              </a:rPr>
              <a:t>Page-replacement algorithm</a:t>
            </a:r>
            <a:br>
              <a:rPr lang="en-US" altLang="en-US" sz="3150" b="1" dirty="0">
                <a:solidFill>
                  <a:srgbClr val="3366FF"/>
                </a:solidFill>
              </a:rPr>
            </a:br>
            <a:r>
              <a:rPr lang="en-US" altLang="en-US" dirty="0"/>
              <a:t>Which page to replace? </a:t>
            </a:r>
            <a:r>
              <a:rPr lang="en-US" altLang="en-US"/>
              <a:t>Want </a:t>
            </a:r>
            <a:r>
              <a:rPr lang="en-US" altLang="en-US" dirty="0"/>
              <a:t>lowest page-fault rate on both first access and re-access</a:t>
            </a:r>
          </a:p>
        </p:txBody>
      </p:sp>
      <p:sp>
        <p:nvSpPr>
          <p:cNvPr id="13" name="Oval 12"/>
          <p:cNvSpPr/>
          <p:nvPr/>
        </p:nvSpPr>
        <p:spPr>
          <a:xfrm>
            <a:off x="7593496" y="2076393"/>
            <a:ext cx="5798130" cy="2243816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6160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title"/>
          </p:nvPr>
        </p:nvSpPr>
        <p:spPr>
          <a:xfrm>
            <a:off x="1839913" y="217488"/>
            <a:ext cx="10504487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Allocation of Frames</a:t>
            </a:r>
          </a:p>
        </p:txBody>
      </p:sp>
      <p:sp>
        <p:nvSpPr>
          <p:cNvPr id="4813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49450" y="1493838"/>
            <a:ext cx="9802813" cy="5978525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Each process needs </a:t>
            </a:r>
            <a:r>
              <a:rPr lang="en-US" altLang="en-US" sz="3150" b="1" i="1" dirty="0"/>
              <a:t>minimum</a:t>
            </a:r>
            <a:r>
              <a:rPr lang="en-US" altLang="en-US" sz="3150" dirty="0"/>
              <a:t> number of frames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US" altLang="en-US" sz="3150" b="1" i="1" dirty="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b="1" i="1" dirty="0"/>
              <a:t>Maximum</a:t>
            </a:r>
            <a:r>
              <a:rPr lang="en-US" altLang="en-US" sz="3150" i="1" dirty="0"/>
              <a:t> </a:t>
            </a:r>
            <a:r>
              <a:rPr lang="en-US" altLang="en-US" sz="3150" dirty="0"/>
              <a:t>of course is total frames in the system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Two major allocation schemes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fixed allocation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priority allocation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Many variations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92E6D2F-4883-A046-A2A1-57F5F899C644}" type="slidenum">
              <a:rPr lang="en-US"/>
              <a:pPr>
                <a:defRPr/>
              </a:pPr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2"/>
          <p:cNvSpPr>
            <a:spLocks noGrp="1" noChangeArrowheads="1"/>
          </p:cNvSpPr>
          <p:nvPr>
            <p:ph type="title"/>
          </p:nvPr>
        </p:nvSpPr>
        <p:spPr>
          <a:xfrm>
            <a:off x="1746250" y="252413"/>
            <a:ext cx="10598150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Fixed Allocation</a:t>
            </a:r>
          </a:p>
        </p:txBody>
      </p:sp>
      <p:sp>
        <p:nvSpPr>
          <p:cNvPr id="102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63738" y="1443038"/>
            <a:ext cx="9636125" cy="6194425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Equal allocation – For example, if there are 100 frames (after allocating frames for the OS) and 5 processes, give each process 20 frames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Keep some as free frame buffer pool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US" altLang="en-US" sz="1067" dirty="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Proportional allocation – Allocate according to the size of process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Dynamic as degree of multiprogramming, process sizes change</a:t>
            </a:r>
          </a:p>
          <a:p>
            <a:pPr lvl="1"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endParaRPr lang="en-US" altLang="en-US" dirty="0"/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US" altLang="en-US" dirty="0"/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US" altLang="en-US" dirty="0"/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US" altLang="en-US" dirty="0"/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US" altLang="en-US" dirty="0"/>
          </a:p>
        </p:txBody>
      </p:sp>
      <p:grpSp>
        <p:nvGrpSpPr>
          <p:cNvPr id="5" name="Group 4"/>
          <p:cNvGrpSpPr/>
          <p:nvPr/>
        </p:nvGrpSpPr>
        <p:grpSpPr>
          <a:xfrm>
            <a:off x="3130550" y="5429250"/>
            <a:ext cx="7567613" cy="2565400"/>
            <a:chOff x="3130550" y="5429250"/>
            <a:chExt cx="7567613" cy="2565400"/>
          </a:xfrm>
        </p:grpSpPr>
        <p:graphicFrame>
          <p:nvGraphicFramePr>
            <p:cNvPr id="99332" name="Object 2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825357710"/>
                </p:ext>
              </p:extLst>
            </p:nvPr>
          </p:nvGraphicFramePr>
          <p:xfrm>
            <a:off x="3397250" y="5702300"/>
            <a:ext cx="3810000" cy="214947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3" imgW="2857500" imgH="1612900" progId="Equation.3">
                    <p:embed/>
                  </p:oleObj>
                </mc:Choice>
                <mc:Fallback>
                  <p:oleObj name="Equation" r:id="rId3" imgW="2857500" imgH="1612900" progId="Equation.3">
                    <p:embed/>
                    <p:pic>
                      <p:nvPicPr>
                        <p:cNvPr id="99332" name="Object 2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397250" y="5702300"/>
                          <a:ext cx="3810000" cy="2149475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blurRad="63500" dist="38099" dir="2700000" algn="ctr" rotWithShape="0">
                                  <a:srgbClr val="000000">
                                    <a:alpha val="74997"/>
                                  </a:srgbClr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9333" name="Line 5"/>
            <p:cNvSpPr>
              <a:spLocks noChangeShapeType="1"/>
            </p:cNvSpPr>
            <p:nvPr/>
          </p:nvSpPr>
          <p:spPr bwMode="auto">
            <a:xfrm>
              <a:off x="3138488" y="5918200"/>
              <a:ext cx="203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121913" tIns="60957" rIns="121913" bIns="60957" anchor="ctr"/>
            <a:lstStyle/>
            <a:p>
              <a:endParaRPr lang="en-US"/>
            </a:p>
          </p:txBody>
        </p:sp>
        <p:sp>
          <p:nvSpPr>
            <p:cNvPr id="99334" name="Line 6"/>
            <p:cNvSpPr>
              <a:spLocks noChangeShapeType="1"/>
            </p:cNvSpPr>
            <p:nvPr/>
          </p:nvSpPr>
          <p:spPr bwMode="auto">
            <a:xfrm>
              <a:off x="3138488" y="6367463"/>
              <a:ext cx="203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121913" tIns="60957" rIns="121913" bIns="60957" anchor="ctr"/>
            <a:lstStyle/>
            <a:p>
              <a:endParaRPr lang="en-US"/>
            </a:p>
          </p:txBody>
        </p:sp>
        <p:sp>
          <p:nvSpPr>
            <p:cNvPr id="99335" name="Line 7"/>
            <p:cNvSpPr>
              <a:spLocks noChangeShapeType="1"/>
            </p:cNvSpPr>
            <p:nvPr/>
          </p:nvSpPr>
          <p:spPr bwMode="auto">
            <a:xfrm>
              <a:off x="3138488" y="7515225"/>
              <a:ext cx="203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121913" tIns="60957" rIns="121913" bIns="60957" anchor="ctr"/>
            <a:lstStyle/>
            <a:p>
              <a:endParaRPr lang="en-US"/>
            </a:p>
          </p:txBody>
        </p:sp>
        <p:sp>
          <p:nvSpPr>
            <p:cNvPr id="99336" name="Line 8"/>
            <p:cNvSpPr>
              <a:spLocks noChangeShapeType="1"/>
            </p:cNvSpPr>
            <p:nvPr/>
          </p:nvSpPr>
          <p:spPr bwMode="auto">
            <a:xfrm>
              <a:off x="3130550" y="6804025"/>
              <a:ext cx="2032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wrap="none" lIns="121913" tIns="60957" rIns="121913" bIns="60957" anchor="ctr"/>
            <a:lstStyle/>
            <a:p>
              <a:endParaRPr lang="en-US"/>
            </a:p>
          </p:txBody>
        </p:sp>
        <p:graphicFrame>
          <p:nvGraphicFramePr>
            <p:cNvPr id="99337" name="Object 3"/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983134575"/>
                </p:ext>
              </p:extLst>
            </p:nvPr>
          </p:nvGraphicFramePr>
          <p:xfrm>
            <a:off x="8688388" y="5429250"/>
            <a:ext cx="2009775" cy="25654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name="Equation" r:id="rId5" imgW="1133640" imgH="1444320" progId="Equation.3">
                    <p:embed/>
                  </p:oleObj>
                </mc:Choice>
                <mc:Fallback>
                  <p:oleObj name="Equation" r:id="rId5" imgW="1133640" imgH="1444320" progId="Equation.3">
                    <p:embed/>
                    <p:pic>
                      <p:nvPicPr>
                        <p:cNvPr id="99337" name="Object 3"/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688388" y="5429250"/>
                          <a:ext cx="2009775" cy="2565400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rgbClr val="000000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FC45F-69E5-194F-9698-A98D9661AFBA}" type="slidenum">
              <a:rPr lang="en-US"/>
              <a:pPr>
                <a:defRPr/>
              </a:pPr>
              <a:t>52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/>
          <p:cNvSpPr>
            <a:spLocks noGrp="1" noChangeArrowheads="1"/>
          </p:cNvSpPr>
          <p:nvPr>
            <p:ph type="title"/>
          </p:nvPr>
        </p:nvSpPr>
        <p:spPr>
          <a:xfrm>
            <a:off x="1917700" y="268288"/>
            <a:ext cx="10426700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Priority Allocation</a:t>
            </a:r>
          </a:p>
        </p:txBody>
      </p:sp>
      <p:sp>
        <p:nvSpPr>
          <p:cNvPr id="4915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89138" y="1587500"/>
            <a:ext cx="9136062" cy="5859463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/>
              <a:t>Use a proportional allocation scheme using priorities rather than size</a:t>
            </a:r>
            <a:br>
              <a:rPr lang="en-US" altLang="en-US" sz="3150"/>
            </a:br>
            <a:endParaRPr lang="en-US" altLang="en-US" sz="315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/>
              <a:t>If process </a:t>
            </a:r>
            <a:r>
              <a:rPr lang="en-US" altLang="en-US" sz="3150" b="1" i="1"/>
              <a:t>P</a:t>
            </a:r>
            <a:r>
              <a:rPr lang="en-US" altLang="en-US" sz="3150" b="1" i="1" baseline="-25000"/>
              <a:t>i</a:t>
            </a:r>
            <a:r>
              <a:rPr lang="en-US" altLang="en-US" sz="3150"/>
              <a:t> generates a page fault,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/>
              <a:t>select for replacement one of its frames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/>
              <a:t>select for replacement a frame from a process with lower priority number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1DA819F-1258-324E-8ECC-78D2EAFE4508}" type="slidenum">
              <a:rPr lang="en-US"/>
              <a:pPr>
                <a:defRPr/>
              </a:pPr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Rectangle 2"/>
          <p:cNvSpPr>
            <a:spLocks noGrp="1" noChangeArrowheads="1"/>
          </p:cNvSpPr>
          <p:nvPr>
            <p:ph type="title"/>
          </p:nvPr>
        </p:nvSpPr>
        <p:spPr>
          <a:xfrm>
            <a:off x="2135188" y="252413"/>
            <a:ext cx="10209212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Global vs. Local Allocation</a:t>
            </a:r>
          </a:p>
        </p:txBody>
      </p:sp>
      <p:sp>
        <p:nvSpPr>
          <p:cNvPr id="5017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31988" y="1487488"/>
            <a:ext cx="9277350" cy="5961062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b="1" dirty="0">
                <a:solidFill>
                  <a:srgbClr val="3366FF"/>
                </a:solidFill>
              </a:rPr>
              <a:t>Global replacement</a:t>
            </a:r>
            <a:r>
              <a:rPr lang="en-US" altLang="en-US" sz="3150" dirty="0">
                <a:solidFill>
                  <a:srgbClr val="3366FF"/>
                </a:solidFill>
              </a:rPr>
              <a:t> </a:t>
            </a:r>
            <a:r>
              <a:rPr lang="en-US" altLang="en-US" sz="3150" dirty="0"/>
              <a:t>– process selects a replacement frame from the set of all frames; one process can take a frame from another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But then process execution time can vary greatly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But greater throughput so more common</a:t>
            </a:r>
          </a:p>
          <a:p>
            <a:pPr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endParaRPr lang="en-US" altLang="en-US" sz="3150" dirty="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b="1" dirty="0">
                <a:solidFill>
                  <a:srgbClr val="3366FF"/>
                </a:solidFill>
              </a:rPr>
              <a:t>Local replacement</a:t>
            </a:r>
            <a:r>
              <a:rPr lang="en-US" altLang="en-US" sz="3150" dirty="0">
                <a:solidFill>
                  <a:srgbClr val="3366FF"/>
                </a:solidFill>
              </a:rPr>
              <a:t> </a:t>
            </a:r>
            <a:r>
              <a:rPr lang="en-US" altLang="en-US" sz="3150" dirty="0"/>
              <a:t>– each process selects from only its own set of allocated frames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More consistent per-process performance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But possibly underutilized memory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US" altLang="en-US" dirty="0"/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endParaRPr lang="en-US" alt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6E9547F-E82E-C44A-A2BE-4747DEC557F0}" type="slidenum">
              <a:rPr lang="en-US"/>
              <a:pPr>
                <a:defRPr/>
              </a:pPr>
              <a:t>54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4950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Recap / Introduction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Demand Paging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Copy-on-Write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Page Replacement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Allocation of Frames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/>
              <a:t>Thrashing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Memory-Mapped files</a:t>
            </a:r>
            <a:r>
              <a:rPr lang="en-US" sz="4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sz="3200" dirty="0">
                <a:solidFill>
                  <a:schemeClr val="bg1">
                    <a:lumMod val="65000"/>
                  </a:schemeClr>
                </a:solidFill>
              </a:rPr>
              <a:t>[Self-reading]</a:t>
            </a:r>
            <a:endParaRPr lang="en-US" sz="31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177B4EA-E16D-B341-B9BA-B57C833B6C57}" type="slidenum">
              <a:rPr lang="en-US"/>
              <a:pPr>
                <a:defRPr/>
              </a:pPr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252413"/>
            <a:ext cx="10972800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Thrashing</a:t>
            </a:r>
          </a:p>
        </p:txBody>
      </p:sp>
      <p:sp>
        <p:nvSpPr>
          <p:cNvPr id="5222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47863" y="1509713"/>
            <a:ext cx="9804400" cy="5976937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If a process does not have </a:t>
            </a:r>
            <a:r>
              <a:rPr lang="ja-JP" altLang="en-US" sz="3150" dirty="0"/>
              <a:t>“</a:t>
            </a:r>
            <a:r>
              <a:rPr lang="en-US" altLang="ja-JP" sz="3150" dirty="0"/>
              <a:t>enough</a:t>
            </a:r>
            <a:r>
              <a:rPr lang="ja-JP" altLang="en-US" sz="3150" dirty="0"/>
              <a:t>”</a:t>
            </a:r>
            <a:r>
              <a:rPr lang="en-US" altLang="ja-JP" sz="3150" dirty="0"/>
              <a:t> pages, the page-fault rate is very high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Page fault to get page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Replace existing frame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But quickly need replaced frame back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This leads to:</a:t>
            </a:r>
          </a:p>
          <a:p>
            <a:pPr lvl="2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2250" dirty="0"/>
              <a:t>Low CPU utilization</a:t>
            </a:r>
          </a:p>
          <a:p>
            <a:pPr lvl="2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2250" dirty="0"/>
              <a:t>Operating system thinking that it needs to increase the degree of multiprogramming</a:t>
            </a:r>
          </a:p>
          <a:p>
            <a:pPr lvl="2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2250" dirty="0"/>
              <a:t>Another process added to the system</a:t>
            </a:r>
            <a:br>
              <a:rPr lang="en-US" altLang="en-US" sz="2250" dirty="0"/>
            </a:br>
            <a:endParaRPr lang="en-US" altLang="en-US" sz="2250" dirty="0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b="1" dirty="0">
                <a:solidFill>
                  <a:srgbClr val="3366FF"/>
                </a:solidFill>
              </a:rPr>
              <a:t>Thrashing</a:t>
            </a:r>
            <a:r>
              <a:rPr lang="en-US" altLang="en-US" sz="3150" dirty="0">
                <a:solidFill>
                  <a:srgbClr val="3366FF"/>
                </a:solidFill>
              </a:rPr>
              <a:t> </a:t>
            </a:r>
            <a:r>
              <a:rPr lang="en-US" altLang="en-US" sz="3150" dirty="0">
                <a:sym typeface="Symbol" panose="05050102010706020507" pitchFamily="18" charset="2"/>
              </a:rPr>
              <a:t> a process is busy swapping pages in and out</a:t>
            </a:r>
            <a:endParaRPr lang="en-US" altLang="en-US" sz="3150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6DD9755-148D-E042-9E07-054D11DAEE8A}" type="slidenum">
              <a:rPr lang="en-US"/>
              <a:pPr>
                <a:defRPr/>
              </a:pPr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/>
              <a:t>Thrashing (cont.)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BEC3D2C-A26D-2F48-B725-1FE4C9405192}" type="slidenum">
              <a:rPr lang="en-US" smtClean="0"/>
              <a:pPr>
                <a:defRPr/>
              </a:pPr>
              <a:t>57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49300" y="2495550"/>
            <a:ext cx="3794125" cy="95408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2800" dirty="0">
                <a:latin typeface="+mj-lt"/>
                <a:ea typeface="Verdana" panose="020B0604030504040204" pitchFamily="34" charset="0"/>
                <a:cs typeface="Verdana" panose="020B0604030504040204" pitchFamily="34" charset="0"/>
              </a:rPr>
              <a:t>Process needs frames (global page replacement) </a:t>
            </a:r>
          </a:p>
        </p:txBody>
      </p:sp>
      <p:sp>
        <p:nvSpPr>
          <p:cNvPr id="8" name="Right Arrow 7"/>
          <p:cNvSpPr/>
          <p:nvPr/>
        </p:nvSpPr>
        <p:spPr>
          <a:xfrm rot="1506305">
            <a:off x="2667000" y="3679825"/>
            <a:ext cx="1244600" cy="3730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grpSp>
        <p:nvGrpSpPr>
          <p:cNvPr id="109576" name="Group 13"/>
          <p:cNvGrpSpPr>
            <a:grpSpLocks/>
          </p:cNvGrpSpPr>
          <p:nvPr/>
        </p:nvGrpSpPr>
        <p:grpSpPr bwMode="auto">
          <a:xfrm>
            <a:off x="3463925" y="3340100"/>
            <a:ext cx="3794125" cy="1741488"/>
            <a:chOff x="3728285" y="3503978"/>
            <a:chExt cx="3794271" cy="1740709"/>
          </a:xfrm>
        </p:grpSpPr>
        <p:sp>
          <p:nvSpPr>
            <p:cNvPr id="9" name="TextBox 8"/>
            <p:cNvSpPr txBox="1"/>
            <p:nvPr/>
          </p:nvSpPr>
          <p:spPr>
            <a:xfrm>
              <a:off x="3728285" y="4291026"/>
              <a:ext cx="3794271" cy="953661"/>
            </a:xfrm>
            <a:prstGeom prst="rect">
              <a:avLst/>
            </a:prstGeom>
            <a:noFill/>
          </p:spPr>
          <p:txBody>
            <a:bodyPr>
              <a:spAutoFit/>
            </a:bodyPr>
            <a:lstStyle/>
            <a:p>
              <a:pPr algn="ctr">
                <a:defRPr/>
              </a:pPr>
              <a:r>
                <a:rPr lang="en-US" sz="2800" dirty="0">
                  <a:latin typeface="+mj-lt"/>
                  <a:ea typeface="Verdana" panose="020B0604030504040204" pitchFamily="34" charset="0"/>
                  <a:cs typeface="Verdana" panose="020B0604030504040204" pitchFamily="34" charset="0"/>
                </a:rPr>
                <a:t>“steals” frames from other processes</a:t>
              </a:r>
            </a:p>
          </p:txBody>
        </p:sp>
        <p:sp>
          <p:nvSpPr>
            <p:cNvPr id="10" name="Curved Down Arrow 9"/>
            <p:cNvSpPr/>
            <p:nvPr/>
          </p:nvSpPr>
          <p:spPr>
            <a:xfrm flipH="1">
              <a:off x="4980871" y="3503978"/>
              <a:ext cx="1289100" cy="731511"/>
            </a:xfrm>
            <a:prstGeom prst="curved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11" name="Right Arrow 10"/>
          <p:cNvSpPr/>
          <p:nvPr/>
        </p:nvSpPr>
        <p:spPr>
          <a:xfrm rot="1506305">
            <a:off x="6319838" y="5238750"/>
            <a:ext cx="1244600" cy="37306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7043738" y="5768975"/>
            <a:ext cx="4257675" cy="954088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2800" dirty="0">
                <a:latin typeface="+mj-lt"/>
                <a:ea typeface="Verdana" panose="020B0604030504040204" pitchFamily="34" charset="0"/>
                <a:cs typeface="Verdana" panose="020B0604030504040204" pitchFamily="34" charset="0"/>
              </a:rPr>
              <a:t>Paging device queue grows</a:t>
            </a:r>
          </a:p>
          <a:p>
            <a:pPr algn="ctr">
              <a:defRPr/>
            </a:pPr>
            <a:r>
              <a:rPr lang="en-US" sz="2800" dirty="0">
                <a:latin typeface="+mj-lt"/>
                <a:ea typeface="Verdana" panose="020B0604030504040204" pitchFamily="34" charset="0"/>
                <a:cs typeface="Verdana" panose="020B0604030504040204" pitchFamily="34" charset="0"/>
              </a:rPr>
              <a:t>Ready queue decreases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9738" y="7412038"/>
            <a:ext cx="4256087" cy="954087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2800" dirty="0">
                <a:latin typeface="+mj-lt"/>
                <a:ea typeface="Verdana" panose="020B0604030504040204" pitchFamily="34" charset="0"/>
                <a:cs typeface="Verdana" panose="020B0604030504040204" pitchFamily="34" charset="0"/>
              </a:rPr>
              <a:t>OS increases degree of multiprogramming</a:t>
            </a:r>
          </a:p>
        </p:txBody>
      </p:sp>
      <p:sp>
        <p:nvSpPr>
          <p:cNvPr id="15" name="Right Arrow 14"/>
          <p:cNvSpPr/>
          <p:nvPr/>
        </p:nvSpPr>
        <p:spPr>
          <a:xfrm rot="1506305">
            <a:off x="9707563" y="6881813"/>
            <a:ext cx="1244600" cy="37306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/>
          </a:p>
        </p:txBody>
      </p:sp>
      <p:sp>
        <p:nvSpPr>
          <p:cNvPr id="16" name="Bent Arrow 15"/>
          <p:cNvSpPr/>
          <p:nvPr/>
        </p:nvSpPr>
        <p:spPr>
          <a:xfrm flipH="1">
            <a:off x="4543425" y="2767013"/>
            <a:ext cx="7777163" cy="4535487"/>
          </a:xfrm>
          <a:prstGeom prst="bentArrow">
            <a:avLst>
              <a:gd name="adj1" fmla="val 4705"/>
              <a:gd name="adj2" fmla="val 4085"/>
              <a:gd name="adj3" fmla="val 6995"/>
              <a:gd name="adj4" fmla="val 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Rectangle 2"/>
          <p:cNvSpPr>
            <a:spLocks noGrp="1" noChangeArrowheads="1"/>
          </p:cNvSpPr>
          <p:nvPr>
            <p:ph type="title"/>
          </p:nvPr>
        </p:nvSpPr>
        <p:spPr>
          <a:xfrm>
            <a:off x="2020888" y="217488"/>
            <a:ext cx="9231312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 dirty="0"/>
              <a:t>Thrashing (Cont.)</a:t>
            </a:r>
            <a:endParaRPr lang="en-US" altLang="en-US" sz="3200" dirty="0"/>
          </a:p>
        </p:txBody>
      </p:sp>
      <p:pic>
        <p:nvPicPr>
          <p:cNvPr id="110595" name="Picture 4" descr="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36800" y="1608138"/>
            <a:ext cx="8904288" cy="5148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18E22FA-A4AC-F141-A2FF-8FEA8DFBB004}" type="slidenum">
              <a:rPr lang="en-US"/>
              <a:pPr>
                <a:defRPr/>
              </a:pPr>
              <a:t>58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2967038" y="7138988"/>
            <a:ext cx="7643812" cy="954087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2800" dirty="0">
                <a:latin typeface="+mj-lt"/>
                <a:ea typeface="Verdana" panose="020B0604030504040204" pitchFamily="34" charset="0"/>
                <a:cs typeface="Verdana" panose="020B0604030504040204" pitchFamily="34" charset="0"/>
              </a:rPr>
              <a:t>Sometimes the OS needs to reduce degree of parallelism to increase CPU utilization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title"/>
          </p:nvPr>
        </p:nvSpPr>
        <p:spPr>
          <a:xfrm>
            <a:off x="2444750" y="252413"/>
            <a:ext cx="9545638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Demand Paging and Thrashing </a:t>
            </a:r>
            <a:endParaRPr lang="en-US" altLang="en-US" sz="3200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012950" y="1446213"/>
            <a:ext cx="9467850" cy="4002087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/>
              <a:t>Why does demand paging work?</a:t>
            </a:r>
            <a:br>
              <a:rPr lang="en-US" altLang="en-US" sz="3150"/>
            </a:br>
            <a:r>
              <a:rPr lang="en-US" altLang="en-US" sz="3150" b="1">
                <a:solidFill>
                  <a:srgbClr val="3366FF"/>
                </a:solidFill>
              </a:rPr>
              <a:t>Locality model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/>
              <a:t>Process migrates from one locality to another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/>
              <a:t>Localities may overlap</a:t>
            </a:r>
          </a:p>
          <a:p>
            <a:pPr lvl="1" eaLnBrk="1" fontAlgn="auto" hangingPunct="1">
              <a:spcAft>
                <a:spcPts val="0"/>
              </a:spcAft>
              <a:buFont typeface="Monotype Sorts" pitchFamily="-84" charset="2"/>
              <a:buNone/>
              <a:defRPr/>
            </a:pPr>
            <a:endParaRPr lang="en-US" altLang="en-US"/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/>
              <a:t>Why does thrashing occur?</a:t>
            </a:r>
            <a:br>
              <a:rPr lang="en-US" altLang="en-US" sz="3150"/>
            </a:br>
            <a:r>
              <a:rPr lang="en-US" altLang="en-US" sz="3150">
                <a:sym typeface="Symbol" panose="05050102010706020507" pitchFamily="18" charset="2"/>
              </a:rPr>
              <a:t> size of locality &gt; total memory size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>
                <a:sym typeface="Symbol" panose="05050102010706020507" pitchFamily="18" charset="2"/>
              </a:rPr>
              <a:t>Limit effects by using local or priority page replacement</a:t>
            </a:r>
            <a:endParaRPr lang="en-US" alt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454F9A2-3B3B-FA40-9D84-A9FAF68EB40D}" type="slidenum">
              <a:rPr lang="en-US"/>
              <a:pPr>
                <a:defRPr/>
              </a:pPr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98" name="Rectangle 2"/>
          <p:cNvSpPr>
            <a:spLocks noGrp="1" noChangeArrowheads="1"/>
          </p:cNvSpPr>
          <p:nvPr>
            <p:ph type="title"/>
          </p:nvPr>
        </p:nvSpPr>
        <p:spPr>
          <a:xfrm>
            <a:off x="2198688" y="166688"/>
            <a:ext cx="10467975" cy="768350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3733"/>
              <a:t>Locality In A Memory-Reference Pattern</a:t>
            </a:r>
          </a:p>
        </p:txBody>
      </p:sp>
      <p:pic>
        <p:nvPicPr>
          <p:cNvPr id="114691" name="Picture 1" descr="9_19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08488" y="1357313"/>
            <a:ext cx="5027612" cy="7210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BAF8C76-3A39-2747-87F1-C8B14B3C93DB}" type="slidenum">
              <a:rPr lang="en-US"/>
              <a:pPr>
                <a:defRPr/>
              </a:pPr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could the OS avoid trashing?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5759D35-99C5-3A48-86D5-31C64F9121F9}" type="slidenum">
              <a:rPr lang="en-US" smtClean="0"/>
              <a:pPr>
                <a:defRPr/>
              </a:pPr>
              <a:t>61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2921" y="2869878"/>
            <a:ext cx="4990157" cy="4990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64726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7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Working-Set Model</a:t>
            </a:r>
          </a:p>
        </p:txBody>
      </p:sp>
      <p:sp>
        <p:nvSpPr>
          <p:cNvPr id="1167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46113" y="4087813"/>
            <a:ext cx="11830050" cy="5003800"/>
          </a:xfrm>
        </p:spPr>
        <p:txBody>
          <a:bodyPr/>
          <a:lstStyle/>
          <a:p>
            <a:r>
              <a:rPr lang="en-US" altLang="en-US" sz="2400" dirty="0">
                <a:sym typeface="Symbol" charset="2"/>
              </a:rPr>
              <a:t>  working-set window  a fixed number of page references </a:t>
            </a:r>
            <a:br>
              <a:rPr lang="en-US" altLang="en-US" sz="2400" dirty="0">
                <a:sym typeface="Symbol" charset="2"/>
              </a:rPr>
            </a:br>
            <a:r>
              <a:rPr lang="en-US" altLang="en-US" sz="2400" dirty="0">
                <a:sym typeface="Symbol" charset="2"/>
              </a:rPr>
              <a:t>Example:  10,000 instructions</a:t>
            </a:r>
          </a:p>
          <a:p>
            <a:r>
              <a:rPr lang="en-US" altLang="en-US" sz="2400" dirty="0" err="1">
                <a:sym typeface="Symbol" charset="2"/>
              </a:rPr>
              <a:t>WSS</a:t>
            </a:r>
            <a:r>
              <a:rPr lang="en-US" altLang="en-US" sz="2400" baseline="-25000" dirty="0" err="1">
                <a:sym typeface="Symbol" charset="2"/>
              </a:rPr>
              <a:t>i</a:t>
            </a:r>
            <a:r>
              <a:rPr lang="en-US" altLang="en-US" sz="2400" dirty="0">
                <a:sym typeface="Symbol" charset="2"/>
              </a:rPr>
              <a:t> (Working Set Size of Process </a:t>
            </a:r>
            <a:r>
              <a:rPr lang="en-US" altLang="en-US" sz="2400" dirty="0" err="1">
                <a:sym typeface="Symbol" charset="2"/>
              </a:rPr>
              <a:t>i</a:t>
            </a:r>
            <a:r>
              <a:rPr lang="en-US" altLang="en-US" sz="2400" dirty="0">
                <a:sym typeface="Symbol" charset="2"/>
              </a:rPr>
              <a:t>) =</a:t>
            </a:r>
            <a:br>
              <a:rPr lang="en-US" altLang="en-US" sz="2400" dirty="0">
                <a:sym typeface="Symbol" charset="2"/>
              </a:rPr>
            </a:br>
            <a:r>
              <a:rPr lang="en-US" altLang="en-US" sz="2400" dirty="0">
                <a:sym typeface="Symbol" charset="2"/>
              </a:rPr>
              <a:t>total number of pages referenced in the most recent  (varies in time)</a:t>
            </a:r>
          </a:p>
          <a:p>
            <a:pPr lvl="1"/>
            <a:r>
              <a:rPr lang="en-US" altLang="en-US" sz="2000" dirty="0">
                <a:sym typeface="Symbol" charset="2"/>
              </a:rPr>
              <a:t>if  too small will not encompass entire locality</a:t>
            </a:r>
          </a:p>
          <a:p>
            <a:pPr lvl="1"/>
            <a:r>
              <a:rPr lang="en-US" altLang="en-US" sz="2000" dirty="0">
                <a:sym typeface="Symbol" charset="2"/>
              </a:rPr>
              <a:t>if  too large will encompass several localities</a:t>
            </a:r>
          </a:p>
          <a:p>
            <a:pPr lvl="1"/>
            <a:r>
              <a:rPr lang="en-US" altLang="en-US" sz="2000" dirty="0">
                <a:sym typeface="Symbol" charset="2"/>
              </a:rPr>
              <a:t>if  =   will encompass entire program</a:t>
            </a:r>
          </a:p>
          <a:p>
            <a:r>
              <a:rPr lang="en-US" altLang="en-US" sz="2400" dirty="0">
                <a:sym typeface="Symbol" charset="2"/>
              </a:rPr>
              <a:t>D (Total demand for frames) =  </a:t>
            </a:r>
            <a:r>
              <a:rPr lang="en-US" altLang="en-US" sz="2400" dirty="0" err="1">
                <a:sym typeface="Symbol" charset="2"/>
              </a:rPr>
              <a:t>WSS</a:t>
            </a:r>
            <a:r>
              <a:rPr lang="en-US" altLang="en-US" sz="2000" dirty="0" err="1">
                <a:sym typeface="Symbol" charset="2"/>
              </a:rPr>
              <a:t>i</a:t>
            </a:r>
            <a:endParaRPr lang="en-US" altLang="en-US" sz="2400" dirty="0">
              <a:sym typeface="Symbol" charset="2"/>
            </a:endParaRPr>
          </a:p>
          <a:p>
            <a:pPr lvl="1"/>
            <a:r>
              <a:rPr lang="en-US" altLang="en-US" sz="2000" dirty="0">
                <a:sym typeface="Symbol" charset="2"/>
              </a:rPr>
              <a:t>Approximation of locality</a:t>
            </a:r>
          </a:p>
          <a:p>
            <a:r>
              <a:rPr lang="en-US" altLang="en-US" sz="2400" dirty="0">
                <a:sym typeface="Symbol" charset="2"/>
              </a:rPr>
              <a:t>if D &gt; available frames m  Thrashing</a:t>
            </a:r>
          </a:p>
          <a:p>
            <a:r>
              <a:rPr lang="en-US" altLang="en-US" sz="2400" dirty="0">
                <a:sym typeface="Symbol" charset="2"/>
              </a:rPr>
              <a:t>Policy if D &gt; m, then suspend or swap out one of the processes 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E7A79CF-DEAF-0543-A5DA-1954120B387E}" type="slidenum">
              <a:rPr lang="en-US" smtClean="0"/>
              <a:pPr>
                <a:defRPr/>
              </a:pPr>
              <a:t>62</a:t>
            </a:fld>
            <a:endParaRPr lang="en-US"/>
          </a:p>
        </p:txBody>
      </p:sp>
      <p:pic>
        <p:nvPicPr>
          <p:cNvPr id="116743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92375" y="1725613"/>
            <a:ext cx="8942388" cy="23828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Rectangle 2"/>
          <p:cNvSpPr txBox="1">
            <a:spLocks noChangeArrowheads="1"/>
          </p:cNvSpPr>
          <p:nvPr/>
        </p:nvSpPr>
        <p:spPr>
          <a:xfrm>
            <a:off x="8851900" y="7046913"/>
            <a:ext cx="3600450" cy="76835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anchor="ctr">
            <a:normAutofit fontScale="90000" lnSpcReduction="10000"/>
          </a:bodyPr>
          <a:lstStyle>
            <a:lvl1pPr algn="l" defTabSz="1028700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9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defTabSz="1028700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900">
                <a:solidFill>
                  <a:schemeClr val="tx1"/>
                </a:solidFill>
                <a:latin typeface="Garamond" panose="02020404030301010803" pitchFamily="18" charset="0"/>
              </a:defRPr>
            </a:lvl2pPr>
            <a:lvl3pPr algn="l" defTabSz="1028700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900">
                <a:solidFill>
                  <a:schemeClr val="tx1"/>
                </a:solidFill>
                <a:latin typeface="Garamond" panose="02020404030301010803" pitchFamily="18" charset="0"/>
              </a:defRPr>
            </a:lvl3pPr>
            <a:lvl4pPr algn="l" defTabSz="1028700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900">
                <a:solidFill>
                  <a:schemeClr val="tx1"/>
                </a:solidFill>
                <a:latin typeface="Garamond" panose="02020404030301010803" pitchFamily="18" charset="0"/>
              </a:defRPr>
            </a:lvl4pPr>
            <a:lvl5pPr algn="l" defTabSz="1028700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900">
                <a:solidFill>
                  <a:schemeClr val="tx1"/>
                </a:solidFill>
                <a:latin typeface="Garamond" panose="02020404030301010803" pitchFamily="18" charset="0"/>
              </a:defRPr>
            </a:lvl5pPr>
            <a:lvl6pPr marL="457200" algn="l" defTabSz="1028700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900">
                <a:solidFill>
                  <a:schemeClr val="tx1"/>
                </a:solidFill>
                <a:latin typeface="Garamond" panose="02020404030301010803" pitchFamily="18" charset="0"/>
              </a:defRPr>
            </a:lvl6pPr>
            <a:lvl7pPr marL="914400" algn="l" defTabSz="1028700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900">
                <a:solidFill>
                  <a:schemeClr val="tx1"/>
                </a:solidFill>
                <a:latin typeface="Garamond" panose="02020404030301010803" pitchFamily="18" charset="0"/>
              </a:defRPr>
            </a:lvl7pPr>
            <a:lvl8pPr marL="1371600" algn="l" defTabSz="1028700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900">
                <a:solidFill>
                  <a:schemeClr val="tx1"/>
                </a:solidFill>
                <a:latin typeface="Garamond" panose="02020404030301010803" pitchFamily="18" charset="0"/>
              </a:defRPr>
            </a:lvl8pPr>
            <a:lvl9pPr marL="1828800" algn="l" defTabSz="1028700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900">
                <a:solidFill>
                  <a:schemeClr val="tx1"/>
                </a:solidFill>
                <a:latin typeface="Garamond" panose="02020404030301010803" pitchFamily="18" charset="0"/>
              </a:defRPr>
            </a:lvl9pPr>
          </a:lstStyle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3000" dirty="0">
                <a:solidFill>
                  <a:srgbClr val="FF0000"/>
                </a:solidFill>
              </a:rPr>
              <a:t>How to keep track of the Working Set?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3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3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3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3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73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70" name="Rectangle 2"/>
          <p:cNvSpPr>
            <a:spLocks noGrp="1" noChangeArrowheads="1"/>
          </p:cNvSpPr>
          <p:nvPr>
            <p:ph type="title"/>
          </p:nvPr>
        </p:nvSpPr>
        <p:spPr>
          <a:xfrm>
            <a:off x="1824038" y="217488"/>
            <a:ext cx="10520362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Page-Fault Frequency</a:t>
            </a:r>
          </a:p>
        </p:txBody>
      </p:sp>
      <p:sp>
        <p:nvSpPr>
          <p:cNvPr id="5837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98663" y="1398588"/>
            <a:ext cx="8804275" cy="2225675"/>
          </a:xfrm>
        </p:spPr>
        <p:txBody>
          <a:bodyPr rtlCol="0">
            <a:normAutofit lnSpcReduction="10000"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/>
              <a:t>More direct approach than WSS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/>
              <a:t>Establish </a:t>
            </a:r>
            <a:r>
              <a:rPr lang="ja-JP" altLang="en-US" sz="3150"/>
              <a:t>“</a:t>
            </a:r>
            <a:r>
              <a:rPr lang="en-US" altLang="ja-JP" sz="3150"/>
              <a:t>acceptable</a:t>
            </a:r>
            <a:r>
              <a:rPr lang="ja-JP" altLang="en-US" sz="3150"/>
              <a:t>”</a:t>
            </a:r>
            <a:r>
              <a:rPr lang="en-US" altLang="ja-JP" sz="3150"/>
              <a:t> </a:t>
            </a:r>
            <a:r>
              <a:rPr lang="en-US" altLang="ja-JP" sz="3150" b="1">
                <a:solidFill>
                  <a:srgbClr val="3366FF"/>
                </a:solidFill>
              </a:rPr>
              <a:t>page-fault frequency </a:t>
            </a:r>
            <a:r>
              <a:rPr lang="en-US" altLang="ja-JP" sz="3150"/>
              <a:t>(</a:t>
            </a:r>
            <a:r>
              <a:rPr lang="en-US" altLang="ja-JP" sz="3150" b="1">
                <a:solidFill>
                  <a:srgbClr val="3366FF"/>
                </a:solidFill>
              </a:rPr>
              <a:t>PFF</a:t>
            </a:r>
            <a:r>
              <a:rPr lang="en-US" altLang="ja-JP" sz="3150"/>
              <a:t>)</a:t>
            </a:r>
            <a:r>
              <a:rPr lang="en-US" altLang="ja-JP" sz="3150" b="1">
                <a:solidFill>
                  <a:srgbClr val="3366FF"/>
                </a:solidFill>
              </a:rPr>
              <a:t> </a:t>
            </a:r>
            <a:r>
              <a:rPr lang="en-US" altLang="ja-JP" sz="3150"/>
              <a:t>rate and use local replacement policy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/>
              <a:t>If actual rate too low, process loses frame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/>
              <a:t>If actual rate too high, process gains frame</a:t>
            </a:r>
          </a:p>
        </p:txBody>
      </p:sp>
      <p:pic>
        <p:nvPicPr>
          <p:cNvPr id="120836" name="Picture 1" descr="9_21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2138" y="3938588"/>
            <a:ext cx="6805612" cy="3940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AEACF5A-D931-774C-B0C1-DB38931D9505}" type="slidenum">
              <a:rPr lang="en-US"/>
              <a:pPr>
                <a:defRPr/>
              </a:pPr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4" name="Title 1"/>
          <p:cNvSpPr>
            <a:spLocks noGrp="1"/>
          </p:cNvSpPr>
          <p:nvPr>
            <p:ph type="title"/>
          </p:nvPr>
        </p:nvSpPr>
        <p:spPr>
          <a:xfrm>
            <a:off x="2179638" y="234950"/>
            <a:ext cx="10972800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Working Sets and Page Fault Rates</a:t>
            </a:r>
          </a:p>
        </p:txBody>
      </p:sp>
      <p:pic>
        <p:nvPicPr>
          <p:cNvPr id="122883" name="Picture 4" descr="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79738" y="2689225"/>
            <a:ext cx="7737475" cy="3525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Rectangle 3"/>
          <p:cNvSpPr txBox="1">
            <a:spLocks noChangeArrowheads="1"/>
          </p:cNvSpPr>
          <p:nvPr/>
        </p:nvSpPr>
        <p:spPr bwMode="auto">
          <a:xfrm>
            <a:off x="1973263" y="1390650"/>
            <a:ext cx="9591675" cy="2762250"/>
          </a:xfrm>
          <a:prstGeom prst="rect">
            <a:avLst/>
          </a:prstGeom>
          <a:noFill/>
          <a:ln>
            <a:noFill/>
          </a:ln>
        </p:spPr>
        <p:txBody>
          <a:bodyPr lIns="121913" tIns="60957" rIns="121913" bIns="60957"/>
          <a:lstStyle>
            <a:lvl1pPr marL="488950" indent="-488950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993300"/>
              </a:buClr>
              <a:buSzPct val="90000"/>
              <a:buFont typeface="Monotype Sorts" charset="0"/>
              <a:buChar char="n"/>
              <a:defRPr kumimoji="1">
                <a:solidFill>
                  <a:schemeClr val="tx1"/>
                </a:solidFill>
                <a:latin typeface="+mn-lt"/>
                <a:ea typeface="ＭＳ Ｐゴシック" charset="-128"/>
                <a:cs typeface="ＭＳ Ｐゴシック" charset="-128"/>
              </a:defRPr>
            </a:lvl1pPr>
            <a:lvl2pPr marL="1060450" indent="-407988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CC6600"/>
              </a:buClr>
              <a:buSzPct val="80000"/>
              <a:buFont typeface="Monotype Sorts" charset="0"/>
              <a:buChar char="l"/>
              <a:defRPr kumimoji="1">
                <a:solidFill>
                  <a:schemeClr val="tx1"/>
                </a:solidFill>
                <a:latin typeface="+mn-lt"/>
                <a:ea typeface="ＭＳ Ｐゴシック" charset="-128"/>
              </a:defRPr>
            </a:lvl2pPr>
            <a:lvl3pPr marL="1550988" indent="-325438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009900"/>
              </a:buClr>
              <a:buSzPct val="75000"/>
              <a:buFont typeface="Webdings" charset="0"/>
              <a:buChar char="4"/>
              <a:defRPr kumimoji="1">
                <a:solidFill>
                  <a:schemeClr val="tx1"/>
                </a:solidFill>
                <a:latin typeface="+mn-lt"/>
                <a:ea typeface="ＭＳ Ｐゴシック" charset="-128"/>
              </a:defRPr>
            </a:lvl3pPr>
            <a:lvl4pPr marL="2039938" indent="-325438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chemeClr val="hlink"/>
              </a:buClr>
              <a:buSzPct val="75000"/>
              <a:buChar char="–"/>
              <a:defRPr kumimoji="1">
                <a:solidFill>
                  <a:schemeClr val="tx1"/>
                </a:solidFill>
                <a:latin typeface="+mn-lt"/>
                <a:ea typeface="ＭＳ Ｐゴシック" charset="-128"/>
              </a:defRPr>
            </a:lvl4pPr>
            <a:lvl5pPr marL="2530475" indent="-325438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ＭＳ Ｐゴシック" charset="-128"/>
              </a:defRPr>
            </a:lvl5pPr>
            <a:lvl6pPr marL="3183912" indent="-326555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ＭＳ Ｐゴシック" charset="-128"/>
              </a:defRPr>
            </a:lvl6pPr>
            <a:lvl7pPr marL="3837022" indent="-326555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ＭＳ Ｐゴシック" charset="-128"/>
              </a:defRPr>
            </a:lvl7pPr>
            <a:lvl8pPr marL="4490133" indent="-326555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ＭＳ Ｐゴシック" charset="-128"/>
              </a:defRPr>
            </a:lvl8pPr>
            <a:lvl9pPr marL="5143243" indent="-326555" algn="l" rtl="0" eaLnBrk="0" fontAlgn="base" hangingPunct="0">
              <a:spcBef>
                <a:spcPct val="35000"/>
              </a:spcBef>
              <a:spcAft>
                <a:spcPct val="0"/>
              </a:spcAft>
              <a:buClr>
                <a:srgbClr val="FF0066"/>
              </a:buClr>
              <a:buSzPct val="75000"/>
              <a:buChar char="»"/>
              <a:defRPr kumimoji="1">
                <a:solidFill>
                  <a:schemeClr val="tx1"/>
                </a:solidFill>
                <a:latin typeface="+mn-lt"/>
                <a:ea typeface="ＭＳ Ｐゴシック" charset="-128"/>
              </a:defRPr>
            </a:lvl9pPr>
          </a:lstStyle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Direct relationship between working set of a process and its page-fault rate</a:t>
            </a:r>
          </a:p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Working set changes over time</a:t>
            </a:r>
          </a:p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Peaks and valleys over time</a:t>
            </a:r>
          </a:p>
          <a:p>
            <a:pPr marL="0" indent="0">
              <a:buFont typeface="Monotype Sorts" charset="0"/>
              <a:buNone/>
              <a:defRPr/>
            </a:pPr>
            <a:endParaRPr lang="en-US" dirty="0">
              <a:ea typeface="ＭＳ Ｐゴシック" charset="0"/>
              <a:cs typeface="ＭＳ Ｐゴシック" charset="0"/>
            </a:endParaRPr>
          </a:p>
        </p:txBody>
      </p:sp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A0C9188-5F16-E34A-B95C-D50CD4256A04}" type="slidenum">
              <a:rPr lang="en-US"/>
              <a:pPr>
                <a:defRPr/>
              </a:pPr>
              <a:t>64</a:t>
            </a:fld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947988" y="6869113"/>
            <a:ext cx="7642225" cy="954087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>
              <a:defRPr/>
            </a:pPr>
            <a:r>
              <a:rPr lang="en-US" sz="2800" dirty="0">
                <a:latin typeface="+mj-lt"/>
                <a:ea typeface="Verdana" panose="020B0604030504040204" pitchFamily="34" charset="0"/>
                <a:cs typeface="Verdana" panose="020B0604030504040204" pitchFamily="34" charset="0"/>
              </a:rPr>
              <a:t>By looking at the Page Fault Rate you can observe the working set variations over time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4950" dirty="0"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Recap / Introduction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Demand Paging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Copy-on-Write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Page Replacement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Allocation of Frames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>
                <a:solidFill>
                  <a:schemeClr val="bg1">
                    <a:lumMod val="65000"/>
                  </a:schemeClr>
                </a:solidFill>
              </a:rPr>
              <a:t>Thrashing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sz="3150" dirty="0"/>
              <a:t>Memory-Mapped files</a:t>
            </a:r>
            <a:r>
              <a:rPr lang="en-US" sz="4000" dirty="0"/>
              <a:t> </a:t>
            </a:r>
            <a:r>
              <a:rPr lang="en-US" sz="3200" dirty="0"/>
              <a:t>[Self-reading]</a:t>
            </a:r>
            <a:endParaRPr lang="en-US" sz="315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B12AD18-1DA5-1B45-AECA-23EE13C094F4}" type="slidenum">
              <a:rPr lang="en-US"/>
              <a:pPr>
                <a:defRPr/>
              </a:pPr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18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234950"/>
            <a:ext cx="10972800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Memory-Mapped Files</a:t>
            </a:r>
          </a:p>
        </p:txBody>
      </p:sp>
      <p:sp>
        <p:nvSpPr>
          <p:cNvPr id="604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955800" y="1441450"/>
            <a:ext cx="9728200" cy="6246813"/>
          </a:xfrm>
        </p:spPr>
        <p:txBody>
          <a:bodyPr rtlCol="0">
            <a:normAutofit fontScale="92500" lnSpcReduction="10000"/>
          </a:bodyPr>
          <a:lstStyle/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Memory-mapped file I/O allows file I/O to be treated as routine memory access by </a:t>
            </a:r>
            <a:r>
              <a:rPr lang="en-US" altLang="en-US" sz="3150" b="1" dirty="0">
                <a:solidFill>
                  <a:srgbClr val="3366FF"/>
                </a:solidFill>
              </a:rPr>
              <a:t>mapping</a:t>
            </a:r>
            <a:r>
              <a:rPr lang="en-US" altLang="en-US" sz="3150" dirty="0">
                <a:solidFill>
                  <a:srgbClr val="3366FF"/>
                </a:solidFill>
              </a:rPr>
              <a:t> </a:t>
            </a:r>
            <a:r>
              <a:rPr lang="en-US" altLang="en-US" sz="3150" dirty="0"/>
              <a:t>a disk block to a page in memory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A file is initially read using demand paging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A page-sized portion of the file is read from the file system into a physical page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Subsequent reads/writes to/from the file are treated as ordinary memory accesses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Simplifies and speeds file access by driving file I/O through memory rather than </a:t>
            </a:r>
            <a:r>
              <a:rPr lang="en-US" altLang="en-US" sz="3150" dirty="0">
                <a:latin typeface="Courier New" panose="02070309020205020404" pitchFamily="49" charset="0"/>
              </a:rPr>
              <a:t>read()</a:t>
            </a:r>
            <a:r>
              <a:rPr lang="en-US" altLang="en-US" sz="3150" b="1" dirty="0">
                <a:latin typeface="Courier New" panose="02070309020205020404" pitchFamily="49" charset="0"/>
              </a:rPr>
              <a:t> </a:t>
            </a:r>
            <a:r>
              <a:rPr lang="en-US" altLang="en-US" sz="3150" dirty="0"/>
              <a:t>and</a:t>
            </a:r>
            <a:r>
              <a:rPr lang="en-US" altLang="en-US" sz="3150" dirty="0">
                <a:latin typeface="Courier New" panose="02070309020205020404" pitchFamily="49" charset="0"/>
              </a:rPr>
              <a:t> write()</a:t>
            </a:r>
            <a:r>
              <a:rPr lang="en-US" altLang="en-US" sz="3150" dirty="0"/>
              <a:t> system calls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Also allows several processes to map the same file allowing the pages in memory to be shared</a:t>
            </a:r>
          </a:p>
          <a:p>
            <a:pPr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sz="3150" dirty="0"/>
              <a:t>But when does written data make it to disk?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Periodically and / or at file </a:t>
            </a:r>
            <a:r>
              <a:rPr lang="en-US" altLang="en-US" dirty="0">
                <a:latin typeface="Courier New" panose="02070309020205020404" pitchFamily="49" charset="0"/>
              </a:rPr>
              <a:t>close()</a:t>
            </a:r>
            <a:r>
              <a:rPr lang="en-US" altLang="en-US" dirty="0"/>
              <a:t> time</a:t>
            </a:r>
          </a:p>
          <a:p>
            <a:pPr lvl="1" eaLnBrk="1" fontAlgn="auto" hangingPunct="1">
              <a:spcAft>
                <a:spcPts val="0"/>
              </a:spcAft>
              <a:buFont typeface="Arial" panose="020B0604020202020204" pitchFamily="34" charset="0"/>
              <a:buChar char="•"/>
              <a:defRPr/>
            </a:pPr>
            <a:r>
              <a:rPr lang="en-US" altLang="en-US" dirty="0"/>
              <a:t>For example, when the pager scans for dirty pages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06C72C-D862-E942-881A-45D1AB4D2EA7}" type="slidenum">
              <a:rPr lang="en-US"/>
              <a:pPr>
                <a:defRPr/>
              </a:pPr>
              <a:t>66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419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6" name="Rectangle 2"/>
          <p:cNvSpPr>
            <a:spLocks noGrp="1" noChangeArrowheads="1"/>
          </p:cNvSpPr>
          <p:nvPr>
            <p:ph type="title"/>
          </p:nvPr>
        </p:nvSpPr>
        <p:spPr>
          <a:xfrm>
            <a:off x="1371600" y="166688"/>
            <a:ext cx="10972800" cy="768350"/>
          </a:xfrm>
        </p:spPr>
        <p:txBody>
          <a:bodyPr rtlCol="0">
            <a:normAutofit fontScale="9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4950"/>
              <a:t>Memory Mapped Files</a:t>
            </a:r>
          </a:p>
        </p:txBody>
      </p:sp>
      <p:pic>
        <p:nvPicPr>
          <p:cNvPr id="129027" name="Picture 1" descr="9_22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06800" y="1563688"/>
            <a:ext cx="6865938" cy="62023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0DEA823-AC3C-FC4F-8EC6-61D51E12392A}" type="slidenum">
              <a:rPr lang="en-US"/>
              <a:pPr>
                <a:defRPr/>
              </a:pPr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90" name="Rectangle 2"/>
          <p:cNvSpPr>
            <a:spLocks noGrp="1" noChangeArrowheads="1"/>
          </p:cNvSpPr>
          <p:nvPr>
            <p:ph type="title"/>
          </p:nvPr>
        </p:nvSpPr>
        <p:spPr>
          <a:xfrm>
            <a:off x="2438400" y="138113"/>
            <a:ext cx="10210800" cy="768350"/>
          </a:xfrm>
        </p:spPr>
        <p:txBody>
          <a:bodyPr rtlCol="0">
            <a:normAutofit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altLang="en-US" sz="3733"/>
              <a:t>Shared Memory via Memory-Mapped I/O</a:t>
            </a:r>
          </a:p>
        </p:txBody>
      </p:sp>
      <p:pic>
        <p:nvPicPr>
          <p:cNvPr id="131075" name="Picture 1" descr="9_23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09888" y="1760538"/>
            <a:ext cx="8094662" cy="3708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1080238-DC30-244F-9582-E1DF7138E547}" type="slidenum">
              <a:rPr lang="en-US"/>
              <a:pPr>
                <a:defRPr/>
              </a:pPr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934F1179-B481-4F9E-BCA3-AFB972070F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3716000" cy="9144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9648810" y="4447822"/>
            <a:ext cx="3703320" cy="42672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04B5EB-F158-4507-90DD-BD23620C7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1995" y="831033"/>
            <a:ext cx="12268185" cy="7477176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719258-743A-A9D0-D530-27D0CE5470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5896" y="1345324"/>
            <a:ext cx="10385336" cy="4722726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 eaLnBrk="1" hangingPunct="1"/>
            <a:r>
              <a:rPr lang="en-US" sz="140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Questions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5919C4-E109-EE05-1DDA-2B11B89A74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5400000">
            <a:off x="-2674620" y="4328160"/>
            <a:ext cx="6305931" cy="487680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l" eaLnBrk="1" hangingPunct="1">
              <a:spcAft>
                <a:spcPts val="600"/>
              </a:spcAft>
              <a:defRPr/>
            </a:pPr>
            <a:r>
              <a:rPr lang="en-US"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rPr>
              <a:t>Operating Systems - Virtual Memory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BD136C-253F-A608-D43A-526FA5785E6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78569" y="7692198"/>
            <a:ext cx="2694457" cy="487680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 eaLnBrk="1" hangingPunct="1">
              <a:spcAft>
                <a:spcPts val="600"/>
              </a:spcAft>
              <a:defRPr/>
            </a:pPr>
            <a:r>
              <a:rPr lang="en-US" sz="1400">
                <a:solidFill>
                  <a:srgbClr val="FFFFFF"/>
                </a:solidFill>
                <a:latin typeface="+mn-lt"/>
                <a:ea typeface="+mn-ea"/>
              </a:rPr>
              <a:t>Vincenzo Gulisano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AF7B11-2698-7B62-36B7-2E9E34F72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95275" y="6516348"/>
            <a:ext cx="1877751" cy="134428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eaLnBrk="1" hangingPunct="1">
              <a:spcAft>
                <a:spcPts val="600"/>
              </a:spcAft>
              <a:defRPr/>
            </a:pPr>
            <a:fld id="{CD65A73B-1BF2-6741-A7C7-88E869CE9B2E}" type="slidenum">
              <a:rPr lang="en-US" sz="8100">
                <a:solidFill>
                  <a:srgbClr val="FFFFFF"/>
                </a:solidFill>
                <a:latin typeface="+mn-lt"/>
                <a:ea typeface="+mn-ea"/>
              </a:rPr>
              <a:pPr eaLnBrk="1" hangingPunct="1">
                <a:spcAft>
                  <a:spcPts val="600"/>
                </a:spcAft>
                <a:defRPr/>
              </a:pPr>
              <a:t>69</a:t>
            </a:fld>
            <a:endParaRPr lang="en-US" sz="8100">
              <a:solidFill>
                <a:srgbClr val="FFFFFF"/>
              </a:solidFill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04170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0AEAE-D9FF-5143-364C-67C0B9D30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fontAlgn="base"/>
            <a:r>
              <a:rPr lang="en-GB" b="1" dirty="0">
                <a:effectLst/>
                <a:latin typeface="inherit"/>
              </a:rPr>
              <a:t>Access to page 3 generates a page fault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0DD50C-B6D7-3E00-0C89-290C212BA8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I agree</a:t>
            </a:r>
          </a:p>
          <a:p>
            <a:pPr marL="514350" indent="-51435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I don't think so...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038DEE3-8CB6-D68D-A475-1EAA033D13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6163" y="2867104"/>
            <a:ext cx="5041432" cy="48952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96BC2F-4D0A-DE42-53FF-63C1B8349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F3635E-C93D-07D9-8966-D9128B2E8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2524A-97FC-3D2E-E50A-9FC4B43348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D65A73B-1BF2-6741-A7C7-88E869CE9B2E}" type="slidenum">
              <a:rPr lang="en-US" smtClean="0"/>
              <a:pPr>
                <a:defRPr/>
              </a:pPr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972522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83EA4-FD3D-55E1-44A7-39101DC1E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fontAlgn="base"/>
            <a:r>
              <a:rPr lang="en-GB" b="1" dirty="0">
                <a:effectLst/>
                <a:latin typeface="inherit"/>
              </a:rPr>
              <a:t>When using Virtual Memory, if there are 4 free frames and a process spans 5 pages...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CC5F87-99EF-F2E9-2A2D-6ABE8AAD5D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The process cannot run</a:t>
            </a:r>
          </a:p>
          <a:p>
            <a:pPr marL="514350" indent="-51435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The process can run</a:t>
            </a:r>
          </a:p>
          <a:p>
            <a:pPr marL="514350" indent="-51435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Whether it can run depends on its concurrent execution</a:t>
            </a:r>
          </a:p>
          <a:p>
            <a:pPr marL="514350" indent="-51435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Whether it can run depends on its parallel execution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701904-E2F6-E4A6-22BA-08F3A4655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487A54-11E4-B095-8B52-2BE4F4265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1B91B1-0798-761F-8D08-FA2138D703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D65A73B-1BF2-6741-A7C7-88E869CE9B2E}" type="slidenum">
              <a:rPr lang="en-US" smtClean="0"/>
              <a:pPr>
                <a:defRPr/>
              </a:pPr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377502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B299F-C552-7697-53DB-1538C98E9F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fontAlgn="base"/>
            <a:r>
              <a:rPr lang="en-GB" b="1" dirty="0">
                <a:effectLst/>
                <a:latin typeface="inherit"/>
              </a:rPr>
              <a:t>Access to pages 3,4,3 and 5 generates ...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F39A7A-5F76-30EC-4A87-B714A4EF30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2 page faults</a:t>
            </a:r>
          </a:p>
          <a:p>
            <a:pPr marL="514350" indent="-51435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4 page faults</a:t>
            </a:r>
          </a:p>
          <a:p>
            <a:pPr marL="514350" indent="-51435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at least 2 page faults</a:t>
            </a:r>
          </a:p>
          <a:p>
            <a:pPr marL="514350" indent="-51435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at least 4 page faults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08C2E9E3-7B52-B76D-69AE-6F3EC1C911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7517" y="2944866"/>
            <a:ext cx="5225508" cy="50739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82AD68-3C1D-5F53-E2ED-71BA12191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Gulisano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79E6A6-6191-1541-6E11-87FB9486F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Operating Systems - Virtual Memory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B11A0B-89D3-667B-E139-F3BC785DF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D65A73B-1BF2-6741-A7C7-88E869CE9B2E}" type="slidenum">
              <a:rPr lang="en-US" smtClean="0"/>
              <a:pPr>
                <a:defRPr/>
              </a:pPr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30289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9B7176-2464-EE9D-C725-457D5A72EB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fontAlgn="base"/>
            <a:r>
              <a:rPr lang="en-GB" b="1" dirty="0">
                <a:effectLst/>
                <a:latin typeface="inherit"/>
              </a:rPr>
              <a:t>If the invalid bit of a frame is set to 1, the page contained in the referenced frame does not belong to the process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0B6747-D304-94ED-3557-3512E7A10F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Correct</a:t>
            </a:r>
          </a:p>
          <a:p>
            <a:pPr marL="514350" indent="-51435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Not correct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32F592-841A-66C5-9806-5345E80407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E06FB9-E587-DFC1-EB71-C04113B63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E"/>
              <a:t>Operating Systems - Virtual Memory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F4421D-39EB-3FA0-C46F-7EAFA2136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73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58723320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AAFE30-100F-6419-EF00-FC8A20B8D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fontAlgn="base"/>
            <a:r>
              <a:rPr lang="en-GB" b="1" dirty="0">
                <a:effectLst/>
                <a:latin typeface="inherit"/>
              </a:rPr>
              <a:t>Having less parallelism can increase CPU utilization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D61E97-854A-C7D5-5C7B-8E5B547B5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Correct</a:t>
            </a:r>
          </a:p>
          <a:p>
            <a:pPr marL="514350" indent="-51435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Not correct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5CA59D-D96D-2D5E-D64B-362CB1E4B3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20ACCB-CCEA-6508-9934-12EB5E0F93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E"/>
              <a:t>Operating Systems - Virtual Memory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85E960-8B6B-A895-0341-11E2B72B6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74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24442973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8650B-3EA9-A7DF-1C03-1D8E756E4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fontAlgn="base"/>
            <a:r>
              <a:rPr lang="en-GB" b="1" dirty="0">
                <a:effectLst/>
                <a:latin typeface="inherit"/>
              </a:rPr>
              <a:t>Having less available frames can reduce the number of page faults</a:t>
            </a:r>
            <a:endParaRPr lang="en-S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4C0826-55E5-A06A-0E50-9B1A116309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Correct</a:t>
            </a:r>
          </a:p>
          <a:p>
            <a:pPr marL="514350" indent="-514350" algn="l" fontAlgn="base">
              <a:buFont typeface="+mj-lt"/>
              <a:buAutoNum type="arabicPeriod"/>
            </a:pPr>
            <a:r>
              <a:rPr lang="en-GB" b="0" i="0" dirty="0">
                <a:solidFill>
                  <a:srgbClr val="333333"/>
                </a:solidFill>
                <a:effectLst/>
                <a:latin typeface="Montserrat" pitchFamily="2" charset="77"/>
              </a:rPr>
              <a:t>Not correct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0F7026-05D7-587B-06E1-04D3FEE90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4C2DDF-95D2-80A7-AB59-8CD7FFE7CD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E"/>
              <a:t>Operating Systems - Virtual Memory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4C9C0E-2EF7-CAB0-3648-5A686D60B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75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372665962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Jake and Finn have a computer whose memory access time is 150 nanoseconds and whose page-fault service time is 5 milliseconds. A process previously run in an operating system without virtual memory was 2 times faster than the same process run by the actualized operating system (the latter having virtual memory). Every how many page accesses are Jake and Finn experiencing a page fault on average? Would buying a new disk able to bring the page-fault service time to 2 milliseconds make the process no more than 1.5 times slower in the new operating system (compared to the previous one)?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91B9E-CBD8-B1E7-D852-9CC138DD3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C77932-10A6-C651-46C1-1DA6032A6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E"/>
              <a:t>Operating Systems - Virtual Memory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BEE512-B29D-2CBD-797A-AF8E809467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76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66598844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the following reference string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and assuming 4 frames are available, find:</a:t>
            </a:r>
          </a:p>
          <a:p>
            <a:pPr lvl="1"/>
            <a:r>
              <a:rPr lang="en-US" dirty="0"/>
              <a:t>The minimum number of page faults we can observe</a:t>
            </a:r>
          </a:p>
          <a:p>
            <a:pPr lvl="1"/>
            <a:r>
              <a:rPr lang="en-US" dirty="0"/>
              <a:t>The extra page faults caused by the FIFO replacement algorithm</a:t>
            </a:r>
          </a:p>
          <a:p>
            <a:pPr lvl="1"/>
            <a:r>
              <a:rPr lang="en-US" dirty="0"/>
              <a:t>The extra page faults caused by the LRU replacement algorithm</a:t>
            </a:r>
            <a:br>
              <a:rPr lang="en-US" dirty="0"/>
            </a:br>
            <a:endParaRPr lang="en-US" dirty="0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063134" y="3559629"/>
          <a:ext cx="7589724" cy="639128"/>
        </p:xfrm>
        <a:graphic>
          <a:graphicData uri="http://schemas.openxmlformats.org/drawingml/2006/table">
            <a:tbl>
              <a:tblPr/>
              <a:tblGrid>
                <a:gridCol w="3299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9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9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99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99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99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2998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998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998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998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2998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2998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29988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29988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9988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2998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29988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329988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29988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329988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329988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329988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329988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</a:tblGrid>
              <a:tr h="631508">
                <a:tc>
                  <a:txBody>
                    <a:bodyPr/>
                    <a:lstStyle/>
                    <a:p>
                      <a:pPr algn="r" fontAlgn="b"/>
                      <a:r>
                        <a:rPr lang="en-US" sz="41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41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41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41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41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41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41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41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4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41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41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41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41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41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41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41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41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41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41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41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41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41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41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41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36271E-2B86-6C3F-F8DF-351813C9E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Vincenzo Gulisano</a:t>
            </a:r>
            <a:endParaRPr lang="en-S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CB5971-2EB4-166E-73F2-F4681C520E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E"/>
              <a:t>Operating Systems - Virtual Memory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F868AC-F455-6E07-F42C-C0E135504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77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10774471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566144" y="3216728"/>
          <a:ext cx="8583717" cy="3228980"/>
        </p:xfrm>
        <a:graphic>
          <a:graphicData uri="http://schemas.openxmlformats.org/drawingml/2006/table">
            <a:tbl>
              <a:tblPr/>
              <a:tblGrid>
                <a:gridCol w="2582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2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82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82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82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582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5827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5827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58271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58271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58271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58271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58271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58271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58271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58271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58271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58271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58271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58271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58271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58271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58271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1321742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1321742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</a:tblGrid>
              <a:tr h="322898"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gridSpan="4"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OPTIMAL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2898"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898"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4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898"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2898"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2898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 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2898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 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 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4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4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2898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 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 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 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 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2898">
                <a:tc gridSpan="5"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Page faults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2898"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8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96FD91-11FE-CCAE-DE6D-A19F42E47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Vincenzo Gulisano</a:t>
            </a:r>
            <a:endParaRPr lang="en-S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24D746-B5E3-B055-0930-B2DE675C8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E"/>
              <a:t>Operating Systems - Virtual Memory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57085E-BBA0-743D-A7F5-AE4960E65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78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22488107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598790" y="3167744"/>
          <a:ext cx="8518433" cy="3228980"/>
        </p:xfrm>
        <a:graphic>
          <a:graphicData uri="http://schemas.openxmlformats.org/drawingml/2006/table">
            <a:tbl>
              <a:tblPr/>
              <a:tblGrid>
                <a:gridCol w="2563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3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3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30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630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563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5630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5630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5630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5630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5630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5630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5630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5630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5630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56307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56307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56307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56307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56307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56307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56307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56307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1311686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1311686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</a:tblGrid>
              <a:tr h="322898"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gridSpan="3"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FIFO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2898"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898"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4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898"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2898"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4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4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4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4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4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4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4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2898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 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2898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 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 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2898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 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 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 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 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2898">
                <a:tc gridSpan="5"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Page faults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2898"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11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800D1F-6547-147A-A14E-C362BB0079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753563-A143-22A4-8F43-487891E636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E"/>
              <a:t>Operating Systems - Virtual Memory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5493A6-8DCA-0B9B-9FD4-286FAD499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79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78108651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635673" y="3375792"/>
          <a:ext cx="8444657" cy="3228980"/>
        </p:xfrm>
        <a:graphic>
          <a:graphicData uri="http://schemas.openxmlformats.org/drawingml/2006/table">
            <a:tbl>
              <a:tblPr/>
              <a:tblGrid>
                <a:gridCol w="2540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40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40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40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40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540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5408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5408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5408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5408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54087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5408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54087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54087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54087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54087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54087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254087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254087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254087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254087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254087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254087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1300328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1300328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</a:tblGrid>
              <a:tr h="322898"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gridSpan="2"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LRU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2898"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2898"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4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2898"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2898"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4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4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4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4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7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2898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 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2898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 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 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2898"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 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 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 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 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3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2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2898">
                <a:tc gridSpan="5">
                  <a:txBody>
                    <a:bodyPr/>
                    <a:lstStyle/>
                    <a:p>
                      <a:pPr algn="l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Page faults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2898"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0</a:t>
                      </a: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endParaRPr lang="en-US" sz="20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14288" marR="14288" marT="14288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charset="0"/>
                        </a:rPr>
                        <a:t>12</a:t>
                      </a:r>
                    </a:p>
                  </a:txBody>
                  <a:tcPr marL="14288" marR="14288" marT="14288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0FBE32-AD2C-0072-CB83-8CF2821366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DC3D92-21FD-47B2-809B-923FA9155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E"/>
              <a:t>Operating Systems - Virtual Memory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754537-685D-5F96-F44E-C0A12F0A07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80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092987357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processes P</a:t>
            </a:r>
            <a:r>
              <a:rPr lang="en-US" baseline="-25000" dirty="0"/>
              <a:t>1</a:t>
            </a:r>
            <a:r>
              <a:rPr lang="en-US" dirty="0"/>
              <a:t>,P</a:t>
            </a:r>
            <a:r>
              <a:rPr lang="en-US" baseline="-25000" dirty="0"/>
              <a:t>2</a:t>
            </a:r>
            <a:r>
              <a:rPr lang="en-US" dirty="0"/>
              <a:t>,P</a:t>
            </a:r>
            <a:r>
              <a:rPr lang="en-US" baseline="-25000" dirty="0"/>
              <a:t>3</a:t>
            </a:r>
            <a:r>
              <a:rPr lang="en-US" dirty="0"/>
              <a:t> and P</a:t>
            </a:r>
            <a:r>
              <a:rPr lang="en-US" baseline="-25000" dirty="0"/>
              <a:t>4</a:t>
            </a:r>
            <a:r>
              <a:rPr lang="en-US" dirty="0"/>
              <a:t> having sizes of 20, 25, 50 and 4 pages and given a total number of frames equal to 80 (10% of which reserved to the OS), compute the number of frames allocated to each process if frames are allocated proportionally to the size of each program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9C803C-BEED-BB2E-0F00-AAEFF08E7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77FED1-1A12-223D-F8BD-DD39E7D7B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E"/>
              <a:t>Operating Systems - Virtual Memory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12AEDB-0CEB-5B2A-EBAF-4C5C47A9C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81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33875677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 a process P has size of 100 bytes. Compute (1) the number of wasted bytes caused by internal fragmentation if the page and frame sizes are set to 2^4 bytes and (2) the size in bits of the page table (assume each frame entry requires 1 byte and that dirty bits are also use to speed the swap out of pages).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FDF551-91D6-118F-4CDF-A8216BDE6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Vincenzo Gulisano</a:t>
            </a:r>
            <a:endParaRPr lang="en-S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F92947-3AB2-6DC9-023F-6A387953E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SE"/>
              <a:t>Operating Systems - Virtual Memory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6941ED-C325-25FF-A8BF-30E333FE68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79AA98-1CDB-B74D-913E-0EAC104F29A0}" type="slidenum">
              <a:rPr lang="en-SE" smtClean="0"/>
              <a:t>82</a:t>
            </a:fld>
            <a:endParaRPr lang="en-SE"/>
          </a:p>
        </p:txBody>
      </p:sp>
    </p:spTree>
    <p:extLst>
      <p:ext uri="{BB962C8B-B14F-4D97-AF65-F5344CB8AC3E}">
        <p14:creationId xmlns:p14="http://schemas.microsoft.com/office/powerpoint/2010/main" val="188728430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4|0.2|0.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4|0.2|0.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4|0.2|0.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2|0.2|0.2|0.6|0.4|0.2|0.2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42.7|36.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1">
      <a:majorFont>
        <a:latin typeface="Garamond"/>
        <a:ea typeface=""/>
        <a:cs typeface=""/>
      </a:majorFont>
      <a:minorFont>
        <a:latin typeface="Garamond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6586</TotalTime>
  <Words>5421</Words>
  <Application>Microsoft Macintosh PowerPoint</Application>
  <PresentationFormat>Custom</PresentationFormat>
  <Paragraphs>1351</Paragraphs>
  <Slides>82</Slides>
  <Notes>63</Notes>
  <HiddenSlides>0</HiddenSlides>
  <MMClips>0</MMClips>
  <ScaleCrop>false</ScaleCrop>
  <HeadingPairs>
    <vt:vector size="8" baseType="variant">
      <vt:variant>
        <vt:lpstr>Fonts Used</vt:lpstr>
      </vt:variant>
      <vt:variant>
        <vt:i4>15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100" baseType="lpstr">
      <vt:lpstr>ＭＳ Ｐゴシック</vt:lpstr>
      <vt:lpstr>ＭＳ Ｐゴシック</vt:lpstr>
      <vt:lpstr>Arial</vt:lpstr>
      <vt:lpstr>Calibri</vt:lpstr>
      <vt:lpstr>Calibri Light</vt:lpstr>
      <vt:lpstr>Courier New</vt:lpstr>
      <vt:lpstr>Garamond</vt:lpstr>
      <vt:lpstr>Helvetica</vt:lpstr>
      <vt:lpstr>inherit</vt:lpstr>
      <vt:lpstr>Monotype Sorts</vt:lpstr>
      <vt:lpstr>Montserrat</vt:lpstr>
      <vt:lpstr>Symbol</vt:lpstr>
      <vt:lpstr>Times New Roman</vt:lpstr>
      <vt:lpstr>Verdana</vt:lpstr>
      <vt:lpstr>Wingdings</vt:lpstr>
      <vt:lpstr>Office Theme</vt:lpstr>
      <vt:lpstr>1_Office Theme</vt:lpstr>
      <vt:lpstr>Equation</vt:lpstr>
      <vt:lpstr>PowerPoint Presentation</vt:lpstr>
      <vt:lpstr>Reading instructions</vt:lpstr>
      <vt:lpstr>Objectives</vt:lpstr>
      <vt:lpstr>Agenda</vt:lpstr>
      <vt:lpstr>Agenda</vt:lpstr>
      <vt:lpstr>… we discussed paging!</vt:lpstr>
      <vt:lpstr>The intuition behind Virtual Memory</vt:lpstr>
      <vt:lpstr>The intuition behind Virtual Memory</vt:lpstr>
      <vt:lpstr>The intuition behind Virtual Memory</vt:lpstr>
      <vt:lpstr>Virtual Memory in a Nutshell (i)</vt:lpstr>
      <vt:lpstr>Virtual Memory in a Nutshell (ii)</vt:lpstr>
      <vt:lpstr>Agenda</vt:lpstr>
      <vt:lpstr>Demand Paging</vt:lpstr>
      <vt:lpstr>Basic Concepts</vt:lpstr>
      <vt:lpstr>Valid-Invalid Bit</vt:lpstr>
      <vt:lpstr>Page Table When Some Pages Are Not in Main Memory</vt:lpstr>
      <vt:lpstr>Page Fault</vt:lpstr>
      <vt:lpstr>Steps in Handling a Page Fault</vt:lpstr>
      <vt:lpstr>Aspects of Demand Paging</vt:lpstr>
      <vt:lpstr>Performance of Demand Paging</vt:lpstr>
      <vt:lpstr>Performance of Demand Paging (Cont.)</vt:lpstr>
      <vt:lpstr>Agenda</vt:lpstr>
      <vt:lpstr>Copy-on-Write</vt:lpstr>
      <vt:lpstr>Before Process 1 Modifies Page C</vt:lpstr>
      <vt:lpstr>After Process 1 Modifies Page C</vt:lpstr>
      <vt:lpstr>PowerPoint Presentation</vt:lpstr>
      <vt:lpstr>Agenda</vt:lpstr>
      <vt:lpstr>Suppose we end up in a situation like the following one</vt:lpstr>
      <vt:lpstr>Page and Frame Replacement Algorithms</vt:lpstr>
      <vt:lpstr>Page Replacement</vt:lpstr>
      <vt:lpstr>Basic Page Replacement</vt:lpstr>
      <vt:lpstr>Page replacement algorithms</vt:lpstr>
      <vt:lpstr>Page Replacement</vt:lpstr>
      <vt:lpstr>How to evaluate a page replacement algorithm?</vt:lpstr>
      <vt:lpstr>What do we expect?  (Graph of Page Faults Versus The Number of Frames)</vt:lpstr>
      <vt:lpstr>First-In-First-Out (FIFO) Algorithm</vt:lpstr>
      <vt:lpstr>First-In-First-Out (FIFO) Algorithm</vt:lpstr>
      <vt:lpstr>First-In-First-Out (FIFO) Algorithm</vt:lpstr>
      <vt:lpstr>First-In-First-Out (FIFO) Algorithm</vt:lpstr>
      <vt:lpstr>First-In-First-Out (FIFO) Algorithm</vt:lpstr>
      <vt:lpstr>First-In-First-Out (FIFO) Algorithm</vt:lpstr>
      <vt:lpstr>FIFO Illustrating Belady’s Anomaly</vt:lpstr>
      <vt:lpstr>Optimal Algorithm</vt:lpstr>
      <vt:lpstr>Least Recently Used (LRU) Algorithm</vt:lpstr>
      <vt:lpstr>LRU Algorithm (Cont.)</vt:lpstr>
      <vt:lpstr>Use Of A Stack to Record Most Recent Page References</vt:lpstr>
      <vt:lpstr>LRU Approximation Algorithms</vt:lpstr>
      <vt:lpstr>Second-Chance (clock) Page-Replacement Algorithm</vt:lpstr>
      <vt:lpstr>Agenda</vt:lpstr>
      <vt:lpstr>Page and Frame Replacement Algorithms</vt:lpstr>
      <vt:lpstr>Allocation of Frames</vt:lpstr>
      <vt:lpstr>Fixed Allocation</vt:lpstr>
      <vt:lpstr>Priority Allocation</vt:lpstr>
      <vt:lpstr>Global vs. Local Allocation</vt:lpstr>
      <vt:lpstr>Agenda</vt:lpstr>
      <vt:lpstr>Thrashing</vt:lpstr>
      <vt:lpstr>Thrashing (cont.)</vt:lpstr>
      <vt:lpstr>Thrashing (Cont.)</vt:lpstr>
      <vt:lpstr>Demand Paging and Thrashing </vt:lpstr>
      <vt:lpstr>Locality In A Memory-Reference Pattern</vt:lpstr>
      <vt:lpstr>How could the OS avoid trashing?</vt:lpstr>
      <vt:lpstr>Working-Set Model</vt:lpstr>
      <vt:lpstr>Page-Fault Frequency</vt:lpstr>
      <vt:lpstr>Working Sets and Page Fault Rates</vt:lpstr>
      <vt:lpstr>Agenda</vt:lpstr>
      <vt:lpstr>Memory-Mapped Files</vt:lpstr>
      <vt:lpstr>Memory Mapped Files</vt:lpstr>
      <vt:lpstr>Shared Memory via Memory-Mapped I/O</vt:lpstr>
      <vt:lpstr>Questions</vt:lpstr>
      <vt:lpstr>Access to page 3 generates a page fault</vt:lpstr>
      <vt:lpstr>When using Virtual Memory, if there are 4 free frames and a process spans 5 pages...</vt:lpstr>
      <vt:lpstr>Access to pages 3,4,3 and 5 generates ...</vt:lpstr>
      <vt:lpstr>If the invalid bit of a frame is set to 1, the page contained in the referenced frame does not belong to the process</vt:lpstr>
      <vt:lpstr>Having less parallelism can increase CPU utilization</vt:lpstr>
      <vt:lpstr>Having less available frames can reduce the number of page faults</vt:lpstr>
      <vt:lpstr>Exercise</vt:lpstr>
      <vt:lpstr>Exercise</vt:lpstr>
      <vt:lpstr>Solution</vt:lpstr>
      <vt:lpstr>Solution</vt:lpstr>
      <vt:lpstr>Solution</vt:lpstr>
      <vt:lpstr>Exercise</vt:lpstr>
      <vt:lpstr>Exercise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Vincenzo Massimiliano Gulisano</cp:lastModifiedBy>
  <cp:revision>60</cp:revision>
  <cp:lastPrinted>2016-12-04T09:07:27Z</cp:lastPrinted>
  <dcterms:created xsi:type="dcterms:W3CDTF">2015-11-23T07:30:25Z</dcterms:created>
  <dcterms:modified xsi:type="dcterms:W3CDTF">2026-07-14T05:50:39Z</dcterms:modified>
</cp:coreProperties>
</file>