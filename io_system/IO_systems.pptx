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63"/>
  </p:notesMasterIdLst>
  <p:handoutMasterIdLst>
    <p:handoutMasterId r:id="rId64"/>
  </p:handoutMasterIdLst>
  <p:sldIdLst>
    <p:sldId id="302" r:id="rId3"/>
    <p:sldId id="323" r:id="rId4"/>
    <p:sldId id="305" r:id="rId5"/>
    <p:sldId id="306" r:id="rId6"/>
    <p:sldId id="257" r:id="rId7"/>
    <p:sldId id="258" r:id="rId8"/>
    <p:sldId id="307" r:id="rId9"/>
    <p:sldId id="259" r:id="rId10"/>
    <p:sldId id="315" r:id="rId11"/>
    <p:sldId id="260" r:id="rId12"/>
    <p:sldId id="261" r:id="rId13"/>
    <p:sldId id="385" r:id="rId14"/>
    <p:sldId id="262" r:id="rId15"/>
    <p:sldId id="318" r:id="rId16"/>
    <p:sldId id="319" r:id="rId17"/>
    <p:sldId id="320" r:id="rId18"/>
    <p:sldId id="263" r:id="rId19"/>
    <p:sldId id="264" r:id="rId20"/>
    <p:sldId id="321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308" r:id="rId33"/>
    <p:sldId id="276" r:id="rId34"/>
    <p:sldId id="277" r:id="rId35"/>
    <p:sldId id="278" r:id="rId36"/>
    <p:sldId id="280" r:id="rId37"/>
    <p:sldId id="281" r:id="rId38"/>
    <p:sldId id="282" r:id="rId39"/>
    <p:sldId id="283" r:id="rId40"/>
    <p:sldId id="316" r:id="rId41"/>
    <p:sldId id="309" r:id="rId42"/>
    <p:sldId id="322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310" r:id="rId51"/>
    <p:sldId id="298" r:id="rId52"/>
    <p:sldId id="299" r:id="rId53"/>
    <p:sldId id="300" r:id="rId54"/>
    <p:sldId id="301" r:id="rId55"/>
    <p:sldId id="384" r:id="rId56"/>
    <p:sldId id="324" r:id="rId57"/>
    <p:sldId id="325" r:id="rId58"/>
    <p:sldId id="326" r:id="rId59"/>
    <p:sldId id="327" r:id="rId60"/>
    <p:sldId id="328" r:id="rId61"/>
    <p:sldId id="329" r:id="rId6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E1DCEC-736E-4146-B9C8-82E11D949273}" v="4" dt="2025-10-13T08:03:32.9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2" autoAdjust="0"/>
    <p:restoredTop sz="77991"/>
  </p:normalViewPr>
  <p:slideViewPr>
    <p:cSldViewPr snapToGrid="0">
      <p:cViewPr varScale="1">
        <p:scale>
          <a:sx n="90" d="100"/>
          <a:sy n="90" d="100"/>
        </p:scale>
        <p:origin x="6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324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handoutMaster" Target="handoutMasters/handout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cenzo Massimiliano Gulisano" userId="887d7398-9e41-4331-abd4-9c23f064ea90" providerId="ADAL" clId="{278DA899-0DB2-614D-954B-FA18ADD79789}"/>
    <pc:docChg chg="modNotesMaster modHandout">
      <pc:chgData name="Vincenzo Massimiliano Gulisano" userId="887d7398-9e41-4331-abd4-9c23f064ea90" providerId="ADAL" clId="{278DA899-0DB2-614D-954B-FA18ADD79789}" dt="2023-10-09T07:24:59.795" v="0"/>
      <pc:docMkLst>
        <pc:docMk/>
      </pc:docMkLst>
    </pc:docChg>
  </pc:docChgLst>
  <pc:docChgLst>
    <pc:chgData name="Vincenzo Massimiliano Gulisano" userId="887d7398-9e41-4331-abd4-9c23f064ea90" providerId="ADAL" clId="{8EA10870-6395-588A-9409-E8E4CA631CF7}"/>
    <pc:docChg chg="addSld modSld modNotesMaster modHandout">
      <pc:chgData name="Vincenzo Massimiliano Gulisano" userId="887d7398-9e41-4331-abd4-9c23f064ea90" providerId="ADAL" clId="{8EA10870-6395-588A-9409-E8E4CA631CF7}" dt="2025-10-13T08:03:56.152" v="28" actId="20577"/>
      <pc:docMkLst>
        <pc:docMk/>
      </pc:docMkLst>
      <pc:sldChg chg="modNotesTx">
        <pc:chgData name="Vincenzo Massimiliano Gulisano" userId="887d7398-9e41-4331-abd4-9c23f064ea90" providerId="ADAL" clId="{8EA10870-6395-588A-9409-E8E4CA631CF7}" dt="2025-10-13T07:46:41.908" v="2" actId="20577"/>
        <pc:sldMkLst>
          <pc:docMk/>
          <pc:sldMk cId="3661173274" sldId="283"/>
        </pc:sldMkLst>
      </pc:sldChg>
      <pc:sldChg chg="modSp add mod modNotesTx">
        <pc:chgData name="Vincenzo Massimiliano Gulisano" userId="887d7398-9e41-4331-abd4-9c23f064ea90" providerId="ADAL" clId="{8EA10870-6395-588A-9409-E8E4CA631CF7}" dt="2025-10-13T08:03:03.113" v="7" actId="20577"/>
        <pc:sldMkLst>
          <pc:docMk/>
          <pc:sldMk cId="1453141290" sldId="324"/>
        </pc:sldMkLst>
        <pc:spChg chg="mod">
          <ac:chgData name="Vincenzo Massimiliano Gulisano" userId="887d7398-9e41-4331-abd4-9c23f064ea90" providerId="ADAL" clId="{8EA10870-6395-588A-9409-E8E4CA631CF7}" dt="2025-10-13T08:03:01.281" v="6" actId="20577"/>
          <ac:spMkLst>
            <pc:docMk/>
            <pc:sldMk cId="1453141290" sldId="324"/>
            <ac:spMk id="3" creationId="{A4574319-AA25-7783-9AFB-A29E81BBC9C1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10.312" v="11" actId="20577"/>
        <pc:sldMkLst>
          <pc:docMk/>
          <pc:sldMk cId="773867488" sldId="325"/>
        </pc:sldMkLst>
        <pc:spChg chg="mod">
          <ac:chgData name="Vincenzo Massimiliano Gulisano" userId="887d7398-9e41-4331-abd4-9c23f064ea90" providerId="ADAL" clId="{8EA10870-6395-588A-9409-E8E4CA631CF7}" dt="2025-10-13T08:03:10.312" v="11" actId="20577"/>
          <ac:spMkLst>
            <pc:docMk/>
            <pc:sldMk cId="773867488" sldId="325"/>
            <ac:spMk id="3" creationId="{FA1448A4-27B1-2884-F6C4-E9A4B8B972BA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17.624" v="15" actId="20577"/>
        <pc:sldMkLst>
          <pc:docMk/>
          <pc:sldMk cId="3173020286" sldId="326"/>
        </pc:sldMkLst>
        <pc:spChg chg="mod">
          <ac:chgData name="Vincenzo Massimiliano Gulisano" userId="887d7398-9e41-4331-abd4-9c23f064ea90" providerId="ADAL" clId="{8EA10870-6395-588A-9409-E8E4CA631CF7}" dt="2025-10-13T08:03:17.624" v="15" actId="20577"/>
          <ac:spMkLst>
            <pc:docMk/>
            <pc:sldMk cId="3173020286" sldId="326"/>
            <ac:spMk id="3" creationId="{1CE62D1D-3A46-B6F2-E971-14561A54B801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50.198" v="24" actId="20577"/>
        <pc:sldMkLst>
          <pc:docMk/>
          <pc:sldMk cId="7896548" sldId="327"/>
        </pc:sldMkLst>
        <pc:spChg chg="mod">
          <ac:chgData name="Vincenzo Massimiliano Gulisano" userId="887d7398-9e41-4331-abd4-9c23f064ea90" providerId="ADAL" clId="{8EA10870-6395-588A-9409-E8E4CA631CF7}" dt="2025-10-13T08:03:49.350" v="23" actId="20577"/>
          <ac:spMkLst>
            <pc:docMk/>
            <pc:sldMk cId="7896548" sldId="327"/>
            <ac:spMk id="3" creationId="{C68C93D8-114B-4117-A6BC-D8F88336A569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42.516" v="20" actId="20577"/>
        <pc:sldMkLst>
          <pc:docMk/>
          <pc:sldMk cId="1751795206" sldId="328"/>
        </pc:sldMkLst>
        <pc:spChg chg="mod">
          <ac:chgData name="Vincenzo Massimiliano Gulisano" userId="887d7398-9e41-4331-abd4-9c23f064ea90" providerId="ADAL" clId="{8EA10870-6395-588A-9409-E8E4CA631CF7}" dt="2025-10-13T08:03:38.642" v="19" actId="20577"/>
          <ac:spMkLst>
            <pc:docMk/>
            <pc:sldMk cId="1751795206" sldId="328"/>
            <ac:spMk id="3" creationId="{5959449E-BE45-ACE6-73A7-2D0A2360574F}"/>
          </ac:spMkLst>
        </pc:spChg>
      </pc:sldChg>
      <pc:sldChg chg="modSp add mod modNotesTx">
        <pc:chgData name="Vincenzo Massimiliano Gulisano" userId="887d7398-9e41-4331-abd4-9c23f064ea90" providerId="ADAL" clId="{8EA10870-6395-588A-9409-E8E4CA631CF7}" dt="2025-10-13T08:03:56.152" v="28" actId="20577"/>
        <pc:sldMkLst>
          <pc:docMk/>
          <pc:sldMk cId="2343368484" sldId="329"/>
        </pc:sldMkLst>
        <pc:spChg chg="mod">
          <ac:chgData name="Vincenzo Massimiliano Gulisano" userId="887d7398-9e41-4331-abd4-9c23f064ea90" providerId="ADAL" clId="{8EA10870-6395-588A-9409-E8E4CA631CF7}" dt="2025-10-13T08:03:55.098" v="27" actId="20577"/>
          <ac:spMkLst>
            <pc:docMk/>
            <pc:sldMk cId="2343368484" sldId="329"/>
            <ac:spMk id="3" creationId="{1A28C155-E36D-B89A-6CBB-12B31996889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79C21-12B7-3A4F-86C2-E0BBB4150F80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819E1-B577-D543-BFBC-AACD96A7D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098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89A5D-C583-4B96-9043-CDF5AF33BA28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1F744-5855-45B1-BDAC-69209E929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64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12813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757A2C-8941-40A3-B23F-9B6C8A580B0A}" type="slidenum">
              <a:rPr lang="en-US" altLang="en-US" smtClean="0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59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E0ABF5-7690-4623-B971-046A51D617C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68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challenge is how to control</a:t>
            </a:r>
            <a:r>
              <a:rPr lang="en-US" baseline="0" dirty="0"/>
              <a:t> devices, since we have completely different types (each with different functions)</a:t>
            </a:r>
          </a:p>
          <a:p>
            <a:r>
              <a:rPr lang="en-US" baseline="0" dirty="0"/>
              <a:t>On one hand, we would like to increase standardization, on the other we have increasing types of devices</a:t>
            </a:r>
          </a:p>
          <a:p>
            <a:r>
              <a:rPr lang="en-US" baseline="0" dirty="0"/>
              <a:t>In order to deal with different details / oddities the OS uses device drivers.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7633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have different types of hardware (now let’s focus on a</a:t>
            </a:r>
            <a:r>
              <a:rPr lang="en-US" baseline="0" dirty="0"/>
              <a:t> standard computer…) we have storage devices (disks) / Transmission devices (network cards) and human-interface devices (screen / keyboard / mouse).</a:t>
            </a:r>
          </a:p>
          <a:p>
            <a:r>
              <a:rPr lang="en-US" baseline="0" dirty="0"/>
              <a:t>All of them exchange information sending signals (cable or air). So, the question is: how do they communicate?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45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introduce some common concepts. We have ports (the physical connection), we</a:t>
            </a:r>
            <a:r>
              <a:rPr lang="en-US" baseline="0" dirty="0"/>
              <a:t> have bus (the communication channel). Notice that a set of devices plugged one on top of the other can also act as a bus, in this case we call it daisy chain.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509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looking at the bus, we actually have different types of buses (PCI and expansion buses) and interfaces to specific types of devices (Controllers)</a:t>
            </a:r>
          </a:p>
          <a:p>
            <a:endParaRPr lang="en-US" dirty="0"/>
          </a:p>
          <a:p>
            <a:r>
              <a:rPr lang="en-US" dirty="0"/>
              <a:t>PCI : Peripheral Component Interconnect</a:t>
            </a:r>
          </a:p>
          <a:p>
            <a:r>
              <a:rPr lang="en-US" dirty="0"/>
              <a:t>SCSI: Small Computer System Interface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this is how it actually</a:t>
            </a:r>
            <a:r>
              <a:rPr lang="en-US" baseline="0" dirty="0"/>
              <a:t> looks, you see we have controllers, we have the PCI bus and the expansion bus</a:t>
            </a:r>
            <a:endParaRPr lang="en-US" dirty="0"/>
          </a:p>
          <a:p>
            <a:endParaRPr lang="en-US" dirty="0"/>
          </a:p>
          <a:p>
            <a:r>
              <a:rPr lang="en-US" dirty="0"/>
              <a:t>IDE Integrated Drive Electronics</a:t>
            </a:r>
          </a:p>
          <a:p>
            <a:r>
              <a:rPr lang="en-US" dirty="0"/>
              <a:t>Say again each controller is a “small computer”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451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b="1" dirty="0"/>
              <a:t>SoC — System on a Chip:</a:t>
            </a:r>
            <a:r>
              <a:rPr lang="en-US" dirty="0"/>
              <a:t> A chip that integrates CPU cores with other components that were traditionally separate, such as the memory controller, PCIe controller, integrated GPU, and sometimes additional I/O controllers. In the figure, “CPU / SoC” means that a modern processor often contains much more than only CPU cores.</a:t>
            </a:r>
          </a:p>
          <a:p>
            <a:pPr lvl="0"/>
            <a:r>
              <a:rPr lang="en-US" b="1" dirty="0" err="1"/>
              <a:t>NVMe</a:t>
            </a:r>
            <a:r>
              <a:rPr lang="en-US" b="1" dirty="0"/>
              <a:t> — Non-Volatile Memory Express:</a:t>
            </a:r>
            <a:r>
              <a:rPr lang="en-US" dirty="0"/>
              <a:t> A protocol designed for communicating with fast solid-state storage over PCI Express. The </a:t>
            </a:r>
            <a:r>
              <a:rPr lang="en-US" b="1" dirty="0" err="1"/>
              <a:t>NVMe</a:t>
            </a:r>
            <a:r>
              <a:rPr lang="en-US" b="1" dirty="0"/>
              <a:t> SSD</a:t>
            </a:r>
            <a:r>
              <a:rPr lang="en-US" dirty="0"/>
              <a:t> in the figure connects directly to the processor using four PCIe lanes (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PCIe ×4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928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suppose the CPU wants to talk with the disk, how can they do this?</a:t>
            </a:r>
          </a:p>
          <a:p>
            <a:endParaRPr lang="en-US" dirty="0"/>
          </a:p>
          <a:p>
            <a:r>
              <a:rPr lang="en-US" dirty="0"/>
              <a:t>One way for the CPU is to use the registers of the controller, the CPU talks directly with the controller</a:t>
            </a:r>
          </a:p>
          <a:p>
            <a:endParaRPr lang="en-US" dirty="0"/>
          </a:p>
          <a:p>
            <a:r>
              <a:rPr lang="en-US" dirty="0"/>
              <a:t>The second one is to agree with the disk that a certain portion</a:t>
            </a:r>
            <a:r>
              <a:rPr lang="en-US" baseline="0" dirty="0"/>
              <a:t> of memory is reserved for the disk, and dedicated hardware can take care of sharing information.</a:t>
            </a:r>
          </a:p>
          <a:p>
            <a:endParaRPr lang="en-US" baseline="0" dirty="0"/>
          </a:p>
          <a:p>
            <a:r>
              <a:rPr lang="en-US" baseline="0" dirty="0"/>
              <a:t>Of course, we can have hybrid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65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CLARIFY WE DO NOT REALLY WRITE TO MEMORY, STUFF GETS REDIRETED, BUT THOSE ADDRESSES ARE GONE!!!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762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graphic controller example makes more sense before, then we can put the addresses…</a:t>
            </a:r>
          </a:p>
          <a:p>
            <a:endParaRPr lang="en-US" dirty="0"/>
          </a:p>
          <a:p>
            <a:r>
              <a:rPr lang="en-US" dirty="0"/>
              <a:t>When the CPU decides</a:t>
            </a:r>
            <a:r>
              <a:rPr lang="en-US" baseline="0" dirty="0"/>
              <a:t> to write/read registers from devices / controllers there are fixed addresses representing fixed devices.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8260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I/O</a:t>
            </a:r>
            <a:r>
              <a:rPr lang="en-US" baseline="0" dirty="0"/>
              <a:t> port usually consists of different registers: in / out / status and control</a:t>
            </a:r>
          </a:p>
          <a:p>
            <a:r>
              <a:rPr lang="en-US" baseline="0" dirty="0"/>
              <a:t>For example…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78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822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let’s say the</a:t>
            </a:r>
            <a:r>
              <a:rPr lang="en-US" baseline="0" dirty="0"/>
              <a:t> CPU wants to coordinate with a certain device and we can use the registers of the device (directly or memory-mapped).</a:t>
            </a:r>
          </a:p>
          <a:p>
            <a:r>
              <a:rPr lang="en-US" baseline="0" dirty="0"/>
              <a:t>How can we interact with the device?</a:t>
            </a:r>
          </a:p>
          <a:p>
            <a:endParaRPr lang="en-US" baseline="0" dirty="0"/>
          </a:p>
          <a:p>
            <a:r>
              <a:rPr lang="en-US" baseline="0" dirty="0"/>
              <a:t>You should be familiar with the interrupt model, but there can be different ways in which we can do this, the first one is polling.</a:t>
            </a:r>
          </a:p>
          <a:p>
            <a:r>
              <a:rPr lang="en-US" baseline="0" dirty="0"/>
              <a:t>On one hand, the CPU can be actively checking if a device can be used (or is finished) on the other hand, it can wait for an interrupt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9004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 dictionary</a:t>
            </a:r>
            <a:r>
              <a:rPr lang="en-US" baseline="0" dirty="0"/>
              <a:t> about interrupts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688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once mentioned, it</a:t>
            </a:r>
            <a:r>
              <a:rPr lang="en-US" baseline="0" dirty="0"/>
              <a:t> might not be a good idea if the CPU gets interrupted continuously. For this reason, we actually have 2 types of interrupts (2 different lines)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935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 can see in the processor-defined ones we have some interrupts we should be familiar with at this point</a:t>
            </a:r>
            <a:r>
              <a:rPr lang="en-US" baseline="0" dirty="0"/>
              <a:t> (like page fault for instance)</a:t>
            </a:r>
          </a:p>
          <a:p>
            <a:endParaRPr lang="en-US" baseline="0" dirty="0"/>
          </a:p>
          <a:p>
            <a:r>
              <a:rPr lang="en-US" baseline="0" dirty="0"/>
              <a:t>Example of maskable is mouse click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5748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/>
              <a:t>The OS interacts with the interrupt mechanism in several ways. 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How do we load the routines</a:t>
            </a:r>
            <a:r>
              <a:rPr lang="en-US" baseline="0" dirty="0"/>
              <a:t> for the different interrupts?</a:t>
            </a:r>
          </a:p>
          <a:p>
            <a:r>
              <a:rPr lang="en-US" baseline="0" dirty="0"/>
              <a:t>For instance at boot time…</a:t>
            </a:r>
          </a:p>
          <a:p>
            <a:endParaRPr lang="en-US" baseline="0" dirty="0"/>
          </a:p>
          <a:p>
            <a:r>
              <a:rPr lang="en-US" baseline="0" dirty="0"/>
              <a:t>UP TO HERE FOR KAHOOT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214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mentioned, we can have Direct Memory Access</a:t>
            </a:r>
            <a:r>
              <a:rPr lang="en-US" baseline="0" dirty="0"/>
              <a:t> and this is also a way of reducing the interrupts that could “disturb” the CPU.</a:t>
            </a:r>
          </a:p>
          <a:p>
            <a:r>
              <a:rPr lang="en-US" baseline="0" dirty="0"/>
              <a:t>We can have dedicated hardware that “talks/interacts” with certain types of devices (the ones that usually transfer considerable amount of data)</a:t>
            </a:r>
          </a:p>
          <a:p>
            <a:endParaRPr lang="en-US" dirty="0"/>
          </a:p>
          <a:p>
            <a:r>
              <a:rPr lang="en-US" dirty="0"/>
              <a:t>Then, CPU writes address of the command block to the DMA controller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561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the important thing is that this is done without the CPU (Once the CPU has configured the transfer).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3468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is it challenging?</a:t>
            </a:r>
          </a:p>
          <a:p>
            <a:r>
              <a:rPr lang="en-US" dirty="0"/>
              <a:t>Because we have</a:t>
            </a:r>
            <a:r>
              <a:rPr lang="en-US" baseline="0" dirty="0"/>
              <a:t> a lot of different dimensions for each device</a:t>
            </a:r>
          </a:p>
          <a:p>
            <a:endParaRPr lang="en-US" baseline="0" dirty="0"/>
          </a:p>
          <a:p>
            <a:r>
              <a:rPr lang="en-US" baseline="0" dirty="0"/>
              <a:t>Let’s have a look at different interfaces we can have depending on the behavior / type of device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687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device will implement read write seek as it likes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385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about system calls that can be provided by the OS</a:t>
            </a:r>
          </a:p>
          <a:p>
            <a:endParaRPr lang="en-US" dirty="0"/>
          </a:p>
          <a:p>
            <a:r>
              <a:rPr lang="en-US" dirty="0"/>
              <a:t>The difference lies in </a:t>
            </a:r>
            <a:r>
              <a:rPr lang="en-US" b="1" dirty="0"/>
              <a:t>how the kernel and process interact</a:t>
            </a:r>
            <a:r>
              <a:rPr lang="en-US" dirty="0"/>
              <a:t> during I/O operations — specifically </a:t>
            </a:r>
            <a:r>
              <a:rPr lang="en-US" i="1" dirty="0"/>
              <a:t>when</a:t>
            </a:r>
            <a:r>
              <a:rPr lang="en-US" dirty="0"/>
              <a:t> the process is allowed to continue execution relative to the I/O completion.</a:t>
            </a:r>
          </a:p>
          <a:p>
            <a:r>
              <a:rPr lang="en-US" dirty="0"/>
              <a:t>Here’s a concise breakdown:</a:t>
            </a:r>
          </a:p>
          <a:p>
            <a:r>
              <a:rPr lang="en-US" dirty="0"/>
              <a:t>Type Description Process behavior Example </a:t>
            </a:r>
            <a:r>
              <a:rPr lang="en-US" b="1" dirty="0"/>
              <a:t>Blocking I/O</a:t>
            </a:r>
            <a:r>
              <a:rPr lang="en-US" dirty="0"/>
              <a:t> The system call does </a:t>
            </a:r>
            <a:r>
              <a:rPr lang="en-US" b="1" dirty="0"/>
              <a:t>not return</a:t>
            </a:r>
            <a:r>
              <a:rPr lang="en-US" dirty="0"/>
              <a:t> until the I/O operation is fully complete. The process is </a:t>
            </a:r>
            <a:r>
              <a:rPr lang="en-US" b="1" dirty="0"/>
              <a:t>put to sleep</a:t>
            </a:r>
            <a:r>
              <a:rPr lang="en-US" dirty="0"/>
              <a:t> and </a:t>
            </a:r>
            <a:r>
              <a:rPr lang="en-US" b="1" dirty="0"/>
              <a:t>cannot run</a:t>
            </a:r>
            <a:r>
              <a:rPr lang="en-US" dirty="0"/>
              <a:t> until the data is ready or written.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buf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n)</a:t>
            </a:r>
            <a:r>
              <a:rPr lang="en-US" dirty="0"/>
              <a:t> on a regular file — the process blocks until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</a:t>
            </a:r>
            <a:r>
              <a:rPr lang="en-US" dirty="0"/>
              <a:t> bytes are read. </a:t>
            </a:r>
            <a:r>
              <a:rPr lang="en-US" b="1" dirty="0"/>
              <a:t>Nonblocking I/O</a:t>
            </a:r>
            <a:r>
              <a:rPr lang="en-US" dirty="0"/>
              <a:t> The system call </a:t>
            </a:r>
            <a:r>
              <a:rPr lang="en-US" b="1" dirty="0"/>
              <a:t>returns immediately</a:t>
            </a:r>
            <a:r>
              <a:rPr lang="en-US" dirty="0"/>
              <a:t>, even if the I/O cannot proceed. The process continues executing; it must </a:t>
            </a:r>
            <a:r>
              <a:rPr lang="en-US" b="1" dirty="0"/>
              <a:t>poll</a:t>
            </a:r>
            <a:r>
              <a:rPr lang="en-US" dirty="0"/>
              <a:t> or retry later to see if the I/O is done. Setting a socket to nonblocking 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fcntl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F_SETFL, O_NONBLOCK)</a:t>
            </a:r>
            <a:r>
              <a:rPr lang="en-US" dirty="0"/>
              <a:t>)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read()</a:t>
            </a:r>
            <a:r>
              <a:rPr lang="en-US" dirty="0"/>
              <a:t> returns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EAGAIN</a:t>
            </a:r>
            <a:r>
              <a:rPr lang="en-US" dirty="0"/>
              <a:t> if no data yet. </a:t>
            </a:r>
            <a:r>
              <a:rPr lang="en-US" b="1" dirty="0"/>
              <a:t>Asynchronous I/O (AIO)</a:t>
            </a:r>
            <a:r>
              <a:rPr lang="en-US" dirty="0"/>
              <a:t> The system call </a:t>
            </a:r>
            <a:r>
              <a:rPr lang="en-US" b="1" dirty="0"/>
              <a:t>initiates</a:t>
            </a:r>
            <a:r>
              <a:rPr lang="en-US" dirty="0"/>
              <a:t> the I/O and </a:t>
            </a:r>
            <a:r>
              <a:rPr lang="en-US" b="1" dirty="0"/>
              <a:t>returns immediately</a:t>
            </a:r>
            <a:r>
              <a:rPr lang="en-US" dirty="0"/>
              <a:t>. The kernel performs the I/O in the background and </a:t>
            </a:r>
            <a:r>
              <a:rPr lang="en-US" b="1" dirty="0"/>
              <a:t>notifies</a:t>
            </a:r>
            <a:r>
              <a:rPr lang="en-US" dirty="0"/>
              <a:t> the process upon completion (via signal, callback, or event). The process does not need to poll; it’s </a:t>
            </a:r>
            <a:r>
              <a:rPr lang="en-US" b="1" dirty="0"/>
              <a:t>notified</a:t>
            </a:r>
            <a:r>
              <a:rPr lang="en-US" dirty="0"/>
              <a:t> when I/O completes. POSIX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aio_read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en-US" dirty="0"/>
              <a:t>, Linux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io_uring</a:t>
            </a:r>
            <a:r>
              <a:rPr lang="en-US" dirty="0"/>
              <a:t>, Windows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OVERLAPPED I/O</a:t>
            </a:r>
            <a:r>
              <a:rPr lang="en-US" dirty="0"/>
              <a:t>. </a:t>
            </a:r>
          </a:p>
          <a:p>
            <a:r>
              <a:rPr lang="en-US" b="1" dirty="0"/>
              <a:t>Summary:</a:t>
            </a:r>
            <a:endParaRPr lang="en-US" dirty="0"/>
          </a:p>
          <a:p>
            <a:r>
              <a:rPr lang="en-US" b="1" dirty="0"/>
              <a:t>Blocking:</a:t>
            </a:r>
            <a:r>
              <a:rPr lang="en-US" dirty="0"/>
              <a:t> process </a:t>
            </a:r>
            <a:r>
              <a:rPr lang="en-US" i="1" dirty="0"/>
              <a:t>waits</a:t>
            </a:r>
            <a:r>
              <a:rPr lang="en-US" dirty="0"/>
              <a:t> for completion.</a:t>
            </a:r>
          </a:p>
          <a:p>
            <a:r>
              <a:rPr lang="en-US" b="1" dirty="0"/>
              <a:t>Nonblocking:</a:t>
            </a:r>
            <a:r>
              <a:rPr lang="en-US" dirty="0"/>
              <a:t> process </a:t>
            </a:r>
            <a:r>
              <a:rPr lang="en-US" i="1" dirty="0"/>
              <a:t>checks</a:t>
            </a:r>
            <a:r>
              <a:rPr lang="en-US" dirty="0"/>
              <a:t> repeatedly.</a:t>
            </a:r>
          </a:p>
          <a:p>
            <a:r>
              <a:rPr lang="en-US" b="1" dirty="0"/>
              <a:t>Asynchronous:</a:t>
            </a:r>
            <a:r>
              <a:rPr lang="en-US" dirty="0"/>
              <a:t> kernel </a:t>
            </a:r>
            <a:r>
              <a:rPr lang="en-US" i="1" dirty="0"/>
              <a:t>notifies</a:t>
            </a:r>
            <a:r>
              <a:rPr lang="en-US" dirty="0"/>
              <a:t> when done.</a:t>
            </a:r>
          </a:p>
          <a:p>
            <a:r>
              <a:rPr lang="en-US" dirty="0"/>
              <a:t>In short: </a:t>
            </a:r>
            <a:r>
              <a:rPr lang="en-US" i="1" dirty="0"/>
              <a:t>blocking waits, nonblocking polls, asynchronous is event-driven.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40142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920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say that this should</a:t>
            </a:r>
            <a:r>
              <a:rPr lang="en-US" baseline="0" dirty="0"/>
              <a:t> sound familiar…</a:t>
            </a:r>
          </a:p>
          <a:p>
            <a:endParaRPr lang="en-US" baseline="0" dirty="0"/>
          </a:p>
          <a:p>
            <a:r>
              <a:rPr lang="en-US" baseline="0" dirty="0"/>
              <a:t>This is familiar, </a:t>
            </a:r>
            <a:r>
              <a:rPr lang="en-US" baseline="0" dirty="0" err="1"/>
              <a:t>priviledged</a:t>
            </a:r>
            <a:r>
              <a:rPr lang="en-US" baseline="0" dirty="0"/>
              <a:t> instructions are something related to I/O too… for protection / fairness and also for performance (indirectly)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6972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what happens</a:t>
            </a:r>
            <a:r>
              <a:rPr lang="en-US" baseline="0" dirty="0"/>
              <a:t> if you find a bug in the hardware</a:t>
            </a:r>
          </a:p>
          <a:p>
            <a:endParaRPr lang="en-US" baseline="0" dirty="0"/>
          </a:p>
          <a:p>
            <a:r>
              <a:rPr lang="en-US" baseline="0" dirty="0"/>
              <a:t>We can start with application code and then go into lower and lower levels… although it will always take more time and become more challenging (and dangerous in case of errors)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58025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and 2, depends on the interpretation of the question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3809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955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  <a:p>
            <a:endParaRPr lang="en-US" dirty="0"/>
          </a:p>
          <a:p>
            <a:r>
              <a:rPr lang="en-US" dirty="0"/>
              <a:t>The answer in the notes (“Yes”) is not unconditionally correct. On one CPU, two handlers cannot literally execute in parallel. On a multicore system, the same reentrant handler code may execute concurrently on different CPUs using separate stacks/state.</a:t>
            </a:r>
          </a:p>
          <a:p>
            <a:endParaRPr lang="en-US" dirty="0"/>
          </a:p>
          <a:p>
            <a:r>
              <a:rPr lang="en-US" dirty="0"/>
              <a:t>NOTE: THE QUESTION ASK PARALLEL! CONCURRENTLY IS DIFFERENT (AND THEY CAN)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1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  <a:p>
            <a:endParaRPr lang="en-US" dirty="0"/>
          </a:p>
          <a:p>
            <a:r>
              <a:rPr lang="en-US" dirty="0"/>
              <a:t>The intended answer is 1, but option 2 can also be true in a system that polls for DMA completion instead of using an interrupt.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7912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3483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</a:t>
            </a:r>
          </a:p>
          <a:p>
            <a:endParaRPr lang="en-US" dirty="0"/>
          </a:p>
          <a:p>
            <a:r>
              <a:rPr lang="en-US" dirty="0"/>
              <a:t>NOTICE THIS IS A SIMPLIFICATION, THERE CAN BE TWO REQUESTS FROM THE SAME PROCESS, SO JUST 1 PCB IS NOT ENOUGH, WE ARE SIMPLIFYING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81F744-5855-45B1-BDAC-69209E9295D1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2374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795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3873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8013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5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03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606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5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19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58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62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2044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685800"/>
            <a:ext cx="10363200" cy="2127250"/>
          </a:xfrm>
        </p:spPr>
        <p:txBody>
          <a:bodyPr/>
          <a:lstStyle>
            <a:lvl1pPr>
              <a:defRPr sz="4067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2581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883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61F404-6CD8-4E2D-B082-239AD8D30C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3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Operating Systems - File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0AC437-A1D8-4781-B86C-407FA400F1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30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tiff"/><Relationship Id="rId3" Type="http://schemas.openxmlformats.org/officeDocument/2006/relationships/image" Target="../media/image5.jpeg"/><Relationship Id="rId7" Type="http://schemas.openxmlformats.org/officeDocument/2006/relationships/image" Target="../media/image10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tiff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9" Type="http://schemas.openxmlformats.org/officeDocument/2006/relationships/image" Target="../media/image12.tif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if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iff"/><Relationship Id="rId5" Type="http://schemas.openxmlformats.org/officeDocument/2006/relationships/image" Target="../media/image17.tiff"/><Relationship Id="rId4" Type="http://schemas.openxmlformats.org/officeDocument/2006/relationships/image" Target="../media/image16.tif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tiff"/><Relationship Id="rId3" Type="http://schemas.openxmlformats.org/officeDocument/2006/relationships/image" Target="../media/image11.tiff"/><Relationship Id="rId7" Type="http://schemas.openxmlformats.org/officeDocument/2006/relationships/image" Target="../media/image18.tif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iff"/><Relationship Id="rId5" Type="http://schemas.openxmlformats.org/officeDocument/2006/relationships/image" Target="../media/image16.tiff"/><Relationship Id="rId4" Type="http://schemas.openxmlformats.org/officeDocument/2006/relationships/image" Target="../media/image15.tif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iff"/><Relationship Id="rId2" Type="http://schemas.openxmlformats.org/officeDocument/2006/relationships/image" Target="../media/image11.tif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if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2593975" y="1647827"/>
            <a:ext cx="6908800" cy="1890183"/>
          </a:xfrm>
          <a:prstGeom prst="rect">
            <a:avLst/>
          </a:prstGeom>
        </p:spPr>
        <p:txBody>
          <a:bodyPr lIns="81280" tIns="40640" rIns="81280" bIns="40640" anchor="ctr">
            <a:normAutofit fontScale="90000" lnSpcReduction="100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3556" dirty="0"/>
              <a:t>I/O Systems</a:t>
            </a:r>
            <a:br>
              <a:rPr lang="en-US" altLang="en-US" sz="3556" dirty="0"/>
            </a:br>
            <a:r>
              <a:rPr lang="en-US" altLang="en-US" sz="3556" dirty="0"/>
              <a:t>Operating Systems – EDA093/DIT401</a:t>
            </a:r>
            <a:br>
              <a:rPr lang="en-US" altLang="en-US" sz="3822" dirty="0"/>
            </a:br>
            <a:br>
              <a:rPr lang="en-US" altLang="en-US" sz="3822" dirty="0"/>
            </a:br>
            <a:r>
              <a:rPr lang="en-US" altLang="en-US" sz="2845" dirty="0"/>
              <a:t>Vincenzo Gulisano</a:t>
            </a:r>
            <a:br>
              <a:rPr lang="en-US" altLang="en-US" sz="2845" dirty="0"/>
            </a:br>
            <a:r>
              <a:rPr lang="en-US" altLang="en-US" sz="1778" dirty="0"/>
              <a:t>vincenzo.gulisano@chalmers.se</a:t>
            </a:r>
            <a:endParaRPr lang="en-US" altLang="en-US" sz="24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5FEA471-7A83-7CD5-E161-18F7BC3EE465}"/>
              </a:ext>
            </a:extLst>
          </p:cNvPr>
          <p:cNvGrpSpPr/>
          <p:nvPr/>
        </p:nvGrpSpPr>
        <p:grpSpPr>
          <a:xfrm>
            <a:off x="2543614" y="4770324"/>
            <a:ext cx="7104771" cy="1547400"/>
            <a:chOff x="777241" y="4793437"/>
            <a:chExt cx="7104771" cy="15474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EF8E1B1-496A-5664-77D8-4FF2470059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3022" y="4793437"/>
              <a:ext cx="2078990" cy="154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C518B0F-512E-37B4-20E5-4060D3A5F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7241" y="4973870"/>
              <a:ext cx="4724632" cy="11865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82579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dirty="0"/>
              <a:t>Reading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228600" lvl="1">
              <a:spcBef>
                <a:spcPts val="1000"/>
              </a:spcBef>
              <a:defRPr/>
            </a:pPr>
            <a:r>
              <a:rPr lang="en-US" altLang="en-US" sz="2400" dirty="0"/>
              <a:t>Chapter 5.1 to 5.3</a:t>
            </a:r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D4570F-528B-41C8-95DC-75649D9B5A34}" type="slidenum">
              <a:rPr lang="en-US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228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I/O Hardware</a:t>
            </a:r>
          </a:p>
          <a:p>
            <a:r>
              <a:rPr lang="en-US" dirty="0"/>
              <a:t>Application I/O Interface</a:t>
            </a:r>
          </a:p>
          <a:p>
            <a:r>
              <a:rPr lang="en-US" dirty="0"/>
              <a:t>Kernel I/O Subsystem</a:t>
            </a:r>
          </a:p>
          <a:p>
            <a:r>
              <a:rPr lang="en-US" dirty="0"/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21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12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 jobs of a computer: I/O &amp; processing.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Role of OS</a:t>
            </a:r>
            <a:r>
              <a:rPr lang="en-US" dirty="0"/>
              <a:t>: manage &amp; control I/O operations &amp; I/O devices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OBJECTIVES:</a:t>
            </a:r>
          </a:p>
          <a:p>
            <a:r>
              <a:rPr lang="en-US" dirty="0"/>
              <a:t>Explore the structure of an OS’s I/O subsystem</a:t>
            </a:r>
          </a:p>
          <a:p>
            <a:r>
              <a:rPr lang="en-US" dirty="0"/>
              <a:t>Describe the principles and complexities of I/O hardware</a:t>
            </a:r>
          </a:p>
          <a:p>
            <a:r>
              <a:rPr lang="en-US" dirty="0"/>
              <a:t>Explain performance aspects of I/O hardware and software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94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63054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I/O challenge: control the devices in a given architecture as effectively as possible </a:t>
            </a:r>
          </a:p>
          <a:p>
            <a:pPr marL="0" indent="0">
              <a:buNone/>
            </a:pPr>
            <a:r>
              <a:rPr lang="en-US" sz="2400" b="1" dirty="0"/>
              <a:t>Why is it a challenge?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Variability</a:t>
            </a:r>
            <a:r>
              <a:rPr lang="en-US" sz="2400" dirty="0"/>
              <a:t> of I/O devices (in their function &amp; speed)</a:t>
            </a:r>
          </a:p>
          <a:p>
            <a:pPr marL="457200" lvl="1" indent="0">
              <a:buNone/>
            </a:pPr>
            <a:r>
              <a:rPr lang="en-US" dirty="0"/>
              <a:t>Varied methods are needed to control them.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Software and hardware interfaces are becoming more standardized, while the variety of devices continues to increase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Different details &amp; oddities of devices </a:t>
            </a:r>
          </a:p>
          <a:p>
            <a:pPr marL="0" indent="0">
              <a:buNone/>
            </a:pPr>
            <a:r>
              <a:rPr lang="en-US" sz="2400" b="1" dirty="0"/>
              <a:t>How does the OS address the challenge?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dirty="0"/>
              <a:t>dedicated I/O subsystem in the kernel</a:t>
            </a:r>
          </a:p>
          <a:p>
            <a:pPr marL="342900" lvl="1" indent="-342900">
              <a:spcBef>
                <a:spcPts val="1000"/>
              </a:spcBef>
            </a:pPr>
            <a:r>
              <a:rPr lang="en-US" b="1" dirty="0"/>
              <a:t>device drivers</a:t>
            </a:r>
            <a:r>
              <a:rPr lang="en-US" dirty="0"/>
              <a:t> that provide a </a:t>
            </a:r>
            <a:r>
              <a:rPr lang="en-US" b="1" dirty="0"/>
              <a:t>device access</a:t>
            </a:r>
            <a:r>
              <a:rPr lang="en-US" dirty="0"/>
              <a:t> interface to the I/O subsystem</a:t>
            </a:r>
          </a:p>
          <a:p>
            <a:pPr marL="0" indent="0">
              <a:buNone/>
            </a:pPr>
            <a:endParaRPr 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3823023" y="210062"/>
            <a:ext cx="8102150" cy="1480626"/>
            <a:chOff x="3823023" y="210062"/>
            <a:chExt cx="8102150" cy="1480626"/>
          </a:xfrm>
        </p:grpSpPr>
        <p:pic>
          <p:nvPicPr>
            <p:cNvPr id="1026" name="Picture 2" descr="http://cdn.hdwallpaperspics.com/uploads/2012/11/computer-mouse.jpg"/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82360" y="658572"/>
              <a:ext cx="1014219" cy="6761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http://codekeyboards.com/galleria/9.jp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23023" y="482257"/>
              <a:ext cx="3021578" cy="10287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upload.wikimedia.org/wikipedia/commons/e/e6/Hard_disk_Western_Digital_WD1000_1_%28dark1%29.jpg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7347" y="398919"/>
              <a:ext cx="1499368" cy="11121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http://lifesflightplan.files.wordpress.com/2011/11/extended-wing-flaps.jpg?w=500&amp;h=346"/>
            <p:cNvPicPr>
              <a:picLocks noChangeAspect="1" noChangeArrowheads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91706" y="210062"/>
              <a:ext cx="2133467" cy="1480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504857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/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42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7724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We have different types of hardware usually available in a computer:</a:t>
            </a:r>
          </a:p>
          <a:p>
            <a:r>
              <a:rPr lang="en-US" dirty="0"/>
              <a:t>Storage devices (disks)</a:t>
            </a:r>
          </a:p>
          <a:p>
            <a:r>
              <a:rPr lang="en-US" dirty="0"/>
              <a:t>Transmission devices (network cards)</a:t>
            </a:r>
          </a:p>
          <a:p>
            <a:r>
              <a:rPr lang="en-US" dirty="0"/>
              <a:t>Human-interface devices (screen, keyboard, mouse)</a:t>
            </a:r>
          </a:p>
          <a:p>
            <a:pPr marL="0" indent="0">
              <a:buNone/>
            </a:pPr>
            <a:r>
              <a:rPr lang="en-US" dirty="0"/>
              <a:t>All of them exchange information by sending signals (via cable or air)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do they communicate with the CPU, then?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8</a:t>
            </a:fld>
            <a:endParaRPr lang="en-US"/>
          </a:p>
        </p:txBody>
      </p:sp>
      <p:pic>
        <p:nvPicPr>
          <p:cNvPr id="9" name="Picture 6" descr="http://upload.wikimedia.org/wikipedia/commons/e/e6/Hard_disk_Western_Digital_WD1000_1_%28dark1%29.jpg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610600" y="1027906"/>
            <a:ext cx="1499368" cy="1112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8" name="Group 27"/>
          <p:cNvGrpSpPr/>
          <p:nvPr/>
        </p:nvGrpSpPr>
        <p:grpSpPr>
          <a:xfrm>
            <a:off x="10025036" y="3081130"/>
            <a:ext cx="2166964" cy="1349751"/>
            <a:chOff x="10025036" y="3081130"/>
            <a:chExt cx="2166964" cy="1349751"/>
          </a:xfrm>
        </p:grpSpPr>
        <p:pic>
          <p:nvPicPr>
            <p:cNvPr id="10" name="Picture 2" descr="http://cdn.hdwallpaperspics.com/uploads/2012/11/computer-mouse.jpg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08518" y="3818930"/>
              <a:ext cx="917926" cy="611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4" descr="http://codekeyboards.com/galleria/9.jpg"/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25036" y="3081130"/>
              <a:ext cx="2166964" cy="737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4204" y="2513521"/>
            <a:ext cx="1503570" cy="936509"/>
          </a:xfrm>
          <a:prstGeom prst="rect">
            <a:avLst/>
          </a:prstGeom>
        </p:spPr>
      </p:pic>
      <p:grpSp>
        <p:nvGrpSpPr>
          <p:cNvPr id="29" name="Group 28"/>
          <p:cNvGrpSpPr/>
          <p:nvPr/>
        </p:nvGrpSpPr>
        <p:grpSpPr>
          <a:xfrm>
            <a:off x="0" y="2258713"/>
            <a:ext cx="10979593" cy="4394591"/>
            <a:chOff x="0" y="2258713"/>
            <a:chExt cx="10979593" cy="439459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0" y="5471898"/>
              <a:ext cx="884452" cy="884452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610600" y="5160732"/>
              <a:ext cx="2245404" cy="1492572"/>
            </a:xfrm>
            <a:prstGeom prst="rect">
              <a:avLst/>
            </a:prstGeom>
          </p:spPr>
        </p:pic>
        <p:cxnSp>
          <p:nvCxnSpPr>
            <p:cNvPr id="15" name="Straight Connector 14"/>
            <p:cNvCxnSpPr/>
            <p:nvPr/>
          </p:nvCxnSpPr>
          <p:spPr>
            <a:xfrm>
              <a:off x="8766313" y="3687417"/>
              <a:ext cx="341461" cy="1473315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9312565" y="2258713"/>
              <a:ext cx="195957" cy="2665381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H="1">
              <a:off x="9909379" y="3925957"/>
              <a:ext cx="669357" cy="1166604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10557107" y="4543344"/>
              <a:ext cx="422486" cy="761501"/>
            </a:xfrm>
            <a:prstGeom prst="line">
              <a:avLst/>
            </a:prstGeom>
            <a:ln w="38100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803272" y="3818930"/>
              <a:ext cx="1567788" cy="15531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9790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Common concepts:</a:t>
            </a:r>
          </a:p>
          <a:p>
            <a:r>
              <a:rPr lang="en-US" b="1" dirty="0"/>
              <a:t>Port</a:t>
            </a:r>
            <a:r>
              <a:rPr lang="en-US" dirty="0"/>
              <a:t>: the connection point (e.g., serial port)</a:t>
            </a:r>
          </a:p>
          <a:p>
            <a:r>
              <a:rPr lang="en-US" b="1" dirty="0"/>
              <a:t>Bus</a:t>
            </a:r>
            <a:r>
              <a:rPr lang="en-US" dirty="0"/>
              <a:t>: a set of wires &amp; a protocol that specifies a set of messages that can be sent on the wires.</a:t>
            </a:r>
          </a:p>
          <a:p>
            <a:pPr lvl="1"/>
            <a:r>
              <a:rPr lang="en-US" dirty="0"/>
              <a:t>Messages conveyed by patterns of electrical voltages with different timings.</a:t>
            </a:r>
          </a:p>
          <a:p>
            <a:pPr lvl="1"/>
            <a:r>
              <a:rPr lang="en-US" dirty="0"/>
              <a:t>Buses vary in signaling methods, speed, throughput &amp; connection methods.</a:t>
            </a:r>
          </a:p>
          <a:p>
            <a:r>
              <a:rPr lang="en-US" dirty="0"/>
              <a:t>When device A connects to device B and device B connects to device C... We say A,B,C,… form a </a:t>
            </a:r>
            <a:r>
              <a:rPr lang="en-US" b="1" dirty="0"/>
              <a:t>daisy chain</a:t>
            </a:r>
          </a:p>
          <a:p>
            <a:pPr lvl="1"/>
            <a:r>
              <a:rPr lang="en-US" dirty="0"/>
              <a:t>In some systems, daisy-chained devices share a bus or pass bus signals from one device to the next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532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PC bus structure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Important concepts:</a:t>
            </a:r>
          </a:p>
          <a:p>
            <a:r>
              <a:rPr lang="en-US" b="1" dirty="0"/>
              <a:t>PCI bus</a:t>
            </a:r>
            <a:r>
              <a:rPr lang="en-US" dirty="0"/>
              <a:t>: connects the processor-memory subsystem to the fast devices.</a:t>
            </a:r>
          </a:p>
          <a:p>
            <a:r>
              <a:rPr lang="en-US" b="1" dirty="0"/>
              <a:t>Expansion bus</a:t>
            </a:r>
            <a:r>
              <a:rPr lang="en-US" dirty="0"/>
              <a:t>: connects relatively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slow devices</a:t>
            </a:r>
            <a:r>
              <a:rPr lang="en-US" dirty="0"/>
              <a:t>.</a:t>
            </a:r>
          </a:p>
          <a:p>
            <a:r>
              <a:rPr lang="en-US" b="1" dirty="0"/>
              <a:t>Controller</a:t>
            </a:r>
            <a:r>
              <a:rPr lang="en-US" dirty="0"/>
              <a:t>: a collection of electronics that can operate a port, a bus or a device.</a:t>
            </a:r>
          </a:p>
          <a:p>
            <a:pPr marL="457200" lvl="1" indent="0">
              <a:buNone/>
            </a:pP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Example 1: Serial-port controller</a:t>
            </a:r>
          </a:p>
          <a:p>
            <a:pPr lvl="1"/>
            <a:r>
              <a:rPr lang="en-US" dirty="0"/>
              <a:t>A single chip (on the host) that controls the signals on the wires of a serial port.</a:t>
            </a:r>
          </a:p>
          <a:p>
            <a:pPr marL="457200" lvl="1" indent="0">
              <a:buNone/>
            </a:pP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Example 2: SCSI controller</a:t>
            </a:r>
          </a:p>
          <a:p>
            <a:pPr lvl="1"/>
            <a:r>
              <a:rPr lang="en-US" dirty="0"/>
              <a:t>It may contain a processor, microcode, and private memory for processing SCSI protocol messages. It may be implemented on an adapter card or integrated into a device or motherboard.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27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0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09749" y="665193"/>
            <a:ext cx="7645977" cy="5224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Example of a legacy PC bus structure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63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7925B-8FF2-4E63-E709-721B37A7E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2D4D6-6B0C-947C-A795-CE5A3EB45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98004-6D2E-DFB0-DEE3-E97E9F059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FB12BA-1105-43C1-6C49-2A81341FA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937" y="369887"/>
            <a:ext cx="5946127" cy="5675313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A2E7A02B-C62C-36A8-F1C7-10E37C1F8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How it looks now</a:t>
            </a:r>
          </a:p>
        </p:txBody>
      </p:sp>
    </p:spTree>
    <p:extLst>
      <p:ext uri="{BB962C8B-B14F-4D97-AF65-F5344CB8AC3E}">
        <p14:creationId xmlns:p14="http://schemas.microsoft.com/office/powerpoint/2010/main" val="3513511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How can the processor give commands &amp; data to a controller to accomplish an I/O transfer?</a:t>
            </a:r>
          </a:p>
          <a:p>
            <a:pPr marL="0" indent="0">
              <a:buNone/>
            </a:pP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r>
              <a:rPr lang="en-US" baseline="30000" dirty="0">
                <a:solidFill>
                  <a:schemeClr val="accent1">
                    <a:lumMod val="50000"/>
                  </a:schemeClr>
                </a:solidFill>
              </a:rPr>
              <a:t>st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Way of Communication</a:t>
            </a:r>
          </a:p>
          <a:p>
            <a:r>
              <a:rPr lang="en-US" dirty="0"/>
              <a:t>Processor reads &amp; writes bit patterns in the controllers’ registers.</a:t>
            </a:r>
          </a:p>
          <a:p>
            <a:pPr lvl="1"/>
            <a:r>
              <a:rPr lang="en-US" dirty="0"/>
              <a:t>Use of special I/O instructions that specify the transfer of a byte or word to an I/O port address.</a:t>
            </a:r>
          </a:p>
          <a:p>
            <a:pPr lvl="1"/>
            <a:r>
              <a:rPr lang="en-US" dirty="0"/>
              <a:t>I/O instruction triggers bus lines to select the proper device &amp; move bits into or out of a device register.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baseline="30000" dirty="0">
                <a:solidFill>
                  <a:schemeClr val="accent1">
                    <a:lumMod val="50000"/>
                  </a:schemeClr>
                </a:solidFill>
              </a:rPr>
              <a:t>nd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Way of Communication: Memory-mapped I/O</a:t>
            </a:r>
          </a:p>
          <a:p>
            <a:r>
              <a:rPr lang="en-US" dirty="0"/>
              <a:t>Device-control registers are mapped into the address space of the processor.</a:t>
            </a:r>
          </a:p>
          <a:p>
            <a:r>
              <a:rPr lang="en-US" dirty="0"/>
              <a:t>CPU executes I/O requests using the standard data transfer instructions to read and write the device-control registers.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sym typeface="Wingdings" panose="05000000000000000000" pitchFamily="2" charset="2"/>
              </a:rPr>
              <a:t> Some systems use both ways of communication.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0858" y="1517700"/>
            <a:ext cx="884452" cy="884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910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/>
              <a:t>Processor reads &amp; writes bit patterns in the controllers’ registers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8" y="2530947"/>
            <a:ext cx="2245404" cy="14925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26772" y="3425936"/>
            <a:ext cx="3054074" cy="20168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400" y="3580019"/>
            <a:ext cx="2369751" cy="15463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1660" y="406502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3784" y="5530231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2605" y="5530231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Disk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9269" y="1480929"/>
            <a:ext cx="1568383" cy="15683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525192" y="173441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2792896" y="2882348"/>
            <a:ext cx="874643" cy="278295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2792896" y="3413136"/>
            <a:ext cx="1848678" cy="836554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0" y="4690937"/>
            <a:ext cx="1354615" cy="1458788"/>
            <a:chOff x="630934" y="4671391"/>
            <a:chExt cx="1354615" cy="1458788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0934" y="4775564"/>
              <a:ext cx="1354615" cy="1354615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1053547" y="4671391"/>
              <a:ext cx="337930" cy="357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101638" y="4502183"/>
            <a:ext cx="392375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 use dedicated I/O instructions and I/O-port addresses to access controller registers; ordinary load/store instructions access memory.</a:t>
            </a:r>
          </a:p>
        </p:txBody>
      </p:sp>
    </p:spTree>
    <p:extLst>
      <p:ext uri="{BB962C8B-B14F-4D97-AF65-F5344CB8AC3E}">
        <p14:creationId xmlns:p14="http://schemas.microsoft.com/office/powerpoint/2010/main" val="488805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Memory-mapped I/O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15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8" y="2530947"/>
            <a:ext cx="2245404" cy="14925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1234" y="2889663"/>
            <a:ext cx="3054074" cy="201684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331" y="3086360"/>
            <a:ext cx="2369751" cy="154636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1660" y="406502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39638" y="2726598"/>
            <a:ext cx="1611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54427" y="4812313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SCSI Disk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4509" y="1347413"/>
            <a:ext cx="1568383" cy="15683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4939" y="1623616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656222" y="3160644"/>
            <a:ext cx="302930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413111" y="3528391"/>
            <a:ext cx="1109905" cy="727809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/>
          <p:cNvGrpSpPr/>
          <p:nvPr/>
        </p:nvGrpSpPr>
        <p:grpSpPr>
          <a:xfrm>
            <a:off x="-26291" y="4671390"/>
            <a:ext cx="1354615" cy="1458788"/>
            <a:chOff x="630934" y="4671391"/>
            <a:chExt cx="1354615" cy="1458788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0934" y="4775564"/>
              <a:ext cx="1354615" cy="1354615"/>
            </a:xfrm>
            <a:prstGeom prst="rect">
              <a:avLst/>
            </a:prstGeom>
          </p:spPr>
        </p:pic>
        <p:sp>
          <p:nvSpPr>
            <p:cNvPr id="22" name="Rectangle 21"/>
            <p:cNvSpPr/>
            <p:nvPr/>
          </p:nvSpPr>
          <p:spPr>
            <a:xfrm>
              <a:off x="1053547" y="4671391"/>
              <a:ext cx="337930" cy="3578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1045606" y="4714206"/>
            <a:ext cx="67613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I want to write a byte to a register of a certain controller I use an ordinary load or store instruction. Address-decoding hardware routes the access to RAM or to a device according to the addressed region.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5175" y="2161229"/>
            <a:ext cx="2257936" cy="2082436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3" idx="3"/>
          </p:cNvCxnSpPr>
          <p:nvPr/>
        </p:nvCxnSpPr>
        <p:spPr>
          <a:xfrm flipV="1">
            <a:off x="5413111" y="2672976"/>
            <a:ext cx="913882" cy="529471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879573" y="415666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motherboard</a:t>
            </a:r>
          </a:p>
        </p:txBody>
      </p:sp>
    </p:spTree>
    <p:extLst>
      <p:ext uri="{BB962C8B-B14F-4D97-AF65-F5344CB8AC3E}">
        <p14:creationId xmlns:p14="http://schemas.microsoft.com/office/powerpoint/2010/main" val="13136263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 of Memory-mapped I/O: graphics controller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0818" y="2530947"/>
            <a:ext cx="2245404" cy="1492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61660" y="4065024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CPU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2656222" y="3160644"/>
            <a:ext cx="302930" cy="0"/>
          </a:xfrm>
          <a:prstGeom prst="straightConnector1">
            <a:avLst/>
          </a:prstGeom>
          <a:ln w="5715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5175" y="2161229"/>
            <a:ext cx="2257936" cy="2082436"/>
          </a:xfrm>
          <a:prstGeom prst="rect">
            <a:avLst/>
          </a:prstGeom>
        </p:spPr>
      </p:pic>
      <p:cxnSp>
        <p:nvCxnSpPr>
          <p:cNvPr id="27" name="Straight Arrow Connector 26"/>
          <p:cNvCxnSpPr>
            <a:stCxn id="3" idx="3"/>
          </p:cNvCxnSpPr>
          <p:nvPr/>
        </p:nvCxnSpPr>
        <p:spPr>
          <a:xfrm>
            <a:off x="5413111" y="3202447"/>
            <a:ext cx="957872" cy="0"/>
          </a:xfrm>
          <a:prstGeom prst="straightConnector1">
            <a:avLst/>
          </a:prstGeom>
          <a:ln w="57150">
            <a:solidFill>
              <a:srgbClr val="FFC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74998" y="5028481"/>
            <a:ext cx="848790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Graphics controller</a:t>
            </a:r>
            <a:r>
              <a:rPr lang="en-US" dirty="0"/>
              <a:t>: has large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memory-mapped</a:t>
            </a:r>
            <a:r>
              <a:rPr lang="en-US" dirty="0"/>
              <a:t> region to hold screen contents.</a:t>
            </a:r>
          </a:p>
          <a:p>
            <a:r>
              <a:rPr lang="en-US" dirty="0"/>
              <a:t>Process </a:t>
            </a:r>
            <a:r>
              <a:rPr lang="en-US" b="1" dirty="0"/>
              <a:t>sends output</a:t>
            </a:r>
            <a:r>
              <a:rPr lang="en-US" dirty="0"/>
              <a:t> to the screen by writing data into the memory-mapped region.</a:t>
            </a:r>
          </a:p>
          <a:p>
            <a:r>
              <a:rPr lang="en-US" dirty="0"/>
              <a:t>Controller generates </a:t>
            </a:r>
            <a:r>
              <a:rPr lang="en-US" b="1" dirty="0"/>
              <a:t>screen image</a:t>
            </a:r>
            <a:r>
              <a:rPr lang="en-US" dirty="0"/>
              <a:t> based on the contents of the memory.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418" y="1926925"/>
            <a:ext cx="2551043" cy="255104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879573" y="4156668"/>
            <a:ext cx="1358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motherboard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19999" y="4164173"/>
            <a:ext cx="1930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Graphics controller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70280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I/O Port Locations on PCs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86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 legacy x86 I/O-port address ranges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99147" y="2517042"/>
            <a:ext cx="5678905" cy="3182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DF88E0-D00D-2169-EFD4-0A77057DBDBA}"/>
              </a:ext>
            </a:extLst>
          </p:cNvPr>
          <p:cNvSpPr txBox="1"/>
          <p:nvPr/>
        </p:nvSpPr>
        <p:spPr>
          <a:xfrm>
            <a:off x="7138985" y="2984993"/>
            <a:ext cx="4833939" cy="224676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800" b="1" dirty="0"/>
              <a:t>A few fixed I/O-port ranges remain for compatibility, but modern devices generally use dynamically assigned memory-mapped I/O regions.</a:t>
            </a:r>
          </a:p>
        </p:txBody>
      </p:sp>
    </p:spTree>
    <p:extLst>
      <p:ext uri="{BB962C8B-B14F-4D97-AF65-F5344CB8AC3E}">
        <p14:creationId xmlns:p14="http://schemas.microsoft.com/office/powerpoint/2010/main" val="2789923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I/O port typically consists of:</a:t>
            </a:r>
          </a:p>
          <a:p>
            <a:r>
              <a:rPr lang="en-US" dirty="0"/>
              <a:t>Data-in register is read by the host to get input (e.g. 1 to 4 bytes in size)</a:t>
            </a:r>
          </a:p>
          <a:p>
            <a:r>
              <a:rPr lang="en-US" dirty="0"/>
              <a:t>Data-out register is written by the host to send output</a:t>
            </a:r>
          </a:p>
          <a:p>
            <a:r>
              <a:rPr lang="en-US" dirty="0"/>
              <a:t>Status register: contains bits that can be read by the host. Indicates states such as:</a:t>
            </a:r>
          </a:p>
          <a:p>
            <a:pPr lvl="1"/>
            <a:r>
              <a:rPr lang="en-US" dirty="0"/>
              <a:t>whether the current command has completed</a:t>
            </a:r>
          </a:p>
          <a:p>
            <a:pPr lvl="1"/>
            <a:r>
              <a:rPr lang="en-US" dirty="0"/>
              <a:t>whether a byte is available to be read</a:t>
            </a:r>
          </a:p>
          <a:p>
            <a:pPr lvl="1"/>
            <a:r>
              <a:rPr lang="en-US" dirty="0"/>
              <a:t>whether a device error has occurred</a:t>
            </a:r>
          </a:p>
          <a:p>
            <a:r>
              <a:rPr lang="en-US" dirty="0"/>
              <a:t>Control register: to start a command or to change the mode of a device.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 1</a:t>
            </a:r>
            <a:r>
              <a:rPr lang="en-US" dirty="0"/>
              <a:t>: a certain bit in the control register of a serial port chooses between full-duplex &amp; half-duplex communication.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Example 2</a:t>
            </a:r>
            <a:r>
              <a:rPr lang="en-US" dirty="0"/>
              <a:t>: another bit sets the word length to 7 or 8 bits. Other bits select one of the speeds supported by the serial port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5526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between host and 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Complete interaction protocol between the host &amp; a controller can be intricate. </a:t>
            </a:r>
          </a:p>
          <a:p>
            <a:endParaRPr lang="en-US" b="1" dirty="0"/>
          </a:p>
          <a:p>
            <a:pPr lvl="1"/>
            <a:r>
              <a:rPr lang="en-US" b="1" dirty="0"/>
              <a:t>busy-waiting / polling: </a:t>
            </a:r>
            <a:r>
              <a:rPr lang="en-US" dirty="0"/>
              <a:t>the host repeatedly reads the controller’s status register until the required condition holds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interrupt:</a:t>
            </a:r>
            <a:r>
              <a:rPr lang="en-US" dirty="0"/>
              <a:t> the controller notifies the CPU of an event such as input availability, operation completion, or an error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188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– Handshaking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/>
              <a:t>2 bits are used to coordinate the producer-consumer relationship between the controller &amp; the host.</a:t>
            </a:r>
          </a:p>
          <a:p>
            <a:pPr lvl="1"/>
            <a:r>
              <a:rPr lang="en-US" dirty="0"/>
              <a:t>Controller indicates its </a:t>
            </a:r>
            <a:r>
              <a:rPr lang="en-US" b="1" dirty="0"/>
              <a:t>state</a:t>
            </a:r>
            <a:r>
              <a:rPr lang="en-US" dirty="0"/>
              <a:t> through 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busy</a:t>
            </a:r>
            <a:r>
              <a:rPr lang="en-US" dirty="0"/>
              <a:t> bit in the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status </a:t>
            </a:r>
            <a:r>
              <a:rPr lang="en-US" dirty="0"/>
              <a:t>register.</a:t>
            </a:r>
          </a:p>
          <a:p>
            <a:pPr lvl="1"/>
            <a:r>
              <a:rPr lang="en-US" dirty="0"/>
              <a:t>Host </a:t>
            </a:r>
            <a:r>
              <a:rPr lang="en-US" b="1" dirty="0"/>
              <a:t>signals</a:t>
            </a:r>
            <a:r>
              <a:rPr lang="en-US" dirty="0"/>
              <a:t> its wishes via the command-ready bit in the command register.</a:t>
            </a:r>
            <a:br>
              <a:rPr lang="en-US" dirty="0"/>
            </a:br>
            <a:r>
              <a:rPr lang="en-US" b="1" dirty="0"/>
              <a:t>Command ready bit</a:t>
            </a:r>
            <a:r>
              <a:rPr lang="en-US" dirty="0"/>
              <a:t>: if it is set, a command is available for the controller</a:t>
            </a:r>
          </a:p>
          <a:p>
            <a:pPr lvl="1"/>
            <a:r>
              <a:rPr lang="en-US" b="1" dirty="0"/>
              <a:t>busy-waiting / polling</a:t>
            </a:r>
            <a:r>
              <a:rPr lang="en-US" dirty="0"/>
              <a:t>: it is a loop, reading the status register over and over until the busy bit becomes clear.</a:t>
            </a:r>
            <a:br>
              <a:rPr lang="en-US" dirty="0"/>
            </a:br>
            <a:r>
              <a:rPr lang="en-US" b="1" dirty="0"/>
              <a:t>Reasonable </a:t>
            </a:r>
            <a:r>
              <a:rPr lang="en-US" dirty="0"/>
              <a:t>when the device and its controller respond quickly</a:t>
            </a:r>
            <a:br>
              <a:rPr lang="en-US" dirty="0"/>
            </a:br>
            <a:r>
              <a:rPr lang="en-US" b="1" dirty="0"/>
              <a:t>Inefficient </a:t>
            </a:r>
            <a:r>
              <a:rPr lang="en-US" dirty="0"/>
              <a:t>when the CPU repeatedly polls while the device remains busy</a:t>
            </a:r>
          </a:p>
          <a:p>
            <a:pPr lvl="1"/>
            <a:r>
              <a:rPr lang="en-US" b="1" dirty="0"/>
              <a:t>In such cases</a:t>
            </a:r>
            <a:r>
              <a:rPr lang="en-US" dirty="0"/>
              <a:t>: hardware controller should notify the CPU when the device becomes </a:t>
            </a:r>
            <a:r>
              <a:rPr lang="en-US" b="1" dirty="0"/>
              <a:t>ready</a:t>
            </a:r>
            <a:r>
              <a:rPr lang="en-US" dirty="0"/>
              <a:t> for service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this hardware mechanism is called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interrupt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29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Basic mechanism (simplified)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interrupt mechanism delivers an interrupt request to the CPU, for example through an interrupt line/controller or a message-signaled interrupt.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CPU senses the interrupt request line after executing every instruction.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If yes, CPU performs a save state &amp; jumps to the interrupt handler routine at a fixed address in memory.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Interrupt handler (IH): What was the cause of the interrupt?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The handler performs the necessary processing, restores the saved state, and executes a return-from-interrupt instruction.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509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79131" y="1201679"/>
            <a:ext cx="5957051" cy="47673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7156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 - Dictionary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device controller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raises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an interrupt</a:t>
            </a:r>
          </a:p>
          <a:p>
            <a:r>
              <a:rPr lang="en-US" dirty="0"/>
              <a:t>....by asserting a signal on the interrupt request line</a:t>
            </a:r>
          </a:p>
          <a:p>
            <a:r>
              <a:rPr lang="en-US" dirty="0"/>
              <a:t>CPU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takes/accepts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the interrupt</a:t>
            </a:r>
          </a:p>
          <a:p>
            <a:r>
              <a:rPr lang="en-US" dirty="0"/>
              <a:t>CPU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dispatches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it to the interrupt handler</a:t>
            </a:r>
          </a:p>
          <a:p>
            <a:r>
              <a:rPr lang="en-US" dirty="0"/>
              <a:t>Handler </a:t>
            </a:r>
            <a:r>
              <a:rPr lang="en-US" u="sng" dirty="0">
                <a:solidFill>
                  <a:schemeClr val="accent1">
                    <a:lumMod val="50000"/>
                  </a:schemeClr>
                </a:solidFill>
              </a:rPr>
              <a:t>clears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/>
              <a:t>the interrupt by servicing the device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46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Sophisticated Interrupt Handling</a:t>
            </a:r>
          </a:p>
          <a:p>
            <a:pPr marL="0" indent="0">
              <a:buNone/>
            </a:pPr>
            <a:r>
              <a:rPr lang="en-US" dirty="0"/>
              <a:t>In a modern OS: we need sophisticated interrupt handling features</a:t>
            </a:r>
          </a:p>
          <a:p>
            <a:pPr lvl="1"/>
            <a:r>
              <a:rPr lang="en-US" dirty="0"/>
              <a:t>Ability to </a:t>
            </a:r>
            <a:r>
              <a:rPr lang="en-US" b="1" dirty="0"/>
              <a:t>defer interrupt handling</a:t>
            </a:r>
            <a:r>
              <a:rPr lang="en-US" dirty="0"/>
              <a:t> during critical processing</a:t>
            </a:r>
          </a:p>
          <a:p>
            <a:pPr lvl="1"/>
            <a:r>
              <a:rPr lang="en-US" dirty="0"/>
              <a:t>Efficient way to locate the proper interrupt handler for a device without asking all devices to see which one raised the interrupt</a:t>
            </a:r>
          </a:p>
          <a:p>
            <a:pPr lvl="1"/>
            <a:r>
              <a:rPr lang="en-US" dirty="0"/>
              <a:t>Multiple interrupt-priority levels allow </a:t>
            </a:r>
            <a:r>
              <a:rPr lang="en-US" b="1" dirty="0"/>
              <a:t>higher-priority</a:t>
            </a:r>
            <a:r>
              <a:rPr lang="en-US" dirty="0"/>
              <a:t> events to be handled before </a:t>
            </a:r>
            <a:r>
              <a:rPr lang="en-US" b="1" dirty="0"/>
              <a:t>lower-priority</a:t>
            </a:r>
            <a:r>
              <a:rPr lang="en-US" dirty="0"/>
              <a:t> events</a:t>
            </a:r>
          </a:p>
          <a:p>
            <a:r>
              <a:rPr lang="en-US" dirty="0"/>
              <a:t>In modern OS these facilities are provided by </a:t>
            </a:r>
            <a:r>
              <a:rPr lang="en-US" b="1" dirty="0"/>
              <a:t>CPU</a:t>
            </a:r>
            <a:r>
              <a:rPr lang="en-US" dirty="0"/>
              <a:t> &amp; </a:t>
            </a:r>
            <a:r>
              <a:rPr lang="en-US" b="1" dirty="0"/>
              <a:t>interrupt controller hardware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450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Two interrupt request lines (this is actually architecture specific):</a:t>
            </a:r>
          </a:p>
          <a:p>
            <a:r>
              <a:rPr lang="en-US" b="1" dirty="0" err="1"/>
              <a:t>Nonmaskable</a:t>
            </a:r>
            <a:r>
              <a:rPr lang="en-US" b="1" dirty="0"/>
              <a:t> interrupt</a:t>
            </a:r>
            <a:r>
              <a:rPr lang="en-US" dirty="0"/>
              <a:t>: reserved for events such as unrecoverable memory errors.</a:t>
            </a:r>
          </a:p>
          <a:p>
            <a:r>
              <a:rPr lang="en-US" b="1" dirty="0"/>
              <a:t>Maskable interrupt</a:t>
            </a:r>
            <a:r>
              <a:rPr lang="en-US" dirty="0"/>
              <a:t>: may be temporarily masked by the CPU or interrupt controller while a short critical section is executed.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Interrupt mechanism accepts an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address</a:t>
            </a:r>
            <a:r>
              <a:rPr lang="en-US" dirty="0"/>
              <a:t>: a </a:t>
            </a:r>
            <a:r>
              <a:rPr lang="en-US" b="1" dirty="0"/>
              <a:t>number</a:t>
            </a:r>
            <a:r>
              <a:rPr lang="en-US" dirty="0"/>
              <a:t> that selects a </a:t>
            </a:r>
            <a:r>
              <a:rPr lang="en-US" b="1" dirty="0"/>
              <a:t>specific interrupt-handling routine</a:t>
            </a:r>
            <a:r>
              <a:rPr lang="en-US" dirty="0"/>
              <a:t> from a small set.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This address is an </a:t>
            </a:r>
            <a:r>
              <a:rPr lang="en-US" b="1" dirty="0"/>
              <a:t>offset</a:t>
            </a:r>
            <a:r>
              <a:rPr lang="en-US" dirty="0"/>
              <a:t> in a table called interrupt vector </a:t>
            </a:r>
          </a:p>
          <a:p>
            <a:pPr marL="0" indent="0">
              <a:buNone/>
            </a:pPr>
            <a:r>
              <a:rPr lang="en-US" dirty="0"/>
              <a:t>This vector contains the </a:t>
            </a:r>
            <a:r>
              <a:rPr lang="en-US" b="1" dirty="0"/>
              <a:t>memory addresses</a:t>
            </a:r>
            <a:r>
              <a:rPr lang="en-US" dirty="0"/>
              <a:t> of </a:t>
            </a:r>
            <a:r>
              <a:rPr lang="en-US" b="1" dirty="0"/>
              <a:t>specialized interrupt handlers</a:t>
            </a:r>
            <a:r>
              <a:rPr lang="en-US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640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Interrupts – Intel Pentium processor event-vector table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81480" y="1471836"/>
            <a:ext cx="6952330" cy="4962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eft Brace 4"/>
          <p:cNvSpPr/>
          <p:nvPr/>
        </p:nvSpPr>
        <p:spPr>
          <a:xfrm>
            <a:off x="3384884" y="1860884"/>
            <a:ext cx="603501" cy="42949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1478" y="3546465"/>
            <a:ext cx="30234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/>
              <a:t>Processor-defined exceptions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275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Interrupts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OS &amp; interrupts interaction</a:t>
            </a:r>
          </a:p>
          <a:p>
            <a:r>
              <a:rPr lang="en-US" dirty="0"/>
              <a:t>A modern OS interacts with the interrupt mechanism in </a:t>
            </a:r>
            <a:r>
              <a:rPr lang="en-US" b="1" dirty="0"/>
              <a:t>several ways</a:t>
            </a:r>
            <a:r>
              <a:rPr lang="en-US" dirty="0"/>
              <a:t>.</a:t>
            </a:r>
          </a:p>
          <a:p>
            <a:r>
              <a:rPr lang="en-US" dirty="0"/>
              <a:t>At boot time, </a:t>
            </a:r>
            <a:r>
              <a:rPr lang="en-US" b="1" dirty="0"/>
              <a:t>probes</a:t>
            </a:r>
            <a:r>
              <a:rPr lang="en-US" dirty="0"/>
              <a:t> the buses to see which devices are present and </a:t>
            </a:r>
            <a:r>
              <a:rPr lang="en-US" b="1" dirty="0"/>
              <a:t>installs/configures the corresponding interrupt handlers</a:t>
            </a:r>
            <a:r>
              <a:rPr lang="en-US" dirty="0"/>
              <a:t>.</a:t>
            </a:r>
          </a:p>
          <a:p>
            <a:r>
              <a:rPr lang="en-US" dirty="0"/>
              <a:t>During I/O, device controllers </a:t>
            </a:r>
            <a:r>
              <a:rPr lang="en-US" b="1" dirty="0"/>
              <a:t>raise interrupts</a:t>
            </a:r>
            <a:r>
              <a:rPr lang="en-US" dirty="0"/>
              <a:t> when they are ready for service. These interrupts may mean:</a:t>
            </a:r>
          </a:p>
          <a:p>
            <a:pPr lvl="1"/>
            <a:r>
              <a:rPr lang="en-US" dirty="0"/>
              <a:t>output has completed</a:t>
            </a:r>
          </a:p>
          <a:p>
            <a:pPr lvl="1"/>
            <a:r>
              <a:rPr lang="en-US" dirty="0"/>
              <a:t>input data is available</a:t>
            </a:r>
          </a:p>
          <a:p>
            <a:pPr lvl="1"/>
            <a:r>
              <a:rPr lang="en-US" dirty="0"/>
              <a:t>or a failure has been detected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14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Memory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u="sng" dirty="0"/>
              <a:t>Direct Memory Access</a:t>
            </a:r>
          </a:p>
          <a:p>
            <a:r>
              <a:rPr lang="en-US" dirty="0"/>
              <a:t>Devices with large transfers (e.g., disk drive).</a:t>
            </a:r>
            <a:br>
              <a:rPr lang="en-US" dirty="0"/>
            </a:br>
            <a:r>
              <a:rPr lang="en-US" b="1" dirty="0"/>
              <a:t>Not a good idea</a:t>
            </a:r>
            <a:r>
              <a:rPr lang="en-US" dirty="0"/>
              <a:t> to use an expensive </a:t>
            </a:r>
            <a:r>
              <a:rPr lang="en-US" b="1" dirty="0"/>
              <a:t>general-purpose</a:t>
            </a:r>
            <a:r>
              <a:rPr lang="en-US" dirty="0"/>
              <a:t> processor to watch status bits &amp; feed data into a controller register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b="1" dirty="0"/>
              <a:t>programmed I/O</a:t>
            </a:r>
            <a:r>
              <a:rPr lang="en-US" dirty="0"/>
              <a:t> process.</a:t>
            </a:r>
          </a:p>
          <a:p>
            <a:r>
              <a:rPr lang="en-US" dirty="0"/>
              <a:t>Use a DMA controller instead</a:t>
            </a:r>
          </a:p>
          <a:p>
            <a:r>
              <a:rPr lang="en-US" dirty="0"/>
              <a:t>After the CPU/driver configures the operation, the DMA engine transfers the block between the device and memory without CPU instructions moving each byte or word.</a:t>
            </a:r>
            <a:endParaRPr lang="en-US" u="sng" dirty="0"/>
          </a:p>
          <a:p>
            <a:pPr marL="0" indent="0">
              <a:buNone/>
            </a:pPr>
            <a:r>
              <a:rPr lang="en-US" u="sng" dirty="0"/>
              <a:t>DMA transfer</a:t>
            </a:r>
          </a:p>
          <a:p>
            <a:r>
              <a:rPr lang="en-US" dirty="0"/>
              <a:t>To initiate a DMA transfer, host writes a DMA command block into memory.</a:t>
            </a:r>
          </a:p>
          <a:p>
            <a:r>
              <a:rPr lang="en-US" dirty="0"/>
              <a:t>Block contains:</a:t>
            </a:r>
          </a:p>
          <a:p>
            <a:pPr lvl="1"/>
            <a:r>
              <a:rPr lang="en-US" dirty="0"/>
              <a:t>a pointer to the source of the transfer</a:t>
            </a:r>
          </a:p>
          <a:p>
            <a:pPr lvl="1"/>
            <a:r>
              <a:rPr lang="en-US" dirty="0"/>
              <a:t>a pointer to the destination of the transfer</a:t>
            </a:r>
          </a:p>
          <a:p>
            <a:pPr lvl="1"/>
            <a:r>
              <a:rPr lang="en-US" dirty="0"/>
              <a:t>a count of the number of bytes to be transferred.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105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Memory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Simplified Handshaking between DMA controller &amp; device controller</a:t>
            </a:r>
          </a:p>
          <a:p>
            <a:r>
              <a:rPr lang="en-US" dirty="0"/>
              <a:t>Performed via a pair of wires: DMA request &amp; DMA-acknowledge.</a:t>
            </a:r>
          </a:p>
          <a:p>
            <a:r>
              <a:rPr lang="en-US" dirty="0"/>
              <a:t>A word of data available for transfer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device controller places a signal on the DMA-request wire</a:t>
            </a:r>
          </a:p>
          <a:p>
            <a:r>
              <a:rPr lang="en-US" dirty="0"/>
              <a:t>DMA controller: </a:t>
            </a:r>
          </a:p>
          <a:p>
            <a:pPr lvl="1"/>
            <a:r>
              <a:rPr lang="en-US" dirty="0"/>
              <a:t>places the </a:t>
            </a:r>
            <a:r>
              <a:rPr lang="en-US" b="1" dirty="0"/>
              <a:t>desired memory address </a:t>
            </a:r>
            <a:r>
              <a:rPr lang="en-US" dirty="0"/>
              <a:t>on the memory-address wires.</a:t>
            </a:r>
          </a:p>
          <a:p>
            <a:pPr lvl="1"/>
            <a:r>
              <a:rPr lang="en-US" dirty="0"/>
              <a:t>places a signal on the DMA-acknowledge wire.</a:t>
            </a:r>
          </a:p>
          <a:p>
            <a:r>
              <a:rPr lang="en-US" dirty="0"/>
              <a:t>Device controller receives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DMA-acknowledge</a:t>
            </a:r>
            <a:r>
              <a:rPr lang="en-US" dirty="0"/>
              <a:t> signal &amp; transfers the word of data to memory &amp; removes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DMA-request</a:t>
            </a:r>
            <a:r>
              <a:rPr lang="en-US" dirty="0"/>
              <a:t> signal.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3023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Six Step Process to Perform DMA Transfer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289380" y="1690688"/>
            <a:ext cx="7342993" cy="438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36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/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412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I/O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Goals:</a:t>
            </a:r>
          </a:p>
          <a:p>
            <a:pPr lvl="1"/>
            <a:r>
              <a:rPr lang="en-US" b="1" dirty="0"/>
              <a:t>Abstract away</a:t>
            </a:r>
            <a:r>
              <a:rPr lang="en-US" dirty="0"/>
              <a:t> the detailed differences in I/O devices by identifying a few general kinds.</a:t>
            </a:r>
          </a:p>
          <a:p>
            <a:pPr lvl="1"/>
            <a:r>
              <a:rPr lang="en-US" dirty="0"/>
              <a:t>Provide general interfaces that encapsulate common device behaviors</a:t>
            </a:r>
          </a:p>
          <a:p>
            <a:r>
              <a:rPr lang="en-US" dirty="0"/>
              <a:t>Device-driver layer </a:t>
            </a:r>
            <a:r>
              <a:rPr lang="en-US" b="1" dirty="0"/>
              <a:t>hides differences</a:t>
            </a:r>
            <a:r>
              <a:rPr lang="en-US" dirty="0"/>
              <a:t> among I/O controllers from from the generic kernel I/O subsystem.</a:t>
            </a:r>
          </a:p>
          <a:p>
            <a:r>
              <a:rPr lang="en-US" dirty="0"/>
              <a:t>Make I/O subsystem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independent</a:t>
            </a:r>
            <a:r>
              <a:rPr lang="en-US" dirty="0"/>
              <a:t> of the hardware:</a:t>
            </a:r>
          </a:p>
          <a:p>
            <a:pPr lvl="1"/>
            <a:r>
              <a:rPr lang="en-US" dirty="0"/>
              <a:t>Simplifies the job of the OS.</a:t>
            </a:r>
          </a:p>
          <a:p>
            <a:pPr lvl="1"/>
            <a:r>
              <a:rPr lang="en-US" dirty="0"/>
              <a:t>Benefits the hardware manufacturers</a:t>
            </a:r>
          </a:p>
          <a:p>
            <a:pPr lvl="1"/>
            <a:r>
              <a:rPr lang="en-US" dirty="0"/>
              <a:t>Standard interfaces allow a compatible peripheral to be attached without changing the generic I/O subsystem, provided that an appropriate driver already exists</a:t>
            </a:r>
          </a:p>
          <a:p>
            <a:pPr lvl="1"/>
            <a:r>
              <a:rPr lang="en-US" b="1" dirty="0"/>
              <a:t>BUT</a:t>
            </a:r>
            <a:r>
              <a:rPr lang="en-US" dirty="0"/>
              <a:t>: each OS has its own standards for the device-driver interface.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2413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I/O Interface</a:t>
            </a:r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50971" y="1690688"/>
            <a:ext cx="6690058" cy="4476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23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I/O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7191" y="1847850"/>
            <a:ext cx="6334539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Devices vary in many dimensions:</a:t>
            </a:r>
          </a:p>
          <a:p>
            <a:r>
              <a:rPr lang="en-US" sz="2400" b="1" dirty="0"/>
              <a:t>Character-stream</a:t>
            </a:r>
            <a:r>
              <a:rPr lang="en-US" sz="2400" dirty="0"/>
              <a:t> or </a:t>
            </a:r>
            <a:r>
              <a:rPr lang="en-US" sz="2400" b="1" dirty="0"/>
              <a:t>block</a:t>
            </a:r>
            <a:r>
              <a:rPr lang="en-US" sz="2400" dirty="0"/>
              <a:t>: bytes one by one or blocks of bytes</a:t>
            </a:r>
          </a:p>
          <a:p>
            <a:r>
              <a:rPr lang="en-US" sz="2400" b="1" dirty="0"/>
              <a:t>Sequential</a:t>
            </a:r>
            <a:r>
              <a:rPr lang="en-US" sz="2400" dirty="0"/>
              <a:t> or </a:t>
            </a:r>
            <a:r>
              <a:rPr lang="en-US" sz="2400" b="1" dirty="0"/>
              <a:t>random access</a:t>
            </a:r>
            <a:r>
              <a:rPr lang="en-US" sz="2400" dirty="0"/>
              <a:t>: fixed order or random</a:t>
            </a:r>
          </a:p>
          <a:p>
            <a:r>
              <a:rPr lang="en-US" sz="2400" b="1" dirty="0"/>
              <a:t>Synchronous</a:t>
            </a:r>
            <a:r>
              <a:rPr lang="en-US" sz="2400" dirty="0"/>
              <a:t> or </a:t>
            </a:r>
            <a:r>
              <a:rPr lang="en-US" sz="2400" b="1" dirty="0"/>
              <a:t>asynchronous</a:t>
            </a:r>
            <a:r>
              <a:rPr lang="en-US" sz="2400" dirty="0"/>
              <a:t>: data transfers with predictable response times or not</a:t>
            </a:r>
          </a:p>
          <a:p>
            <a:r>
              <a:rPr lang="en-US" sz="2400" b="1" dirty="0"/>
              <a:t>Sharable</a:t>
            </a:r>
            <a:r>
              <a:rPr lang="en-US" sz="2400" dirty="0"/>
              <a:t> or </a:t>
            </a:r>
            <a:r>
              <a:rPr lang="en-US" sz="2400" b="1" dirty="0"/>
              <a:t>dedicated</a:t>
            </a:r>
            <a:r>
              <a:rPr lang="en-US" sz="2400" dirty="0"/>
              <a:t>: used concurrently by several processes or not</a:t>
            </a:r>
          </a:p>
          <a:p>
            <a:r>
              <a:rPr lang="en-US" sz="2400" b="1" dirty="0"/>
              <a:t>Speed of operation</a:t>
            </a:r>
            <a:r>
              <a:rPr lang="en-US" sz="2400" dirty="0"/>
              <a:t>: speeds range from a few bytes to gigabytes per sec</a:t>
            </a:r>
          </a:p>
          <a:p>
            <a:r>
              <a:rPr lang="en-US" sz="2400" b="1" dirty="0"/>
              <a:t>I/O direction: </a:t>
            </a:r>
            <a:r>
              <a:rPr lang="en-US" sz="2400" dirty="0"/>
              <a:t>some devices support both reading and writing; others support only one direction.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34</a:t>
            </a:fld>
            <a:endParaRPr lang="en-US"/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6774" y="2166730"/>
            <a:ext cx="4975721" cy="32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99989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 and Character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u="sng" dirty="0"/>
              <a:t>Block devices include disk drives</a:t>
            </a:r>
          </a:p>
          <a:p>
            <a:pPr marL="0" indent="0">
              <a:buNone/>
            </a:pPr>
            <a:r>
              <a:rPr lang="en-US" dirty="0"/>
              <a:t>Block-device interface provides the operations needed to access disks and other block-oriented devices</a:t>
            </a:r>
          </a:p>
          <a:p>
            <a:r>
              <a:rPr lang="en-US" dirty="0"/>
              <a:t>Commands include read(), write(), seek()</a:t>
            </a:r>
          </a:p>
          <a:p>
            <a:r>
              <a:rPr lang="en-US" dirty="0"/>
              <a:t>Memory-mapped file access possible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Character devices</a:t>
            </a:r>
          </a:p>
          <a:p>
            <a:r>
              <a:rPr lang="en-US" dirty="0"/>
              <a:t>Include keyboards, mouse, serial ports</a:t>
            </a:r>
          </a:p>
          <a:p>
            <a:r>
              <a:rPr lang="en-US" dirty="0"/>
              <a:t>Commands include get(), put()</a:t>
            </a:r>
          </a:p>
          <a:p>
            <a:r>
              <a:rPr lang="en-US" dirty="0"/>
              <a:t>Libraries layered on top allow line editing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61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485900"/>
            <a:ext cx="11615738" cy="4691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u="sng" dirty="0"/>
              <a:t>Network Devices</a:t>
            </a:r>
          </a:p>
          <a:p>
            <a:r>
              <a:rPr lang="en-US" sz="2400" dirty="0"/>
              <a:t>Network I/O differs significantly from disks</a:t>
            </a:r>
          </a:p>
          <a:p>
            <a:r>
              <a:rPr lang="en-US" sz="2400" dirty="0"/>
              <a:t>Network communication uses the socket interface. On Unix-like systems, sockets can read()/write(), but they additionally require specific operations: bind, listen, accept, connect, send, and receive; seek is not meaningful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/>
              <a:t>Unix &amp; Windows include </a:t>
            </a:r>
            <a:r>
              <a:rPr lang="en-US" sz="2400" dirty="0">
                <a:solidFill>
                  <a:srgbClr val="00B0F0"/>
                </a:solidFill>
              </a:rPr>
              <a:t>socket</a:t>
            </a:r>
            <a:r>
              <a:rPr lang="en-US" sz="2400" dirty="0"/>
              <a:t> interface</a:t>
            </a:r>
          </a:p>
          <a:p>
            <a:r>
              <a:rPr lang="en-US" sz="2400" dirty="0"/>
              <a:t>System calls in the socket interface enable an application to </a:t>
            </a:r>
          </a:p>
          <a:p>
            <a:pPr lvl="1"/>
            <a:r>
              <a:rPr lang="en-US" sz="2000" dirty="0"/>
              <a:t>Create a socket</a:t>
            </a:r>
          </a:p>
          <a:p>
            <a:pPr lvl="1"/>
            <a:r>
              <a:rPr lang="en-US" sz="2000" dirty="0"/>
              <a:t>Connect to a remote socket</a:t>
            </a:r>
          </a:p>
          <a:p>
            <a:pPr marL="0" indent="0">
              <a:buNone/>
            </a:pPr>
            <a:r>
              <a:rPr lang="en-US" sz="2400" b="1" u="sng" dirty="0"/>
              <a:t>Socket Interface</a:t>
            </a:r>
          </a:p>
          <a:p>
            <a:r>
              <a:rPr lang="en-US" sz="2400" dirty="0"/>
              <a:t>Connect local socket to a remote address</a:t>
            </a:r>
          </a:p>
          <a:p>
            <a:r>
              <a:rPr lang="en-US" sz="2400" dirty="0"/>
              <a:t>Listen for connection requests and accept a connection from a remote application</a:t>
            </a:r>
          </a:p>
          <a:p>
            <a:r>
              <a:rPr lang="en-US" sz="2400" dirty="0"/>
              <a:t>Send &amp; receive packets over the connection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select()</a:t>
            </a:r>
            <a:r>
              <a:rPr lang="en-US" sz="2400" dirty="0"/>
              <a:t> </a:t>
            </a:r>
            <a:r>
              <a:rPr lang="en-US" sz="2400" dirty="0">
                <a:sym typeface="Wingdings" panose="05000000000000000000" pitchFamily="2" charset="2"/>
              </a:rPr>
              <a:t> </a:t>
            </a:r>
            <a:r>
              <a:rPr lang="en-US" sz="2400" dirty="0"/>
              <a:t>return which sockets have a packet waiting to be received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089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Clocks &amp; Timers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 current time.</a:t>
            </a:r>
          </a:p>
          <a:p>
            <a:r>
              <a:rPr lang="en-US" dirty="0"/>
              <a:t>Give elapsed time.</a:t>
            </a:r>
          </a:p>
          <a:p>
            <a:r>
              <a:rPr lang="en-US" dirty="0"/>
              <a:t>Set a timer to </a:t>
            </a:r>
            <a:r>
              <a:rPr lang="en-US" b="1" dirty="0"/>
              <a:t>trigger</a:t>
            </a:r>
            <a:r>
              <a:rPr lang="en-US" dirty="0"/>
              <a:t> operation X at time T.</a:t>
            </a:r>
          </a:p>
          <a:p>
            <a:r>
              <a:rPr lang="en-US" b="1" dirty="0"/>
              <a:t>Programmable hardware interval timer</a:t>
            </a:r>
            <a:r>
              <a:rPr lang="en-US" dirty="0"/>
              <a:t>: hardware to measure elapsed time &amp; trigger operations</a:t>
            </a:r>
          </a:p>
          <a:p>
            <a:r>
              <a:rPr lang="en-US" dirty="0">
                <a:solidFill>
                  <a:srgbClr val="0070C0"/>
                </a:solidFill>
              </a:rPr>
              <a:t>Example</a:t>
            </a:r>
            <a:r>
              <a:rPr lang="en-US" dirty="0"/>
              <a:t>: wait a certain amount of time &amp; then generate an interrupt</a:t>
            </a:r>
            <a:br>
              <a:rPr lang="en-US" dirty="0"/>
            </a:br>
            <a:r>
              <a:rPr lang="en-US" b="1" dirty="0"/>
              <a:t>Cancel</a:t>
            </a:r>
            <a:r>
              <a:rPr lang="en-US" dirty="0"/>
              <a:t> operations proceeding </a:t>
            </a:r>
            <a:r>
              <a:rPr lang="en-US" b="1" dirty="0"/>
              <a:t>too slowly</a:t>
            </a:r>
          </a:p>
          <a:p>
            <a:r>
              <a:rPr lang="en-US" b="1" dirty="0"/>
              <a:t>Usual interrupt rate (historically)</a:t>
            </a:r>
            <a:r>
              <a:rPr lang="en-US" dirty="0"/>
              <a:t>: between 18 &amp; 60 ticks per sec.</a:t>
            </a:r>
          </a:p>
          <a:p>
            <a:r>
              <a:rPr lang="en-US" dirty="0"/>
              <a:t>Hardware clock constructed from a high-frequency counter.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6596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&amp; </a:t>
            </a:r>
            <a:r>
              <a:rPr lang="en-US" dirty="0" err="1"/>
              <a:t>Nonblocking</a:t>
            </a:r>
            <a:r>
              <a:rPr lang="en-US" dirty="0"/>
              <a:t>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681" y="1250372"/>
            <a:ext cx="11533909" cy="47932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/>
              <a:t>Blocking</a:t>
            </a:r>
          </a:p>
          <a:p>
            <a:pPr lvl="1"/>
            <a:r>
              <a:rPr lang="en-US" sz="2000" dirty="0"/>
              <a:t>Process suspended until I/O completed</a:t>
            </a:r>
          </a:p>
          <a:p>
            <a:pPr lvl="1"/>
            <a:r>
              <a:rPr lang="en-US" sz="2000" dirty="0"/>
              <a:t>Moved from running to wait queue</a:t>
            </a:r>
          </a:p>
          <a:p>
            <a:pPr lvl="1"/>
            <a:r>
              <a:rPr lang="en-US" sz="2000" dirty="0"/>
              <a:t>Later moved back to ready queue &amp; resumes</a:t>
            </a:r>
          </a:p>
          <a:p>
            <a:pPr lvl="1"/>
            <a:r>
              <a:rPr lang="en-US" sz="2000" dirty="0"/>
              <a:t>Easy to use &amp; understand</a:t>
            </a:r>
          </a:p>
          <a:p>
            <a:pPr lvl="1"/>
            <a:r>
              <a:rPr lang="en-US" sz="2000" dirty="0"/>
              <a:t>Insufficient for some needs</a:t>
            </a:r>
          </a:p>
          <a:p>
            <a:pPr marL="0" indent="0">
              <a:buNone/>
            </a:pPr>
            <a:r>
              <a:rPr lang="en-US" sz="2400" b="1" u="sng" dirty="0" err="1"/>
              <a:t>Nonblocking</a:t>
            </a:r>
            <a:endParaRPr lang="en-US" sz="2400" b="1" u="sng" dirty="0"/>
          </a:p>
          <a:p>
            <a:pPr lvl="1"/>
            <a:r>
              <a:rPr lang="en-US" sz="2000" dirty="0"/>
              <a:t>Example: a user interface that receives keyboard &amp; mouse input while processing &amp; displaying data on screen.</a:t>
            </a:r>
          </a:p>
          <a:p>
            <a:pPr lvl="1"/>
            <a:r>
              <a:rPr lang="en-US" sz="2000" dirty="0"/>
              <a:t>With nonblocking I/O, the descriptor or operation is configured not to wait. The system call returns immediately with transferred data, a partial result, or an indication that the operation cannot currently proceed. </a:t>
            </a:r>
          </a:p>
          <a:p>
            <a:pPr lvl="2"/>
            <a:r>
              <a:rPr lang="en-US" sz="1600" dirty="0"/>
              <a:t>The application may retry later or wait for readiness using an event mechanism.</a:t>
            </a:r>
          </a:p>
          <a:p>
            <a:pPr lvl="1"/>
            <a:r>
              <a:rPr lang="en-US" sz="2000" dirty="0"/>
              <a:t>Returns quickly with a return value indicating how many bytes were transferred.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732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Blocking &amp; </a:t>
            </a:r>
            <a:r>
              <a:rPr lang="en-US" dirty="0" err="1"/>
              <a:t>Nonblocking</a:t>
            </a:r>
            <a:r>
              <a:rPr lang="en-US" dirty="0"/>
              <a:t>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3681" y="1585913"/>
            <a:ext cx="11533909" cy="505243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u="sng" dirty="0"/>
              <a:t>Asynchronous</a:t>
            </a:r>
          </a:p>
          <a:p>
            <a:pPr lvl="1"/>
            <a:r>
              <a:rPr lang="en-US" dirty="0"/>
              <a:t>The process may continue running while the I/O operation executes</a:t>
            </a:r>
          </a:p>
          <a:p>
            <a:pPr lvl="1"/>
            <a:r>
              <a:rPr lang="en-US" dirty="0"/>
              <a:t>Returns immediately without waiting for I/O to complete</a:t>
            </a:r>
          </a:p>
          <a:p>
            <a:pPr lvl="1"/>
            <a:r>
              <a:rPr lang="en-US" dirty="0"/>
              <a:t>Difficult to use</a:t>
            </a:r>
          </a:p>
          <a:p>
            <a:pPr lvl="1"/>
            <a:r>
              <a:rPr lang="en-US" dirty="0"/>
              <a:t>The I/O subsystem notifies the process when the I/O operation completes</a:t>
            </a:r>
          </a:p>
          <a:p>
            <a:pPr lvl="1"/>
            <a:r>
              <a:rPr lang="en-US" dirty="0"/>
              <a:t>Unlike nonblocking readiness-based I/O, an asynchronous operation is submitted once and completion is reported later through a signal, callback, event, or completion queue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49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/>
              <a:t>Kernel I/O Subsystem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5360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Kernel I/O subsystem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Provides many services related to I/O, including:</a:t>
            </a:r>
          </a:p>
          <a:p>
            <a:pPr lvl="1"/>
            <a:r>
              <a:rPr lang="en-US" dirty="0"/>
              <a:t>I/O scheduling</a:t>
            </a:r>
          </a:p>
          <a:p>
            <a:pPr lvl="1"/>
            <a:r>
              <a:rPr lang="en-US" dirty="0"/>
              <a:t>Buffering / Caching / Spooling</a:t>
            </a:r>
          </a:p>
          <a:p>
            <a:pPr lvl="1"/>
            <a:r>
              <a:rPr lang="en-US" dirty="0"/>
              <a:t>Error handling</a:t>
            </a:r>
          </a:p>
          <a:p>
            <a:pPr lvl="1"/>
            <a:r>
              <a:rPr lang="en-US" dirty="0"/>
              <a:t>I/O protection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6466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Goal: schedule I/O requests </a:t>
            </a:r>
            <a:r>
              <a:rPr lang="en-US" dirty="0">
                <a:sym typeface="Wingdings" panose="05000000000000000000" pitchFamily="2" charset="2"/>
              </a:rPr>
              <a:t>in </a:t>
            </a:r>
            <a:r>
              <a:rPr lang="en-US" dirty="0"/>
              <a:t>a </a:t>
            </a:r>
            <a:r>
              <a:rPr lang="en-US" b="1" dirty="0"/>
              <a:t>good order</a:t>
            </a:r>
            <a:r>
              <a:rPr lang="en-US" dirty="0"/>
              <a:t> before executing them</a:t>
            </a:r>
          </a:p>
          <a:p>
            <a:pPr lvl="1"/>
            <a:r>
              <a:rPr lang="en-US" b="1" dirty="0"/>
              <a:t>Improve</a:t>
            </a:r>
            <a:r>
              <a:rPr lang="en-US" dirty="0"/>
              <a:t> overall performance</a:t>
            </a:r>
          </a:p>
          <a:p>
            <a:pPr lvl="1"/>
            <a:r>
              <a:rPr lang="en-US" dirty="0"/>
              <a:t>Share device access </a:t>
            </a:r>
            <a:r>
              <a:rPr lang="en-US" b="1" dirty="0"/>
              <a:t>fairly</a:t>
            </a:r>
            <a:r>
              <a:rPr lang="en-US" dirty="0"/>
              <a:t> among processes</a:t>
            </a:r>
          </a:p>
          <a:p>
            <a:pPr lvl="1"/>
            <a:r>
              <a:rPr lang="en-US" b="1" dirty="0"/>
              <a:t>Reduce</a:t>
            </a:r>
            <a:r>
              <a:rPr lang="en-US" dirty="0"/>
              <a:t> the average waiting time for I/O to complete</a:t>
            </a:r>
          </a:p>
          <a:p>
            <a:r>
              <a:rPr lang="en-US" dirty="0"/>
              <a:t>Some OSes maintain a wait queue of requests for each device</a:t>
            </a:r>
          </a:p>
          <a:p>
            <a:r>
              <a:rPr lang="en-US" dirty="0"/>
              <a:t>Some OSes try </a:t>
            </a:r>
            <a:r>
              <a:rPr lang="en-US" b="1" dirty="0"/>
              <a:t>fairness</a:t>
            </a:r>
          </a:p>
          <a:p>
            <a:pPr marL="0" indent="0">
              <a:buNone/>
            </a:pPr>
            <a:r>
              <a:rPr lang="en-US" b="1" u="sng" dirty="0"/>
              <a:t>Example</a:t>
            </a:r>
          </a:p>
          <a:p>
            <a:r>
              <a:rPr lang="en-US" dirty="0"/>
              <a:t>Application 1 needs a block near the end of a disk</a:t>
            </a:r>
          </a:p>
          <a:p>
            <a:r>
              <a:rPr lang="en-US" dirty="0"/>
              <a:t>Application 2 needs a block near the beginning</a:t>
            </a:r>
          </a:p>
          <a:p>
            <a:r>
              <a:rPr lang="en-US" dirty="0"/>
              <a:t>Application 3 needs a block near the middle of the disk</a:t>
            </a:r>
          </a:p>
          <a:p>
            <a:pPr marL="0" indent="0">
              <a:buNone/>
            </a:pPr>
            <a:r>
              <a:rPr lang="en-US" dirty="0"/>
              <a:t>Best Scheduling: 2,3,1</a:t>
            </a:r>
            <a:endParaRPr lang="en-US" b="1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7CC814-B31B-2AAB-6DB2-6A0915ADC474}"/>
              </a:ext>
            </a:extLst>
          </p:cNvPr>
          <p:cNvSpPr txBox="1"/>
          <p:nvPr/>
        </p:nvSpPr>
        <p:spPr>
          <a:xfrm>
            <a:off x="8610600" y="4173022"/>
            <a:ext cx="3388519" cy="120032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/>
              <a:t>This is for rotating disks, SSDs do not have mechanical seek costs</a:t>
            </a:r>
          </a:p>
        </p:txBody>
      </p:sp>
    </p:spTree>
    <p:extLst>
      <p:ext uri="{BB962C8B-B14F-4D97-AF65-F5344CB8AC3E}">
        <p14:creationId xmlns:p14="http://schemas.microsoft.com/office/powerpoint/2010/main" val="53218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status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a kernel supports </a:t>
            </a:r>
            <a:r>
              <a:rPr lang="en-US" b="1" dirty="0"/>
              <a:t>asynchronous</a:t>
            </a:r>
            <a:r>
              <a:rPr lang="en-US" dirty="0"/>
              <a:t> I/O and might schedule requests in different orders, it must be able to keep track of many I/O requests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57313" y="2901442"/>
            <a:ext cx="6948488" cy="3410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36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Another way to improve performance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Use storage space in main memory or on disk via buffering, caching, spooling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u="sng" dirty="0"/>
              <a:t>Buffering</a:t>
            </a:r>
          </a:p>
          <a:p>
            <a:r>
              <a:rPr lang="en-US" dirty="0"/>
              <a:t>Buffer: memory area that stores data being transferred between two devices or between a device &amp; an application.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File received via modem for storage on the hard disk.</a:t>
            </a:r>
          </a:p>
          <a:p>
            <a:pPr lvl="1"/>
            <a:r>
              <a:rPr lang="en-US" dirty="0"/>
              <a:t>Buffer created in main memory to accumulate the bytes received from the modem.</a:t>
            </a:r>
          </a:p>
          <a:p>
            <a:pPr lvl="1"/>
            <a:r>
              <a:rPr lang="en-US" dirty="0"/>
              <a:t>Buffer full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write data on the disk</a:t>
            </a:r>
          </a:p>
          <a:p>
            <a:pPr lvl="1"/>
            <a:r>
              <a:rPr lang="en-US" dirty="0"/>
              <a:t>Disk write </a:t>
            </a:r>
            <a:r>
              <a:rPr lang="en-US" b="1" dirty="0"/>
              <a:t>not instantaneous</a:t>
            </a:r>
            <a:r>
              <a:rPr lang="en-US" dirty="0"/>
              <a:t>: two buffers are needed </a:t>
            </a:r>
            <a:r>
              <a:rPr lang="en-US" dirty="0">
                <a:sym typeface="Wingdings" panose="05000000000000000000" pitchFamily="2" charset="2"/>
              </a:rPr>
              <a:t> Double buffering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3306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Buffering – Differences in device speeds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2174" y="1521096"/>
            <a:ext cx="6066158" cy="44225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828332" y="2191435"/>
            <a:ext cx="3925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CMSS9"/>
              </a:rPr>
              <a:t>Enormous differences in device speeds for typical hardware!</a:t>
            </a:r>
            <a:endParaRPr lang="en-US" sz="2400" dirty="0"/>
          </a:p>
        </p:txBody>
      </p:sp>
      <p:sp>
        <p:nvSpPr>
          <p:cNvPr id="6" name="Rectangle 5"/>
          <p:cNvSpPr/>
          <p:nvPr/>
        </p:nvSpPr>
        <p:spPr>
          <a:xfrm>
            <a:off x="1900871" y="6088618"/>
            <a:ext cx="57887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CMSS9"/>
              </a:rPr>
              <a:t>Sun Enterprise 6000 device-transfer rates (logarithmic)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920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Caching – Spooling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2550"/>
            <a:ext cx="10515600" cy="53530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Caching</a:t>
            </a:r>
          </a:p>
          <a:p>
            <a:r>
              <a:rPr lang="en-US" dirty="0"/>
              <a:t>Cache: holds a copy on faster storage of an item that resides elsewhere</a:t>
            </a:r>
          </a:p>
          <a:p>
            <a:r>
              <a:rPr lang="en-US" dirty="0"/>
              <a:t>Easier access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Key to performance</a:t>
            </a: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en-US" b="1" u="sng" dirty="0"/>
              <a:t>Spooling</a:t>
            </a:r>
          </a:p>
          <a:p>
            <a:r>
              <a:rPr lang="en-US" dirty="0"/>
              <a:t>Hold output for a device</a:t>
            </a:r>
          </a:p>
          <a:p>
            <a:r>
              <a:rPr lang="en-US" dirty="0"/>
              <a:t>If device can serve only one request at a time (e.g. printing)</a:t>
            </a:r>
            <a:br>
              <a:rPr lang="en-US" dirty="0"/>
            </a:br>
            <a:r>
              <a:rPr lang="en-US" dirty="0"/>
              <a:t>Devices that cannot accept interleaved data streams.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9055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Error Handling</a:t>
            </a:r>
          </a:p>
          <a:p>
            <a:r>
              <a:rPr lang="en-US" dirty="0"/>
              <a:t>Devices and I/O transfers can fail in many ways.</a:t>
            </a:r>
          </a:p>
          <a:p>
            <a:pPr lvl="1"/>
            <a:r>
              <a:rPr lang="en-US" b="1" dirty="0"/>
              <a:t>Transient reasons</a:t>
            </a:r>
            <a:r>
              <a:rPr lang="en-US" dirty="0"/>
              <a:t>: a network becomes overloaded</a:t>
            </a:r>
          </a:p>
          <a:p>
            <a:pPr lvl="1"/>
            <a:r>
              <a:rPr lang="en-US" b="1" dirty="0"/>
              <a:t>Permanent reasons</a:t>
            </a:r>
            <a:r>
              <a:rPr lang="en-US" dirty="0"/>
              <a:t>: a disk controller becomes defective</a:t>
            </a:r>
          </a:p>
          <a:p>
            <a:r>
              <a:rPr lang="en-US" dirty="0"/>
              <a:t>OS can recover from disk read, device unavailable, transient write failures</a:t>
            </a:r>
          </a:p>
          <a:p>
            <a:r>
              <a:rPr lang="en-US" dirty="0"/>
              <a:t>Most return an error number or code when I/O request fails</a:t>
            </a:r>
          </a:p>
          <a:p>
            <a:r>
              <a:rPr lang="en-US" dirty="0"/>
              <a:t>System error logs hold problem reports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089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Necessary</a:t>
            </a:r>
            <a:r>
              <a:rPr lang="en-US" dirty="0"/>
              <a:t>: User access may attempt to disrupt normal operation via illegal I/O instructions.</a:t>
            </a:r>
          </a:p>
          <a:p>
            <a:r>
              <a:rPr lang="en-US" dirty="0"/>
              <a:t>All I/O instructions defined to be </a:t>
            </a:r>
            <a:r>
              <a:rPr lang="en-US" b="1" dirty="0"/>
              <a:t>privileged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Users cannot issue them directly</a:t>
            </a:r>
          </a:p>
          <a:p>
            <a:r>
              <a:rPr lang="pt-BR" dirty="0"/>
              <a:t>To do I/O a user program </a:t>
            </a:r>
            <a:r>
              <a:rPr lang="pt-BR" b="1" dirty="0"/>
              <a:t>executes</a:t>
            </a:r>
            <a:r>
              <a:rPr lang="pt-BR" dirty="0"/>
              <a:t> a system call</a:t>
            </a:r>
          </a:p>
          <a:p>
            <a:r>
              <a:rPr lang="en-US" dirty="0"/>
              <a:t>OS </a:t>
            </a:r>
            <a:r>
              <a:rPr lang="en-US" b="1" dirty="0"/>
              <a:t>checks</a:t>
            </a:r>
            <a:r>
              <a:rPr lang="en-US" dirty="0"/>
              <a:t> if request is </a:t>
            </a:r>
            <a:r>
              <a:rPr lang="en-US" b="1" dirty="0"/>
              <a:t>valid</a:t>
            </a:r>
          </a:p>
          <a:p>
            <a:r>
              <a:rPr lang="en-US" dirty="0"/>
              <a:t>If yes it is executed.</a:t>
            </a:r>
          </a:p>
          <a:p>
            <a:r>
              <a:rPr lang="en-US" dirty="0"/>
              <a:t>Memory-mapped &amp; I/O port memory locations must be </a:t>
            </a:r>
            <a:r>
              <a:rPr lang="en-US" b="1" dirty="0"/>
              <a:t>protected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496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I/O Hardware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Application I/O Interface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Kernel I/O Subsystem</a:t>
            </a:r>
          </a:p>
          <a:p>
            <a:r>
              <a:rPr lang="en-US" dirty="0"/>
              <a:t>Performance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642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I/O has a major impact in system performance:</a:t>
            </a:r>
          </a:p>
          <a:p>
            <a:pPr marL="457200" lvl="1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Why?</a:t>
            </a:r>
          </a:p>
          <a:p>
            <a:pPr lvl="1"/>
            <a:r>
              <a:rPr lang="en-US" dirty="0"/>
              <a:t>Places heavy demands on CPU to execute device-driver code</a:t>
            </a:r>
          </a:p>
          <a:p>
            <a:pPr lvl="1"/>
            <a:r>
              <a:rPr lang="en-US" dirty="0"/>
              <a:t>I/O completion and blocking interact with process scheduling</a:t>
            </a:r>
          </a:p>
          <a:p>
            <a:pPr lvl="1"/>
            <a:r>
              <a:rPr lang="en-US" dirty="0"/>
              <a:t>Interrupt handling and kernel entry/exit add overhead; an interrupt may also lead to a process context switch if it causes the scheduler to run and select a different process.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0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performance: remote login</a:t>
            </a:r>
          </a:p>
        </p:txBody>
      </p:sp>
      <p:pic>
        <p:nvPicPr>
          <p:cNvPr id="4" name="Picture 4" descr="13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19043" y="1527463"/>
            <a:ext cx="4622564" cy="4669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93331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improve performance?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the number of process context switches</a:t>
            </a:r>
          </a:p>
          <a:p>
            <a:r>
              <a:rPr lang="en-US" dirty="0"/>
              <a:t>Reduce the number of times data must be copied in memory (between device &amp; application)</a:t>
            </a:r>
          </a:p>
          <a:p>
            <a:r>
              <a:rPr lang="en-US" dirty="0"/>
              <a:t>Reduce frequency of interrupts</a:t>
            </a:r>
          </a:p>
          <a:p>
            <a:r>
              <a:rPr lang="en-US" dirty="0"/>
              <a:t>Use large transfers, smart controllers</a:t>
            </a:r>
          </a:p>
          <a:p>
            <a:r>
              <a:rPr lang="en-US" dirty="0"/>
              <a:t>Use DMA</a:t>
            </a:r>
          </a:p>
          <a:p>
            <a:r>
              <a:rPr lang="en-US" dirty="0"/>
              <a:t>Balance CPU, memory, bus and I/O performance for highest throughput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239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</a:t>
            </a:r>
          </a:p>
        </p:txBody>
      </p:sp>
      <p:pic>
        <p:nvPicPr>
          <p:cNvPr id="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2089" y="1657351"/>
            <a:ext cx="5554662" cy="46988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4703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56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5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B187D4-4E5F-4BB9-2CEA-55A927EDC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930" y="1008994"/>
            <a:ext cx="6923558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1000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38407-2790-8E61-10DC-FB682CCE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43046" y="5769149"/>
            <a:ext cx="1796304" cy="3657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fontAlgn="base">
              <a:spcBef>
                <a:spcPct val="0"/>
              </a:spcBef>
              <a:spcAft>
                <a:spcPts val="600"/>
              </a:spcAft>
            </a:pPr>
            <a:r>
              <a:rPr lang="en-US" sz="1000">
                <a:solidFill>
                  <a:srgbClr val="FFFFFF"/>
                </a:solidFill>
                <a:latin typeface="Calibri" panose="020F0502020204030204"/>
                <a:ea typeface="MS PGothic" panose="020B0600070205080204" pitchFamily="34" charset="-128"/>
              </a:rPr>
              <a:t>Vincenzo Gulisano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5A9DDA-D07E-FA44-A93D-AF7CC5F74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E0AC437-A1D8-4781-B86C-407FA400F126}" type="slidenum">
              <a:rPr lang="en-US">
                <a:solidFill>
                  <a:prstClr val="black">
                    <a:tint val="75000"/>
                  </a:prstClr>
                </a:solidFill>
                <a:latin typeface="Verdana" panose="020B0604030504040204" pitchFamily="34" charset="0"/>
                <a:ea typeface="MS PGothic" panose="020B0600070205080204" pitchFamily="34" charset="-128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54</a:t>
            </a:fld>
            <a:endParaRPr lang="en-US">
              <a:solidFill>
                <a:prstClr val="black">
                  <a:tint val="75000"/>
                </a:prstClr>
              </a:solidFill>
              <a:latin typeface="Verdana" panose="020B060403050404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20067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18A80-F2EE-7A4D-E1B6-73A9ECBEE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When using memory-mapped I/O...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4319-AA25-7783-9AFB-A29E81BBC9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same address can be shared for RAM and I/O device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The same address cannot be shared for RAM and I/O device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AA4D-A3AB-314B-3662-CEF9BCA5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FEB74-DA84-8740-16C9-A299AB62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99868-63E8-5BB2-E451-982EB499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12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6918-00C1-016A-410B-2DCC0C072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The address of an interrupt is used to...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448A4-27B1-2884-F6C4-E9A4B8B97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Detect if the interrupt is maskable or not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select its interrupt-handling routine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7E45D0-DC5C-0A1E-799C-8C0FE6F6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19880-C1FB-EE0C-1FA9-21BB5159F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73984-7634-CAB4-867C-D76BDDAF2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674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795AA-D020-67BD-8D3C-15411013F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2 page faults interrupts can be served in parallel by the same interrupt-handling routine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62D1D-3A46-B6F2-E971-14561A54B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Yes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01F52-479D-C4EB-3F5C-133FECE6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A6A7A-0BCB-D550-9D76-A64A1E798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A3C89-7871-D65D-8C54-CEC045956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2028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DB5A2-A0C7-1A8B-4C02-5755D1B95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Direct memory access (DMA)...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C93D8-114B-4117-A6BC-D8F88336A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reduces the number of interrupts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allows for data transfer without the need of interrupts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6A3A-D7AB-30E9-8294-D3C5ACA74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8EE9BB-CDB6-0212-C0BA-33D80313D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44F33-0477-1B46-7665-D92918338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654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FDAC2-7A7E-081A-386A-06F245B8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A page fault could be directly handled by the MMU via DMA. What do you think?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449E-BE45-ACE6-73A7-2D0A2360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why not?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not really...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A29FA-0025-6D01-010A-B82E82AE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BE275-C0EA-9A0D-6143-6F0FDF5EF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97631-33E7-08F7-E444-28E7F6B1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952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F3ED9-C40E-5D0E-47CE-97E07082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en-GB" b="1" dirty="0">
                <a:effectLst/>
                <a:latin typeface="inherit"/>
              </a:rPr>
              <a:t>The I/O completion order for device D can differ from how PCBs are sorted in D waiting queue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8C155-E36D-B89A-6CBB-12B319968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Yes</a:t>
            </a:r>
          </a:p>
          <a:p>
            <a:pPr marL="514350" indent="-514350" algn="l" fontAlgn="base">
              <a:buFont typeface="+mj-lt"/>
              <a:buAutoNum type="arabicPeriod"/>
            </a:pPr>
            <a:r>
              <a:rPr lang="en-GB" b="0" i="0" dirty="0">
                <a:solidFill>
                  <a:srgbClr val="333333"/>
                </a:solidFill>
                <a:effectLst/>
                <a:latin typeface="Montserrat" pitchFamily="2" charset="77"/>
              </a:rPr>
              <a:t>no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06FEF-555A-E170-17C4-992F643F8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Vincenzo Gulisano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B7EBC-62B6-000F-34B3-A5E3E4CF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Operating Systems - I/O Systems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98FA-352B-439B-3ED3-31C8C3810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61F404-6CD8-4E2D-B082-239AD8D30C83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3684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5170</Words>
  <Application>Microsoft Macintosh PowerPoint</Application>
  <PresentationFormat>Widescreen</PresentationFormat>
  <Paragraphs>659</Paragraphs>
  <Slides>60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60</vt:i4>
      </vt:variant>
    </vt:vector>
  </HeadingPairs>
  <TitlesOfParts>
    <vt:vector size="74" baseType="lpstr">
      <vt:lpstr>Arial</vt:lpstr>
      <vt:lpstr>Calibri</vt:lpstr>
      <vt:lpstr>Calibri Light</vt:lpstr>
      <vt:lpstr>CMSS9</vt:lpstr>
      <vt:lpstr>Consolas</vt:lpstr>
      <vt:lpstr>Garamond</vt:lpstr>
      <vt:lpstr>Helvetica</vt:lpstr>
      <vt:lpstr>inherit</vt:lpstr>
      <vt:lpstr>Montserrat</vt:lpstr>
      <vt:lpstr>Times New Roman</vt:lpstr>
      <vt:lpstr>Verdana</vt:lpstr>
      <vt:lpstr>Wingdings</vt:lpstr>
      <vt:lpstr>Office Theme</vt:lpstr>
      <vt:lpstr>1_Office Theme</vt:lpstr>
      <vt:lpstr>PowerPoint Presentation</vt:lpstr>
      <vt:lpstr>Reading instructions</vt:lpstr>
      <vt:lpstr>Agenda</vt:lpstr>
      <vt:lpstr>Agenda</vt:lpstr>
      <vt:lpstr>Introduction</vt:lpstr>
      <vt:lpstr>Introduction</vt:lpstr>
      <vt:lpstr>Agenda</vt:lpstr>
      <vt:lpstr>I/O Hardware</vt:lpstr>
      <vt:lpstr>I/O Hardware</vt:lpstr>
      <vt:lpstr>Typical PC bus structure (legacy)</vt:lpstr>
      <vt:lpstr>Example of a legacy PC bus structure</vt:lpstr>
      <vt:lpstr>How it looks now</vt:lpstr>
      <vt:lpstr>I/O Hardware</vt:lpstr>
      <vt:lpstr>Processor reads &amp; writes bit patterns in the controllers’ registers</vt:lpstr>
      <vt:lpstr>Memory-mapped I/O</vt:lpstr>
      <vt:lpstr>Example of Memory-mapped I/O: graphics controller</vt:lpstr>
      <vt:lpstr>Device I/O Port Locations on PCs</vt:lpstr>
      <vt:lpstr>I/O Hardware</vt:lpstr>
      <vt:lpstr>Interaction between host and controller</vt:lpstr>
      <vt:lpstr>Polling – Handshaking procedure</vt:lpstr>
      <vt:lpstr>Interrupts</vt:lpstr>
      <vt:lpstr>Interrupts</vt:lpstr>
      <vt:lpstr>Interrupts - Dictionary</vt:lpstr>
      <vt:lpstr>Interrupts</vt:lpstr>
      <vt:lpstr>Interrupts </vt:lpstr>
      <vt:lpstr>Interrupts – Intel Pentium processor event-vector table</vt:lpstr>
      <vt:lpstr>Interrupts</vt:lpstr>
      <vt:lpstr>Direct Memory Access</vt:lpstr>
      <vt:lpstr>Direct Memory Access</vt:lpstr>
      <vt:lpstr>Six Step Process to Perform DMA Transfer</vt:lpstr>
      <vt:lpstr>Agenda</vt:lpstr>
      <vt:lpstr>Application I/O Interface</vt:lpstr>
      <vt:lpstr>Application I/O Interface</vt:lpstr>
      <vt:lpstr>Application I/O Interface</vt:lpstr>
      <vt:lpstr>Block and Character Devices</vt:lpstr>
      <vt:lpstr>Network Devices</vt:lpstr>
      <vt:lpstr>Clocks &amp; Timers</vt:lpstr>
      <vt:lpstr>Blocking &amp; Nonblocking I/O</vt:lpstr>
      <vt:lpstr>Blocking &amp; Nonblocking I/O</vt:lpstr>
      <vt:lpstr>Agenda</vt:lpstr>
      <vt:lpstr>Kernel I/O subsystem</vt:lpstr>
      <vt:lpstr>I/O Scheduling</vt:lpstr>
      <vt:lpstr>Device status table</vt:lpstr>
      <vt:lpstr>Buffering</vt:lpstr>
      <vt:lpstr>Buffering – Differences in device speeds</vt:lpstr>
      <vt:lpstr>Caching – Spooling</vt:lpstr>
      <vt:lpstr>Error Handling</vt:lpstr>
      <vt:lpstr>I/O Protection</vt:lpstr>
      <vt:lpstr>Agenda</vt:lpstr>
      <vt:lpstr>Performance</vt:lpstr>
      <vt:lpstr>Example of performance: remote login</vt:lpstr>
      <vt:lpstr>How to improve performance?</vt:lpstr>
      <vt:lpstr>Performance</vt:lpstr>
      <vt:lpstr>Questions</vt:lpstr>
      <vt:lpstr>When using memory-mapped I/O...</vt:lpstr>
      <vt:lpstr>The address of an interrupt is used to...</vt:lpstr>
      <vt:lpstr>2 page faults interrupts can be served in parallel by the same interrupt-handling routine</vt:lpstr>
      <vt:lpstr>Direct memory access (DMA)...</vt:lpstr>
      <vt:lpstr>A page fault could be directly handled by the MMU via DMA. What do you think?</vt:lpstr>
      <vt:lpstr>The I/O completion order for device D can differ from how PCBs are sorted in D waiting queue</vt:lpstr>
    </vt:vector>
  </TitlesOfParts>
  <Company>Chalmers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Vincenzo Massimiliano Gulisano</dc:creator>
  <cp:lastModifiedBy>Vincenzo Gulisano</cp:lastModifiedBy>
  <cp:revision>113</cp:revision>
  <cp:lastPrinted>2025-10-13T07:24:56Z</cp:lastPrinted>
  <dcterms:created xsi:type="dcterms:W3CDTF">2014-12-05T08:26:02Z</dcterms:created>
  <dcterms:modified xsi:type="dcterms:W3CDTF">2026-10-08T07:14:02Z</dcterms:modified>
</cp:coreProperties>
</file>