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notesMasterIdLst>
    <p:notesMasterId r:id="rId48"/>
  </p:notesMasterIdLst>
  <p:sldIdLst>
    <p:sldId id="302" r:id="rId3"/>
    <p:sldId id="323" r:id="rId4"/>
    <p:sldId id="259" r:id="rId5"/>
    <p:sldId id="531" r:id="rId6"/>
    <p:sldId id="504" r:id="rId7"/>
    <p:sldId id="505" r:id="rId8"/>
    <p:sldId id="506" r:id="rId9"/>
    <p:sldId id="507" r:id="rId10"/>
    <p:sldId id="508" r:id="rId11"/>
    <p:sldId id="509" r:id="rId12"/>
    <p:sldId id="510" r:id="rId13"/>
    <p:sldId id="532" r:id="rId14"/>
    <p:sldId id="511" r:id="rId15"/>
    <p:sldId id="512" r:id="rId16"/>
    <p:sldId id="513" r:id="rId17"/>
    <p:sldId id="514" r:id="rId18"/>
    <p:sldId id="533" r:id="rId19"/>
    <p:sldId id="515" r:id="rId20"/>
    <p:sldId id="537" r:id="rId21"/>
    <p:sldId id="534" r:id="rId22"/>
    <p:sldId id="516" r:id="rId23"/>
    <p:sldId id="517" r:id="rId24"/>
    <p:sldId id="535" r:id="rId25"/>
    <p:sldId id="518" r:id="rId26"/>
    <p:sldId id="519" r:id="rId27"/>
    <p:sldId id="520" r:id="rId28"/>
    <p:sldId id="521" r:id="rId29"/>
    <p:sldId id="522" r:id="rId30"/>
    <p:sldId id="523" r:id="rId31"/>
    <p:sldId id="524" r:id="rId32"/>
    <p:sldId id="525" r:id="rId33"/>
    <p:sldId id="526" r:id="rId34"/>
    <p:sldId id="536" r:id="rId35"/>
    <p:sldId id="527" r:id="rId36"/>
    <p:sldId id="528" r:id="rId37"/>
    <p:sldId id="529" r:id="rId38"/>
    <p:sldId id="530" r:id="rId39"/>
    <p:sldId id="261" r:id="rId40"/>
    <p:sldId id="538" r:id="rId41"/>
    <p:sldId id="539" r:id="rId42"/>
    <p:sldId id="542" r:id="rId43"/>
    <p:sldId id="541" r:id="rId44"/>
    <p:sldId id="543" r:id="rId45"/>
    <p:sldId id="540" r:id="rId46"/>
    <p:sldId id="544" r:id="rId47"/>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65C"/>
    <a:srgbClr val="FFC0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34B4AD-09CD-AC41-A979-4810F6BCBB53}" v="2" dt="2025-10-06T07:47:04.0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43"/>
    <p:restoredTop sz="77220"/>
  </p:normalViewPr>
  <p:slideViewPr>
    <p:cSldViewPr snapToGrid="0" snapToObjects="1">
      <p:cViewPr varScale="1">
        <p:scale>
          <a:sx n="90" d="100"/>
          <a:sy n="90" d="100"/>
        </p:scale>
        <p:origin x="148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5/10/relationships/revisionInfo" Target="revisionInfo.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A1724-FE87-D744-AEFA-DF7E2B83349C}" type="datetimeFigureOut">
              <a:rPr lang="en-SE" smtClean="0"/>
              <a:t>10/5/26</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E3DE0-5E9E-8947-9DAA-E91C371FD659}" type="slidenum">
              <a:rPr lang="en-SE" smtClean="0"/>
              <a:t>‹#›</a:t>
            </a:fld>
            <a:endParaRPr lang="en-SE"/>
          </a:p>
        </p:txBody>
      </p:sp>
    </p:spTree>
    <p:extLst>
      <p:ext uri="{BB962C8B-B14F-4D97-AF65-F5344CB8AC3E}">
        <p14:creationId xmlns:p14="http://schemas.microsoft.com/office/powerpoint/2010/main" val="420624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757A2C-8941-40A3-B23F-9B6C8A580B0A}" type="slidenum">
              <a:rPr lang="en-US" altLang="en-US" smtClean="0">
                <a:latin typeface="Helvetica" panose="020B0604020202020204" pitchFamily="34" charset="0"/>
              </a:rPr>
              <a:pPr/>
              <a:t>1</a:t>
            </a:fld>
            <a:endParaRPr lang="en-US" altLang="en-US">
              <a:latin typeface="Helvetica" panose="020B0604020202020204" pitchFamily="34"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Welcome to the lecture about Security in Operating Systems. [c]</a:t>
            </a:r>
          </a:p>
        </p:txBody>
      </p:sp>
    </p:spTree>
    <p:extLst>
      <p:ext uri="{BB962C8B-B14F-4D97-AF65-F5344CB8AC3E}">
        <p14:creationId xmlns:p14="http://schemas.microsoft.com/office/powerpoint/2010/main" val="742326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find here the reading instructions for this lecture. Most of the material is covered in these slides, while other parts are for you to read directly from the book. [c]</a:t>
            </a:r>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2</a:t>
            </a:fld>
            <a:endParaRPr lang="en-US" altLang="en-US"/>
          </a:p>
        </p:txBody>
      </p:sp>
    </p:spTree>
    <p:extLst>
      <p:ext uri="{BB962C8B-B14F-4D97-AF65-F5344CB8AC3E}">
        <p14:creationId xmlns:p14="http://schemas.microsoft.com/office/powerpoint/2010/main" val="70434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going to begin this lecture with an introduction and overview of what security is (in the context of Operating Systems), we will then cover the topic of Protection Domains and have a look at both Access Control Lists and Capabilities. We will then discuss Authentication and finally cover a very well-known way of exploiting software bugs: buffer overflow attacks. [c]</a:t>
            </a:r>
          </a:p>
        </p:txBody>
      </p:sp>
      <p:sp>
        <p:nvSpPr>
          <p:cNvPr id="4" name="Slide Number Placeholder 3"/>
          <p:cNvSpPr>
            <a:spLocks noGrp="1"/>
          </p:cNvSpPr>
          <p:nvPr>
            <p:ph type="sldNum" sz="quarter" idx="5"/>
          </p:nvPr>
        </p:nvSpPr>
        <p:spPr/>
        <p:txBody>
          <a:bodyPr/>
          <a:lstStyle/>
          <a:p>
            <a:fld id="{C55E3DE0-5E9E-8947-9DAA-E91C371FD659}" type="slidenum">
              <a:rPr lang="en-SE" smtClean="0"/>
              <a:t>3</a:t>
            </a:fld>
            <a:endParaRPr lang="en-SE"/>
          </a:p>
        </p:txBody>
      </p:sp>
    </p:spTree>
    <p:extLst>
      <p:ext uri="{BB962C8B-B14F-4D97-AF65-F5344CB8AC3E}">
        <p14:creationId xmlns:p14="http://schemas.microsoft.com/office/powerpoint/2010/main" val="2672752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our overview. [c]</a:t>
            </a:r>
          </a:p>
        </p:txBody>
      </p:sp>
      <p:sp>
        <p:nvSpPr>
          <p:cNvPr id="4" name="Slide Number Placeholder 3"/>
          <p:cNvSpPr>
            <a:spLocks noGrp="1"/>
          </p:cNvSpPr>
          <p:nvPr>
            <p:ph type="sldNum" sz="quarter" idx="5"/>
          </p:nvPr>
        </p:nvSpPr>
        <p:spPr/>
        <p:txBody>
          <a:bodyPr/>
          <a:lstStyle/>
          <a:p>
            <a:fld id="{C55E3DE0-5E9E-8947-9DAA-E91C371FD659}" type="slidenum">
              <a:rPr lang="en-SE" smtClean="0"/>
              <a:t>4</a:t>
            </a:fld>
            <a:endParaRPr lang="en-SE"/>
          </a:p>
        </p:txBody>
      </p:sp>
    </p:spTree>
    <p:extLst>
      <p:ext uri="{BB962C8B-B14F-4D97-AF65-F5344CB8AC3E}">
        <p14:creationId xmlns:p14="http://schemas.microsoft.com/office/powerpoint/2010/main" val="122535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all know that the information we access and store in our computer is being moved across different devices, like the disk, the main memory, the network card, and so on.</a:t>
            </a:r>
          </a:p>
          <a:p>
            <a:r>
              <a:rPr lang="en-US" dirty="0"/>
              <a:t>We also know that the operating system has a key role in deciding how this information is being moved.</a:t>
            </a:r>
          </a:p>
          <a:p>
            <a:r>
              <a:rPr lang="en-US" dirty="0"/>
              <a:t>[c] It is of course clear that part of this information is important and/or sensitive: your passwords, your credit card number, and so on</a:t>
            </a:r>
          </a:p>
          <a:p>
            <a:r>
              <a:rPr lang="en-US" dirty="0"/>
              <a:t>[c] and we can imagine attackers might be interested in accessing such information. Something important to notice here is that such wish to access information is not limited to reading the information, someone might want to alter it (to pretend you said something in a mail you did not) or just prevent you (the real owner of such information) from accessing it (so that you cannot recover all your files if you do not pay a ransom for them).</a:t>
            </a:r>
          </a:p>
          <a:p>
            <a:r>
              <a:rPr lang="en-US" dirty="0"/>
              <a:t>[c] Unfortunately for us, the software we use (including the operating system’s one) is full of bugs. Security bugs, called vulnerabilities, are often used by attackers to inject special input (exploit) that allows them, in a way or another, to fulfill their malicious intentions. [c]</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5</a:t>
            </a:fld>
            <a:endParaRPr lang="en-SE"/>
          </a:p>
        </p:txBody>
      </p:sp>
    </p:spTree>
    <p:extLst>
      <p:ext uri="{BB962C8B-B14F-4D97-AF65-F5344CB8AC3E}">
        <p14:creationId xmlns:p14="http://schemas.microsoft.com/office/powerpoint/2010/main" val="1283113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it is important to realize that one additional trade-off we have in the context of Operating Systems is that of feature-rich software versus simple and secure software.</a:t>
            </a:r>
          </a:p>
          <a:p>
            <a:r>
              <a:rPr lang="en-US" dirty="0"/>
              <a:t>We tend to like systems with a lot of tools, gadgets, and features, but the truth is that the more of these we get, the higher the chances that a bug can be used against us.</a:t>
            </a:r>
          </a:p>
          <a:p>
            <a:r>
              <a:rPr lang="en-US" dirty="0"/>
              <a:t>[c] if you take the very simple example about mails, you probably agree with me that the possibility of sending images and files is something we prefer over [c] the possibility of sending only plain text.</a:t>
            </a:r>
          </a:p>
          <a:p>
            <a:r>
              <a:rPr lang="en-US" dirty="0"/>
              <a:t>But we have to acknowledge that it is hard for the attacker to gain control of a system through simple text, while it is significantly easier if executable files can be shared via mail. [c]</a:t>
            </a:r>
          </a:p>
        </p:txBody>
      </p:sp>
      <p:sp>
        <p:nvSpPr>
          <p:cNvPr id="4" name="Slide Number Placeholder 3"/>
          <p:cNvSpPr>
            <a:spLocks noGrp="1"/>
          </p:cNvSpPr>
          <p:nvPr>
            <p:ph type="sldNum" sz="quarter" idx="5"/>
          </p:nvPr>
        </p:nvSpPr>
        <p:spPr/>
        <p:txBody>
          <a:bodyPr/>
          <a:lstStyle/>
          <a:p>
            <a:fld id="{C55E3DE0-5E9E-8947-9DAA-E91C371FD659}" type="slidenum">
              <a:rPr lang="en-SE" smtClean="0"/>
              <a:t>6</a:t>
            </a:fld>
            <a:endParaRPr lang="en-SE"/>
          </a:p>
        </p:txBody>
      </p:sp>
    </p:spTree>
    <p:extLst>
      <p:ext uri="{BB962C8B-B14F-4D97-AF65-F5344CB8AC3E}">
        <p14:creationId xmlns:p14="http://schemas.microsoft.com/office/powerpoint/2010/main" val="963297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 want to stress that the topic of security is a very broad and complicated one, and this lecture does not aim at covering all aspects of it, of course.</a:t>
            </a:r>
          </a:p>
          <a:p>
            <a:r>
              <a:rPr lang="en-US" dirty="0"/>
              <a:t>[c] If we focus on the type of attacks and security threats that exist, we can list (among others), worms: freestanding programs that can propagate through various computers without user intervention, viruses, which on the other hand will attach to files and programs and will propagate depending on how users interact with infected files and programs, trojan horses, malware disguised as legitimate software, Denial of Service and Distributed Denial of Service attacks, and so on...</a:t>
            </a:r>
          </a:p>
          <a:p>
            <a:r>
              <a:rPr lang="en-US" dirty="0"/>
              <a:t>[c] if we focus on the concept of "victim", we must note that being a victim of a security incident does not imply the attacker is after you or your data, the attacker might be using you to achieve his or her goals</a:t>
            </a:r>
          </a:p>
          <a:p>
            <a:endParaRPr lang="en-US" dirty="0"/>
          </a:p>
          <a:p>
            <a:r>
              <a:rPr lang="en-US" dirty="0"/>
              <a:t>[c] In this lecture, we will only focus on some security aspects that concern the Operating System. [c]</a:t>
            </a:r>
          </a:p>
        </p:txBody>
      </p:sp>
      <p:sp>
        <p:nvSpPr>
          <p:cNvPr id="4" name="Slide Number Placeholder 3"/>
          <p:cNvSpPr>
            <a:spLocks noGrp="1"/>
          </p:cNvSpPr>
          <p:nvPr>
            <p:ph type="sldNum" sz="quarter" idx="5"/>
          </p:nvPr>
        </p:nvSpPr>
        <p:spPr/>
        <p:txBody>
          <a:bodyPr/>
          <a:lstStyle/>
          <a:p>
            <a:fld id="{C55E3DE0-5E9E-8947-9DAA-E91C371FD659}" type="slidenum">
              <a:rPr lang="en-SE" smtClean="0"/>
              <a:t>7</a:t>
            </a:fld>
            <a:endParaRPr lang="en-SE"/>
          </a:p>
        </p:txBody>
      </p:sp>
    </p:spTree>
    <p:extLst>
      <p:ext uri="{BB962C8B-B14F-4D97-AF65-F5344CB8AC3E}">
        <p14:creationId xmlns:p14="http://schemas.microsoft.com/office/powerpoint/2010/main" val="1433708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concretely, we will focus on</a:t>
            </a:r>
          </a:p>
          <a:p>
            <a:r>
              <a:rPr lang="en-US" dirty="0"/>
              <a:t>confidentiality, which is about keeping secret data secret or ensuring data is accessed only by authorized people,</a:t>
            </a:r>
          </a:p>
          <a:p>
            <a:r>
              <a:rPr lang="en-US" dirty="0"/>
              <a:t>integrity, which is about ensuring data is modified only by authorized persons,</a:t>
            </a:r>
          </a:p>
          <a:p>
            <a:r>
              <a:rPr lang="en-US" dirty="0"/>
              <a:t>and availability, which is about ensuring no one can disturb the system and make it unusable.</a:t>
            </a:r>
          </a:p>
          <a:p>
            <a:r>
              <a:rPr lang="en-US" dirty="0"/>
              <a:t>[c] As you can imagine, these are not the only security aspects one can think about, but we will not cover additional ones. [c]</a:t>
            </a:r>
          </a:p>
        </p:txBody>
      </p:sp>
      <p:sp>
        <p:nvSpPr>
          <p:cNvPr id="4" name="Slide Number Placeholder 3"/>
          <p:cNvSpPr>
            <a:spLocks noGrp="1"/>
          </p:cNvSpPr>
          <p:nvPr>
            <p:ph type="sldNum" sz="quarter" idx="5"/>
          </p:nvPr>
        </p:nvSpPr>
        <p:spPr/>
        <p:txBody>
          <a:bodyPr/>
          <a:lstStyle/>
          <a:p>
            <a:fld id="{C55E3DE0-5E9E-8947-9DAA-E91C371FD659}" type="slidenum">
              <a:rPr lang="en-SE" smtClean="0"/>
              <a:t>8</a:t>
            </a:fld>
            <a:endParaRPr lang="en-SE"/>
          </a:p>
        </p:txBody>
      </p:sp>
    </p:spTree>
    <p:extLst>
      <p:ext uri="{BB962C8B-B14F-4D97-AF65-F5344CB8AC3E}">
        <p14:creationId xmlns:p14="http://schemas.microsoft.com/office/powerpoint/2010/main" val="2519769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worth mentioning here is that we often hear the term hacker used to refer to malicious attackers.</a:t>
            </a:r>
          </a:p>
          <a:p>
            <a:r>
              <a:rPr lang="en-US" dirty="0"/>
              <a:t>In reality, a hacker only refers to someone with excellent programming skills. We can differentiate between [c] white hats, who try to attack a system and develop security tools to make such a system more secure, and [c] black hats, who on the other hand use the same tools (and hence the expression dual use) with malicious intentions. [c]</a:t>
            </a:r>
          </a:p>
        </p:txBody>
      </p:sp>
      <p:sp>
        <p:nvSpPr>
          <p:cNvPr id="4" name="Slide Number Placeholder 3"/>
          <p:cNvSpPr>
            <a:spLocks noGrp="1"/>
          </p:cNvSpPr>
          <p:nvPr>
            <p:ph type="sldNum" sz="quarter" idx="5"/>
          </p:nvPr>
        </p:nvSpPr>
        <p:spPr/>
        <p:txBody>
          <a:bodyPr/>
          <a:lstStyle/>
          <a:p>
            <a:fld id="{C55E3DE0-5E9E-8947-9DAA-E91C371FD659}" type="slidenum">
              <a:rPr lang="en-SE" smtClean="0"/>
              <a:t>9</a:t>
            </a:fld>
            <a:endParaRPr lang="en-SE"/>
          </a:p>
        </p:txBody>
      </p:sp>
    </p:spTree>
    <p:extLst>
      <p:ext uri="{BB962C8B-B14F-4D97-AF65-F5344CB8AC3E}">
        <p14:creationId xmlns:p14="http://schemas.microsoft.com/office/powerpoint/2010/main" val="2078558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worth mentioning that attacks can be classified along different dimensions.</a:t>
            </a:r>
          </a:p>
          <a:p>
            <a:r>
              <a:rPr lang="en-US" dirty="0"/>
              <a:t>They could be differentiated between passive and active ones, for instance.</a:t>
            </a:r>
          </a:p>
          <a:p>
            <a:endParaRPr lang="en-US" dirty="0"/>
          </a:p>
          <a:p>
            <a:r>
              <a:rPr lang="en-US" dirty="0"/>
              <a:t>[c] In practice, there’s no silver bullet to handle all security aspects. We usually end up using a combination of various techniques, including cryptography, software hardening (which we will cover later), and even more (Intel SGX is an interesting example of a recent approach, which is currently a hot research topic). [c]</a:t>
            </a:r>
          </a:p>
        </p:txBody>
      </p:sp>
      <p:sp>
        <p:nvSpPr>
          <p:cNvPr id="4" name="Slide Number Placeholder 3"/>
          <p:cNvSpPr>
            <a:spLocks noGrp="1"/>
          </p:cNvSpPr>
          <p:nvPr>
            <p:ph type="sldNum" sz="quarter" idx="5"/>
          </p:nvPr>
        </p:nvSpPr>
        <p:spPr/>
        <p:txBody>
          <a:bodyPr/>
          <a:lstStyle/>
          <a:p>
            <a:fld id="{C55E3DE0-5E9E-8947-9DAA-E91C371FD659}" type="slidenum">
              <a:rPr lang="en-SE" smtClean="0"/>
              <a:t>10</a:t>
            </a:fld>
            <a:endParaRPr lang="en-SE"/>
          </a:p>
        </p:txBody>
      </p:sp>
    </p:spTree>
    <p:extLst>
      <p:ext uri="{BB962C8B-B14F-4D97-AF65-F5344CB8AC3E}">
        <p14:creationId xmlns:p14="http://schemas.microsoft.com/office/powerpoint/2010/main" val="1876116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practitioners usually talk of trusted rather than secure systems. A trusted system is a system that has formally stated security requirements that it meets. For a system to be trusted, we usually need to identify the Trusted Computing Base, [c] so the portion of hardware, kernel, and user processes with root-level access that can affect security. [c] Such portion should be kept as small as possible, to make it easier to maintain it.</a:t>
            </a:r>
          </a:p>
          <a:p>
            <a:r>
              <a:rPr lang="en-US" dirty="0"/>
              <a:t>[c] Once we have our TCB, we need a model that specifies what should be protected, who can do what, and what type of adversary we can deal with (his/her power, basically) and make sure all system calls are checked by a so-called reference monitor before entering/operating in the TCB. [c]</a:t>
            </a:r>
          </a:p>
        </p:txBody>
      </p:sp>
      <p:sp>
        <p:nvSpPr>
          <p:cNvPr id="4" name="Slide Number Placeholder 3"/>
          <p:cNvSpPr>
            <a:spLocks noGrp="1"/>
          </p:cNvSpPr>
          <p:nvPr>
            <p:ph type="sldNum" sz="quarter" idx="5"/>
          </p:nvPr>
        </p:nvSpPr>
        <p:spPr/>
        <p:txBody>
          <a:bodyPr/>
          <a:lstStyle/>
          <a:p>
            <a:fld id="{C55E3DE0-5E9E-8947-9DAA-E91C371FD659}" type="slidenum">
              <a:rPr lang="en-SE" smtClean="0"/>
              <a:t>11</a:t>
            </a:fld>
            <a:endParaRPr lang="en-SE"/>
          </a:p>
        </p:txBody>
      </p:sp>
    </p:spTree>
    <p:extLst>
      <p:ext uri="{BB962C8B-B14F-4D97-AF65-F5344CB8AC3E}">
        <p14:creationId xmlns:p14="http://schemas.microsoft.com/office/powerpoint/2010/main" val="804389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now to protection domains [c]</a:t>
            </a:r>
          </a:p>
        </p:txBody>
      </p:sp>
      <p:sp>
        <p:nvSpPr>
          <p:cNvPr id="4" name="Slide Number Placeholder 3"/>
          <p:cNvSpPr>
            <a:spLocks noGrp="1"/>
          </p:cNvSpPr>
          <p:nvPr>
            <p:ph type="sldNum" sz="quarter" idx="5"/>
          </p:nvPr>
        </p:nvSpPr>
        <p:spPr/>
        <p:txBody>
          <a:bodyPr/>
          <a:lstStyle/>
          <a:p>
            <a:fld id="{C55E3DE0-5E9E-8947-9DAA-E91C371FD659}" type="slidenum">
              <a:rPr lang="en-SE" smtClean="0"/>
              <a:t>12</a:t>
            </a:fld>
            <a:endParaRPr lang="en-SE"/>
          </a:p>
        </p:txBody>
      </p:sp>
    </p:spTree>
    <p:extLst>
      <p:ext uri="{BB962C8B-B14F-4D97-AF65-F5344CB8AC3E}">
        <p14:creationId xmlns:p14="http://schemas.microsoft.com/office/powerpoint/2010/main" val="3301510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said that for building a trusted system, we need to have a clear understanding of what can be done and who can do it. We can ask ourselves: what does it mean to have a clear understanding of what can be done and who can do it?</a:t>
            </a:r>
          </a:p>
          <a:p>
            <a:r>
              <a:rPr lang="en-US" dirty="0"/>
              <a:t>To answer such a question, we can note that each system is composed of a set of objects (could be both hardware and software).</a:t>
            </a:r>
          </a:p>
          <a:p>
            <a:r>
              <a:rPr lang="en-US" dirty="0"/>
              <a:t>Each object can be manipulated through a set of operations, and such operations can take place within the execution of processes. [c]</a:t>
            </a:r>
          </a:p>
        </p:txBody>
      </p:sp>
      <p:sp>
        <p:nvSpPr>
          <p:cNvPr id="4" name="Slide Number Placeholder 3"/>
          <p:cNvSpPr>
            <a:spLocks noGrp="1"/>
          </p:cNvSpPr>
          <p:nvPr>
            <p:ph type="sldNum" sz="quarter" idx="5"/>
          </p:nvPr>
        </p:nvSpPr>
        <p:spPr/>
        <p:txBody>
          <a:bodyPr/>
          <a:lstStyle/>
          <a:p>
            <a:fld id="{C55E3DE0-5E9E-8947-9DAA-E91C371FD659}" type="slidenum">
              <a:rPr lang="en-SE" smtClean="0"/>
              <a:t>13</a:t>
            </a:fld>
            <a:endParaRPr lang="en-SE"/>
          </a:p>
        </p:txBody>
      </p:sp>
    </p:spTree>
    <p:extLst>
      <p:ext uri="{BB962C8B-B14F-4D97-AF65-F5344CB8AC3E}">
        <p14:creationId xmlns:p14="http://schemas.microsoft.com/office/powerpoint/2010/main" val="834056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is a set of &lt;object, rights&gt; pairs that refer to one user or a group of users.</a:t>
            </a:r>
          </a:p>
          <a:p>
            <a:r>
              <a:rPr lang="en-US" dirty="0"/>
              <a:t>According to the Principle of Least Authority, security works best when each domain has the minimum objects/privileges required to perform a certain task. [c]</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14</a:t>
            </a:fld>
            <a:endParaRPr lang="en-SE"/>
          </a:p>
        </p:txBody>
      </p:sp>
    </p:spTree>
    <p:extLst>
      <p:ext uri="{BB962C8B-B14F-4D97-AF65-F5344CB8AC3E}">
        <p14:creationId xmlns:p14="http://schemas.microsoft.com/office/powerpoint/2010/main" val="4167890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an example with three domains, each containing some objects and associated operations. As you can see, the same object (File 1 for instance) can be associated with different domains and with different operations. At the same time, the same object (Printer 1) can also exist with the same operation for multiple domains.</a:t>
            </a:r>
          </a:p>
          <a:p>
            <a:endParaRPr lang="en-US" dirty="0"/>
          </a:p>
          <a:p>
            <a:r>
              <a:rPr lang="en-US" dirty="0"/>
              <a:t>We assume that each process is executed in one protection domain and that the operating system could allow the process to switch between domains. In Unix, the domain of a process is given by the user id and the group id of the user that is currently logged in and running such a process. [c]</a:t>
            </a:r>
          </a:p>
        </p:txBody>
      </p:sp>
      <p:sp>
        <p:nvSpPr>
          <p:cNvPr id="4" name="Slide Number Placeholder 3"/>
          <p:cNvSpPr>
            <a:spLocks noGrp="1"/>
          </p:cNvSpPr>
          <p:nvPr>
            <p:ph type="sldNum" sz="quarter" idx="5"/>
          </p:nvPr>
        </p:nvSpPr>
        <p:spPr/>
        <p:txBody>
          <a:bodyPr/>
          <a:lstStyle/>
          <a:p>
            <a:fld id="{C55E3DE0-5E9E-8947-9DAA-E91C371FD659}" type="slidenum">
              <a:rPr lang="en-SE" smtClean="0"/>
              <a:t>15</a:t>
            </a:fld>
            <a:endParaRPr lang="en-SE"/>
          </a:p>
        </p:txBody>
      </p:sp>
    </p:spTree>
    <p:extLst>
      <p:ext uri="{BB962C8B-B14F-4D97-AF65-F5344CB8AC3E}">
        <p14:creationId xmlns:p14="http://schemas.microsoft.com/office/powerpoint/2010/main" val="1459405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now focus our attention on how to maintain the information about various domains, we realize we need to maintain a matrix like the one shown in these figures (the one at the bottom is an extension on the one on the top with domain-switching permissions too).</a:t>
            </a:r>
          </a:p>
          <a:p>
            <a:r>
              <a:rPr lang="en-US" dirty="0"/>
              <a:t>In practice, such a matrix would be sparse (most cells are empty), and storing it as a matrix is not efficient, we can go for either rows or columns. If we store information per column [c], we are then referring to Access Control Lists. If we do it per-row [c], we are referring to Capabilities. We will cover both in the following videos. [c]</a:t>
            </a:r>
          </a:p>
        </p:txBody>
      </p:sp>
      <p:sp>
        <p:nvSpPr>
          <p:cNvPr id="4" name="Slide Number Placeholder 3"/>
          <p:cNvSpPr>
            <a:spLocks noGrp="1"/>
          </p:cNvSpPr>
          <p:nvPr>
            <p:ph type="sldNum" sz="quarter" idx="5"/>
          </p:nvPr>
        </p:nvSpPr>
        <p:spPr/>
        <p:txBody>
          <a:bodyPr/>
          <a:lstStyle/>
          <a:p>
            <a:fld id="{C55E3DE0-5E9E-8947-9DAA-E91C371FD659}" type="slidenum">
              <a:rPr lang="en-SE" smtClean="0"/>
              <a:t>16</a:t>
            </a:fld>
            <a:endParaRPr lang="en-SE"/>
          </a:p>
        </p:txBody>
      </p:sp>
    </p:spTree>
    <p:extLst>
      <p:ext uri="{BB962C8B-B14F-4D97-AF65-F5344CB8AC3E}">
        <p14:creationId xmlns:p14="http://schemas.microsoft.com/office/powerpoint/2010/main" val="2299644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discussing Access Control Lists [c]</a:t>
            </a:r>
          </a:p>
        </p:txBody>
      </p:sp>
      <p:sp>
        <p:nvSpPr>
          <p:cNvPr id="4" name="Slide Number Placeholder 3"/>
          <p:cNvSpPr>
            <a:spLocks noGrp="1"/>
          </p:cNvSpPr>
          <p:nvPr>
            <p:ph type="sldNum" sz="quarter" idx="5"/>
          </p:nvPr>
        </p:nvSpPr>
        <p:spPr/>
        <p:txBody>
          <a:bodyPr/>
          <a:lstStyle/>
          <a:p>
            <a:fld id="{C55E3DE0-5E9E-8947-9DAA-E91C371FD659}" type="slidenum">
              <a:rPr lang="en-SE" smtClean="0"/>
              <a:t>17</a:t>
            </a:fld>
            <a:endParaRPr lang="en-SE"/>
          </a:p>
        </p:txBody>
      </p:sp>
    </p:spTree>
    <p:extLst>
      <p:ext uri="{BB962C8B-B14F-4D97-AF65-F5344CB8AC3E}">
        <p14:creationId xmlns:p14="http://schemas.microsoft.com/office/powerpoint/2010/main" val="56590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simplicity, [c] let’s assume each user is associated with one domain and that all processes ran by the user belong to such domain. </a:t>
            </a:r>
          </a:p>
          <a:p>
            <a:r>
              <a:rPr lang="en-US" dirty="0"/>
              <a:t>In the example, we have a user A and his/her processes also belong to domain A.</a:t>
            </a:r>
          </a:p>
          <a:p>
            <a:r>
              <a:rPr lang="en-US" dirty="0"/>
              <a:t>We define one access control list per file. As the name suggests, it is a list, and [c] it is scanned in order, stopping at the first entry that matches. </a:t>
            </a:r>
          </a:p>
          <a:p>
            <a:r>
              <a:rPr lang="en-US" dirty="0"/>
              <a:t>If no rights are found for a given domain, then we assume such a domain as no rights associated with it.</a:t>
            </a:r>
          </a:p>
          <a:p>
            <a:r>
              <a:rPr lang="en-US" dirty="0"/>
              <a:t>[c] The entry can contain the usual permissions for reading (R) writing (W) and executing (X) but nothing prevents a system from defining more rights.</a:t>
            </a:r>
          </a:p>
          <a:p>
            <a:r>
              <a:rPr lang="en-US" dirty="0"/>
              <a:t>An important aspect here is how we implement such a system. More concretely, what are the specific elements we store in each entry?</a:t>
            </a:r>
          </a:p>
          <a:p>
            <a:r>
              <a:rPr lang="en-US" dirty="0"/>
              <a:t>[c] First, we can distinguish rights for individuals and for groups (the latter are useful when we want to apply the same rights to a set of individuals that share some features, e.g., students).</a:t>
            </a:r>
          </a:p>
          <a:p>
            <a:r>
              <a:rPr lang="en-US" dirty="0"/>
              <a:t>Then, we can store rights as pairs &lt;UID,GID&gt;. In this case, we refer to them as ROLES, since each set of rights is associated not only to a user but also to the group such user is representing (and one user could in principle be associated with multiple groups).</a:t>
            </a:r>
          </a:p>
          <a:p>
            <a:r>
              <a:rPr lang="en-US" dirty="0"/>
              <a:t>In such a case, we could also use wildcards, to define rights that apply to a user independently of each group (&lt;UID,*&gt;).</a:t>
            </a:r>
          </a:p>
          <a:p>
            <a:r>
              <a:rPr lang="en-US" dirty="0"/>
              <a:t>An alternative implementation is to store rights on a per-user / per-group basis. [c]</a:t>
            </a:r>
          </a:p>
          <a:p>
            <a:endParaRPr lang="en-US" dirty="0"/>
          </a:p>
          <a:p>
            <a:endParaRPr lang="en-US" dirty="0"/>
          </a:p>
          <a:p>
            <a:r>
              <a:rPr lang="en-US" dirty="0"/>
              <a:t>[Notice ACL are more powerful than standard Unix permissions]</a:t>
            </a:r>
          </a:p>
        </p:txBody>
      </p:sp>
      <p:sp>
        <p:nvSpPr>
          <p:cNvPr id="4" name="Slide Number Placeholder 3"/>
          <p:cNvSpPr>
            <a:spLocks noGrp="1"/>
          </p:cNvSpPr>
          <p:nvPr>
            <p:ph type="sldNum" sz="quarter" idx="5"/>
          </p:nvPr>
        </p:nvSpPr>
        <p:spPr/>
        <p:txBody>
          <a:bodyPr/>
          <a:lstStyle/>
          <a:p>
            <a:fld id="{C55E3DE0-5E9E-8947-9DAA-E91C371FD659}" type="slidenum">
              <a:rPr lang="en-SE" smtClean="0"/>
              <a:t>18</a:t>
            </a:fld>
            <a:endParaRPr lang="en-SE"/>
          </a:p>
        </p:txBody>
      </p:sp>
    </p:spTree>
    <p:extLst>
      <p:ext uri="{BB962C8B-B14F-4D97-AF65-F5344CB8AC3E}">
        <p14:creationId xmlns:p14="http://schemas.microsoft.com/office/powerpoint/2010/main" val="15917078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Revoking or granting permissions is simple using access control lists.</a:t>
            </a:r>
          </a:p>
          <a:p>
            <a:r>
              <a:rPr lang="en-US" dirty="0"/>
              <a:t>Let’s say we want to change the rights associated with user A so that user A can no longer do anything with file F1.</a:t>
            </a:r>
          </a:p>
          <a:p>
            <a:r>
              <a:rPr lang="en-US" dirty="0"/>
              <a:t>If we append to the ACL of F1 the pair &lt;A,*&gt;=(none) then this will be always the first entry matched for user A, and user A will thus have no rights for file F1.</a:t>
            </a:r>
          </a:p>
          <a:p>
            <a:r>
              <a:rPr lang="en-US" dirty="0"/>
              <a:t>Notice though we might want to clean and keep our access control list in order, to prevent it from ever-growing. [c]</a:t>
            </a:r>
          </a:p>
        </p:txBody>
      </p:sp>
      <p:sp>
        <p:nvSpPr>
          <p:cNvPr id="4" name="Slide Number Placeholder 3"/>
          <p:cNvSpPr>
            <a:spLocks noGrp="1"/>
          </p:cNvSpPr>
          <p:nvPr>
            <p:ph type="sldNum" sz="quarter" idx="5"/>
          </p:nvPr>
        </p:nvSpPr>
        <p:spPr/>
        <p:txBody>
          <a:bodyPr/>
          <a:lstStyle/>
          <a:p>
            <a:fld id="{C55E3DE0-5E9E-8947-9DAA-E91C371FD659}" type="slidenum">
              <a:rPr lang="en-SE" smtClean="0"/>
              <a:t>19</a:t>
            </a:fld>
            <a:endParaRPr lang="en-SE"/>
          </a:p>
        </p:txBody>
      </p:sp>
    </p:spTree>
    <p:extLst>
      <p:ext uri="{BB962C8B-B14F-4D97-AF65-F5344CB8AC3E}">
        <p14:creationId xmlns:p14="http://schemas.microsoft.com/office/powerpoint/2010/main" val="867820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move now to capabilities. [c]</a:t>
            </a:r>
          </a:p>
        </p:txBody>
      </p:sp>
      <p:sp>
        <p:nvSpPr>
          <p:cNvPr id="4" name="Slide Number Placeholder 3"/>
          <p:cNvSpPr>
            <a:spLocks noGrp="1"/>
          </p:cNvSpPr>
          <p:nvPr>
            <p:ph type="sldNum" sz="quarter" idx="5"/>
          </p:nvPr>
        </p:nvSpPr>
        <p:spPr/>
        <p:txBody>
          <a:bodyPr/>
          <a:lstStyle/>
          <a:p>
            <a:fld id="{C55E3DE0-5E9E-8947-9DAA-E91C371FD659}" type="slidenum">
              <a:rPr lang="en-SE" smtClean="0"/>
              <a:t>20</a:t>
            </a:fld>
            <a:endParaRPr lang="en-SE"/>
          </a:p>
        </p:txBody>
      </p:sp>
    </p:spTree>
    <p:extLst>
      <p:ext uri="{BB962C8B-B14F-4D97-AF65-F5344CB8AC3E}">
        <p14:creationId xmlns:p14="http://schemas.microsoft.com/office/powerpoint/2010/main" val="23462739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we associate a list of permissions to each domain/process. Each entry in the list is a capability, a file (or another object), and the set of rights associated with it.</a:t>
            </a:r>
          </a:p>
          <a:p>
            <a:r>
              <a:rPr lang="en-US" dirty="0"/>
              <a:t>[c] since two domains can have part of their capabilities lists overlapping, they could use pointers to point to other lists hierarchically. </a:t>
            </a:r>
          </a:p>
          <a:p>
            <a:r>
              <a:rPr lang="en-US" dirty="0"/>
              <a:t>[c] Also in this case, we can have the common read, write, and execute rights, as well as other additional rights that are specific to a certain system or operating system. [c]</a:t>
            </a:r>
          </a:p>
        </p:txBody>
      </p:sp>
      <p:sp>
        <p:nvSpPr>
          <p:cNvPr id="4" name="Slide Number Placeholder 3"/>
          <p:cNvSpPr>
            <a:spLocks noGrp="1"/>
          </p:cNvSpPr>
          <p:nvPr>
            <p:ph type="sldNum" sz="quarter" idx="5"/>
          </p:nvPr>
        </p:nvSpPr>
        <p:spPr/>
        <p:txBody>
          <a:bodyPr/>
          <a:lstStyle/>
          <a:p>
            <a:fld id="{C55E3DE0-5E9E-8947-9DAA-E91C371FD659}" type="slidenum">
              <a:rPr lang="en-SE" smtClean="0"/>
              <a:t>21</a:t>
            </a:fld>
            <a:endParaRPr lang="en-SE"/>
          </a:p>
        </p:txBody>
      </p:sp>
    </p:spTree>
    <p:extLst>
      <p:ext uri="{BB962C8B-B14F-4D97-AF65-F5344CB8AC3E}">
        <p14:creationId xmlns:p14="http://schemas.microsoft.com/office/powerpoint/2010/main" val="15499061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ask ourselves: how to prevent a user from altering his/her capabilities?</a:t>
            </a:r>
          </a:p>
          <a:p>
            <a:r>
              <a:rPr lang="en-US" dirty="0"/>
              <a:t>[c] One way is to use a so-called tagged architecture. In this case, each word in memory (the word is the unit of data used by the processor) has a special bit (the tag) that, if set, indicates the word contains a capability and can only be changed when in kernel mode (i.e., by an OS process or a trusted process).</a:t>
            </a:r>
          </a:p>
          <a:p>
            <a:r>
              <a:rPr lang="en-US" dirty="0"/>
              <a:t>[c] A second way to go is to keep the capabilities lists in OS memory, so user processes can point to them but not alter them.</a:t>
            </a:r>
          </a:p>
          <a:p>
            <a:r>
              <a:rPr lang="en-US" dirty="0"/>
              <a:t>[c] Finally, a third way to go, which is particularly useful in distributed systems, is for user processes to prove their rights are indeed correct when using files maintained by remote servers. This techniques simplifies the sharing of files/rights in distributed systems.</a:t>
            </a:r>
          </a:p>
          <a:p>
            <a:r>
              <a:rPr lang="en-US" dirty="0"/>
              <a:t>Let’s assume we have a cryptographically secure one-way function f (it means from x we can compute y = f(x) but from y it is infeasible to find out x). In this case, when a file is created at the server, the server generates a random number (called check) and returns to the client the file id, the rights, and f(file id/Rights/Check), without giving the value of check back to the client but rather storing it locally. When the client wants to access the file, it shares the id, the rights, and the value of f. The server recomputes f taking the file id and rights from the client, but the check from its tables. If the values match, then the rights claimed by the client are correct and the request can be honored. [c]</a:t>
            </a:r>
          </a:p>
          <a:p>
            <a:endParaRPr lang="en-US" dirty="0"/>
          </a:p>
          <a:p>
            <a:r>
              <a:rPr lang="en-US" dirty="0"/>
              <a:t>here explain the example for Figure 9.9 in detail</a:t>
            </a:r>
          </a:p>
        </p:txBody>
      </p:sp>
      <p:sp>
        <p:nvSpPr>
          <p:cNvPr id="4" name="Slide Number Placeholder 3"/>
          <p:cNvSpPr>
            <a:spLocks noGrp="1"/>
          </p:cNvSpPr>
          <p:nvPr>
            <p:ph type="sldNum" sz="quarter" idx="5"/>
          </p:nvPr>
        </p:nvSpPr>
        <p:spPr/>
        <p:txBody>
          <a:bodyPr/>
          <a:lstStyle/>
          <a:p>
            <a:fld id="{C55E3DE0-5E9E-8947-9DAA-E91C371FD659}" type="slidenum">
              <a:rPr lang="en-SE" smtClean="0"/>
              <a:t>22</a:t>
            </a:fld>
            <a:endParaRPr lang="en-SE"/>
          </a:p>
        </p:txBody>
      </p:sp>
    </p:spTree>
    <p:extLst>
      <p:ext uri="{BB962C8B-B14F-4D97-AF65-F5344CB8AC3E}">
        <p14:creationId xmlns:p14="http://schemas.microsoft.com/office/powerpoint/2010/main" val="39694885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discussing Access Control Lists and Capabilities, we can now move to a different topic, that of Authentication. [c]</a:t>
            </a:r>
          </a:p>
        </p:txBody>
      </p:sp>
      <p:sp>
        <p:nvSpPr>
          <p:cNvPr id="4" name="Slide Number Placeholder 3"/>
          <p:cNvSpPr>
            <a:spLocks noGrp="1"/>
          </p:cNvSpPr>
          <p:nvPr>
            <p:ph type="sldNum" sz="quarter" idx="5"/>
          </p:nvPr>
        </p:nvSpPr>
        <p:spPr/>
        <p:txBody>
          <a:bodyPr/>
          <a:lstStyle/>
          <a:p>
            <a:fld id="{C55E3DE0-5E9E-8947-9DAA-E91C371FD659}" type="slidenum">
              <a:rPr lang="en-SE" smtClean="0"/>
              <a:t>23</a:t>
            </a:fld>
            <a:endParaRPr lang="en-SE"/>
          </a:p>
        </p:txBody>
      </p:sp>
    </p:spTree>
    <p:extLst>
      <p:ext uri="{BB962C8B-B14F-4D97-AF65-F5344CB8AC3E}">
        <p14:creationId xmlns:p14="http://schemas.microsoft.com/office/powerpoint/2010/main" val="32012049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Simply put, authentication is needed to be sure (to the extent possible) about who the user is before enforcing a certain policy.</a:t>
            </a:r>
          </a:p>
          <a:p>
            <a:r>
              <a:rPr lang="en-US" dirty="0"/>
              <a:t>This is because, as we saw, policies are user-specific. </a:t>
            </a:r>
          </a:p>
          <a:p>
            <a:r>
              <a:rPr lang="en-US" dirty="0"/>
              <a:t>There are different ways for a user to prove he/she is who he/she says: one option can be for the user to show that he/she knows something (like a password), </a:t>
            </a:r>
          </a:p>
          <a:p>
            <a:r>
              <a:rPr lang="en-US" dirty="0"/>
              <a:t>another to prove that he/she has something, or to prove that he/she is someone.</a:t>
            </a:r>
          </a:p>
          <a:p>
            <a:r>
              <a:rPr lang="en-US" dirty="0"/>
              <a:t>These methods can of course be used not only in isolation but also combined. [c]</a:t>
            </a:r>
          </a:p>
        </p:txBody>
      </p:sp>
      <p:sp>
        <p:nvSpPr>
          <p:cNvPr id="4" name="Slide Number Placeholder 3"/>
          <p:cNvSpPr>
            <a:spLocks noGrp="1"/>
          </p:cNvSpPr>
          <p:nvPr>
            <p:ph type="sldNum" sz="quarter" idx="5"/>
          </p:nvPr>
        </p:nvSpPr>
        <p:spPr/>
        <p:txBody>
          <a:bodyPr/>
          <a:lstStyle/>
          <a:p>
            <a:fld id="{C55E3DE0-5E9E-8947-9DAA-E91C371FD659}" type="slidenum">
              <a:rPr lang="en-SE" smtClean="0"/>
              <a:t>24</a:t>
            </a:fld>
            <a:endParaRPr lang="en-SE"/>
          </a:p>
        </p:txBody>
      </p:sp>
    </p:spTree>
    <p:extLst>
      <p:ext uri="{BB962C8B-B14F-4D97-AF65-F5344CB8AC3E}">
        <p14:creationId xmlns:p14="http://schemas.microsoft.com/office/powerpoint/2010/main" val="918943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focus on passwords, which are the solution that is commonly adopted, we can agree on the fact that the following are all bad ideas (you can have a look at this by yourself).</a:t>
            </a:r>
          </a:p>
          <a:p>
            <a:r>
              <a:rPr lang="en-US" dirty="0"/>
              <a:t>A prominent example of why these are all bad ideas is the Stuxnet attack; you can search for it and will see how something critical has the Iranian nuclear program has been affected by one of these bad ideas. [c]</a:t>
            </a:r>
          </a:p>
        </p:txBody>
      </p:sp>
      <p:sp>
        <p:nvSpPr>
          <p:cNvPr id="4" name="Slide Number Placeholder 3"/>
          <p:cNvSpPr>
            <a:spLocks noGrp="1"/>
          </p:cNvSpPr>
          <p:nvPr>
            <p:ph type="sldNum" sz="quarter" idx="5"/>
          </p:nvPr>
        </p:nvSpPr>
        <p:spPr/>
        <p:txBody>
          <a:bodyPr/>
          <a:lstStyle/>
          <a:p>
            <a:fld id="{C55E3DE0-5E9E-8947-9DAA-E91C371FD659}" type="slidenum">
              <a:rPr lang="en-SE" smtClean="0"/>
              <a:t>25</a:t>
            </a:fld>
            <a:endParaRPr lang="en-SE"/>
          </a:p>
        </p:txBody>
      </p:sp>
    </p:spTree>
    <p:extLst>
      <p:ext uri="{BB962C8B-B14F-4D97-AF65-F5344CB8AC3E}">
        <p14:creationId xmlns:p14="http://schemas.microsoft.com/office/powerpoint/2010/main" val="23130239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agreed that storing directly the password associated with each user is not a good idea, we can look at how authentication works in Unix.</a:t>
            </a:r>
          </a:p>
          <a:p>
            <a:r>
              <a:rPr lang="en-US" dirty="0"/>
              <a:t>A simple form of authentication (which is not adopted because it is not secure enough) is to store the result obtained when encrypting a fixed block of data with the user password rather than storing the password itself.</a:t>
            </a:r>
          </a:p>
          <a:p>
            <a:r>
              <a:rPr lang="en-US" dirty="0"/>
              <a:t>As we mentioned before, if we have a cryptographically secure one-way function f it means that from x we can compute y = f(x) but from y it is infeasible to find out x (which would be the password in this case).</a:t>
            </a:r>
          </a:p>
          <a:p>
            <a:r>
              <a:rPr lang="en-US" dirty="0"/>
              <a:t>Notice that, in this case, it is nonetheless possible to exploit dictionary attacks (simply put, to try all common passwords/combinations of words until one matches the encrypted set of characters).</a:t>
            </a:r>
          </a:p>
          <a:p>
            <a:r>
              <a:rPr lang="en-US" dirty="0"/>
              <a:t>Notice that if a match is found, all users having the same encryption result also have the same password. [c]</a:t>
            </a:r>
          </a:p>
        </p:txBody>
      </p:sp>
      <p:sp>
        <p:nvSpPr>
          <p:cNvPr id="4" name="Slide Number Placeholder 3"/>
          <p:cNvSpPr>
            <a:spLocks noGrp="1"/>
          </p:cNvSpPr>
          <p:nvPr>
            <p:ph type="sldNum" sz="quarter" idx="5"/>
          </p:nvPr>
        </p:nvSpPr>
        <p:spPr/>
        <p:txBody>
          <a:bodyPr/>
          <a:lstStyle/>
          <a:p>
            <a:fld id="{C55E3DE0-5E9E-8947-9DAA-E91C371FD659}" type="slidenum">
              <a:rPr lang="en-SE" smtClean="0"/>
              <a:t>26</a:t>
            </a:fld>
            <a:endParaRPr lang="en-SE"/>
          </a:p>
        </p:txBody>
      </p:sp>
    </p:spTree>
    <p:extLst>
      <p:ext uri="{BB962C8B-B14F-4D97-AF65-F5344CB8AC3E}">
        <p14:creationId xmlns:p14="http://schemas.microsoft.com/office/powerpoint/2010/main" val="2472335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variation to make Unix authentication more secure is that of using an additional n-bit salt (a random prefix of n bits) for each user password.</a:t>
            </a:r>
          </a:p>
          <a:p>
            <a:r>
              <a:rPr lang="en-US" dirty="0"/>
              <a:t>Assuming that the value is indeed random and cannot be found out by the attacker, this implies that each word in the dictionary should be tested with 2^n prefixes, which for large-enough n values becomes infeasible [c]</a:t>
            </a:r>
          </a:p>
        </p:txBody>
      </p:sp>
      <p:sp>
        <p:nvSpPr>
          <p:cNvPr id="4" name="Slide Number Placeholder 3"/>
          <p:cNvSpPr>
            <a:spLocks noGrp="1"/>
          </p:cNvSpPr>
          <p:nvPr>
            <p:ph type="sldNum" sz="quarter" idx="5"/>
          </p:nvPr>
        </p:nvSpPr>
        <p:spPr/>
        <p:txBody>
          <a:bodyPr/>
          <a:lstStyle/>
          <a:p>
            <a:fld id="{C55E3DE0-5E9E-8947-9DAA-E91C371FD659}" type="slidenum">
              <a:rPr lang="en-SE" smtClean="0"/>
              <a:t>27</a:t>
            </a:fld>
            <a:endParaRPr lang="en-SE"/>
          </a:p>
        </p:txBody>
      </p:sp>
    </p:spTree>
    <p:extLst>
      <p:ext uri="{BB962C8B-B14F-4D97-AF65-F5344CB8AC3E}">
        <p14:creationId xmlns:p14="http://schemas.microsoft.com/office/powerpoint/2010/main" val="757591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different alternative is to use one-time passwords. In this case, an interesting example is that of one-way hash chain functions.</a:t>
            </a:r>
          </a:p>
          <a:p>
            <a:r>
              <a:rPr lang="en-US" dirty="0"/>
              <a:t>Supposing you have at your disposition a cryptographically secure one-way function (here simply called a hash function) for which the input and the output have the same length, and also supposing you want to use up to n one-time passwords,</a:t>
            </a:r>
          </a:p>
          <a:p>
            <a:r>
              <a:rPr lang="en-US" dirty="0"/>
              <a:t>you can compute [c] the first password (P1) applying the function n times, as shown in the slide.</a:t>
            </a:r>
          </a:p>
          <a:p>
            <a:r>
              <a:rPr lang="en-US" dirty="0"/>
              <a:t>[c] P2 can be computed applying the function n–1 times and, in general, [c] the </a:t>
            </a:r>
            <a:r>
              <a:rPr lang="en-US" dirty="0" err="1"/>
              <a:t>i-th</a:t>
            </a:r>
            <a:r>
              <a:rPr lang="en-US" dirty="0"/>
              <a:t> password can be computed applying the function over the (i+1)-</a:t>
            </a:r>
            <a:r>
              <a:rPr lang="en-US" dirty="0" err="1"/>
              <a:t>th</a:t>
            </a:r>
            <a:r>
              <a:rPr lang="en-US" dirty="0"/>
              <a:t> function.</a:t>
            </a:r>
          </a:p>
          <a:p>
            <a:r>
              <a:rPr lang="en-US" dirty="0"/>
              <a:t>That is, if you want to check that password i+1 is correct, you can check that its hash equals password </a:t>
            </a:r>
            <a:r>
              <a:rPr lang="en-US" dirty="0" err="1"/>
              <a:t>i</a:t>
            </a:r>
            <a:r>
              <a:rPr lang="en-US" dirty="0"/>
              <a:t> (but remember you cannot find password i+1 from password </a:t>
            </a:r>
            <a:r>
              <a:rPr lang="en-US" dirty="0" err="1"/>
              <a:t>i</a:t>
            </a:r>
            <a:r>
              <a:rPr lang="en-US" dirty="0"/>
              <a:t>). [c]</a:t>
            </a:r>
          </a:p>
          <a:p>
            <a:endParaRPr lang="en-US" dirty="0"/>
          </a:p>
          <a:p>
            <a:r>
              <a:rPr lang="en-US" dirty="0"/>
              <a:t>Seed (x0) </a:t>
            </a:r>
          </a:p>
          <a:p>
            <a:r>
              <a:rPr lang="en-US" dirty="0"/>
              <a:t>   |</a:t>
            </a:r>
          </a:p>
          <a:p>
            <a:r>
              <a:rPr lang="en-US" dirty="0"/>
              <a:t>   v f(x)</a:t>
            </a:r>
          </a:p>
          <a:p>
            <a:r>
              <a:rPr lang="en-US" dirty="0"/>
              <a:t>[x1]  &lt;---  f(x0)</a:t>
            </a:r>
          </a:p>
          <a:p>
            <a:r>
              <a:rPr lang="en-US" dirty="0"/>
              <a:t>   |</a:t>
            </a:r>
          </a:p>
          <a:p>
            <a:r>
              <a:rPr lang="en-US" dirty="0"/>
              <a:t>   v f(x)</a:t>
            </a:r>
          </a:p>
          <a:p>
            <a:r>
              <a:rPr lang="en-US" dirty="0"/>
              <a:t>[x2]  &lt;---  f(x1)</a:t>
            </a:r>
          </a:p>
          <a:p>
            <a:r>
              <a:rPr lang="en-US" dirty="0"/>
              <a:t>   |</a:t>
            </a:r>
          </a:p>
          <a:p>
            <a:r>
              <a:rPr lang="en-US" dirty="0"/>
              <a:t>   v f(x)</a:t>
            </a:r>
          </a:p>
          <a:p>
            <a:r>
              <a:rPr lang="en-US" dirty="0"/>
              <a:t>[x3]  &lt;---  f(x2)</a:t>
            </a:r>
          </a:p>
          <a:p>
            <a:r>
              <a:rPr lang="en-US" dirty="0"/>
              <a:t>   |</a:t>
            </a:r>
          </a:p>
          <a:p>
            <a:r>
              <a:rPr lang="en-US" dirty="0"/>
              <a:t>   v f(x)</a:t>
            </a:r>
          </a:p>
          <a:p>
            <a:r>
              <a:rPr lang="en-US" dirty="0"/>
              <a:t>[x4]  &lt;---  f(x3)   (this one is stored/published)</a:t>
            </a:r>
          </a:p>
          <a:p>
            <a:endParaRPr lang="en-US" dirty="0"/>
          </a:p>
          <a:p>
            <a:r>
              <a:rPr lang="en-US" dirty="0"/>
              <a:t>The last step builds on </a:t>
            </a:r>
            <a:r>
              <a:rPr lang="en-US" err="1"/>
              <a:t>authehtication</a:t>
            </a:r>
            <a:r>
              <a:rPr lang="en-US"/>
              <a:t> assumption</a:t>
            </a:r>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28</a:t>
            </a:fld>
            <a:endParaRPr lang="en-SE"/>
          </a:p>
        </p:txBody>
      </p:sp>
    </p:spTree>
    <p:extLst>
      <p:ext uri="{BB962C8B-B14F-4D97-AF65-F5344CB8AC3E}">
        <p14:creationId xmlns:p14="http://schemas.microsoft.com/office/powerpoint/2010/main" val="34722100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server can store P0 and value 1.</a:t>
            </a:r>
          </a:p>
          <a:p>
            <a:r>
              <a:rPr lang="en-US" dirty="0"/>
              <a:t>When the user wants to connect, the server requests password 1, and to check if it is correct, it hashes it and compares it with the local one.</a:t>
            </a:r>
          </a:p>
          <a:p>
            <a:r>
              <a:rPr lang="en-US" dirty="0"/>
              <a:t>If they are the same, then the server can increase its value to 2 (it means next time it will ask the user to give password 2) and update its local password value to P1.</a:t>
            </a:r>
          </a:p>
          <a:p>
            <a:r>
              <a:rPr lang="en-US" dirty="0"/>
              <a:t>And this, of course, can be repeated up to n times.[c]</a:t>
            </a:r>
          </a:p>
        </p:txBody>
      </p:sp>
      <p:sp>
        <p:nvSpPr>
          <p:cNvPr id="4" name="Slide Number Placeholder 3"/>
          <p:cNvSpPr>
            <a:spLocks noGrp="1"/>
          </p:cNvSpPr>
          <p:nvPr>
            <p:ph type="sldNum" sz="quarter" idx="5"/>
          </p:nvPr>
        </p:nvSpPr>
        <p:spPr/>
        <p:txBody>
          <a:bodyPr/>
          <a:lstStyle/>
          <a:p>
            <a:fld id="{C55E3DE0-5E9E-8947-9DAA-E91C371FD659}" type="slidenum">
              <a:rPr lang="en-SE" smtClean="0"/>
              <a:t>29</a:t>
            </a:fld>
            <a:endParaRPr lang="en-SE"/>
          </a:p>
        </p:txBody>
      </p:sp>
    </p:spTree>
    <p:extLst>
      <p:ext uri="{BB962C8B-B14F-4D97-AF65-F5344CB8AC3E}">
        <p14:creationId xmlns:p14="http://schemas.microsoft.com/office/powerpoint/2010/main" val="21203769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 mentioned before, there are several ways in which authentication can be performed. An alternative to passwords is that of challenge-response authentication.</a:t>
            </a:r>
          </a:p>
          <a:p>
            <a:r>
              <a:rPr lang="en-US" dirty="0"/>
              <a:t>A simple way to implement this is to choose as the secret to share the answer to a certain question, an answer that is known by the user but not by anyone else. This of course still requires the server-side storing to be secure! [c]</a:t>
            </a:r>
          </a:p>
          <a:p>
            <a:r>
              <a:rPr lang="en-US" dirty="0"/>
              <a:t>The user might also choose a certain algorithm and provide the output of such algorithm to the input provided by the server (in this case the algorithm cannot be trivial, otherwise the attacker can learn it easily) [c]</a:t>
            </a:r>
          </a:p>
          <a:p>
            <a:r>
              <a:rPr lang="en-US" dirty="0"/>
              <a:t>Finally, a way to go is also for the server and user to share an initial password k and for both to compute a certain function f over k and a value r shared by the server. If f is a complex function (and user/server have enough computational power to run it) and both and r and k are large enough, it might be infeasible for the attacker to recover k (even if f is known). [c]</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30</a:t>
            </a:fld>
            <a:endParaRPr lang="en-SE"/>
          </a:p>
        </p:txBody>
      </p:sp>
    </p:spTree>
    <p:extLst>
      <p:ext uri="{BB962C8B-B14F-4D97-AF65-F5344CB8AC3E}">
        <p14:creationId xmlns:p14="http://schemas.microsoft.com/office/powerpoint/2010/main" val="22342307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alternatives include authentication using physical objects such as smart cards and biometrics. [c]</a:t>
            </a:r>
          </a:p>
          <a:p>
            <a:r>
              <a:rPr lang="en-US" dirty="0"/>
              <a:t>In the case of biometrics, an important aspect to account for is variability, to have enough distance in the features between users while allowing some distance even for the same user (our face does not look always the same, to make a simple example) [c]</a:t>
            </a:r>
          </a:p>
          <a:p>
            <a:r>
              <a:rPr lang="en-US" dirty="0"/>
              <a:t>Of course, another important aspect is to realize many techniques can be used at the same time. [c]</a:t>
            </a:r>
          </a:p>
        </p:txBody>
      </p:sp>
      <p:sp>
        <p:nvSpPr>
          <p:cNvPr id="4" name="Slide Number Placeholder 3"/>
          <p:cNvSpPr>
            <a:spLocks noGrp="1"/>
          </p:cNvSpPr>
          <p:nvPr>
            <p:ph type="sldNum" sz="quarter" idx="5"/>
          </p:nvPr>
        </p:nvSpPr>
        <p:spPr/>
        <p:txBody>
          <a:bodyPr/>
          <a:lstStyle/>
          <a:p>
            <a:fld id="{C55E3DE0-5E9E-8947-9DAA-E91C371FD659}" type="slidenum">
              <a:rPr lang="en-SE" smtClean="0"/>
              <a:t>31</a:t>
            </a:fld>
            <a:endParaRPr lang="en-SE"/>
          </a:p>
        </p:txBody>
      </p:sp>
    </p:spTree>
    <p:extLst>
      <p:ext uri="{BB962C8B-B14F-4D97-AF65-F5344CB8AC3E}">
        <p14:creationId xmlns:p14="http://schemas.microsoft.com/office/powerpoint/2010/main" val="16487389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focus on cards, we can distinguish at least three types.</a:t>
            </a:r>
          </a:p>
          <a:p>
            <a:r>
              <a:rPr lang="en-US" dirty="0"/>
              <a:t>Magnetic stripe cards that contain read-only values (the password for instance),</a:t>
            </a:r>
          </a:p>
          <a:p>
            <a:r>
              <a:rPr lang="en-US" dirty="0"/>
              <a:t>chip cards that contain values that can be updated, and</a:t>
            </a:r>
          </a:p>
          <a:p>
            <a:r>
              <a:rPr lang="en-US" dirty="0"/>
              <a:t>Smart cards that also mount a small CPU and are also capable of participating in the check for authentication, for instance when using challenge-response authentication,</a:t>
            </a:r>
          </a:p>
          <a:p>
            <a:r>
              <a:rPr lang="en-US" dirty="0"/>
              <a:t>or by having the cards computing a small encrypted message (that could be helpful when buying something and having no connectivity) and then giving such token to the seller, who can give it later on to the bank to claim the money [c]</a:t>
            </a:r>
          </a:p>
        </p:txBody>
      </p:sp>
      <p:sp>
        <p:nvSpPr>
          <p:cNvPr id="4" name="Slide Number Placeholder 3"/>
          <p:cNvSpPr>
            <a:spLocks noGrp="1"/>
          </p:cNvSpPr>
          <p:nvPr>
            <p:ph type="sldNum" sz="quarter" idx="5"/>
          </p:nvPr>
        </p:nvSpPr>
        <p:spPr/>
        <p:txBody>
          <a:bodyPr/>
          <a:lstStyle/>
          <a:p>
            <a:fld id="{C55E3DE0-5E9E-8947-9DAA-E91C371FD659}" type="slidenum">
              <a:rPr lang="en-SE" smtClean="0"/>
              <a:t>32</a:t>
            </a:fld>
            <a:endParaRPr lang="en-SE"/>
          </a:p>
        </p:txBody>
      </p:sp>
    </p:spTree>
    <p:extLst>
      <p:ext uri="{BB962C8B-B14F-4D97-AF65-F5344CB8AC3E}">
        <p14:creationId xmlns:p14="http://schemas.microsoft.com/office/powerpoint/2010/main" val="41418994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now to the last part of this lecture, focusing on bugs and how they can be exploited by adversaries.</a:t>
            </a:r>
          </a:p>
          <a:p>
            <a:r>
              <a:rPr lang="en-US" dirty="0"/>
              <a:t>In this case, we will focus on a specific type of attack, the buffer overflow attack. [c]</a:t>
            </a:r>
          </a:p>
        </p:txBody>
      </p:sp>
      <p:sp>
        <p:nvSpPr>
          <p:cNvPr id="4" name="Slide Number Placeholder 3"/>
          <p:cNvSpPr>
            <a:spLocks noGrp="1"/>
          </p:cNvSpPr>
          <p:nvPr>
            <p:ph type="sldNum" sz="quarter" idx="5"/>
          </p:nvPr>
        </p:nvSpPr>
        <p:spPr/>
        <p:txBody>
          <a:bodyPr/>
          <a:lstStyle/>
          <a:p>
            <a:fld id="{C55E3DE0-5E9E-8947-9DAA-E91C371FD659}" type="slidenum">
              <a:rPr lang="en-SE" smtClean="0"/>
              <a:t>33</a:t>
            </a:fld>
            <a:endParaRPr lang="en-SE"/>
          </a:p>
        </p:txBody>
      </p:sp>
    </p:spTree>
    <p:extLst>
      <p:ext uri="{BB962C8B-B14F-4D97-AF65-F5344CB8AC3E}">
        <p14:creationId xmlns:p14="http://schemas.microsoft.com/office/powerpoint/2010/main" val="1805347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focusing on buffer overflow attacks, let me focus on some general considerations.</a:t>
            </a:r>
          </a:p>
          <a:p>
            <a:r>
              <a:rPr lang="en-US" dirty="0"/>
              <a:t>It should be clear that cracking a password is only one way to gain control from the attacker's perspective. There can be alternative ways, which even require fewer efforts in some cases.</a:t>
            </a:r>
          </a:p>
          <a:p>
            <a:r>
              <a:rPr lang="en-US" dirty="0"/>
              <a:t>One of them is to manage to trick the user into doing something that will harm him/her, and this could be done by infecting the browser, have users download malicious content, and so on...</a:t>
            </a:r>
          </a:p>
          <a:p>
            <a:r>
              <a:rPr lang="en-US" dirty="0"/>
              <a:t>The other is to exploit bugs, which are definitely there in Operating systems [c]</a:t>
            </a:r>
          </a:p>
        </p:txBody>
      </p:sp>
      <p:sp>
        <p:nvSpPr>
          <p:cNvPr id="4" name="Slide Number Placeholder 3"/>
          <p:cNvSpPr>
            <a:spLocks noGrp="1"/>
          </p:cNvSpPr>
          <p:nvPr>
            <p:ph type="sldNum" sz="quarter" idx="5"/>
          </p:nvPr>
        </p:nvSpPr>
        <p:spPr/>
        <p:txBody>
          <a:bodyPr/>
          <a:lstStyle/>
          <a:p>
            <a:fld id="{C55E3DE0-5E9E-8947-9DAA-E91C371FD659}" type="slidenum">
              <a:rPr lang="en-SE" smtClean="0"/>
              <a:t>34</a:t>
            </a:fld>
            <a:endParaRPr lang="en-SE"/>
          </a:p>
        </p:txBody>
      </p:sp>
    </p:spTree>
    <p:extLst>
      <p:ext uri="{BB962C8B-B14F-4D97-AF65-F5344CB8AC3E}">
        <p14:creationId xmlns:p14="http://schemas.microsoft.com/office/powerpoint/2010/main" val="11602309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focus now on buffer overflow attacks.</a:t>
            </a:r>
          </a:p>
          <a:p>
            <a:r>
              <a:rPr lang="en-US" dirty="0"/>
              <a:t>First, we need to know that the C programming language does not perform array bounds check. If we want to be sure we do not write in an array (a buffer of characters, for instance) something that is larger than the array itself, we need to do that explicitly.</a:t>
            </a:r>
          </a:p>
          <a:p>
            <a:r>
              <a:rPr lang="en-US" dirty="0"/>
              <a:t>Second, we need to remember that the stack of a process grows downwards, from the last address to smaller ones.</a:t>
            </a:r>
          </a:p>
          <a:p>
            <a:r>
              <a:rPr lang="en-US" dirty="0"/>
              <a:t>Let’s see now what is happening.</a:t>
            </a:r>
          </a:p>
          <a:p>
            <a:r>
              <a:rPr lang="en-US" dirty="0"/>
              <a:t>When we jump from the main function to a different function, we need to keep track of where we were, so that we can get back there once the function has completed its execution. We do this writing a return address.</a:t>
            </a:r>
          </a:p>
          <a:p>
            <a:r>
              <a:rPr lang="en-US" dirty="0"/>
              <a:t>After such a return address, we will have the various variables used by the function (A in the example).</a:t>
            </a:r>
          </a:p>
          <a:p>
            <a:r>
              <a:rPr lang="en-US" dirty="0"/>
              <a:t>Among these, we can have a buffer B.</a:t>
            </a:r>
          </a:p>
          <a:p>
            <a:r>
              <a:rPr lang="en-US" dirty="0"/>
              <a:t>If a malicious user is aware of this and also has the chance of giving back to the procedure A what should be written inside B, then it can give a longer input. This input can overwrite the return address.</a:t>
            </a:r>
          </a:p>
          <a:p>
            <a:r>
              <a:rPr lang="en-US" dirty="0"/>
              <a:t>In this case, the attacker can put a predefined value there, even pointing to an address within the input he/she just provided.</a:t>
            </a:r>
          </a:p>
          <a:p>
            <a:r>
              <a:rPr lang="en-US" dirty="0"/>
              <a:t>The code available there would then be executed next.</a:t>
            </a:r>
          </a:p>
          <a:p>
            <a:r>
              <a:rPr lang="en-US" dirty="0"/>
              <a:t>It turns out some system calls from the OS suffer from this bug. If the return address is changed to point to an injected code that starts a terminal, a malicious user can have access with full privileges to the computer (because the system call was being run by the operating system itself) [c]</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35</a:t>
            </a:fld>
            <a:endParaRPr lang="en-SE"/>
          </a:p>
        </p:txBody>
      </p:sp>
    </p:spTree>
    <p:extLst>
      <p:ext uri="{BB962C8B-B14F-4D97-AF65-F5344CB8AC3E}">
        <p14:creationId xmlns:p14="http://schemas.microsoft.com/office/powerpoint/2010/main" val="18850692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way to detect possible attacks (that is not 100% secure) is to use stack canaries.</a:t>
            </a:r>
          </a:p>
          <a:p>
            <a:r>
              <a:rPr lang="en-US" dirty="0"/>
              <a:t>In this case, just below the return address, we can add a random value and compile programs with special code that will stop the execution if such value is changed.</a:t>
            </a:r>
          </a:p>
          <a:p>
            <a:r>
              <a:rPr lang="en-US" dirty="0"/>
              <a:t>The idea is that when overflowing the buffer, the attacker will also change such random value, and the program will be able to detect this.</a:t>
            </a:r>
          </a:p>
          <a:p>
            <a:r>
              <a:rPr lang="en-US" dirty="0"/>
              <a:t>As I mention in the slide, you can check in the book how stack canaries can be avoided.[c]</a:t>
            </a:r>
          </a:p>
        </p:txBody>
      </p:sp>
      <p:sp>
        <p:nvSpPr>
          <p:cNvPr id="4" name="Slide Number Placeholder 3"/>
          <p:cNvSpPr>
            <a:spLocks noGrp="1"/>
          </p:cNvSpPr>
          <p:nvPr>
            <p:ph type="sldNum" sz="quarter" idx="5"/>
          </p:nvPr>
        </p:nvSpPr>
        <p:spPr/>
        <p:txBody>
          <a:bodyPr/>
          <a:lstStyle/>
          <a:p>
            <a:fld id="{C55E3DE0-5E9E-8947-9DAA-E91C371FD659}" type="slidenum">
              <a:rPr lang="en-SE" smtClean="0"/>
              <a:t>36</a:t>
            </a:fld>
            <a:endParaRPr lang="en-SE"/>
          </a:p>
        </p:txBody>
      </p:sp>
    </p:spTree>
    <p:extLst>
      <p:ext uri="{BB962C8B-B14F-4D97-AF65-F5344CB8AC3E}">
        <p14:creationId xmlns:p14="http://schemas.microsoft.com/office/powerpoint/2010/main" val="11436837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ways to go include the no-execute bit, which in this case is based on the hardware itself and used to specify portions of memory that cannot contain executable parts. </a:t>
            </a:r>
          </a:p>
          <a:p>
            <a:r>
              <a:rPr lang="en-US" dirty="0"/>
              <a:t>In this case, it is possible to prevent code injection attacks (because no code will be executed).</a:t>
            </a:r>
          </a:p>
        </p:txBody>
      </p:sp>
      <p:sp>
        <p:nvSpPr>
          <p:cNvPr id="4" name="Slide Number Placeholder 3"/>
          <p:cNvSpPr>
            <a:spLocks noGrp="1"/>
          </p:cNvSpPr>
          <p:nvPr>
            <p:ph type="sldNum" sz="quarter" idx="5"/>
          </p:nvPr>
        </p:nvSpPr>
        <p:spPr/>
        <p:txBody>
          <a:bodyPr/>
          <a:lstStyle/>
          <a:p>
            <a:fld id="{C55E3DE0-5E9E-8947-9DAA-E91C371FD659}" type="slidenum">
              <a:rPr lang="en-SE" smtClean="0"/>
              <a:t>37</a:t>
            </a:fld>
            <a:endParaRPr lang="en-SE"/>
          </a:p>
        </p:txBody>
      </p:sp>
    </p:spTree>
    <p:extLst>
      <p:ext uri="{BB962C8B-B14F-4D97-AF65-F5344CB8AC3E}">
        <p14:creationId xmlns:p14="http://schemas.microsoft.com/office/powerpoint/2010/main" val="33952086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C55E3DE0-5E9E-8947-9DAA-E91C371FD659}" type="slidenum">
              <a:rPr lang="en-SE" smtClean="0"/>
              <a:t>39</a:t>
            </a:fld>
            <a:endParaRPr lang="en-SE"/>
          </a:p>
        </p:txBody>
      </p:sp>
    </p:spTree>
    <p:extLst>
      <p:ext uri="{BB962C8B-B14F-4D97-AF65-F5344CB8AC3E}">
        <p14:creationId xmlns:p14="http://schemas.microsoft.com/office/powerpoint/2010/main" val="737229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FD9B6-DF2C-D0A2-0DB2-9198B217F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7CCFA-F597-B8BD-B089-A82ED4D025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528C7-E83C-A97E-8F89-587059E6D011}"/>
              </a:ext>
            </a:extLst>
          </p:cNvPr>
          <p:cNvSpPr>
            <a:spLocks noGrp="1"/>
          </p:cNvSpPr>
          <p:nvPr>
            <p:ph type="body" idx="1"/>
          </p:nvPr>
        </p:nvSpPr>
        <p:spPr/>
        <p:txBody>
          <a:bodyPr/>
          <a:lstStyle/>
          <a:p>
            <a:r>
              <a:rPr lang="en-US" dirty="0"/>
              <a:t>2</a:t>
            </a:r>
          </a:p>
        </p:txBody>
      </p:sp>
      <p:sp>
        <p:nvSpPr>
          <p:cNvPr id="4" name="Slide Number Placeholder 3">
            <a:extLst>
              <a:ext uri="{FF2B5EF4-FFF2-40B4-BE49-F238E27FC236}">
                <a16:creationId xmlns:a16="http://schemas.microsoft.com/office/drawing/2014/main" id="{413986F7-2A29-3645-2C72-60A992E16C7B}"/>
              </a:ext>
            </a:extLst>
          </p:cNvPr>
          <p:cNvSpPr>
            <a:spLocks noGrp="1"/>
          </p:cNvSpPr>
          <p:nvPr>
            <p:ph type="sldNum" sz="quarter" idx="5"/>
          </p:nvPr>
        </p:nvSpPr>
        <p:spPr/>
        <p:txBody>
          <a:bodyPr/>
          <a:lstStyle/>
          <a:p>
            <a:fld id="{C55E3DE0-5E9E-8947-9DAA-E91C371FD659}" type="slidenum">
              <a:rPr lang="en-SE" smtClean="0"/>
              <a:t>40</a:t>
            </a:fld>
            <a:endParaRPr lang="en-SE"/>
          </a:p>
        </p:txBody>
      </p:sp>
    </p:spTree>
    <p:extLst>
      <p:ext uri="{BB962C8B-B14F-4D97-AF65-F5344CB8AC3E}">
        <p14:creationId xmlns:p14="http://schemas.microsoft.com/office/powerpoint/2010/main" val="21445255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84B64-934C-F013-4CDB-C5AC1F813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77212-1E26-4BAD-8D85-4ECB5EE937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F1A50-927F-97BF-415B-88180E9F5021}"/>
              </a:ext>
            </a:extLst>
          </p:cNvPr>
          <p:cNvSpPr>
            <a:spLocks noGrp="1"/>
          </p:cNvSpPr>
          <p:nvPr>
            <p:ph type="body" idx="1"/>
          </p:nvPr>
        </p:nvSpPr>
        <p:spPr/>
        <p:txBody>
          <a:bodyPr/>
          <a:lstStyle/>
          <a:p>
            <a:r>
              <a:rPr lang="en-US" dirty="0"/>
              <a:t>3</a:t>
            </a:r>
          </a:p>
        </p:txBody>
      </p:sp>
      <p:sp>
        <p:nvSpPr>
          <p:cNvPr id="4" name="Slide Number Placeholder 3">
            <a:extLst>
              <a:ext uri="{FF2B5EF4-FFF2-40B4-BE49-F238E27FC236}">
                <a16:creationId xmlns:a16="http://schemas.microsoft.com/office/drawing/2014/main" id="{7C204142-7018-6020-9034-B0F254BF7CFC}"/>
              </a:ext>
            </a:extLst>
          </p:cNvPr>
          <p:cNvSpPr>
            <a:spLocks noGrp="1"/>
          </p:cNvSpPr>
          <p:nvPr>
            <p:ph type="sldNum" sz="quarter" idx="5"/>
          </p:nvPr>
        </p:nvSpPr>
        <p:spPr/>
        <p:txBody>
          <a:bodyPr/>
          <a:lstStyle/>
          <a:p>
            <a:fld id="{C55E3DE0-5E9E-8947-9DAA-E91C371FD659}" type="slidenum">
              <a:rPr lang="en-SE" smtClean="0"/>
              <a:t>41</a:t>
            </a:fld>
            <a:endParaRPr lang="en-SE"/>
          </a:p>
        </p:txBody>
      </p:sp>
    </p:spTree>
    <p:extLst>
      <p:ext uri="{BB962C8B-B14F-4D97-AF65-F5344CB8AC3E}">
        <p14:creationId xmlns:p14="http://schemas.microsoft.com/office/powerpoint/2010/main" val="3499685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08D14-1AEA-CE91-A753-D3D94268F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A3FA3-CDDA-8999-0B8D-D71C0B0B71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2BCEE-7BF4-D74A-F3EF-500392494F0F}"/>
              </a:ext>
            </a:extLst>
          </p:cNvPr>
          <p:cNvSpPr>
            <a:spLocks noGrp="1"/>
          </p:cNvSpPr>
          <p:nvPr>
            <p:ph type="body" idx="1"/>
          </p:nvPr>
        </p:nvSpPr>
        <p:spPr/>
        <p:txBody>
          <a:bodyPr/>
          <a:lstStyle/>
          <a:p>
            <a:r>
              <a:rPr lang="en-US" dirty="0"/>
              <a:t>1</a:t>
            </a:r>
          </a:p>
        </p:txBody>
      </p:sp>
      <p:sp>
        <p:nvSpPr>
          <p:cNvPr id="4" name="Slide Number Placeholder 3">
            <a:extLst>
              <a:ext uri="{FF2B5EF4-FFF2-40B4-BE49-F238E27FC236}">
                <a16:creationId xmlns:a16="http://schemas.microsoft.com/office/drawing/2014/main" id="{2C7EA484-20A3-7266-C747-03C01A851195}"/>
              </a:ext>
            </a:extLst>
          </p:cNvPr>
          <p:cNvSpPr>
            <a:spLocks noGrp="1"/>
          </p:cNvSpPr>
          <p:nvPr>
            <p:ph type="sldNum" sz="quarter" idx="5"/>
          </p:nvPr>
        </p:nvSpPr>
        <p:spPr/>
        <p:txBody>
          <a:bodyPr/>
          <a:lstStyle/>
          <a:p>
            <a:fld id="{C55E3DE0-5E9E-8947-9DAA-E91C371FD659}" type="slidenum">
              <a:rPr lang="en-SE" smtClean="0"/>
              <a:t>42</a:t>
            </a:fld>
            <a:endParaRPr lang="en-SE"/>
          </a:p>
        </p:txBody>
      </p:sp>
    </p:spTree>
    <p:extLst>
      <p:ext uri="{BB962C8B-B14F-4D97-AF65-F5344CB8AC3E}">
        <p14:creationId xmlns:p14="http://schemas.microsoft.com/office/powerpoint/2010/main" val="1540258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C55E3DE0-5E9E-8947-9DAA-E91C371FD659}" type="slidenum">
              <a:rPr lang="en-SE" smtClean="0"/>
              <a:t>43</a:t>
            </a:fld>
            <a:endParaRPr lang="en-SE"/>
          </a:p>
        </p:txBody>
      </p:sp>
    </p:spTree>
    <p:extLst>
      <p:ext uri="{BB962C8B-B14F-4D97-AF65-F5344CB8AC3E}">
        <p14:creationId xmlns:p14="http://schemas.microsoft.com/office/powerpoint/2010/main" val="26506524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C55E3DE0-5E9E-8947-9DAA-E91C371FD659}" type="slidenum">
              <a:rPr lang="en-SE" smtClean="0"/>
              <a:t>44</a:t>
            </a:fld>
            <a:endParaRPr lang="en-SE"/>
          </a:p>
        </p:txBody>
      </p:sp>
    </p:spTree>
    <p:extLst>
      <p:ext uri="{BB962C8B-B14F-4D97-AF65-F5344CB8AC3E}">
        <p14:creationId xmlns:p14="http://schemas.microsoft.com/office/powerpoint/2010/main" val="36168853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a:t>
            </a:r>
          </a:p>
        </p:txBody>
      </p:sp>
      <p:sp>
        <p:nvSpPr>
          <p:cNvPr id="4" name="Slide Number Placeholder 3"/>
          <p:cNvSpPr>
            <a:spLocks noGrp="1"/>
          </p:cNvSpPr>
          <p:nvPr>
            <p:ph type="sldNum" sz="quarter" idx="5"/>
          </p:nvPr>
        </p:nvSpPr>
        <p:spPr/>
        <p:txBody>
          <a:bodyPr/>
          <a:lstStyle/>
          <a:p>
            <a:fld id="{C55E3DE0-5E9E-8947-9DAA-E91C371FD659}" type="slidenum">
              <a:rPr lang="en-SE" smtClean="0"/>
              <a:t>45</a:t>
            </a:fld>
            <a:endParaRPr lang="en-SE"/>
          </a:p>
        </p:txBody>
      </p:sp>
    </p:spTree>
    <p:extLst>
      <p:ext uri="{BB962C8B-B14F-4D97-AF65-F5344CB8AC3E}">
        <p14:creationId xmlns:p14="http://schemas.microsoft.com/office/powerpoint/2010/main" val="1292645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5F0F1-1843-724F-B215-978458531AF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C0A6BDDD-4823-594E-94C3-642B9D75B6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BB19075E-76BE-0B4E-87E3-C86346B455EE}"/>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DB6D373C-59B1-C04D-9310-B49C0D7D112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F0C66AA-10AC-5145-B9AE-E4624CFFEE43}"/>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208646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1B75-9F2F-9A47-BA42-B4635B19FB8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003DF002-DD6F-5348-BEB9-948BCCF9A87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88BDE9A0-C859-934D-AAF1-F3D65323EC2E}"/>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27506BD3-C707-DB43-919F-A0EF287EA286}"/>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66A7B32A-76D9-B045-BD7F-1FB3155A81EE}"/>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556232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D1380-70E6-7540-A39E-32794F2E2AB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C4AF2A90-A6D8-6A44-8145-EFACA802F5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C691DE-5957-6245-919C-DB3776544D1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BC38DFC5-F5E1-374E-A1CC-BFC9BAF77D2F}"/>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98B57249-A2A2-2D41-B6EA-69AC9572611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654932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DB341-527A-2C4C-9C8F-C5CCCEF3AB07}"/>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8DDBE6B2-8336-794A-B3B8-F61A093C486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DFC7FF17-B2ED-B44A-835E-E627833F871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6F28A02C-60EC-7A44-974F-BFA165F9F226}"/>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4F4BBD83-9281-1042-8C59-21524331ED28}"/>
              </a:ext>
            </a:extLst>
          </p:cNvPr>
          <p:cNvSpPr>
            <a:spLocks noGrp="1"/>
          </p:cNvSpPr>
          <p:nvPr>
            <p:ph type="ftr" sz="quarter" idx="11"/>
          </p:nvPr>
        </p:nvSpPr>
        <p:spPr/>
        <p:txBody>
          <a:bodyPr/>
          <a:lstStyle/>
          <a:p>
            <a:r>
              <a:rPr lang="en-GB"/>
              <a:t>Operating Systems - Security</a:t>
            </a:r>
            <a:endParaRPr lang="en-SE"/>
          </a:p>
        </p:txBody>
      </p:sp>
      <p:sp>
        <p:nvSpPr>
          <p:cNvPr id="7" name="Slide Number Placeholder 6">
            <a:extLst>
              <a:ext uri="{FF2B5EF4-FFF2-40B4-BE49-F238E27FC236}">
                <a16:creationId xmlns:a16="http://schemas.microsoft.com/office/drawing/2014/main" id="{B0A84436-4D8A-F646-B270-00418A198C6F}"/>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37806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66211-67EA-5842-84AD-E310BD838A03}"/>
              </a:ext>
            </a:extLst>
          </p:cNvPr>
          <p:cNvSpPr>
            <a:spLocks noGrp="1"/>
          </p:cNvSpPr>
          <p:nvPr>
            <p:ph type="title"/>
          </p:nvPr>
        </p:nvSpPr>
        <p:spPr>
          <a:xfrm>
            <a:off x="839788" y="365125"/>
            <a:ext cx="105156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702177AA-8D0F-6948-B56B-EA956A4C63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9F44A0C-89D5-5448-94CB-602D7112BC1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189E4B0D-B76D-754F-9E32-4E42AE199B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47FC5E8-24C6-B04B-9729-296E2A17BA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D79D7358-9F54-624C-9DD8-8C054260C2B2}"/>
              </a:ext>
            </a:extLst>
          </p:cNvPr>
          <p:cNvSpPr>
            <a:spLocks noGrp="1"/>
          </p:cNvSpPr>
          <p:nvPr>
            <p:ph type="dt" sz="half" idx="10"/>
          </p:nvPr>
        </p:nvSpPr>
        <p:spPr/>
        <p:txBody>
          <a:bodyPr/>
          <a:lstStyle/>
          <a:p>
            <a:r>
              <a:rPr lang="en-US"/>
              <a:t>Vincenzo Gulisano</a:t>
            </a:r>
            <a:endParaRPr lang="en-SE"/>
          </a:p>
        </p:txBody>
      </p:sp>
      <p:sp>
        <p:nvSpPr>
          <p:cNvPr id="8" name="Footer Placeholder 7">
            <a:extLst>
              <a:ext uri="{FF2B5EF4-FFF2-40B4-BE49-F238E27FC236}">
                <a16:creationId xmlns:a16="http://schemas.microsoft.com/office/drawing/2014/main" id="{FCED4D62-2B66-5346-B09E-78D2B39C6048}"/>
              </a:ext>
            </a:extLst>
          </p:cNvPr>
          <p:cNvSpPr>
            <a:spLocks noGrp="1"/>
          </p:cNvSpPr>
          <p:nvPr>
            <p:ph type="ftr" sz="quarter" idx="11"/>
          </p:nvPr>
        </p:nvSpPr>
        <p:spPr/>
        <p:txBody>
          <a:bodyPr/>
          <a:lstStyle/>
          <a:p>
            <a:r>
              <a:rPr lang="en-GB"/>
              <a:t>Operating Systems - Security</a:t>
            </a:r>
            <a:endParaRPr lang="en-SE"/>
          </a:p>
        </p:txBody>
      </p:sp>
      <p:sp>
        <p:nvSpPr>
          <p:cNvPr id="9" name="Slide Number Placeholder 8">
            <a:extLst>
              <a:ext uri="{FF2B5EF4-FFF2-40B4-BE49-F238E27FC236}">
                <a16:creationId xmlns:a16="http://schemas.microsoft.com/office/drawing/2014/main" id="{C240A51E-7A46-E24B-BB91-E9549771C6BE}"/>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06070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4A8E5-B9E8-C949-8F61-89706B358BA3}"/>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20D88673-1DC9-6941-BBF3-90DAC95EF4F3}"/>
              </a:ext>
            </a:extLst>
          </p:cNvPr>
          <p:cNvSpPr>
            <a:spLocks noGrp="1"/>
          </p:cNvSpPr>
          <p:nvPr>
            <p:ph type="dt" sz="half" idx="10"/>
          </p:nvPr>
        </p:nvSpPr>
        <p:spPr/>
        <p:txBody>
          <a:bodyPr/>
          <a:lstStyle/>
          <a:p>
            <a:r>
              <a:rPr lang="en-US"/>
              <a:t>Vincenzo Gulisano</a:t>
            </a:r>
            <a:endParaRPr lang="en-SE"/>
          </a:p>
        </p:txBody>
      </p:sp>
      <p:sp>
        <p:nvSpPr>
          <p:cNvPr id="4" name="Footer Placeholder 3">
            <a:extLst>
              <a:ext uri="{FF2B5EF4-FFF2-40B4-BE49-F238E27FC236}">
                <a16:creationId xmlns:a16="http://schemas.microsoft.com/office/drawing/2014/main" id="{8CB5DFD8-CDAA-EE46-A9A6-0C8858A88420}"/>
              </a:ext>
            </a:extLst>
          </p:cNvPr>
          <p:cNvSpPr>
            <a:spLocks noGrp="1"/>
          </p:cNvSpPr>
          <p:nvPr>
            <p:ph type="ftr" sz="quarter" idx="11"/>
          </p:nvPr>
        </p:nvSpPr>
        <p:spPr/>
        <p:txBody>
          <a:bodyPr/>
          <a:lstStyle/>
          <a:p>
            <a:r>
              <a:rPr lang="en-GB"/>
              <a:t>Operating Systems - Security</a:t>
            </a:r>
            <a:endParaRPr lang="en-SE"/>
          </a:p>
        </p:txBody>
      </p:sp>
      <p:sp>
        <p:nvSpPr>
          <p:cNvPr id="5" name="Slide Number Placeholder 4">
            <a:extLst>
              <a:ext uri="{FF2B5EF4-FFF2-40B4-BE49-F238E27FC236}">
                <a16:creationId xmlns:a16="http://schemas.microsoft.com/office/drawing/2014/main" id="{9FA8F970-4795-4C4D-88DF-23650EF2AD7D}"/>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23041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80D805-DDE6-B743-B329-54B5924D239C}"/>
              </a:ext>
            </a:extLst>
          </p:cNvPr>
          <p:cNvSpPr>
            <a:spLocks noGrp="1"/>
          </p:cNvSpPr>
          <p:nvPr>
            <p:ph type="dt" sz="half" idx="10"/>
          </p:nvPr>
        </p:nvSpPr>
        <p:spPr/>
        <p:txBody>
          <a:bodyPr/>
          <a:lstStyle/>
          <a:p>
            <a:r>
              <a:rPr lang="en-US"/>
              <a:t>Vincenzo Gulisano</a:t>
            </a:r>
            <a:endParaRPr lang="en-SE"/>
          </a:p>
        </p:txBody>
      </p:sp>
      <p:sp>
        <p:nvSpPr>
          <p:cNvPr id="3" name="Footer Placeholder 2">
            <a:extLst>
              <a:ext uri="{FF2B5EF4-FFF2-40B4-BE49-F238E27FC236}">
                <a16:creationId xmlns:a16="http://schemas.microsoft.com/office/drawing/2014/main" id="{5F8E5938-69BA-9241-84C8-378208A70AB7}"/>
              </a:ext>
            </a:extLst>
          </p:cNvPr>
          <p:cNvSpPr>
            <a:spLocks noGrp="1"/>
          </p:cNvSpPr>
          <p:nvPr>
            <p:ph type="ftr" sz="quarter" idx="11"/>
          </p:nvPr>
        </p:nvSpPr>
        <p:spPr/>
        <p:txBody>
          <a:bodyPr/>
          <a:lstStyle/>
          <a:p>
            <a:r>
              <a:rPr lang="en-GB"/>
              <a:t>Operating Systems - Security</a:t>
            </a:r>
            <a:endParaRPr lang="en-SE"/>
          </a:p>
        </p:txBody>
      </p:sp>
      <p:sp>
        <p:nvSpPr>
          <p:cNvPr id="4" name="Slide Number Placeholder 3">
            <a:extLst>
              <a:ext uri="{FF2B5EF4-FFF2-40B4-BE49-F238E27FC236}">
                <a16:creationId xmlns:a16="http://schemas.microsoft.com/office/drawing/2014/main" id="{525AB921-DF96-8B44-B71B-9CF5F196E41C}"/>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504922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ED46-865F-034E-834E-FE8F963B8A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E77BC798-4A1A-2E42-81E2-ADC52BF463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AB7E8876-4CE1-F24B-A32B-3CAB8ADC8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DB6FBF-7BE5-414E-965D-F76E11C8BECF}"/>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6DF2BCF5-8E6C-6D46-B6AB-AF4F01EF0F05}"/>
              </a:ext>
            </a:extLst>
          </p:cNvPr>
          <p:cNvSpPr>
            <a:spLocks noGrp="1"/>
          </p:cNvSpPr>
          <p:nvPr>
            <p:ph type="ftr" sz="quarter" idx="11"/>
          </p:nvPr>
        </p:nvSpPr>
        <p:spPr/>
        <p:txBody>
          <a:bodyPr/>
          <a:lstStyle/>
          <a:p>
            <a:r>
              <a:rPr lang="en-GB"/>
              <a:t>Operating Systems - Security</a:t>
            </a:r>
            <a:endParaRPr lang="en-SE"/>
          </a:p>
        </p:txBody>
      </p:sp>
      <p:sp>
        <p:nvSpPr>
          <p:cNvPr id="7" name="Slide Number Placeholder 6">
            <a:extLst>
              <a:ext uri="{FF2B5EF4-FFF2-40B4-BE49-F238E27FC236}">
                <a16:creationId xmlns:a16="http://schemas.microsoft.com/office/drawing/2014/main" id="{6D0972B3-C073-FE4A-A635-48C2FB48DCF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139281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5E075-34C9-694B-A745-4D66439409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8DA72B1D-84FC-8A4B-B1A9-58F62ACBA9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E3FCCD6C-DF8C-1347-AA4D-AE52BE626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B910C7-9698-F641-BEF3-79DA50DEC09C}"/>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73315824-6C67-0049-9D6C-E168DBC28EC1}"/>
              </a:ext>
            </a:extLst>
          </p:cNvPr>
          <p:cNvSpPr>
            <a:spLocks noGrp="1"/>
          </p:cNvSpPr>
          <p:nvPr>
            <p:ph type="ftr" sz="quarter" idx="11"/>
          </p:nvPr>
        </p:nvSpPr>
        <p:spPr/>
        <p:txBody>
          <a:bodyPr/>
          <a:lstStyle/>
          <a:p>
            <a:r>
              <a:rPr lang="en-GB"/>
              <a:t>Operating Systems - Security</a:t>
            </a:r>
            <a:endParaRPr lang="en-SE"/>
          </a:p>
        </p:txBody>
      </p:sp>
      <p:sp>
        <p:nvSpPr>
          <p:cNvPr id="7" name="Slide Number Placeholder 6">
            <a:extLst>
              <a:ext uri="{FF2B5EF4-FFF2-40B4-BE49-F238E27FC236}">
                <a16:creationId xmlns:a16="http://schemas.microsoft.com/office/drawing/2014/main" id="{6310BEBD-1848-8044-9310-BCB76E7E2E3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002869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5A6A-797E-DD45-B50D-9B1E24F023F9}"/>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82582A39-E3B4-4243-87DA-F26A5B99682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AB08A01B-CFDA-EF40-AFAB-DB08B2D19A3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6ACDDD58-44FC-1B49-8DFF-8112FE92F751}"/>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F8ED37C7-E290-3545-9E31-F2E023CC9976}"/>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3537936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21F8FD-1FDD-0C44-A7D5-F21C0737DC9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C99C2F47-0ABF-BD4E-9200-A7209BAAE44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97302F4F-BEA1-C444-99DB-685518179B80}"/>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0E04195-2CEA-3C40-A246-9CBFFCAC7D9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E3F8B9E9-5765-A74A-A8B2-995051F74C78}"/>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761093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01730" name="Rectangle 2"/>
          <p:cNvSpPr>
            <a:spLocks noGrp="1" noChangeArrowheads="1"/>
          </p:cNvSpPr>
          <p:nvPr>
            <p:ph type="ctrTitle"/>
          </p:nvPr>
        </p:nvSpPr>
        <p:spPr>
          <a:xfrm>
            <a:off x="914400" y="685800"/>
            <a:ext cx="10363200" cy="2127250"/>
          </a:xfrm>
        </p:spPr>
        <p:txBody>
          <a:bodyPr/>
          <a:lstStyle>
            <a:lvl1pPr>
              <a:defRPr sz="4067"/>
            </a:lvl1pPr>
          </a:lstStyle>
          <a:p>
            <a:r>
              <a:rPr lang="en-US"/>
              <a:t>Click to edit Master title style</a:t>
            </a:r>
          </a:p>
        </p:txBody>
      </p:sp>
    </p:spTree>
    <p:extLst>
      <p:ext uri="{BB962C8B-B14F-4D97-AF65-F5344CB8AC3E}">
        <p14:creationId xmlns:p14="http://schemas.microsoft.com/office/powerpoint/2010/main" val="3462800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Security</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5122759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Security</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475500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Security</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1208631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Security</a:t>
            </a:r>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786229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r>
              <a:rPr lang="en-US"/>
              <a:t>Operating Systems - Security</a:t>
            </a:r>
          </a:p>
        </p:txBody>
      </p:sp>
      <p:sp>
        <p:nvSpPr>
          <p:cNvPr id="9" name="Slide Number Placeholder 8"/>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2052759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Security</a:t>
            </a:r>
          </a:p>
        </p:txBody>
      </p:sp>
      <p:sp>
        <p:nvSpPr>
          <p:cNvPr id="5" name="Slide Number Placeholder 4"/>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17207977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Security</a:t>
            </a:r>
          </a:p>
        </p:txBody>
      </p:sp>
      <p:sp>
        <p:nvSpPr>
          <p:cNvPr id="4" name="Slide Number Placeholder 3"/>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4763550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Security</a:t>
            </a:r>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870716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Security</a:t>
            </a:r>
            <a:endParaRPr lang="en-US" dirty="0"/>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1137845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Security</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854295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Security</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4837332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9747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1A68E2-7F6E-DC40-831A-D9D9F025B4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4EC1E9FB-834F-0944-8BFA-AE8014AF5C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C2E9666C-3E82-5F4A-9AC8-5AF539AA04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Vincenzo Gulisano</a:t>
            </a:r>
            <a:endParaRPr lang="en-SE"/>
          </a:p>
        </p:txBody>
      </p:sp>
      <p:sp>
        <p:nvSpPr>
          <p:cNvPr id="5" name="Footer Placeholder 4">
            <a:extLst>
              <a:ext uri="{FF2B5EF4-FFF2-40B4-BE49-F238E27FC236}">
                <a16:creationId xmlns:a16="http://schemas.microsoft.com/office/drawing/2014/main" id="{C7862E5B-940B-6647-A776-CC5045E5FE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Operating Systems - Security</a:t>
            </a:r>
            <a:endParaRPr lang="en-SE"/>
          </a:p>
        </p:txBody>
      </p:sp>
      <p:sp>
        <p:nvSpPr>
          <p:cNvPr id="6" name="Slide Number Placeholder 5">
            <a:extLst>
              <a:ext uri="{FF2B5EF4-FFF2-40B4-BE49-F238E27FC236}">
                <a16:creationId xmlns:a16="http://schemas.microsoft.com/office/drawing/2014/main" id="{64B81D62-1D32-3143-8FF4-66E9FB1434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2894D7-1DF0-2544-A605-B97A2B84F4F8}" type="slidenum">
              <a:rPr lang="en-SE" smtClean="0"/>
              <a:t>‹#›</a:t>
            </a:fld>
            <a:endParaRPr lang="en-SE"/>
          </a:p>
        </p:txBody>
      </p:sp>
    </p:spTree>
    <p:extLst>
      <p:ext uri="{BB962C8B-B14F-4D97-AF65-F5344CB8AC3E}">
        <p14:creationId xmlns:p14="http://schemas.microsoft.com/office/powerpoint/2010/main" val="291949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Operating Systems - Security</a:t>
            </a: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AAEEEC-DCEC-4178-AB14-E7254A15A296}" type="slidenum">
              <a:rPr lang="en-US" smtClean="0"/>
              <a:t>‹#›</a:t>
            </a:fld>
            <a:endParaRPr lang="en-US"/>
          </a:p>
        </p:txBody>
      </p:sp>
    </p:spTree>
    <p:extLst>
      <p:ext uri="{BB962C8B-B14F-4D97-AF65-F5344CB8AC3E}">
        <p14:creationId xmlns:p14="http://schemas.microsoft.com/office/powerpoint/2010/main" val="298736162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www.ticarte.com/contenido/la-tarjeta-de-red-ethernet-del-equipo-microinformatico" TargetMode="External"/><Relationship Id="rId3" Type="http://schemas.openxmlformats.org/officeDocument/2006/relationships/image" Target="../media/image3.png"/><Relationship Id="rId7" Type="http://schemas.openxmlformats.org/officeDocument/2006/relationships/image" Target="../media/image5.jpg"/><Relationship Id="rId12" Type="http://schemas.openxmlformats.org/officeDocument/2006/relationships/hyperlink" Target="https://pixabay.com/ko/%EB%AC%B4%EB%8B%B9-%EB%B2%8C%EB%A0%88-%EA%B3%A4%EC%B6%A9-%EB%B2%A1%ED%84%B0-%EC%A0%95%EC%9B%90-%EC%9E%90%EC%97%B0-%EB%A0%88%EB%93%9C-%EB%AC%B4%EB%8B%B9%EB%B2%8C%EB%A0%88-%EB%B4%84-%EB%B0%B0%EA%B2%BD-196918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freebie.photography/technology/slides/memory.htm" TargetMode="External"/><Relationship Id="rId11" Type="http://schemas.openxmlformats.org/officeDocument/2006/relationships/image" Target="../media/image7.png"/><Relationship Id="rId5" Type="http://schemas.openxmlformats.org/officeDocument/2006/relationships/image" Target="../media/image4.jpg"/><Relationship Id="rId10" Type="http://schemas.openxmlformats.org/officeDocument/2006/relationships/hyperlink" Target="https://www.alltutorials.info/2014/12/understanding-operating-systems.html" TargetMode="External"/><Relationship Id="rId4" Type="http://schemas.openxmlformats.org/officeDocument/2006/relationships/hyperlink" Target="http://www.pngall.com/hard-disk-drive-png" TargetMode="External"/><Relationship Id="rId9"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2593975" y="1647827"/>
            <a:ext cx="6908800" cy="1890183"/>
          </a:xfrm>
          <a:prstGeom prst="rect">
            <a:avLst/>
          </a:prstGeom>
        </p:spPr>
        <p:txBody>
          <a:bodyPr lIns="81280" tIns="40640" rIns="81280" bIns="40640" anchor="ctr">
            <a:normAutofit fontScale="90000" lnSpcReduction="1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a:defRPr/>
            </a:pPr>
            <a:r>
              <a:rPr lang="en-US" sz="3556" dirty="0"/>
              <a:t>Security</a:t>
            </a:r>
            <a:br>
              <a:rPr lang="en-US" altLang="en-US" sz="3556" dirty="0"/>
            </a:br>
            <a:r>
              <a:rPr lang="en-US" altLang="en-US" sz="3556" dirty="0"/>
              <a:t>Operating Systems – EDA093/DIT401</a:t>
            </a:r>
            <a:br>
              <a:rPr lang="en-US" altLang="en-US" sz="3822" dirty="0"/>
            </a:br>
            <a:br>
              <a:rPr lang="en-US" altLang="en-US" sz="3822" dirty="0"/>
            </a:br>
            <a:r>
              <a:rPr lang="en-US" altLang="en-US" sz="2845" dirty="0"/>
              <a:t>Vincenzo Gulisano</a:t>
            </a:r>
            <a:br>
              <a:rPr lang="en-US" altLang="en-US" sz="2845" dirty="0"/>
            </a:br>
            <a:r>
              <a:rPr lang="en-US" altLang="en-US" sz="1778" dirty="0"/>
              <a:t>vincenzo.gulisano@chalmers.se</a:t>
            </a:r>
            <a:endParaRPr lang="en-US" altLang="en-US" sz="2400" dirty="0"/>
          </a:p>
        </p:txBody>
      </p:sp>
      <p:grpSp>
        <p:nvGrpSpPr>
          <p:cNvPr id="2" name="Group 1">
            <a:extLst>
              <a:ext uri="{FF2B5EF4-FFF2-40B4-BE49-F238E27FC236}">
                <a16:creationId xmlns:a16="http://schemas.microsoft.com/office/drawing/2014/main" id="{07AE613A-36FA-5B44-8B12-B5812E409C43}"/>
              </a:ext>
            </a:extLst>
          </p:cNvPr>
          <p:cNvGrpSpPr/>
          <p:nvPr/>
        </p:nvGrpSpPr>
        <p:grpSpPr>
          <a:xfrm>
            <a:off x="2495989" y="4751641"/>
            <a:ext cx="7104771" cy="1547400"/>
            <a:chOff x="777241" y="4793437"/>
            <a:chExt cx="7104771" cy="1547400"/>
          </a:xfrm>
        </p:grpSpPr>
        <p:pic>
          <p:nvPicPr>
            <p:cNvPr id="3" name="Picture 2">
              <a:extLst>
                <a:ext uri="{FF2B5EF4-FFF2-40B4-BE49-F238E27FC236}">
                  <a16:creationId xmlns:a16="http://schemas.microsoft.com/office/drawing/2014/main" id="{17CA98D3-B63B-3072-4139-A598EFCA96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B1AD416-D849-4A79-13D8-F620E376353D}"/>
                </a:ext>
              </a:extLst>
            </p:cNvPr>
            <p:cNvPicPr>
              <a:picLocks noChangeAspect="1"/>
            </p:cNvPicPr>
            <p:nvPr/>
          </p:nvPicPr>
          <p:blipFill>
            <a:blip r:embed="rId4"/>
            <a:stretch>
              <a:fillRect/>
            </a:stretch>
          </p:blipFill>
          <p:spPr>
            <a:xfrm>
              <a:off x="777241" y="4973870"/>
              <a:ext cx="4724632" cy="1186535"/>
            </a:xfrm>
            <a:prstGeom prst="rect">
              <a:avLst/>
            </a:prstGeom>
          </p:spPr>
        </p:pic>
      </p:grpSp>
    </p:spTree>
    <p:extLst>
      <p:ext uri="{BB962C8B-B14F-4D97-AF65-F5344CB8AC3E}">
        <p14:creationId xmlns:p14="http://schemas.microsoft.com/office/powerpoint/2010/main" val="1512327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a:t>Reading instructions</a:t>
            </a:r>
          </a:p>
        </p:txBody>
      </p:sp>
      <p:sp>
        <p:nvSpPr>
          <p:cNvPr id="3" name="Content Placeholder 2"/>
          <p:cNvSpPr>
            <a:spLocks noGrp="1"/>
          </p:cNvSpPr>
          <p:nvPr>
            <p:ph idx="1"/>
          </p:nvPr>
        </p:nvSpPr>
        <p:spPr/>
        <p:txBody>
          <a:bodyPr rtlCol="0">
            <a:normAutofit/>
          </a:bodyPr>
          <a:lstStyle/>
          <a:p>
            <a:r>
              <a:rPr lang="en-US" dirty="0"/>
              <a:t>4th edition: Chapter 9, from the beginning until 9.4.1 (only the first paragraph of 9.4.1); 9.6 to 9.7.1 (only up to Data Execution Prevention - included); 9.9.3; The Sony Rootkit (starts at page 683, part of 9.9.5)</a:t>
            </a:r>
          </a:p>
          <a:p>
            <a:r>
              <a:rPr lang="en-US" dirty="0"/>
              <a:t>5th edition: Chapter 9, from 9.1 to 9.5.1 (included)</a:t>
            </a:r>
          </a:p>
        </p:txBody>
      </p:sp>
      <p:sp>
        <p:nvSpPr>
          <p:cNvPr id="4" name="Date Placeholder 3"/>
          <p:cNvSpPr>
            <a:spLocks noGrp="1"/>
          </p:cNvSpPr>
          <p:nvPr>
            <p:ph type="dt" sz="quarter" idx="10"/>
          </p:nvPr>
        </p:nvSpPr>
        <p:spPr/>
        <p:txBody>
          <a:bodyPr/>
          <a:lstStyle/>
          <a:p>
            <a:pPr>
              <a:defRPr/>
            </a:pPr>
            <a:r>
              <a:rPr lang="en-US"/>
              <a:t>Vincenzo Gulisano</a:t>
            </a:r>
          </a:p>
        </p:txBody>
      </p:sp>
      <p:sp>
        <p:nvSpPr>
          <p:cNvPr id="5" name="Footer Placeholder 4"/>
          <p:cNvSpPr>
            <a:spLocks noGrp="1"/>
          </p:cNvSpPr>
          <p:nvPr>
            <p:ph type="ftr" sz="quarter" idx="11"/>
          </p:nvPr>
        </p:nvSpPr>
        <p:spPr/>
        <p:txBody>
          <a:bodyPr/>
          <a:lstStyle/>
          <a:p>
            <a:r>
              <a:rPr lang="en-US"/>
              <a:t>Operating Systems - Security</a:t>
            </a:r>
            <a:endParaRPr lang="en-US" dirty="0"/>
          </a:p>
        </p:txBody>
      </p:sp>
      <p:sp>
        <p:nvSpPr>
          <p:cNvPr id="6" name="Slide Number Placeholder 5"/>
          <p:cNvSpPr>
            <a:spLocks noGrp="1"/>
          </p:cNvSpPr>
          <p:nvPr>
            <p:ph type="sldNum" sz="quarter" idx="12"/>
          </p:nvPr>
        </p:nvSpPr>
        <p:spPr/>
        <p:txBody>
          <a:bodyPr/>
          <a:lstStyle/>
          <a:p>
            <a:pPr>
              <a:defRPr/>
            </a:pPr>
            <a:fld id="{87D4570F-528B-41C8-95DC-75649D9B5A34}" type="slidenum">
              <a:rPr lang="en-US"/>
              <a:pPr>
                <a:defRPr/>
              </a:pPr>
              <a:t>2</a:t>
            </a:fld>
            <a:endParaRPr lang="en-US"/>
          </a:p>
        </p:txBody>
      </p:sp>
    </p:spTree>
    <p:extLst>
      <p:ext uri="{BB962C8B-B14F-4D97-AF65-F5344CB8AC3E}">
        <p14:creationId xmlns:p14="http://schemas.microsoft.com/office/powerpoint/2010/main" val="3842520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t>Introduction/Overview</a:t>
            </a:r>
          </a:p>
          <a:p>
            <a:r>
              <a:rPr lang="en-GB" dirty="0"/>
              <a:t>Protection Domains</a:t>
            </a:r>
          </a:p>
          <a:p>
            <a:r>
              <a:rPr lang="en-GB" dirty="0"/>
              <a:t>Access Control Lists</a:t>
            </a:r>
          </a:p>
          <a:p>
            <a:r>
              <a:rPr lang="en-GB" dirty="0"/>
              <a:t>Capabilities</a:t>
            </a:r>
          </a:p>
          <a:p>
            <a:r>
              <a:rPr lang="en-GB" dirty="0"/>
              <a:t>Authentication</a:t>
            </a:r>
          </a:p>
          <a:p>
            <a:r>
              <a:rPr lang="en-GB" dirty="0"/>
              <a:t>Exploiting software bugs: buffer overflow attacks</a:t>
            </a:r>
            <a:endParaRPr lang="en-SE" dirty="0"/>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3</a:t>
            </a:fld>
            <a:endParaRPr lang="en-SE"/>
          </a:p>
        </p:txBody>
      </p:sp>
    </p:spTree>
    <p:extLst>
      <p:ext uri="{BB962C8B-B14F-4D97-AF65-F5344CB8AC3E}">
        <p14:creationId xmlns:p14="http://schemas.microsoft.com/office/powerpoint/2010/main" val="1636115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t>Introduction/Overview</a:t>
            </a:r>
          </a:p>
          <a:p>
            <a:r>
              <a:rPr lang="en-GB" dirty="0">
                <a:solidFill>
                  <a:schemeClr val="bg1">
                    <a:lumMod val="50000"/>
                  </a:schemeClr>
                </a:solidFill>
              </a:rPr>
              <a:t>Protection Domains</a:t>
            </a:r>
          </a:p>
          <a:p>
            <a:r>
              <a:rPr lang="en-GB" dirty="0">
                <a:solidFill>
                  <a:schemeClr val="bg1">
                    <a:lumMod val="50000"/>
                  </a:schemeClr>
                </a:solidFill>
              </a:rPr>
              <a:t>Access Control Lists</a:t>
            </a:r>
          </a:p>
          <a:p>
            <a:r>
              <a:rPr lang="en-GB" dirty="0">
                <a:solidFill>
                  <a:schemeClr val="bg1">
                    <a:lumMod val="50000"/>
                  </a:schemeClr>
                </a:solidFill>
              </a:rPr>
              <a:t>Capabilities</a:t>
            </a:r>
          </a:p>
          <a:p>
            <a:r>
              <a:rPr lang="en-GB" dirty="0">
                <a:solidFill>
                  <a:schemeClr val="bg1">
                    <a:lumMod val="50000"/>
                  </a:schemeClr>
                </a:solidFill>
              </a:rPr>
              <a:t>Authentication</a:t>
            </a:r>
          </a:p>
          <a:p>
            <a:r>
              <a:rPr lang="en-GB" dirty="0">
                <a:solidFill>
                  <a:schemeClr val="bg1">
                    <a:lumMod val="50000"/>
                  </a:schemeClr>
                </a:solidFill>
              </a:rPr>
              <a:t>Exploiting software bugs: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4</a:t>
            </a:fld>
            <a:endParaRPr lang="en-SE"/>
          </a:p>
        </p:txBody>
      </p:sp>
    </p:spTree>
    <p:extLst>
      <p:ext uri="{BB962C8B-B14F-4D97-AF65-F5344CB8AC3E}">
        <p14:creationId xmlns:p14="http://schemas.microsoft.com/office/powerpoint/2010/main" val="2686278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picture containing hard disc, electronics&#10;&#10;Description automatically generated">
            <a:extLst>
              <a:ext uri="{FF2B5EF4-FFF2-40B4-BE49-F238E27FC236}">
                <a16:creationId xmlns:a16="http://schemas.microsoft.com/office/drawing/2014/main" id="{21F44E5B-6313-C045-B0D4-91130B942579}"/>
              </a:ext>
            </a:extLst>
          </p:cNvPr>
          <p:cNvPicPr>
            <a:picLocks noGrp="1" noChangeAspect="1"/>
          </p:cNvPicPr>
          <p:nvPr>
            <p:ph idx="1"/>
          </p:nvPr>
        </p:nvPicPr>
        <p:blipFill>
          <a:blip r:embed="rId3">
            <a:extLst>
              <a:ext uri="{837473B0-CC2E-450A-ABE3-18F120FF3D39}">
                <a1611:picAttrSrcUrl xmlns:a1611="http://schemas.microsoft.com/office/drawing/2016/11/main" r:id="rId4"/>
              </a:ext>
            </a:extLst>
          </a:blip>
          <a:stretch>
            <a:fillRect/>
          </a:stretch>
        </p:blipFill>
        <p:spPr>
          <a:xfrm>
            <a:off x="10137913" y="2995351"/>
            <a:ext cx="1687083" cy="1325565"/>
          </a:xfrm>
        </p:spPr>
      </p:pic>
      <p:sp>
        <p:nvSpPr>
          <p:cNvPr id="4" name="Date Placeholder 3">
            <a:extLst>
              <a:ext uri="{FF2B5EF4-FFF2-40B4-BE49-F238E27FC236}">
                <a16:creationId xmlns:a16="http://schemas.microsoft.com/office/drawing/2014/main" id="{B1E4AF98-7D27-E84A-AF1B-6B77DB2BD54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0CDD00A5-3F19-B843-9134-161148B65CCF}"/>
              </a:ext>
            </a:extLst>
          </p:cNvPr>
          <p:cNvSpPr>
            <a:spLocks noGrp="1"/>
          </p:cNvSpPr>
          <p:nvPr>
            <p:ph type="ftr" sz="quarter" idx="11"/>
          </p:nvPr>
        </p:nvSpPr>
        <p:spPr/>
        <p:txBody>
          <a:bodyPr/>
          <a:lstStyle/>
          <a:p>
            <a:r>
              <a:rPr lang="en-GB" dirty="0"/>
              <a:t>Operating Systems - Security</a:t>
            </a:r>
            <a:endParaRPr lang="en-SE" dirty="0"/>
          </a:p>
        </p:txBody>
      </p:sp>
      <p:sp>
        <p:nvSpPr>
          <p:cNvPr id="6" name="Slide Number Placeholder 5">
            <a:extLst>
              <a:ext uri="{FF2B5EF4-FFF2-40B4-BE49-F238E27FC236}">
                <a16:creationId xmlns:a16="http://schemas.microsoft.com/office/drawing/2014/main" id="{4399CD7D-98DA-734E-8E23-D13248C4131D}"/>
              </a:ext>
            </a:extLst>
          </p:cNvPr>
          <p:cNvSpPr>
            <a:spLocks noGrp="1"/>
          </p:cNvSpPr>
          <p:nvPr>
            <p:ph type="sldNum" sz="quarter" idx="12"/>
          </p:nvPr>
        </p:nvSpPr>
        <p:spPr/>
        <p:txBody>
          <a:bodyPr/>
          <a:lstStyle/>
          <a:p>
            <a:fld id="{C92894D7-1DF0-2544-A605-B97A2B84F4F8}" type="slidenum">
              <a:rPr lang="en-SE" smtClean="0"/>
              <a:t>5</a:t>
            </a:fld>
            <a:endParaRPr lang="en-SE"/>
          </a:p>
        </p:txBody>
      </p:sp>
      <p:pic>
        <p:nvPicPr>
          <p:cNvPr id="11" name="Picture 10" descr="A picture containing text, electronics&#10;&#10;Description automatically generated">
            <a:extLst>
              <a:ext uri="{FF2B5EF4-FFF2-40B4-BE49-F238E27FC236}">
                <a16:creationId xmlns:a16="http://schemas.microsoft.com/office/drawing/2014/main" id="{3C95D9CD-7CAC-4C41-97B1-D7D8F41C2FC9}"/>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075408" y="321895"/>
            <a:ext cx="3011392" cy="2004325"/>
          </a:xfrm>
          <a:prstGeom prst="rect">
            <a:avLst/>
          </a:prstGeom>
        </p:spPr>
      </p:pic>
      <p:pic>
        <p:nvPicPr>
          <p:cNvPr id="14" name="Picture 13" descr="A picture containing electronics, circuit&#10;&#10;Description automatically generated">
            <a:extLst>
              <a:ext uri="{FF2B5EF4-FFF2-40B4-BE49-F238E27FC236}">
                <a16:creationId xmlns:a16="http://schemas.microsoft.com/office/drawing/2014/main" id="{418DF6AA-F358-2940-AEAA-41AB4700B47F}"/>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6494138" y="2964205"/>
            <a:ext cx="2398071" cy="1226803"/>
          </a:xfrm>
          <a:prstGeom prst="rect">
            <a:avLst/>
          </a:prstGeom>
        </p:spPr>
      </p:pic>
      <p:sp>
        <p:nvSpPr>
          <p:cNvPr id="16" name="Left-right-up Arrow 15">
            <a:extLst>
              <a:ext uri="{FF2B5EF4-FFF2-40B4-BE49-F238E27FC236}">
                <a16:creationId xmlns:a16="http://schemas.microsoft.com/office/drawing/2014/main" id="{17B98F81-4F4E-B64C-B429-9A155F75183B}"/>
              </a:ext>
            </a:extLst>
          </p:cNvPr>
          <p:cNvSpPr/>
          <p:nvPr/>
        </p:nvSpPr>
        <p:spPr>
          <a:xfrm>
            <a:off x="8892209" y="2172242"/>
            <a:ext cx="1245704" cy="1449909"/>
          </a:xfrm>
          <a:prstGeom prst="leftRightUpArrow">
            <a:avLst>
              <a:gd name="adj1" fmla="val 5952"/>
              <a:gd name="adj2" fmla="val 10119"/>
              <a:gd name="adj3" fmla="val 11310"/>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CCB05886-41D3-D542-8890-BC94034B6B87}"/>
              </a:ext>
            </a:extLst>
          </p:cNvPr>
          <p:cNvGrpSpPr/>
          <p:nvPr/>
        </p:nvGrpSpPr>
        <p:grpSpPr>
          <a:xfrm>
            <a:off x="4440804" y="1222651"/>
            <a:ext cx="5074257" cy="1741554"/>
            <a:chOff x="4440804" y="1532896"/>
            <a:chExt cx="5074257" cy="1741554"/>
          </a:xfrm>
        </p:grpSpPr>
        <p:sp>
          <p:nvSpPr>
            <p:cNvPr id="17" name="TextBox 16">
              <a:extLst>
                <a:ext uri="{FF2B5EF4-FFF2-40B4-BE49-F238E27FC236}">
                  <a16:creationId xmlns:a16="http://schemas.microsoft.com/office/drawing/2014/main" id="{6241CC4B-8803-0D46-98FE-0E2C5255B9FF}"/>
                </a:ext>
              </a:extLst>
            </p:cNvPr>
            <p:cNvSpPr txBox="1"/>
            <p:nvPr/>
          </p:nvSpPr>
          <p:spPr>
            <a:xfrm>
              <a:off x="4440804" y="1532896"/>
              <a:ext cx="2596865" cy="1631216"/>
            </a:xfrm>
            <a:prstGeom prst="rect">
              <a:avLst/>
            </a:prstGeom>
            <a:noFill/>
            <a:ln w="28575">
              <a:solidFill>
                <a:srgbClr val="00B050"/>
              </a:solidFill>
            </a:ln>
          </p:spPr>
          <p:txBody>
            <a:bodyPr wrap="none" rtlCol="0">
              <a:spAutoFit/>
            </a:bodyPr>
            <a:lstStyle/>
            <a:p>
              <a:r>
                <a:rPr lang="en-US" sz="2000" dirty="0"/>
                <a:t>Important information:</a:t>
              </a:r>
            </a:p>
            <a:p>
              <a:pPr marL="285750" indent="-285750">
                <a:buFont typeface="Arial" panose="020B0604020202020204" pitchFamily="34" charset="0"/>
                <a:buChar char="•"/>
              </a:pPr>
              <a:r>
                <a:rPr lang="en-US" sz="2000" dirty="0"/>
                <a:t>your private one</a:t>
              </a:r>
            </a:p>
            <a:p>
              <a:pPr marL="285750" indent="-285750">
                <a:buFont typeface="Arial" panose="020B0604020202020204" pitchFamily="34" charset="0"/>
                <a:buChar char="•"/>
              </a:pPr>
              <a:r>
                <a:rPr lang="en-US" sz="2000" dirty="0"/>
                <a:t>commercial</a:t>
              </a:r>
            </a:p>
            <a:p>
              <a:pPr marL="285750" indent="-285750">
                <a:buFont typeface="Arial" panose="020B0604020202020204" pitchFamily="34" charset="0"/>
                <a:buChar char="•"/>
              </a:pPr>
              <a:r>
                <a:rPr lang="en-US" sz="2000" dirty="0"/>
                <a:t>legal</a:t>
              </a:r>
            </a:p>
            <a:p>
              <a:r>
                <a:rPr lang="en-US" sz="2000" dirty="0"/>
                <a:t>...</a:t>
              </a:r>
            </a:p>
          </p:txBody>
        </p:sp>
        <p:cxnSp>
          <p:nvCxnSpPr>
            <p:cNvPr id="19" name="Straight Connector 18">
              <a:extLst>
                <a:ext uri="{FF2B5EF4-FFF2-40B4-BE49-F238E27FC236}">
                  <a16:creationId xmlns:a16="http://schemas.microsoft.com/office/drawing/2014/main" id="{518A62E6-80C1-394F-8797-4D2819D23C8E}"/>
                </a:ext>
              </a:extLst>
            </p:cNvPr>
            <p:cNvCxnSpPr>
              <a:stCxn id="17" idx="3"/>
            </p:cNvCxnSpPr>
            <p:nvPr/>
          </p:nvCxnSpPr>
          <p:spPr>
            <a:xfrm>
              <a:off x="7037669" y="2348504"/>
              <a:ext cx="2477392" cy="92594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pic>
        <p:nvPicPr>
          <p:cNvPr id="22" name="Picture 21" descr="A picture containing clipart&#10;&#10;Description automatically generated">
            <a:extLst>
              <a:ext uri="{FF2B5EF4-FFF2-40B4-BE49-F238E27FC236}">
                <a16:creationId xmlns:a16="http://schemas.microsoft.com/office/drawing/2014/main" id="{8F9DC8F8-1E00-D144-93EC-E772C067E055}"/>
              </a:ext>
            </a:extLst>
          </p:cNvPr>
          <p:cNvPicPr>
            <a:picLocks noChangeAspect="1"/>
          </p:cNvPicPr>
          <p:nvPr/>
        </p:nvPicPr>
        <p:blipFill rotWithShape="1">
          <a:blip r:embed="rId9">
            <a:clrChange>
              <a:clrFrom>
                <a:srgbClr val="FBFBFB"/>
              </a:clrFrom>
              <a:clrTo>
                <a:srgbClr val="FBFBFB">
                  <a:alpha val="0"/>
                </a:srgbClr>
              </a:clrTo>
            </a:clrChange>
            <a:extLst>
              <a:ext uri="{837473B0-CC2E-450A-ABE3-18F120FF3D39}">
                <a1611:picAttrSrcUrl xmlns:a1611="http://schemas.microsoft.com/office/drawing/2016/11/main" r:id="rId10"/>
              </a:ext>
            </a:extLst>
          </a:blip>
          <a:srcRect b="50801"/>
          <a:stretch/>
        </p:blipFill>
        <p:spPr>
          <a:xfrm>
            <a:off x="9654133" y="2348085"/>
            <a:ext cx="1438128" cy="532022"/>
          </a:xfrm>
          <a:prstGeom prst="rect">
            <a:avLst/>
          </a:prstGeom>
        </p:spPr>
      </p:pic>
      <p:grpSp>
        <p:nvGrpSpPr>
          <p:cNvPr id="41" name="Group 40">
            <a:extLst>
              <a:ext uri="{FF2B5EF4-FFF2-40B4-BE49-F238E27FC236}">
                <a16:creationId xmlns:a16="http://schemas.microsoft.com/office/drawing/2014/main" id="{8C986C06-1131-154F-ACA8-0692434577D8}"/>
              </a:ext>
            </a:extLst>
          </p:cNvPr>
          <p:cNvGrpSpPr/>
          <p:nvPr/>
        </p:nvGrpSpPr>
        <p:grpSpPr>
          <a:xfrm>
            <a:off x="479425" y="2038258"/>
            <a:ext cx="3961379" cy="2490354"/>
            <a:chOff x="479425" y="2038241"/>
            <a:chExt cx="3961379" cy="2490354"/>
          </a:xfrm>
        </p:grpSpPr>
        <p:sp>
          <p:nvSpPr>
            <p:cNvPr id="20" name="TextBox 19">
              <a:extLst>
                <a:ext uri="{FF2B5EF4-FFF2-40B4-BE49-F238E27FC236}">
                  <a16:creationId xmlns:a16="http://schemas.microsoft.com/office/drawing/2014/main" id="{402B5088-B1C7-5D48-BC09-FAF3420A70D0}"/>
                </a:ext>
              </a:extLst>
            </p:cNvPr>
            <p:cNvSpPr txBox="1"/>
            <p:nvPr/>
          </p:nvSpPr>
          <p:spPr>
            <a:xfrm>
              <a:off x="479425" y="2897379"/>
              <a:ext cx="3816814" cy="1631216"/>
            </a:xfrm>
            <a:prstGeom prst="rect">
              <a:avLst/>
            </a:prstGeom>
            <a:noFill/>
            <a:ln w="28575">
              <a:solidFill>
                <a:srgbClr val="FFC000"/>
              </a:solidFill>
            </a:ln>
          </p:spPr>
          <p:txBody>
            <a:bodyPr wrap="none" rtlCol="0">
              <a:spAutoFit/>
            </a:bodyPr>
            <a:lstStyle/>
            <a:p>
              <a:r>
                <a:rPr lang="en-US" sz="2000" dirty="0"/>
                <a:t>Attacker might want to:</a:t>
              </a:r>
            </a:p>
            <a:p>
              <a:pPr marL="285750" indent="-285750">
                <a:buFont typeface="Arial" panose="020B0604020202020204" pitchFamily="34" charset="0"/>
                <a:buChar char="•"/>
              </a:pPr>
              <a:r>
                <a:rPr lang="en-US" sz="2000" dirty="0"/>
                <a:t>read</a:t>
              </a:r>
            </a:p>
            <a:p>
              <a:pPr marL="285750" indent="-285750">
                <a:buFont typeface="Arial" panose="020B0604020202020204" pitchFamily="34" charset="0"/>
                <a:buChar char="•"/>
              </a:pPr>
              <a:r>
                <a:rPr lang="en-US" sz="2000" dirty="0"/>
                <a:t>modify/delete</a:t>
              </a:r>
            </a:p>
            <a:p>
              <a:pPr marL="285750" indent="-285750">
                <a:buFont typeface="Arial" panose="020B0604020202020204" pitchFamily="34" charset="0"/>
                <a:buChar char="•"/>
              </a:pPr>
              <a:r>
                <a:rPr lang="en-US" sz="2000" dirty="0"/>
                <a:t>prevent owner from accessing it</a:t>
              </a:r>
            </a:p>
            <a:p>
              <a:r>
                <a:rPr lang="en-US" sz="2000" dirty="0"/>
                <a:t>...</a:t>
              </a:r>
            </a:p>
          </p:txBody>
        </p:sp>
        <p:cxnSp>
          <p:nvCxnSpPr>
            <p:cNvPr id="35" name="Curved Connector 34">
              <a:extLst>
                <a:ext uri="{FF2B5EF4-FFF2-40B4-BE49-F238E27FC236}">
                  <a16:creationId xmlns:a16="http://schemas.microsoft.com/office/drawing/2014/main" id="{0946CF0D-5466-5B45-8A43-7DC04E492DC0}"/>
                </a:ext>
              </a:extLst>
            </p:cNvPr>
            <p:cNvCxnSpPr>
              <a:stCxn id="17" idx="1"/>
              <a:endCxn id="20" idx="0"/>
            </p:cNvCxnSpPr>
            <p:nvPr/>
          </p:nvCxnSpPr>
          <p:spPr>
            <a:xfrm rot="10800000" flipV="1">
              <a:off x="2387832" y="2038241"/>
              <a:ext cx="2052972" cy="859137"/>
            </a:xfrm>
            <a:prstGeom prst="curvedConnector2">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B31FA4DA-4BB9-E64D-94D6-C2075E1383E3}"/>
              </a:ext>
            </a:extLst>
          </p:cNvPr>
          <p:cNvGrpSpPr/>
          <p:nvPr/>
        </p:nvGrpSpPr>
        <p:grpSpPr>
          <a:xfrm>
            <a:off x="2387833" y="1901175"/>
            <a:ext cx="7968882" cy="3797769"/>
            <a:chOff x="2387833" y="2211420"/>
            <a:chExt cx="7968882" cy="3797769"/>
          </a:xfrm>
        </p:grpSpPr>
        <p:pic>
          <p:nvPicPr>
            <p:cNvPr id="28" name="Picture 27">
              <a:extLst>
                <a:ext uri="{FF2B5EF4-FFF2-40B4-BE49-F238E27FC236}">
                  <a16:creationId xmlns:a16="http://schemas.microsoft.com/office/drawing/2014/main" id="{61B00E6D-90A3-294D-ADC4-51E5A7B469C7}"/>
                </a:ext>
              </a:extLst>
            </p:cNvPr>
            <p:cNvPicPr>
              <a:picLocks noChangeAspect="1"/>
            </p:cNvPicPr>
            <p:nvPr/>
          </p:nvPicPr>
          <p:blipFill rotWithShape="1">
            <a:blip r:embed="rId11">
              <a:extLst>
                <a:ext uri="{837473B0-CC2E-450A-ABE3-18F120FF3D39}">
                  <a1611:picAttrSrcUrl xmlns:a1611="http://schemas.microsoft.com/office/drawing/2016/11/main" r:id="rId12"/>
                </a:ext>
              </a:extLst>
            </a:blip>
            <a:srcRect l="13506" t="11051" r="11771" b="8441"/>
            <a:stretch/>
          </p:blipFill>
          <p:spPr>
            <a:xfrm>
              <a:off x="8610600" y="3932396"/>
              <a:ext cx="838418" cy="637985"/>
            </a:xfrm>
            <a:prstGeom prst="rect">
              <a:avLst/>
            </a:prstGeom>
          </p:spPr>
        </p:pic>
        <p:pic>
          <p:nvPicPr>
            <p:cNvPr id="29" name="Picture 28">
              <a:extLst>
                <a:ext uri="{FF2B5EF4-FFF2-40B4-BE49-F238E27FC236}">
                  <a16:creationId xmlns:a16="http://schemas.microsoft.com/office/drawing/2014/main" id="{0CB4F3D8-80AC-5B4D-AF7F-B5302B7DDFD6}"/>
                </a:ext>
              </a:extLst>
            </p:cNvPr>
            <p:cNvPicPr>
              <a:picLocks noChangeAspect="1"/>
            </p:cNvPicPr>
            <p:nvPr/>
          </p:nvPicPr>
          <p:blipFill rotWithShape="1">
            <a:blip r:embed="rId11">
              <a:extLst>
                <a:ext uri="{837473B0-CC2E-450A-ABE3-18F120FF3D39}">
                  <a1611:picAttrSrcUrl xmlns:a1611="http://schemas.microsoft.com/office/drawing/2016/11/main" r:id="rId12"/>
                </a:ext>
              </a:extLst>
            </a:blip>
            <a:srcRect l="13417" t="17932" r="5688" b="6350"/>
            <a:stretch/>
          </p:blipFill>
          <p:spPr>
            <a:xfrm>
              <a:off x="9449018" y="4260763"/>
              <a:ext cx="907697" cy="600032"/>
            </a:xfrm>
            <a:prstGeom prst="rect">
              <a:avLst/>
            </a:prstGeom>
          </p:spPr>
        </p:pic>
        <p:pic>
          <p:nvPicPr>
            <p:cNvPr id="30" name="Picture 29">
              <a:extLst>
                <a:ext uri="{FF2B5EF4-FFF2-40B4-BE49-F238E27FC236}">
                  <a16:creationId xmlns:a16="http://schemas.microsoft.com/office/drawing/2014/main" id="{D61F6C27-D40A-A54E-9846-2A46BC2243CC}"/>
                </a:ext>
              </a:extLst>
            </p:cNvPr>
            <p:cNvPicPr>
              <a:picLocks noChangeAspect="1"/>
            </p:cNvPicPr>
            <p:nvPr/>
          </p:nvPicPr>
          <p:blipFill rotWithShape="1">
            <a:blip r:embed="rId11">
              <a:extLst>
                <a:ext uri="{837473B0-CC2E-450A-ABE3-18F120FF3D39}">
                  <a1611:picAttrSrcUrl xmlns:a1611="http://schemas.microsoft.com/office/drawing/2016/11/main" r:id="rId12"/>
                </a:ext>
              </a:extLst>
            </a:blip>
            <a:srcRect l="13640" t="11036" r="11639" b="8217"/>
            <a:stretch/>
          </p:blipFill>
          <p:spPr>
            <a:xfrm>
              <a:off x="8610600" y="2211420"/>
              <a:ext cx="838418" cy="639885"/>
            </a:xfrm>
            <a:prstGeom prst="rect">
              <a:avLst/>
            </a:prstGeom>
          </p:spPr>
        </p:pic>
        <p:grpSp>
          <p:nvGrpSpPr>
            <p:cNvPr id="42" name="Group 41">
              <a:extLst>
                <a:ext uri="{FF2B5EF4-FFF2-40B4-BE49-F238E27FC236}">
                  <a16:creationId xmlns:a16="http://schemas.microsoft.com/office/drawing/2014/main" id="{69F1D38C-7F86-6D47-82B5-8CB1531E0D48}"/>
                </a:ext>
              </a:extLst>
            </p:cNvPr>
            <p:cNvGrpSpPr/>
            <p:nvPr/>
          </p:nvGrpSpPr>
          <p:grpSpPr>
            <a:xfrm>
              <a:off x="2387833" y="4838856"/>
              <a:ext cx="6504376" cy="1170333"/>
              <a:chOff x="2387833" y="4838856"/>
              <a:chExt cx="6504376" cy="1170333"/>
            </a:xfrm>
          </p:grpSpPr>
          <p:sp>
            <p:nvSpPr>
              <p:cNvPr id="32" name="TextBox 31">
                <a:extLst>
                  <a:ext uri="{FF2B5EF4-FFF2-40B4-BE49-F238E27FC236}">
                    <a16:creationId xmlns:a16="http://schemas.microsoft.com/office/drawing/2014/main" id="{8B8DBA6D-AFA9-2144-928D-B47C5E6B1C1E}"/>
                  </a:ext>
                </a:extLst>
              </p:cNvPr>
              <p:cNvSpPr txBox="1"/>
              <p:nvPr/>
            </p:nvSpPr>
            <p:spPr>
              <a:xfrm>
                <a:off x="5121048" y="4993526"/>
                <a:ext cx="3771161" cy="1015663"/>
              </a:xfrm>
              <a:prstGeom prst="rect">
                <a:avLst/>
              </a:prstGeom>
              <a:noFill/>
              <a:ln w="28575">
                <a:solidFill>
                  <a:srgbClr val="FF0000"/>
                </a:solidFill>
              </a:ln>
            </p:spPr>
            <p:txBody>
              <a:bodyPr wrap="none" rtlCol="0">
                <a:spAutoFit/>
              </a:bodyPr>
              <a:lstStyle/>
              <a:p>
                <a:r>
                  <a:rPr lang="en-US" sz="2000" dirty="0"/>
                  <a:t>bugs are a way to reach such goals</a:t>
                </a:r>
              </a:p>
              <a:p>
                <a:r>
                  <a:rPr lang="en-US" sz="2000" dirty="0"/>
                  <a:t>Vulnerability = security bug</a:t>
                </a:r>
              </a:p>
              <a:p>
                <a:r>
                  <a:rPr lang="en-US" sz="2000" dirty="0"/>
                  <a:t>Exploit = bug-triggering input</a:t>
                </a:r>
              </a:p>
            </p:txBody>
          </p:sp>
          <p:cxnSp>
            <p:nvCxnSpPr>
              <p:cNvPr id="36" name="Curved Connector 35">
                <a:extLst>
                  <a:ext uri="{FF2B5EF4-FFF2-40B4-BE49-F238E27FC236}">
                    <a16:creationId xmlns:a16="http://schemas.microsoft.com/office/drawing/2014/main" id="{9A2D5254-DC8D-B945-A877-B0C489FA9A76}"/>
                  </a:ext>
                </a:extLst>
              </p:cNvPr>
              <p:cNvCxnSpPr>
                <a:cxnSpLocks/>
                <a:stCxn id="20" idx="2"/>
                <a:endCxn id="32" idx="1"/>
              </p:cNvCxnSpPr>
              <p:nvPr/>
            </p:nvCxnSpPr>
            <p:spPr>
              <a:xfrm rot="16200000" flipH="1">
                <a:off x="3423190" y="3803499"/>
                <a:ext cx="662501" cy="2733216"/>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9102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33584D-8796-2545-B386-85F9C49A98E2}"/>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7FB94365-912B-824A-8AC7-D617E525D70A}"/>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D349C90C-2D88-A445-94D6-D60C6F193C3E}"/>
              </a:ext>
            </a:extLst>
          </p:cNvPr>
          <p:cNvSpPr>
            <a:spLocks noGrp="1"/>
          </p:cNvSpPr>
          <p:nvPr>
            <p:ph type="sldNum" sz="quarter" idx="12"/>
          </p:nvPr>
        </p:nvSpPr>
        <p:spPr/>
        <p:txBody>
          <a:bodyPr/>
          <a:lstStyle/>
          <a:p>
            <a:fld id="{C92894D7-1DF0-2544-A605-B97A2B84F4F8}" type="slidenum">
              <a:rPr lang="en-SE" smtClean="0"/>
              <a:t>6</a:t>
            </a:fld>
            <a:endParaRPr lang="en-SE"/>
          </a:p>
        </p:txBody>
      </p:sp>
      <p:grpSp>
        <p:nvGrpSpPr>
          <p:cNvPr id="7" name="Group 6">
            <a:extLst>
              <a:ext uri="{FF2B5EF4-FFF2-40B4-BE49-F238E27FC236}">
                <a16:creationId xmlns:a16="http://schemas.microsoft.com/office/drawing/2014/main" id="{4683AD1A-5329-8345-A264-102506A961FB}"/>
              </a:ext>
            </a:extLst>
          </p:cNvPr>
          <p:cNvGrpSpPr/>
          <p:nvPr/>
        </p:nvGrpSpPr>
        <p:grpSpPr>
          <a:xfrm>
            <a:off x="1543050" y="767512"/>
            <a:ext cx="3731079" cy="4996404"/>
            <a:chOff x="1295399" y="1828800"/>
            <a:chExt cx="3056187" cy="4092635"/>
          </a:xfrm>
        </p:grpSpPr>
        <p:pic>
          <p:nvPicPr>
            <p:cNvPr id="8" name="Picture 7" descr="http://4.bp.blogspot.com/-Kc_jYOMfj-g/UCakbvK3gyI/AAAAAAAAGTo/8Fa5sfZjQkI/s1600/coperta_corta.jpeg">
              <a:extLst>
                <a:ext uri="{FF2B5EF4-FFF2-40B4-BE49-F238E27FC236}">
                  <a16:creationId xmlns:a16="http://schemas.microsoft.com/office/drawing/2014/main" id="{F2729CC4-68E2-5947-84A3-E9CCE35904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399" y="1828800"/>
              <a:ext cx="3056187" cy="4092635"/>
            </a:xfrm>
            <a:prstGeom prst="rect">
              <a:avLst/>
            </a:prstGeom>
            <a:noFill/>
            <a:extLst>
              <a:ext uri="{909E8E84-426E-40dd-AFC4-6F175D3DCCD1}">
                <a14:hiddenFill xmlns:a14="http://schemas.microsoft.com/office/drawing/2010/main" xmlns="">
                  <a:solidFill>
                    <a:srgbClr val="FFFFFF"/>
                  </a:solidFill>
                </a14:hiddenFill>
              </a:ext>
            </a:extLst>
          </p:spPr>
        </p:pic>
        <p:sp>
          <p:nvSpPr>
            <p:cNvPr id="9" name="Up Arrow 8">
              <a:extLst>
                <a:ext uri="{FF2B5EF4-FFF2-40B4-BE49-F238E27FC236}">
                  <a16:creationId xmlns:a16="http://schemas.microsoft.com/office/drawing/2014/main" id="{A03292C3-1CA9-AB4E-8521-A6DC74A31F43}"/>
                </a:ext>
              </a:extLst>
            </p:cNvPr>
            <p:cNvSpPr/>
            <p:nvPr/>
          </p:nvSpPr>
          <p:spPr>
            <a:xfrm rot="1459553">
              <a:off x="3380403" y="2723383"/>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 name="Up Arrow 9">
              <a:extLst>
                <a:ext uri="{FF2B5EF4-FFF2-40B4-BE49-F238E27FC236}">
                  <a16:creationId xmlns:a16="http://schemas.microsoft.com/office/drawing/2014/main" id="{DD304BC4-2981-3C40-B73E-B7858EBF5C2C}"/>
                </a:ext>
              </a:extLst>
            </p:cNvPr>
            <p:cNvSpPr/>
            <p:nvPr/>
          </p:nvSpPr>
          <p:spPr>
            <a:xfrm rot="12307406">
              <a:off x="2530992" y="4552399"/>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11" name="TextBox 10">
            <a:extLst>
              <a:ext uri="{FF2B5EF4-FFF2-40B4-BE49-F238E27FC236}">
                <a16:creationId xmlns:a16="http://schemas.microsoft.com/office/drawing/2014/main" id="{21138D47-45B6-7D44-9659-C5245C4C7030}"/>
              </a:ext>
            </a:extLst>
          </p:cNvPr>
          <p:cNvSpPr txBox="1"/>
          <p:nvPr/>
        </p:nvSpPr>
        <p:spPr>
          <a:xfrm>
            <a:off x="5432196" y="4451265"/>
            <a:ext cx="3179075" cy="477054"/>
          </a:xfrm>
          <a:prstGeom prst="rect">
            <a:avLst/>
          </a:prstGeom>
          <a:noFill/>
        </p:spPr>
        <p:txBody>
          <a:bodyPr wrap="none" rtlCol="0">
            <a:spAutoFit/>
          </a:bodyPr>
          <a:lstStyle/>
          <a:p>
            <a:r>
              <a:rPr lang="en-US" sz="2500" b="1" dirty="0">
                <a:solidFill>
                  <a:schemeClr val="accent1"/>
                </a:solidFill>
              </a:rPr>
              <a:t>Simplicity and security</a:t>
            </a:r>
          </a:p>
        </p:txBody>
      </p:sp>
      <p:sp>
        <p:nvSpPr>
          <p:cNvPr id="12" name="TextBox 11">
            <a:extLst>
              <a:ext uri="{FF2B5EF4-FFF2-40B4-BE49-F238E27FC236}">
                <a16:creationId xmlns:a16="http://schemas.microsoft.com/office/drawing/2014/main" id="{0F219B4E-E8D4-D84D-8D44-65A1C9327F60}"/>
              </a:ext>
            </a:extLst>
          </p:cNvPr>
          <p:cNvSpPr txBox="1"/>
          <p:nvPr/>
        </p:nvSpPr>
        <p:spPr>
          <a:xfrm>
            <a:off x="5432196" y="2370862"/>
            <a:ext cx="1327608" cy="477054"/>
          </a:xfrm>
          <a:prstGeom prst="rect">
            <a:avLst/>
          </a:prstGeom>
          <a:noFill/>
        </p:spPr>
        <p:txBody>
          <a:bodyPr wrap="none" rtlCol="0">
            <a:spAutoFit/>
          </a:bodyPr>
          <a:lstStyle/>
          <a:p>
            <a:r>
              <a:rPr lang="en-US" sz="2500" b="1" dirty="0">
                <a:solidFill>
                  <a:schemeClr val="accent1"/>
                </a:solidFill>
              </a:rPr>
              <a:t>Features</a:t>
            </a:r>
          </a:p>
        </p:txBody>
      </p:sp>
      <p:cxnSp>
        <p:nvCxnSpPr>
          <p:cNvPr id="14" name="Straight Connector 13">
            <a:extLst>
              <a:ext uri="{FF2B5EF4-FFF2-40B4-BE49-F238E27FC236}">
                <a16:creationId xmlns:a16="http://schemas.microsoft.com/office/drawing/2014/main" id="{6D03FF8D-5A37-BD45-9D91-44A77DD5C12E}"/>
              </a:ext>
            </a:extLst>
          </p:cNvPr>
          <p:cNvCxnSpPr>
            <a:stCxn id="12" idx="1"/>
          </p:cNvCxnSpPr>
          <p:nvPr/>
        </p:nvCxnSpPr>
        <p:spPr>
          <a:xfrm flipH="1">
            <a:off x="4384307" y="2609389"/>
            <a:ext cx="10478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D2FB1D6-AE12-3049-B679-EA4A18C9F252}"/>
              </a:ext>
            </a:extLst>
          </p:cNvPr>
          <p:cNvCxnSpPr>
            <a:cxnSpLocks/>
            <a:stCxn id="11" idx="1"/>
          </p:cNvCxnSpPr>
          <p:nvPr/>
        </p:nvCxnSpPr>
        <p:spPr>
          <a:xfrm flipH="1">
            <a:off x="3408589" y="4689792"/>
            <a:ext cx="2023607"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5DABE1C-24BC-E749-BC15-676F8EFAD022}"/>
              </a:ext>
            </a:extLst>
          </p:cNvPr>
          <p:cNvSpPr txBox="1"/>
          <p:nvPr/>
        </p:nvSpPr>
        <p:spPr>
          <a:xfrm>
            <a:off x="8980149" y="4340457"/>
            <a:ext cx="2743200" cy="707886"/>
          </a:xfrm>
          <a:prstGeom prst="rect">
            <a:avLst/>
          </a:prstGeom>
          <a:noFill/>
          <a:ln w="28575">
            <a:solidFill>
              <a:schemeClr val="accent1"/>
            </a:solidFill>
          </a:ln>
        </p:spPr>
        <p:txBody>
          <a:bodyPr wrap="square" rtlCol="0">
            <a:spAutoFit/>
          </a:bodyPr>
          <a:lstStyle/>
          <a:p>
            <a:r>
              <a:rPr lang="en-US" sz="2000" dirty="0"/>
              <a:t>email offering only plain ASCII text</a:t>
            </a:r>
          </a:p>
        </p:txBody>
      </p:sp>
      <p:sp>
        <p:nvSpPr>
          <p:cNvPr id="19" name="TextBox 18">
            <a:extLst>
              <a:ext uri="{FF2B5EF4-FFF2-40B4-BE49-F238E27FC236}">
                <a16:creationId xmlns:a16="http://schemas.microsoft.com/office/drawing/2014/main" id="{C2E28823-DDDB-D840-AA21-74FC67E476FA}"/>
              </a:ext>
            </a:extLst>
          </p:cNvPr>
          <p:cNvSpPr txBox="1"/>
          <p:nvPr/>
        </p:nvSpPr>
        <p:spPr>
          <a:xfrm>
            <a:off x="8980149" y="2255446"/>
            <a:ext cx="2743200" cy="707886"/>
          </a:xfrm>
          <a:prstGeom prst="rect">
            <a:avLst/>
          </a:prstGeom>
          <a:noFill/>
          <a:ln w="28575">
            <a:solidFill>
              <a:schemeClr val="accent1"/>
            </a:solidFill>
          </a:ln>
        </p:spPr>
        <p:txBody>
          <a:bodyPr wrap="square" rtlCol="0">
            <a:spAutoFit/>
          </a:bodyPr>
          <a:lstStyle/>
          <a:p>
            <a:r>
              <a:rPr lang="en-US" sz="2000" dirty="0"/>
              <a:t>email in which you can attach images and files</a:t>
            </a:r>
          </a:p>
        </p:txBody>
      </p:sp>
    </p:spTree>
    <p:extLst>
      <p:ext uri="{BB962C8B-B14F-4D97-AF65-F5344CB8AC3E}">
        <p14:creationId xmlns:p14="http://schemas.microsoft.com/office/powerpoint/2010/main" val="223549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2177E-B449-D14B-968A-4636D684924C}"/>
              </a:ext>
            </a:extLst>
          </p:cNvPr>
          <p:cNvSpPr>
            <a:spLocks noGrp="1"/>
          </p:cNvSpPr>
          <p:nvPr>
            <p:ph type="title"/>
          </p:nvPr>
        </p:nvSpPr>
        <p:spPr/>
        <p:txBody>
          <a:bodyPr/>
          <a:lstStyle/>
          <a:p>
            <a:r>
              <a:rPr lang="en-US" dirty="0"/>
              <a:t>It’s complicated...</a:t>
            </a:r>
          </a:p>
        </p:txBody>
      </p:sp>
      <p:sp>
        <p:nvSpPr>
          <p:cNvPr id="3" name="Content Placeholder 2">
            <a:extLst>
              <a:ext uri="{FF2B5EF4-FFF2-40B4-BE49-F238E27FC236}">
                <a16:creationId xmlns:a16="http://schemas.microsoft.com/office/drawing/2014/main" id="{BF0CBA3C-59B5-BE42-8669-9B7DE6979BCF}"/>
              </a:ext>
            </a:extLst>
          </p:cNvPr>
          <p:cNvSpPr>
            <a:spLocks noGrp="1"/>
          </p:cNvSpPr>
          <p:nvPr>
            <p:ph idx="1"/>
          </p:nvPr>
        </p:nvSpPr>
        <p:spPr/>
        <p:txBody>
          <a:bodyPr/>
          <a:lstStyle/>
          <a:p>
            <a:r>
              <a:rPr lang="en-US" dirty="0"/>
              <a:t>Attacks</a:t>
            </a:r>
          </a:p>
          <a:p>
            <a:pPr lvl="1"/>
            <a:r>
              <a:rPr lang="en-US" dirty="0"/>
              <a:t>Worm: freestanding program, propagates without user intervention</a:t>
            </a:r>
          </a:p>
          <a:p>
            <a:pPr lvl="1"/>
            <a:r>
              <a:rPr lang="en-US" dirty="0"/>
              <a:t>Virus: attaches to another file/program, propagates through user interaction</a:t>
            </a:r>
          </a:p>
          <a:p>
            <a:pPr lvl="1"/>
            <a:r>
              <a:rPr lang="en-US" dirty="0"/>
              <a:t>Trojan horse: malware disguised as legitimate software</a:t>
            </a:r>
          </a:p>
          <a:p>
            <a:pPr lvl="1"/>
            <a:r>
              <a:rPr lang="en-US" dirty="0"/>
              <a:t>DoS, DDoS, ...</a:t>
            </a:r>
          </a:p>
          <a:p>
            <a:r>
              <a:rPr lang="en-US" dirty="0"/>
              <a:t>Being victim of a security incident does not imply the attacker is after you/your data (e.g., botnets)</a:t>
            </a:r>
          </a:p>
          <a:p>
            <a:r>
              <a:rPr lang="en-US" dirty="0"/>
              <a:t>Focusing on the ones related to the OS</a:t>
            </a:r>
          </a:p>
        </p:txBody>
      </p:sp>
      <p:sp>
        <p:nvSpPr>
          <p:cNvPr id="4" name="Date Placeholder 3">
            <a:extLst>
              <a:ext uri="{FF2B5EF4-FFF2-40B4-BE49-F238E27FC236}">
                <a16:creationId xmlns:a16="http://schemas.microsoft.com/office/drawing/2014/main" id="{A615E90F-1AAF-5C40-8879-5C98285E0DD8}"/>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ADFE6C2E-ACDB-D14D-A739-3B12188F117C}"/>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83BF44B2-66BD-114B-BA63-C351D4D382B2}"/>
              </a:ext>
            </a:extLst>
          </p:cNvPr>
          <p:cNvSpPr>
            <a:spLocks noGrp="1"/>
          </p:cNvSpPr>
          <p:nvPr>
            <p:ph type="sldNum" sz="quarter" idx="12"/>
          </p:nvPr>
        </p:nvSpPr>
        <p:spPr/>
        <p:txBody>
          <a:bodyPr/>
          <a:lstStyle/>
          <a:p>
            <a:fld id="{C92894D7-1DF0-2544-A605-B97A2B84F4F8}" type="slidenum">
              <a:rPr lang="en-SE" smtClean="0"/>
              <a:t>7</a:t>
            </a:fld>
            <a:endParaRPr lang="en-SE"/>
          </a:p>
        </p:txBody>
      </p:sp>
      <p:grpSp>
        <p:nvGrpSpPr>
          <p:cNvPr id="11" name="Group 10">
            <a:extLst>
              <a:ext uri="{FF2B5EF4-FFF2-40B4-BE49-F238E27FC236}">
                <a16:creationId xmlns:a16="http://schemas.microsoft.com/office/drawing/2014/main" id="{E1B60E7E-DD24-4441-BD00-DC650DDCC9F5}"/>
              </a:ext>
            </a:extLst>
          </p:cNvPr>
          <p:cNvGrpSpPr/>
          <p:nvPr/>
        </p:nvGrpSpPr>
        <p:grpSpPr>
          <a:xfrm>
            <a:off x="7064829" y="4407354"/>
            <a:ext cx="4816928" cy="1968500"/>
            <a:chOff x="7064829" y="4407354"/>
            <a:chExt cx="4816928" cy="1968500"/>
          </a:xfrm>
        </p:grpSpPr>
        <p:sp>
          <p:nvSpPr>
            <p:cNvPr id="7" name="Oval 6">
              <a:extLst>
                <a:ext uri="{FF2B5EF4-FFF2-40B4-BE49-F238E27FC236}">
                  <a16:creationId xmlns:a16="http://schemas.microsoft.com/office/drawing/2014/main" id="{0D53E997-9E12-7940-A167-AD773A0E8E3D}"/>
                </a:ext>
              </a:extLst>
            </p:cNvPr>
            <p:cNvSpPr/>
            <p:nvPr/>
          </p:nvSpPr>
          <p:spPr>
            <a:xfrm>
              <a:off x="7064829" y="4407354"/>
              <a:ext cx="4816928" cy="1968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1EFA7C5-2AFC-9A4F-876D-86E29EFECEFB}"/>
                </a:ext>
              </a:extLst>
            </p:cNvPr>
            <p:cNvSpPr txBox="1"/>
            <p:nvPr/>
          </p:nvSpPr>
          <p:spPr>
            <a:xfrm>
              <a:off x="9814702" y="4745221"/>
              <a:ext cx="1260281" cy="477054"/>
            </a:xfrm>
            <a:prstGeom prst="rect">
              <a:avLst/>
            </a:prstGeom>
            <a:noFill/>
          </p:spPr>
          <p:txBody>
            <a:bodyPr wrap="none" rtlCol="0">
              <a:spAutoFit/>
            </a:bodyPr>
            <a:lstStyle/>
            <a:p>
              <a:r>
                <a:rPr lang="en-US" sz="2500" b="1" dirty="0">
                  <a:solidFill>
                    <a:schemeClr val="accent1"/>
                  </a:solidFill>
                </a:rPr>
                <a:t>Security</a:t>
              </a:r>
            </a:p>
          </p:txBody>
        </p:sp>
        <p:sp>
          <p:nvSpPr>
            <p:cNvPr id="9" name="Oval 8">
              <a:extLst>
                <a:ext uri="{FF2B5EF4-FFF2-40B4-BE49-F238E27FC236}">
                  <a16:creationId xmlns:a16="http://schemas.microsoft.com/office/drawing/2014/main" id="{DDA6EE47-B805-9141-ABD9-E84EE07E78FD}"/>
                </a:ext>
              </a:extLst>
            </p:cNvPr>
            <p:cNvSpPr/>
            <p:nvPr/>
          </p:nvSpPr>
          <p:spPr>
            <a:xfrm>
              <a:off x="7761515" y="4898571"/>
              <a:ext cx="1774371" cy="11282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7AD5EAB-097E-4040-8744-43F9B362537F}"/>
                </a:ext>
              </a:extLst>
            </p:cNvPr>
            <p:cNvSpPr txBox="1"/>
            <p:nvPr/>
          </p:nvSpPr>
          <p:spPr>
            <a:xfrm>
              <a:off x="7897028" y="4983748"/>
              <a:ext cx="1576265" cy="861774"/>
            </a:xfrm>
            <a:prstGeom prst="rect">
              <a:avLst/>
            </a:prstGeom>
            <a:noFill/>
          </p:spPr>
          <p:txBody>
            <a:bodyPr wrap="none" rtlCol="0">
              <a:spAutoFit/>
            </a:bodyPr>
            <a:lstStyle/>
            <a:p>
              <a:pPr algn="ctr"/>
              <a:r>
                <a:rPr lang="en-US" sz="2500" b="1" dirty="0">
                  <a:solidFill>
                    <a:schemeClr val="accent1"/>
                  </a:solidFill>
                </a:rPr>
                <a:t>OS </a:t>
              </a:r>
            </a:p>
            <a:p>
              <a:pPr algn="ctr"/>
              <a:r>
                <a:rPr lang="en-US" sz="2500" b="1" dirty="0">
                  <a:solidFill>
                    <a:schemeClr val="accent1"/>
                  </a:solidFill>
                </a:rPr>
                <a:t>protection</a:t>
              </a:r>
            </a:p>
          </p:txBody>
        </p:sp>
      </p:grpSp>
    </p:spTree>
    <p:extLst>
      <p:ext uri="{BB962C8B-B14F-4D97-AF65-F5344CB8AC3E}">
        <p14:creationId xmlns:p14="http://schemas.microsoft.com/office/powerpoint/2010/main" val="410699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12C451-28DA-B843-9070-AF0F21D0D4E7}"/>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pPr marL="0" indent="0">
              <a:buNone/>
            </a:pPr>
            <a:r>
              <a:rPr lang="en-US" dirty="0"/>
              <a:t>There exists of course more: authenticity, accountability, nonrepudiability, privacy, ...</a:t>
            </a:r>
          </a:p>
        </p:txBody>
      </p:sp>
      <p:sp>
        <p:nvSpPr>
          <p:cNvPr id="4" name="Date Placeholder 3">
            <a:extLst>
              <a:ext uri="{FF2B5EF4-FFF2-40B4-BE49-F238E27FC236}">
                <a16:creationId xmlns:a16="http://schemas.microsoft.com/office/drawing/2014/main" id="{FB3DB543-3863-4343-87AA-9118B6964C1B}"/>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242A6EA4-2F0D-F743-99D8-49E6A6578AB7}"/>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F05A6AA1-054A-A643-803F-8E4B2D9B2CE4}"/>
              </a:ext>
            </a:extLst>
          </p:cNvPr>
          <p:cNvSpPr>
            <a:spLocks noGrp="1"/>
          </p:cNvSpPr>
          <p:nvPr>
            <p:ph type="sldNum" sz="quarter" idx="12"/>
          </p:nvPr>
        </p:nvSpPr>
        <p:spPr/>
        <p:txBody>
          <a:bodyPr/>
          <a:lstStyle/>
          <a:p>
            <a:fld id="{C92894D7-1DF0-2544-A605-B97A2B84F4F8}" type="slidenum">
              <a:rPr lang="en-SE" smtClean="0"/>
              <a:t>8</a:t>
            </a:fld>
            <a:endParaRPr lang="en-SE"/>
          </a:p>
        </p:txBody>
      </p:sp>
      <p:pic>
        <p:nvPicPr>
          <p:cNvPr id="8" name="Picture 2">
            <a:extLst>
              <a:ext uri="{FF2B5EF4-FFF2-40B4-BE49-F238E27FC236}">
                <a16:creationId xmlns:a16="http://schemas.microsoft.com/office/drawing/2014/main" id="{1E3FA533-59C6-F047-99AD-EC402EF777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931" y="1870075"/>
            <a:ext cx="6964807" cy="2411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344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4B0C2D0-CA42-5F41-BED3-16B0316458E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B6D67340-DBD1-AD4A-8BCE-FE1195D6E9E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7AA6B8AF-BE76-C04B-A80C-CDDE957EC346}"/>
              </a:ext>
            </a:extLst>
          </p:cNvPr>
          <p:cNvSpPr>
            <a:spLocks noGrp="1"/>
          </p:cNvSpPr>
          <p:nvPr>
            <p:ph type="sldNum" sz="quarter" idx="12"/>
          </p:nvPr>
        </p:nvSpPr>
        <p:spPr/>
        <p:txBody>
          <a:bodyPr/>
          <a:lstStyle/>
          <a:p>
            <a:fld id="{C92894D7-1DF0-2544-A605-B97A2B84F4F8}" type="slidenum">
              <a:rPr lang="en-SE" smtClean="0"/>
              <a:t>9</a:t>
            </a:fld>
            <a:endParaRPr lang="en-SE"/>
          </a:p>
        </p:txBody>
      </p:sp>
      <p:grpSp>
        <p:nvGrpSpPr>
          <p:cNvPr id="30" name="Group 29">
            <a:extLst>
              <a:ext uri="{FF2B5EF4-FFF2-40B4-BE49-F238E27FC236}">
                <a16:creationId xmlns:a16="http://schemas.microsoft.com/office/drawing/2014/main" id="{1AD020BB-55E7-D748-943B-59EB07505259}"/>
              </a:ext>
            </a:extLst>
          </p:cNvPr>
          <p:cNvGrpSpPr/>
          <p:nvPr/>
        </p:nvGrpSpPr>
        <p:grpSpPr>
          <a:xfrm>
            <a:off x="1271748" y="1514178"/>
            <a:ext cx="6330043" cy="3267074"/>
            <a:chOff x="1271748" y="1514178"/>
            <a:chExt cx="6330043" cy="3267074"/>
          </a:xfrm>
        </p:grpSpPr>
        <p:sp>
          <p:nvSpPr>
            <p:cNvPr id="8" name="Oval 7">
              <a:extLst>
                <a:ext uri="{FF2B5EF4-FFF2-40B4-BE49-F238E27FC236}">
                  <a16:creationId xmlns:a16="http://schemas.microsoft.com/office/drawing/2014/main" id="{CA06BCDA-9B58-3545-981A-6944BA68467B}"/>
                </a:ext>
              </a:extLst>
            </p:cNvPr>
            <p:cNvSpPr/>
            <p:nvPr/>
          </p:nvSpPr>
          <p:spPr>
            <a:xfrm>
              <a:off x="1271748" y="1514178"/>
              <a:ext cx="6330043" cy="326707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516996-BEDA-5F44-A94B-3AB501FE2F38}"/>
                </a:ext>
              </a:extLst>
            </p:cNvPr>
            <p:cNvSpPr txBox="1"/>
            <p:nvPr/>
          </p:nvSpPr>
          <p:spPr>
            <a:xfrm>
              <a:off x="4947049" y="1766868"/>
              <a:ext cx="1194686" cy="477054"/>
            </a:xfrm>
            <a:prstGeom prst="rect">
              <a:avLst/>
            </a:prstGeom>
            <a:noFill/>
          </p:spPr>
          <p:txBody>
            <a:bodyPr wrap="none" rtlCol="0">
              <a:spAutoFit/>
            </a:bodyPr>
            <a:lstStyle/>
            <a:p>
              <a:r>
                <a:rPr lang="en-US" sz="2500" b="1" dirty="0">
                  <a:solidFill>
                    <a:schemeClr val="accent1"/>
                  </a:solidFill>
                </a:rPr>
                <a:t>hackers</a:t>
              </a:r>
            </a:p>
          </p:txBody>
        </p:sp>
      </p:grpSp>
      <p:grpSp>
        <p:nvGrpSpPr>
          <p:cNvPr id="31" name="Group 30">
            <a:extLst>
              <a:ext uri="{FF2B5EF4-FFF2-40B4-BE49-F238E27FC236}">
                <a16:creationId xmlns:a16="http://schemas.microsoft.com/office/drawing/2014/main" id="{95E03A55-E2C3-AF49-9F7A-0C3113E9FEB7}"/>
              </a:ext>
            </a:extLst>
          </p:cNvPr>
          <p:cNvGrpSpPr/>
          <p:nvPr/>
        </p:nvGrpSpPr>
        <p:grpSpPr>
          <a:xfrm>
            <a:off x="1968435" y="2518951"/>
            <a:ext cx="1774371" cy="1128259"/>
            <a:chOff x="1968435" y="2518951"/>
            <a:chExt cx="1774371" cy="1128259"/>
          </a:xfrm>
        </p:grpSpPr>
        <p:sp>
          <p:nvSpPr>
            <p:cNvPr id="10" name="Oval 9">
              <a:extLst>
                <a:ext uri="{FF2B5EF4-FFF2-40B4-BE49-F238E27FC236}">
                  <a16:creationId xmlns:a16="http://schemas.microsoft.com/office/drawing/2014/main" id="{DFFFC79B-605A-7149-AEA6-E668DD903F12}"/>
                </a:ext>
              </a:extLst>
            </p:cNvPr>
            <p:cNvSpPr/>
            <p:nvPr/>
          </p:nvSpPr>
          <p:spPr>
            <a:xfrm>
              <a:off x="1968435" y="2518951"/>
              <a:ext cx="1774371" cy="11282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DE6078-FA79-704B-826B-2239AB03304A}"/>
                </a:ext>
              </a:extLst>
            </p:cNvPr>
            <p:cNvSpPr txBox="1"/>
            <p:nvPr/>
          </p:nvSpPr>
          <p:spPr>
            <a:xfrm>
              <a:off x="2095508" y="2773457"/>
              <a:ext cx="1520224" cy="477054"/>
            </a:xfrm>
            <a:prstGeom prst="rect">
              <a:avLst/>
            </a:prstGeom>
            <a:noFill/>
          </p:spPr>
          <p:txBody>
            <a:bodyPr wrap="none" rtlCol="0">
              <a:spAutoFit/>
            </a:bodyPr>
            <a:lstStyle/>
            <a:p>
              <a:pPr algn="ctr"/>
              <a:r>
                <a:rPr lang="en-US" sz="2500" b="1" dirty="0">
                  <a:solidFill>
                    <a:schemeClr val="accent1"/>
                  </a:solidFill>
                </a:rPr>
                <a:t>black hats</a:t>
              </a:r>
            </a:p>
          </p:txBody>
        </p:sp>
      </p:grpSp>
      <p:grpSp>
        <p:nvGrpSpPr>
          <p:cNvPr id="32" name="Group 31">
            <a:extLst>
              <a:ext uri="{FF2B5EF4-FFF2-40B4-BE49-F238E27FC236}">
                <a16:creationId xmlns:a16="http://schemas.microsoft.com/office/drawing/2014/main" id="{EA0BDC13-ECB4-ED43-95DE-7E5812EDF94D}"/>
              </a:ext>
            </a:extLst>
          </p:cNvPr>
          <p:cNvGrpSpPr/>
          <p:nvPr/>
        </p:nvGrpSpPr>
        <p:grpSpPr>
          <a:xfrm>
            <a:off x="4059863" y="3358111"/>
            <a:ext cx="1774371" cy="1128259"/>
            <a:chOff x="4059863" y="3358111"/>
            <a:chExt cx="1774371" cy="1128259"/>
          </a:xfrm>
        </p:grpSpPr>
        <p:sp>
          <p:nvSpPr>
            <p:cNvPr id="12" name="Oval 11">
              <a:extLst>
                <a:ext uri="{FF2B5EF4-FFF2-40B4-BE49-F238E27FC236}">
                  <a16:creationId xmlns:a16="http://schemas.microsoft.com/office/drawing/2014/main" id="{21C270C7-0614-4144-BABD-2164B83AC801}"/>
                </a:ext>
              </a:extLst>
            </p:cNvPr>
            <p:cNvSpPr/>
            <p:nvPr/>
          </p:nvSpPr>
          <p:spPr>
            <a:xfrm>
              <a:off x="4059863" y="3358111"/>
              <a:ext cx="1774371" cy="11282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FD42D34-E09B-214C-AF7D-C3F5936227A5}"/>
                </a:ext>
              </a:extLst>
            </p:cNvPr>
            <p:cNvSpPr txBox="1"/>
            <p:nvPr/>
          </p:nvSpPr>
          <p:spPr>
            <a:xfrm>
              <a:off x="4156832" y="3612617"/>
              <a:ext cx="1580433" cy="477054"/>
            </a:xfrm>
            <a:prstGeom prst="rect">
              <a:avLst/>
            </a:prstGeom>
            <a:noFill/>
          </p:spPr>
          <p:txBody>
            <a:bodyPr wrap="none" rtlCol="0">
              <a:spAutoFit/>
            </a:bodyPr>
            <a:lstStyle/>
            <a:p>
              <a:pPr algn="ctr"/>
              <a:r>
                <a:rPr lang="en-US" sz="2500" b="1" dirty="0">
                  <a:solidFill>
                    <a:schemeClr val="accent1"/>
                  </a:solidFill>
                </a:rPr>
                <a:t>white hats</a:t>
              </a:r>
            </a:p>
          </p:txBody>
        </p:sp>
      </p:grpSp>
      <p:grpSp>
        <p:nvGrpSpPr>
          <p:cNvPr id="34" name="Group 33">
            <a:extLst>
              <a:ext uri="{FF2B5EF4-FFF2-40B4-BE49-F238E27FC236}">
                <a16:creationId xmlns:a16="http://schemas.microsoft.com/office/drawing/2014/main" id="{FE26ADC1-1B9E-D543-8DC3-C189947DA655}"/>
              </a:ext>
            </a:extLst>
          </p:cNvPr>
          <p:cNvGrpSpPr/>
          <p:nvPr/>
        </p:nvGrpSpPr>
        <p:grpSpPr>
          <a:xfrm>
            <a:off x="3482956" y="2642652"/>
            <a:ext cx="7652904" cy="1646646"/>
            <a:chOff x="3482956" y="2642652"/>
            <a:chExt cx="7652904" cy="1646646"/>
          </a:xfrm>
        </p:grpSpPr>
        <p:cxnSp>
          <p:nvCxnSpPr>
            <p:cNvPr id="22" name="Curved Connector 21">
              <a:extLst>
                <a:ext uri="{FF2B5EF4-FFF2-40B4-BE49-F238E27FC236}">
                  <a16:creationId xmlns:a16="http://schemas.microsoft.com/office/drawing/2014/main" id="{DA0C96E9-21E5-1046-998F-2EFC5C85048B}"/>
                </a:ext>
              </a:extLst>
            </p:cNvPr>
            <p:cNvCxnSpPr>
              <a:cxnSpLocks/>
              <a:stCxn id="15" idx="0"/>
              <a:endCxn id="10" idx="7"/>
            </p:cNvCxnSpPr>
            <p:nvPr/>
          </p:nvCxnSpPr>
          <p:spPr>
            <a:xfrm rot="16200000" flipV="1">
              <a:off x="5665833" y="501304"/>
              <a:ext cx="1605117" cy="5970872"/>
            </a:xfrm>
            <a:prstGeom prst="curvedConnector3">
              <a:avLst>
                <a:gd name="adj1" fmla="val 12657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5A1CB42-D88F-3A43-9782-759D5978805F}"/>
                </a:ext>
              </a:extLst>
            </p:cNvPr>
            <p:cNvSpPr/>
            <p:nvPr/>
          </p:nvSpPr>
          <p:spPr>
            <a:xfrm>
              <a:off x="8716159" y="2642652"/>
              <a:ext cx="2419701" cy="646331"/>
            </a:xfrm>
            <a:prstGeom prst="rect">
              <a:avLst/>
            </a:prstGeom>
          </p:spPr>
          <p:txBody>
            <a:bodyPr wrap="none">
              <a:spAutoFit/>
            </a:bodyPr>
            <a:lstStyle/>
            <a:p>
              <a:r>
                <a:rPr lang="en-US" dirty="0">
                  <a:solidFill>
                    <a:srgbClr val="FF0000"/>
                  </a:solidFill>
                </a:rPr>
                <a:t>end up being used by ...</a:t>
              </a:r>
            </a:p>
            <a:p>
              <a:r>
                <a:rPr lang="en-US" dirty="0">
                  <a:solidFill>
                    <a:srgbClr val="FF0000"/>
                  </a:solidFill>
                </a:rPr>
                <a:t>     (dual use)</a:t>
              </a:r>
            </a:p>
          </p:txBody>
        </p:sp>
      </p:grpSp>
      <p:grpSp>
        <p:nvGrpSpPr>
          <p:cNvPr id="14" name="Group 13">
            <a:extLst>
              <a:ext uri="{FF2B5EF4-FFF2-40B4-BE49-F238E27FC236}">
                <a16:creationId xmlns:a16="http://schemas.microsoft.com/office/drawing/2014/main" id="{51F20CDD-49E8-FF44-9761-334DB4ED4A95}"/>
              </a:ext>
            </a:extLst>
          </p:cNvPr>
          <p:cNvGrpSpPr/>
          <p:nvPr/>
        </p:nvGrpSpPr>
        <p:grpSpPr>
          <a:xfrm>
            <a:off x="4947050" y="4289298"/>
            <a:ext cx="5674014" cy="707886"/>
            <a:chOff x="-2264792" y="3179823"/>
            <a:chExt cx="5674014" cy="707886"/>
          </a:xfrm>
        </p:grpSpPr>
        <p:sp>
          <p:nvSpPr>
            <p:cNvPr id="15" name="TextBox 14">
              <a:extLst>
                <a:ext uri="{FF2B5EF4-FFF2-40B4-BE49-F238E27FC236}">
                  <a16:creationId xmlns:a16="http://schemas.microsoft.com/office/drawing/2014/main" id="{775B5387-F55E-7149-B9A1-3AD4832E1228}"/>
                </a:ext>
              </a:extLst>
            </p:cNvPr>
            <p:cNvSpPr txBox="1"/>
            <p:nvPr/>
          </p:nvSpPr>
          <p:spPr>
            <a:xfrm>
              <a:off x="-100911" y="3179823"/>
              <a:ext cx="3510133" cy="707886"/>
            </a:xfrm>
            <a:prstGeom prst="rect">
              <a:avLst/>
            </a:prstGeom>
            <a:noFill/>
            <a:ln w="28575">
              <a:solidFill>
                <a:srgbClr val="FFC000"/>
              </a:solidFill>
            </a:ln>
          </p:spPr>
          <p:txBody>
            <a:bodyPr wrap="square" rtlCol="0">
              <a:spAutoFit/>
            </a:bodyPr>
            <a:lstStyle/>
            <a:p>
              <a:r>
                <a:rPr lang="en-US" sz="2000" dirty="0"/>
                <a:t>Develop security tools </a:t>
              </a:r>
              <a:br>
                <a:rPr lang="en-US" sz="2000" dirty="0"/>
              </a:br>
              <a:r>
                <a:rPr lang="en-US" sz="2000" dirty="0"/>
                <a:t>(</a:t>
              </a:r>
              <a:r>
                <a:rPr lang="en-US" sz="2000" dirty="0" err="1"/>
                <a:t>nmap</a:t>
              </a:r>
              <a:r>
                <a:rPr lang="en-US" sz="2000" dirty="0"/>
                <a:t>, port scanners, </a:t>
              </a:r>
              <a:r>
                <a:rPr lang="en-US" sz="2000" dirty="0" err="1"/>
                <a:t>dsniff</a:t>
              </a:r>
              <a:r>
                <a:rPr lang="en-US" sz="2000" dirty="0"/>
                <a:t>, ...)</a:t>
              </a:r>
            </a:p>
          </p:txBody>
        </p:sp>
        <p:cxnSp>
          <p:nvCxnSpPr>
            <p:cNvPr id="16" name="Curved Connector 15">
              <a:extLst>
                <a:ext uri="{FF2B5EF4-FFF2-40B4-BE49-F238E27FC236}">
                  <a16:creationId xmlns:a16="http://schemas.microsoft.com/office/drawing/2014/main" id="{57FF7325-1F86-9641-8333-155F3F6258E2}"/>
                </a:ext>
              </a:extLst>
            </p:cNvPr>
            <p:cNvCxnSpPr>
              <a:cxnSpLocks/>
              <a:stCxn id="12" idx="4"/>
              <a:endCxn id="15" idx="1"/>
            </p:cNvCxnSpPr>
            <p:nvPr/>
          </p:nvCxnSpPr>
          <p:spPr>
            <a:xfrm rot="16200000" flipH="1">
              <a:off x="-1261287" y="2373389"/>
              <a:ext cx="156871" cy="2163882"/>
            </a:xfrm>
            <a:prstGeom prst="curvedConnector2">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9358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48B25-10D9-9742-A651-B20701A87F3D}"/>
              </a:ext>
            </a:extLst>
          </p:cNvPr>
          <p:cNvSpPr>
            <a:spLocks noGrp="1"/>
          </p:cNvSpPr>
          <p:nvPr>
            <p:ph type="title"/>
          </p:nvPr>
        </p:nvSpPr>
        <p:spPr/>
        <p:txBody>
          <a:bodyPr>
            <a:normAutofit/>
          </a:bodyPr>
          <a:lstStyle/>
          <a:p>
            <a:r>
              <a:rPr lang="en-US" sz="3600" dirty="0"/>
              <a:t>Attacks can be classified along different dimensions:</a:t>
            </a:r>
          </a:p>
        </p:txBody>
      </p:sp>
      <p:sp>
        <p:nvSpPr>
          <p:cNvPr id="3" name="Content Placeholder 2">
            <a:extLst>
              <a:ext uri="{FF2B5EF4-FFF2-40B4-BE49-F238E27FC236}">
                <a16:creationId xmlns:a16="http://schemas.microsoft.com/office/drawing/2014/main" id="{67A2B26F-FD63-394A-924A-9E273F9EDCDA}"/>
              </a:ext>
            </a:extLst>
          </p:cNvPr>
          <p:cNvSpPr>
            <a:spLocks noGrp="1"/>
          </p:cNvSpPr>
          <p:nvPr>
            <p:ph idx="1"/>
          </p:nvPr>
        </p:nvSpPr>
        <p:spPr/>
        <p:txBody>
          <a:bodyPr/>
          <a:lstStyle/>
          <a:p>
            <a:r>
              <a:rPr lang="en-US" dirty="0"/>
              <a:t>Attacks</a:t>
            </a:r>
          </a:p>
          <a:p>
            <a:pPr lvl="1"/>
            <a:r>
              <a:rPr lang="en-US" dirty="0"/>
              <a:t>passive (e.g., sniff network traffic and try to break encryption)</a:t>
            </a:r>
          </a:p>
          <a:p>
            <a:pPr lvl="1"/>
            <a:r>
              <a:rPr lang="en-US" dirty="0"/>
              <a:t>Active (take control of a browser and use it to execute code)</a:t>
            </a:r>
          </a:p>
          <a:p>
            <a:r>
              <a:rPr lang="en-US" dirty="0"/>
              <a:t>Protection mechanisms</a:t>
            </a:r>
          </a:p>
          <a:p>
            <a:pPr lvl="1"/>
            <a:r>
              <a:rPr lang="en-US" dirty="0"/>
              <a:t>Cryptography</a:t>
            </a:r>
          </a:p>
          <a:p>
            <a:pPr lvl="1"/>
            <a:r>
              <a:rPr lang="en-US" dirty="0"/>
              <a:t>Software hardening</a:t>
            </a:r>
          </a:p>
          <a:p>
            <a:pPr lvl="1"/>
            <a:r>
              <a:rPr lang="en-US" dirty="0"/>
              <a:t>And more... (e.g., Intel SGX, a set of security related instructions that allows user processes to have encrypted / isolated parts of memory, that cannot be access by other processes nor by the OS)</a:t>
            </a:r>
          </a:p>
        </p:txBody>
      </p:sp>
      <p:sp>
        <p:nvSpPr>
          <p:cNvPr id="4" name="Date Placeholder 3">
            <a:extLst>
              <a:ext uri="{FF2B5EF4-FFF2-40B4-BE49-F238E27FC236}">
                <a16:creationId xmlns:a16="http://schemas.microsoft.com/office/drawing/2014/main" id="{5B6A5D25-FF96-664F-8930-908DB12A0145}"/>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DB4D6BF9-9B22-8D40-90A7-5F096E2D8227}"/>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7B2C3029-D6C5-E24E-9076-5C1CD70F1375}"/>
              </a:ext>
            </a:extLst>
          </p:cNvPr>
          <p:cNvSpPr>
            <a:spLocks noGrp="1"/>
          </p:cNvSpPr>
          <p:nvPr>
            <p:ph type="sldNum" sz="quarter" idx="12"/>
          </p:nvPr>
        </p:nvSpPr>
        <p:spPr/>
        <p:txBody>
          <a:bodyPr/>
          <a:lstStyle/>
          <a:p>
            <a:fld id="{C92894D7-1DF0-2544-A605-B97A2B84F4F8}" type="slidenum">
              <a:rPr lang="en-SE" smtClean="0"/>
              <a:t>10</a:t>
            </a:fld>
            <a:endParaRPr lang="en-SE"/>
          </a:p>
        </p:txBody>
      </p:sp>
    </p:spTree>
    <p:extLst>
      <p:ext uri="{BB962C8B-B14F-4D97-AF65-F5344CB8AC3E}">
        <p14:creationId xmlns:p14="http://schemas.microsoft.com/office/powerpoint/2010/main" val="332164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ABE9E-BDD6-1049-8391-74A0A1EC4EA9}"/>
              </a:ext>
            </a:extLst>
          </p:cNvPr>
          <p:cNvSpPr>
            <a:spLocks noGrp="1"/>
          </p:cNvSpPr>
          <p:nvPr>
            <p:ph type="title"/>
          </p:nvPr>
        </p:nvSpPr>
        <p:spPr/>
        <p:txBody>
          <a:bodyPr/>
          <a:lstStyle/>
          <a:p>
            <a:r>
              <a:rPr lang="en-US" dirty="0"/>
              <a:t>Trusted Computing Base (TCB)</a:t>
            </a:r>
          </a:p>
        </p:txBody>
      </p:sp>
      <p:sp>
        <p:nvSpPr>
          <p:cNvPr id="4" name="Date Placeholder 3">
            <a:extLst>
              <a:ext uri="{FF2B5EF4-FFF2-40B4-BE49-F238E27FC236}">
                <a16:creationId xmlns:a16="http://schemas.microsoft.com/office/drawing/2014/main" id="{8F60FD56-8B10-0441-83C0-E8033F9D84E1}"/>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9ED47305-7DFD-6147-8F6D-A00640102660}"/>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336158D7-9762-1242-91A8-9AAF5560359E}"/>
              </a:ext>
            </a:extLst>
          </p:cNvPr>
          <p:cNvSpPr>
            <a:spLocks noGrp="1"/>
          </p:cNvSpPr>
          <p:nvPr>
            <p:ph type="sldNum" sz="quarter" idx="12"/>
          </p:nvPr>
        </p:nvSpPr>
        <p:spPr/>
        <p:txBody>
          <a:bodyPr/>
          <a:lstStyle/>
          <a:p>
            <a:fld id="{C92894D7-1DF0-2544-A605-B97A2B84F4F8}" type="slidenum">
              <a:rPr lang="en-SE" smtClean="0"/>
              <a:t>11</a:t>
            </a:fld>
            <a:endParaRPr lang="en-SE"/>
          </a:p>
        </p:txBody>
      </p:sp>
      <p:pic>
        <p:nvPicPr>
          <p:cNvPr id="7" name="Picture 2">
            <a:extLst>
              <a:ext uri="{FF2B5EF4-FFF2-40B4-BE49-F238E27FC236}">
                <a16:creationId xmlns:a16="http://schemas.microsoft.com/office/drawing/2014/main" id="{7D5E7878-5BE1-2640-B60E-38AD23057C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687" y="2143352"/>
            <a:ext cx="7239000" cy="3343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Group 7">
            <a:extLst>
              <a:ext uri="{FF2B5EF4-FFF2-40B4-BE49-F238E27FC236}">
                <a16:creationId xmlns:a16="http://schemas.microsoft.com/office/drawing/2014/main" id="{455DEA64-104D-7E45-ADEF-EBBD281FEA67}"/>
              </a:ext>
            </a:extLst>
          </p:cNvPr>
          <p:cNvGrpSpPr/>
          <p:nvPr/>
        </p:nvGrpSpPr>
        <p:grpSpPr>
          <a:xfrm>
            <a:off x="4425043" y="4081835"/>
            <a:ext cx="6950528" cy="400110"/>
            <a:chOff x="-3253351" y="3016533"/>
            <a:chExt cx="6950528" cy="400110"/>
          </a:xfrm>
        </p:grpSpPr>
        <p:sp>
          <p:nvSpPr>
            <p:cNvPr id="9" name="TextBox 8">
              <a:extLst>
                <a:ext uri="{FF2B5EF4-FFF2-40B4-BE49-F238E27FC236}">
                  <a16:creationId xmlns:a16="http://schemas.microsoft.com/office/drawing/2014/main" id="{5089F520-6E50-2A47-9BFF-6D703A640627}"/>
                </a:ext>
              </a:extLst>
            </p:cNvPr>
            <p:cNvSpPr txBox="1"/>
            <p:nvPr/>
          </p:nvSpPr>
          <p:spPr>
            <a:xfrm>
              <a:off x="-214702" y="3016533"/>
              <a:ext cx="3911879" cy="400110"/>
            </a:xfrm>
            <a:prstGeom prst="rect">
              <a:avLst/>
            </a:prstGeom>
            <a:noFill/>
            <a:ln w="28575">
              <a:solidFill>
                <a:srgbClr val="FFC000"/>
              </a:solidFill>
            </a:ln>
          </p:spPr>
          <p:txBody>
            <a:bodyPr wrap="square" rtlCol="0">
              <a:spAutoFit/>
            </a:bodyPr>
            <a:lstStyle/>
            <a:p>
              <a:r>
                <a:rPr lang="en-US" sz="2000" dirty="0"/>
                <a:t>should be as small as possible</a:t>
              </a:r>
            </a:p>
          </p:txBody>
        </p:sp>
        <p:cxnSp>
          <p:nvCxnSpPr>
            <p:cNvPr id="10" name="Curved Connector 9">
              <a:extLst>
                <a:ext uri="{FF2B5EF4-FFF2-40B4-BE49-F238E27FC236}">
                  <a16:creationId xmlns:a16="http://schemas.microsoft.com/office/drawing/2014/main" id="{CB4E60EA-0F53-044C-ABA6-AA1D62D4BF19}"/>
                </a:ext>
              </a:extLst>
            </p:cNvPr>
            <p:cNvCxnSpPr>
              <a:cxnSpLocks/>
              <a:endCxn id="9" idx="1"/>
            </p:cNvCxnSpPr>
            <p:nvPr/>
          </p:nvCxnSpPr>
          <p:spPr>
            <a:xfrm flipV="1">
              <a:off x="-3253351" y="3216588"/>
              <a:ext cx="3038649" cy="200055"/>
            </a:xfrm>
            <a:prstGeom prst="straightConnector1">
              <a:avLst/>
            </a:prstGeom>
            <a:ln w="28575">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67CE4F9-FCE6-7D41-8042-DCF50A15F293}"/>
              </a:ext>
            </a:extLst>
          </p:cNvPr>
          <p:cNvGrpSpPr/>
          <p:nvPr/>
        </p:nvGrpSpPr>
        <p:grpSpPr>
          <a:xfrm>
            <a:off x="4425043" y="2041041"/>
            <a:ext cx="6950529" cy="2199617"/>
            <a:chOff x="-3139561" y="2440901"/>
            <a:chExt cx="6950529" cy="2199617"/>
          </a:xfrm>
        </p:grpSpPr>
        <p:sp>
          <p:nvSpPr>
            <p:cNvPr id="13" name="TextBox 12">
              <a:extLst>
                <a:ext uri="{FF2B5EF4-FFF2-40B4-BE49-F238E27FC236}">
                  <a16:creationId xmlns:a16="http://schemas.microsoft.com/office/drawing/2014/main" id="{4367D9F1-C7F8-DB4E-8EFE-2FF08A5660C9}"/>
                </a:ext>
              </a:extLst>
            </p:cNvPr>
            <p:cNvSpPr txBox="1"/>
            <p:nvPr/>
          </p:nvSpPr>
          <p:spPr>
            <a:xfrm>
              <a:off x="-100911" y="2440901"/>
              <a:ext cx="3911879" cy="1938992"/>
            </a:xfrm>
            <a:prstGeom prst="rect">
              <a:avLst/>
            </a:prstGeom>
            <a:noFill/>
            <a:ln w="28575">
              <a:solidFill>
                <a:srgbClr val="FFC000"/>
              </a:solidFill>
            </a:ln>
          </p:spPr>
          <p:txBody>
            <a:bodyPr wrap="square" rtlCol="0">
              <a:spAutoFit/>
            </a:bodyPr>
            <a:lstStyle/>
            <a:p>
              <a:r>
                <a:rPr lang="en-US" sz="2000" dirty="0"/>
                <a:t>hardware (except I/O that does not affect security), portion of kernel (process creation, process switching, memory management, file system, I/O) and user processes with root level</a:t>
              </a:r>
            </a:p>
          </p:txBody>
        </p:sp>
        <p:cxnSp>
          <p:nvCxnSpPr>
            <p:cNvPr id="14" name="Curved Connector 9">
              <a:extLst>
                <a:ext uri="{FF2B5EF4-FFF2-40B4-BE49-F238E27FC236}">
                  <a16:creationId xmlns:a16="http://schemas.microsoft.com/office/drawing/2014/main" id="{8CF67AC5-9D53-3445-9C48-4E70C9CEC1DB}"/>
                </a:ext>
              </a:extLst>
            </p:cNvPr>
            <p:cNvCxnSpPr>
              <a:cxnSpLocks/>
              <a:endCxn id="13" idx="1"/>
            </p:cNvCxnSpPr>
            <p:nvPr/>
          </p:nvCxnSpPr>
          <p:spPr>
            <a:xfrm flipV="1">
              <a:off x="-3139561" y="3410397"/>
              <a:ext cx="3038650" cy="1230121"/>
            </a:xfrm>
            <a:prstGeom prst="straightConnector1">
              <a:avLst/>
            </a:prstGeom>
            <a:ln w="28575">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63D4B564-A84B-C649-9CF3-1A7278D85CF0}"/>
              </a:ext>
            </a:extLst>
          </p:cNvPr>
          <p:cNvGrpSpPr/>
          <p:nvPr/>
        </p:nvGrpSpPr>
        <p:grpSpPr>
          <a:xfrm>
            <a:off x="4425042" y="4608584"/>
            <a:ext cx="6950530" cy="1631216"/>
            <a:chOff x="-3074505" y="2885906"/>
            <a:chExt cx="6950530" cy="1631216"/>
          </a:xfrm>
        </p:grpSpPr>
        <p:sp>
          <p:nvSpPr>
            <p:cNvPr id="20" name="TextBox 19">
              <a:extLst>
                <a:ext uri="{FF2B5EF4-FFF2-40B4-BE49-F238E27FC236}">
                  <a16:creationId xmlns:a16="http://schemas.microsoft.com/office/drawing/2014/main" id="{E9C0AB58-9C27-0E47-8C22-493099EB32EF}"/>
                </a:ext>
              </a:extLst>
            </p:cNvPr>
            <p:cNvSpPr txBox="1"/>
            <p:nvPr/>
          </p:nvSpPr>
          <p:spPr>
            <a:xfrm>
              <a:off x="-35855" y="2885906"/>
              <a:ext cx="3911880" cy="1631216"/>
            </a:xfrm>
            <a:prstGeom prst="rect">
              <a:avLst/>
            </a:prstGeom>
            <a:noFill/>
            <a:ln w="28575">
              <a:solidFill>
                <a:srgbClr val="FFC000"/>
              </a:solidFill>
            </a:ln>
          </p:spPr>
          <p:txBody>
            <a:bodyPr wrap="square" rtlCol="0">
              <a:spAutoFit/>
            </a:bodyPr>
            <a:lstStyle/>
            <a:p>
              <a:r>
                <a:rPr lang="en-US" sz="2000" dirty="0"/>
                <a:t>You always need a model:</a:t>
              </a:r>
            </a:p>
            <a:p>
              <a:pPr marL="342900" indent="-342900">
                <a:buFont typeface="Arial" panose="020B0604020202020204" pitchFamily="34" charset="0"/>
                <a:buChar char="•"/>
              </a:pPr>
              <a:r>
                <a:rPr lang="en-US" sz="2000" dirty="0"/>
                <a:t>what should be protected?</a:t>
              </a:r>
            </a:p>
            <a:p>
              <a:pPr marL="342900" indent="-342900">
                <a:buFont typeface="Arial" panose="020B0604020202020204" pitchFamily="34" charset="0"/>
                <a:buChar char="•"/>
              </a:pPr>
              <a:r>
                <a:rPr lang="en-US" sz="2000" dirty="0"/>
                <a:t>who can do what?</a:t>
              </a:r>
            </a:p>
            <a:p>
              <a:pPr marL="342900" indent="-342900">
                <a:buFont typeface="Arial" panose="020B0604020202020204" pitchFamily="34" charset="0"/>
                <a:buChar char="•"/>
              </a:pPr>
              <a:r>
                <a:rPr lang="en-US" sz="2000" dirty="0"/>
                <a:t>what is the power of the adversary?</a:t>
              </a:r>
            </a:p>
          </p:txBody>
        </p:sp>
        <p:cxnSp>
          <p:nvCxnSpPr>
            <p:cNvPr id="21" name="Curved Connector 9">
              <a:extLst>
                <a:ext uri="{FF2B5EF4-FFF2-40B4-BE49-F238E27FC236}">
                  <a16:creationId xmlns:a16="http://schemas.microsoft.com/office/drawing/2014/main" id="{48E9326B-5FBA-7542-B84E-35E59BD820D6}"/>
                </a:ext>
              </a:extLst>
            </p:cNvPr>
            <p:cNvCxnSpPr>
              <a:cxnSpLocks/>
              <a:endCxn id="20" idx="1"/>
            </p:cNvCxnSpPr>
            <p:nvPr/>
          </p:nvCxnSpPr>
          <p:spPr>
            <a:xfrm>
              <a:off x="-3074505" y="3028936"/>
              <a:ext cx="3038650" cy="672578"/>
            </a:xfrm>
            <a:prstGeom prst="straightConnector1">
              <a:avLst/>
            </a:prstGeom>
            <a:ln w="28575">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2637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t>Protection Domains</a:t>
            </a:r>
          </a:p>
          <a:p>
            <a:r>
              <a:rPr lang="en-GB" dirty="0">
                <a:solidFill>
                  <a:schemeClr val="bg1">
                    <a:lumMod val="50000"/>
                  </a:schemeClr>
                </a:solidFill>
              </a:rPr>
              <a:t>Access Control Lists</a:t>
            </a:r>
          </a:p>
          <a:p>
            <a:r>
              <a:rPr lang="en-GB" dirty="0">
                <a:solidFill>
                  <a:schemeClr val="bg1">
                    <a:lumMod val="50000"/>
                  </a:schemeClr>
                </a:solidFill>
              </a:rPr>
              <a:t>Capabilities</a:t>
            </a:r>
          </a:p>
          <a:p>
            <a:r>
              <a:rPr lang="en-GB" dirty="0">
                <a:solidFill>
                  <a:schemeClr val="bg1">
                    <a:lumMod val="50000"/>
                  </a:schemeClr>
                </a:solidFill>
              </a:rPr>
              <a:t>Authentication</a:t>
            </a:r>
          </a:p>
          <a:p>
            <a:r>
              <a:rPr lang="en-GB" dirty="0">
                <a:solidFill>
                  <a:schemeClr val="bg1">
                    <a:lumMod val="50000"/>
                  </a:schemeClr>
                </a:solidFill>
              </a:rPr>
              <a:t>Exploiting software bus: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12</a:t>
            </a:fld>
            <a:endParaRPr lang="en-SE"/>
          </a:p>
        </p:txBody>
      </p:sp>
    </p:spTree>
    <p:extLst>
      <p:ext uri="{BB962C8B-B14F-4D97-AF65-F5344CB8AC3E}">
        <p14:creationId xmlns:p14="http://schemas.microsoft.com/office/powerpoint/2010/main" val="4025340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EF8BC-9968-E041-975A-36479C66AB22}"/>
              </a:ext>
            </a:extLst>
          </p:cNvPr>
          <p:cNvSpPr>
            <a:spLocks noGrp="1"/>
          </p:cNvSpPr>
          <p:nvPr>
            <p:ph type="title"/>
          </p:nvPr>
        </p:nvSpPr>
        <p:spPr/>
        <p:txBody>
          <a:bodyPr/>
          <a:lstStyle/>
          <a:p>
            <a:r>
              <a:rPr lang="en-US" dirty="0"/>
              <a:t>Protection domains</a:t>
            </a:r>
          </a:p>
        </p:txBody>
      </p:sp>
      <p:sp>
        <p:nvSpPr>
          <p:cNvPr id="4" name="Date Placeholder 3">
            <a:extLst>
              <a:ext uri="{FF2B5EF4-FFF2-40B4-BE49-F238E27FC236}">
                <a16:creationId xmlns:a16="http://schemas.microsoft.com/office/drawing/2014/main" id="{69C84B98-D9E7-7C49-9DFA-0304BF61EB95}"/>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0AE5A3F8-5BD1-FE47-B74C-E2834556E34D}"/>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A46F0935-2C38-CA45-AEAC-60D8B317286A}"/>
              </a:ext>
            </a:extLst>
          </p:cNvPr>
          <p:cNvSpPr>
            <a:spLocks noGrp="1"/>
          </p:cNvSpPr>
          <p:nvPr>
            <p:ph type="sldNum" sz="quarter" idx="12"/>
          </p:nvPr>
        </p:nvSpPr>
        <p:spPr/>
        <p:txBody>
          <a:bodyPr/>
          <a:lstStyle/>
          <a:p>
            <a:fld id="{C92894D7-1DF0-2544-A605-B97A2B84F4F8}" type="slidenum">
              <a:rPr lang="en-SE" smtClean="0"/>
              <a:t>13</a:t>
            </a:fld>
            <a:endParaRPr lang="en-SE"/>
          </a:p>
        </p:txBody>
      </p:sp>
      <p:sp>
        <p:nvSpPr>
          <p:cNvPr id="7" name="Oval 6">
            <a:extLst>
              <a:ext uri="{FF2B5EF4-FFF2-40B4-BE49-F238E27FC236}">
                <a16:creationId xmlns:a16="http://schemas.microsoft.com/office/drawing/2014/main" id="{3498879C-454A-5943-A0EE-F7808680569B}"/>
              </a:ext>
            </a:extLst>
          </p:cNvPr>
          <p:cNvSpPr/>
          <p:nvPr/>
        </p:nvSpPr>
        <p:spPr>
          <a:xfrm>
            <a:off x="296091" y="2011679"/>
            <a:ext cx="3827417" cy="340940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OBJECTS</a:t>
            </a:r>
          </a:p>
          <a:p>
            <a:pPr algn="ctr"/>
            <a:endParaRPr lang="en-US" b="1" dirty="0">
              <a:solidFill>
                <a:schemeClr val="tx1"/>
              </a:solidFill>
            </a:endParaRPr>
          </a:p>
          <a:p>
            <a:pPr algn="ctr"/>
            <a:r>
              <a:rPr lang="en-US" dirty="0">
                <a:solidFill>
                  <a:schemeClr val="tx1"/>
                </a:solidFill>
              </a:rPr>
              <a:t>CPU</a:t>
            </a:r>
          </a:p>
          <a:p>
            <a:pPr algn="ctr"/>
            <a:r>
              <a:rPr lang="en-US" dirty="0">
                <a:solidFill>
                  <a:schemeClr val="tx1"/>
                </a:solidFill>
              </a:rPr>
              <a:t>memory page</a:t>
            </a:r>
          </a:p>
          <a:p>
            <a:pPr algn="ctr"/>
            <a:r>
              <a:rPr lang="en-US" dirty="0">
                <a:solidFill>
                  <a:schemeClr val="tx1"/>
                </a:solidFill>
              </a:rPr>
              <a:t>file</a:t>
            </a:r>
          </a:p>
          <a:p>
            <a:pPr algn="ctr"/>
            <a:r>
              <a:rPr lang="en-US" dirty="0">
                <a:solidFill>
                  <a:schemeClr val="tx1"/>
                </a:solidFill>
              </a:rPr>
              <a:t>semaphore</a:t>
            </a:r>
          </a:p>
          <a:p>
            <a:pPr algn="ctr"/>
            <a:r>
              <a:rPr lang="en-US" dirty="0">
                <a:solidFill>
                  <a:schemeClr val="tx1"/>
                </a:solidFill>
              </a:rPr>
              <a:t>...</a:t>
            </a:r>
          </a:p>
        </p:txBody>
      </p:sp>
      <p:sp>
        <p:nvSpPr>
          <p:cNvPr id="8" name="Oval 7">
            <a:extLst>
              <a:ext uri="{FF2B5EF4-FFF2-40B4-BE49-F238E27FC236}">
                <a16:creationId xmlns:a16="http://schemas.microsoft.com/office/drawing/2014/main" id="{7374FAF9-2CDA-5B45-BEA5-1413FEE4F28D}"/>
              </a:ext>
            </a:extLst>
          </p:cNvPr>
          <p:cNvSpPr/>
          <p:nvPr/>
        </p:nvSpPr>
        <p:spPr>
          <a:xfrm>
            <a:off x="4267198" y="2011679"/>
            <a:ext cx="3827417" cy="340940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OPERATIONS</a:t>
            </a:r>
          </a:p>
          <a:p>
            <a:pPr algn="ctr"/>
            <a:endParaRPr lang="en-US" b="1" dirty="0">
              <a:solidFill>
                <a:schemeClr val="tx1"/>
              </a:solidFill>
            </a:endParaRPr>
          </a:p>
          <a:p>
            <a:pPr algn="ctr"/>
            <a:r>
              <a:rPr lang="en-US" dirty="0">
                <a:solidFill>
                  <a:schemeClr val="tx1"/>
                </a:solidFill>
              </a:rPr>
              <a:t>read</a:t>
            </a:r>
          </a:p>
          <a:p>
            <a:pPr algn="ctr"/>
            <a:r>
              <a:rPr lang="en-US" dirty="0">
                <a:solidFill>
                  <a:schemeClr val="tx1"/>
                </a:solidFill>
              </a:rPr>
              <a:t>write</a:t>
            </a:r>
          </a:p>
          <a:p>
            <a:pPr algn="ctr"/>
            <a:r>
              <a:rPr lang="en-US" dirty="0">
                <a:solidFill>
                  <a:schemeClr val="tx1"/>
                </a:solidFill>
              </a:rPr>
              <a:t>execute</a:t>
            </a:r>
          </a:p>
          <a:p>
            <a:pPr algn="ctr"/>
            <a:r>
              <a:rPr lang="en-US" dirty="0">
                <a:solidFill>
                  <a:schemeClr val="tx1"/>
                </a:solidFill>
              </a:rPr>
              <a:t>up</a:t>
            </a:r>
          </a:p>
          <a:p>
            <a:pPr algn="ctr"/>
            <a:r>
              <a:rPr lang="en-US" dirty="0">
                <a:solidFill>
                  <a:schemeClr val="tx1"/>
                </a:solidFill>
              </a:rPr>
              <a:t>down</a:t>
            </a:r>
          </a:p>
          <a:p>
            <a:pPr algn="ctr"/>
            <a:r>
              <a:rPr lang="en-US" dirty="0">
                <a:solidFill>
                  <a:schemeClr val="tx1"/>
                </a:solidFill>
              </a:rPr>
              <a:t>...</a:t>
            </a:r>
          </a:p>
        </p:txBody>
      </p:sp>
      <p:sp>
        <p:nvSpPr>
          <p:cNvPr id="9" name="Oval 8">
            <a:extLst>
              <a:ext uri="{FF2B5EF4-FFF2-40B4-BE49-F238E27FC236}">
                <a16:creationId xmlns:a16="http://schemas.microsoft.com/office/drawing/2014/main" id="{34E66FFD-9440-4A48-9EA8-9339AE48498E}"/>
              </a:ext>
            </a:extLst>
          </p:cNvPr>
          <p:cNvSpPr/>
          <p:nvPr/>
        </p:nvSpPr>
        <p:spPr>
          <a:xfrm>
            <a:off x="8238306" y="2011679"/>
            <a:ext cx="3827417" cy="340940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PROCESSES</a:t>
            </a:r>
          </a:p>
          <a:p>
            <a:pPr algn="ctr"/>
            <a:endParaRPr lang="en-US" b="1" dirty="0">
              <a:solidFill>
                <a:schemeClr val="tx1"/>
              </a:solidFill>
            </a:endParaRPr>
          </a:p>
          <a:p>
            <a:pPr algn="ctr"/>
            <a:r>
              <a:rPr lang="en-US" dirty="0">
                <a:solidFill>
                  <a:schemeClr val="tx1"/>
                </a:solidFill>
              </a:rPr>
              <a:t>Process 1</a:t>
            </a:r>
          </a:p>
          <a:p>
            <a:pPr algn="ctr"/>
            <a:r>
              <a:rPr lang="en-US" dirty="0">
                <a:solidFill>
                  <a:schemeClr val="tx1"/>
                </a:solidFill>
              </a:rPr>
              <a:t>Process 2</a:t>
            </a:r>
          </a:p>
          <a:p>
            <a:pPr algn="ctr"/>
            <a:r>
              <a:rPr lang="en-US" dirty="0">
                <a:solidFill>
                  <a:schemeClr val="tx1"/>
                </a:solidFill>
              </a:rPr>
              <a:t>...</a:t>
            </a:r>
          </a:p>
        </p:txBody>
      </p:sp>
      <p:cxnSp>
        <p:nvCxnSpPr>
          <p:cNvPr id="11" name="Straight Connector 10">
            <a:extLst>
              <a:ext uri="{FF2B5EF4-FFF2-40B4-BE49-F238E27FC236}">
                <a16:creationId xmlns:a16="http://schemas.microsoft.com/office/drawing/2014/main" id="{755BBCB6-B963-C24D-8AA2-3914E13F4C10}"/>
              </a:ext>
            </a:extLst>
          </p:cNvPr>
          <p:cNvCxnSpPr/>
          <p:nvPr/>
        </p:nvCxnSpPr>
        <p:spPr>
          <a:xfrm flipH="1" flipV="1">
            <a:off x="6479177" y="3304903"/>
            <a:ext cx="3148149" cy="411479"/>
          </a:xfrm>
          <a:prstGeom prst="line">
            <a:avLst/>
          </a:prstGeom>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28A3F7A7-6941-3D45-884E-D5A475BBD5F0}"/>
              </a:ext>
            </a:extLst>
          </p:cNvPr>
          <p:cNvCxnSpPr>
            <a:cxnSpLocks/>
          </p:cNvCxnSpPr>
          <p:nvPr/>
        </p:nvCxnSpPr>
        <p:spPr>
          <a:xfrm flipV="1">
            <a:off x="2455817" y="3304903"/>
            <a:ext cx="3435532" cy="718457"/>
          </a:xfrm>
          <a:prstGeom prst="line">
            <a:avLst/>
          </a:prstGeom>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49A29953-1303-DC4C-A37B-8B5E6207D041}"/>
              </a:ext>
            </a:extLst>
          </p:cNvPr>
          <p:cNvCxnSpPr>
            <a:cxnSpLocks/>
          </p:cNvCxnSpPr>
          <p:nvPr/>
        </p:nvCxnSpPr>
        <p:spPr>
          <a:xfrm flipH="1">
            <a:off x="6479177" y="3978276"/>
            <a:ext cx="3148149" cy="175713"/>
          </a:xfrm>
          <a:prstGeom prst="line">
            <a:avLst/>
          </a:prstGeom>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CA63A8DE-1BF3-B841-8163-9C569C847916}"/>
              </a:ext>
            </a:extLst>
          </p:cNvPr>
          <p:cNvCxnSpPr>
            <a:cxnSpLocks/>
          </p:cNvCxnSpPr>
          <p:nvPr/>
        </p:nvCxnSpPr>
        <p:spPr>
          <a:xfrm flipH="1">
            <a:off x="6520541" y="3978276"/>
            <a:ext cx="3106785" cy="402000"/>
          </a:xfrm>
          <a:prstGeom prst="line">
            <a:avLst/>
          </a:prstGeom>
        </p:spPr>
        <p:style>
          <a:lnRef idx="1">
            <a:schemeClr val="accent2"/>
          </a:lnRef>
          <a:fillRef idx="0">
            <a:schemeClr val="accent2"/>
          </a:fillRef>
          <a:effectRef idx="0">
            <a:schemeClr val="accent2"/>
          </a:effectRef>
          <a:fontRef idx="minor">
            <a:schemeClr val="tx1"/>
          </a:fontRef>
        </p:style>
      </p:cxnSp>
      <p:cxnSp>
        <p:nvCxnSpPr>
          <p:cNvPr id="20" name="Straight Connector 19">
            <a:extLst>
              <a:ext uri="{FF2B5EF4-FFF2-40B4-BE49-F238E27FC236}">
                <a16:creationId xmlns:a16="http://schemas.microsoft.com/office/drawing/2014/main" id="{00A45A90-E739-0041-8608-C1394F12123F}"/>
              </a:ext>
            </a:extLst>
          </p:cNvPr>
          <p:cNvCxnSpPr>
            <a:cxnSpLocks/>
          </p:cNvCxnSpPr>
          <p:nvPr/>
        </p:nvCxnSpPr>
        <p:spPr>
          <a:xfrm>
            <a:off x="2808514" y="4285254"/>
            <a:ext cx="3082835" cy="130629"/>
          </a:xfrm>
          <a:prstGeom prst="line">
            <a:avLst/>
          </a:prstGeom>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7B82A882-7B3E-4644-B00D-B344890E2E9C}"/>
              </a:ext>
            </a:extLst>
          </p:cNvPr>
          <p:cNvCxnSpPr>
            <a:cxnSpLocks/>
          </p:cNvCxnSpPr>
          <p:nvPr/>
        </p:nvCxnSpPr>
        <p:spPr>
          <a:xfrm flipV="1">
            <a:off x="2808514" y="4179276"/>
            <a:ext cx="3082835" cy="105978"/>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89881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9E926-6A6C-4242-95E9-49E81EC54FD8}"/>
              </a:ext>
            </a:extLst>
          </p:cNvPr>
          <p:cNvSpPr>
            <a:spLocks noGrp="1"/>
          </p:cNvSpPr>
          <p:nvPr>
            <p:ph type="title"/>
          </p:nvPr>
        </p:nvSpPr>
        <p:spPr/>
        <p:txBody>
          <a:bodyPr/>
          <a:lstStyle/>
          <a:p>
            <a:r>
              <a:rPr lang="en-US" dirty="0"/>
              <a:t>Protection domains</a:t>
            </a:r>
          </a:p>
        </p:txBody>
      </p:sp>
      <p:sp>
        <p:nvSpPr>
          <p:cNvPr id="3" name="Content Placeholder 2">
            <a:extLst>
              <a:ext uri="{FF2B5EF4-FFF2-40B4-BE49-F238E27FC236}">
                <a16:creationId xmlns:a16="http://schemas.microsoft.com/office/drawing/2014/main" id="{DE2922E3-0246-C34B-A201-EB6C661C87EA}"/>
              </a:ext>
            </a:extLst>
          </p:cNvPr>
          <p:cNvSpPr>
            <a:spLocks noGrp="1"/>
          </p:cNvSpPr>
          <p:nvPr>
            <p:ph idx="1"/>
          </p:nvPr>
        </p:nvSpPr>
        <p:spPr/>
        <p:txBody>
          <a:bodyPr/>
          <a:lstStyle/>
          <a:p>
            <a:r>
              <a:rPr lang="en-US" dirty="0"/>
              <a:t>Domain: set of &lt;object, rights&gt; pairs</a:t>
            </a:r>
          </a:p>
          <a:p>
            <a:r>
              <a:rPr lang="en-US" dirty="0"/>
              <a:t>Usually, a domain refers to 1 user, but it can be more general than that (e.g., groups)</a:t>
            </a:r>
          </a:p>
          <a:p>
            <a:r>
              <a:rPr lang="en-US" dirty="0"/>
              <a:t>Security works best when each domain has the minimum objects / privileges to do its work (POLA, Principle of Least Authority)</a:t>
            </a:r>
          </a:p>
        </p:txBody>
      </p:sp>
      <p:sp>
        <p:nvSpPr>
          <p:cNvPr id="4" name="Date Placeholder 3">
            <a:extLst>
              <a:ext uri="{FF2B5EF4-FFF2-40B4-BE49-F238E27FC236}">
                <a16:creationId xmlns:a16="http://schemas.microsoft.com/office/drawing/2014/main" id="{F4BC1C8B-CC95-5E4E-87DB-E95C4DBC060D}"/>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D6050AC8-4886-E949-946A-39E26179F691}"/>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9C0CE872-FAD4-E34C-8484-CA156CF9A2FB}"/>
              </a:ext>
            </a:extLst>
          </p:cNvPr>
          <p:cNvSpPr>
            <a:spLocks noGrp="1"/>
          </p:cNvSpPr>
          <p:nvPr>
            <p:ph type="sldNum" sz="quarter" idx="12"/>
          </p:nvPr>
        </p:nvSpPr>
        <p:spPr/>
        <p:txBody>
          <a:bodyPr/>
          <a:lstStyle/>
          <a:p>
            <a:fld id="{C92894D7-1DF0-2544-A605-B97A2B84F4F8}" type="slidenum">
              <a:rPr lang="en-SE" smtClean="0"/>
              <a:t>14</a:t>
            </a:fld>
            <a:endParaRPr lang="en-SE"/>
          </a:p>
        </p:txBody>
      </p:sp>
    </p:spTree>
    <p:extLst>
      <p:ext uri="{BB962C8B-B14F-4D97-AF65-F5344CB8AC3E}">
        <p14:creationId xmlns:p14="http://schemas.microsoft.com/office/powerpoint/2010/main" val="2836601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1D382-4EE5-D04A-B81B-F0EC44A8427B}"/>
              </a:ext>
            </a:extLst>
          </p:cNvPr>
          <p:cNvSpPr>
            <a:spLocks noGrp="1"/>
          </p:cNvSpPr>
          <p:nvPr>
            <p:ph type="title"/>
          </p:nvPr>
        </p:nvSpPr>
        <p:spPr/>
        <p:txBody>
          <a:bodyPr/>
          <a:lstStyle/>
          <a:p>
            <a:r>
              <a:rPr lang="en-US" dirty="0"/>
              <a:t>Protection domains</a:t>
            </a:r>
          </a:p>
        </p:txBody>
      </p:sp>
      <p:sp>
        <p:nvSpPr>
          <p:cNvPr id="3" name="Content Placeholder 2">
            <a:extLst>
              <a:ext uri="{FF2B5EF4-FFF2-40B4-BE49-F238E27FC236}">
                <a16:creationId xmlns:a16="http://schemas.microsoft.com/office/drawing/2014/main" id="{2A7822FE-8585-9749-9BEC-F627C046117B}"/>
              </a:ext>
            </a:extLst>
          </p:cNvPr>
          <p:cNvSpPr>
            <a:spLocks noGrp="1"/>
          </p:cNvSpPr>
          <p:nvPr>
            <p:ph idx="1"/>
          </p:nvPr>
        </p:nvSpPr>
        <p:spPr/>
        <p:txBody>
          <a:bodyPr>
            <a:normAutofit fontScale="92500" lnSpcReduction="10000"/>
          </a:bodyPr>
          <a:lstStyle/>
          <a:p>
            <a:endParaRPr lang="en-US" dirty="0"/>
          </a:p>
          <a:p>
            <a:endParaRPr lang="en-US" dirty="0"/>
          </a:p>
          <a:p>
            <a:endParaRPr lang="en-US" dirty="0"/>
          </a:p>
          <a:p>
            <a:endParaRPr lang="en-US" dirty="0"/>
          </a:p>
          <a:p>
            <a:endParaRPr lang="en-US" dirty="0"/>
          </a:p>
          <a:p>
            <a:endParaRPr lang="en-US" dirty="0"/>
          </a:p>
          <a:p>
            <a:r>
              <a:rPr lang="en-US" dirty="0"/>
              <a:t>At each point in time, each process runs in some protection domain</a:t>
            </a:r>
          </a:p>
          <a:p>
            <a:r>
              <a:rPr lang="en-US" dirty="0"/>
              <a:t>Each process can in principle switch domain (depending on the system running it, of course...)</a:t>
            </a:r>
          </a:p>
          <a:p>
            <a:r>
              <a:rPr lang="en-US" dirty="0"/>
              <a:t>Unix: each process has UID and GID </a:t>
            </a:r>
          </a:p>
        </p:txBody>
      </p:sp>
      <p:sp>
        <p:nvSpPr>
          <p:cNvPr id="4" name="Date Placeholder 3">
            <a:extLst>
              <a:ext uri="{FF2B5EF4-FFF2-40B4-BE49-F238E27FC236}">
                <a16:creationId xmlns:a16="http://schemas.microsoft.com/office/drawing/2014/main" id="{D8752CAD-E27B-7B48-BBBA-4C398F7B9B9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35EA9E61-F498-8244-9D1C-7EC007DF6042}"/>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649B7028-BA8E-AE49-8EA2-CD9E21AB1F24}"/>
              </a:ext>
            </a:extLst>
          </p:cNvPr>
          <p:cNvSpPr>
            <a:spLocks noGrp="1"/>
          </p:cNvSpPr>
          <p:nvPr>
            <p:ph type="sldNum" sz="quarter" idx="12"/>
          </p:nvPr>
        </p:nvSpPr>
        <p:spPr/>
        <p:txBody>
          <a:bodyPr/>
          <a:lstStyle/>
          <a:p>
            <a:fld id="{C92894D7-1DF0-2544-A605-B97A2B84F4F8}" type="slidenum">
              <a:rPr lang="en-SE" smtClean="0"/>
              <a:t>15</a:t>
            </a:fld>
            <a:endParaRPr lang="en-SE"/>
          </a:p>
        </p:txBody>
      </p:sp>
      <p:pic>
        <p:nvPicPr>
          <p:cNvPr id="7" name="Picture 2">
            <a:extLst>
              <a:ext uri="{FF2B5EF4-FFF2-40B4-BE49-F238E27FC236}">
                <a16:creationId xmlns:a16="http://schemas.microsoft.com/office/drawing/2014/main" id="{05A6EF93-DFE9-5F4E-AB0C-145186996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485" y="1690688"/>
            <a:ext cx="8124825"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9670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BE9411-998E-E54E-9825-5C4C058630C1}"/>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0AC0A7A8-6768-9B49-9C77-ACD44681F17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3FD1FF2A-CDD7-6640-BB4D-24DEF85D999B}"/>
              </a:ext>
            </a:extLst>
          </p:cNvPr>
          <p:cNvSpPr>
            <a:spLocks noGrp="1"/>
          </p:cNvSpPr>
          <p:nvPr>
            <p:ph type="sldNum" sz="quarter" idx="12"/>
          </p:nvPr>
        </p:nvSpPr>
        <p:spPr/>
        <p:txBody>
          <a:bodyPr/>
          <a:lstStyle/>
          <a:p>
            <a:fld id="{C92894D7-1DF0-2544-A605-B97A2B84F4F8}" type="slidenum">
              <a:rPr lang="en-SE" smtClean="0"/>
              <a:t>16</a:t>
            </a:fld>
            <a:endParaRPr lang="en-SE"/>
          </a:p>
        </p:txBody>
      </p:sp>
      <p:sp>
        <p:nvSpPr>
          <p:cNvPr id="7" name="Text Placeholder 2">
            <a:extLst>
              <a:ext uri="{FF2B5EF4-FFF2-40B4-BE49-F238E27FC236}">
                <a16:creationId xmlns:a16="http://schemas.microsoft.com/office/drawing/2014/main" id="{D153DEE1-A6D3-6541-9F67-DD8E9F6B8765}"/>
              </a:ext>
            </a:extLst>
          </p:cNvPr>
          <p:cNvSpPr txBox="1">
            <a:spLocks/>
          </p:cNvSpPr>
          <p:nvPr/>
        </p:nvSpPr>
        <p:spPr>
          <a:xfrm>
            <a:off x="2183674" y="2739254"/>
            <a:ext cx="7759700" cy="833437"/>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altLang="en-US" dirty="0"/>
              <a:t>Figure 9-4. A protection matrix.</a:t>
            </a:r>
            <a:endParaRPr lang="en-US" altLang="en-US" dirty="0"/>
          </a:p>
        </p:txBody>
      </p:sp>
      <p:pic>
        <p:nvPicPr>
          <p:cNvPr id="8" name="Picture 2">
            <a:extLst>
              <a:ext uri="{FF2B5EF4-FFF2-40B4-BE49-F238E27FC236}">
                <a16:creationId xmlns:a16="http://schemas.microsoft.com/office/drawing/2014/main" id="{232C2A2D-4F4F-3F4D-B34C-54CEEF7D36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9861" y="280216"/>
            <a:ext cx="8562975" cy="267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Placeholder 2">
            <a:extLst>
              <a:ext uri="{FF2B5EF4-FFF2-40B4-BE49-F238E27FC236}">
                <a16:creationId xmlns:a16="http://schemas.microsoft.com/office/drawing/2014/main" id="{BE5F3FFF-78DD-304C-825C-168E8B421BE2}"/>
              </a:ext>
            </a:extLst>
          </p:cNvPr>
          <p:cNvSpPr txBox="1">
            <a:spLocks/>
          </p:cNvSpPr>
          <p:nvPr/>
        </p:nvSpPr>
        <p:spPr>
          <a:xfrm>
            <a:off x="2183674" y="5462134"/>
            <a:ext cx="7759700" cy="833437"/>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dirty="0"/>
              <a:t>Figure 9-5. A protection matrix with domains as objects.</a:t>
            </a:r>
          </a:p>
        </p:txBody>
      </p:sp>
      <p:pic>
        <p:nvPicPr>
          <p:cNvPr id="12" name="Picture 2">
            <a:extLst>
              <a:ext uri="{FF2B5EF4-FFF2-40B4-BE49-F238E27FC236}">
                <a16:creationId xmlns:a16="http://schemas.microsoft.com/office/drawing/2014/main" id="{DE338D38-E1AE-AD47-AE8B-8CC0645988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5376" y="3429000"/>
            <a:ext cx="8362950" cy="210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a:extLst>
              <a:ext uri="{FF2B5EF4-FFF2-40B4-BE49-F238E27FC236}">
                <a16:creationId xmlns:a16="http://schemas.microsoft.com/office/drawing/2014/main" id="{16553B38-C486-1E45-A82C-6924347A8515}"/>
              </a:ext>
            </a:extLst>
          </p:cNvPr>
          <p:cNvSpPr/>
          <p:nvPr/>
        </p:nvSpPr>
        <p:spPr>
          <a:xfrm>
            <a:off x="2312126" y="3670663"/>
            <a:ext cx="783771" cy="1863362"/>
          </a:xfrm>
          <a:prstGeom prst="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29F9EBC-2E30-7845-9E2C-7D839A820CE9}"/>
              </a:ext>
            </a:extLst>
          </p:cNvPr>
          <p:cNvSpPr txBox="1"/>
          <p:nvPr/>
        </p:nvSpPr>
        <p:spPr>
          <a:xfrm>
            <a:off x="1698158" y="3301331"/>
            <a:ext cx="2011705" cy="369332"/>
          </a:xfrm>
          <a:prstGeom prst="rect">
            <a:avLst/>
          </a:prstGeom>
          <a:noFill/>
        </p:spPr>
        <p:txBody>
          <a:bodyPr wrap="none" rtlCol="0">
            <a:spAutoFit/>
          </a:bodyPr>
          <a:lstStyle/>
          <a:p>
            <a:r>
              <a:rPr lang="en-US" dirty="0">
                <a:solidFill>
                  <a:schemeClr val="accent1"/>
                </a:solidFill>
              </a:rPr>
              <a:t>Access Control Lists</a:t>
            </a:r>
          </a:p>
        </p:txBody>
      </p:sp>
      <p:sp>
        <p:nvSpPr>
          <p:cNvPr id="15" name="Rectangle 14">
            <a:extLst>
              <a:ext uri="{FF2B5EF4-FFF2-40B4-BE49-F238E27FC236}">
                <a16:creationId xmlns:a16="http://schemas.microsoft.com/office/drawing/2014/main" id="{9DC6E846-0ED6-2846-B40F-E0B01FC6464C}"/>
              </a:ext>
            </a:extLst>
          </p:cNvPr>
          <p:cNvSpPr/>
          <p:nvPr/>
        </p:nvSpPr>
        <p:spPr>
          <a:xfrm>
            <a:off x="2183674" y="4395016"/>
            <a:ext cx="7639595" cy="594995"/>
          </a:xfrm>
          <a:prstGeom prst="rect">
            <a:avLst/>
          </a:prstGeom>
          <a:solidFill>
            <a:srgbClr val="FFC000">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359A8B5-7B1A-7D4F-9A69-417C4FADEDA3}"/>
              </a:ext>
            </a:extLst>
          </p:cNvPr>
          <p:cNvSpPr txBox="1"/>
          <p:nvPr/>
        </p:nvSpPr>
        <p:spPr>
          <a:xfrm>
            <a:off x="9982200" y="4507847"/>
            <a:ext cx="1266693" cy="369332"/>
          </a:xfrm>
          <a:prstGeom prst="rect">
            <a:avLst/>
          </a:prstGeom>
          <a:noFill/>
        </p:spPr>
        <p:txBody>
          <a:bodyPr wrap="none" rtlCol="0">
            <a:spAutoFit/>
          </a:bodyPr>
          <a:lstStyle/>
          <a:p>
            <a:r>
              <a:rPr lang="en-US" dirty="0">
                <a:solidFill>
                  <a:schemeClr val="accent4"/>
                </a:solidFill>
              </a:rPr>
              <a:t>Capabilities</a:t>
            </a:r>
          </a:p>
        </p:txBody>
      </p:sp>
    </p:spTree>
    <p:extLst>
      <p:ext uri="{BB962C8B-B14F-4D97-AF65-F5344CB8AC3E}">
        <p14:creationId xmlns:p14="http://schemas.microsoft.com/office/powerpoint/2010/main" val="2834079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animBg="1"/>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solidFill>
                  <a:schemeClr val="bg1">
                    <a:lumMod val="50000"/>
                  </a:schemeClr>
                </a:solidFill>
              </a:rPr>
              <a:t>Protection Domains</a:t>
            </a:r>
          </a:p>
          <a:p>
            <a:r>
              <a:rPr lang="en-GB" dirty="0"/>
              <a:t>Access Control Lists</a:t>
            </a:r>
          </a:p>
          <a:p>
            <a:r>
              <a:rPr lang="en-GB" dirty="0">
                <a:solidFill>
                  <a:schemeClr val="bg1">
                    <a:lumMod val="50000"/>
                  </a:schemeClr>
                </a:solidFill>
              </a:rPr>
              <a:t>Capabilities</a:t>
            </a:r>
          </a:p>
          <a:p>
            <a:r>
              <a:rPr lang="en-GB" dirty="0">
                <a:solidFill>
                  <a:schemeClr val="bg1">
                    <a:lumMod val="50000"/>
                  </a:schemeClr>
                </a:solidFill>
              </a:rPr>
              <a:t>Authentication</a:t>
            </a:r>
          </a:p>
          <a:p>
            <a:r>
              <a:rPr lang="en-GB" dirty="0">
                <a:solidFill>
                  <a:schemeClr val="bg1">
                    <a:lumMod val="50000"/>
                  </a:schemeClr>
                </a:solidFill>
              </a:rPr>
              <a:t>Exploiting software bugs: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17</a:t>
            </a:fld>
            <a:endParaRPr lang="en-SE"/>
          </a:p>
        </p:txBody>
      </p:sp>
    </p:spTree>
    <p:extLst>
      <p:ext uri="{BB962C8B-B14F-4D97-AF65-F5344CB8AC3E}">
        <p14:creationId xmlns:p14="http://schemas.microsoft.com/office/powerpoint/2010/main" val="2189596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A3591-95F1-3D46-8DE2-0BC1A26D166B}"/>
              </a:ext>
            </a:extLst>
          </p:cNvPr>
          <p:cNvSpPr>
            <a:spLocks noGrp="1"/>
          </p:cNvSpPr>
          <p:nvPr>
            <p:ph type="title"/>
          </p:nvPr>
        </p:nvSpPr>
        <p:spPr/>
        <p:txBody>
          <a:bodyPr/>
          <a:lstStyle/>
          <a:p>
            <a:r>
              <a:rPr lang="en-US" dirty="0"/>
              <a:t>Access Control Lists</a:t>
            </a:r>
          </a:p>
        </p:txBody>
      </p:sp>
      <p:sp>
        <p:nvSpPr>
          <p:cNvPr id="3" name="Content Placeholder 2">
            <a:extLst>
              <a:ext uri="{FF2B5EF4-FFF2-40B4-BE49-F238E27FC236}">
                <a16:creationId xmlns:a16="http://schemas.microsoft.com/office/drawing/2014/main" id="{AC52A0E3-1D6A-744F-BAE2-FA86B57AFA53}"/>
              </a:ext>
            </a:extLst>
          </p:cNvPr>
          <p:cNvSpPr>
            <a:spLocks noGrp="1"/>
          </p:cNvSpPr>
          <p:nvPr>
            <p:ph idx="1"/>
          </p:nvPr>
        </p:nvSpPr>
        <p:spPr>
          <a:xfrm>
            <a:off x="6602727" y="1825625"/>
            <a:ext cx="5307051" cy="4351338"/>
          </a:xfrm>
        </p:spPr>
        <p:txBody>
          <a:bodyPr/>
          <a:lstStyle/>
          <a:p>
            <a:r>
              <a:rPr lang="en-US" dirty="0"/>
              <a:t>RWX rights are common, but there could be more</a:t>
            </a:r>
          </a:p>
          <a:p>
            <a:r>
              <a:rPr lang="en-US" dirty="0"/>
              <a:t>rights might be per group of users, not an individual user</a:t>
            </a:r>
          </a:p>
          <a:p>
            <a:pPr lvl="1"/>
            <a:r>
              <a:rPr lang="en-US" dirty="0"/>
              <a:t>Could be stored as pairs (UID1,GID1):... (UID2,GID2):... – this models </a:t>
            </a:r>
            <a:r>
              <a:rPr lang="en-US" i="1" dirty="0"/>
              <a:t>ROLES</a:t>
            </a:r>
          </a:p>
          <a:p>
            <a:pPr lvl="2"/>
            <a:r>
              <a:rPr lang="en-US" dirty="0"/>
              <a:t>Could include wildcards (UID1,*)</a:t>
            </a:r>
          </a:p>
          <a:p>
            <a:pPr lvl="1"/>
            <a:r>
              <a:rPr lang="en-US" dirty="0"/>
              <a:t>could be stored individual UID1:... UID2:... GID1:...</a:t>
            </a:r>
          </a:p>
        </p:txBody>
      </p:sp>
      <p:sp>
        <p:nvSpPr>
          <p:cNvPr id="4" name="Date Placeholder 3">
            <a:extLst>
              <a:ext uri="{FF2B5EF4-FFF2-40B4-BE49-F238E27FC236}">
                <a16:creationId xmlns:a16="http://schemas.microsoft.com/office/drawing/2014/main" id="{041B5B56-AFC5-CC40-BF74-E9EDF9F00552}"/>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3CD30374-FF67-3F4C-B3F3-790E92FEA36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D84EC490-AB6F-984D-9736-46777917BE84}"/>
              </a:ext>
            </a:extLst>
          </p:cNvPr>
          <p:cNvSpPr>
            <a:spLocks noGrp="1"/>
          </p:cNvSpPr>
          <p:nvPr>
            <p:ph type="sldNum" sz="quarter" idx="12"/>
          </p:nvPr>
        </p:nvSpPr>
        <p:spPr/>
        <p:txBody>
          <a:bodyPr/>
          <a:lstStyle/>
          <a:p>
            <a:fld id="{C92894D7-1DF0-2544-A605-B97A2B84F4F8}" type="slidenum">
              <a:rPr lang="en-SE" smtClean="0"/>
              <a:t>18</a:t>
            </a:fld>
            <a:endParaRPr lang="en-SE"/>
          </a:p>
        </p:txBody>
      </p:sp>
      <p:pic>
        <p:nvPicPr>
          <p:cNvPr id="7" name="Picture 2">
            <a:extLst>
              <a:ext uri="{FF2B5EF4-FFF2-40B4-BE49-F238E27FC236}">
                <a16:creationId xmlns:a16="http://schemas.microsoft.com/office/drawing/2014/main" id="{DF3B9901-6B53-3848-B7A6-7296D8CA1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054" y="1690687"/>
            <a:ext cx="6037673" cy="28029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Group 9">
            <a:extLst>
              <a:ext uri="{FF2B5EF4-FFF2-40B4-BE49-F238E27FC236}">
                <a16:creationId xmlns:a16="http://schemas.microsoft.com/office/drawing/2014/main" id="{FA3866A3-7352-2C41-9900-82C15EC0EDCE}"/>
              </a:ext>
            </a:extLst>
          </p:cNvPr>
          <p:cNvGrpSpPr/>
          <p:nvPr/>
        </p:nvGrpSpPr>
        <p:grpSpPr>
          <a:xfrm>
            <a:off x="1320800" y="1456293"/>
            <a:ext cx="4663080" cy="1694895"/>
            <a:chOff x="1320800" y="1456293"/>
            <a:chExt cx="4663080" cy="1694895"/>
          </a:xfrm>
        </p:grpSpPr>
        <p:sp>
          <p:nvSpPr>
            <p:cNvPr id="8" name="Oval 7">
              <a:extLst>
                <a:ext uri="{FF2B5EF4-FFF2-40B4-BE49-F238E27FC236}">
                  <a16:creationId xmlns:a16="http://schemas.microsoft.com/office/drawing/2014/main" id="{312864BF-0274-F14A-BFC3-BDDE90C190BB}"/>
                </a:ext>
              </a:extLst>
            </p:cNvPr>
            <p:cNvSpPr/>
            <p:nvPr/>
          </p:nvSpPr>
          <p:spPr>
            <a:xfrm>
              <a:off x="1320800" y="1690687"/>
              <a:ext cx="1557867" cy="1460501"/>
            </a:xfrm>
            <a:prstGeom prst="ellipse">
              <a:avLst/>
            </a:prstGeom>
            <a:solidFill>
              <a:srgbClr val="FFC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60D069A-B6E1-8B4D-A283-A2A8C50EDE37}"/>
                </a:ext>
              </a:extLst>
            </p:cNvPr>
            <p:cNvSpPr txBox="1"/>
            <p:nvPr/>
          </p:nvSpPr>
          <p:spPr>
            <a:xfrm>
              <a:off x="2450925" y="1456293"/>
              <a:ext cx="3532955" cy="369332"/>
            </a:xfrm>
            <a:prstGeom prst="rect">
              <a:avLst/>
            </a:prstGeom>
            <a:noFill/>
          </p:spPr>
          <p:txBody>
            <a:bodyPr wrap="none" rtlCol="0">
              <a:spAutoFit/>
            </a:bodyPr>
            <a:lstStyle/>
            <a:p>
              <a:r>
                <a:rPr lang="en-US" dirty="0"/>
                <a:t>For simplicity, each domain = 1 user</a:t>
              </a:r>
            </a:p>
          </p:txBody>
        </p:sp>
      </p:grpSp>
      <p:grpSp>
        <p:nvGrpSpPr>
          <p:cNvPr id="15" name="Group 14">
            <a:extLst>
              <a:ext uri="{FF2B5EF4-FFF2-40B4-BE49-F238E27FC236}">
                <a16:creationId xmlns:a16="http://schemas.microsoft.com/office/drawing/2014/main" id="{AE8B389C-CD4B-7943-91F1-6B815A04869C}"/>
              </a:ext>
            </a:extLst>
          </p:cNvPr>
          <p:cNvGrpSpPr/>
          <p:nvPr/>
        </p:nvGrpSpPr>
        <p:grpSpPr>
          <a:xfrm>
            <a:off x="733777" y="4289780"/>
            <a:ext cx="4526047" cy="1434039"/>
            <a:chOff x="733777" y="4289780"/>
            <a:chExt cx="4526047" cy="1434039"/>
          </a:xfrm>
        </p:grpSpPr>
        <p:cxnSp>
          <p:nvCxnSpPr>
            <p:cNvPr id="12" name="Straight Arrow Connector 11">
              <a:extLst>
                <a:ext uri="{FF2B5EF4-FFF2-40B4-BE49-F238E27FC236}">
                  <a16:creationId xmlns:a16="http://schemas.microsoft.com/office/drawing/2014/main" id="{1B1070F6-C373-0440-AD92-66B795662002}"/>
                </a:ext>
              </a:extLst>
            </p:cNvPr>
            <p:cNvCxnSpPr>
              <a:cxnSpLocks/>
              <a:stCxn id="13" idx="0"/>
            </p:cNvCxnSpPr>
            <p:nvPr/>
          </p:nvCxnSpPr>
          <p:spPr>
            <a:xfrm flipH="1" flipV="1">
              <a:off x="2664179" y="4289780"/>
              <a:ext cx="332622" cy="7877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2B8A3F5-0A1D-C241-9862-299C113ED3E1}"/>
                </a:ext>
              </a:extLst>
            </p:cNvPr>
            <p:cNvSpPr txBox="1"/>
            <p:nvPr/>
          </p:nvSpPr>
          <p:spPr>
            <a:xfrm>
              <a:off x="733777" y="5077488"/>
              <a:ext cx="4526047" cy="646331"/>
            </a:xfrm>
            <a:prstGeom prst="rect">
              <a:avLst/>
            </a:prstGeom>
            <a:noFill/>
            <a:ln>
              <a:solidFill>
                <a:srgbClr val="FF0000"/>
              </a:solidFill>
            </a:ln>
          </p:spPr>
          <p:txBody>
            <a:bodyPr wrap="none" rtlCol="0">
              <a:spAutoFit/>
            </a:bodyPr>
            <a:lstStyle/>
            <a:p>
              <a:r>
                <a:rPr lang="en-US" dirty="0">
                  <a:solidFill>
                    <a:srgbClr val="FF0000"/>
                  </a:solidFill>
                </a:rPr>
                <a:t>THESE ARE SCANNED IN ORDER, STOPPING AT </a:t>
              </a:r>
              <a:br>
                <a:rPr lang="en-US" dirty="0">
                  <a:solidFill>
                    <a:srgbClr val="FF0000"/>
                  </a:solidFill>
                </a:rPr>
              </a:br>
              <a:r>
                <a:rPr lang="en-US" dirty="0">
                  <a:solidFill>
                    <a:srgbClr val="FF0000"/>
                  </a:solidFill>
                </a:rPr>
                <a:t>THE FIRST THAT MATCHES!!!</a:t>
              </a:r>
            </a:p>
          </p:txBody>
        </p:sp>
      </p:grpSp>
    </p:spTree>
    <p:extLst>
      <p:ext uri="{BB962C8B-B14F-4D97-AF65-F5344CB8AC3E}">
        <p14:creationId xmlns:p14="http://schemas.microsoft.com/office/powerpoint/2010/main" val="355812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8C9B31-BAAD-AC48-81A2-538B9840EB11}"/>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C0FDDDA7-9944-ED4C-9CD1-D07EAA5C20F9}"/>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A856610C-2F90-F24D-A6B9-B1A623AC7DBF}"/>
              </a:ext>
            </a:extLst>
          </p:cNvPr>
          <p:cNvSpPr>
            <a:spLocks noGrp="1"/>
          </p:cNvSpPr>
          <p:nvPr>
            <p:ph type="sldNum" sz="quarter" idx="12"/>
          </p:nvPr>
        </p:nvSpPr>
        <p:spPr/>
        <p:txBody>
          <a:bodyPr/>
          <a:lstStyle/>
          <a:p>
            <a:fld id="{C92894D7-1DF0-2544-A605-B97A2B84F4F8}" type="slidenum">
              <a:rPr lang="en-SE" smtClean="0"/>
              <a:t>19</a:t>
            </a:fld>
            <a:endParaRPr lang="en-SE"/>
          </a:p>
        </p:txBody>
      </p:sp>
      <p:pic>
        <p:nvPicPr>
          <p:cNvPr id="7" name="Picture 2">
            <a:extLst>
              <a:ext uri="{FF2B5EF4-FFF2-40B4-BE49-F238E27FC236}">
                <a16:creationId xmlns:a16="http://schemas.microsoft.com/office/drawing/2014/main" id="{5FCCE851-B8EC-FD4D-A78B-9E9918AB2E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996" y="1280161"/>
            <a:ext cx="8577279" cy="39819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Group 7">
            <a:extLst>
              <a:ext uri="{FF2B5EF4-FFF2-40B4-BE49-F238E27FC236}">
                <a16:creationId xmlns:a16="http://schemas.microsoft.com/office/drawing/2014/main" id="{901740EE-789E-1243-909E-2071549EDA51}"/>
              </a:ext>
            </a:extLst>
          </p:cNvPr>
          <p:cNvGrpSpPr/>
          <p:nvPr/>
        </p:nvGrpSpPr>
        <p:grpSpPr>
          <a:xfrm>
            <a:off x="2323426" y="3924886"/>
            <a:ext cx="2206371" cy="1915719"/>
            <a:chOff x="733777" y="3531101"/>
            <a:chExt cx="2206371" cy="1915719"/>
          </a:xfrm>
        </p:grpSpPr>
        <p:cxnSp>
          <p:nvCxnSpPr>
            <p:cNvPr id="9" name="Straight Arrow Connector 8">
              <a:extLst>
                <a:ext uri="{FF2B5EF4-FFF2-40B4-BE49-F238E27FC236}">
                  <a16:creationId xmlns:a16="http://schemas.microsoft.com/office/drawing/2014/main" id="{8B72A783-067D-444C-950E-1E3EF9783337}"/>
                </a:ext>
              </a:extLst>
            </p:cNvPr>
            <p:cNvCxnSpPr>
              <a:cxnSpLocks/>
              <a:stCxn id="10" idx="0"/>
            </p:cNvCxnSpPr>
            <p:nvPr/>
          </p:nvCxnSpPr>
          <p:spPr>
            <a:xfrm flipV="1">
              <a:off x="1464138" y="3531101"/>
              <a:ext cx="1476010" cy="15463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A9FF6DD-0CC7-2D4F-9B6F-64ADB6078571}"/>
                </a:ext>
              </a:extLst>
            </p:cNvPr>
            <p:cNvSpPr txBox="1"/>
            <p:nvPr/>
          </p:nvSpPr>
          <p:spPr>
            <a:xfrm>
              <a:off x="733777" y="5077488"/>
              <a:ext cx="1460721" cy="369332"/>
            </a:xfrm>
            <a:prstGeom prst="rect">
              <a:avLst/>
            </a:prstGeom>
            <a:noFill/>
            <a:ln>
              <a:solidFill>
                <a:srgbClr val="FF0000"/>
              </a:solidFill>
            </a:ln>
          </p:spPr>
          <p:txBody>
            <a:bodyPr wrap="none" rtlCol="0">
              <a:spAutoFit/>
            </a:bodyPr>
            <a:lstStyle/>
            <a:p>
              <a:r>
                <a:rPr lang="en-US" dirty="0">
                  <a:solidFill>
                    <a:srgbClr val="FF0000"/>
                  </a:solidFill>
                </a:rPr>
                <a:t>&lt;A,*&gt;=(none)</a:t>
              </a:r>
            </a:p>
          </p:txBody>
        </p:sp>
      </p:grpSp>
    </p:spTree>
    <p:extLst>
      <p:ext uri="{BB962C8B-B14F-4D97-AF65-F5344CB8AC3E}">
        <p14:creationId xmlns:p14="http://schemas.microsoft.com/office/powerpoint/2010/main" val="2728364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solidFill>
                  <a:schemeClr val="bg1">
                    <a:lumMod val="50000"/>
                  </a:schemeClr>
                </a:solidFill>
              </a:rPr>
              <a:t>Protection Domains</a:t>
            </a:r>
          </a:p>
          <a:p>
            <a:r>
              <a:rPr lang="en-GB" dirty="0">
                <a:solidFill>
                  <a:schemeClr val="bg1">
                    <a:lumMod val="50000"/>
                  </a:schemeClr>
                </a:solidFill>
              </a:rPr>
              <a:t>Access Control Lists</a:t>
            </a:r>
          </a:p>
          <a:p>
            <a:r>
              <a:rPr lang="en-GB" dirty="0"/>
              <a:t>Capabilities</a:t>
            </a:r>
          </a:p>
          <a:p>
            <a:r>
              <a:rPr lang="en-GB" dirty="0">
                <a:solidFill>
                  <a:schemeClr val="bg1">
                    <a:lumMod val="50000"/>
                  </a:schemeClr>
                </a:solidFill>
              </a:rPr>
              <a:t>Authentication</a:t>
            </a:r>
          </a:p>
          <a:p>
            <a:r>
              <a:rPr lang="en-GB" dirty="0">
                <a:solidFill>
                  <a:schemeClr val="bg1">
                    <a:lumMod val="50000"/>
                  </a:schemeClr>
                </a:solidFill>
              </a:rPr>
              <a:t>Exploiting software bugs: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20</a:t>
            </a:fld>
            <a:endParaRPr lang="en-SE"/>
          </a:p>
        </p:txBody>
      </p:sp>
    </p:spTree>
    <p:extLst>
      <p:ext uri="{BB962C8B-B14F-4D97-AF65-F5344CB8AC3E}">
        <p14:creationId xmlns:p14="http://schemas.microsoft.com/office/powerpoint/2010/main" val="3950555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7FD62-F05F-A741-AF01-66772BD039EE}"/>
              </a:ext>
            </a:extLst>
          </p:cNvPr>
          <p:cNvSpPr>
            <a:spLocks noGrp="1"/>
          </p:cNvSpPr>
          <p:nvPr>
            <p:ph type="title"/>
          </p:nvPr>
        </p:nvSpPr>
        <p:spPr/>
        <p:txBody>
          <a:bodyPr/>
          <a:lstStyle/>
          <a:p>
            <a:r>
              <a:rPr lang="en-US" dirty="0"/>
              <a:t>Capabilities</a:t>
            </a:r>
          </a:p>
        </p:txBody>
      </p:sp>
      <p:sp>
        <p:nvSpPr>
          <p:cNvPr id="4" name="Date Placeholder 3">
            <a:extLst>
              <a:ext uri="{FF2B5EF4-FFF2-40B4-BE49-F238E27FC236}">
                <a16:creationId xmlns:a16="http://schemas.microsoft.com/office/drawing/2014/main" id="{7D478848-D22A-9F4A-A785-1141942506DB}"/>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8E18C56-B0EC-9441-AAEF-9A2EBB36BC23}"/>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6E74B31-853B-7B4F-AEAA-6CAC7554BA0A}"/>
              </a:ext>
            </a:extLst>
          </p:cNvPr>
          <p:cNvSpPr>
            <a:spLocks noGrp="1"/>
          </p:cNvSpPr>
          <p:nvPr>
            <p:ph type="sldNum" sz="quarter" idx="12"/>
          </p:nvPr>
        </p:nvSpPr>
        <p:spPr/>
        <p:txBody>
          <a:bodyPr/>
          <a:lstStyle/>
          <a:p>
            <a:fld id="{C92894D7-1DF0-2544-A605-B97A2B84F4F8}" type="slidenum">
              <a:rPr lang="en-SE" smtClean="0"/>
              <a:t>21</a:t>
            </a:fld>
            <a:endParaRPr lang="en-SE"/>
          </a:p>
        </p:txBody>
      </p:sp>
      <p:pic>
        <p:nvPicPr>
          <p:cNvPr id="7" name="Picture 2">
            <a:extLst>
              <a:ext uri="{FF2B5EF4-FFF2-40B4-BE49-F238E27FC236}">
                <a16:creationId xmlns:a16="http://schemas.microsoft.com/office/drawing/2014/main" id="{F968C287-11C5-DE4C-AC1A-B66C1D24D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90688"/>
            <a:ext cx="6981825" cy="3238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Group 7">
            <a:extLst>
              <a:ext uri="{FF2B5EF4-FFF2-40B4-BE49-F238E27FC236}">
                <a16:creationId xmlns:a16="http://schemas.microsoft.com/office/drawing/2014/main" id="{986E1D3F-8AD7-2D40-B96E-7520307CFE26}"/>
              </a:ext>
            </a:extLst>
          </p:cNvPr>
          <p:cNvGrpSpPr/>
          <p:nvPr/>
        </p:nvGrpSpPr>
        <p:grpSpPr>
          <a:xfrm>
            <a:off x="1868986" y="3916085"/>
            <a:ext cx="8133958" cy="1760517"/>
            <a:chOff x="1192214" y="1290638"/>
            <a:chExt cx="8133958" cy="1760517"/>
          </a:xfrm>
        </p:grpSpPr>
        <p:sp>
          <p:nvSpPr>
            <p:cNvPr id="9" name="Oval 8">
              <a:extLst>
                <a:ext uri="{FF2B5EF4-FFF2-40B4-BE49-F238E27FC236}">
                  <a16:creationId xmlns:a16="http://schemas.microsoft.com/office/drawing/2014/main" id="{20EF8D83-CBDA-8B44-934E-379B7BBCEEEB}"/>
                </a:ext>
              </a:extLst>
            </p:cNvPr>
            <p:cNvSpPr/>
            <p:nvPr/>
          </p:nvSpPr>
          <p:spPr>
            <a:xfrm>
              <a:off x="1192214" y="1290638"/>
              <a:ext cx="471044" cy="441604"/>
            </a:xfrm>
            <a:prstGeom prst="ellipse">
              <a:avLst/>
            </a:prstGeom>
            <a:solidFill>
              <a:srgbClr val="FFC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2CAA4A7-49F3-F943-90D2-2A7DE8142C80}"/>
                </a:ext>
              </a:extLst>
            </p:cNvPr>
            <p:cNvSpPr txBox="1"/>
            <p:nvPr/>
          </p:nvSpPr>
          <p:spPr>
            <a:xfrm>
              <a:off x="1356298" y="2404824"/>
              <a:ext cx="7969874" cy="646331"/>
            </a:xfrm>
            <a:prstGeom prst="rect">
              <a:avLst/>
            </a:prstGeom>
            <a:noFill/>
          </p:spPr>
          <p:txBody>
            <a:bodyPr wrap="none" rtlCol="0">
              <a:spAutoFit/>
            </a:bodyPr>
            <a:lstStyle/>
            <a:p>
              <a:r>
                <a:rPr lang="en-US" dirty="0"/>
                <a:t>The object contained in a capability list could be a pointer to another capability list </a:t>
              </a:r>
              <a:br>
                <a:rPr lang="en-US" dirty="0"/>
              </a:br>
              <a:r>
                <a:rPr lang="en-US" dirty="0"/>
                <a:t>(to facilitate the sharing of subdomains)</a:t>
              </a:r>
            </a:p>
          </p:txBody>
        </p:sp>
      </p:grpSp>
      <p:sp>
        <p:nvSpPr>
          <p:cNvPr id="12" name="Oval 11">
            <a:extLst>
              <a:ext uri="{FF2B5EF4-FFF2-40B4-BE49-F238E27FC236}">
                <a16:creationId xmlns:a16="http://schemas.microsoft.com/office/drawing/2014/main" id="{CFF755E9-4FA1-7340-9BEE-A8A9B698FB3B}"/>
              </a:ext>
            </a:extLst>
          </p:cNvPr>
          <p:cNvSpPr/>
          <p:nvPr/>
        </p:nvSpPr>
        <p:spPr>
          <a:xfrm>
            <a:off x="5588471" y="3609422"/>
            <a:ext cx="471044" cy="441604"/>
          </a:xfrm>
          <a:prstGeom prst="ellipse">
            <a:avLst/>
          </a:prstGeom>
          <a:solidFill>
            <a:srgbClr val="FF465C">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85B29863-ECEF-B84D-AD63-5846CAA5AA53}"/>
              </a:ext>
            </a:extLst>
          </p:cNvPr>
          <p:cNvSpPr txBox="1"/>
          <p:nvPr/>
        </p:nvSpPr>
        <p:spPr>
          <a:xfrm>
            <a:off x="7657538" y="2703791"/>
            <a:ext cx="4007593" cy="646331"/>
          </a:xfrm>
          <a:prstGeom prst="rect">
            <a:avLst/>
          </a:prstGeom>
          <a:noFill/>
        </p:spPr>
        <p:txBody>
          <a:bodyPr wrap="square" rtlCol="0">
            <a:spAutoFit/>
          </a:bodyPr>
          <a:lstStyle/>
          <a:p>
            <a:r>
              <a:rPr lang="en-US" dirty="0"/>
              <a:t>There can be other rights too: copy / remove/ destroy ...</a:t>
            </a:r>
          </a:p>
        </p:txBody>
      </p:sp>
    </p:spTree>
    <p:extLst>
      <p:ext uri="{BB962C8B-B14F-4D97-AF65-F5344CB8AC3E}">
        <p14:creationId xmlns:p14="http://schemas.microsoft.com/office/powerpoint/2010/main" val="359851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E36B-5B59-4744-AA75-FF0C792B1027}"/>
              </a:ext>
            </a:extLst>
          </p:cNvPr>
          <p:cNvSpPr>
            <a:spLocks noGrp="1"/>
          </p:cNvSpPr>
          <p:nvPr>
            <p:ph type="title"/>
          </p:nvPr>
        </p:nvSpPr>
        <p:spPr/>
        <p:txBody>
          <a:bodyPr/>
          <a:lstStyle/>
          <a:p>
            <a:r>
              <a:rPr lang="en-US" dirty="0"/>
              <a:t>Capabilities</a:t>
            </a:r>
          </a:p>
        </p:txBody>
      </p:sp>
      <p:sp>
        <p:nvSpPr>
          <p:cNvPr id="3" name="Content Placeholder 2">
            <a:extLst>
              <a:ext uri="{FF2B5EF4-FFF2-40B4-BE49-F238E27FC236}">
                <a16:creationId xmlns:a16="http://schemas.microsoft.com/office/drawing/2014/main" id="{8D514A44-79E5-D44C-ABF7-9D2833D2CD28}"/>
              </a:ext>
            </a:extLst>
          </p:cNvPr>
          <p:cNvSpPr>
            <a:spLocks noGrp="1"/>
          </p:cNvSpPr>
          <p:nvPr>
            <p:ph idx="1"/>
          </p:nvPr>
        </p:nvSpPr>
        <p:spPr/>
        <p:txBody>
          <a:bodyPr/>
          <a:lstStyle/>
          <a:p>
            <a:r>
              <a:rPr lang="en-US" dirty="0"/>
              <a:t>How to prevent a user from tampering/altering capabilities?</a:t>
            </a:r>
          </a:p>
          <a:p>
            <a:pPr lvl="1"/>
            <a:r>
              <a:rPr lang="en-US" dirty="0"/>
              <a:t>Tagged architecture: each word in memory has a special bit. If set, word contains a capability, and can only be changed in kernel mode</a:t>
            </a:r>
          </a:p>
          <a:p>
            <a:pPr lvl="1"/>
            <a:r>
              <a:rPr lang="en-US" dirty="0"/>
              <a:t>Keep C-lists in OS memory, user processes can point to them</a:t>
            </a:r>
          </a:p>
          <a:p>
            <a:pPr lvl="1"/>
            <a:r>
              <a:rPr lang="en-US" dirty="0"/>
              <a:t>Keep in user space and encrypt them so that users cannot modify them</a:t>
            </a:r>
          </a:p>
        </p:txBody>
      </p:sp>
      <p:sp>
        <p:nvSpPr>
          <p:cNvPr id="4" name="Date Placeholder 3">
            <a:extLst>
              <a:ext uri="{FF2B5EF4-FFF2-40B4-BE49-F238E27FC236}">
                <a16:creationId xmlns:a16="http://schemas.microsoft.com/office/drawing/2014/main" id="{6D6082EC-FDDB-A040-9699-40DCD48A46B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92360B12-456A-CA48-B2BE-8CF9E7E55C6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C2BEFFA6-6317-9A4D-8FB9-7FA2FE9AEF55}"/>
              </a:ext>
            </a:extLst>
          </p:cNvPr>
          <p:cNvSpPr>
            <a:spLocks noGrp="1"/>
          </p:cNvSpPr>
          <p:nvPr>
            <p:ph type="sldNum" sz="quarter" idx="12"/>
          </p:nvPr>
        </p:nvSpPr>
        <p:spPr/>
        <p:txBody>
          <a:bodyPr/>
          <a:lstStyle/>
          <a:p>
            <a:fld id="{C92894D7-1DF0-2544-A605-B97A2B84F4F8}" type="slidenum">
              <a:rPr lang="en-SE" smtClean="0"/>
              <a:t>22</a:t>
            </a:fld>
            <a:endParaRPr lang="en-SE"/>
          </a:p>
        </p:txBody>
      </p:sp>
      <p:sp>
        <p:nvSpPr>
          <p:cNvPr id="7" name="Text Placeholder 2">
            <a:extLst>
              <a:ext uri="{FF2B5EF4-FFF2-40B4-BE49-F238E27FC236}">
                <a16:creationId xmlns:a16="http://schemas.microsoft.com/office/drawing/2014/main" id="{E8DE3FEE-23EA-3F49-93F9-E7938EE64E2D}"/>
              </a:ext>
            </a:extLst>
          </p:cNvPr>
          <p:cNvSpPr txBox="1">
            <a:spLocks/>
          </p:cNvSpPr>
          <p:nvPr/>
        </p:nvSpPr>
        <p:spPr>
          <a:xfrm>
            <a:off x="1484811" y="4954486"/>
            <a:ext cx="4193177" cy="397532"/>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dirty="0"/>
              <a:t>Figure 9-9. A cryptographically protected capability.</a:t>
            </a:r>
          </a:p>
        </p:txBody>
      </p:sp>
      <p:pic>
        <p:nvPicPr>
          <p:cNvPr id="8" name="Picture 2">
            <a:extLst>
              <a:ext uri="{FF2B5EF4-FFF2-40B4-BE49-F238E27FC236}">
                <a16:creationId xmlns:a16="http://schemas.microsoft.com/office/drawing/2014/main" id="{6D74585F-FBB2-6243-A1CD-4EDE54607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582" y="4301558"/>
            <a:ext cx="73152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Group 8">
            <a:extLst>
              <a:ext uri="{FF2B5EF4-FFF2-40B4-BE49-F238E27FC236}">
                <a16:creationId xmlns:a16="http://schemas.microsoft.com/office/drawing/2014/main" id="{77433C8E-AF16-B042-ADAD-D0D7517FD7A4}"/>
              </a:ext>
            </a:extLst>
          </p:cNvPr>
          <p:cNvGrpSpPr/>
          <p:nvPr/>
        </p:nvGrpSpPr>
        <p:grpSpPr>
          <a:xfrm>
            <a:off x="4985657" y="4236619"/>
            <a:ext cx="7187003" cy="923330"/>
            <a:chOff x="-1823112" y="2404824"/>
            <a:chExt cx="7187003" cy="923330"/>
          </a:xfrm>
        </p:grpSpPr>
        <p:sp>
          <p:nvSpPr>
            <p:cNvPr id="10" name="Oval 9">
              <a:extLst>
                <a:ext uri="{FF2B5EF4-FFF2-40B4-BE49-F238E27FC236}">
                  <a16:creationId xmlns:a16="http://schemas.microsoft.com/office/drawing/2014/main" id="{C21D01E4-485C-6A4B-BBC9-05FADB575887}"/>
                </a:ext>
              </a:extLst>
            </p:cNvPr>
            <p:cNvSpPr/>
            <p:nvPr/>
          </p:nvSpPr>
          <p:spPr>
            <a:xfrm>
              <a:off x="-1823112" y="2617366"/>
              <a:ext cx="2360550" cy="441604"/>
            </a:xfrm>
            <a:prstGeom prst="ellipse">
              <a:avLst/>
            </a:prstGeom>
            <a:solidFill>
              <a:srgbClr val="FF465C">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C20EFF3D-8375-9842-B14B-E95D06C9EFBA}"/>
                </a:ext>
              </a:extLst>
            </p:cNvPr>
            <p:cNvSpPr txBox="1"/>
            <p:nvPr/>
          </p:nvSpPr>
          <p:spPr>
            <a:xfrm>
              <a:off x="1356298" y="2404824"/>
              <a:ext cx="4007593" cy="923330"/>
            </a:xfrm>
            <a:prstGeom prst="rect">
              <a:avLst/>
            </a:prstGeom>
            <a:noFill/>
          </p:spPr>
          <p:txBody>
            <a:bodyPr wrap="square" rtlCol="0">
              <a:spAutoFit/>
            </a:bodyPr>
            <a:lstStyle/>
            <a:p>
              <a:r>
                <a:rPr lang="en-US" dirty="0"/>
                <a:t>If the user alters the Rights, the f() computed by the server / OS and the one in the capability will differ!</a:t>
              </a:r>
            </a:p>
          </p:txBody>
        </p:sp>
      </p:grpSp>
    </p:spTree>
    <p:extLst>
      <p:ext uri="{BB962C8B-B14F-4D97-AF65-F5344CB8AC3E}">
        <p14:creationId xmlns:p14="http://schemas.microsoft.com/office/powerpoint/2010/main" val="32156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solidFill>
                  <a:schemeClr val="bg1">
                    <a:lumMod val="50000"/>
                  </a:schemeClr>
                </a:solidFill>
              </a:rPr>
              <a:t>Protection Domains</a:t>
            </a:r>
          </a:p>
          <a:p>
            <a:r>
              <a:rPr lang="en-GB" dirty="0">
                <a:solidFill>
                  <a:schemeClr val="bg1">
                    <a:lumMod val="50000"/>
                  </a:schemeClr>
                </a:solidFill>
              </a:rPr>
              <a:t>Access Control Lists</a:t>
            </a:r>
          </a:p>
          <a:p>
            <a:r>
              <a:rPr lang="en-GB" dirty="0">
                <a:solidFill>
                  <a:schemeClr val="bg1">
                    <a:lumMod val="50000"/>
                  </a:schemeClr>
                </a:solidFill>
              </a:rPr>
              <a:t>Capabilities</a:t>
            </a:r>
          </a:p>
          <a:p>
            <a:r>
              <a:rPr lang="en-GB" dirty="0"/>
              <a:t>Authentication</a:t>
            </a:r>
          </a:p>
          <a:p>
            <a:r>
              <a:rPr lang="en-GB" dirty="0">
                <a:solidFill>
                  <a:schemeClr val="bg1">
                    <a:lumMod val="50000"/>
                  </a:schemeClr>
                </a:solidFill>
              </a:rPr>
              <a:t>Exploiting software bugs: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23</a:t>
            </a:fld>
            <a:endParaRPr lang="en-SE"/>
          </a:p>
        </p:txBody>
      </p:sp>
    </p:spTree>
    <p:extLst>
      <p:ext uri="{BB962C8B-B14F-4D97-AF65-F5344CB8AC3E}">
        <p14:creationId xmlns:p14="http://schemas.microsoft.com/office/powerpoint/2010/main" val="1066739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D2D75-53DE-3A4A-AD55-712BA75B8A50}"/>
              </a:ext>
            </a:extLst>
          </p:cNvPr>
          <p:cNvSpPr>
            <a:spLocks noGrp="1"/>
          </p:cNvSpPr>
          <p:nvPr>
            <p:ph type="title"/>
          </p:nvPr>
        </p:nvSpPr>
        <p:spPr/>
        <p:txBody>
          <a:bodyPr/>
          <a:lstStyle/>
          <a:p>
            <a:r>
              <a:rPr lang="en-US" dirty="0"/>
              <a:t>Authentication</a:t>
            </a:r>
          </a:p>
        </p:txBody>
      </p:sp>
      <p:sp>
        <p:nvSpPr>
          <p:cNvPr id="3" name="Content Placeholder 2">
            <a:extLst>
              <a:ext uri="{FF2B5EF4-FFF2-40B4-BE49-F238E27FC236}">
                <a16:creationId xmlns:a16="http://schemas.microsoft.com/office/drawing/2014/main" id="{61C0DD98-3B98-B44C-BBE5-935520C3957F}"/>
              </a:ext>
            </a:extLst>
          </p:cNvPr>
          <p:cNvSpPr>
            <a:spLocks noGrp="1"/>
          </p:cNvSpPr>
          <p:nvPr>
            <p:ph idx="1"/>
          </p:nvPr>
        </p:nvSpPr>
        <p:spPr/>
        <p:txBody>
          <a:bodyPr/>
          <a:lstStyle/>
          <a:p>
            <a:r>
              <a:rPr lang="en-US" dirty="0"/>
              <a:t>A secure system requires authentication</a:t>
            </a:r>
          </a:p>
          <a:p>
            <a:pPr lvl="1"/>
            <a:r>
              <a:rPr lang="en-US" dirty="0"/>
              <a:t>Need to know who the user is before enforcing a certain policy (which is user-specific)</a:t>
            </a:r>
          </a:p>
          <a:p>
            <a:r>
              <a:rPr lang="en-US" dirty="0"/>
              <a:t>Approaches:</a:t>
            </a:r>
          </a:p>
          <a:p>
            <a:pPr lvl="1"/>
            <a:r>
              <a:rPr lang="en-US" dirty="0"/>
              <a:t>something the user knows (password)</a:t>
            </a:r>
          </a:p>
          <a:p>
            <a:pPr lvl="1"/>
            <a:r>
              <a:rPr lang="en-US" dirty="0"/>
              <a:t>something the user has (a smart card)</a:t>
            </a:r>
          </a:p>
          <a:p>
            <a:pPr lvl="1"/>
            <a:r>
              <a:rPr lang="en-US" dirty="0"/>
              <a:t>something the user is (the owner of a certain fingerprint)</a:t>
            </a:r>
          </a:p>
        </p:txBody>
      </p:sp>
      <p:sp>
        <p:nvSpPr>
          <p:cNvPr id="4" name="Date Placeholder 3">
            <a:extLst>
              <a:ext uri="{FF2B5EF4-FFF2-40B4-BE49-F238E27FC236}">
                <a16:creationId xmlns:a16="http://schemas.microsoft.com/office/drawing/2014/main" id="{5312D2EF-DE92-AC4E-95C1-29EF2BEE5AF4}"/>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71DBE26-F24C-CF4A-B752-C900618B33F6}"/>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3F2843BF-8BD2-D843-95B3-CE5A32A89140}"/>
              </a:ext>
            </a:extLst>
          </p:cNvPr>
          <p:cNvSpPr>
            <a:spLocks noGrp="1"/>
          </p:cNvSpPr>
          <p:nvPr>
            <p:ph type="sldNum" sz="quarter" idx="12"/>
          </p:nvPr>
        </p:nvSpPr>
        <p:spPr/>
        <p:txBody>
          <a:bodyPr/>
          <a:lstStyle/>
          <a:p>
            <a:fld id="{C92894D7-1DF0-2544-A605-B97A2B84F4F8}" type="slidenum">
              <a:rPr lang="en-SE" smtClean="0"/>
              <a:t>24</a:t>
            </a:fld>
            <a:endParaRPr lang="en-SE"/>
          </a:p>
        </p:txBody>
      </p:sp>
    </p:spTree>
    <p:extLst>
      <p:ext uri="{BB962C8B-B14F-4D97-AF65-F5344CB8AC3E}">
        <p14:creationId xmlns:p14="http://schemas.microsoft.com/office/powerpoint/2010/main" val="4269058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F40BE-6DAD-934A-9243-719DF4A1F704}"/>
              </a:ext>
            </a:extLst>
          </p:cNvPr>
          <p:cNvSpPr>
            <a:spLocks noGrp="1"/>
          </p:cNvSpPr>
          <p:nvPr>
            <p:ph type="title"/>
          </p:nvPr>
        </p:nvSpPr>
        <p:spPr/>
        <p:txBody>
          <a:bodyPr/>
          <a:lstStyle/>
          <a:p>
            <a:r>
              <a:rPr lang="en-US" dirty="0"/>
              <a:t>About passwords...</a:t>
            </a:r>
          </a:p>
        </p:txBody>
      </p:sp>
      <p:sp>
        <p:nvSpPr>
          <p:cNvPr id="3" name="Content Placeholder 2">
            <a:extLst>
              <a:ext uri="{FF2B5EF4-FFF2-40B4-BE49-F238E27FC236}">
                <a16:creationId xmlns:a16="http://schemas.microsoft.com/office/drawing/2014/main" id="{E68E34EB-6964-8C45-833F-AEB4E40EE5D5}"/>
              </a:ext>
            </a:extLst>
          </p:cNvPr>
          <p:cNvSpPr>
            <a:spLocks noGrp="1"/>
          </p:cNvSpPr>
          <p:nvPr>
            <p:ph idx="1"/>
          </p:nvPr>
        </p:nvSpPr>
        <p:spPr>
          <a:xfrm>
            <a:off x="838200" y="1825625"/>
            <a:ext cx="6993194" cy="4351338"/>
          </a:xfrm>
        </p:spPr>
        <p:txBody>
          <a:bodyPr/>
          <a:lstStyle/>
          <a:p>
            <a:r>
              <a:rPr lang="en-US" dirty="0"/>
              <a:t>VERY BAD IDEAS:</a:t>
            </a:r>
          </a:p>
          <a:p>
            <a:pPr lvl="1"/>
            <a:r>
              <a:rPr lang="en-US" dirty="0"/>
              <a:t>store &lt;user id, password&gt; to check if the password of a user is correct</a:t>
            </a:r>
          </a:p>
          <a:p>
            <a:pPr lvl="1"/>
            <a:r>
              <a:rPr lang="en-US" dirty="0"/>
              <a:t>do not have the BIOS password-protected</a:t>
            </a:r>
          </a:p>
          <a:p>
            <a:pPr lvl="1"/>
            <a:r>
              <a:rPr lang="en-US" dirty="0"/>
              <a:t>Naïve mechanisms:</a:t>
            </a:r>
          </a:p>
          <a:p>
            <a:pPr lvl="2"/>
            <a:r>
              <a:rPr lang="en-US" dirty="0"/>
              <a:t>complain about the login name being wrong</a:t>
            </a:r>
          </a:p>
          <a:p>
            <a:pPr lvl="2"/>
            <a:r>
              <a:rPr lang="en-US" dirty="0"/>
              <a:t>show * while users are typing characters</a:t>
            </a:r>
          </a:p>
          <a:p>
            <a:pPr lvl="1"/>
            <a:r>
              <a:rPr lang="en-US" dirty="0"/>
              <a:t>weak passwords</a:t>
            </a:r>
          </a:p>
          <a:p>
            <a:pPr lvl="1"/>
            <a:r>
              <a:rPr lang="en-US" dirty="0"/>
              <a:t>default login/password </a:t>
            </a:r>
            <a:r>
              <a:rPr lang="en-US" dirty="0">
                <a:sym typeface="Wingdings" pitchFamily="2" charset="2"/>
              </a:rPr>
              <a:t> STUXNET!!!!</a:t>
            </a:r>
          </a:p>
          <a:p>
            <a:pPr lvl="1"/>
            <a:r>
              <a:rPr lang="en-US" dirty="0">
                <a:sym typeface="Wingdings" pitchFamily="2" charset="2"/>
              </a:rPr>
              <a:t>re-used passwords</a:t>
            </a:r>
            <a:endParaRPr lang="en-US" dirty="0"/>
          </a:p>
        </p:txBody>
      </p:sp>
      <p:sp>
        <p:nvSpPr>
          <p:cNvPr id="4" name="Date Placeholder 3">
            <a:extLst>
              <a:ext uri="{FF2B5EF4-FFF2-40B4-BE49-F238E27FC236}">
                <a16:creationId xmlns:a16="http://schemas.microsoft.com/office/drawing/2014/main" id="{2EF8ADE2-29CB-814D-84DD-77E32615E05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8F05BF74-295E-D645-840D-1D705340656D}"/>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2F9D3B45-0F52-994C-BCBC-D38F03C6C9FC}"/>
              </a:ext>
            </a:extLst>
          </p:cNvPr>
          <p:cNvSpPr>
            <a:spLocks noGrp="1"/>
          </p:cNvSpPr>
          <p:nvPr>
            <p:ph type="sldNum" sz="quarter" idx="12"/>
          </p:nvPr>
        </p:nvSpPr>
        <p:spPr/>
        <p:txBody>
          <a:bodyPr/>
          <a:lstStyle/>
          <a:p>
            <a:fld id="{C92894D7-1DF0-2544-A605-B97A2B84F4F8}" type="slidenum">
              <a:rPr lang="en-SE" smtClean="0"/>
              <a:t>25</a:t>
            </a:fld>
            <a:endParaRPr lang="en-SE"/>
          </a:p>
        </p:txBody>
      </p:sp>
      <p:pic>
        <p:nvPicPr>
          <p:cNvPr id="7" name="Picture 5">
            <a:extLst>
              <a:ext uri="{FF2B5EF4-FFF2-40B4-BE49-F238E27FC236}">
                <a16:creationId xmlns:a16="http://schemas.microsoft.com/office/drawing/2014/main" id="{18E56DC8-375C-8843-82F2-B72A14F122EE}"/>
              </a:ext>
              <a:ext uri="{C183D7F6-B498-43B3-948B-1728B52AA6E4}">
                <adec:decorative xmlns:adec="http://schemas.microsoft.com/office/drawing/2017/decorative" val="1"/>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7412137" y="365125"/>
            <a:ext cx="3941663" cy="5831405"/>
          </a:xfrm>
          <a:prstGeom prst="rect">
            <a:avLst/>
          </a:prstGeom>
          <a:noFill/>
          <a:effectLst/>
        </p:spPr>
      </p:pic>
    </p:spTree>
    <p:extLst>
      <p:ext uri="{BB962C8B-B14F-4D97-AF65-F5344CB8AC3E}">
        <p14:creationId xmlns:p14="http://schemas.microsoft.com/office/powerpoint/2010/main" val="3880438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12491-7010-814C-8F71-4A06483019ED}"/>
              </a:ext>
            </a:extLst>
          </p:cNvPr>
          <p:cNvSpPr>
            <a:spLocks noGrp="1"/>
          </p:cNvSpPr>
          <p:nvPr>
            <p:ph type="title"/>
          </p:nvPr>
        </p:nvSpPr>
        <p:spPr/>
        <p:txBody>
          <a:bodyPr/>
          <a:lstStyle/>
          <a:p>
            <a:r>
              <a:rPr lang="en-US" dirty="0"/>
              <a:t>Unix authentication (alternative 1, not secure)</a:t>
            </a:r>
          </a:p>
        </p:txBody>
      </p:sp>
      <p:sp>
        <p:nvSpPr>
          <p:cNvPr id="3" name="Content Placeholder 2">
            <a:extLst>
              <a:ext uri="{FF2B5EF4-FFF2-40B4-BE49-F238E27FC236}">
                <a16:creationId xmlns:a16="http://schemas.microsoft.com/office/drawing/2014/main" id="{97856F8C-5472-4446-9B00-71D8EFC8FE75}"/>
              </a:ext>
            </a:extLst>
          </p:cNvPr>
          <p:cNvSpPr>
            <a:spLocks noGrp="1"/>
          </p:cNvSpPr>
          <p:nvPr>
            <p:ph idx="1"/>
          </p:nvPr>
        </p:nvSpPr>
        <p:spPr/>
        <p:txBody>
          <a:bodyPr/>
          <a:lstStyle/>
          <a:p>
            <a:r>
              <a:rPr lang="en-US" dirty="0"/>
              <a:t>passwords are not stored, what is stored is</a:t>
            </a:r>
            <a:br>
              <a:rPr lang="en-US" dirty="0"/>
            </a:br>
            <a:r>
              <a:rPr lang="en-US" sz="2600" dirty="0"/>
              <a:t>&lt;user id, result of encrypting a fixed block of data with the user password&gt;</a:t>
            </a:r>
          </a:p>
          <a:p>
            <a:endParaRPr lang="en-US" sz="2600" dirty="0"/>
          </a:p>
          <a:p>
            <a:r>
              <a:rPr lang="en-US" sz="2600" dirty="0"/>
              <a:t>Easy to attack using dictionary attacks</a:t>
            </a:r>
          </a:p>
          <a:p>
            <a:pPr lvl="1"/>
            <a:r>
              <a:rPr lang="en-US" sz="2200" dirty="0"/>
              <a:t>Try all common passwords/combinations of words until one matches the encrypted set of characters associated with a user id </a:t>
            </a:r>
            <a:r>
              <a:rPr lang="en-US" sz="2200" dirty="0">
                <a:sym typeface="Wingdings" pitchFamily="2" charset="2"/>
              </a:rPr>
              <a:t> password found</a:t>
            </a:r>
            <a:endParaRPr lang="en-US" sz="2200" dirty="0"/>
          </a:p>
          <a:p>
            <a:endParaRPr lang="en-US" dirty="0"/>
          </a:p>
        </p:txBody>
      </p:sp>
      <p:sp>
        <p:nvSpPr>
          <p:cNvPr id="4" name="Date Placeholder 3">
            <a:extLst>
              <a:ext uri="{FF2B5EF4-FFF2-40B4-BE49-F238E27FC236}">
                <a16:creationId xmlns:a16="http://schemas.microsoft.com/office/drawing/2014/main" id="{C6A73ADC-1CD8-1745-9ACF-4DA037961760}"/>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01618902-A1C2-BB45-B9A7-F061D51A3C01}"/>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C2A6399B-8722-C444-8463-2480624F71A0}"/>
              </a:ext>
            </a:extLst>
          </p:cNvPr>
          <p:cNvSpPr>
            <a:spLocks noGrp="1"/>
          </p:cNvSpPr>
          <p:nvPr>
            <p:ph type="sldNum" sz="quarter" idx="12"/>
          </p:nvPr>
        </p:nvSpPr>
        <p:spPr/>
        <p:txBody>
          <a:bodyPr/>
          <a:lstStyle/>
          <a:p>
            <a:fld id="{C92894D7-1DF0-2544-A605-B97A2B84F4F8}" type="slidenum">
              <a:rPr lang="en-SE" smtClean="0"/>
              <a:t>26</a:t>
            </a:fld>
            <a:endParaRPr lang="en-SE"/>
          </a:p>
        </p:txBody>
      </p:sp>
    </p:spTree>
    <p:extLst>
      <p:ext uri="{BB962C8B-B14F-4D97-AF65-F5344CB8AC3E}">
        <p14:creationId xmlns:p14="http://schemas.microsoft.com/office/powerpoint/2010/main" val="1370899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95791-C833-C64D-AEB6-3C5BB6BC9C98}"/>
              </a:ext>
            </a:extLst>
          </p:cNvPr>
          <p:cNvSpPr>
            <a:spLocks noGrp="1"/>
          </p:cNvSpPr>
          <p:nvPr>
            <p:ph type="title"/>
          </p:nvPr>
        </p:nvSpPr>
        <p:spPr/>
        <p:txBody>
          <a:bodyPr/>
          <a:lstStyle/>
          <a:p>
            <a:r>
              <a:rPr lang="en-US" dirty="0"/>
              <a:t>Unix authentication + n-bit salt</a:t>
            </a:r>
          </a:p>
        </p:txBody>
      </p:sp>
      <p:sp>
        <p:nvSpPr>
          <p:cNvPr id="3" name="Content Placeholder 2">
            <a:extLst>
              <a:ext uri="{FF2B5EF4-FFF2-40B4-BE49-F238E27FC236}">
                <a16:creationId xmlns:a16="http://schemas.microsoft.com/office/drawing/2014/main" id="{284BDF60-2018-2C4E-AAC4-73658F7037D2}"/>
              </a:ext>
            </a:extLst>
          </p:cNvPr>
          <p:cNvSpPr>
            <a:spLocks noGrp="1"/>
          </p:cNvSpPr>
          <p:nvPr>
            <p:ph idx="1"/>
          </p:nvPr>
        </p:nvSpPr>
        <p:spPr>
          <a:xfrm>
            <a:off x="5438774" y="1825625"/>
            <a:ext cx="5915025" cy="4351338"/>
          </a:xfrm>
        </p:spPr>
        <p:txBody>
          <a:bodyPr/>
          <a:lstStyle/>
          <a:p>
            <a:r>
              <a:rPr lang="en-US" dirty="0"/>
              <a:t>have unique random n-bit prefixes for each user</a:t>
            </a:r>
          </a:p>
          <a:p>
            <a:r>
              <a:rPr lang="en-US" dirty="0"/>
              <a:t>Now 1 dictionary is not enough, the attacker needs 2^n dictionaries --&gt; unfeasible</a:t>
            </a:r>
          </a:p>
        </p:txBody>
      </p:sp>
      <p:sp>
        <p:nvSpPr>
          <p:cNvPr id="4" name="Date Placeholder 3">
            <a:extLst>
              <a:ext uri="{FF2B5EF4-FFF2-40B4-BE49-F238E27FC236}">
                <a16:creationId xmlns:a16="http://schemas.microsoft.com/office/drawing/2014/main" id="{FACC8C78-AE3E-A04D-BABF-4C2DE7124A9C}"/>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3FA44BE8-8010-BD43-8434-2D42022F4ECB}"/>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CCE80002-B96A-564E-9559-1861FD7461E0}"/>
              </a:ext>
            </a:extLst>
          </p:cNvPr>
          <p:cNvSpPr>
            <a:spLocks noGrp="1"/>
          </p:cNvSpPr>
          <p:nvPr>
            <p:ph type="sldNum" sz="quarter" idx="12"/>
          </p:nvPr>
        </p:nvSpPr>
        <p:spPr/>
        <p:txBody>
          <a:bodyPr/>
          <a:lstStyle/>
          <a:p>
            <a:fld id="{C92894D7-1DF0-2544-A605-B97A2B84F4F8}" type="slidenum">
              <a:rPr lang="en-SE" smtClean="0"/>
              <a:t>27</a:t>
            </a:fld>
            <a:endParaRPr lang="en-SE"/>
          </a:p>
        </p:txBody>
      </p:sp>
      <p:pic>
        <p:nvPicPr>
          <p:cNvPr id="7" name="Picture 2">
            <a:extLst>
              <a:ext uri="{FF2B5EF4-FFF2-40B4-BE49-F238E27FC236}">
                <a16:creationId xmlns:a16="http://schemas.microsoft.com/office/drawing/2014/main" id="{32EAE878-E5E2-F54B-8FCA-03848710C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47912"/>
            <a:ext cx="4600575" cy="2162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3182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BF61C-1902-B647-90A0-5C82F895C108}"/>
              </a:ext>
            </a:extLst>
          </p:cNvPr>
          <p:cNvSpPr>
            <a:spLocks noGrp="1"/>
          </p:cNvSpPr>
          <p:nvPr>
            <p:ph type="title"/>
          </p:nvPr>
        </p:nvSpPr>
        <p:spPr/>
        <p:txBody>
          <a:bodyPr/>
          <a:lstStyle/>
          <a:p>
            <a:r>
              <a:rPr lang="en-US" dirty="0"/>
              <a:t>One-time passwords / one-way hash chain</a:t>
            </a:r>
          </a:p>
        </p:txBody>
      </p:sp>
      <p:sp>
        <p:nvSpPr>
          <p:cNvPr id="3" name="Content Placeholder 2">
            <a:extLst>
              <a:ext uri="{FF2B5EF4-FFF2-40B4-BE49-F238E27FC236}">
                <a16:creationId xmlns:a16="http://schemas.microsoft.com/office/drawing/2014/main" id="{9FCCA1B2-B8AA-8C44-90A9-608083194079}"/>
              </a:ext>
            </a:extLst>
          </p:cNvPr>
          <p:cNvSpPr>
            <a:spLocks noGrp="1"/>
          </p:cNvSpPr>
          <p:nvPr>
            <p:ph idx="1"/>
          </p:nvPr>
        </p:nvSpPr>
        <p:spPr/>
        <p:txBody>
          <a:bodyPr/>
          <a:lstStyle/>
          <a:p>
            <a:r>
              <a:rPr lang="en-US" dirty="0"/>
              <a:t>Use hash function f with input and output having the same length</a:t>
            </a:r>
          </a:p>
          <a:p>
            <a:r>
              <a:rPr lang="en-US" dirty="0"/>
              <a:t>Choose a number n (how many passwords)</a:t>
            </a:r>
          </a:p>
          <a:p>
            <a:r>
              <a:rPr lang="en-US" dirty="0"/>
              <a:t>P</a:t>
            </a:r>
            <a:r>
              <a:rPr lang="en-US" baseline="-25000" dirty="0"/>
              <a:t>1</a:t>
            </a:r>
            <a:r>
              <a:rPr lang="en-US" dirty="0"/>
              <a:t> = f(f(f(f(s))))</a:t>
            </a:r>
          </a:p>
          <a:p>
            <a:endParaRPr lang="en-US" dirty="0"/>
          </a:p>
          <a:p>
            <a:r>
              <a:rPr lang="en-US" dirty="0"/>
              <a:t>P</a:t>
            </a:r>
            <a:r>
              <a:rPr lang="en-US" baseline="-25000" dirty="0"/>
              <a:t>2</a:t>
            </a:r>
            <a:r>
              <a:rPr lang="en-US" dirty="0"/>
              <a:t> = f(f(f(s)))</a:t>
            </a:r>
          </a:p>
          <a:p>
            <a:endParaRPr lang="en-US" baseline="-25000" dirty="0"/>
          </a:p>
          <a:p>
            <a:endParaRPr lang="en-US" baseline="-25000" dirty="0"/>
          </a:p>
          <a:p>
            <a:r>
              <a:rPr lang="en-US" dirty="0"/>
              <a:t>P</a:t>
            </a:r>
            <a:r>
              <a:rPr lang="en-US" baseline="-25000" dirty="0"/>
              <a:t>i</a:t>
            </a:r>
            <a:r>
              <a:rPr lang="en-US" dirty="0"/>
              <a:t> = f(P</a:t>
            </a:r>
            <a:r>
              <a:rPr lang="en-US" baseline="-25000" dirty="0"/>
              <a:t>i+1</a:t>
            </a:r>
            <a:r>
              <a:rPr lang="en-US" dirty="0"/>
              <a:t>) --&gt; but you cannot find P</a:t>
            </a:r>
            <a:r>
              <a:rPr lang="en-US" baseline="-25000" dirty="0"/>
              <a:t>i+1</a:t>
            </a:r>
            <a:r>
              <a:rPr lang="en-US" dirty="0"/>
              <a:t> from P</a:t>
            </a:r>
            <a:r>
              <a:rPr lang="en-US" baseline="-25000" dirty="0"/>
              <a:t>i</a:t>
            </a:r>
          </a:p>
        </p:txBody>
      </p:sp>
      <p:sp>
        <p:nvSpPr>
          <p:cNvPr id="4" name="Date Placeholder 3">
            <a:extLst>
              <a:ext uri="{FF2B5EF4-FFF2-40B4-BE49-F238E27FC236}">
                <a16:creationId xmlns:a16="http://schemas.microsoft.com/office/drawing/2014/main" id="{8FC248E0-DF4E-9449-B159-0F2320E42BD1}"/>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212551EF-C12B-DB4F-B69D-4F50FC1EA2EA}"/>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E05ADB6-533C-DB42-B981-CED9897352B8}"/>
              </a:ext>
            </a:extLst>
          </p:cNvPr>
          <p:cNvSpPr>
            <a:spLocks noGrp="1"/>
          </p:cNvSpPr>
          <p:nvPr>
            <p:ph type="sldNum" sz="quarter" idx="12"/>
          </p:nvPr>
        </p:nvSpPr>
        <p:spPr/>
        <p:txBody>
          <a:bodyPr/>
          <a:lstStyle/>
          <a:p>
            <a:fld id="{C92894D7-1DF0-2544-A605-B97A2B84F4F8}" type="slidenum">
              <a:rPr lang="en-SE" smtClean="0"/>
              <a:t>28</a:t>
            </a:fld>
            <a:endParaRPr lang="en-SE"/>
          </a:p>
        </p:txBody>
      </p:sp>
      <p:sp>
        <p:nvSpPr>
          <p:cNvPr id="7" name="Right Brace 6">
            <a:extLst>
              <a:ext uri="{FF2B5EF4-FFF2-40B4-BE49-F238E27FC236}">
                <a16:creationId xmlns:a16="http://schemas.microsoft.com/office/drawing/2014/main" id="{FCBA77E7-367E-6544-BAAC-8C5A25C9189A}"/>
              </a:ext>
            </a:extLst>
          </p:cNvPr>
          <p:cNvSpPr/>
          <p:nvPr/>
        </p:nvSpPr>
        <p:spPr>
          <a:xfrm rot="5400000">
            <a:off x="2164921" y="2926921"/>
            <a:ext cx="155448" cy="84871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05730A8-9B8C-7548-AC94-F7184586A280}"/>
              </a:ext>
            </a:extLst>
          </p:cNvPr>
          <p:cNvSpPr txBox="1"/>
          <p:nvPr/>
        </p:nvSpPr>
        <p:spPr>
          <a:xfrm>
            <a:off x="2115406" y="3429000"/>
            <a:ext cx="1103187" cy="369332"/>
          </a:xfrm>
          <a:prstGeom prst="rect">
            <a:avLst/>
          </a:prstGeom>
          <a:noFill/>
        </p:spPr>
        <p:txBody>
          <a:bodyPr wrap="none" rtlCol="0">
            <a:spAutoFit/>
          </a:bodyPr>
          <a:lstStyle/>
          <a:p>
            <a:r>
              <a:rPr lang="en-US" i="1" dirty="0"/>
              <a:t>n</a:t>
            </a:r>
            <a:r>
              <a:rPr lang="en-US" dirty="0"/>
              <a:t> of them</a:t>
            </a:r>
          </a:p>
        </p:txBody>
      </p:sp>
      <p:sp>
        <p:nvSpPr>
          <p:cNvPr id="9" name="Right Brace 8">
            <a:extLst>
              <a:ext uri="{FF2B5EF4-FFF2-40B4-BE49-F238E27FC236}">
                <a16:creationId xmlns:a16="http://schemas.microsoft.com/office/drawing/2014/main" id="{A6C1A402-F247-544B-A67D-CC69FE573243}"/>
              </a:ext>
            </a:extLst>
          </p:cNvPr>
          <p:cNvSpPr/>
          <p:nvPr/>
        </p:nvSpPr>
        <p:spPr>
          <a:xfrm rot="5400000">
            <a:off x="2011829" y="4158608"/>
            <a:ext cx="155448" cy="5425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8016EDA-BB1A-5845-82CF-8EABA9996ACA}"/>
              </a:ext>
            </a:extLst>
          </p:cNvPr>
          <p:cNvSpPr txBox="1"/>
          <p:nvPr/>
        </p:nvSpPr>
        <p:spPr>
          <a:xfrm>
            <a:off x="2115406" y="4507595"/>
            <a:ext cx="1287532" cy="369332"/>
          </a:xfrm>
          <a:prstGeom prst="rect">
            <a:avLst/>
          </a:prstGeom>
          <a:noFill/>
        </p:spPr>
        <p:txBody>
          <a:bodyPr wrap="none" rtlCol="0">
            <a:spAutoFit/>
          </a:bodyPr>
          <a:lstStyle/>
          <a:p>
            <a:r>
              <a:rPr lang="en-US" i="1" dirty="0"/>
              <a:t>n-1</a:t>
            </a:r>
            <a:r>
              <a:rPr lang="en-US" dirty="0"/>
              <a:t> of them</a:t>
            </a:r>
          </a:p>
        </p:txBody>
      </p:sp>
    </p:spTree>
    <p:extLst>
      <p:ext uri="{BB962C8B-B14F-4D97-AF65-F5344CB8AC3E}">
        <p14:creationId xmlns:p14="http://schemas.microsoft.com/office/powerpoint/2010/main" val="103009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D4376-34D8-CA49-B09C-C040DF14AF9F}"/>
              </a:ext>
            </a:extLst>
          </p:cNvPr>
          <p:cNvSpPr>
            <a:spLocks noGrp="1"/>
          </p:cNvSpPr>
          <p:nvPr>
            <p:ph type="title"/>
          </p:nvPr>
        </p:nvSpPr>
        <p:spPr/>
        <p:txBody>
          <a:bodyPr/>
          <a:lstStyle/>
          <a:p>
            <a:r>
              <a:rPr lang="en-US" dirty="0"/>
              <a:t>One-time passwords / one-way hash chain</a:t>
            </a:r>
          </a:p>
        </p:txBody>
      </p:sp>
      <p:sp>
        <p:nvSpPr>
          <p:cNvPr id="3" name="Content Placeholder 2">
            <a:extLst>
              <a:ext uri="{FF2B5EF4-FFF2-40B4-BE49-F238E27FC236}">
                <a16:creationId xmlns:a16="http://schemas.microsoft.com/office/drawing/2014/main" id="{133226AA-1E04-7849-9FA4-DA994FF5AEB1}"/>
              </a:ext>
            </a:extLst>
          </p:cNvPr>
          <p:cNvSpPr>
            <a:spLocks noGrp="1"/>
          </p:cNvSpPr>
          <p:nvPr>
            <p:ph idx="1"/>
          </p:nvPr>
        </p:nvSpPr>
        <p:spPr/>
        <p:txBody>
          <a:bodyPr/>
          <a:lstStyle/>
          <a:p>
            <a:r>
              <a:rPr lang="en-US" dirty="0"/>
              <a:t>Server stores P</a:t>
            </a:r>
            <a:r>
              <a:rPr lang="en-US" baseline="-25000" dirty="0"/>
              <a:t>0</a:t>
            </a:r>
            <a:r>
              <a:rPr lang="en-US" dirty="0"/>
              <a:t> (which is f(P</a:t>
            </a:r>
            <a:r>
              <a:rPr lang="en-US" baseline="-25000" dirty="0"/>
              <a:t>1</a:t>
            </a:r>
            <a:r>
              <a:rPr lang="en-US" dirty="0"/>
              <a:t>)) and value 1</a:t>
            </a:r>
          </a:p>
          <a:p>
            <a:r>
              <a:rPr lang="en-US" dirty="0"/>
              <a:t>First login, sends 1 to user, gets P</a:t>
            </a:r>
            <a:r>
              <a:rPr lang="en-US" baseline="-25000" dirty="0"/>
              <a:t>1</a:t>
            </a:r>
            <a:r>
              <a:rPr lang="en-US" dirty="0"/>
              <a:t>, compares f(P</a:t>
            </a:r>
            <a:r>
              <a:rPr lang="en-US" baseline="-25000" dirty="0"/>
              <a:t>1</a:t>
            </a:r>
            <a:r>
              <a:rPr lang="en-US" dirty="0"/>
              <a:t>) with P</a:t>
            </a:r>
            <a:r>
              <a:rPr lang="en-US" baseline="-25000" dirty="0"/>
              <a:t>0</a:t>
            </a:r>
            <a:r>
              <a:rPr lang="en-US" dirty="0"/>
              <a:t> and, if successful, stores P</a:t>
            </a:r>
            <a:r>
              <a:rPr lang="en-US" baseline="-25000" dirty="0"/>
              <a:t>1</a:t>
            </a:r>
            <a:r>
              <a:rPr lang="en-US" dirty="0"/>
              <a:t> and value 2</a:t>
            </a:r>
          </a:p>
          <a:p>
            <a:endParaRPr lang="en-US" baseline="-25000" dirty="0"/>
          </a:p>
          <a:p>
            <a:pPr marL="0" indent="0">
              <a:buNone/>
            </a:pPr>
            <a:r>
              <a:rPr lang="en-US" dirty="0"/>
              <a:t>... can be repeated </a:t>
            </a:r>
            <a:r>
              <a:rPr lang="en-US" i="1" dirty="0"/>
              <a:t>n</a:t>
            </a:r>
            <a:r>
              <a:rPr lang="en-US" dirty="0"/>
              <a:t> times</a:t>
            </a:r>
            <a:r>
              <a:rPr lang="en-US" baseline="-25000" dirty="0"/>
              <a:t> </a:t>
            </a:r>
            <a:endParaRPr lang="en-US" dirty="0"/>
          </a:p>
        </p:txBody>
      </p:sp>
      <p:sp>
        <p:nvSpPr>
          <p:cNvPr id="4" name="Date Placeholder 3">
            <a:extLst>
              <a:ext uri="{FF2B5EF4-FFF2-40B4-BE49-F238E27FC236}">
                <a16:creationId xmlns:a16="http://schemas.microsoft.com/office/drawing/2014/main" id="{788EF282-9F9E-984E-B837-CB0DB60C08A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E29DFBE5-330A-9441-B03C-60329FF00D07}"/>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3A481A18-C453-8C4D-BEC9-5250949865CA}"/>
              </a:ext>
            </a:extLst>
          </p:cNvPr>
          <p:cNvSpPr>
            <a:spLocks noGrp="1"/>
          </p:cNvSpPr>
          <p:nvPr>
            <p:ph type="sldNum" sz="quarter" idx="12"/>
          </p:nvPr>
        </p:nvSpPr>
        <p:spPr/>
        <p:txBody>
          <a:bodyPr/>
          <a:lstStyle/>
          <a:p>
            <a:fld id="{C92894D7-1DF0-2544-A605-B97A2B84F4F8}" type="slidenum">
              <a:rPr lang="en-SE" smtClean="0"/>
              <a:t>29</a:t>
            </a:fld>
            <a:endParaRPr lang="en-SE"/>
          </a:p>
        </p:txBody>
      </p:sp>
    </p:spTree>
    <p:extLst>
      <p:ext uri="{BB962C8B-B14F-4D97-AF65-F5344CB8AC3E}">
        <p14:creationId xmlns:p14="http://schemas.microsoft.com/office/powerpoint/2010/main" val="2123255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7F296-F55F-B14B-9341-CA7D03B9D41E}"/>
              </a:ext>
            </a:extLst>
          </p:cNvPr>
          <p:cNvSpPr>
            <a:spLocks noGrp="1"/>
          </p:cNvSpPr>
          <p:nvPr>
            <p:ph type="title"/>
          </p:nvPr>
        </p:nvSpPr>
        <p:spPr/>
        <p:txBody>
          <a:bodyPr/>
          <a:lstStyle/>
          <a:p>
            <a:r>
              <a:rPr lang="en-US" dirty="0"/>
              <a:t>Challenge-Response authentication</a:t>
            </a:r>
          </a:p>
        </p:txBody>
      </p:sp>
      <p:sp>
        <p:nvSpPr>
          <p:cNvPr id="3" name="Content Placeholder 2">
            <a:extLst>
              <a:ext uri="{FF2B5EF4-FFF2-40B4-BE49-F238E27FC236}">
                <a16:creationId xmlns:a16="http://schemas.microsoft.com/office/drawing/2014/main" id="{29A7F8C7-91D1-CC40-8AEE-BE3449D03DF3}"/>
              </a:ext>
            </a:extLst>
          </p:cNvPr>
          <p:cNvSpPr>
            <a:spLocks noGrp="1"/>
          </p:cNvSpPr>
          <p:nvPr>
            <p:ph idx="1"/>
          </p:nvPr>
        </p:nvSpPr>
        <p:spPr/>
        <p:txBody>
          <a:bodyPr/>
          <a:lstStyle/>
          <a:p>
            <a:r>
              <a:rPr lang="en-US" dirty="0"/>
              <a:t>Chose from a long list of questions</a:t>
            </a:r>
          </a:p>
          <a:p>
            <a:pPr lvl="1"/>
            <a:r>
              <a:rPr lang="en-US" dirty="0"/>
              <a:t>The user knows the answer, no need to “write it down somewhere”</a:t>
            </a:r>
          </a:p>
          <a:p>
            <a:pPr lvl="1"/>
            <a:r>
              <a:rPr lang="en-US" dirty="0"/>
              <a:t>Storage on server must be secure of course</a:t>
            </a:r>
          </a:p>
          <a:p>
            <a:r>
              <a:rPr lang="en-US" dirty="0"/>
              <a:t>Let the user choose an algorithm (e.g., x^2) and ask the user to compute the right answer</a:t>
            </a:r>
          </a:p>
          <a:p>
            <a:r>
              <a:rPr lang="en-US" dirty="0"/>
              <a:t>If an initial password/key </a:t>
            </a:r>
            <a:r>
              <a:rPr lang="en-US" i="1" dirty="0"/>
              <a:t>k</a:t>
            </a:r>
            <a:r>
              <a:rPr lang="en-US" dirty="0"/>
              <a:t> can be shared between user and server, </a:t>
            </a:r>
          </a:p>
          <a:p>
            <a:pPr lvl="1"/>
            <a:r>
              <a:rPr lang="en-US" dirty="0"/>
              <a:t>server shares r</a:t>
            </a:r>
          </a:p>
          <a:p>
            <a:pPr lvl="1"/>
            <a:r>
              <a:rPr lang="en-US" dirty="0"/>
              <a:t>both user and client compute f(</a:t>
            </a:r>
            <a:r>
              <a:rPr lang="en-US" dirty="0" err="1"/>
              <a:t>r,k</a:t>
            </a:r>
            <a:r>
              <a:rPr lang="en-US" dirty="0"/>
              <a:t>) and compare results – f can be known</a:t>
            </a:r>
          </a:p>
          <a:p>
            <a:pPr marL="457200" lvl="1" indent="0">
              <a:buNone/>
            </a:pPr>
            <a:r>
              <a:rPr lang="en-US" dirty="0"/>
              <a:t>--&gt; with high computing power </a:t>
            </a:r>
            <a:r>
              <a:rPr lang="en-US" dirty="0">
                <a:sym typeface="Wingdings" pitchFamily="2" charset="2"/>
              </a:rPr>
              <a:t> complex f and large r/k  hard for the attacker to break</a:t>
            </a:r>
            <a:endParaRPr lang="en-US" dirty="0"/>
          </a:p>
        </p:txBody>
      </p:sp>
      <p:sp>
        <p:nvSpPr>
          <p:cNvPr id="4" name="Date Placeholder 3">
            <a:extLst>
              <a:ext uri="{FF2B5EF4-FFF2-40B4-BE49-F238E27FC236}">
                <a16:creationId xmlns:a16="http://schemas.microsoft.com/office/drawing/2014/main" id="{2A0E6449-9C78-E64D-895F-BFD95E83983C}"/>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6144D3C8-CCC6-7E43-8F28-514417A5E56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47193F7A-3048-ED44-A935-F43AD1B3C5EE}"/>
              </a:ext>
            </a:extLst>
          </p:cNvPr>
          <p:cNvSpPr>
            <a:spLocks noGrp="1"/>
          </p:cNvSpPr>
          <p:nvPr>
            <p:ph type="sldNum" sz="quarter" idx="12"/>
          </p:nvPr>
        </p:nvSpPr>
        <p:spPr/>
        <p:txBody>
          <a:bodyPr/>
          <a:lstStyle/>
          <a:p>
            <a:fld id="{C92894D7-1DF0-2544-A605-B97A2B84F4F8}" type="slidenum">
              <a:rPr lang="en-SE" smtClean="0"/>
              <a:t>30</a:t>
            </a:fld>
            <a:endParaRPr lang="en-SE"/>
          </a:p>
        </p:txBody>
      </p:sp>
    </p:spTree>
    <p:extLst>
      <p:ext uri="{BB962C8B-B14F-4D97-AF65-F5344CB8AC3E}">
        <p14:creationId xmlns:p14="http://schemas.microsoft.com/office/powerpoint/2010/main" val="360080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C60E4-EF15-364E-8D89-C7A5F98CD531}"/>
              </a:ext>
            </a:extLst>
          </p:cNvPr>
          <p:cNvSpPr>
            <a:spLocks noGrp="1"/>
          </p:cNvSpPr>
          <p:nvPr>
            <p:ph type="title"/>
          </p:nvPr>
        </p:nvSpPr>
        <p:spPr/>
        <p:txBody>
          <a:bodyPr/>
          <a:lstStyle/>
          <a:p>
            <a:r>
              <a:rPr lang="en-US" dirty="0"/>
              <a:t>And more</a:t>
            </a:r>
          </a:p>
        </p:txBody>
      </p:sp>
      <p:sp>
        <p:nvSpPr>
          <p:cNvPr id="3" name="Content Placeholder 2">
            <a:extLst>
              <a:ext uri="{FF2B5EF4-FFF2-40B4-BE49-F238E27FC236}">
                <a16:creationId xmlns:a16="http://schemas.microsoft.com/office/drawing/2014/main" id="{005F042C-A649-8A46-AFF0-B36593DD1476}"/>
              </a:ext>
            </a:extLst>
          </p:cNvPr>
          <p:cNvSpPr>
            <a:spLocks noGrp="1"/>
          </p:cNvSpPr>
          <p:nvPr>
            <p:ph idx="1"/>
          </p:nvPr>
        </p:nvSpPr>
        <p:spPr/>
        <p:txBody>
          <a:bodyPr/>
          <a:lstStyle/>
          <a:p>
            <a:r>
              <a:rPr lang="en-US" dirty="0"/>
              <a:t>Authentication using a </a:t>
            </a:r>
            <a:br>
              <a:rPr lang="en-US" dirty="0"/>
            </a:br>
            <a:r>
              <a:rPr lang="en-US" dirty="0"/>
              <a:t>physical object</a:t>
            </a:r>
          </a:p>
          <a:p>
            <a:endParaRPr lang="en-US" dirty="0"/>
          </a:p>
          <a:p>
            <a:endParaRPr lang="en-US" dirty="0"/>
          </a:p>
          <a:p>
            <a:endParaRPr lang="en-US" dirty="0"/>
          </a:p>
          <a:p>
            <a:r>
              <a:rPr lang="en-US" dirty="0"/>
              <a:t>Biometrics</a:t>
            </a:r>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335C6A4C-7E78-6D48-8EE2-F3135FB3EA8E}"/>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5AC193A9-A6BB-034F-8FC1-D7D1614B597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D9356898-8A6D-AE42-BCEC-52AC9D6E5D87}"/>
              </a:ext>
            </a:extLst>
          </p:cNvPr>
          <p:cNvSpPr>
            <a:spLocks noGrp="1"/>
          </p:cNvSpPr>
          <p:nvPr>
            <p:ph type="sldNum" sz="quarter" idx="12"/>
          </p:nvPr>
        </p:nvSpPr>
        <p:spPr/>
        <p:txBody>
          <a:bodyPr/>
          <a:lstStyle/>
          <a:p>
            <a:fld id="{C92894D7-1DF0-2544-A605-B97A2B84F4F8}" type="slidenum">
              <a:rPr lang="en-SE" smtClean="0"/>
              <a:t>31</a:t>
            </a:fld>
            <a:endParaRPr lang="en-SE"/>
          </a:p>
        </p:txBody>
      </p:sp>
      <p:pic>
        <p:nvPicPr>
          <p:cNvPr id="7" name="Picture 2">
            <a:extLst>
              <a:ext uri="{FF2B5EF4-FFF2-40B4-BE49-F238E27FC236}">
                <a16:creationId xmlns:a16="http://schemas.microsoft.com/office/drawing/2014/main" id="{5A1E0DC1-A68D-0F4C-8233-C014733CF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6658" y="1338570"/>
            <a:ext cx="5588717" cy="24405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a:extLst>
              <a:ext uri="{FF2B5EF4-FFF2-40B4-BE49-F238E27FC236}">
                <a16:creationId xmlns:a16="http://schemas.microsoft.com/office/drawing/2014/main" id="{C142E328-B30F-0D47-BEF4-13FCA722C6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8233" y="3719612"/>
            <a:ext cx="2214095" cy="2065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Oval 8">
            <a:extLst>
              <a:ext uri="{FF2B5EF4-FFF2-40B4-BE49-F238E27FC236}">
                <a16:creationId xmlns:a16="http://schemas.microsoft.com/office/drawing/2014/main" id="{68CA48C5-A644-8244-BF23-36506BFD545F}"/>
              </a:ext>
            </a:extLst>
          </p:cNvPr>
          <p:cNvSpPr/>
          <p:nvPr/>
        </p:nvSpPr>
        <p:spPr>
          <a:xfrm>
            <a:off x="8252948" y="2870673"/>
            <a:ext cx="3878826" cy="21756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Can be used in combination with passwords, of course (multiple techniques can be used at the same time)</a:t>
            </a:r>
          </a:p>
        </p:txBody>
      </p:sp>
      <p:sp>
        <p:nvSpPr>
          <p:cNvPr id="10" name="Oval 9">
            <a:extLst>
              <a:ext uri="{FF2B5EF4-FFF2-40B4-BE49-F238E27FC236}">
                <a16:creationId xmlns:a16="http://schemas.microsoft.com/office/drawing/2014/main" id="{6A20249D-245B-824A-AC0C-AE9A393BE007}"/>
              </a:ext>
            </a:extLst>
          </p:cNvPr>
          <p:cNvSpPr/>
          <p:nvPr/>
        </p:nvSpPr>
        <p:spPr>
          <a:xfrm>
            <a:off x="5727134" y="4752566"/>
            <a:ext cx="3260929" cy="142439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account for variability</a:t>
            </a:r>
          </a:p>
          <a:p>
            <a:pPr algn="ctr"/>
            <a:r>
              <a:rPr lang="en-US" dirty="0"/>
              <a:t>account for enough “distance” between users</a:t>
            </a:r>
          </a:p>
        </p:txBody>
      </p:sp>
    </p:spTree>
    <p:extLst>
      <p:ext uri="{BB962C8B-B14F-4D97-AF65-F5344CB8AC3E}">
        <p14:creationId xmlns:p14="http://schemas.microsoft.com/office/powerpoint/2010/main" val="2538204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5CBAE-B49E-2142-8154-871BDE2245BE}"/>
              </a:ext>
            </a:extLst>
          </p:cNvPr>
          <p:cNvSpPr>
            <a:spLocks noGrp="1"/>
          </p:cNvSpPr>
          <p:nvPr>
            <p:ph type="title"/>
          </p:nvPr>
        </p:nvSpPr>
        <p:spPr/>
        <p:txBody>
          <a:bodyPr/>
          <a:lstStyle/>
          <a:p>
            <a:r>
              <a:rPr lang="en-US" dirty="0"/>
              <a:t>About cards</a:t>
            </a:r>
          </a:p>
        </p:txBody>
      </p:sp>
      <p:sp>
        <p:nvSpPr>
          <p:cNvPr id="3" name="Content Placeholder 2">
            <a:extLst>
              <a:ext uri="{FF2B5EF4-FFF2-40B4-BE49-F238E27FC236}">
                <a16:creationId xmlns:a16="http://schemas.microsoft.com/office/drawing/2014/main" id="{B9F866D1-4242-2148-BFFB-619F6F499932}"/>
              </a:ext>
            </a:extLst>
          </p:cNvPr>
          <p:cNvSpPr>
            <a:spLocks noGrp="1"/>
          </p:cNvSpPr>
          <p:nvPr>
            <p:ph idx="1"/>
          </p:nvPr>
        </p:nvSpPr>
        <p:spPr/>
        <p:txBody>
          <a:bodyPr>
            <a:normAutofit lnSpcReduction="10000"/>
          </a:bodyPr>
          <a:lstStyle/>
          <a:p>
            <a:r>
              <a:rPr lang="en-US" dirty="0"/>
              <a:t>Magnetic stripe cards</a:t>
            </a:r>
          </a:p>
          <a:p>
            <a:pPr lvl="1"/>
            <a:r>
              <a:rPr lang="en-US" dirty="0">
                <a:sym typeface="Wingdings" pitchFamily="2" charset="2"/>
              </a:rPr>
              <a:t>read only</a:t>
            </a:r>
          </a:p>
          <a:p>
            <a:pPr lvl="1"/>
            <a:r>
              <a:rPr lang="en-US" dirty="0">
                <a:sym typeface="Wingdings" pitchFamily="2" charset="2"/>
              </a:rPr>
              <a:t>can contain the user password</a:t>
            </a:r>
          </a:p>
          <a:p>
            <a:r>
              <a:rPr lang="en-US" dirty="0">
                <a:sym typeface="Wingdings" pitchFamily="2" charset="2"/>
              </a:rPr>
              <a:t>Chip cards</a:t>
            </a:r>
          </a:p>
          <a:p>
            <a:pPr lvl="1"/>
            <a:r>
              <a:rPr lang="en-US" dirty="0">
                <a:sym typeface="Wingdings" pitchFamily="2" charset="2"/>
              </a:rPr>
              <a:t>stored value cards</a:t>
            </a:r>
          </a:p>
          <a:p>
            <a:pPr lvl="2"/>
            <a:r>
              <a:rPr lang="en-US" dirty="0">
                <a:sym typeface="Wingdings" pitchFamily="2" charset="2"/>
              </a:rPr>
              <a:t>value in them can be updated</a:t>
            </a:r>
          </a:p>
          <a:p>
            <a:r>
              <a:rPr lang="en-US" dirty="0">
                <a:sym typeface="Wingdings" pitchFamily="2" charset="2"/>
              </a:rPr>
              <a:t>Smart cards</a:t>
            </a:r>
          </a:p>
          <a:p>
            <a:pPr lvl="1"/>
            <a:r>
              <a:rPr lang="en-US" dirty="0">
                <a:sym typeface="Wingdings" pitchFamily="2" charset="2"/>
              </a:rPr>
              <a:t>mount a small CPU</a:t>
            </a:r>
          </a:p>
          <a:p>
            <a:pPr lvl="1"/>
            <a:r>
              <a:rPr lang="en-US" dirty="0">
                <a:sym typeface="Wingdings" pitchFamily="2" charset="2"/>
              </a:rPr>
              <a:t>Can send messages/encrypting them in some cases</a:t>
            </a:r>
          </a:p>
          <a:p>
            <a:pPr lvl="2"/>
            <a:r>
              <a:rPr lang="en-US" dirty="0">
                <a:sym typeface="Wingdings" pitchFamily="2" charset="2"/>
              </a:rPr>
              <a:t>This can be useful to authorize payments when there’s no connectivity</a:t>
            </a:r>
          </a:p>
          <a:p>
            <a:pPr lvl="1"/>
            <a:r>
              <a:rPr lang="en-US" dirty="0">
                <a:sym typeface="Wingdings" pitchFamily="2" charset="2"/>
              </a:rPr>
              <a:t>Can run challenge-response authentication</a:t>
            </a:r>
            <a:endParaRPr lang="en-US" dirty="0"/>
          </a:p>
        </p:txBody>
      </p:sp>
      <p:sp>
        <p:nvSpPr>
          <p:cNvPr id="4" name="Date Placeholder 3">
            <a:extLst>
              <a:ext uri="{FF2B5EF4-FFF2-40B4-BE49-F238E27FC236}">
                <a16:creationId xmlns:a16="http://schemas.microsoft.com/office/drawing/2014/main" id="{FD3FBDE1-5CD1-5346-A55D-89FB446D2CF5}"/>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9ECE5AAE-E44D-F64F-B2C1-6EE5EF260DCA}"/>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D8C3929F-A050-C24C-A33F-D1BCF91AF3B4}"/>
              </a:ext>
            </a:extLst>
          </p:cNvPr>
          <p:cNvSpPr>
            <a:spLocks noGrp="1"/>
          </p:cNvSpPr>
          <p:nvPr>
            <p:ph type="sldNum" sz="quarter" idx="12"/>
          </p:nvPr>
        </p:nvSpPr>
        <p:spPr/>
        <p:txBody>
          <a:bodyPr/>
          <a:lstStyle/>
          <a:p>
            <a:fld id="{C92894D7-1DF0-2544-A605-B97A2B84F4F8}" type="slidenum">
              <a:rPr lang="en-SE" smtClean="0"/>
              <a:t>32</a:t>
            </a:fld>
            <a:endParaRPr lang="en-SE"/>
          </a:p>
        </p:txBody>
      </p:sp>
    </p:spTree>
    <p:extLst>
      <p:ext uri="{BB962C8B-B14F-4D97-AF65-F5344CB8AC3E}">
        <p14:creationId xmlns:p14="http://schemas.microsoft.com/office/powerpoint/2010/main" val="37766255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solidFill>
                  <a:schemeClr val="bg1">
                    <a:lumMod val="50000"/>
                  </a:schemeClr>
                </a:solidFill>
              </a:rPr>
              <a:t>Protection Domains</a:t>
            </a:r>
          </a:p>
          <a:p>
            <a:r>
              <a:rPr lang="en-GB" dirty="0">
                <a:solidFill>
                  <a:schemeClr val="bg1">
                    <a:lumMod val="50000"/>
                  </a:schemeClr>
                </a:solidFill>
              </a:rPr>
              <a:t>Access Control Lists</a:t>
            </a:r>
          </a:p>
          <a:p>
            <a:r>
              <a:rPr lang="en-GB" dirty="0">
                <a:solidFill>
                  <a:schemeClr val="bg1">
                    <a:lumMod val="50000"/>
                  </a:schemeClr>
                </a:solidFill>
              </a:rPr>
              <a:t>Capabilities</a:t>
            </a:r>
          </a:p>
          <a:p>
            <a:r>
              <a:rPr lang="en-GB" dirty="0">
                <a:solidFill>
                  <a:schemeClr val="bg1">
                    <a:lumMod val="50000"/>
                  </a:schemeClr>
                </a:solidFill>
              </a:rPr>
              <a:t>Authentication</a:t>
            </a:r>
          </a:p>
          <a:p>
            <a:r>
              <a:rPr lang="en-GB" dirty="0"/>
              <a:t>Exploiting software bugs: buffer overflow attacks</a:t>
            </a:r>
            <a:endParaRPr lang="en-SE" dirty="0"/>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33</a:t>
            </a:fld>
            <a:endParaRPr lang="en-SE"/>
          </a:p>
        </p:txBody>
      </p:sp>
    </p:spTree>
    <p:extLst>
      <p:ext uri="{BB962C8B-B14F-4D97-AF65-F5344CB8AC3E}">
        <p14:creationId xmlns:p14="http://schemas.microsoft.com/office/powerpoint/2010/main" val="2214464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5979F-185B-0842-8B34-6C65919EF8E6}"/>
              </a:ext>
            </a:extLst>
          </p:cNvPr>
          <p:cNvSpPr>
            <a:spLocks noGrp="1"/>
          </p:cNvSpPr>
          <p:nvPr>
            <p:ph type="title"/>
          </p:nvPr>
        </p:nvSpPr>
        <p:spPr/>
        <p:txBody>
          <a:bodyPr/>
          <a:lstStyle/>
          <a:p>
            <a:r>
              <a:rPr lang="en-US" dirty="0"/>
              <a:t>Exploiting software</a:t>
            </a:r>
          </a:p>
        </p:txBody>
      </p:sp>
      <p:sp>
        <p:nvSpPr>
          <p:cNvPr id="3" name="Content Placeholder 2">
            <a:extLst>
              <a:ext uri="{FF2B5EF4-FFF2-40B4-BE49-F238E27FC236}">
                <a16:creationId xmlns:a16="http://schemas.microsoft.com/office/drawing/2014/main" id="{1B5FC88F-5668-924E-AAD7-300F015DD05E}"/>
              </a:ext>
            </a:extLst>
          </p:cNvPr>
          <p:cNvSpPr>
            <a:spLocks noGrp="1"/>
          </p:cNvSpPr>
          <p:nvPr>
            <p:ph idx="1"/>
          </p:nvPr>
        </p:nvSpPr>
        <p:spPr>
          <a:xfrm>
            <a:off x="838200" y="1825625"/>
            <a:ext cx="7666771" cy="4351338"/>
          </a:xfrm>
        </p:spPr>
        <p:txBody>
          <a:bodyPr>
            <a:normAutofit/>
          </a:bodyPr>
          <a:lstStyle/>
          <a:p>
            <a:r>
              <a:rPr lang="en-US" sz="3200" dirty="0"/>
              <a:t>Cracking passwords is only one way of course to gain control</a:t>
            </a:r>
          </a:p>
          <a:p>
            <a:r>
              <a:rPr lang="en-US" sz="3200" dirty="0"/>
              <a:t>Alternatives</a:t>
            </a:r>
          </a:p>
          <a:p>
            <a:pPr lvl="1"/>
            <a:r>
              <a:rPr lang="en-US" sz="2800" dirty="0"/>
              <a:t>drive-by-download: infect browser, have user download malicious content, malicious content downloads malware, ...</a:t>
            </a:r>
          </a:p>
          <a:p>
            <a:pPr lvl="1"/>
            <a:r>
              <a:rPr lang="en-US" sz="2800" b="1" u="sng" dirty="0"/>
              <a:t>exploit bugs</a:t>
            </a:r>
          </a:p>
          <a:p>
            <a:pPr lvl="2"/>
            <a:r>
              <a:rPr lang="en-US" sz="2400" dirty="0"/>
              <a:t>OS have many...</a:t>
            </a:r>
          </a:p>
        </p:txBody>
      </p:sp>
      <p:sp>
        <p:nvSpPr>
          <p:cNvPr id="4" name="Date Placeholder 3">
            <a:extLst>
              <a:ext uri="{FF2B5EF4-FFF2-40B4-BE49-F238E27FC236}">
                <a16:creationId xmlns:a16="http://schemas.microsoft.com/office/drawing/2014/main" id="{567F7FA0-63B9-9347-81E3-2318D04FF92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2B71856-A66E-274E-82F0-72ADE7C92D8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73301BFE-0A4E-1642-9D3A-BB7DE512F0E9}"/>
              </a:ext>
            </a:extLst>
          </p:cNvPr>
          <p:cNvSpPr>
            <a:spLocks noGrp="1"/>
          </p:cNvSpPr>
          <p:nvPr>
            <p:ph type="sldNum" sz="quarter" idx="12"/>
          </p:nvPr>
        </p:nvSpPr>
        <p:spPr/>
        <p:txBody>
          <a:bodyPr/>
          <a:lstStyle/>
          <a:p>
            <a:fld id="{C92894D7-1DF0-2544-A605-B97A2B84F4F8}" type="slidenum">
              <a:rPr lang="en-SE" smtClean="0"/>
              <a:t>34</a:t>
            </a:fld>
            <a:endParaRPr lang="en-SE"/>
          </a:p>
        </p:txBody>
      </p:sp>
      <p:pic>
        <p:nvPicPr>
          <p:cNvPr id="7" name="Picture 5">
            <a:extLst>
              <a:ext uri="{FF2B5EF4-FFF2-40B4-BE49-F238E27FC236}">
                <a16:creationId xmlns:a16="http://schemas.microsoft.com/office/drawing/2014/main" id="{6C895C46-8349-6340-B639-81C3708F6FC3}"/>
              </a:ext>
              <a:ext uri="{C183D7F6-B498-43B3-948B-1728B52AA6E4}">
                <adec:decorative xmlns:adec="http://schemas.microsoft.com/office/drawing/2017/decorative" val="1"/>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8504971" y="1486412"/>
            <a:ext cx="2954457" cy="4370905"/>
          </a:xfrm>
          <a:prstGeom prst="rect">
            <a:avLst/>
          </a:prstGeom>
          <a:noFill/>
          <a:effectLst/>
        </p:spPr>
      </p:pic>
    </p:spTree>
    <p:extLst>
      <p:ext uri="{BB962C8B-B14F-4D97-AF65-F5344CB8AC3E}">
        <p14:creationId xmlns:p14="http://schemas.microsoft.com/office/powerpoint/2010/main" val="2840268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38FF6-2ECE-694E-B748-6FD1FB6530B1}"/>
              </a:ext>
            </a:extLst>
          </p:cNvPr>
          <p:cNvSpPr>
            <a:spLocks noGrp="1"/>
          </p:cNvSpPr>
          <p:nvPr>
            <p:ph type="title"/>
          </p:nvPr>
        </p:nvSpPr>
        <p:spPr/>
        <p:txBody>
          <a:bodyPr/>
          <a:lstStyle/>
          <a:p>
            <a:r>
              <a:rPr lang="en-US" dirty="0"/>
              <a:t>Buffer overflow attacks</a:t>
            </a:r>
          </a:p>
        </p:txBody>
      </p:sp>
      <p:sp>
        <p:nvSpPr>
          <p:cNvPr id="4" name="Date Placeholder 3">
            <a:extLst>
              <a:ext uri="{FF2B5EF4-FFF2-40B4-BE49-F238E27FC236}">
                <a16:creationId xmlns:a16="http://schemas.microsoft.com/office/drawing/2014/main" id="{C0983F98-9AE2-F44C-ABAF-0FEE6D2209FD}"/>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83F347D-F560-9345-991B-66209F3B7EB6}"/>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AB6AD796-682E-4B4F-8176-C0A3F8CD80B0}"/>
              </a:ext>
            </a:extLst>
          </p:cNvPr>
          <p:cNvSpPr>
            <a:spLocks noGrp="1"/>
          </p:cNvSpPr>
          <p:nvPr>
            <p:ph type="sldNum" sz="quarter" idx="12"/>
          </p:nvPr>
        </p:nvSpPr>
        <p:spPr/>
        <p:txBody>
          <a:bodyPr/>
          <a:lstStyle/>
          <a:p>
            <a:fld id="{C92894D7-1DF0-2544-A605-B97A2B84F4F8}" type="slidenum">
              <a:rPr lang="en-SE" smtClean="0"/>
              <a:t>35</a:t>
            </a:fld>
            <a:endParaRPr lang="en-SE"/>
          </a:p>
        </p:txBody>
      </p:sp>
      <p:pic>
        <p:nvPicPr>
          <p:cNvPr id="8" name="Picture 2">
            <a:extLst>
              <a:ext uri="{FF2B5EF4-FFF2-40B4-BE49-F238E27FC236}">
                <a16:creationId xmlns:a16="http://schemas.microsoft.com/office/drawing/2014/main" id="{0F755E26-CE6D-344D-820E-B1127C413B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4630" y="1209617"/>
            <a:ext cx="8402739" cy="44387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 Placeholder 2">
            <a:extLst>
              <a:ext uri="{FF2B5EF4-FFF2-40B4-BE49-F238E27FC236}">
                <a16:creationId xmlns:a16="http://schemas.microsoft.com/office/drawing/2014/main" id="{1C41DFC6-6D97-5349-BA2A-8CE0069121A3}"/>
              </a:ext>
            </a:extLst>
          </p:cNvPr>
          <p:cNvSpPr txBox="1">
            <a:spLocks/>
          </p:cNvSpPr>
          <p:nvPr/>
        </p:nvSpPr>
        <p:spPr>
          <a:xfrm>
            <a:off x="1438020" y="5291138"/>
            <a:ext cx="10144380" cy="1065212"/>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dirty="0">
                <a:solidFill>
                  <a:schemeClr val="tx1"/>
                </a:solidFill>
              </a:rPr>
              <a:t>Figure 9-21. (a) Situation when the main program is running. (b) After the procedure A has been called. (c) Buffer overflow shown in gray.</a:t>
            </a:r>
          </a:p>
        </p:txBody>
      </p:sp>
    </p:spTree>
    <p:extLst>
      <p:ext uri="{BB962C8B-B14F-4D97-AF65-F5344CB8AC3E}">
        <p14:creationId xmlns:p14="http://schemas.microsoft.com/office/powerpoint/2010/main" val="266902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The Canary in the Coal Mine">
            <a:extLst>
              <a:ext uri="{FF2B5EF4-FFF2-40B4-BE49-F238E27FC236}">
                <a16:creationId xmlns:a16="http://schemas.microsoft.com/office/drawing/2014/main" id="{312CAA93-5644-9142-B103-A6A5EBB581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4582" b="-1"/>
          <a:stretch/>
        </p:blipFill>
        <p:spPr bwMode="auto">
          <a:xfrm>
            <a:off x="4117521" y="10"/>
            <a:ext cx="8074479"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Shape 70">
            <a:extLst>
              <a:ext uri="{FF2B5EF4-FFF2-40B4-BE49-F238E27FC236}">
                <a16:creationId xmlns:a16="http://schemas.microsoft.com/office/drawing/2014/main" id="{8F23F8A3-8FD7-4779-8323-FDC26BE99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7859800" cy="6858478"/>
          </a:xfrm>
          <a:custGeom>
            <a:avLst/>
            <a:gdLst>
              <a:gd name="connsiteX0" fmla="*/ 7859800 w 7859800"/>
              <a:gd name="connsiteY0" fmla="*/ 6858478 h 6858478"/>
              <a:gd name="connsiteX1" fmla="*/ 435245 w 7859800"/>
              <a:gd name="connsiteY1" fmla="*/ 6858478 h 6858478"/>
              <a:gd name="connsiteX2" fmla="*/ 435505 w 7859800"/>
              <a:gd name="connsiteY2" fmla="*/ 6857916 h 6858478"/>
              <a:gd name="connsiteX3" fmla="*/ 0 w 7859800"/>
              <a:gd name="connsiteY3" fmla="*/ 6857916 h 6858478"/>
              <a:gd name="connsiteX4" fmla="*/ 0 w 7859800"/>
              <a:gd name="connsiteY4" fmla="*/ 0 h 6858478"/>
              <a:gd name="connsiteX5" fmla="*/ 3611620 w 7859800"/>
              <a:gd name="connsiteY5" fmla="*/ 0 h 6858478"/>
              <a:gd name="connsiteX6" fmla="*/ 4677848 w 7859800"/>
              <a:gd name="connsiteY6" fmla="*/ 0 h 6858478"/>
              <a:gd name="connsiteX7" fmla="*/ 4683425 w 7859800"/>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9800" h="6858478">
                <a:moveTo>
                  <a:pt x="7859800" y="6858478"/>
                </a:moveTo>
                <a:lnTo>
                  <a:pt x="435245" y="6858478"/>
                </a:lnTo>
                <a:lnTo>
                  <a:pt x="435505" y="6857916"/>
                </a:lnTo>
                <a:lnTo>
                  <a:pt x="0" y="6857916"/>
                </a:lnTo>
                <a:lnTo>
                  <a:pt x="0" y="0"/>
                </a:lnTo>
                <a:lnTo>
                  <a:pt x="3611620" y="0"/>
                </a:lnTo>
                <a:lnTo>
                  <a:pt x="4677848" y="0"/>
                </a:lnTo>
                <a:lnTo>
                  <a:pt x="4683425"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Shape 72">
            <a:extLst>
              <a:ext uri="{FF2B5EF4-FFF2-40B4-BE49-F238E27FC236}">
                <a16:creationId xmlns:a16="http://schemas.microsoft.com/office/drawing/2014/main" id="{F605C4CC-A25C-416F-8333-7CB7DC97D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7431174" cy="6858478"/>
          </a:xfrm>
          <a:custGeom>
            <a:avLst/>
            <a:gdLst>
              <a:gd name="connsiteX0" fmla="*/ 7431174 w 7431174"/>
              <a:gd name="connsiteY0" fmla="*/ 6858478 h 6858478"/>
              <a:gd name="connsiteX1" fmla="*/ 6619 w 7431174"/>
              <a:gd name="connsiteY1" fmla="*/ 6858478 h 6858478"/>
              <a:gd name="connsiteX2" fmla="*/ 6879 w 7431174"/>
              <a:gd name="connsiteY2" fmla="*/ 6857916 h 6858478"/>
              <a:gd name="connsiteX3" fmla="*/ 0 w 7431174"/>
              <a:gd name="connsiteY3" fmla="*/ 6857916 h 6858478"/>
              <a:gd name="connsiteX4" fmla="*/ 0 w 7431174"/>
              <a:gd name="connsiteY4" fmla="*/ 0 h 6858478"/>
              <a:gd name="connsiteX5" fmla="*/ 3182994 w 7431174"/>
              <a:gd name="connsiteY5" fmla="*/ 0 h 6858478"/>
              <a:gd name="connsiteX6" fmla="*/ 4249222 w 7431174"/>
              <a:gd name="connsiteY6" fmla="*/ 0 h 6858478"/>
              <a:gd name="connsiteX7" fmla="*/ 4254799 w 7431174"/>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1174" h="6858478">
                <a:moveTo>
                  <a:pt x="7431174" y="6858478"/>
                </a:moveTo>
                <a:lnTo>
                  <a:pt x="6619" y="6858478"/>
                </a:lnTo>
                <a:lnTo>
                  <a:pt x="6879" y="6857916"/>
                </a:lnTo>
                <a:lnTo>
                  <a:pt x="0" y="6857916"/>
                </a:lnTo>
                <a:lnTo>
                  <a:pt x="0" y="0"/>
                </a:lnTo>
                <a:lnTo>
                  <a:pt x="3182994" y="0"/>
                </a:lnTo>
                <a:lnTo>
                  <a:pt x="4249222" y="0"/>
                </a:lnTo>
                <a:lnTo>
                  <a:pt x="4254799"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EB2CFDC-E20F-EE43-A67D-730F7D08EDBC}"/>
              </a:ext>
            </a:extLst>
          </p:cNvPr>
          <p:cNvSpPr>
            <a:spLocks noGrp="1"/>
          </p:cNvSpPr>
          <p:nvPr>
            <p:ph type="title"/>
          </p:nvPr>
        </p:nvSpPr>
        <p:spPr>
          <a:xfrm>
            <a:off x="804672" y="365125"/>
            <a:ext cx="5266155" cy="1325563"/>
          </a:xfrm>
        </p:spPr>
        <p:txBody>
          <a:bodyPr>
            <a:normAutofit/>
          </a:bodyPr>
          <a:lstStyle/>
          <a:p>
            <a:r>
              <a:rPr lang="en-US" dirty="0"/>
              <a:t>Possible defense: Stack Canaries</a:t>
            </a:r>
          </a:p>
        </p:txBody>
      </p:sp>
      <p:sp>
        <p:nvSpPr>
          <p:cNvPr id="3" name="Content Placeholder 2">
            <a:extLst>
              <a:ext uri="{FF2B5EF4-FFF2-40B4-BE49-F238E27FC236}">
                <a16:creationId xmlns:a16="http://schemas.microsoft.com/office/drawing/2014/main" id="{73E68241-DA13-3A48-8B2E-6635B3B9A84A}"/>
              </a:ext>
            </a:extLst>
          </p:cNvPr>
          <p:cNvSpPr>
            <a:spLocks noGrp="1"/>
          </p:cNvSpPr>
          <p:nvPr>
            <p:ph idx="1"/>
          </p:nvPr>
        </p:nvSpPr>
        <p:spPr>
          <a:xfrm>
            <a:off x="804672" y="2022601"/>
            <a:ext cx="3941499" cy="4154361"/>
          </a:xfrm>
        </p:spPr>
        <p:txBody>
          <a:bodyPr>
            <a:normAutofit/>
          </a:bodyPr>
          <a:lstStyle/>
          <a:p>
            <a:r>
              <a:rPr lang="en-US" sz="2000" dirty="0"/>
              <a:t>Just below the return address, add random canary value</a:t>
            </a:r>
          </a:p>
          <a:p>
            <a:r>
              <a:rPr lang="en-US" sz="2000" dirty="0"/>
              <a:t>When compiling a program, insert code that, upon return from a function, check if the canary value is still correct</a:t>
            </a:r>
          </a:p>
          <a:p>
            <a:r>
              <a:rPr lang="en-US" sz="2000" dirty="0"/>
              <a:t>Is it not? </a:t>
            </a:r>
            <a:r>
              <a:rPr lang="en-US" sz="2000" dirty="0">
                <a:sym typeface="Wingdings" pitchFamily="2" charset="2"/>
              </a:rPr>
              <a:t> return address has been modified WHP</a:t>
            </a:r>
          </a:p>
          <a:p>
            <a:endParaRPr lang="en-US" sz="2000" dirty="0">
              <a:sym typeface="Wingdings" pitchFamily="2" charset="2"/>
            </a:endParaRPr>
          </a:p>
          <a:p>
            <a:r>
              <a:rPr lang="en-US" sz="2000" dirty="0">
                <a:sym typeface="Wingdings" pitchFamily="2" charset="2"/>
              </a:rPr>
              <a:t>NOTICE: stack canaries do not always work, check ”Avoiding Stack Canaries” in section 9.7</a:t>
            </a:r>
            <a:endParaRPr lang="en-US" sz="2000" dirty="0"/>
          </a:p>
        </p:txBody>
      </p:sp>
      <p:sp>
        <p:nvSpPr>
          <p:cNvPr id="5" name="Footer Placeholder 4">
            <a:extLst>
              <a:ext uri="{FF2B5EF4-FFF2-40B4-BE49-F238E27FC236}">
                <a16:creationId xmlns:a16="http://schemas.microsoft.com/office/drawing/2014/main" id="{F6329265-E3AC-C445-AA45-A9440F3C8508}"/>
              </a:ext>
            </a:extLst>
          </p:cNvPr>
          <p:cNvSpPr>
            <a:spLocks noGrp="1"/>
          </p:cNvSpPr>
          <p:nvPr>
            <p:ph type="ftr" sz="quarter" idx="11"/>
          </p:nvPr>
        </p:nvSpPr>
        <p:spPr>
          <a:xfrm>
            <a:off x="841248" y="6356350"/>
            <a:ext cx="3276273" cy="365125"/>
          </a:xfrm>
        </p:spPr>
        <p:txBody>
          <a:bodyPr anchor="ctr">
            <a:normAutofit/>
          </a:bodyPr>
          <a:lstStyle/>
          <a:p>
            <a:pPr algn="l">
              <a:spcAft>
                <a:spcPts val="600"/>
              </a:spcAft>
            </a:pPr>
            <a:r>
              <a:rPr lang="en-GB">
                <a:solidFill>
                  <a:schemeClr val="tx1">
                    <a:alpha val="80000"/>
                  </a:schemeClr>
                </a:solidFill>
              </a:rPr>
              <a:t>Operating Systems - Security</a:t>
            </a:r>
            <a:endParaRPr lang="en-SE">
              <a:solidFill>
                <a:schemeClr val="tx1">
                  <a:alpha val="80000"/>
                </a:schemeClr>
              </a:solidFill>
            </a:endParaRPr>
          </a:p>
        </p:txBody>
      </p:sp>
      <p:sp>
        <p:nvSpPr>
          <p:cNvPr id="6" name="Slide Number Placeholder 5">
            <a:extLst>
              <a:ext uri="{FF2B5EF4-FFF2-40B4-BE49-F238E27FC236}">
                <a16:creationId xmlns:a16="http://schemas.microsoft.com/office/drawing/2014/main" id="{AF70A2E9-7980-3A48-BBC6-B0303E90544B}"/>
              </a:ext>
            </a:extLst>
          </p:cNvPr>
          <p:cNvSpPr>
            <a:spLocks noGrp="1"/>
          </p:cNvSpPr>
          <p:nvPr>
            <p:ph type="sldNum" sz="quarter" idx="12"/>
          </p:nvPr>
        </p:nvSpPr>
        <p:spPr>
          <a:xfrm>
            <a:off x="8952140" y="6356350"/>
            <a:ext cx="758952" cy="365125"/>
          </a:xfrm>
        </p:spPr>
        <p:txBody>
          <a:bodyPr anchor="ctr">
            <a:normAutofit/>
          </a:bodyPr>
          <a:lstStyle/>
          <a:p>
            <a:pPr>
              <a:spcAft>
                <a:spcPts val="600"/>
              </a:spcAft>
            </a:pPr>
            <a:fld id="{C92894D7-1DF0-2544-A605-B97A2B84F4F8}" type="slidenum">
              <a:rPr lang="en-SE">
                <a:solidFill>
                  <a:srgbClr val="FFFFFF">
                    <a:alpha val="80000"/>
                  </a:srgbClr>
                </a:solidFill>
              </a:rPr>
              <a:pPr>
                <a:spcAft>
                  <a:spcPts val="600"/>
                </a:spcAft>
              </a:pPr>
              <a:t>36</a:t>
            </a:fld>
            <a:endParaRPr lang="en-SE">
              <a:solidFill>
                <a:srgbClr val="FFFFFF">
                  <a:alpha val="80000"/>
                </a:srgbClr>
              </a:solidFill>
            </a:endParaRPr>
          </a:p>
        </p:txBody>
      </p:sp>
      <p:sp>
        <p:nvSpPr>
          <p:cNvPr id="4" name="Date Placeholder 3">
            <a:extLst>
              <a:ext uri="{FF2B5EF4-FFF2-40B4-BE49-F238E27FC236}">
                <a16:creationId xmlns:a16="http://schemas.microsoft.com/office/drawing/2014/main" id="{3D9A7F9C-FB83-A945-90A7-229DB302AEF7}"/>
              </a:ext>
            </a:extLst>
          </p:cNvPr>
          <p:cNvSpPr>
            <a:spLocks noGrp="1"/>
          </p:cNvSpPr>
          <p:nvPr>
            <p:ph type="dt" sz="half" idx="10"/>
          </p:nvPr>
        </p:nvSpPr>
        <p:spPr>
          <a:xfrm>
            <a:off x="9810125" y="6356350"/>
            <a:ext cx="1540626" cy="365125"/>
          </a:xfrm>
        </p:spPr>
        <p:txBody>
          <a:bodyPr>
            <a:normAutofit/>
          </a:bodyPr>
          <a:lstStyle/>
          <a:p>
            <a:pPr algn="r">
              <a:spcAft>
                <a:spcPts val="600"/>
              </a:spcAft>
            </a:pPr>
            <a:r>
              <a:rPr lang="en-US">
                <a:solidFill>
                  <a:schemeClr val="tx1">
                    <a:alpha val="80000"/>
                  </a:schemeClr>
                </a:solidFill>
              </a:rPr>
              <a:t>Vincenzo Gulisano</a:t>
            </a:r>
            <a:endParaRPr lang="en-SE">
              <a:solidFill>
                <a:schemeClr val="tx1">
                  <a:alpha val="80000"/>
                </a:schemeClr>
              </a:solidFill>
            </a:endParaRPr>
          </a:p>
        </p:txBody>
      </p:sp>
      <p:pic>
        <p:nvPicPr>
          <p:cNvPr id="10" name="Picture 2">
            <a:extLst>
              <a:ext uri="{FF2B5EF4-FFF2-40B4-BE49-F238E27FC236}">
                <a16:creationId xmlns:a16="http://schemas.microsoft.com/office/drawing/2014/main" id="{9B35DAAA-7517-B145-9554-44796170DB5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910"/>
          <a:stretch/>
        </p:blipFill>
        <p:spPr bwMode="auto">
          <a:xfrm>
            <a:off x="8154760" y="365125"/>
            <a:ext cx="2696419" cy="44387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5438453"/>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65681-6B1B-E347-9789-2A5D37FBFCE8}"/>
              </a:ext>
            </a:extLst>
          </p:cNvPr>
          <p:cNvSpPr>
            <a:spLocks noGrp="1"/>
          </p:cNvSpPr>
          <p:nvPr>
            <p:ph type="title"/>
          </p:nvPr>
        </p:nvSpPr>
        <p:spPr/>
        <p:txBody>
          <a:bodyPr>
            <a:normAutofit/>
          </a:bodyPr>
          <a:lstStyle/>
          <a:p>
            <a:r>
              <a:rPr lang="en-US" sz="3600" dirty="0"/>
              <a:t>Alternative defense strategy (not 100% secure either)</a:t>
            </a:r>
          </a:p>
        </p:txBody>
      </p:sp>
      <p:sp>
        <p:nvSpPr>
          <p:cNvPr id="3" name="Content Placeholder 2">
            <a:extLst>
              <a:ext uri="{FF2B5EF4-FFF2-40B4-BE49-F238E27FC236}">
                <a16:creationId xmlns:a16="http://schemas.microsoft.com/office/drawing/2014/main" id="{6A5E2164-42C7-0B4D-8955-9E1F895E31BE}"/>
              </a:ext>
            </a:extLst>
          </p:cNvPr>
          <p:cNvSpPr>
            <a:spLocks noGrp="1"/>
          </p:cNvSpPr>
          <p:nvPr>
            <p:ph idx="1"/>
          </p:nvPr>
        </p:nvSpPr>
        <p:spPr/>
        <p:txBody>
          <a:bodyPr/>
          <a:lstStyle/>
          <a:p>
            <a:r>
              <a:rPr lang="en-US" dirty="0"/>
              <a:t>No-execute/NX bit (hardware)</a:t>
            </a:r>
          </a:p>
          <a:p>
            <a:r>
              <a:rPr lang="en-US" dirty="0"/>
              <a:t>hardware bit that ensures data segments are readable and modifiable, but not executable</a:t>
            </a:r>
          </a:p>
          <a:p>
            <a:r>
              <a:rPr lang="en-US" dirty="0"/>
              <a:t>Only text section can be executed</a:t>
            </a:r>
          </a:p>
          <a:p>
            <a:endParaRPr lang="en-US" dirty="0"/>
          </a:p>
          <a:p>
            <a:r>
              <a:rPr lang="en-US" dirty="0"/>
              <a:t>Code injection attacks do not </a:t>
            </a:r>
            <a:r>
              <a:rPr lang="en-US" i="1" dirty="0"/>
              <a:t>work</a:t>
            </a:r>
          </a:p>
          <a:p>
            <a:pPr marL="0" indent="0">
              <a:buNone/>
            </a:pPr>
            <a:endParaRPr lang="en-US" dirty="0"/>
          </a:p>
        </p:txBody>
      </p:sp>
      <p:sp>
        <p:nvSpPr>
          <p:cNvPr id="4" name="Date Placeholder 3">
            <a:extLst>
              <a:ext uri="{FF2B5EF4-FFF2-40B4-BE49-F238E27FC236}">
                <a16:creationId xmlns:a16="http://schemas.microsoft.com/office/drawing/2014/main" id="{062062EB-9E53-9E41-8209-9DA426E18C3C}"/>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064668F-6EA9-934B-97C3-42A49BD458C6}"/>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F2D0BCF3-A575-0241-8D56-226397D1BB4E}"/>
              </a:ext>
            </a:extLst>
          </p:cNvPr>
          <p:cNvSpPr>
            <a:spLocks noGrp="1"/>
          </p:cNvSpPr>
          <p:nvPr>
            <p:ph type="sldNum" sz="quarter" idx="12"/>
          </p:nvPr>
        </p:nvSpPr>
        <p:spPr/>
        <p:txBody>
          <a:bodyPr/>
          <a:lstStyle/>
          <a:p>
            <a:fld id="{C92894D7-1DF0-2544-A605-B97A2B84F4F8}" type="slidenum">
              <a:rPr lang="en-SE" smtClean="0"/>
              <a:t>37</a:t>
            </a:fld>
            <a:endParaRPr lang="en-SE"/>
          </a:p>
        </p:txBody>
      </p:sp>
    </p:spTree>
    <p:extLst>
      <p:ext uri="{BB962C8B-B14F-4D97-AF65-F5344CB8AC3E}">
        <p14:creationId xmlns:p14="http://schemas.microsoft.com/office/powerpoint/2010/main" val="17693656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latin typeface="Garamond" panose="02020404030301010803"/>
            </a:endParaRPr>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56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dirty="0">
              <a:solidFill>
                <a:prstClr val="white"/>
              </a:solidFill>
              <a:latin typeface="Garamond" panose="02020404030301010803"/>
            </a:endParaRPr>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5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latin typeface="Garamond" panose="02020404030301010803"/>
            </a:endParaRPr>
          </a:p>
        </p:txBody>
      </p:sp>
      <p:sp>
        <p:nvSpPr>
          <p:cNvPr id="2" name="Title 1">
            <a:extLst>
              <a:ext uri="{FF2B5EF4-FFF2-40B4-BE49-F238E27FC236}">
                <a16:creationId xmlns:a16="http://schemas.microsoft.com/office/drawing/2014/main" id="{9DE59AC3-12A8-FDCB-9131-00A43318B574}"/>
              </a:ext>
            </a:extLst>
          </p:cNvPr>
          <p:cNvSpPr>
            <a:spLocks noGrp="1"/>
          </p:cNvSpPr>
          <p:nvPr>
            <p:ph type="title"/>
          </p:nvPr>
        </p:nvSpPr>
        <p:spPr>
          <a:xfrm>
            <a:off x="2487930" y="1008994"/>
            <a:ext cx="6923558" cy="3542045"/>
          </a:xfrm>
        </p:spPr>
        <p:txBody>
          <a:bodyPr vert="horz" lIns="91440" tIns="45720" rIns="91440" bIns="45720" rtlCol="0" anchor="b">
            <a:normAutofit/>
          </a:bodyPr>
          <a:lstStyle/>
          <a:p>
            <a:pPr defTabSz="914400"/>
            <a:r>
              <a:rPr lang="en-US" sz="10000"/>
              <a:t>Questions</a:t>
            </a:r>
          </a:p>
        </p:txBody>
      </p:sp>
      <p:sp>
        <p:nvSpPr>
          <p:cNvPr id="3" name="Date Placeholder 2">
            <a:extLst>
              <a:ext uri="{FF2B5EF4-FFF2-40B4-BE49-F238E27FC236}">
                <a16:creationId xmlns:a16="http://schemas.microsoft.com/office/drawing/2014/main" id="{CBEB3DD1-3C6D-EC88-D98D-B9996992F81A}"/>
              </a:ext>
            </a:extLst>
          </p:cNvPr>
          <p:cNvSpPr>
            <a:spLocks noGrp="1"/>
          </p:cNvSpPr>
          <p:nvPr>
            <p:ph type="dt" sz="half" idx="10"/>
          </p:nvPr>
        </p:nvSpPr>
        <p:spPr/>
        <p:txBody>
          <a:bodyPr/>
          <a:lstStyle/>
          <a:p>
            <a:pPr eaLnBrk="0" fontAlgn="base" hangingPunct="0">
              <a:spcBef>
                <a:spcPct val="0"/>
              </a:spcBef>
              <a:spcAft>
                <a:spcPct val="0"/>
              </a:spcAft>
            </a:pPr>
            <a:r>
              <a:rPr lang="en-US">
                <a:solidFill>
                  <a:prstClr val="black">
                    <a:tint val="75000"/>
                  </a:prstClr>
                </a:solidFill>
                <a:latin typeface="Verdana" panose="020B0604030504040204" pitchFamily="34" charset="0"/>
                <a:ea typeface="MS PGothic" panose="020B0600070205080204" pitchFamily="34" charset="-128"/>
              </a:rPr>
              <a:t>Vincenzo Gulisano</a:t>
            </a:r>
          </a:p>
        </p:txBody>
      </p:sp>
      <p:sp>
        <p:nvSpPr>
          <p:cNvPr id="4" name="Footer Placeholder 3">
            <a:extLst>
              <a:ext uri="{FF2B5EF4-FFF2-40B4-BE49-F238E27FC236}">
                <a16:creationId xmlns:a16="http://schemas.microsoft.com/office/drawing/2014/main" id="{564DBAEA-6B43-ECC3-AD74-5067BCEEECDF}"/>
              </a:ext>
            </a:extLst>
          </p:cNvPr>
          <p:cNvSpPr>
            <a:spLocks noGrp="1"/>
          </p:cNvSpPr>
          <p:nvPr>
            <p:ph type="ftr" sz="quarter" idx="11"/>
          </p:nvPr>
        </p:nvSpPr>
        <p:spPr/>
        <p:txBody>
          <a:bodyPr/>
          <a:lstStyle/>
          <a:p>
            <a:pPr eaLnBrk="0" fontAlgn="base" hangingPunct="0">
              <a:spcBef>
                <a:spcPct val="0"/>
              </a:spcBef>
              <a:spcAft>
                <a:spcPct val="0"/>
              </a:spcAft>
            </a:pPr>
            <a:r>
              <a:rPr lang="en-US">
                <a:solidFill>
                  <a:prstClr val="black">
                    <a:tint val="75000"/>
                  </a:prstClr>
                </a:solidFill>
                <a:latin typeface="Verdana" panose="020B0604030504040204" pitchFamily="34" charset="0"/>
                <a:ea typeface="MS PGothic" panose="020B0600070205080204" pitchFamily="34" charset="-128"/>
              </a:rPr>
              <a:t>Operating Systems - Security</a:t>
            </a:r>
            <a:endParaRPr lang="en-US" dirty="0">
              <a:solidFill>
                <a:prstClr val="black">
                  <a:tint val="75000"/>
                </a:prstClr>
              </a:solidFill>
              <a:latin typeface="Verdana" panose="020B0604030504040204" pitchFamily="34" charset="0"/>
              <a:ea typeface="MS PGothic" panose="020B0600070205080204" pitchFamily="34" charset="-128"/>
            </a:endParaRPr>
          </a:p>
        </p:txBody>
      </p:sp>
      <p:sp>
        <p:nvSpPr>
          <p:cNvPr id="5" name="Slide Number Placeholder 4">
            <a:extLst>
              <a:ext uri="{FF2B5EF4-FFF2-40B4-BE49-F238E27FC236}">
                <a16:creationId xmlns:a16="http://schemas.microsoft.com/office/drawing/2014/main" id="{6A6197B8-E5A9-12D1-240C-0B03B2DD07E2}"/>
              </a:ext>
            </a:extLst>
          </p:cNvPr>
          <p:cNvSpPr>
            <a:spLocks noGrp="1"/>
          </p:cNvSpPr>
          <p:nvPr>
            <p:ph type="sldNum" sz="quarter" idx="12"/>
          </p:nvPr>
        </p:nvSpPr>
        <p:spPr/>
        <p:txBody>
          <a:bodyPr/>
          <a:lstStyle/>
          <a:p>
            <a:pPr eaLnBrk="0" fontAlgn="base" hangingPunct="0">
              <a:spcBef>
                <a:spcPct val="0"/>
              </a:spcBef>
              <a:spcAft>
                <a:spcPct val="0"/>
              </a:spcAft>
            </a:pPr>
            <a:fld id="{95AAEEEC-DCEC-4178-AB14-E7254A15A296}" type="slidenum">
              <a:rPr lang="en-US">
                <a:solidFill>
                  <a:prstClr val="black">
                    <a:tint val="75000"/>
                  </a:prstClr>
                </a:solidFill>
                <a:latin typeface="Verdana" panose="020B0604030504040204" pitchFamily="34" charset="0"/>
                <a:ea typeface="MS PGothic" panose="020B0600070205080204" pitchFamily="34" charset="-128"/>
              </a:rPr>
              <a:pPr eaLnBrk="0" fontAlgn="base" hangingPunct="0">
                <a:spcBef>
                  <a:spcPct val="0"/>
                </a:spcBef>
                <a:spcAft>
                  <a:spcPct val="0"/>
                </a:spcAft>
              </a:pPr>
              <a:t>38</a:t>
            </a:fld>
            <a:endParaRPr lang="en-US">
              <a:solidFill>
                <a:prstClr val="black">
                  <a:tint val="75000"/>
                </a:prstClr>
              </a:solidFill>
              <a:latin typeface="Verdan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831187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96503-7019-F479-4824-E62375FCB734}"/>
              </a:ext>
            </a:extLst>
          </p:cNvPr>
          <p:cNvSpPr>
            <a:spLocks noGrp="1"/>
          </p:cNvSpPr>
          <p:nvPr>
            <p:ph type="title"/>
          </p:nvPr>
        </p:nvSpPr>
        <p:spPr/>
        <p:txBody>
          <a:bodyPr>
            <a:normAutofit/>
          </a:bodyPr>
          <a:lstStyle/>
          <a:p>
            <a:r>
              <a:rPr lang="en-US" sz="3000" dirty="0"/>
              <a:t>Consider the following protection matrix. Which statement is correct?</a:t>
            </a:r>
          </a:p>
        </p:txBody>
      </p:sp>
      <p:sp>
        <p:nvSpPr>
          <p:cNvPr id="3" name="Content Placeholder 2">
            <a:extLst>
              <a:ext uri="{FF2B5EF4-FFF2-40B4-BE49-F238E27FC236}">
                <a16:creationId xmlns:a16="http://schemas.microsoft.com/office/drawing/2014/main" id="{B5FA584E-6394-641D-7FAB-5F248BA9C81B}"/>
              </a:ext>
            </a:extLst>
          </p:cNvPr>
          <p:cNvSpPr>
            <a:spLocks noGrp="1"/>
          </p:cNvSpPr>
          <p:nvPr>
            <p:ph idx="1"/>
          </p:nvPr>
        </p:nvSpPr>
        <p:spPr>
          <a:xfrm>
            <a:off x="6611814" y="1825625"/>
            <a:ext cx="4741985" cy="4351338"/>
          </a:xfrm>
        </p:spPr>
        <p:txBody>
          <a:bodyPr/>
          <a:lstStyle/>
          <a:p>
            <a:pPr marL="457200" indent="-457200">
              <a:buFont typeface="+mj-lt"/>
              <a:buAutoNum type="arabicPeriod"/>
            </a:pPr>
            <a:r>
              <a:rPr lang="en-US" dirty="0"/>
              <a:t>Each column corresponds to an access control list, and each row corresponds to a capability list.</a:t>
            </a:r>
          </a:p>
          <a:p>
            <a:pPr marL="457200" indent="-457200">
              <a:buFont typeface="+mj-lt"/>
              <a:buAutoNum type="arabicPeriod"/>
            </a:pPr>
            <a:r>
              <a:rPr lang="en-US" dirty="0"/>
              <a:t>Each row corresponds to an access control list, and each column corresponds to a capability list.</a:t>
            </a:r>
          </a:p>
          <a:p>
            <a:pPr marL="457200" indent="-457200">
              <a:buFont typeface="+mj-lt"/>
              <a:buAutoNum type="arabicPeriod"/>
            </a:pPr>
            <a:r>
              <a:rPr lang="en-US" dirty="0"/>
              <a:t>Neither representation corresponds to rows or columns of the matrix.</a:t>
            </a:r>
          </a:p>
        </p:txBody>
      </p:sp>
      <p:sp>
        <p:nvSpPr>
          <p:cNvPr id="4" name="Date Placeholder 3">
            <a:extLst>
              <a:ext uri="{FF2B5EF4-FFF2-40B4-BE49-F238E27FC236}">
                <a16:creationId xmlns:a16="http://schemas.microsoft.com/office/drawing/2014/main" id="{9D9D1879-0C66-D052-DDF3-F15479AE7BC8}"/>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A0E0B236-C1E7-9B94-7A04-8EA1ED7A5CFD}"/>
              </a:ext>
            </a:extLst>
          </p:cNvPr>
          <p:cNvSpPr>
            <a:spLocks noGrp="1"/>
          </p:cNvSpPr>
          <p:nvPr>
            <p:ph type="ftr" sz="quarter" idx="11"/>
          </p:nvPr>
        </p:nvSpPr>
        <p:spPr/>
        <p:txBody>
          <a:bodyPr/>
          <a:lstStyle/>
          <a:p>
            <a:r>
              <a:rPr lang="en-US"/>
              <a:t>Operating Systems - Security</a:t>
            </a:r>
          </a:p>
        </p:txBody>
      </p:sp>
      <p:sp>
        <p:nvSpPr>
          <p:cNvPr id="6" name="Slide Number Placeholder 5">
            <a:extLst>
              <a:ext uri="{FF2B5EF4-FFF2-40B4-BE49-F238E27FC236}">
                <a16:creationId xmlns:a16="http://schemas.microsoft.com/office/drawing/2014/main" id="{862CF35A-2ACB-1AAB-DB94-A43034C8AA8A}"/>
              </a:ext>
            </a:extLst>
          </p:cNvPr>
          <p:cNvSpPr>
            <a:spLocks noGrp="1"/>
          </p:cNvSpPr>
          <p:nvPr>
            <p:ph type="sldNum" sz="quarter" idx="12"/>
          </p:nvPr>
        </p:nvSpPr>
        <p:spPr/>
        <p:txBody>
          <a:bodyPr/>
          <a:lstStyle/>
          <a:p>
            <a:fld id="{95AAEEEC-DCEC-4178-AB14-E7254A15A296}" type="slidenum">
              <a:rPr lang="en-US" smtClean="0"/>
              <a:t>39</a:t>
            </a:fld>
            <a:endParaRPr lang="en-US"/>
          </a:p>
        </p:txBody>
      </p:sp>
      <p:graphicFrame>
        <p:nvGraphicFramePr>
          <p:cNvPr id="8" name="Table 7">
            <a:extLst>
              <a:ext uri="{FF2B5EF4-FFF2-40B4-BE49-F238E27FC236}">
                <a16:creationId xmlns:a16="http://schemas.microsoft.com/office/drawing/2014/main" id="{2F1A320D-23A2-6396-E2F8-6CF59569AFA3}"/>
              </a:ext>
            </a:extLst>
          </p:cNvPr>
          <p:cNvGraphicFramePr>
            <a:graphicFrameLocks noGrp="1"/>
          </p:cNvGraphicFramePr>
          <p:nvPr>
            <p:extLst>
              <p:ext uri="{D42A27DB-BD31-4B8C-83A1-F6EECF244321}">
                <p14:modId xmlns:p14="http://schemas.microsoft.com/office/powerpoint/2010/main" val="2395079406"/>
              </p:ext>
            </p:extLst>
          </p:nvPr>
        </p:nvGraphicFramePr>
        <p:xfrm>
          <a:off x="482600" y="1690689"/>
          <a:ext cx="5613400" cy="3293536"/>
        </p:xfrm>
        <a:graphic>
          <a:graphicData uri="http://schemas.openxmlformats.org/drawingml/2006/table">
            <a:tbl>
              <a:tblPr firstRow="1" bandRow="1">
                <a:tableStyleId>{5C22544A-7EE6-4342-B048-85BDC9FD1C3A}</a:tableStyleId>
              </a:tblPr>
              <a:tblGrid>
                <a:gridCol w="1403350">
                  <a:extLst>
                    <a:ext uri="{9D8B030D-6E8A-4147-A177-3AD203B41FA5}">
                      <a16:colId xmlns:a16="http://schemas.microsoft.com/office/drawing/2014/main" val="4221632275"/>
                    </a:ext>
                  </a:extLst>
                </a:gridCol>
                <a:gridCol w="1403350">
                  <a:extLst>
                    <a:ext uri="{9D8B030D-6E8A-4147-A177-3AD203B41FA5}">
                      <a16:colId xmlns:a16="http://schemas.microsoft.com/office/drawing/2014/main" val="1045005551"/>
                    </a:ext>
                  </a:extLst>
                </a:gridCol>
                <a:gridCol w="1403350">
                  <a:extLst>
                    <a:ext uri="{9D8B030D-6E8A-4147-A177-3AD203B41FA5}">
                      <a16:colId xmlns:a16="http://schemas.microsoft.com/office/drawing/2014/main" val="3991717552"/>
                    </a:ext>
                  </a:extLst>
                </a:gridCol>
                <a:gridCol w="1403350">
                  <a:extLst>
                    <a:ext uri="{9D8B030D-6E8A-4147-A177-3AD203B41FA5}">
                      <a16:colId xmlns:a16="http://schemas.microsoft.com/office/drawing/2014/main" val="1123521169"/>
                    </a:ext>
                  </a:extLst>
                </a:gridCol>
              </a:tblGrid>
              <a:tr h="823384">
                <a:tc>
                  <a:txBody>
                    <a:bodyPr/>
                    <a:lstStyle/>
                    <a:p>
                      <a:pPr algn="ctr"/>
                      <a:r>
                        <a:rPr lang="en-US" sz="2400" dirty="0"/>
                        <a:t>Domain</a:t>
                      </a:r>
                    </a:p>
                  </a:txBody>
                  <a:tcPr/>
                </a:tc>
                <a:tc>
                  <a:txBody>
                    <a:bodyPr/>
                    <a:lstStyle/>
                    <a:p>
                      <a:pPr algn="ctr"/>
                      <a:r>
                        <a:rPr lang="en-US" sz="2400" dirty="0"/>
                        <a:t>File 1</a:t>
                      </a:r>
                    </a:p>
                  </a:txBody>
                  <a:tcPr/>
                </a:tc>
                <a:tc>
                  <a:txBody>
                    <a:bodyPr/>
                    <a:lstStyle/>
                    <a:p>
                      <a:pPr algn="ctr"/>
                      <a:r>
                        <a:rPr lang="en-US" sz="2400" dirty="0"/>
                        <a:t>File 2</a:t>
                      </a:r>
                    </a:p>
                  </a:txBody>
                  <a:tcPr/>
                </a:tc>
                <a:tc>
                  <a:txBody>
                    <a:bodyPr/>
                    <a:lstStyle/>
                    <a:p>
                      <a:pPr algn="ctr"/>
                      <a:r>
                        <a:rPr lang="en-US" sz="2400" dirty="0"/>
                        <a:t>File 3</a:t>
                      </a:r>
                    </a:p>
                  </a:txBody>
                  <a:tcPr/>
                </a:tc>
                <a:extLst>
                  <a:ext uri="{0D108BD9-81ED-4DB2-BD59-A6C34878D82A}">
                    <a16:rowId xmlns:a16="http://schemas.microsoft.com/office/drawing/2014/main" val="1103160864"/>
                  </a:ext>
                </a:extLst>
              </a:tr>
              <a:tr h="823384">
                <a:tc>
                  <a:txBody>
                    <a:bodyPr/>
                    <a:lstStyle/>
                    <a:p>
                      <a:pPr algn="ctr"/>
                      <a:r>
                        <a:rPr lang="en-US" sz="2400" dirty="0"/>
                        <a:t>D1</a:t>
                      </a:r>
                    </a:p>
                  </a:txBody>
                  <a:tcPr/>
                </a:tc>
                <a:tc>
                  <a:txBody>
                    <a:bodyPr/>
                    <a:lstStyle/>
                    <a:p>
                      <a:pPr algn="ctr"/>
                      <a:r>
                        <a:rPr lang="en-US" sz="2400" dirty="0"/>
                        <a:t>R</a:t>
                      </a:r>
                    </a:p>
                  </a:txBody>
                  <a:tcPr/>
                </a:tc>
                <a:tc>
                  <a:txBody>
                    <a:bodyPr/>
                    <a:lstStyle/>
                    <a:p>
                      <a:pPr algn="ctr"/>
                      <a:r>
                        <a:rPr lang="en-US" sz="2400" dirty="0"/>
                        <a:t>RW</a:t>
                      </a:r>
                    </a:p>
                  </a:txBody>
                  <a:tcPr/>
                </a:tc>
                <a:tc>
                  <a:txBody>
                    <a:bodyPr/>
                    <a:lstStyle/>
                    <a:p>
                      <a:pPr algn="ctr"/>
                      <a:r>
                        <a:rPr lang="en-US" sz="2400" dirty="0"/>
                        <a:t>-</a:t>
                      </a:r>
                    </a:p>
                  </a:txBody>
                  <a:tcPr/>
                </a:tc>
                <a:extLst>
                  <a:ext uri="{0D108BD9-81ED-4DB2-BD59-A6C34878D82A}">
                    <a16:rowId xmlns:a16="http://schemas.microsoft.com/office/drawing/2014/main" val="167286066"/>
                  </a:ext>
                </a:extLst>
              </a:tr>
              <a:tr h="823384">
                <a:tc>
                  <a:txBody>
                    <a:bodyPr/>
                    <a:lstStyle/>
                    <a:p>
                      <a:pPr algn="ctr"/>
                      <a:r>
                        <a:rPr lang="en-US" sz="2400" dirty="0"/>
                        <a:t>D2</a:t>
                      </a:r>
                    </a:p>
                  </a:txBody>
                  <a:tcPr/>
                </a:tc>
                <a:tc>
                  <a:txBody>
                    <a:bodyPr/>
                    <a:lstStyle/>
                    <a:p>
                      <a:pPr algn="ctr"/>
                      <a:r>
                        <a:rPr lang="en-US" sz="2400" dirty="0"/>
                        <a:t>-</a:t>
                      </a:r>
                    </a:p>
                  </a:txBody>
                  <a:tcPr/>
                </a:tc>
                <a:tc>
                  <a:txBody>
                    <a:bodyPr/>
                    <a:lstStyle/>
                    <a:p>
                      <a:pPr algn="ctr"/>
                      <a:r>
                        <a:rPr lang="en-US" sz="2400" dirty="0"/>
                        <a:t>R</a:t>
                      </a:r>
                    </a:p>
                  </a:txBody>
                  <a:tcPr/>
                </a:tc>
                <a:tc>
                  <a:txBody>
                    <a:bodyPr/>
                    <a:lstStyle/>
                    <a:p>
                      <a:pPr algn="ctr"/>
                      <a:r>
                        <a:rPr lang="en-US" sz="2400" dirty="0"/>
                        <a:t>W</a:t>
                      </a:r>
                    </a:p>
                  </a:txBody>
                  <a:tcPr/>
                </a:tc>
                <a:extLst>
                  <a:ext uri="{0D108BD9-81ED-4DB2-BD59-A6C34878D82A}">
                    <a16:rowId xmlns:a16="http://schemas.microsoft.com/office/drawing/2014/main" val="113758293"/>
                  </a:ext>
                </a:extLst>
              </a:tr>
              <a:tr h="823384">
                <a:tc>
                  <a:txBody>
                    <a:bodyPr/>
                    <a:lstStyle/>
                    <a:p>
                      <a:pPr algn="ctr"/>
                      <a:r>
                        <a:rPr lang="en-US" sz="2400" dirty="0"/>
                        <a:t>D3</a:t>
                      </a:r>
                    </a:p>
                  </a:txBody>
                  <a:tcPr/>
                </a:tc>
                <a:tc>
                  <a:txBody>
                    <a:bodyPr/>
                    <a:lstStyle/>
                    <a:p>
                      <a:pPr algn="ctr"/>
                      <a:r>
                        <a:rPr lang="en-US" sz="2400" dirty="0"/>
                        <a:t>RW</a:t>
                      </a:r>
                    </a:p>
                  </a:txBody>
                  <a:tcPr/>
                </a:tc>
                <a:tc>
                  <a:txBody>
                    <a:bodyPr/>
                    <a:lstStyle/>
                    <a:p>
                      <a:pPr algn="ctr"/>
                      <a:r>
                        <a:rPr lang="en-US" sz="2400" dirty="0"/>
                        <a:t>-</a:t>
                      </a:r>
                    </a:p>
                  </a:txBody>
                  <a:tcPr/>
                </a:tc>
                <a:tc>
                  <a:txBody>
                    <a:bodyPr/>
                    <a:lstStyle/>
                    <a:p>
                      <a:pPr algn="ctr"/>
                      <a:r>
                        <a:rPr lang="en-US" sz="2400" dirty="0"/>
                        <a:t>-</a:t>
                      </a:r>
                    </a:p>
                  </a:txBody>
                  <a:tcPr/>
                </a:tc>
                <a:extLst>
                  <a:ext uri="{0D108BD9-81ED-4DB2-BD59-A6C34878D82A}">
                    <a16:rowId xmlns:a16="http://schemas.microsoft.com/office/drawing/2014/main" val="4035629921"/>
                  </a:ext>
                </a:extLst>
              </a:tr>
            </a:tbl>
          </a:graphicData>
        </a:graphic>
      </p:graphicFrame>
    </p:spTree>
    <p:extLst>
      <p:ext uri="{BB962C8B-B14F-4D97-AF65-F5344CB8AC3E}">
        <p14:creationId xmlns:p14="http://schemas.microsoft.com/office/powerpoint/2010/main" val="39276179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666B-6941-4B6C-5EB1-A625DC768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72B0A-9285-A4D6-ED20-A09607F445F2}"/>
              </a:ext>
            </a:extLst>
          </p:cNvPr>
          <p:cNvSpPr>
            <a:spLocks noGrp="1"/>
          </p:cNvSpPr>
          <p:nvPr>
            <p:ph type="title"/>
          </p:nvPr>
        </p:nvSpPr>
        <p:spPr/>
        <p:txBody>
          <a:bodyPr>
            <a:normAutofit/>
          </a:bodyPr>
          <a:lstStyle/>
          <a:p>
            <a:r>
              <a:rPr lang="en-US" sz="3000" dirty="0"/>
              <a:t>Consider the following protection matrix</a:t>
            </a:r>
          </a:p>
        </p:txBody>
      </p:sp>
      <p:sp>
        <p:nvSpPr>
          <p:cNvPr id="3" name="Content Placeholder 2">
            <a:extLst>
              <a:ext uri="{FF2B5EF4-FFF2-40B4-BE49-F238E27FC236}">
                <a16:creationId xmlns:a16="http://schemas.microsoft.com/office/drawing/2014/main" id="{7FEA2AA7-066F-CA9A-AE5C-1F83725F39D0}"/>
              </a:ext>
            </a:extLst>
          </p:cNvPr>
          <p:cNvSpPr>
            <a:spLocks noGrp="1"/>
          </p:cNvSpPr>
          <p:nvPr>
            <p:ph idx="1"/>
          </p:nvPr>
        </p:nvSpPr>
        <p:spPr>
          <a:xfrm>
            <a:off x="6976585" y="1493116"/>
            <a:ext cx="5049159" cy="4351338"/>
          </a:xfrm>
        </p:spPr>
        <p:txBody>
          <a:bodyPr>
            <a:normAutofit/>
          </a:bodyPr>
          <a:lstStyle/>
          <a:p>
            <a:pPr marL="0" indent="0">
              <a:buNone/>
            </a:pPr>
            <a:r>
              <a:rPr lang="en-US" sz="2800" dirty="0"/>
              <a:t>The administrator wants to determine </a:t>
            </a:r>
            <a:r>
              <a:rPr lang="en-US" sz="2800" b="1" dirty="0"/>
              <a:t>everything that Domain 2 can access</a:t>
            </a:r>
            <a:r>
              <a:rPr lang="en-US" sz="2800" dirty="0"/>
              <a:t>. Which representation requires inspecting a single list?</a:t>
            </a:r>
          </a:p>
          <a:p>
            <a:pPr marL="457200" indent="-457200">
              <a:buFont typeface="+mj-lt"/>
              <a:buAutoNum type="arabicPeriod"/>
            </a:pPr>
            <a:r>
              <a:rPr lang="en-US" sz="2800" dirty="0"/>
              <a:t>Access control lists</a:t>
            </a:r>
          </a:p>
          <a:p>
            <a:pPr marL="457200" indent="-457200">
              <a:buFont typeface="+mj-lt"/>
              <a:buAutoNum type="arabicPeriod"/>
            </a:pPr>
            <a:r>
              <a:rPr lang="en-US" sz="2800" dirty="0"/>
              <a:t>Capability lists</a:t>
            </a:r>
          </a:p>
          <a:p>
            <a:pPr marL="457200" indent="-457200">
              <a:buFont typeface="+mj-lt"/>
              <a:buAutoNum type="arabicPeriod"/>
            </a:pPr>
            <a:r>
              <a:rPr lang="en-US" sz="2800" dirty="0"/>
              <a:t>Both</a:t>
            </a:r>
          </a:p>
        </p:txBody>
      </p:sp>
      <p:sp>
        <p:nvSpPr>
          <p:cNvPr id="4" name="Date Placeholder 3">
            <a:extLst>
              <a:ext uri="{FF2B5EF4-FFF2-40B4-BE49-F238E27FC236}">
                <a16:creationId xmlns:a16="http://schemas.microsoft.com/office/drawing/2014/main" id="{00188EAD-ECE4-E973-22CF-F5716B239821}"/>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E9224E00-34FE-80FA-645E-6009B8217C7A}"/>
              </a:ext>
            </a:extLst>
          </p:cNvPr>
          <p:cNvSpPr>
            <a:spLocks noGrp="1"/>
          </p:cNvSpPr>
          <p:nvPr>
            <p:ph type="ftr" sz="quarter" idx="11"/>
          </p:nvPr>
        </p:nvSpPr>
        <p:spPr/>
        <p:txBody>
          <a:bodyPr/>
          <a:lstStyle/>
          <a:p>
            <a:r>
              <a:rPr lang="en-US"/>
              <a:t>Operating Systems - Security</a:t>
            </a:r>
          </a:p>
        </p:txBody>
      </p:sp>
      <p:sp>
        <p:nvSpPr>
          <p:cNvPr id="6" name="Slide Number Placeholder 5">
            <a:extLst>
              <a:ext uri="{FF2B5EF4-FFF2-40B4-BE49-F238E27FC236}">
                <a16:creationId xmlns:a16="http://schemas.microsoft.com/office/drawing/2014/main" id="{E069DD7A-897A-2E05-EF86-452136334D26}"/>
              </a:ext>
            </a:extLst>
          </p:cNvPr>
          <p:cNvSpPr>
            <a:spLocks noGrp="1"/>
          </p:cNvSpPr>
          <p:nvPr>
            <p:ph type="sldNum" sz="quarter" idx="12"/>
          </p:nvPr>
        </p:nvSpPr>
        <p:spPr/>
        <p:txBody>
          <a:bodyPr/>
          <a:lstStyle/>
          <a:p>
            <a:fld id="{95AAEEEC-DCEC-4178-AB14-E7254A15A296}" type="slidenum">
              <a:rPr lang="en-US" smtClean="0"/>
              <a:t>40</a:t>
            </a:fld>
            <a:endParaRPr lang="en-US"/>
          </a:p>
        </p:txBody>
      </p:sp>
      <p:graphicFrame>
        <p:nvGraphicFramePr>
          <p:cNvPr id="8" name="Table 7">
            <a:extLst>
              <a:ext uri="{FF2B5EF4-FFF2-40B4-BE49-F238E27FC236}">
                <a16:creationId xmlns:a16="http://schemas.microsoft.com/office/drawing/2014/main" id="{A1503DDC-6CFB-325A-8F04-EB3978A116F2}"/>
              </a:ext>
            </a:extLst>
          </p:cNvPr>
          <p:cNvGraphicFramePr>
            <a:graphicFrameLocks noGrp="1"/>
          </p:cNvGraphicFramePr>
          <p:nvPr>
            <p:extLst>
              <p:ext uri="{D42A27DB-BD31-4B8C-83A1-F6EECF244321}">
                <p14:modId xmlns:p14="http://schemas.microsoft.com/office/powerpoint/2010/main" val="2442277152"/>
              </p:ext>
            </p:extLst>
          </p:nvPr>
        </p:nvGraphicFramePr>
        <p:xfrm>
          <a:off x="186213" y="1493116"/>
          <a:ext cx="6790373" cy="4116920"/>
        </p:xfrm>
        <a:graphic>
          <a:graphicData uri="http://schemas.openxmlformats.org/drawingml/2006/table">
            <a:tbl>
              <a:tblPr firstRow="1" bandRow="1">
                <a:tableStyleId>{5C22544A-7EE6-4342-B048-85BDC9FD1C3A}</a:tableStyleId>
              </a:tblPr>
              <a:tblGrid>
                <a:gridCol w="1124267">
                  <a:extLst>
                    <a:ext uri="{9D8B030D-6E8A-4147-A177-3AD203B41FA5}">
                      <a16:colId xmlns:a16="http://schemas.microsoft.com/office/drawing/2014/main" val="4221632275"/>
                    </a:ext>
                  </a:extLst>
                </a:gridCol>
                <a:gridCol w="822643">
                  <a:extLst>
                    <a:ext uri="{9D8B030D-6E8A-4147-A177-3AD203B41FA5}">
                      <a16:colId xmlns:a16="http://schemas.microsoft.com/office/drawing/2014/main" val="1045005551"/>
                    </a:ext>
                  </a:extLst>
                </a:gridCol>
                <a:gridCol w="841693">
                  <a:extLst>
                    <a:ext uri="{9D8B030D-6E8A-4147-A177-3AD203B41FA5}">
                      <a16:colId xmlns:a16="http://schemas.microsoft.com/office/drawing/2014/main" val="3991717552"/>
                    </a:ext>
                  </a:extLst>
                </a:gridCol>
                <a:gridCol w="841693">
                  <a:extLst>
                    <a:ext uri="{9D8B030D-6E8A-4147-A177-3AD203B41FA5}">
                      <a16:colId xmlns:a16="http://schemas.microsoft.com/office/drawing/2014/main" val="1123521169"/>
                    </a:ext>
                  </a:extLst>
                </a:gridCol>
                <a:gridCol w="841693">
                  <a:extLst>
                    <a:ext uri="{9D8B030D-6E8A-4147-A177-3AD203B41FA5}">
                      <a16:colId xmlns:a16="http://schemas.microsoft.com/office/drawing/2014/main" val="331488723"/>
                    </a:ext>
                  </a:extLst>
                </a:gridCol>
                <a:gridCol w="1149667">
                  <a:extLst>
                    <a:ext uri="{9D8B030D-6E8A-4147-A177-3AD203B41FA5}">
                      <a16:colId xmlns:a16="http://schemas.microsoft.com/office/drawing/2014/main" val="3843368389"/>
                    </a:ext>
                  </a:extLst>
                </a:gridCol>
                <a:gridCol w="1168717">
                  <a:extLst>
                    <a:ext uri="{9D8B030D-6E8A-4147-A177-3AD203B41FA5}">
                      <a16:colId xmlns:a16="http://schemas.microsoft.com/office/drawing/2014/main" val="940411543"/>
                    </a:ext>
                  </a:extLst>
                </a:gridCol>
              </a:tblGrid>
              <a:tr h="823384">
                <a:tc>
                  <a:txBody>
                    <a:bodyPr/>
                    <a:lstStyle/>
                    <a:p>
                      <a:pPr algn="ctr"/>
                      <a:r>
                        <a:rPr lang="en-US" sz="2000" dirty="0"/>
                        <a:t>Domain</a:t>
                      </a:r>
                    </a:p>
                  </a:txBody>
                  <a:tcPr/>
                </a:tc>
                <a:tc>
                  <a:txBody>
                    <a:bodyPr/>
                    <a:lstStyle/>
                    <a:p>
                      <a:pPr algn="ctr"/>
                      <a:r>
                        <a:rPr lang="en-US" sz="2000" dirty="0"/>
                        <a:t>File 1</a:t>
                      </a:r>
                    </a:p>
                  </a:txBody>
                  <a:tcPr/>
                </a:tc>
                <a:tc>
                  <a:txBody>
                    <a:bodyPr/>
                    <a:lstStyle/>
                    <a:p>
                      <a:pPr algn="ctr"/>
                      <a:r>
                        <a:rPr lang="en-US" sz="2000" dirty="0"/>
                        <a:t>File 2</a:t>
                      </a:r>
                    </a:p>
                  </a:txBody>
                  <a:tcPr/>
                </a:tc>
                <a:tc>
                  <a:txBody>
                    <a:bodyPr/>
                    <a:lstStyle/>
                    <a:p>
                      <a:pPr algn="ctr"/>
                      <a:r>
                        <a:rPr lang="en-US" sz="2000" dirty="0"/>
                        <a:t>File 3</a:t>
                      </a:r>
                    </a:p>
                  </a:txBody>
                  <a:tcPr/>
                </a:tc>
                <a:tc>
                  <a:txBody>
                    <a:bodyPr/>
                    <a:lstStyle/>
                    <a:p>
                      <a:pPr algn="ctr"/>
                      <a:r>
                        <a:rPr lang="en-US" sz="2000" dirty="0"/>
                        <a:t>File 4</a:t>
                      </a:r>
                    </a:p>
                  </a:txBody>
                  <a:tcPr/>
                </a:tc>
                <a:tc>
                  <a:txBody>
                    <a:bodyPr/>
                    <a:lstStyle/>
                    <a:p>
                      <a:pPr algn="ctr"/>
                      <a:r>
                        <a:rPr lang="en-US" sz="2000" dirty="0"/>
                        <a:t>Printer 1</a:t>
                      </a:r>
                    </a:p>
                  </a:txBody>
                  <a:tcPr/>
                </a:tc>
                <a:tc>
                  <a:txBody>
                    <a:bodyPr/>
                    <a:lstStyle/>
                    <a:p>
                      <a:pPr algn="ctr"/>
                      <a:r>
                        <a:rPr lang="en-US" sz="2000" dirty="0"/>
                        <a:t>Printer 2</a:t>
                      </a:r>
                    </a:p>
                  </a:txBody>
                  <a:tcPr/>
                </a:tc>
                <a:extLst>
                  <a:ext uri="{0D108BD9-81ED-4DB2-BD59-A6C34878D82A}">
                    <a16:rowId xmlns:a16="http://schemas.microsoft.com/office/drawing/2014/main" val="1103160864"/>
                  </a:ext>
                </a:extLst>
              </a:tr>
              <a:tr h="823384">
                <a:tc>
                  <a:txBody>
                    <a:bodyPr/>
                    <a:lstStyle/>
                    <a:p>
                      <a:pPr algn="ctr"/>
                      <a:r>
                        <a:rPr lang="en-US" sz="2000" dirty="0"/>
                        <a:t>D1</a:t>
                      </a:r>
                    </a:p>
                  </a:txBody>
                  <a:tcPr/>
                </a:tc>
                <a:tc>
                  <a:txBody>
                    <a:bodyPr/>
                    <a:lstStyle/>
                    <a:p>
                      <a:pPr algn="ctr"/>
                      <a:r>
                        <a:rPr lang="en-US" sz="2000" dirty="0"/>
                        <a:t>R</a:t>
                      </a:r>
                    </a:p>
                  </a:txBody>
                  <a:tcPr/>
                </a:tc>
                <a:tc>
                  <a:txBody>
                    <a:bodyPr/>
                    <a:lstStyle/>
                    <a:p>
                      <a:pPr algn="ctr"/>
                      <a:r>
                        <a:rPr lang="en-US" sz="2000" dirty="0"/>
                        <a:t>-</a:t>
                      </a:r>
                    </a:p>
                  </a:txBody>
                  <a:tcPr/>
                </a:tc>
                <a:tc>
                  <a:txBody>
                    <a:bodyPr/>
                    <a:lstStyle/>
                    <a:p>
                      <a:pPr algn="ctr"/>
                      <a:r>
                        <a:rPr lang="en-US" sz="2000" dirty="0"/>
                        <a:t>-</a:t>
                      </a:r>
                    </a:p>
                  </a:txBody>
                  <a:tcPr/>
                </a:tc>
                <a:tc>
                  <a:txBody>
                    <a:bodyPr/>
                    <a:lstStyle/>
                    <a:p>
                      <a:pPr algn="ctr"/>
                      <a:r>
                        <a:rPr lang="en-US" sz="2000" dirty="0"/>
                        <a:t>-</a:t>
                      </a:r>
                    </a:p>
                  </a:txBody>
                  <a:tcPr/>
                </a:tc>
                <a:tc>
                  <a:txBody>
                    <a:bodyPr/>
                    <a:lstStyle/>
                    <a:p>
                      <a:pPr algn="ctr"/>
                      <a:r>
                        <a:rPr lang="en-US" sz="2000" dirty="0"/>
                        <a:t>W</a:t>
                      </a:r>
                    </a:p>
                  </a:txBody>
                  <a:tcPr/>
                </a:tc>
                <a:tc>
                  <a:txBody>
                    <a:bodyPr/>
                    <a:lstStyle/>
                    <a:p>
                      <a:pPr algn="ctr"/>
                      <a:r>
                        <a:rPr lang="en-US" sz="2000" dirty="0"/>
                        <a:t>-</a:t>
                      </a:r>
                    </a:p>
                  </a:txBody>
                  <a:tcPr/>
                </a:tc>
                <a:extLst>
                  <a:ext uri="{0D108BD9-81ED-4DB2-BD59-A6C34878D82A}">
                    <a16:rowId xmlns:a16="http://schemas.microsoft.com/office/drawing/2014/main" val="167286066"/>
                  </a:ext>
                </a:extLst>
              </a:tr>
              <a:tr h="823384">
                <a:tc>
                  <a:txBody>
                    <a:bodyPr/>
                    <a:lstStyle/>
                    <a:p>
                      <a:pPr algn="ctr"/>
                      <a:r>
                        <a:rPr lang="en-US" sz="2000" dirty="0"/>
                        <a:t>D2</a:t>
                      </a:r>
                    </a:p>
                  </a:txBody>
                  <a:tcPr/>
                </a:tc>
                <a:tc>
                  <a:txBody>
                    <a:bodyPr/>
                    <a:lstStyle/>
                    <a:p>
                      <a:pPr algn="ctr"/>
                      <a:r>
                        <a:rPr lang="en-US" sz="2000" dirty="0"/>
                        <a:t>RW</a:t>
                      </a:r>
                    </a:p>
                  </a:txBody>
                  <a:tcPr/>
                </a:tc>
                <a:tc>
                  <a:txBody>
                    <a:bodyPr/>
                    <a:lstStyle/>
                    <a:p>
                      <a:pPr algn="ctr"/>
                      <a:r>
                        <a:rPr lang="en-US" sz="2000" dirty="0"/>
                        <a:t>R</a:t>
                      </a:r>
                    </a:p>
                  </a:txBody>
                  <a:tcPr/>
                </a:tc>
                <a:tc>
                  <a:txBody>
                    <a:bodyPr/>
                    <a:lstStyle/>
                    <a:p>
                      <a:pPr algn="ctr"/>
                      <a:r>
                        <a:rPr lang="en-US" sz="2000" dirty="0"/>
                        <a:t>X</a:t>
                      </a:r>
                    </a:p>
                  </a:txBody>
                  <a:tcPr/>
                </a:tc>
                <a:tc>
                  <a:txBody>
                    <a:bodyPr/>
                    <a:lstStyle/>
                    <a:p>
                      <a:pPr algn="ctr"/>
                      <a:r>
                        <a:rPr lang="en-US" sz="2000" dirty="0"/>
                        <a:t>W</a:t>
                      </a:r>
                    </a:p>
                  </a:txBody>
                  <a:tcPr/>
                </a:tc>
                <a:tc>
                  <a:txBody>
                    <a:bodyPr/>
                    <a:lstStyle/>
                    <a:p>
                      <a:pPr algn="ctr"/>
                      <a:r>
                        <a:rPr lang="en-US" sz="2000" dirty="0"/>
                        <a:t>-</a:t>
                      </a:r>
                    </a:p>
                  </a:txBody>
                  <a:tcPr/>
                </a:tc>
                <a:tc>
                  <a:txBody>
                    <a:bodyPr/>
                    <a:lstStyle/>
                    <a:p>
                      <a:pPr algn="ctr"/>
                      <a:r>
                        <a:rPr lang="en-US" sz="2000" dirty="0"/>
                        <a:t>W</a:t>
                      </a:r>
                    </a:p>
                  </a:txBody>
                  <a:tcPr/>
                </a:tc>
                <a:extLst>
                  <a:ext uri="{0D108BD9-81ED-4DB2-BD59-A6C34878D82A}">
                    <a16:rowId xmlns:a16="http://schemas.microsoft.com/office/drawing/2014/main" val="113758293"/>
                  </a:ext>
                </a:extLst>
              </a:tr>
              <a:tr h="823384">
                <a:tc>
                  <a:txBody>
                    <a:bodyPr/>
                    <a:lstStyle/>
                    <a:p>
                      <a:pPr algn="ctr"/>
                      <a:r>
                        <a:rPr lang="en-US" sz="2000" dirty="0"/>
                        <a:t>D3</a:t>
                      </a:r>
                    </a:p>
                  </a:txBody>
                  <a:tcPr/>
                </a:tc>
                <a:tc>
                  <a:txBody>
                    <a:bodyPr/>
                    <a:lstStyle/>
                    <a:p>
                      <a:pPr algn="ctr"/>
                      <a:r>
                        <a:rPr lang="en-US" sz="2000" dirty="0"/>
                        <a:t>-</a:t>
                      </a:r>
                    </a:p>
                  </a:txBody>
                  <a:tcPr/>
                </a:tc>
                <a:tc>
                  <a:txBody>
                    <a:bodyPr/>
                    <a:lstStyle/>
                    <a:p>
                      <a:pPr algn="ctr"/>
                      <a:r>
                        <a:rPr lang="en-US" sz="2000" dirty="0"/>
                        <a:t>-</a:t>
                      </a:r>
                    </a:p>
                  </a:txBody>
                  <a:tcPr/>
                </a:tc>
                <a:tc>
                  <a:txBody>
                    <a:bodyPr/>
                    <a:lstStyle/>
                    <a:p>
                      <a:pPr algn="ctr"/>
                      <a:r>
                        <a:rPr lang="en-US" sz="2000" dirty="0"/>
                        <a:t>R</a:t>
                      </a:r>
                    </a:p>
                  </a:txBody>
                  <a:tcPr/>
                </a:tc>
                <a:tc>
                  <a:txBody>
                    <a:bodyPr/>
                    <a:lstStyle/>
                    <a:p>
                      <a:pPr algn="ctr"/>
                      <a:r>
                        <a:rPr lang="en-US" sz="2000" dirty="0"/>
                        <a:t>-</a:t>
                      </a:r>
                    </a:p>
                  </a:txBody>
                  <a:tcPr/>
                </a:tc>
                <a:tc>
                  <a:txBody>
                    <a:bodyPr/>
                    <a:lstStyle/>
                    <a:p>
                      <a:pPr algn="ctr"/>
                      <a:r>
                        <a:rPr lang="en-US" sz="2000" dirty="0"/>
                        <a:t>-</a:t>
                      </a:r>
                    </a:p>
                  </a:txBody>
                  <a:tcPr/>
                </a:tc>
                <a:tc>
                  <a:txBody>
                    <a:bodyPr/>
                    <a:lstStyle/>
                    <a:p>
                      <a:pPr algn="ctr"/>
                      <a:r>
                        <a:rPr lang="en-US" sz="2000" dirty="0"/>
                        <a:t>W</a:t>
                      </a:r>
                    </a:p>
                  </a:txBody>
                  <a:tcPr/>
                </a:tc>
                <a:extLst>
                  <a:ext uri="{0D108BD9-81ED-4DB2-BD59-A6C34878D82A}">
                    <a16:rowId xmlns:a16="http://schemas.microsoft.com/office/drawing/2014/main" val="4035629921"/>
                  </a:ext>
                </a:extLst>
              </a:tr>
              <a:tr h="823384">
                <a:tc>
                  <a:txBody>
                    <a:bodyPr/>
                    <a:lstStyle/>
                    <a:p>
                      <a:pPr algn="ctr"/>
                      <a:r>
                        <a:rPr lang="en-US" sz="2000" dirty="0"/>
                        <a:t>D4</a:t>
                      </a:r>
                    </a:p>
                  </a:txBody>
                  <a:tcPr/>
                </a:tc>
                <a:tc>
                  <a:txBody>
                    <a:bodyPr/>
                    <a:lstStyle/>
                    <a:p>
                      <a:pPr algn="ctr"/>
                      <a:r>
                        <a:rPr lang="en-US" sz="2000" dirty="0"/>
                        <a:t>W</a:t>
                      </a:r>
                    </a:p>
                  </a:txBody>
                  <a:tcPr/>
                </a:tc>
                <a:tc>
                  <a:txBody>
                    <a:bodyPr/>
                    <a:lstStyle/>
                    <a:p>
                      <a:pPr algn="ctr"/>
                      <a:r>
                        <a:rPr lang="en-US" sz="2000" dirty="0"/>
                        <a:t>R</a:t>
                      </a:r>
                    </a:p>
                  </a:txBody>
                  <a:tcPr/>
                </a:tc>
                <a:tc>
                  <a:txBody>
                    <a:bodyPr/>
                    <a:lstStyle/>
                    <a:p>
                      <a:pPr algn="ctr"/>
                      <a:r>
                        <a:rPr lang="en-US" sz="2000" dirty="0"/>
                        <a:t>-</a:t>
                      </a:r>
                    </a:p>
                  </a:txBody>
                  <a:tcPr/>
                </a:tc>
                <a:tc>
                  <a:txBody>
                    <a:bodyPr/>
                    <a:lstStyle/>
                    <a:p>
                      <a:pPr algn="ctr"/>
                      <a:r>
                        <a:rPr lang="en-US" sz="2000" dirty="0"/>
                        <a:t>-</a:t>
                      </a:r>
                    </a:p>
                  </a:txBody>
                  <a:tcPr/>
                </a:tc>
                <a:tc>
                  <a:txBody>
                    <a:bodyPr/>
                    <a:lstStyle/>
                    <a:p>
                      <a:pPr algn="ctr"/>
                      <a:r>
                        <a:rPr lang="en-US" sz="2000" dirty="0"/>
                        <a:t>-</a:t>
                      </a:r>
                    </a:p>
                  </a:txBody>
                  <a:tcPr/>
                </a:tc>
                <a:tc>
                  <a:txBody>
                    <a:bodyPr/>
                    <a:lstStyle/>
                    <a:p>
                      <a:pPr algn="ctr"/>
                      <a:r>
                        <a:rPr lang="en-US" sz="2000" dirty="0"/>
                        <a:t>-</a:t>
                      </a:r>
                    </a:p>
                  </a:txBody>
                  <a:tcPr/>
                </a:tc>
                <a:extLst>
                  <a:ext uri="{0D108BD9-81ED-4DB2-BD59-A6C34878D82A}">
                    <a16:rowId xmlns:a16="http://schemas.microsoft.com/office/drawing/2014/main" val="3724012871"/>
                  </a:ext>
                </a:extLst>
              </a:tr>
            </a:tbl>
          </a:graphicData>
        </a:graphic>
      </p:graphicFrame>
    </p:spTree>
    <p:extLst>
      <p:ext uri="{BB962C8B-B14F-4D97-AF65-F5344CB8AC3E}">
        <p14:creationId xmlns:p14="http://schemas.microsoft.com/office/powerpoint/2010/main" val="1772686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8DCF-66A8-75FC-57BE-70CC158B4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6AC84-1AE5-8B66-AF49-59ABE21986CE}"/>
              </a:ext>
            </a:extLst>
          </p:cNvPr>
          <p:cNvSpPr>
            <a:spLocks noGrp="1"/>
          </p:cNvSpPr>
          <p:nvPr>
            <p:ph type="title"/>
          </p:nvPr>
        </p:nvSpPr>
        <p:spPr/>
        <p:txBody>
          <a:bodyPr>
            <a:normAutofit/>
          </a:bodyPr>
          <a:lstStyle/>
          <a:p>
            <a:r>
              <a:rPr lang="en-US" sz="3000" dirty="0"/>
              <a:t>Consider the following protection matrix</a:t>
            </a:r>
          </a:p>
        </p:txBody>
      </p:sp>
      <p:sp>
        <p:nvSpPr>
          <p:cNvPr id="3" name="Content Placeholder 2">
            <a:extLst>
              <a:ext uri="{FF2B5EF4-FFF2-40B4-BE49-F238E27FC236}">
                <a16:creationId xmlns:a16="http://schemas.microsoft.com/office/drawing/2014/main" id="{D739C7F2-420F-61E1-8F02-3B0E2DEBB253}"/>
              </a:ext>
            </a:extLst>
          </p:cNvPr>
          <p:cNvSpPr>
            <a:spLocks noGrp="1"/>
          </p:cNvSpPr>
          <p:nvPr>
            <p:ph idx="1"/>
          </p:nvPr>
        </p:nvSpPr>
        <p:spPr>
          <a:xfrm>
            <a:off x="6293159" y="1493116"/>
            <a:ext cx="5732586" cy="4351338"/>
          </a:xfrm>
        </p:spPr>
        <p:txBody>
          <a:bodyPr>
            <a:normAutofit lnSpcReduction="10000"/>
          </a:bodyPr>
          <a:lstStyle/>
          <a:p>
            <a:pPr marL="0" indent="0">
              <a:buNone/>
            </a:pPr>
            <a:r>
              <a:rPr lang="en-US" sz="2400" dirty="0"/>
              <a:t>Assume that:</a:t>
            </a:r>
          </a:p>
          <a:p>
            <a:r>
              <a:rPr lang="en-US" sz="2400" dirty="0"/>
              <a:t>each nonempty cell is stored as one permission entry;</a:t>
            </a:r>
          </a:p>
          <a:p>
            <a:r>
              <a:rPr lang="en-US" sz="2400" dirty="0"/>
              <a:t>groups, wildcards, shared lists, and other compression mechanisms are not used; and</a:t>
            </a:r>
          </a:p>
          <a:p>
            <a:r>
              <a:rPr lang="en-US" sz="2400" dirty="0"/>
              <a:t>list metadata is ignored.</a:t>
            </a:r>
          </a:p>
          <a:p>
            <a:pPr marL="0" indent="0">
              <a:buNone/>
            </a:pPr>
            <a:r>
              <a:rPr lang="en-US" sz="2400" dirty="0"/>
              <a:t>Which representation requires fewer permission entries?</a:t>
            </a:r>
          </a:p>
          <a:p>
            <a:pPr marL="457200" indent="-457200">
              <a:buFont typeface="+mj-lt"/>
              <a:buAutoNum type="arabicPeriod"/>
            </a:pPr>
            <a:r>
              <a:rPr lang="en-US" sz="2400" dirty="0"/>
              <a:t>Access-control lists</a:t>
            </a:r>
          </a:p>
          <a:p>
            <a:pPr marL="457200" indent="-457200">
              <a:buFont typeface="+mj-lt"/>
              <a:buAutoNum type="arabicPeriod"/>
            </a:pPr>
            <a:r>
              <a:rPr lang="en-US" sz="2400" dirty="0"/>
              <a:t>Capability lists</a:t>
            </a:r>
          </a:p>
          <a:p>
            <a:pPr marL="457200" indent="-457200">
              <a:buFont typeface="+mj-lt"/>
              <a:buAutoNum type="arabicPeriod"/>
            </a:pPr>
            <a:r>
              <a:rPr lang="en-US" sz="2400" dirty="0"/>
              <a:t>They require the same number</a:t>
            </a:r>
          </a:p>
        </p:txBody>
      </p:sp>
      <p:sp>
        <p:nvSpPr>
          <p:cNvPr id="4" name="Date Placeholder 3">
            <a:extLst>
              <a:ext uri="{FF2B5EF4-FFF2-40B4-BE49-F238E27FC236}">
                <a16:creationId xmlns:a16="http://schemas.microsoft.com/office/drawing/2014/main" id="{F907D0A0-0C6F-0188-616D-2DBE28BF9925}"/>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B911D978-072C-6D4A-E86D-315251102968}"/>
              </a:ext>
            </a:extLst>
          </p:cNvPr>
          <p:cNvSpPr>
            <a:spLocks noGrp="1"/>
          </p:cNvSpPr>
          <p:nvPr>
            <p:ph type="ftr" sz="quarter" idx="11"/>
          </p:nvPr>
        </p:nvSpPr>
        <p:spPr/>
        <p:txBody>
          <a:bodyPr/>
          <a:lstStyle/>
          <a:p>
            <a:r>
              <a:rPr lang="en-US"/>
              <a:t>Operating Systems - Security</a:t>
            </a:r>
          </a:p>
        </p:txBody>
      </p:sp>
      <p:sp>
        <p:nvSpPr>
          <p:cNvPr id="6" name="Slide Number Placeholder 5">
            <a:extLst>
              <a:ext uri="{FF2B5EF4-FFF2-40B4-BE49-F238E27FC236}">
                <a16:creationId xmlns:a16="http://schemas.microsoft.com/office/drawing/2014/main" id="{FFB44FCB-A0BA-9D75-5E04-D8D21D56980A}"/>
              </a:ext>
            </a:extLst>
          </p:cNvPr>
          <p:cNvSpPr>
            <a:spLocks noGrp="1"/>
          </p:cNvSpPr>
          <p:nvPr>
            <p:ph type="sldNum" sz="quarter" idx="12"/>
          </p:nvPr>
        </p:nvSpPr>
        <p:spPr/>
        <p:txBody>
          <a:bodyPr/>
          <a:lstStyle/>
          <a:p>
            <a:fld id="{95AAEEEC-DCEC-4178-AB14-E7254A15A296}" type="slidenum">
              <a:rPr lang="en-US" smtClean="0"/>
              <a:t>41</a:t>
            </a:fld>
            <a:endParaRPr lang="en-US"/>
          </a:p>
        </p:txBody>
      </p:sp>
      <p:graphicFrame>
        <p:nvGraphicFramePr>
          <p:cNvPr id="8" name="Table 7">
            <a:extLst>
              <a:ext uri="{FF2B5EF4-FFF2-40B4-BE49-F238E27FC236}">
                <a16:creationId xmlns:a16="http://schemas.microsoft.com/office/drawing/2014/main" id="{257282F8-2EC6-4FDC-E8F4-AED9E7E7372C}"/>
              </a:ext>
            </a:extLst>
          </p:cNvPr>
          <p:cNvGraphicFramePr>
            <a:graphicFrameLocks noGrp="1"/>
          </p:cNvGraphicFramePr>
          <p:nvPr/>
        </p:nvGraphicFramePr>
        <p:xfrm>
          <a:off x="277091" y="1691123"/>
          <a:ext cx="5910580" cy="4116920"/>
        </p:xfrm>
        <a:graphic>
          <a:graphicData uri="http://schemas.openxmlformats.org/drawingml/2006/table">
            <a:tbl>
              <a:tblPr firstRow="1" bandRow="1">
                <a:tableStyleId>{5C22544A-7EE6-4342-B048-85BDC9FD1C3A}</a:tableStyleId>
              </a:tblPr>
              <a:tblGrid>
                <a:gridCol w="1221105">
                  <a:extLst>
                    <a:ext uri="{9D8B030D-6E8A-4147-A177-3AD203B41FA5}">
                      <a16:colId xmlns:a16="http://schemas.microsoft.com/office/drawing/2014/main" val="4221632275"/>
                    </a:ext>
                  </a:extLst>
                </a:gridCol>
                <a:gridCol w="889317">
                  <a:extLst>
                    <a:ext uri="{9D8B030D-6E8A-4147-A177-3AD203B41FA5}">
                      <a16:colId xmlns:a16="http://schemas.microsoft.com/office/drawing/2014/main" val="1045005551"/>
                    </a:ext>
                  </a:extLst>
                </a:gridCol>
                <a:gridCol w="909955">
                  <a:extLst>
                    <a:ext uri="{9D8B030D-6E8A-4147-A177-3AD203B41FA5}">
                      <a16:colId xmlns:a16="http://schemas.microsoft.com/office/drawing/2014/main" val="3991717552"/>
                    </a:ext>
                  </a:extLst>
                </a:gridCol>
                <a:gridCol w="909955">
                  <a:extLst>
                    <a:ext uri="{9D8B030D-6E8A-4147-A177-3AD203B41FA5}">
                      <a16:colId xmlns:a16="http://schemas.microsoft.com/office/drawing/2014/main" val="1123521169"/>
                    </a:ext>
                  </a:extLst>
                </a:gridCol>
                <a:gridCol w="909955">
                  <a:extLst>
                    <a:ext uri="{9D8B030D-6E8A-4147-A177-3AD203B41FA5}">
                      <a16:colId xmlns:a16="http://schemas.microsoft.com/office/drawing/2014/main" val="331488723"/>
                    </a:ext>
                  </a:extLst>
                </a:gridCol>
                <a:gridCol w="1070293">
                  <a:extLst>
                    <a:ext uri="{9D8B030D-6E8A-4147-A177-3AD203B41FA5}">
                      <a16:colId xmlns:a16="http://schemas.microsoft.com/office/drawing/2014/main" val="3843368389"/>
                    </a:ext>
                  </a:extLst>
                </a:gridCol>
              </a:tblGrid>
              <a:tr h="823384">
                <a:tc>
                  <a:txBody>
                    <a:bodyPr/>
                    <a:lstStyle/>
                    <a:p>
                      <a:pPr algn="ctr"/>
                      <a:r>
                        <a:rPr lang="en-US" sz="2200" dirty="0"/>
                        <a:t>Domain</a:t>
                      </a:r>
                    </a:p>
                  </a:txBody>
                  <a:tcPr/>
                </a:tc>
                <a:tc>
                  <a:txBody>
                    <a:bodyPr/>
                    <a:lstStyle/>
                    <a:p>
                      <a:pPr algn="ctr"/>
                      <a:r>
                        <a:rPr lang="en-US" sz="2200" dirty="0"/>
                        <a:t>File 1</a:t>
                      </a:r>
                    </a:p>
                  </a:txBody>
                  <a:tcPr/>
                </a:tc>
                <a:tc>
                  <a:txBody>
                    <a:bodyPr/>
                    <a:lstStyle/>
                    <a:p>
                      <a:pPr algn="ctr"/>
                      <a:r>
                        <a:rPr lang="en-US" sz="2200" dirty="0"/>
                        <a:t>File 2</a:t>
                      </a:r>
                    </a:p>
                  </a:txBody>
                  <a:tcPr/>
                </a:tc>
                <a:tc>
                  <a:txBody>
                    <a:bodyPr/>
                    <a:lstStyle/>
                    <a:p>
                      <a:pPr algn="ctr"/>
                      <a:r>
                        <a:rPr lang="en-US" sz="2200" dirty="0"/>
                        <a:t>File 3</a:t>
                      </a:r>
                    </a:p>
                  </a:txBody>
                  <a:tcPr/>
                </a:tc>
                <a:tc>
                  <a:txBody>
                    <a:bodyPr/>
                    <a:lstStyle/>
                    <a:p>
                      <a:pPr algn="ctr"/>
                      <a:r>
                        <a:rPr lang="en-US" sz="2200" dirty="0"/>
                        <a:t>File 4</a:t>
                      </a:r>
                    </a:p>
                  </a:txBody>
                  <a:tcPr/>
                </a:tc>
                <a:tc>
                  <a:txBody>
                    <a:bodyPr/>
                    <a:lstStyle/>
                    <a:p>
                      <a:pPr algn="ctr"/>
                      <a:r>
                        <a:rPr lang="en-US" sz="2200" dirty="0"/>
                        <a:t>Printer</a:t>
                      </a:r>
                    </a:p>
                  </a:txBody>
                  <a:tcPr/>
                </a:tc>
                <a:extLst>
                  <a:ext uri="{0D108BD9-81ED-4DB2-BD59-A6C34878D82A}">
                    <a16:rowId xmlns:a16="http://schemas.microsoft.com/office/drawing/2014/main" val="1103160864"/>
                  </a:ext>
                </a:extLst>
              </a:tr>
              <a:tr h="823384">
                <a:tc>
                  <a:txBody>
                    <a:bodyPr/>
                    <a:lstStyle/>
                    <a:p>
                      <a:pPr algn="ctr"/>
                      <a:r>
                        <a:rPr lang="en-US" sz="2200" dirty="0"/>
                        <a:t>D1</a:t>
                      </a:r>
                    </a:p>
                  </a:txBody>
                  <a:tcPr/>
                </a:tc>
                <a:tc>
                  <a:txBody>
                    <a:bodyPr/>
                    <a:lstStyle/>
                    <a:p>
                      <a:pPr algn="ctr"/>
                      <a:r>
                        <a:rPr lang="en-US" sz="2200" dirty="0"/>
                        <a:t>R</a:t>
                      </a:r>
                    </a:p>
                  </a:txBody>
                  <a:tcPr/>
                </a:tc>
                <a:tc>
                  <a:txBody>
                    <a:bodyPr/>
                    <a:lstStyle/>
                    <a:p>
                      <a:pPr algn="ctr"/>
                      <a:r>
                        <a:rPr lang="en-US" sz="2200" dirty="0"/>
                        <a:t>RW</a:t>
                      </a:r>
                    </a:p>
                  </a:txBody>
                  <a:tcPr/>
                </a:tc>
                <a:tc>
                  <a:txBody>
                    <a:bodyPr/>
                    <a:lstStyle/>
                    <a:p>
                      <a:pPr algn="ctr"/>
                      <a:r>
                        <a:rPr lang="en-US" sz="2200" dirty="0"/>
                        <a:t>-</a:t>
                      </a:r>
                    </a:p>
                  </a:txBody>
                  <a:tcPr/>
                </a:tc>
                <a:tc>
                  <a:txBody>
                    <a:bodyPr/>
                    <a:lstStyle/>
                    <a:p>
                      <a:pPr algn="ctr"/>
                      <a:r>
                        <a:rPr lang="en-US" sz="2200" dirty="0"/>
                        <a:t>X</a:t>
                      </a:r>
                    </a:p>
                  </a:txBody>
                  <a:tcPr/>
                </a:tc>
                <a:tc>
                  <a:txBody>
                    <a:bodyPr/>
                    <a:lstStyle/>
                    <a:p>
                      <a:pPr algn="ctr"/>
                      <a:r>
                        <a:rPr lang="en-US" sz="2200" dirty="0"/>
                        <a:t>-</a:t>
                      </a:r>
                    </a:p>
                  </a:txBody>
                  <a:tcPr/>
                </a:tc>
                <a:extLst>
                  <a:ext uri="{0D108BD9-81ED-4DB2-BD59-A6C34878D82A}">
                    <a16:rowId xmlns:a16="http://schemas.microsoft.com/office/drawing/2014/main" val="167286066"/>
                  </a:ext>
                </a:extLst>
              </a:tr>
              <a:tr h="823384">
                <a:tc>
                  <a:txBody>
                    <a:bodyPr/>
                    <a:lstStyle/>
                    <a:p>
                      <a:pPr algn="ctr"/>
                      <a:r>
                        <a:rPr lang="en-US" sz="2200" dirty="0"/>
                        <a:t>D2</a:t>
                      </a:r>
                    </a:p>
                  </a:txBody>
                  <a:tcPr/>
                </a:tc>
                <a:tc>
                  <a:txBody>
                    <a:bodyPr/>
                    <a:lstStyle/>
                    <a:p>
                      <a:pPr algn="ctr"/>
                      <a:r>
                        <a:rPr lang="en-US" sz="2200" dirty="0"/>
                        <a:t>W</a:t>
                      </a:r>
                    </a:p>
                  </a:txBody>
                  <a:tcPr/>
                </a:tc>
                <a:tc>
                  <a:txBody>
                    <a:bodyPr/>
                    <a:lstStyle/>
                    <a:p>
                      <a:pPr algn="ctr"/>
                      <a:r>
                        <a:rPr lang="en-US" sz="2200" dirty="0"/>
                        <a:t>-</a:t>
                      </a:r>
                    </a:p>
                  </a:txBody>
                  <a:tcPr/>
                </a:tc>
                <a:tc>
                  <a:txBody>
                    <a:bodyPr/>
                    <a:lstStyle/>
                    <a:p>
                      <a:pPr algn="ctr"/>
                      <a:r>
                        <a:rPr lang="en-US" sz="2200" dirty="0"/>
                        <a:t>R</a:t>
                      </a:r>
                    </a:p>
                  </a:txBody>
                  <a:tcPr/>
                </a:tc>
                <a:tc>
                  <a:txBody>
                    <a:bodyPr/>
                    <a:lstStyle/>
                    <a:p>
                      <a:pPr algn="ctr"/>
                      <a:r>
                        <a:rPr lang="en-US" sz="2200" dirty="0"/>
                        <a:t>-</a:t>
                      </a:r>
                    </a:p>
                  </a:txBody>
                  <a:tcPr/>
                </a:tc>
                <a:tc>
                  <a:txBody>
                    <a:bodyPr/>
                    <a:lstStyle/>
                    <a:p>
                      <a:pPr algn="ctr"/>
                      <a:r>
                        <a:rPr lang="en-US" sz="2200" dirty="0"/>
                        <a:t>RW</a:t>
                      </a:r>
                    </a:p>
                  </a:txBody>
                  <a:tcPr/>
                </a:tc>
                <a:extLst>
                  <a:ext uri="{0D108BD9-81ED-4DB2-BD59-A6C34878D82A}">
                    <a16:rowId xmlns:a16="http://schemas.microsoft.com/office/drawing/2014/main" val="113758293"/>
                  </a:ext>
                </a:extLst>
              </a:tr>
              <a:tr h="823384">
                <a:tc>
                  <a:txBody>
                    <a:bodyPr/>
                    <a:lstStyle/>
                    <a:p>
                      <a:pPr algn="ctr"/>
                      <a:r>
                        <a:rPr lang="en-US" sz="2200" dirty="0"/>
                        <a:t>D3</a:t>
                      </a:r>
                    </a:p>
                  </a:txBody>
                  <a:tcPr/>
                </a:tc>
                <a:tc>
                  <a:txBody>
                    <a:bodyPr/>
                    <a:lstStyle/>
                    <a:p>
                      <a:pPr algn="ctr"/>
                      <a:r>
                        <a:rPr lang="en-US" sz="2200" dirty="0"/>
                        <a:t>RX</a:t>
                      </a:r>
                    </a:p>
                  </a:txBody>
                  <a:tcPr/>
                </a:tc>
                <a:tc>
                  <a:txBody>
                    <a:bodyPr/>
                    <a:lstStyle/>
                    <a:p>
                      <a:pPr algn="ctr"/>
                      <a:r>
                        <a:rPr lang="en-US" sz="2200" dirty="0"/>
                        <a:t>-</a:t>
                      </a:r>
                    </a:p>
                  </a:txBody>
                  <a:tcPr/>
                </a:tc>
                <a:tc>
                  <a:txBody>
                    <a:bodyPr/>
                    <a:lstStyle/>
                    <a:p>
                      <a:pPr algn="ctr"/>
                      <a:r>
                        <a:rPr lang="en-US" sz="2200" dirty="0"/>
                        <a:t>-</a:t>
                      </a:r>
                    </a:p>
                  </a:txBody>
                  <a:tcPr/>
                </a:tc>
                <a:tc>
                  <a:txBody>
                    <a:bodyPr/>
                    <a:lstStyle/>
                    <a:p>
                      <a:pPr algn="ctr"/>
                      <a:r>
                        <a:rPr lang="en-US" sz="2200" dirty="0"/>
                        <a:t>W</a:t>
                      </a:r>
                    </a:p>
                  </a:txBody>
                  <a:tcPr/>
                </a:tc>
                <a:tc>
                  <a:txBody>
                    <a:bodyPr/>
                    <a:lstStyle/>
                    <a:p>
                      <a:pPr algn="ctr"/>
                      <a:r>
                        <a:rPr lang="en-US" sz="2200" dirty="0"/>
                        <a:t>R</a:t>
                      </a:r>
                    </a:p>
                  </a:txBody>
                  <a:tcPr/>
                </a:tc>
                <a:extLst>
                  <a:ext uri="{0D108BD9-81ED-4DB2-BD59-A6C34878D82A}">
                    <a16:rowId xmlns:a16="http://schemas.microsoft.com/office/drawing/2014/main" val="4035629921"/>
                  </a:ext>
                </a:extLst>
              </a:tr>
              <a:tr h="823384">
                <a:tc>
                  <a:txBody>
                    <a:bodyPr/>
                    <a:lstStyle/>
                    <a:p>
                      <a:pPr algn="ctr"/>
                      <a:r>
                        <a:rPr lang="en-US" sz="2200" dirty="0"/>
                        <a:t>D4</a:t>
                      </a:r>
                    </a:p>
                  </a:txBody>
                  <a:tcPr/>
                </a:tc>
                <a:tc>
                  <a:txBody>
                    <a:bodyPr/>
                    <a:lstStyle/>
                    <a:p>
                      <a:pPr algn="ctr"/>
                      <a:r>
                        <a:rPr lang="en-US" sz="2200" dirty="0"/>
                        <a:t>-</a:t>
                      </a:r>
                    </a:p>
                  </a:txBody>
                  <a:tcPr/>
                </a:tc>
                <a:tc>
                  <a:txBody>
                    <a:bodyPr/>
                    <a:lstStyle/>
                    <a:p>
                      <a:pPr algn="ctr"/>
                      <a:r>
                        <a:rPr lang="en-US" sz="2200" dirty="0"/>
                        <a:t>X</a:t>
                      </a:r>
                    </a:p>
                  </a:txBody>
                  <a:tcPr/>
                </a:tc>
                <a:tc>
                  <a:txBody>
                    <a:bodyPr/>
                    <a:lstStyle/>
                    <a:p>
                      <a:pPr algn="ctr"/>
                      <a:r>
                        <a:rPr lang="en-US" sz="2200" dirty="0"/>
                        <a:t>RW</a:t>
                      </a:r>
                    </a:p>
                  </a:txBody>
                  <a:tcPr/>
                </a:tc>
                <a:tc>
                  <a:txBody>
                    <a:bodyPr/>
                    <a:lstStyle/>
                    <a:p>
                      <a:pPr algn="ctr"/>
                      <a:r>
                        <a:rPr lang="en-US" sz="2200" dirty="0"/>
                        <a:t>R</a:t>
                      </a:r>
                    </a:p>
                  </a:txBody>
                  <a:tcPr/>
                </a:tc>
                <a:tc>
                  <a:txBody>
                    <a:bodyPr/>
                    <a:lstStyle/>
                    <a:p>
                      <a:pPr algn="ctr"/>
                      <a:r>
                        <a:rPr lang="en-US" sz="2200" dirty="0"/>
                        <a:t>-</a:t>
                      </a:r>
                    </a:p>
                  </a:txBody>
                  <a:tcPr/>
                </a:tc>
                <a:extLst>
                  <a:ext uri="{0D108BD9-81ED-4DB2-BD59-A6C34878D82A}">
                    <a16:rowId xmlns:a16="http://schemas.microsoft.com/office/drawing/2014/main" val="3724012871"/>
                  </a:ext>
                </a:extLst>
              </a:tr>
            </a:tbl>
          </a:graphicData>
        </a:graphic>
      </p:graphicFrame>
    </p:spTree>
    <p:extLst>
      <p:ext uri="{BB962C8B-B14F-4D97-AF65-F5344CB8AC3E}">
        <p14:creationId xmlns:p14="http://schemas.microsoft.com/office/powerpoint/2010/main" val="10006886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E7D68-45F5-D056-9DCE-A1412F623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A19DE-9969-5447-B85F-C3A4D7B6D657}"/>
              </a:ext>
            </a:extLst>
          </p:cNvPr>
          <p:cNvSpPr>
            <a:spLocks noGrp="1"/>
          </p:cNvSpPr>
          <p:nvPr>
            <p:ph type="title"/>
          </p:nvPr>
        </p:nvSpPr>
        <p:spPr/>
        <p:txBody>
          <a:bodyPr>
            <a:normAutofit/>
          </a:bodyPr>
          <a:lstStyle/>
          <a:p>
            <a:r>
              <a:rPr lang="en-US" sz="3000" dirty="0"/>
              <a:t>Consider the following protection matrix</a:t>
            </a:r>
          </a:p>
        </p:txBody>
      </p:sp>
      <p:sp>
        <p:nvSpPr>
          <p:cNvPr id="3" name="Content Placeholder 2">
            <a:extLst>
              <a:ext uri="{FF2B5EF4-FFF2-40B4-BE49-F238E27FC236}">
                <a16:creationId xmlns:a16="http://schemas.microsoft.com/office/drawing/2014/main" id="{9A465124-CCA2-3FAA-4EFF-3A95F7109957}"/>
              </a:ext>
            </a:extLst>
          </p:cNvPr>
          <p:cNvSpPr>
            <a:spLocks noGrp="1"/>
          </p:cNvSpPr>
          <p:nvPr>
            <p:ph idx="1"/>
          </p:nvPr>
        </p:nvSpPr>
        <p:spPr>
          <a:xfrm>
            <a:off x="6293159" y="1493116"/>
            <a:ext cx="5732586" cy="4351338"/>
          </a:xfrm>
        </p:spPr>
        <p:txBody>
          <a:bodyPr>
            <a:normAutofit/>
          </a:bodyPr>
          <a:lstStyle/>
          <a:p>
            <a:pPr marL="0" indent="0">
              <a:buNone/>
            </a:pPr>
            <a:r>
              <a:rPr lang="en-US" sz="2800" dirty="0"/>
              <a:t>The administrator wants to find and revoke </a:t>
            </a:r>
            <a:r>
              <a:rPr lang="en-US" sz="2800" b="1" dirty="0"/>
              <a:t>all permissions on File 3</a:t>
            </a:r>
            <a:r>
              <a:rPr lang="en-US" sz="2800" dirty="0"/>
              <a:t>. Which representation requires inspecting and updating a single list?</a:t>
            </a:r>
          </a:p>
          <a:p>
            <a:pPr marL="457200" indent="-457200">
              <a:buFont typeface="+mj-lt"/>
              <a:buAutoNum type="arabicPeriod"/>
            </a:pPr>
            <a:r>
              <a:rPr lang="en-US" sz="2800" dirty="0"/>
              <a:t>Access control lists</a:t>
            </a:r>
          </a:p>
          <a:p>
            <a:pPr marL="457200" indent="-457200">
              <a:buFont typeface="+mj-lt"/>
              <a:buAutoNum type="arabicPeriod"/>
            </a:pPr>
            <a:r>
              <a:rPr lang="en-US" sz="2800" dirty="0"/>
              <a:t>Capability lists</a:t>
            </a:r>
          </a:p>
          <a:p>
            <a:pPr marL="457200" indent="-457200">
              <a:buFont typeface="+mj-lt"/>
              <a:buAutoNum type="arabicPeriod"/>
            </a:pPr>
            <a:r>
              <a:rPr lang="en-US" sz="2800" dirty="0"/>
              <a:t>Both</a:t>
            </a:r>
          </a:p>
        </p:txBody>
      </p:sp>
      <p:sp>
        <p:nvSpPr>
          <p:cNvPr id="4" name="Date Placeholder 3">
            <a:extLst>
              <a:ext uri="{FF2B5EF4-FFF2-40B4-BE49-F238E27FC236}">
                <a16:creationId xmlns:a16="http://schemas.microsoft.com/office/drawing/2014/main" id="{6F23D154-9C53-C262-5C3D-172377C294B5}"/>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72BB474F-98CD-94EB-C187-B22199ED4862}"/>
              </a:ext>
            </a:extLst>
          </p:cNvPr>
          <p:cNvSpPr>
            <a:spLocks noGrp="1"/>
          </p:cNvSpPr>
          <p:nvPr>
            <p:ph type="ftr" sz="quarter" idx="11"/>
          </p:nvPr>
        </p:nvSpPr>
        <p:spPr/>
        <p:txBody>
          <a:bodyPr/>
          <a:lstStyle/>
          <a:p>
            <a:r>
              <a:rPr lang="en-US"/>
              <a:t>Operating Systems - Security</a:t>
            </a:r>
          </a:p>
        </p:txBody>
      </p:sp>
      <p:sp>
        <p:nvSpPr>
          <p:cNvPr id="6" name="Slide Number Placeholder 5">
            <a:extLst>
              <a:ext uri="{FF2B5EF4-FFF2-40B4-BE49-F238E27FC236}">
                <a16:creationId xmlns:a16="http://schemas.microsoft.com/office/drawing/2014/main" id="{42310860-85FE-2317-6286-7F9A69E2E4DD}"/>
              </a:ext>
            </a:extLst>
          </p:cNvPr>
          <p:cNvSpPr>
            <a:spLocks noGrp="1"/>
          </p:cNvSpPr>
          <p:nvPr>
            <p:ph type="sldNum" sz="quarter" idx="12"/>
          </p:nvPr>
        </p:nvSpPr>
        <p:spPr/>
        <p:txBody>
          <a:bodyPr/>
          <a:lstStyle/>
          <a:p>
            <a:fld id="{95AAEEEC-DCEC-4178-AB14-E7254A15A296}" type="slidenum">
              <a:rPr lang="en-US" smtClean="0"/>
              <a:t>42</a:t>
            </a:fld>
            <a:endParaRPr lang="en-US"/>
          </a:p>
        </p:txBody>
      </p:sp>
      <p:graphicFrame>
        <p:nvGraphicFramePr>
          <p:cNvPr id="8" name="Table 7">
            <a:extLst>
              <a:ext uri="{FF2B5EF4-FFF2-40B4-BE49-F238E27FC236}">
                <a16:creationId xmlns:a16="http://schemas.microsoft.com/office/drawing/2014/main" id="{613C9924-F34C-B37F-1BD6-FB3D2BECF889}"/>
              </a:ext>
            </a:extLst>
          </p:cNvPr>
          <p:cNvGraphicFramePr>
            <a:graphicFrameLocks noGrp="1"/>
          </p:cNvGraphicFramePr>
          <p:nvPr>
            <p:extLst>
              <p:ext uri="{D42A27DB-BD31-4B8C-83A1-F6EECF244321}">
                <p14:modId xmlns:p14="http://schemas.microsoft.com/office/powerpoint/2010/main" val="3696784556"/>
              </p:ext>
            </p:extLst>
          </p:nvPr>
        </p:nvGraphicFramePr>
        <p:xfrm>
          <a:off x="780927" y="1297854"/>
          <a:ext cx="4840287" cy="4940304"/>
        </p:xfrm>
        <a:graphic>
          <a:graphicData uri="http://schemas.openxmlformats.org/drawingml/2006/table">
            <a:tbl>
              <a:tblPr firstRow="1" bandRow="1">
                <a:tableStyleId>{5C22544A-7EE6-4342-B048-85BDC9FD1C3A}</a:tableStyleId>
              </a:tblPr>
              <a:tblGrid>
                <a:gridCol w="1221105">
                  <a:extLst>
                    <a:ext uri="{9D8B030D-6E8A-4147-A177-3AD203B41FA5}">
                      <a16:colId xmlns:a16="http://schemas.microsoft.com/office/drawing/2014/main" val="4221632275"/>
                    </a:ext>
                  </a:extLst>
                </a:gridCol>
                <a:gridCol w="889317">
                  <a:extLst>
                    <a:ext uri="{9D8B030D-6E8A-4147-A177-3AD203B41FA5}">
                      <a16:colId xmlns:a16="http://schemas.microsoft.com/office/drawing/2014/main" val="1045005551"/>
                    </a:ext>
                  </a:extLst>
                </a:gridCol>
                <a:gridCol w="909955">
                  <a:extLst>
                    <a:ext uri="{9D8B030D-6E8A-4147-A177-3AD203B41FA5}">
                      <a16:colId xmlns:a16="http://schemas.microsoft.com/office/drawing/2014/main" val="3991717552"/>
                    </a:ext>
                  </a:extLst>
                </a:gridCol>
                <a:gridCol w="909955">
                  <a:extLst>
                    <a:ext uri="{9D8B030D-6E8A-4147-A177-3AD203B41FA5}">
                      <a16:colId xmlns:a16="http://schemas.microsoft.com/office/drawing/2014/main" val="1123521169"/>
                    </a:ext>
                  </a:extLst>
                </a:gridCol>
                <a:gridCol w="909955">
                  <a:extLst>
                    <a:ext uri="{9D8B030D-6E8A-4147-A177-3AD203B41FA5}">
                      <a16:colId xmlns:a16="http://schemas.microsoft.com/office/drawing/2014/main" val="331488723"/>
                    </a:ext>
                  </a:extLst>
                </a:gridCol>
              </a:tblGrid>
              <a:tr h="823384">
                <a:tc>
                  <a:txBody>
                    <a:bodyPr/>
                    <a:lstStyle/>
                    <a:p>
                      <a:pPr algn="ctr"/>
                      <a:r>
                        <a:rPr lang="en-US" sz="2200" dirty="0"/>
                        <a:t>Domain</a:t>
                      </a:r>
                    </a:p>
                  </a:txBody>
                  <a:tcPr/>
                </a:tc>
                <a:tc>
                  <a:txBody>
                    <a:bodyPr/>
                    <a:lstStyle/>
                    <a:p>
                      <a:pPr algn="ctr"/>
                      <a:r>
                        <a:rPr lang="en-US" sz="2200" dirty="0"/>
                        <a:t>File 1</a:t>
                      </a:r>
                    </a:p>
                  </a:txBody>
                  <a:tcPr/>
                </a:tc>
                <a:tc>
                  <a:txBody>
                    <a:bodyPr/>
                    <a:lstStyle/>
                    <a:p>
                      <a:pPr algn="ctr"/>
                      <a:r>
                        <a:rPr lang="en-US" sz="2200" dirty="0"/>
                        <a:t>File 2</a:t>
                      </a:r>
                    </a:p>
                  </a:txBody>
                  <a:tcPr/>
                </a:tc>
                <a:tc>
                  <a:txBody>
                    <a:bodyPr/>
                    <a:lstStyle/>
                    <a:p>
                      <a:pPr algn="ctr"/>
                      <a:r>
                        <a:rPr lang="en-US" sz="2200" dirty="0"/>
                        <a:t>File 3</a:t>
                      </a:r>
                    </a:p>
                  </a:txBody>
                  <a:tcPr/>
                </a:tc>
                <a:tc>
                  <a:txBody>
                    <a:bodyPr/>
                    <a:lstStyle/>
                    <a:p>
                      <a:pPr algn="ctr"/>
                      <a:r>
                        <a:rPr lang="en-US" sz="2200" dirty="0"/>
                        <a:t>File 4</a:t>
                      </a:r>
                    </a:p>
                  </a:txBody>
                  <a:tcPr/>
                </a:tc>
                <a:extLst>
                  <a:ext uri="{0D108BD9-81ED-4DB2-BD59-A6C34878D82A}">
                    <a16:rowId xmlns:a16="http://schemas.microsoft.com/office/drawing/2014/main" val="1103160864"/>
                  </a:ext>
                </a:extLst>
              </a:tr>
              <a:tr h="823384">
                <a:tc>
                  <a:txBody>
                    <a:bodyPr/>
                    <a:lstStyle/>
                    <a:p>
                      <a:pPr algn="ctr"/>
                      <a:r>
                        <a:rPr lang="en-US" sz="2200" dirty="0"/>
                        <a:t>D1</a:t>
                      </a:r>
                    </a:p>
                  </a:txBody>
                  <a:tcPr/>
                </a:tc>
                <a:tc>
                  <a:txBody>
                    <a:bodyPr/>
                    <a:lstStyle/>
                    <a:p>
                      <a:pPr algn="ctr"/>
                      <a:r>
                        <a:rPr lang="en-US" sz="2200" dirty="0"/>
                        <a:t>-</a:t>
                      </a:r>
                    </a:p>
                  </a:txBody>
                  <a:tcPr/>
                </a:tc>
                <a:tc>
                  <a:txBody>
                    <a:bodyPr/>
                    <a:lstStyle/>
                    <a:p>
                      <a:pPr algn="ctr"/>
                      <a:r>
                        <a:rPr lang="en-US" sz="2200" dirty="0"/>
                        <a:t>-</a:t>
                      </a:r>
                    </a:p>
                  </a:txBody>
                  <a:tcPr/>
                </a:tc>
                <a:tc>
                  <a:txBody>
                    <a:bodyPr/>
                    <a:lstStyle/>
                    <a:p>
                      <a:pPr algn="ctr"/>
                      <a:r>
                        <a:rPr lang="en-US" sz="2200" dirty="0"/>
                        <a:t>R</a:t>
                      </a:r>
                    </a:p>
                  </a:txBody>
                  <a:tcPr/>
                </a:tc>
                <a:tc>
                  <a:txBody>
                    <a:bodyPr/>
                    <a:lstStyle/>
                    <a:p>
                      <a:pPr algn="ctr"/>
                      <a:r>
                        <a:rPr lang="en-US" sz="2200" dirty="0"/>
                        <a:t>-</a:t>
                      </a:r>
                    </a:p>
                  </a:txBody>
                  <a:tcPr/>
                </a:tc>
                <a:extLst>
                  <a:ext uri="{0D108BD9-81ED-4DB2-BD59-A6C34878D82A}">
                    <a16:rowId xmlns:a16="http://schemas.microsoft.com/office/drawing/2014/main" val="167286066"/>
                  </a:ext>
                </a:extLst>
              </a:tr>
              <a:tr h="823384">
                <a:tc>
                  <a:txBody>
                    <a:bodyPr/>
                    <a:lstStyle/>
                    <a:p>
                      <a:pPr algn="ctr"/>
                      <a:r>
                        <a:rPr lang="en-US" sz="2200" dirty="0"/>
                        <a:t>D2</a:t>
                      </a:r>
                    </a:p>
                  </a:txBody>
                  <a:tcPr/>
                </a:tc>
                <a:tc>
                  <a:txBody>
                    <a:bodyPr/>
                    <a:lstStyle/>
                    <a:p>
                      <a:pPr algn="ctr"/>
                      <a:r>
                        <a:rPr lang="en-US" sz="2200" dirty="0"/>
                        <a:t>R</a:t>
                      </a:r>
                    </a:p>
                  </a:txBody>
                  <a:tcPr/>
                </a:tc>
                <a:tc>
                  <a:txBody>
                    <a:bodyPr/>
                    <a:lstStyle/>
                    <a:p>
                      <a:pPr algn="ctr"/>
                      <a:r>
                        <a:rPr lang="en-US" sz="2200" dirty="0"/>
                        <a:t>-</a:t>
                      </a:r>
                    </a:p>
                  </a:txBody>
                  <a:tcPr/>
                </a:tc>
                <a:tc>
                  <a:txBody>
                    <a:bodyPr/>
                    <a:lstStyle/>
                    <a:p>
                      <a:pPr algn="ctr"/>
                      <a:r>
                        <a:rPr lang="en-US" sz="2200" dirty="0"/>
                        <a:t>W</a:t>
                      </a:r>
                    </a:p>
                  </a:txBody>
                  <a:tcPr/>
                </a:tc>
                <a:tc>
                  <a:txBody>
                    <a:bodyPr/>
                    <a:lstStyle/>
                    <a:p>
                      <a:pPr algn="ctr"/>
                      <a:r>
                        <a:rPr lang="en-US" sz="2200" dirty="0"/>
                        <a:t>-</a:t>
                      </a:r>
                    </a:p>
                  </a:txBody>
                  <a:tcPr/>
                </a:tc>
                <a:extLst>
                  <a:ext uri="{0D108BD9-81ED-4DB2-BD59-A6C34878D82A}">
                    <a16:rowId xmlns:a16="http://schemas.microsoft.com/office/drawing/2014/main" val="113758293"/>
                  </a:ext>
                </a:extLst>
              </a:tr>
              <a:tr h="823384">
                <a:tc>
                  <a:txBody>
                    <a:bodyPr/>
                    <a:lstStyle/>
                    <a:p>
                      <a:pPr algn="ctr"/>
                      <a:r>
                        <a:rPr lang="en-US" sz="2200" dirty="0"/>
                        <a:t>D3</a:t>
                      </a:r>
                    </a:p>
                  </a:txBody>
                  <a:tcPr/>
                </a:tc>
                <a:tc>
                  <a:txBody>
                    <a:bodyPr/>
                    <a:lstStyle/>
                    <a:p>
                      <a:pPr algn="ctr"/>
                      <a:r>
                        <a:rPr lang="en-US" sz="2200" dirty="0"/>
                        <a:t>-</a:t>
                      </a:r>
                    </a:p>
                  </a:txBody>
                  <a:tcPr/>
                </a:tc>
                <a:tc>
                  <a:txBody>
                    <a:bodyPr/>
                    <a:lstStyle/>
                    <a:p>
                      <a:pPr algn="ctr"/>
                      <a:r>
                        <a:rPr lang="en-US" sz="2200" dirty="0"/>
                        <a:t>W</a:t>
                      </a:r>
                    </a:p>
                  </a:txBody>
                  <a:tcPr/>
                </a:tc>
                <a:tc>
                  <a:txBody>
                    <a:bodyPr/>
                    <a:lstStyle/>
                    <a:p>
                      <a:pPr algn="ctr"/>
                      <a:r>
                        <a:rPr lang="en-US" sz="2200" dirty="0"/>
                        <a:t>RW</a:t>
                      </a:r>
                    </a:p>
                  </a:txBody>
                  <a:tcPr/>
                </a:tc>
                <a:tc>
                  <a:txBody>
                    <a:bodyPr/>
                    <a:lstStyle/>
                    <a:p>
                      <a:pPr algn="ctr"/>
                      <a:r>
                        <a:rPr lang="en-US" sz="2200" dirty="0"/>
                        <a:t>-</a:t>
                      </a:r>
                    </a:p>
                  </a:txBody>
                  <a:tcPr/>
                </a:tc>
                <a:extLst>
                  <a:ext uri="{0D108BD9-81ED-4DB2-BD59-A6C34878D82A}">
                    <a16:rowId xmlns:a16="http://schemas.microsoft.com/office/drawing/2014/main" val="4035629921"/>
                  </a:ext>
                </a:extLst>
              </a:tr>
              <a:tr h="823384">
                <a:tc>
                  <a:txBody>
                    <a:bodyPr/>
                    <a:lstStyle/>
                    <a:p>
                      <a:pPr algn="ctr"/>
                      <a:r>
                        <a:rPr lang="en-US" sz="2200" dirty="0"/>
                        <a:t>D4</a:t>
                      </a:r>
                    </a:p>
                  </a:txBody>
                  <a:tcPr/>
                </a:tc>
                <a:tc>
                  <a:txBody>
                    <a:bodyPr/>
                    <a:lstStyle/>
                    <a:p>
                      <a:pPr algn="ctr"/>
                      <a:r>
                        <a:rPr lang="en-US" sz="2200" dirty="0"/>
                        <a:t>-</a:t>
                      </a:r>
                    </a:p>
                  </a:txBody>
                  <a:tcPr/>
                </a:tc>
                <a:tc>
                  <a:txBody>
                    <a:bodyPr/>
                    <a:lstStyle/>
                    <a:p>
                      <a:pPr algn="ctr"/>
                      <a:r>
                        <a:rPr lang="en-US" sz="2200" dirty="0"/>
                        <a:t>-</a:t>
                      </a:r>
                    </a:p>
                  </a:txBody>
                  <a:tcPr/>
                </a:tc>
                <a:tc>
                  <a:txBody>
                    <a:bodyPr/>
                    <a:lstStyle/>
                    <a:p>
                      <a:pPr algn="ctr"/>
                      <a:r>
                        <a:rPr lang="en-US" sz="2200" dirty="0"/>
                        <a:t>X</a:t>
                      </a:r>
                    </a:p>
                  </a:txBody>
                  <a:tcPr/>
                </a:tc>
                <a:tc>
                  <a:txBody>
                    <a:bodyPr/>
                    <a:lstStyle/>
                    <a:p>
                      <a:pPr algn="ctr"/>
                      <a:r>
                        <a:rPr lang="en-US" sz="2200" dirty="0"/>
                        <a:t>R</a:t>
                      </a:r>
                    </a:p>
                  </a:txBody>
                  <a:tcPr/>
                </a:tc>
                <a:extLst>
                  <a:ext uri="{0D108BD9-81ED-4DB2-BD59-A6C34878D82A}">
                    <a16:rowId xmlns:a16="http://schemas.microsoft.com/office/drawing/2014/main" val="3724012871"/>
                  </a:ext>
                </a:extLst>
              </a:tr>
              <a:tr h="823384">
                <a:tc>
                  <a:txBody>
                    <a:bodyPr/>
                    <a:lstStyle/>
                    <a:p>
                      <a:pPr algn="ctr"/>
                      <a:r>
                        <a:rPr lang="en-US" sz="2200" dirty="0"/>
                        <a:t>D5</a:t>
                      </a:r>
                    </a:p>
                  </a:txBody>
                  <a:tcPr/>
                </a:tc>
                <a:tc>
                  <a:txBody>
                    <a:bodyPr/>
                    <a:lstStyle/>
                    <a:p>
                      <a:pPr algn="ctr"/>
                      <a:r>
                        <a:rPr lang="en-US" sz="2200" dirty="0"/>
                        <a:t>W</a:t>
                      </a:r>
                    </a:p>
                  </a:txBody>
                  <a:tcPr/>
                </a:tc>
                <a:tc>
                  <a:txBody>
                    <a:bodyPr/>
                    <a:lstStyle/>
                    <a:p>
                      <a:pPr algn="ctr"/>
                      <a:r>
                        <a:rPr lang="en-US" sz="2200" dirty="0"/>
                        <a:t>-</a:t>
                      </a:r>
                    </a:p>
                  </a:txBody>
                  <a:tcPr/>
                </a:tc>
                <a:tc>
                  <a:txBody>
                    <a:bodyPr/>
                    <a:lstStyle/>
                    <a:p>
                      <a:pPr algn="ctr"/>
                      <a:r>
                        <a:rPr lang="en-US" sz="2200" dirty="0"/>
                        <a:t>RX</a:t>
                      </a:r>
                    </a:p>
                  </a:txBody>
                  <a:tcPr/>
                </a:tc>
                <a:tc>
                  <a:txBody>
                    <a:bodyPr/>
                    <a:lstStyle/>
                    <a:p>
                      <a:pPr algn="ctr"/>
                      <a:r>
                        <a:rPr lang="en-US" sz="2200" dirty="0"/>
                        <a:t>-</a:t>
                      </a:r>
                    </a:p>
                  </a:txBody>
                  <a:tcPr/>
                </a:tc>
                <a:extLst>
                  <a:ext uri="{0D108BD9-81ED-4DB2-BD59-A6C34878D82A}">
                    <a16:rowId xmlns:a16="http://schemas.microsoft.com/office/drawing/2014/main" val="1537538575"/>
                  </a:ext>
                </a:extLst>
              </a:tr>
            </a:tbl>
          </a:graphicData>
        </a:graphic>
      </p:graphicFrame>
    </p:spTree>
    <p:extLst>
      <p:ext uri="{BB962C8B-B14F-4D97-AF65-F5344CB8AC3E}">
        <p14:creationId xmlns:p14="http://schemas.microsoft.com/office/powerpoint/2010/main" val="961040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A98B-B846-CAD4-891A-10BD65E42C88}"/>
              </a:ext>
            </a:extLst>
          </p:cNvPr>
          <p:cNvSpPr>
            <a:spLocks noGrp="1"/>
          </p:cNvSpPr>
          <p:nvPr>
            <p:ph type="title"/>
          </p:nvPr>
        </p:nvSpPr>
        <p:spPr/>
        <p:txBody>
          <a:bodyPr>
            <a:normAutofit/>
          </a:bodyPr>
          <a:lstStyle/>
          <a:p>
            <a:r>
              <a:rPr lang="en-US" dirty="0"/>
              <a:t>An access-control list contains the following entries:</a:t>
            </a:r>
          </a:p>
        </p:txBody>
      </p:sp>
      <p:sp>
        <p:nvSpPr>
          <p:cNvPr id="3" name="Content Placeholder 2">
            <a:extLst>
              <a:ext uri="{FF2B5EF4-FFF2-40B4-BE49-F238E27FC236}">
                <a16:creationId xmlns:a16="http://schemas.microsoft.com/office/drawing/2014/main" id="{02A7AC72-49AD-9C64-E20A-8C9A81424226}"/>
              </a:ext>
            </a:extLst>
          </p:cNvPr>
          <p:cNvSpPr>
            <a:spLocks noGrp="1"/>
          </p:cNvSpPr>
          <p:nvPr>
            <p:ph idx="1"/>
          </p:nvPr>
        </p:nvSpPr>
        <p:spPr/>
        <p:txBody>
          <a:bodyPr/>
          <a:lstStyle/>
          <a:p>
            <a:pPr marL="0" indent="0">
              <a:buNone/>
            </a:pPr>
            <a:r>
              <a:rPr lang="en-US" dirty="0"/>
              <a:t>&lt;A: R, B: R, C: R, D: RW, *: none&gt;</a:t>
            </a:r>
          </a:p>
          <a:p>
            <a:pPr marL="0" indent="0">
              <a:buNone/>
            </a:pPr>
            <a:endParaRPr lang="en-US" dirty="0"/>
          </a:p>
          <a:p>
            <a:pPr marL="0" indent="0">
              <a:buNone/>
            </a:pPr>
            <a:r>
              <a:rPr lang="en-US" dirty="0"/>
              <a:t>Group </a:t>
            </a:r>
            <a:r>
              <a:rPr lang="en-US" b="1" dirty="0"/>
              <a:t>G</a:t>
            </a:r>
            <a:r>
              <a:rPr lang="en-US" dirty="0"/>
              <a:t> contains users A, B, C, and D. Which compact access control list is equivalent to the original list for every user?</a:t>
            </a:r>
          </a:p>
          <a:p>
            <a:pPr marL="0" indent="0">
              <a:buNone/>
            </a:pPr>
            <a:endParaRPr lang="en-US" dirty="0"/>
          </a:p>
          <a:p>
            <a:pPr marL="457200" indent="-457200">
              <a:buFont typeface="+mj-lt"/>
              <a:buAutoNum type="arabicPeriod"/>
            </a:pPr>
            <a:r>
              <a:rPr lang="en-US" dirty="0"/>
              <a:t>&lt;G: R, D: RW, *: none&gt;</a:t>
            </a:r>
          </a:p>
          <a:p>
            <a:pPr marL="457200" indent="-457200">
              <a:buFont typeface="+mj-lt"/>
              <a:buAutoNum type="arabicPeriod"/>
            </a:pPr>
            <a:r>
              <a:rPr lang="en-US" dirty="0"/>
              <a:t>&lt;D: RW, G: R, *: none&gt;</a:t>
            </a:r>
          </a:p>
          <a:p>
            <a:pPr marL="457200" indent="-457200">
              <a:buFont typeface="+mj-lt"/>
              <a:buAutoNum type="arabicPeriod"/>
            </a:pPr>
            <a:r>
              <a:rPr lang="en-US" dirty="0"/>
              <a:t>&lt;G: RW, *: none&gt;</a:t>
            </a:r>
          </a:p>
          <a:p>
            <a:endParaRPr lang="en-US" dirty="0"/>
          </a:p>
          <a:p>
            <a:endParaRPr lang="en-US" dirty="0"/>
          </a:p>
          <a:p>
            <a:pPr marL="457200" indent="-457200">
              <a:buFont typeface="+mj-lt"/>
              <a:buAutoNum type="arabicPeriod"/>
            </a:pPr>
            <a:endParaRPr lang="en-US" dirty="0"/>
          </a:p>
          <a:p>
            <a:endParaRPr lang="en-US" dirty="0"/>
          </a:p>
        </p:txBody>
      </p:sp>
      <p:sp>
        <p:nvSpPr>
          <p:cNvPr id="4" name="Date Placeholder 3">
            <a:extLst>
              <a:ext uri="{FF2B5EF4-FFF2-40B4-BE49-F238E27FC236}">
                <a16:creationId xmlns:a16="http://schemas.microsoft.com/office/drawing/2014/main" id="{6DF77C49-73FE-05CA-521B-92A3F278F1C2}"/>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7553800C-2D7F-35B3-652B-9C8E6A0DFA3A}"/>
              </a:ext>
            </a:extLst>
          </p:cNvPr>
          <p:cNvSpPr>
            <a:spLocks noGrp="1"/>
          </p:cNvSpPr>
          <p:nvPr>
            <p:ph type="ftr" sz="quarter" idx="11"/>
          </p:nvPr>
        </p:nvSpPr>
        <p:spPr/>
        <p:txBody>
          <a:bodyPr/>
          <a:lstStyle/>
          <a:p>
            <a:r>
              <a:rPr lang="en-US"/>
              <a:t>Operating Systems - Security</a:t>
            </a:r>
          </a:p>
        </p:txBody>
      </p:sp>
      <p:sp>
        <p:nvSpPr>
          <p:cNvPr id="6" name="Slide Number Placeholder 5">
            <a:extLst>
              <a:ext uri="{FF2B5EF4-FFF2-40B4-BE49-F238E27FC236}">
                <a16:creationId xmlns:a16="http://schemas.microsoft.com/office/drawing/2014/main" id="{A7C02EEF-13B9-3204-870B-42DE264C87BE}"/>
              </a:ext>
            </a:extLst>
          </p:cNvPr>
          <p:cNvSpPr>
            <a:spLocks noGrp="1"/>
          </p:cNvSpPr>
          <p:nvPr>
            <p:ph type="sldNum" sz="quarter" idx="12"/>
          </p:nvPr>
        </p:nvSpPr>
        <p:spPr/>
        <p:txBody>
          <a:bodyPr/>
          <a:lstStyle/>
          <a:p>
            <a:fld id="{95AAEEEC-DCEC-4178-AB14-E7254A15A296}" type="slidenum">
              <a:rPr lang="en-US" smtClean="0"/>
              <a:t>43</a:t>
            </a:fld>
            <a:endParaRPr lang="en-US"/>
          </a:p>
        </p:txBody>
      </p:sp>
    </p:spTree>
    <p:extLst>
      <p:ext uri="{BB962C8B-B14F-4D97-AF65-F5344CB8AC3E}">
        <p14:creationId xmlns:p14="http://schemas.microsoft.com/office/powerpoint/2010/main" val="41116763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D7FB0-7059-46D5-E404-914A9030DD88}"/>
              </a:ext>
            </a:extLst>
          </p:cNvPr>
          <p:cNvSpPr>
            <a:spLocks noGrp="1"/>
          </p:cNvSpPr>
          <p:nvPr>
            <p:ph type="title"/>
          </p:nvPr>
        </p:nvSpPr>
        <p:spPr/>
        <p:txBody>
          <a:bodyPr>
            <a:normAutofit/>
          </a:bodyPr>
          <a:lstStyle/>
          <a:p>
            <a:r>
              <a:rPr lang="en-US" dirty="0"/>
              <a:t>An access-control list contains the following entries:</a:t>
            </a:r>
          </a:p>
        </p:txBody>
      </p:sp>
      <p:sp>
        <p:nvSpPr>
          <p:cNvPr id="3" name="Content Placeholder 2">
            <a:extLst>
              <a:ext uri="{FF2B5EF4-FFF2-40B4-BE49-F238E27FC236}">
                <a16:creationId xmlns:a16="http://schemas.microsoft.com/office/drawing/2014/main" id="{88422546-0883-B50F-8C1F-C2B557073FF5}"/>
              </a:ext>
            </a:extLst>
          </p:cNvPr>
          <p:cNvSpPr>
            <a:spLocks noGrp="1"/>
          </p:cNvSpPr>
          <p:nvPr>
            <p:ph idx="1"/>
          </p:nvPr>
        </p:nvSpPr>
        <p:spPr/>
        <p:txBody>
          <a:bodyPr/>
          <a:lstStyle/>
          <a:p>
            <a:pPr marL="0" indent="0">
              <a:buNone/>
            </a:pPr>
            <a:r>
              <a:rPr lang="en-US" dirty="0"/>
              <a:t>&lt;(A, *): R, (*, G1): RW, (*, *): none&gt;</a:t>
            </a:r>
          </a:p>
          <a:p>
            <a:pPr marL="0" indent="0">
              <a:buNone/>
            </a:pPr>
            <a:endParaRPr lang="en-US" dirty="0"/>
          </a:p>
          <a:p>
            <a:pPr marL="0" indent="0">
              <a:buNone/>
            </a:pPr>
            <a:r>
              <a:rPr lang="en-US" dirty="0"/>
              <a:t>A process with UID=A and GID=G1 attempts to write to the object. Is the write operation permitted?</a:t>
            </a:r>
          </a:p>
          <a:p>
            <a:pPr marL="0" indent="0">
              <a:buNone/>
            </a:pPr>
            <a:endParaRPr lang="en-US" dirty="0"/>
          </a:p>
          <a:p>
            <a:pPr marL="457200" indent="-457200">
              <a:buFont typeface="+mj-lt"/>
              <a:buAutoNum type="arabicPeriod"/>
            </a:pPr>
            <a:r>
              <a:rPr lang="en-US" dirty="0"/>
              <a:t>Yes</a:t>
            </a:r>
          </a:p>
          <a:p>
            <a:pPr marL="457200" indent="-457200">
              <a:buFont typeface="+mj-lt"/>
              <a:buAutoNum type="arabicPeriod"/>
            </a:pPr>
            <a:r>
              <a:rPr lang="en-US" dirty="0"/>
              <a:t>No</a:t>
            </a:r>
          </a:p>
          <a:p>
            <a:pPr marL="457200" indent="-457200">
              <a:buFont typeface="+mj-lt"/>
              <a:buAutoNum type="arabicPeriod"/>
            </a:pPr>
            <a:r>
              <a:rPr lang="en-US" dirty="0"/>
              <a:t>There is not enough information</a:t>
            </a:r>
          </a:p>
          <a:p>
            <a:pPr marL="0" indent="0">
              <a:buNone/>
            </a:pPr>
            <a:endParaRPr lang="en-US" dirty="0"/>
          </a:p>
          <a:p>
            <a:endParaRPr lang="en-US" dirty="0"/>
          </a:p>
        </p:txBody>
      </p:sp>
      <p:sp>
        <p:nvSpPr>
          <p:cNvPr id="4" name="Date Placeholder 3">
            <a:extLst>
              <a:ext uri="{FF2B5EF4-FFF2-40B4-BE49-F238E27FC236}">
                <a16:creationId xmlns:a16="http://schemas.microsoft.com/office/drawing/2014/main" id="{FE686C13-D8F0-83EC-AEF9-4941E8C0DF69}"/>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9B41E417-696B-0699-8DB4-2581B85BE5F2}"/>
              </a:ext>
            </a:extLst>
          </p:cNvPr>
          <p:cNvSpPr>
            <a:spLocks noGrp="1"/>
          </p:cNvSpPr>
          <p:nvPr>
            <p:ph type="ftr" sz="quarter" idx="11"/>
          </p:nvPr>
        </p:nvSpPr>
        <p:spPr/>
        <p:txBody>
          <a:bodyPr/>
          <a:lstStyle/>
          <a:p>
            <a:r>
              <a:rPr lang="en-US"/>
              <a:t>Operating Systems - Security</a:t>
            </a:r>
          </a:p>
        </p:txBody>
      </p:sp>
      <p:sp>
        <p:nvSpPr>
          <p:cNvPr id="6" name="Slide Number Placeholder 5">
            <a:extLst>
              <a:ext uri="{FF2B5EF4-FFF2-40B4-BE49-F238E27FC236}">
                <a16:creationId xmlns:a16="http://schemas.microsoft.com/office/drawing/2014/main" id="{B26C6208-A9CD-FB40-4FD2-42EAA9CACBDF}"/>
              </a:ext>
            </a:extLst>
          </p:cNvPr>
          <p:cNvSpPr>
            <a:spLocks noGrp="1"/>
          </p:cNvSpPr>
          <p:nvPr>
            <p:ph type="sldNum" sz="quarter" idx="12"/>
          </p:nvPr>
        </p:nvSpPr>
        <p:spPr/>
        <p:txBody>
          <a:bodyPr/>
          <a:lstStyle/>
          <a:p>
            <a:fld id="{95AAEEEC-DCEC-4178-AB14-E7254A15A296}" type="slidenum">
              <a:rPr lang="en-US" smtClean="0"/>
              <a:t>44</a:t>
            </a:fld>
            <a:endParaRPr lang="en-US"/>
          </a:p>
        </p:txBody>
      </p:sp>
    </p:spTree>
    <p:extLst>
      <p:ext uri="{BB962C8B-B14F-4D97-AF65-F5344CB8AC3E}">
        <p14:creationId xmlns:p14="http://schemas.microsoft.com/office/powerpoint/2010/main" val="17841962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1F95-DFD8-E232-253F-0531C9186E87}"/>
              </a:ext>
            </a:extLst>
          </p:cNvPr>
          <p:cNvSpPr>
            <a:spLocks noGrp="1"/>
          </p:cNvSpPr>
          <p:nvPr>
            <p:ph type="title"/>
          </p:nvPr>
        </p:nvSpPr>
        <p:spPr/>
        <p:txBody>
          <a:bodyPr/>
          <a:lstStyle/>
          <a:p>
            <a:r>
              <a:rPr lang="en-US" dirty="0"/>
              <a:t>Assume that:</a:t>
            </a:r>
          </a:p>
        </p:txBody>
      </p:sp>
      <p:sp>
        <p:nvSpPr>
          <p:cNvPr id="3" name="Content Placeholder 2">
            <a:extLst>
              <a:ext uri="{FF2B5EF4-FFF2-40B4-BE49-F238E27FC236}">
                <a16:creationId xmlns:a16="http://schemas.microsoft.com/office/drawing/2014/main" id="{37146E60-6E80-1CC3-6CBA-51E3FB40A02B}"/>
              </a:ext>
            </a:extLst>
          </p:cNvPr>
          <p:cNvSpPr>
            <a:spLocks noGrp="1"/>
          </p:cNvSpPr>
          <p:nvPr>
            <p:ph idx="1"/>
          </p:nvPr>
        </p:nvSpPr>
        <p:spPr>
          <a:xfrm>
            <a:off x="431800" y="1690689"/>
            <a:ext cx="11366500" cy="4351338"/>
          </a:xfrm>
        </p:spPr>
        <p:txBody>
          <a:bodyPr numCol="2">
            <a:normAutofit/>
          </a:bodyPr>
          <a:lstStyle/>
          <a:p>
            <a:pPr marL="457200" indent="-457200">
              <a:buFont typeface="+mj-lt"/>
              <a:buAutoNum type="arabicPeriod"/>
            </a:pPr>
            <a:r>
              <a:rPr lang="en-US" dirty="0"/>
              <a:t>User A owns all three files;</a:t>
            </a:r>
          </a:p>
          <a:p>
            <a:pPr marL="457200" indent="-457200">
              <a:buFont typeface="+mj-lt"/>
              <a:buAutoNum type="arabicPeriod"/>
            </a:pPr>
            <a:r>
              <a:rPr lang="en-US" dirty="0"/>
              <a:t>folder permissions can be ignored; and</a:t>
            </a:r>
          </a:p>
          <a:p>
            <a:pPr marL="457200" indent="-457200">
              <a:buFont typeface="+mj-lt"/>
              <a:buAutoNum type="arabicPeriod"/>
            </a:pPr>
            <a:r>
              <a:rPr lang="en-US" dirty="0"/>
              <a:t>tool is a binary executable.</a:t>
            </a:r>
          </a:p>
          <a:p>
            <a:pPr marL="457200" indent="-457200">
              <a:buFont typeface="+mj-lt"/>
              <a:buAutoNum type="arabicPeriod"/>
            </a:pPr>
            <a:endParaRPr lang="en-US" dirty="0"/>
          </a:p>
          <a:p>
            <a:pPr marL="0" indent="0">
              <a:buNone/>
            </a:pPr>
            <a:r>
              <a:rPr lang="en-US" dirty="0"/>
              <a:t>Consider the command trace</a:t>
            </a:r>
          </a:p>
          <a:p>
            <a:pPr marL="0" indent="0">
              <a:buNone/>
            </a:pPr>
            <a:r>
              <a:rPr lang="en-US" sz="1800" dirty="0">
                <a:latin typeface="Courier New" panose="02070309020205020404" pitchFamily="49" charset="0"/>
                <a:cs typeface="Courier New" panose="02070309020205020404" pitchFamily="49" charset="0"/>
              </a:rPr>
              <a:t>cat </a:t>
            </a:r>
            <a:r>
              <a:rPr lang="en-US" sz="1800" dirty="0" err="1">
                <a:latin typeface="Courier New" panose="02070309020205020404" pitchFamily="49" charset="0"/>
                <a:cs typeface="Courier New" panose="02070309020205020404" pitchFamily="49" charset="0"/>
              </a:rPr>
              <a:t>report.txt</a:t>
            </a:r>
            <a:r>
              <a:rPr lang="en-US" sz="1800" dirty="0">
                <a:latin typeface="Courier New" panose="02070309020205020404" pitchFamily="49" charset="0"/>
                <a:cs typeface="Courier New" panose="02070309020205020404" pitchFamily="49" charset="0"/>
              </a:rPr>
              <a:t>				succeeds</a:t>
            </a:r>
          </a:p>
          <a:p>
            <a:pPr marL="0" indent="0">
              <a:buNone/>
            </a:pPr>
            <a:r>
              <a:rPr lang="en-US" sz="1800" dirty="0" err="1">
                <a:latin typeface="Courier New" panose="02070309020205020404" pitchFamily="49" charset="0"/>
                <a:cs typeface="Courier New" panose="02070309020205020404" pitchFamily="49" charset="0"/>
              </a:rPr>
              <a:t>printf</a:t>
            </a:r>
            <a:r>
              <a:rPr lang="en-US" sz="1800" dirty="0">
                <a:latin typeface="Courier New" panose="02070309020205020404" pitchFamily="49" charset="0"/>
                <a:cs typeface="Courier New" panose="02070309020205020404" pitchFamily="49" charset="0"/>
              </a:rPr>
              <a:t> 'x' &gt;&gt; </a:t>
            </a:r>
            <a:r>
              <a:rPr lang="en-US" sz="1800" dirty="0" err="1">
                <a:latin typeface="Courier New" panose="02070309020205020404" pitchFamily="49" charset="0"/>
                <a:cs typeface="Courier New" panose="02070309020205020404" pitchFamily="49" charset="0"/>
              </a:rPr>
              <a:t>report.txt</a:t>
            </a:r>
            <a:r>
              <a:rPr lang="en-US" sz="1800" dirty="0">
                <a:latin typeface="Courier New" panose="02070309020205020404" pitchFamily="49" charset="0"/>
                <a:cs typeface="Courier New" panose="02070309020205020404" pitchFamily="49" charset="0"/>
              </a:rPr>
              <a:t>		fails</a:t>
            </a:r>
          </a:p>
          <a:p>
            <a:pPr marL="0" indent="0">
              <a:buNone/>
            </a:pPr>
            <a:r>
              <a:rPr lang="en-US" sz="1800" dirty="0" err="1">
                <a:latin typeface="Courier New" panose="02070309020205020404" pitchFamily="49" charset="0"/>
                <a:cs typeface="Courier New" panose="02070309020205020404" pitchFamily="49" charset="0"/>
              </a:rPr>
              <a:t>printf</a:t>
            </a:r>
            <a:r>
              <a:rPr lang="en-US" sz="1800" dirty="0">
                <a:latin typeface="Courier New" panose="02070309020205020404" pitchFamily="49" charset="0"/>
                <a:cs typeface="Courier New" panose="02070309020205020404" pitchFamily="49" charset="0"/>
              </a:rPr>
              <a:t> 'x' &gt;&gt; </a:t>
            </a:r>
            <a:r>
              <a:rPr lang="en-US" sz="1800" dirty="0" err="1">
                <a:latin typeface="Courier New" panose="02070309020205020404" pitchFamily="49" charset="0"/>
                <a:cs typeface="Courier New" panose="02070309020205020404" pitchFamily="49" charset="0"/>
              </a:rPr>
              <a:t>data.bin</a:t>
            </a:r>
            <a:r>
              <a:rPr lang="en-US" sz="1800" dirty="0">
                <a:latin typeface="Courier New" panose="02070309020205020404" pitchFamily="49" charset="0"/>
                <a:cs typeface="Courier New" panose="02070309020205020404" pitchFamily="49" charset="0"/>
              </a:rPr>
              <a:t>		succeeds</a:t>
            </a:r>
          </a:p>
          <a:p>
            <a:pPr marL="0" indent="0">
              <a:buNone/>
            </a:pPr>
            <a:r>
              <a:rPr lang="en-US" sz="1800" dirty="0">
                <a:latin typeface="Courier New" panose="02070309020205020404" pitchFamily="49" charset="0"/>
                <a:cs typeface="Courier New" panose="02070309020205020404" pitchFamily="49" charset="0"/>
              </a:rPr>
              <a:t>./tool 					succeeds</a:t>
            </a:r>
          </a:p>
          <a:p>
            <a:pPr marL="0" indent="0">
              <a:buNone/>
            </a:pPr>
            <a:r>
              <a:rPr lang="en-US" sz="1800" dirty="0">
                <a:latin typeface="Courier New" panose="02070309020205020404" pitchFamily="49" charset="0"/>
                <a:cs typeface="Courier New" panose="02070309020205020404" pitchFamily="49" charset="0"/>
              </a:rPr>
              <a:t>cat tool					fails</a:t>
            </a:r>
          </a:p>
          <a:p>
            <a:pPr marL="0" indent="0">
              <a:buNone/>
            </a:pPr>
            <a:endParaRPr lang="en-US" dirty="0"/>
          </a:p>
          <a:p>
            <a:pPr marL="0" indent="0">
              <a:buNone/>
            </a:pPr>
            <a:r>
              <a:rPr lang="en-US" dirty="0"/>
              <a:t>Which permission setup is consistent with the complete command trace?</a:t>
            </a:r>
          </a:p>
        </p:txBody>
      </p:sp>
      <p:sp>
        <p:nvSpPr>
          <p:cNvPr id="4" name="Date Placeholder 3">
            <a:extLst>
              <a:ext uri="{FF2B5EF4-FFF2-40B4-BE49-F238E27FC236}">
                <a16:creationId xmlns:a16="http://schemas.microsoft.com/office/drawing/2014/main" id="{0215AED1-8548-5FFD-5AB8-0AB49AF2F15D}"/>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926C674C-ECA8-655E-FDAB-5F37EA6682C2}"/>
              </a:ext>
            </a:extLst>
          </p:cNvPr>
          <p:cNvSpPr>
            <a:spLocks noGrp="1"/>
          </p:cNvSpPr>
          <p:nvPr>
            <p:ph type="ftr" sz="quarter" idx="11"/>
          </p:nvPr>
        </p:nvSpPr>
        <p:spPr/>
        <p:txBody>
          <a:bodyPr/>
          <a:lstStyle/>
          <a:p>
            <a:r>
              <a:rPr lang="en-US"/>
              <a:t>Operating Systems - Security</a:t>
            </a:r>
          </a:p>
        </p:txBody>
      </p:sp>
      <p:sp>
        <p:nvSpPr>
          <p:cNvPr id="6" name="Slide Number Placeholder 5">
            <a:extLst>
              <a:ext uri="{FF2B5EF4-FFF2-40B4-BE49-F238E27FC236}">
                <a16:creationId xmlns:a16="http://schemas.microsoft.com/office/drawing/2014/main" id="{8927924C-0482-F63F-E1F9-EF52881E7C3B}"/>
              </a:ext>
            </a:extLst>
          </p:cNvPr>
          <p:cNvSpPr>
            <a:spLocks noGrp="1"/>
          </p:cNvSpPr>
          <p:nvPr>
            <p:ph type="sldNum" sz="quarter" idx="12"/>
          </p:nvPr>
        </p:nvSpPr>
        <p:spPr/>
        <p:txBody>
          <a:bodyPr/>
          <a:lstStyle/>
          <a:p>
            <a:fld id="{95AAEEEC-DCEC-4178-AB14-E7254A15A296}" type="slidenum">
              <a:rPr lang="en-US" smtClean="0"/>
              <a:t>45</a:t>
            </a:fld>
            <a:endParaRPr lang="en-US"/>
          </a:p>
        </p:txBody>
      </p:sp>
      <p:graphicFrame>
        <p:nvGraphicFramePr>
          <p:cNvPr id="9" name="Table 8">
            <a:extLst>
              <a:ext uri="{FF2B5EF4-FFF2-40B4-BE49-F238E27FC236}">
                <a16:creationId xmlns:a16="http://schemas.microsoft.com/office/drawing/2014/main" id="{C916D86A-486D-B0AF-3466-AD54611C05B3}"/>
              </a:ext>
            </a:extLst>
          </p:cNvPr>
          <p:cNvGraphicFramePr>
            <a:graphicFrameLocks noGrp="1"/>
          </p:cNvGraphicFramePr>
          <p:nvPr>
            <p:extLst>
              <p:ext uri="{D42A27DB-BD31-4B8C-83A1-F6EECF244321}">
                <p14:modId xmlns:p14="http://schemas.microsoft.com/office/powerpoint/2010/main" val="2695410382"/>
              </p:ext>
            </p:extLst>
          </p:nvPr>
        </p:nvGraphicFramePr>
        <p:xfrm>
          <a:off x="6673727" y="2615407"/>
          <a:ext cx="4213796" cy="2070893"/>
        </p:xfrm>
        <a:graphic>
          <a:graphicData uri="http://schemas.openxmlformats.org/drawingml/2006/table">
            <a:tbl>
              <a:tblPr firstRow="1" bandRow="1">
                <a:tableStyleId>{5C22544A-7EE6-4342-B048-85BDC9FD1C3A}</a:tableStyleId>
              </a:tblPr>
              <a:tblGrid>
                <a:gridCol w="922655">
                  <a:extLst>
                    <a:ext uri="{9D8B030D-6E8A-4147-A177-3AD203B41FA5}">
                      <a16:colId xmlns:a16="http://schemas.microsoft.com/office/drawing/2014/main" val="4221632275"/>
                    </a:ext>
                  </a:extLst>
                </a:gridCol>
                <a:gridCol w="1364869">
                  <a:extLst>
                    <a:ext uri="{9D8B030D-6E8A-4147-A177-3AD203B41FA5}">
                      <a16:colId xmlns:a16="http://schemas.microsoft.com/office/drawing/2014/main" val="1045005551"/>
                    </a:ext>
                  </a:extLst>
                </a:gridCol>
                <a:gridCol w="1221105">
                  <a:extLst>
                    <a:ext uri="{9D8B030D-6E8A-4147-A177-3AD203B41FA5}">
                      <a16:colId xmlns:a16="http://schemas.microsoft.com/office/drawing/2014/main" val="3991717552"/>
                    </a:ext>
                  </a:extLst>
                </a:gridCol>
                <a:gridCol w="705167">
                  <a:extLst>
                    <a:ext uri="{9D8B030D-6E8A-4147-A177-3AD203B41FA5}">
                      <a16:colId xmlns:a16="http://schemas.microsoft.com/office/drawing/2014/main" val="1123521169"/>
                    </a:ext>
                  </a:extLst>
                </a:gridCol>
              </a:tblGrid>
              <a:tr h="546893">
                <a:tc>
                  <a:txBody>
                    <a:bodyPr/>
                    <a:lstStyle/>
                    <a:p>
                      <a:pPr algn="ctr"/>
                      <a:r>
                        <a:rPr lang="en-US" sz="2200" dirty="0"/>
                        <a:t>Setup</a:t>
                      </a:r>
                    </a:p>
                  </a:txBody>
                  <a:tcPr/>
                </a:tc>
                <a:tc>
                  <a:txBody>
                    <a:bodyPr/>
                    <a:lstStyle/>
                    <a:p>
                      <a:pPr algn="ctr"/>
                      <a:r>
                        <a:rPr lang="en-US" sz="2200" dirty="0" err="1"/>
                        <a:t>report.txt</a:t>
                      </a:r>
                      <a:endParaRPr lang="en-US" sz="2200" dirty="0"/>
                    </a:p>
                  </a:txBody>
                  <a:tcPr/>
                </a:tc>
                <a:tc>
                  <a:txBody>
                    <a:bodyPr/>
                    <a:lstStyle/>
                    <a:p>
                      <a:pPr algn="ctr"/>
                      <a:r>
                        <a:rPr lang="en-US" sz="2200" dirty="0" err="1"/>
                        <a:t>data.bin</a:t>
                      </a:r>
                      <a:endParaRPr lang="en-US" sz="2200" dirty="0"/>
                    </a:p>
                  </a:txBody>
                  <a:tcPr/>
                </a:tc>
                <a:tc>
                  <a:txBody>
                    <a:bodyPr/>
                    <a:lstStyle/>
                    <a:p>
                      <a:pPr algn="ctr"/>
                      <a:r>
                        <a:rPr lang="en-US" sz="2200" dirty="0"/>
                        <a:t>tool</a:t>
                      </a:r>
                    </a:p>
                  </a:txBody>
                  <a:tcPr/>
                </a:tc>
                <a:extLst>
                  <a:ext uri="{0D108BD9-81ED-4DB2-BD59-A6C34878D82A}">
                    <a16:rowId xmlns:a16="http://schemas.microsoft.com/office/drawing/2014/main" val="1103160864"/>
                  </a:ext>
                </a:extLst>
              </a:tr>
              <a:tr h="508000">
                <a:tc>
                  <a:txBody>
                    <a:bodyPr/>
                    <a:lstStyle/>
                    <a:p>
                      <a:pPr algn="ctr"/>
                      <a:r>
                        <a:rPr lang="en-US" sz="2200" dirty="0"/>
                        <a:t>1</a:t>
                      </a:r>
                    </a:p>
                  </a:txBody>
                  <a:tcPr/>
                </a:tc>
                <a:tc>
                  <a:txBody>
                    <a:bodyPr/>
                    <a:lstStyle/>
                    <a:p>
                      <a:pPr algn="ctr"/>
                      <a:r>
                        <a:rPr lang="en-US" sz="2200" dirty="0"/>
                        <a:t>r--</a:t>
                      </a:r>
                    </a:p>
                  </a:txBody>
                  <a:tcPr/>
                </a:tc>
                <a:tc>
                  <a:txBody>
                    <a:bodyPr/>
                    <a:lstStyle/>
                    <a:p>
                      <a:pPr algn="ctr"/>
                      <a:r>
                        <a:rPr lang="en-US" sz="2200" dirty="0" err="1"/>
                        <a:t>rw</a:t>
                      </a:r>
                      <a:r>
                        <a:rPr lang="en-US" sz="2200" dirty="0"/>
                        <a:t>-</a:t>
                      </a:r>
                    </a:p>
                  </a:txBody>
                  <a:tcPr/>
                </a:tc>
                <a:tc>
                  <a:txBody>
                    <a:bodyPr/>
                    <a:lstStyle/>
                    <a:p>
                      <a:pPr algn="ctr"/>
                      <a:r>
                        <a:rPr lang="en-US" sz="2200" dirty="0"/>
                        <a:t>--x</a:t>
                      </a:r>
                    </a:p>
                  </a:txBody>
                  <a:tcPr/>
                </a:tc>
                <a:extLst>
                  <a:ext uri="{0D108BD9-81ED-4DB2-BD59-A6C34878D82A}">
                    <a16:rowId xmlns:a16="http://schemas.microsoft.com/office/drawing/2014/main" val="167286066"/>
                  </a:ext>
                </a:extLst>
              </a:tr>
              <a:tr h="508000">
                <a:tc>
                  <a:txBody>
                    <a:bodyPr/>
                    <a:lstStyle/>
                    <a:p>
                      <a:pPr algn="ctr"/>
                      <a:r>
                        <a:rPr lang="en-US" sz="2200" dirty="0"/>
                        <a:t>2</a:t>
                      </a:r>
                    </a:p>
                  </a:txBody>
                  <a:tcPr/>
                </a:tc>
                <a:tc>
                  <a:txBody>
                    <a:bodyPr/>
                    <a:lstStyle/>
                    <a:p>
                      <a:pPr algn="ctr"/>
                      <a:r>
                        <a:rPr lang="en-US" sz="2200" dirty="0" err="1"/>
                        <a:t>rw</a:t>
                      </a:r>
                      <a:r>
                        <a:rPr lang="en-US" sz="2200" dirty="0"/>
                        <a:t>-</a:t>
                      </a:r>
                    </a:p>
                  </a:txBody>
                  <a:tcPr/>
                </a:tc>
                <a:tc>
                  <a:txBody>
                    <a:bodyPr/>
                    <a:lstStyle/>
                    <a:p>
                      <a:pPr algn="ctr"/>
                      <a:r>
                        <a:rPr lang="en-US" sz="2200" dirty="0"/>
                        <a:t>r--</a:t>
                      </a:r>
                    </a:p>
                  </a:txBody>
                  <a:tcPr/>
                </a:tc>
                <a:tc>
                  <a:txBody>
                    <a:bodyPr/>
                    <a:lstStyle/>
                    <a:p>
                      <a:pPr algn="ctr"/>
                      <a:r>
                        <a:rPr lang="en-US" sz="2200" dirty="0"/>
                        <a:t>r-w</a:t>
                      </a:r>
                    </a:p>
                  </a:txBody>
                  <a:tcPr/>
                </a:tc>
                <a:extLst>
                  <a:ext uri="{0D108BD9-81ED-4DB2-BD59-A6C34878D82A}">
                    <a16:rowId xmlns:a16="http://schemas.microsoft.com/office/drawing/2014/main" val="113758293"/>
                  </a:ext>
                </a:extLst>
              </a:tr>
              <a:tr h="508000">
                <a:tc>
                  <a:txBody>
                    <a:bodyPr/>
                    <a:lstStyle/>
                    <a:p>
                      <a:pPr algn="ctr"/>
                      <a:r>
                        <a:rPr lang="en-US" sz="2200" dirty="0"/>
                        <a:t>3</a:t>
                      </a:r>
                    </a:p>
                  </a:txBody>
                  <a:tcPr/>
                </a:tc>
                <a:tc>
                  <a:txBody>
                    <a:bodyPr/>
                    <a:lstStyle/>
                    <a:p>
                      <a:pPr algn="ctr"/>
                      <a:r>
                        <a:rPr lang="en-US" sz="2200" dirty="0"/>
                        <a:t>r--</a:t>
                      </a:r>
                    </a:p>
                  </a:txBody>
                  <a:tcPr/>
                </a:tc>
                <a:tc>
                  <a:txBody>
                    <a:bodyPr/>
                    <a:lstStyle/>
                    <a:p>
                      <a:pPr algn="ctr"/>
                      <a:r>
                        <a:rPr lang="en-US" sz="2200" dirty="0" err="1"/>
                        <a:t>rw</a:t>
                      </a:r>
                      <a:r>
                        <a:rPr lang="en-US" sz="2200" dirty="0"/>
                        <a:t>-</a:t>
                      </a:r>
                    </a:p>
                  </a:txBody>
                  <a:tcPr/>
                </a:tc>
                <a:tc>
                  <a:txBody>
                    <a:bodyPr/>
                    <a:lstStyle/>
                    <a:p>
                      <a:pPr algn="ctr"/>
                      <a:r>
                        <a:rPr lang="en-US" sz="2200" dirty="0"/>
                        <a:t>r-x</a:t>
                      </a:r>
                    </a:p>
                  </a:txBody>
                  <a:tcPr/>
                </a:tc>
                <a:extLst>
                  <a:ext uri="{0D108BD9-81ED-4DB2-BD59-A6C34878D82A}">
                    <a16:rowId xmlns:a16="http://schemas.microsoft.com/office/drawing/2014/main" val="4035629921"/>
                  </a:ext>
                </a:extLst>
              </a:tr>
            </a:tbl>
          </a:graphicData>
        </a:graphic>
      </p:graphicFrame>
    </p:spTree>
    <p:extLst>
      <p:ext uri="{BB962C8B-B14F-4D97-AF65-F5344CB8AC3E}">
        <p14:creationId xmlns:p14="http://schemas.microsoft.com/office/powerpoint/2010/main" val="2254448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4414</TotalTime>
  <Words>6866</Words>
  <Application>Microsoft Macintosh PowerPoint</Application>
  <PresentationFormat>Widescreen</PresentationFormat>
  <Paragraphs>770</Paragraphs>
  <Slides>45</Slides>
  <Notes>44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45</vt:i4>
      </vt:variant>
    </vt:vector>
  </HeadingPairs>
  <TitlesOfParts>
    <vt:vector size="56" baseType="lpstr">
      <vt:lpstr>Arial</vt:lpstr>
      <vt:lpstr>Calibri</vt:lpstr>
      <vt:lpstr>Calibri Light</vt:lpstr>
      <vt:lpstr>Courier New</vt:lpstr>
      <vt:lpstr>Garamond</vt:lpstr>
      <vt:lpstr>Helvetica</vt:lpstr>
      <vt:lpstr>Times New Roman</vt:lpstr>
      <vt:lpstr>Verdana</vt:lpstr>
      <vt:lpstr>Wingdings</vt:lpstr>
      <vt:lpstr>Office Theme</vt:lpstr>
      <vt:lpstr>1_Office Theme</vt:lpstr>
      <vt:lpstr>PowerPoint Presentation</vt:lpstr>
      <vt:lpstr>Reading instructions</vt:lpstr>
      <vt:lpstr>Agenda</vt:lpstr>
      <vt:lpstr>Agenda</vt:lpstr>
      <vt:lpstr>PowerPoint Presentation</vt:lpstr>
      <vt:lpstr>PowerPoint Presentation</vt:lpstr>
      <vt:lpstr>It’s complicated...</vt:lpstr>
      <vt:lpstr>PowerPoint Presentation</vt:lpstr>
      <vt:lpstr>PowerPoint Presentation</vt:lpstr>
      <vt:lpstr>Attacks can be classified along different dimensions:</vt:lpstr>
      <vt:lpstr>Trusted Computing Base (TCB)</vt:lpstr>
      <vt:lpstr>Agenda</vt:lpstr>
      <vt:lpstr>Protection domains</vt:lpstr>
      <vt:lpstr>Protection domains</vt:lpstr>
      <vt:lpstr>Protection domains</vt:lpstr>
      <vt:lpstr>PowerPoint Presentation</vt:lpstr>
      <vt:lpstr>Agenda</vt:lpstr>
      <vt:lpstr>Access Control Lists</vt:lpstr>
      <vt:lpstr>PowerPoint Presentation</vt:lpstr>
      <vt:lpstr>Agenda</vt:lpstr>
      <vt:lpstr>Capabilities</vt:lpstr>
      <vt:lpstr>Capabilities</vt:lpstr>
      <vt:lpstr>Agenda</vt:lpstr>
      <vt:lpstr>Authentication</vt:lpstr>
      <vt:lpstr>About passwords...</vt:lpstr>
      <vt:lpstr>Unix authentication (alternative 1, not secure)</vt:lpstr>
      <vt:lpstr>Unix authentication + n-bit salt</vt:lpstr>
      <vt:lpstr>One-time passwords / one-way hash chain</vt:lpstr>
      <vt:lpstr>One-time passwords / one-way hash chain</vt:lpstr>
      <vt:lpstr>Challenge-Response authentication</vt:lpstr>
      <vt:lpstr>And more</vt:lpstr>
      <vt:lpstr>About cards</vt:lpstr>
      <vt:lpstr>Agenda</vt:lpstr>
      <vt:lpstr>Exploiting software</vt:lpstr>
      <vt:lpstr>Buffer overflow attacks</vt:lpstr>
      <vt:lpstr>Possible defense: Stack Canaries</vt:lpstr>
      <vt:lpstr>Alternative defense strategy (not 100% secure either)</vt:lpstr>
      <vt:lpstr>Questions</vt:lpstr>
      <vt:lpstr>Consider the following protection matrix. Which statement is correct?</vt:lpstr>
      <vt:lpstr>Consider the following protection matrix</vt:lpstr>
      <vt:lpstr>Consider the following protection matrix</vt:lpstr>
      <vt:lpstr>Consider the following protection matrix</vt:lpstr>
      <vt:lpstr>An access-control list contains the following entries:</vt:lpstr>
      <vt:lpstr>An access-control list contains the following entries:</vt:lpstr>
      <vt:lpstr>Assume that: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Massimiliano Gulisano</dc:creator>
  <cp:lastModifiedBy>Vincenzo Gulisano</cp:lastModifiedBy>
  <cp:revision>131</cp:revision>
  <cp:lastPrinted>2025-10-06T04:50:07Z</cp:lastPrinted>
  <dcterms:created xsi:type="dcterms:W3CDTF">2020-10-12T07:31:54Z</dcterms:created>
  <dcterms:modified xsi:type="dcterms:W3CDTF">2026-10-05T04:54:18Z</dcterms:modified>
</cp:coreProperties>
</file>